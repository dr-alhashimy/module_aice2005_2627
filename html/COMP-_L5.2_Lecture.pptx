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63" r:id="rId2"/>
    <p:sldId id="364" r:id="rId3"/>
    <p:sldId id="309" r:id="rId4"/>
    <p:sldId id="289" r:id="rId5"/>
    <p:sldId id="358" r:id="rId6"/>
    <p:sldId id="290" r:id="rId7"/>
    <p:sldId id="330" r:id="rId8"/>
    <p:sldId id="291" r:id="rId9"/>
    <p:sldId id="365" r:id="rId10"/>
    <p:sldId id="366" r:id="rId11"/>
    <p:sldId id="368" r:id="rId12"/>
    <p:sldId id="369" r:id="rId13"/>
    <p:sldId id="370" r:id="rId14"/>
    <p:sldId id="371" r:id="rId15"/>
    <p:sldId id="35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9"/>
    <p:restoredTop sz="96534"/>
  </p:normalViewPr>
  <p:slideViewPr>
    <p:cSldViewPr snapToGrid="0" snapToObjects="1">
      <p:cViewPr varScale="1">
        <p:scale>
          <a:sx n="113" d="100"/>
          <a:sy n="113" d="100"/>
        </p:scale>
        <p:origin x="2352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12/10/2026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University of Southampton logo">
            <a:extLst>
              <a:ext uri="{FF2B5EF4-FFF2-40B4-BE49-F238E27FC236}">
                <a16:creationId xmlns:a16="http://schemas.microsoft.com/office/drawing/2014/main" id="{043E5A50-7C26-E578-00DF-D1C33D4E6A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06640" y="6384033"/>
            <a:ext cx="1371600" cy="291086"/>
          </a:xfrm>
          <a:prstGeom prst="rect">
            <a:avLst/>
          </a:prstGeom>
        </p:spPr>
      </p:pic>
      <p:sp>
        <p:nvSpPr>
          <p:cNvPr id="8" name="Footer slide number">
            <a:extLst>
              <a:ext uri="{FF2B5EF4-FFF2-40B4-BE49-F238E27FC236}">
                <a16:creationId xmlns:a16="http://schemas.microsoft.com/office/drawing/2014/main" id="{5603D663-09FB-61D6-D695-07A2D7479FA4}"/>
              </a:ext>
            </a:extLst>
          </p:cNvPr>
          <p:cNvSpPr txBox="1"/>
          <p:nvPr userDrawn="1"/>
        </p:nvSpPr>
        <p:spPr>
          <a:xfrm>
            <a:off x="365760" y="6384033"/>
            <a:ext cx="4572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fld id="{B6F15528-21DE-4FAA-801E-634DDDAF4B2B}" type="slidenum">
              <a:rPr lang="en-GB" sz="1400" dirty="0">
                <a:solidFill>
                  <a:srgbClr val="1F497D"/>
                </a:solidFill>
              </a:rPr>
              <a:t>‹#›</a:t>
            </a:fld>
            <a:endParaRPr lang="en-GB" sz="1400" dirty="0">
              <a:solidFill>
                <a:srgbClr val="1F497D"/>
              </a:solidFill>
            </a:endParaRPr>
          </a:p>
        </p:txBody>
      </p:sp>
      <p:sp>
        <p:nvSpPr>
          <p:cNvPr id="9" name="Footer SEAtS">
            <a:extLst>
              <a:ext uri="{FF2B5EF4-FFF2-40B4-BE49-F238E27FC236}">
                <a16:creationId xmlns:a16="http://schemas.microsoft.com/office/drawing/2014/main" id="{C7858FA1-EE3C-4D24-4B5B-033312352F2E}"/>
              </a:ext>
            </a:extLst>
          </p:cNvPr>
          <p:cNvSpPr txBox="1"/>
          <p:nvPr userDrawn="1"/>
        </p:nvSpPr>
        <p:spPr>
          <a:xfrm>
            <a:off x="742950" y="6430390"/>
            <a:ext cx="32004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1F497D"/>
                </a:solidFill>
              </a:rPr>
              <a:t>SEAtS | 266001</a:t>
            </a:r>
          </a:p>
          <a:p>
            <a:r>
              <a:rPr lang="en-GB" sz="800" b="1" dirty="0">
                <a:solidFill>
                  <a:srgbClr val="8C8C8C"/>
                </a:solidFill>
              </a:rPr>
              <a:t>© University of Southampton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.uk/news/videos/ced65d0gl2eo?app-referrer=search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tonac-my.sharepoint.com/:v:/r/personal/asf1g08_soton_ac_uk/Documents/Teaching/AICE2005_2026/Week4-5/AICE2005-5.2-demo1.mov?d=w60a0b52e705742e0b97b9e9e1881b147&amp;csf=1&amp;web=1&amp;nav=eyJyZWZlcnJhbEluZm8iOnsicmVmZXJyYWxBcHAiOiJPbmVEcml2ZUZvckJ1c2luZXNzIiwicmVmZXJyYWxBcHBQbGF0Zm9ybSI6IldlYiIsInJlZmVycmFsTW9kZSI6InZpZXciLCJyZWZlcnJhbFZpZXciOiJNeUZpbGVzTGlua0NvcHkifX0&amp;e=q7X5Z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event-b.org/index.php/Main_Pag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9AE4-F6AA-D941-2983-5F9CB388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0B88-E48D-8853-DEF5-4344207D5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45F79-D4E1-9F7F-7F1C-FC8278A67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877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57FE-829E-0E5D-039C-6CC7472E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EAC9-8D08-5E16-6730-74832D09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FF24-5B72-1EEF-B9E2-CE1D17D41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>
                <a:solidFill>
                  <a:schemeClr val="tx2"/>
                </a:solidFill>
              </a:rPr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2158149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2D099-3FB1-95CD-64A0-A91E7C09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10FEC6-F60B-539F-C784-8A7904707372}"/>
              </a:ext>
            </a:extLst>
          </p:cNvPr>
          <p:cNvSpPr txBox="1"/>
          <p:nvPr/>
        </p:nvSpPr>
        <p:spPr>
          <a:xfrm>
            <a:off x="603115" y="2083280"/>
            <a:ext cx="793777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5: 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Tools and Applications </a:t>
            </a:r>
            <a:endParaRPr lang="en-US" sz="3000" b="1" dirty="0">
              <a:solidFill>
                <a:schemeClr val="tx2"/>
              </a:solidFill>
            </a:endParaRPr>
          </a:p>
        </p:txBody>
      </p:sp>
      <p:pic>
        <p:nvPicPr>
          <p:cNvPr id="3" name="Picture 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9F53B58A-6DA6-1993-1DE8-6D7FCF6C3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271" y="3225799"/>
            <a:ext cx="2195259" cy="21985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32BED-4139-0D80-BE7A-1B70BF137545}"/>
              </a:ext>
            </a:extLst>
          </p:cNvPr>
          <p:cNvSpPr txBox="1"/>
          <p:nvPr/>
        </p:nvSpPr>
        <p:spPr>
          <a:xfrm>
            <a:off x="3990622" y="5424310"/>
            <a:ext cx="1428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2400" dirty="0"/>
              <a:t>266001</a:t>
            </a:r>
          </a:p>
        </p:txBody>
      </p:sp>
    </p:spTree>
    <p:extLst>
      <p:ext uri="{BB962C8B-B14F-4D97-AF65-F5344CB8AC3E}">
        <p14:creationId xmlns:p14="http://schemas.microsoft.com/office/powerpoint/2010/main" val="18369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0"/>
            <a:ext cx="86487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5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325563"/>
            <a:ext cx="8648700" cy="4525963"/>
          </a:xfrm>
        </p:spPr>
        <p:txBody>
          <a:bodyPr>
            <a:noAutofit/>
          </a:bodyPr>
          <a:lstStyle/>
          <a:p>
            <a:r>
              <a:rPr sz="2200" dirty="0"/>
              <a:t>Tool Landscape Overview</a:t>
            </a:r>
          </a:p>
          <a:p>
            <a:r>
              <a:rPr sz="2200" dirty="0"/>
              <a:t>B/Event-B Tools (Rodin Platform, </a:t>
            </a:r>
            <a:r>
              <a:rPr sz="2200" dirty="0" err="1"/>
              <a:t>ProB</a:t>
            </a:r>
            <a:r>
              <a:rPr sz="2200" dirty="0"/>
              <a:t>, Atelier B)</a:t>
            </a:r>
          </a:p>
          <a:p>
            <a:r>
              <a:rPr sz="2200" dirty="0"/>
              <a:t>Event-B Case Study (</a:t>
            </a:r>
            <a:r>
              <a:rPr lang="en-US" sz="2200" dirty="0"/>
              <a:t>Automatic Level Crossing</a:t>
            </a:r>
            <a:r>
              <a:rPr sz="2200" dirty="0"/>
              <a:t>)</a:t>
            </a:r>
          </a:p>
          <a:p>
            <a:r>
              <a:rPr sz="2200" dirty="0"/>
              <a:t>Course Summary and Assessment</a:t>
            </a:r>
          </a:p>
          <a:p>
            <a:endParaRPr sz="2200" dirty="0"/>
          </a:p>
          <a:p>
            <a:pPr marL="0" indent="0">
              <a:buNone/>
            </a:pPr>
            <a:r>
              <a:rPr sz="2200" b="1" dirty="0"/>
              <a:t>Learning Objectives:</a:t>
            </a:r>
          </a:p>
          <a:p>
            <a:endParaRPr sz="2200" dirty="0"/>
          </a:p>
          <a:p>
            <a:r>
              <a:rPr sz="2200" dirty="0"/>
              <a:t>Apply Event-B to </a:t>
            </a:r>
            <a:r>
              <a:rPr lang="en-US" sz="2200" dirty="0"/>
              <a:t>simple </a:t>
            </a:r>
            <a:r>
              <a:rPr sz="2200" dirty="0"/>
              <a:t>realistic system modeling</a:t>
            </a:r>
          </a:p>
          <a:p>
            <a:r>
              <a:rPr sz="2200" dirty="0"/>
              <a:t>Understand industrial integration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954C-0009-11AA-56AF-353310B1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B2A5-A7D9-E470-CD99-8C7CBDF1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Verificarion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A760-D3A3-CFE1-DD63-425E3F5E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58" y="1600201"/>
            <a:ext cx="8801101" cy="4525963"/>
          </a:xfrm>
        </p:spPr>
        <p:txBody>
          <a:bodyPr/>
          <a:lstStyle/>
          <a:p>
            <a:r>
              <a:rPr lang="en-001" b="1" dirty="0"/>
              <a:t>Validation vs Veirificaiton</a:t>
            </a:r>
          </a:p>
          <a:p>
            <a:pPr lvl="1"/>
            <a:r>
              <a:rPr lang="en-001" dirty="0"/>
              <a:t>Building the right system - Building the system Right</a:t>
            </a:r>
          </a:p>
          <a:p>
            <a:r>
              <a:rPr lang="en-001" b="1" dirty="0"/>
              <a:t>Model Checking for verification</a:t>
            </a:r>
          </a:p>
          <a:p>
            <a:pPr lvl="1"/>
            <a:r>
              <a:rPr lang="en-001" dirty="0"/>
              <a:t>Explore all possible state to check safety properties</a:t>
            </a:r>
          </a:p>
          <a:p>
            <a:r>
              <a:rPr lang="en-001" b="1" dirty="0"/>
              <a:t>Animation for validation</a:t>
            </a:r>
          </a:p>
          <a:p>
            <a:pPr lvl="1"/>
            <a:r>
              <a:rPr lang="en-001" dirty="0"/>
              <a:t>Validate specific scenario with doamin expert</a:t>
            </a:r>
          </a:p>
          <a:p>
            <a:r>
              <a:rPr lang="en-001" b="1" dirty="0"/>
              <a:t>Proof Obligations</a:t>
            </a:r>
          </a:p>
          <a:p>
            <a:pPr lvl="1"/>
            <a:r>
              <a:rPr lang="en-001" dirty="0"/>
              <a:t>Theorem proving in Event-B</a:t>
            </a:r>
          </a:p>
          <a:p>
            <a:pPr marL="0" indent="0">
              <a:buNone/>
            </a:pP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17838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937" y="0"/>
            <a:ext cx="86201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Event-B Tool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937" y="1325563"/>
            <a:ext cx="8620125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Rodin Platform (Event-B):</a:t>
            </a:r>
          </a:p>
          <a:p>
            <a:endParaRPr sz="1800" dirty="0"/>
          </a:p>
          <a:p>
            <a:r>
              <a:rPr sz="1800" dirty="0"/>
              <a:t>Type: Eclipse-based IDE for Event-B</a:t>
            </a:r>
          </a:p>
          <a:p>
            <a:r>
              <a:rPr sz="1800" dirty="0"/>
              <a:t>Features: Modeling, proof management, refinement support</a:t>
            </a:r>
          </a:p>
          <a:p>
            <a:r>
              <a:rPr sz="1800" dirty="0"/>
              <a:t>Provers: Automatic (PP, ML), Interactive (manual proof)</a:t>
            </a:r>
          </a:p>
          <a:p>
            <a:r>
              <a:rPr sz="1800" dirty="0"/>
              <a:t>Extensions: </a:t>
            </a:r>
            <a:r>
              <a:rPr sz="1800" dirty="0" err="1"/>
              <a:t>ProB</a:t>
            </a:r>
            <a:r>
              <a:rPr sz="1800" dirty="0"/>
              <a:t> integration, code generation, documentation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Key Rodin Features:</a:t>
            </a:r>
          </a:p>
          <a:p>
            <a:endParaRPr sz="1800" dirty="0"/>
          </a:p>
          <a:p>
            <a:r>
              <a:rPr sz="1800" dirty="0"/>
              <a:t>Event-B Editor: Model creation and editing | Syntax checking</a:t>
            </a:r>
          </a:p>
          <a:p>
            <a:r>
              <a:rPr sz="1800" dirty="0"/>
              <a:t>Proof Obligation View: Track proof progress | Visual proof status, statistics</a:t>
            </a:r>
          </a:p>
          <a:p>
            <a:r>
              <a:rPr sz="1800" dirty="0"/>
              <a:t>Prover UI: Interactive theorem proving | Step-by-step proof construction</a:t>
            </a:r>
          </a:p>
          <a:p>
            <a:r>
              <a:rPr sz="1800" dirty="0"/>
              <a:t>Refinement Support: Multi-level development | Automatic refinement checking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2596-4CFB-70D6-5203-D363270E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AC35C-7DFB-35AF-2CD0-CB51BE746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37" y="0"/>
            <a:ext cx="86201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Event-B Tool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F1D0D-2F7A-721A-8A01-712A4447F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7" y="1143000"/>
            <a:ext cx="8620125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 err="1"/>
              <a:t>ProB</a:t>
            </a:r>
            <a:r>
              <a:rPr sz="1800" b="1" dirty="0"/>
              <a:t> (Model Checker and Animator):</a:t>
            </a:r>
            <a:endParaRPr sz="1800" dirty="0"/>
          </a:p>
          <a:p>
            <a:r>
              <a:rPr sz="1800" dirty="0"/>
              <a:t>Animation: Interactive model exploration</a:t>
            </a:r>
          </a:p>
          <a:p>
            <a:r>
              <a:rPr sz="1800" dirty="0"/>
              <a:t>Model Checking: Automatic verification of properties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Atelier B (Classical B Method):</a:t>
            </a:r>
            <a:endParaRPr sz="1800" dirty="0"/>
          </a:p>
          <a:p>
            <a:r>
              <a:rPr sz="1800" dirty="0"/>
              <a:t>Focus: Industrial B Method development</a:t>
            </a:r>
          </a:p>
          <a:p>
            <a:r>
              <a:rPr sz="1800" dirty="0"/>
              <a:t>Strengths: Mature tool, proven track record</a:t>
            </a:r>
          </a:p>
          <a:p>
            <a:r>
              <a:rPr sz="1800" dirty="0"/>
              <a:t>Applications: Safety-critical systems (railway, avionics)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324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86EDD17-CCE6-7A74-3F10-0ED64C0FD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07" y="120191"/>
            <a:ext cx="6096786" cy="60967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E2CB9D-289B-FE3A-71EC-32E93F889EA5}"/>
              </a:ext>
            </a:extLst>
          </p:cNvPr>
          <p:cNvSpPr txBox="1"/>
          <p:nvPr/>
        </p:nvSpPr>
        <p:spPr>
          <a:xfrm>
            <a:off x="1003954" y="6368477"/>
            <a:ext cx="8017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dirty="0">
                <a:hlinkClick r:id="rId3"/>
              </a:rPr>
              <a:t>https://www.bbc.co.uk/news/videos/ced65d0gl2eo?app-referrer=search</a:t>
            </a:r>
            <a:endParaRPr lang="en-001" dirty="0"/>
          </a:p>
          <a:p>
            <a:endParaRPr lang="en-00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9A31-87AD-2F02-F750-6DE712A50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FBAC-406F-E05C-5217-2E1E79DF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37" y="0"/>
            <a:ext cx="86201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Automatic Level Crossing Control System 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CEC6-0CA5-CA6A-D2E0-1EEF1F4FE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7" y="829560"/>
            <a:ext cx="8620125" cy="5571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System Description</a:t>
            </a:r>
            <a:br>
              <a:rPr lang="en-US" sz="1800" dirty="0"/>
            </a:br>
            <a:r>
              <a:rPr lang="en-US" sz="1800" dirty="0"/>
              <a:t>A railway level crossing protects road users from trains by lowering barriers when a train is approaching and raising them after the train passes. The system includes:</a:t>
            </a:r>
          </a:p>
          <a:p>
            <a:r>
              <a:rPr lang="en-US" sz="1800" b="1" dirty="0"/>
              <a:t>Train sensors</a:t>
            </a:r>
            <a:r>
              <a:rPr lang="en-US" sz="1800" dirty="0"/>
              <a:t> (detect train state)</a:t>
            </a:r>
          </a:p>
          <a:p>
            <a:r>
              <a:rPr lang="en-US" sz="1800" b="1" dirty="0"/>
              <a:t>Barriers</a:t>
            </a:r>
            <a:r>
              <a:rPr lang="en-US" sz="1800" dirty="0"/>
              <a:t> (open or closed)</a:t>
            </a:r>
          </a:p>
          <a:p>
            <a:r>
              <a:rPr lang="en-US" sz="1800" b="1" dirty="0"/>
              <a:t>Signal lights</a:t>
            </a:r>
            <a:r>
              <a:rPr lang="en-US" sz="1800" dirty="0"/>
              <a:t> (green for cars to pass, red when barrier closed)</a:t>
            </a:r>
          </a:p>
          <a:p>
            <a:r>
              <a:rPr lang="en-US" sz="1800" b="1" dirty="0"/>
              <a:t>Controller</a:t>
            </a:r>
            <a:r>
              <a:rPr lang="en-US" sz="1800" dirty="0"/>
              <a:t> (manages synchronization)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 algn="ctr">
              <a:buNone/>
            </a:pPr>
            <a:r>
              <a:rPr lang="en-US" sz="2000" b="1" dirty="0"/>
              <a:t>Identify Safety Requirements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11B762-ACE9-3849-F6E3-81769CFD4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139644"/>
              </p:ext>
            </p:extLst>
          </p:nvPr>
        </p:nvGraphicFramePr>
        <p:xfrm>
          <a:off x="435399" y="4430598"/>
          <a:ext cx="8105286" cy="23239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51455">
                  <a:extLst>
                    <a:ext uri="{9D8B030D-6E8A-4147-A177-3AD203B41FA5}">
                      <a16:colId xmlns:a16="http://schemas.microsoft.com/office/drawing/2014/main" val="1012334716"/>
                    </a:ext>
                  </a:extLst>
                </a:gridCol>
                <a:gridCol w="5944025">
                  <a:extLst>
                    <a:ext uri="{9D8B030D-6E8A-4147-A177-3AD203B41FA5}">
                      <a16:colId xmlns:a16="http://schemas.microsoft.com/office/drawing/2014/main" val="400405309"/>
                    </a:ext>
                  </a:extLst>
                </a:gridCol>
                <a:gridCol w="1509806">
                  <a:extLst>
                    <a:ext uri="{9D8B030D-6E8A-4147-A177-3AD203B41FA5}">
                      <a16:colId xmlns:a16="http://schemas.microsoft.com/office/drawing/2014/main" val="1632832598"/>
                    </a:ext>
                  </a:extLst>
                </a:gridCol>
              </a:tblGrid>
              <a:tr h="301001">
                <a:tc>
                  <a:txBody>
                    <a:bodyPr/>
                    <a:lstStyle/>
                    <a:p>
                      <a:r>
                        <a:rPr lang="en-US" b="1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Safety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4230"/>
                  </a:ext>
                </a:extLst>
              </a:tr>
              <a:tr h="507033">
                <a:tc>
                  <a:txBody>
                    <a:bodyPr/>
                    <a:lstStyle/>
                    <a:p>
                      <a:r>
                        <a:rPr lang="en-US" dirty="0"/>
                        <a:t>SR1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Barriers shall be </a:t>
                      </a:r>
                      <a:r>
                        <a:rPr lang="en-US" b="1"/>
                        <a:t>closed</a:t>
                      </a:r>
                      <a:r>
                        <a:rPr lang="en-US"/>
                        <a:t> whenever a train is near or crossing.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Prevents collisions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932237"/>
                  </a:ext>
                </a:extLst>
              </a:tr>
              <a:tr h="509387">
                <a:tc>
                  <a:txBody>
                    <a:bodyPr/>
                    <a:lstStyle/>
                    <a:p>
                      <a:r>
                        <a:rPr lang="en-US"/>
                        <a:t>SR2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Barriers shall be </a:t>
                      </a:r>
                      <a:r>
                        <a:rPr lang="en-US" b="1"/>
                        <a:t>open</a:t>
                      </a:r>
                      <a:r>
                        <a:rPr lang="en-US"/>
                        <a:t> only when no train is detected.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Allows road traffic safely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737998"/>
                  </a:ext>
                </a:extLst>
              </a:tr>
              <a:tr h="497167">
                <a:tc>
                  <a:txBody>
                    <a:bodyPr/>
                    <a:lstStyle/>
                    <a:p>
                      <a:r>
                        <a:rPr lang="en-US"/>
                        <a:t>SR3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Signal lights must be </a:t>
                      </a:r>
                      <a:r>
                        <a:rPr lang="en-US" b="1" dirty="0"/>
                        <a:t>red</a:t>
                      </a:r>
                      <a:r>
                        <a:rPr lang="en-US" dirty="0"/>
                        <a:t> whenever barriers are closed.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Warns vehicles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686773"/>
                  </a:ext>
                </a:extLst>
              </a:tr>
              <a:tr h="509387">
                <a:tc>
                  <a:txBody>
                    <a:bodyPr/>
                    <a:lstStyle/>
                    <a:p>
                      <a:r>
                        <a:rPr lang="en-US"/>
                        <a:t>SR4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2"/>
                          </a:solidFill>
                        </a:rPr>
                        <a:t>System must never have barriers open and train detected simultaneously.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Core invariant safety property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1408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CDFB2B-57B4-894F-3BA8-7C55F12B5EA7}"/>
              </a:ext>
            </a:extLst>
          </p:cNvPr>
          <p:cNvSpPr txBox="1"/>
          <p:nvPr/>
        </p:nvSpPr>
        <p:spPr>
          <a:xfrm>
            <a:off x="866122" y="3248680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</p:spTree>
    <p:extLst>
      <p:ext uri="{BB962C8B-B14F-4D97-AF65-F5344CB8AC3E}">
        <p14:creationId xmlns:p14="http://schemas.microsoft.com/office/powerpoint/2010/main" val="216964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6CAB-A930-1B01-BDF6-A1FDA93F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9B20-6310-5220-5E5A-72ADBD2F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37" y="160256"/>
            <a:ext cx="86201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Event-B </a:t>
            </a:r>
            <a:r>
              <a:rPr lang="en-US" b="1" dirty="0">
                <a:solidFill>
                  <a:schemeClr val="tx2"/>
                </a:solidFill>
              </a:rPr>
              <a:t>Model 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Rodin tool experience (demo)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C5D72-2F45-E99D-505E-C845AD7B2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734426"/>
            <a:ext cx="7772400" cy="4339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ACB33C-AE26-9778-FE13-321D64838D3D}"/>
              </a:ext>
            </a:extLst>
          </p:cNvPr>
          <p:cNvSpPr txBox="1"/>
          <p:nvPr/>
        </p:nvSpPr>
        <p:spPr>
          <a:xfrm>
            <a:off x="3691886" y="6212310"/>
            <a:ext cx="1760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3"/>
              </a:rPr>
              <a:t>Play Here</a:t>
            </a:r>
            <a:endParaRPr lang="en-001" sz="3200" dirty="0"/>
          </a:p>
        </p:txBody>
      </p:sp>
    </p:spTree>
    <p:extLst>
      <p:ext uri="{BB962C8B-B14F-4D97-AF65-F5344CB8AC3E}">
        <p14:creationId xmlns:p14="http://schemas.microsoft.com/office/powerpoint/2010/main" val="378569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6DAA4FB-8680-65BD-A1ED-BD775A975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0" y="1277096"/>
            <a:ext cx="7772400" cy="458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89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473-AAF5-C6CD-AE2D-CD21B4B4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2B892CB-7808-170C-1B53-FE990042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72" y="0"/>
            <a:ext cx="51882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95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E73867-22E9-747B-AC74-B443B806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97486"/>
            <a:ext cx="7772400" cy="362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1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E80C99-F77B-C508-7AB7-CEA4A2CD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25" y="0"/>
            <a:ext cx="3135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0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95D7-1730-26BA-71D7-E75B8900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D9786-1448-470C-DDF0-541EB049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487C1-A4A5-2312-8BE3-11BE59338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/>
          </a:bodyPr>
          <a:lstStyle/>
          <a:p>
            <a:r>
              <a:rPr lang="en-001" b="1" dirty="0"/>
              <a:t>Event-B tool (Rodin) overview</a:t>
            </a:r>
          </a:p>
          <a:p>
            <a:r>
              <a:rPr lang="en-001" b="1" dirty="0"/>
              <a:t>Automatic Level Crossing Control System:</a:t>
            </a:r>
          </a:p>
          <a:p>
            <a:pPr lvl="1"/>
            <a:r>
              <a:rPr lang="en-001" dirty="0"/>
              <a:t>Formal modelling and Formal V&amp;V overview</a:t>
            </a:r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/>
          </a:p>
          <a:p>
            <a:pPr marL="342900" lvl="1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</a:p>
          <a:p>
            <a:pPr marL="342900" lvl="1" indent="0">
              <a:buNone/>
            </a:pPr>
            <a:r>
              <a:rPr lang="en-US" dirty="0">
                <a:hlinkClick r:id="rId2"/>
              </a:rPr>
              <a:t>https://wiki.event-b.org/index.php/Main_Page</a:t>
            </a:r>
            <a:endParaRPr lang="en-US" dirty="0"/>
          </a:p>
          <a:p>
            <a:pPr marL="342900" lvl="1" indent="0">
              <a:buNone/>
            </a:pPr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69717-BCE1-DC1F-F1FE-FDFAECEB23C8}"/>
              </a:ext>
            </a:extLst>
          </p:cNvPr>
          <p:cNvSpPr txBox="1"/>
          <p:nvPr/>
        </p:nvSpPr>
        <p:spPr>
          <a:xfrm>
            <a:off x="992533" y="3566003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1087174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29566</TotalTime>
  <Words>511</Words>
  <Application>Microsoft Macintosh PowerPoint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 AICE2005 - Systematic Design  Formal Specification and Verification</vt:lpstr>
      <vt:lpstr>Course Introduction</vt:lpstr>
      <vt:lpstr>PowerPoint Presentation</vt:lpstr>
      <vt:lpstr>Lecture 5 Overview</vt:lpstr>
      <vt:lpstr>Recap: Verificarion and Validation</vt:lpstr>
      <vt:lpstr>Event-B Tool Ecosystem</vt:lpstr>
      <vt:lpstr>Event-B Tool Ecosystem</vt:lpstr>
      <vt:lpstr>PowerPoint Presentation</vt:lpstr>
      <vt:lpstr>Automatic Level Crossing Control System </vt:lpstr>
      <vt:lpstr>Event-B Model  Rodin tool experience (demo)</vt:lpstr>
      <vt:lpstr>PowerPoint Presentation</vt:lpstr>
      <vt:lpstr>PowerPoint Presentation</vt:lpstr>
      <vt:lpstr>PowerPoint Presentation</vt:lpstr>
      <vt:lpstr>PowerPoint Presentation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55</cp:revision>
  <dcterms:created xsi:type="dcterms:W3CDTF">2013-01-27T09:14:16Z</dcterms:created>
  <dcterms:modified xsi:type="dcterms:W3CDTF">2026-10-12T13:01:52Z</dcterms:modified>
  <cp:category/>
</cp:coreProperties>
</file>