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60" r:id="rId4"/>
    <p:sldId id="261" r:id="rId5"/>
    <p:sldId id="281" r:id="rId6"/>
    <p:sldId id="282" r:id="rId7"/>
    <p:sldId id="283" r:id="rId8"/>
    <p:sldId id="264" r:id="rId9"/>
    <p:sldId id="266" r:id="rId10"/>
    <p:sldId id="267" r:id="rId11"/>
    <p:sldId id="268" r:id="rId12"/>
    <p:sldId id="269" r:id="rId13"/>
    <p:sldId id="270" r:id="rId14"/>
    <p:sldId id="271" r:id="rId15"/>
    <p:sldId id="272" r:id="rId16"/>
    <p:sldId id="273" r:id="rId17"/>
    <p:sldId id="275" r:id="rId18"/>
    <p:sldId id="276" r:id="rId19"/>
    <p:sldId id="277" r:id="rId20"/>
    <p:sldId id="278" r:id="rId21"/>
    <p:sldId id="279" r:id="rId22"/>
    <p:sldId id="280"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1010"/>
    <p:restoredTop sz="96301"/>
  </p:normalViewPr>
  <p:slideViewPr>
    <p:cSldViewPr snapToGrid="0" snapToObjects="1">
      <p:cViewPr varScale="1">
        <p:scale>
          <a:sx n="128" d="100"/>
          <a:sy n="128" d="100"/>
        </p:scale>
        <p:origin x="1992" y="176"/>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C0760-A542-FE4F-8EBF-B1B1FB6407CD}" type="datetimeFigureOut">
              <a:rPr lang="en-001" smtClean="0"/>
              <a:t>21/09/2026</a:t>
            </a:fld>
            <a:endParaRPr lang="en-001"/>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DD410-6F06-0944-A7D6-EF8BD4B59FCF}" type="slidenum">
              <a:rPr lang="en-001" smtClean="0"/>
              <a:t>‹#›</a:t>
            </a:fld>
            <a:endParaRPr lang="en-001"/>
          </a:p>
        </p:txBody>
      </p:sp>
    </p:spTree>
    <p:extLst>
      <p:ext uri="{BB962C8B-B14F-4D97-AF65-F5344CB8AC3E}">
        <p14:creationId xmlns:p14="http://schemas.microsoft.com/office/powerpoint/2010/main" val="775020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0 min] Week 2, Lecture 1 of 3 (requirements block). Plan: 50 minutes = about 20 main slides</a:t>
            </a:r>
            <a:r>
              <a:t>, </a:t>
            </a:r>
            <a:r>
              <a:rPr lang="en-US"/>
              <a:t>one</a:t>
            </a:r>
            <a:r>
              <a:t> exercise, </a:t>
            </a:r>
            <a:r>
              <a:rPr dirty="0"/>
              <a:t>plus hidden appendix slides at the end for questions and revision.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Three lectures this week, all in the 'Analysing systems' block. Today: the vocabulary (FR, NFR, quality attributes) and how to write requirements precisely. Lecture 2: how to find and check requirements. Lecture 3: use cases and personas.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1 min] Bracketed codes map objectives to the module outcomes (B1 decompose into components, B2 define interfaces, B4 off-the-shelf vs bespoke trade-offs).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Definition adapted from ISO/IEC/IEEE 29148. Stress stakeholders, not just users: sponsors, regulators, maintainers and even neighbouring systems impose requirements. 'Shall' is binding and testable; 'should' is a preference; 'may' is optional.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 min] Three examples from different domains (vehicle, software module, learning system): the idea is the same everywhere. A functional requirement is </a:t>
            </a:r>
            <a:r>
              <a:rPr dirty="0" err="1"/>
              <a:t>behaviour</a:t>
            </a:r>
            <a:r>
              <a:rPr dirty="0"/>
              <a:t> you can observe and check pass/fail. Next slide: the quality of that </a:t>
            </a:r>
            <a:r>
              <a:rPr dirty="0" err="1"/>
              <a:t>behaviour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Two flavours: quality requirements (how fast, how secure, how usable) and constraints (limits on the solution, such as a mandated technology or budget). The battery example shows NFRs apply to hardware too. Every NFR here has a number and a unit, except accessibility, which we make measurable later.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1AE83-A8A4-4C16-4CC2-FFFCDB3DC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82FEA-63C7-BFFB-A514-0E3C8F3099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4AFD75-D0F0-435E-76CA-A589375B1E2B}"/>
              </a:ext>
            </a:extLst>
          </p:cNvPr>
          <p:cNvSpPr>
            <a:spLocks noGrp="1"/>
          </p:cNvSpPr>
          <p:nvPr>
            <p:ph type="body" sz="quarter" idx="3"/>
          </p:nvPr>
        </p:nvSpPr>
        <p:spPr/>
        <p:txBody>
          <a:bodyPr/>
          <a:lstStyle/>
          <a:p>
            <a:r>
              <a:rPr dirty="0"/>
              <a:t>The 'stability over time' row from the old slide was removed: the claim that NFRs stay stable while FRs change does not always hold.</a:t>
            </a:r>
          </a:p>
        </p:txBody>
      </p:sp>
      <p:sp>
        <p:nvSpPr>
          <p:cNvPr id="4" name="Slide Number Placeholder 3">
            <a:extLst>
              <a:ext uri="{FF2B5EF4-FFF2-40B4-BE49-F238E27FC236}">
                <a16:creationId xmlns:a16="http://schemas.microsoft.com/office/drawing/2014/main" id="{47848AB2-9189-8A97-0E35-A263EF7202C1}"/>
              </a:ext>
            </a:extLst>
          </p:cNvPr>
          <p:cNvSpPr>
            <a:spLocks noGrp="1"/>
          </p:cNvSpPr>
          <p:nvPr>
            <p:ph type="sldNum" sz="quarter" idx="5"/>
          </p:nvPr>
        </p:nvSpPr>
        <p:spPr/>
      </p:sp>
    </p:spTree>
    <p:extLst>
      <p:ext uri="{BB962C8B-B14F-4D97-AF65-F5344CB8AC3E}">
        <p14:creationId xmlns:p14="http://schemas.microsoft.com/office/powerpoint/2010/main" val="4137158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 min] </a:t>
            </a:r>
            <a:r>
              <a:rPr dirty="0" err="1"/>
              <a:t>Vevox</a:t>
            </a:r>
            <a:r>
              <a:rPr dirty="0"/>
              <a:t> multiple-choice poll, one question per statement, options FR / NFR / Not sure. About 20 seconds per statement, show the result, then go to the next slide.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Use it as an elicitation checklist: for each characteristic ask whether it matters for this system and how it would be measured. ISO/IEC 25010:2023 adds Safety and renames Usability to Interaction capability and Portability to Flexibility. Safety matters especially for hardware and cyber-physical systems.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Take 'fast' apart. Relative words such as fast, large, young or user-friendly are judged against an unstated reference. A measurable NFR fixes the reference: attribute, value with unit, condition, proportion of cases and measurement method. Use this as the checklist for Exercise 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 Borrows ideas from the LessWrong post: objects vs concepts (an instance vs a class), attributes as values judged against a reference, temporal scope, quantifiers and probability, and cause-and-effect connectives. It is an informal essay, not a requirements standard, so present it as a thinking tool. Ask students to find one ambiguous word in each earlier example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Read the logic aloud: for every student s and module m, if s completes m at time t, then there exists a set R of three videos, each relevant to s, suggested to s at a later time t′ within Δ of t. s and m are individual objects; Student, Module and Video are concepts (classes); 'completes' is a relation; Δ is a time scope. The logic exposes four gaps. Connect forward to formal specification (Event-B and similar). Students do not need to master the notation; the questions matter.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 EARS gives five patterns that force you to state the trigger, state or condition. Compare the event-driven pattern with the logic on the previous slide: 'When trigger, the system shall response' is 'trigger implies response'. The unwanted-behaviour pattern is where robustness requirements are captured.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Ask the room what is wrong with each weak requirement before revealing the rewrite. The first rewrite replaces the old 'SHA-512 with 16-byte salts' example: general-purpose fast hashes are not recommended for passwords; use a slow, salted password-hashing function such as Argon2id or bcrypt. Pitfalls from the old deck are folded in: vagueness, unmeasurable wording, conflicts, NFRs ignored in testing and in Agile iterations.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The bridge to component decomposition (B1) and interfaces (B2): NFRs are cross-cutting, so they are allocated across components as budgets (time, energy, memory, error). The 0.5 s split is illustrative; in a real project it is negotiated and then verified by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Three pairs are software or hardware (performance vs security, usability vs security, accuracy vs battery); the last is a learning-system example (personalisation vs privacy). The old Venn diagram showed the first three. Prioritisation (MoSCoW) returns in Lecture 2.</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Close with the four takeaways, point to the reading, preview Lecture 2. Check the Sommerville chapter number against the edition on your reading list. The slides after this one are hidden appendix slides for questions and revision.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One need becomes a system requirement and then several component requirements, each owned by a different part of the team.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The 'stability over time' row from the old slide was removed: the claim that NFRs stay stable while FRs change does not always hold.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The first six adjectives follow ISO/IEC/IEEE 29148 for individual requirements; consistent and traceable apply to the requirement set.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NFRs drive the big structural decisions, which are much harder to change late than a feature.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The sensor's 1 s sampling and accuracy limit what the UI can show; the software's 100+ sensor NFR limits gateway design.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6"/>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1"/>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3"/>
            <a:ext cx="58293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535113"/>
            <a:ext cx="303014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535113"/>
            <a:ext cx="303133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0"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11"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2" name="Footer SEAtS"/>
          <p:cNvSpPr txBox="1"/>
          <p:nvPr userDrawn="1"/>
        </p:nvSpPr>
        <p:spPr>
          <a:xfrm>
            <a:off x="868680" y="6384033"/>
            <a:ext cx="3200400" cy="291086"/>
          </a:xfrm>
          <a:prstGeom prst="rect">
            <a:avLst/>
          </a:prstGeom>
          <a:noFill/>
        </p:spPr>
        <p:txBody>
          <a:bodyPr wrap="square" lIns="0" tIns="0" rIns="0" bIns="0" anchor="ctr">
            <a:noAutofit/>
          </a:bodyPr>
          <a:lstStyle/>
          <a:p>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pic>
        <p:nvPicPr>
          <p:cNvPr id="6"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7"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8" name="Footer SEAtS"/>
          <p:cNvSpPr txBox="1"/>
          <p:nvPr userDrawn="1"/>
        </p:nvSpPr>
        <p:spPr>
          <a:xfrm>
            <a:off x="868680" y="6384033"/>
            <a:ext cx="3200400" cy="291086"/>
          </a:xfrm>
          <a:prstGeom prst="rect">
            <a:avLst/>
          </a:prstGeom>
          <a:noFill/>
        </p:spPr>
        <p:txBody>
          <a:bodyPr wrap="square" lIns="0" tIns="0" rIns="0" bIns="0" anchor="ctr">
            <a:noAutofit/>
          </a:bodyPr>
          <a:lstStyle/>
          <a:p>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5"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6"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7"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73051"/>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435101"/>
            <a:ext cx="2256235"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39"/>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39"/>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9/21/26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a:solidFill>
                  <a:srgbClr val="1F497D"/>
                </a:solidFill>
              </a:rPr>
              <a:t> |</a:t>
            </a:r>
            <a:endParaRPr lang="en-GB" sz="1000" b="1" dirty="0">
              <a:solidFill>
                <a:srgbClr val="1F497D"/>
              </a:solidFill>
            </a:endParaRPr>
          </a:p>
          <a:p>
            <a:r>
              <a:rPr lang="en-GB" sz="800" b="1" dirty="0">
                <a:solidFill>
                  <a:srgbClr val="8C8C8C"/>
                </a:solidFill>
              </a:rPr>
              <a:t>© University of Southampton</a:t>
            </a:r>
          </a:p>
        </p:txBody>
      </p:sp>
    </p:spTree>
    <p:extLst>
      <p:ext uri="{BB962C8B-B14F-4D97-AF65-F5344CB8AC3E}">
        <p14:creationId xmlns:p14="http://schemas.microsoft.com/office/powerpoint/2010/main" val="197054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1"/>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1"/>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2343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6356351"/>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alehi@Soton.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www.iso.org/standard/72089.html"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hyperlink" Target="https://www.oreilly.com/library/view/systems-engineering-principles/9780470405482/" TargetMode="External"/><Relationship Id="rId5" Type="http://schemas.openxmlformats.org/officeDocument/2006/relationships/hyperlink" Target="https://doi.org/10.1109/RE.2009.9" TargetMode="External"/><Relationship Id="rId4" Type="http://schemas.openxmlformats.org/officeDocument/2006/relationships/hyperlink" Target="https://www.iso.org/standard/78176.html"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60" y="1371600"/>
            <a:ext cx="8412480" cy="2468880"/>
          </a:xfrm>
        </p:spPr>
        <p:txBody>
          <a:bodyPr/>
          <a:lstStyle/>
          <a:p>
            <a:r>
              <a:rPr sz="3600"/>
              <a:t>AICE2005 - Systematic Design</a:t>
            </a:r>
            <a:br/>
            <a:br/>
            <a:r>
              <a:rPr sz="3800" b="1">
                <a:solidFill>
                  <a:schemeClr val="tx2"/>
                </a:solidFill>
              </a:rPr>
              <a:t>Functional and Non-Functional Requirements</a:t>
            </a:r>
          </a:p>
        </p:txBody>
      </p:sp>
      <p:sp>
        <p:nvSpPr>
          <p:cNvPr id="3" name="Subtitle 2"/>
          <p:cNvSpPr>
            <a:spLocks noGrp="1"/>
          </p:cNvSpPr>
          <p:nvPr>
            <p:ph type="subTitle" idx="1"/>
          </p:nvPr>
        </p:nvSpPr>
        <p:spPr>
          <a:xfrm>
            <a:off x="1371600" y="4114800"/>
            <a:ext cx="6400800" cy="1463040"/>
          </a:xfrm>
        </p:spPr>
        <p:txBody>
          <a:bodyPr>
            <a:normAutofit fontScale="70000" lnSpcReduction="20000"/>
          </a:bodyPr>
          <a:lstStyle/>
          <a:p>
            <a:r>
              <a:rPr dirty="0"/>
              <a:t>Asieh Salehi Fathabadi</a:t>
            </a:r>
            <a:endParaRPr lang="en-US" dirty="0"/>
          </a:p>
          <a:p>
            <a:r>
              <a:rPr lang="en-US" dirty="0">
                <a:hlinkClick r:id="rId3"/>
              </a:rPr>
              <a:t>A.Salehi@Soton.ac.uk</a:t>
            </a:r>
            <a:endParaRPr lang="en-US" dirty="0"/>
          </a:p>
          <a:p>
            <a:endParaRPr dirty="0"/>
          </a:p>
          <a:p>
            <a:r>
              <a:rPr dirty="0"/>
              <a:t>University of Southampton</a:t>
            </a:r>
          </a:p>
          <a:p>
            <a:r>
              <a:rPr dirty="0"/>
              <a:t>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Week Overview</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2000" b="0">
                <a:solidFill>
                  <a:srgbClr val="595959"/>
                </a:solidFill>
              </a:rPr>
              <a:t>Week 2  |  Analysing systems: requirements</a:t>
            </a:r>
          </a:p>
        </p:txBody>
      </p:sp>
      <p:sp>
        <p:nvSpPr>
          <p:cNvPr id="4" name="Rounded Rectangle 3"/>
          <p:cNvSpPr/>
          <p:nvPr/>
        </p:nvSpPr>
        <p:spPr>
          <a:xfrm>
            <a:off x="457200" y="1783080"/>
            <a:ext cx="8229600" cy="1143000"/>
          </a:xfrm>
          <a:prstGeom prst="roundRect">
            <a:avLst>
              <a:gd name="adj" fmla="val 8000"/>
            </a:avLst>
          </a:prstGeom>
          <a:solidFill>
            <a:srgbClr val="1F497D"/>
          </a:solidFill>
          <a:ln>
            <a:noFill/>
          </a:ln>
          <a:effectLst/>
        </p:spPr>
        <p:txBody>
          <a:bodyPr wrap="square" lIns="228600" tIns="54864" rIns="228600" bIns="54864" rtlCol="0" anchor="ctr"/>
          <a:lstStyle/>
          <a:p>
            <a:pPr marL="0" indent="0" algn="l">
              <a:spcAft>
                <a:spcPts val="400"/>
              </a:spcAft>
              <a:buNone/>
            </a:pPr>
            <a:r>
              <a:rPr sz="2200" b="1">
                <a:solidFill>
                  <a:srgbClr val="FFFFFF"/>
                </a:solidFill>
              </a:rPr>
              <a:t>Lecture 1: Functional and Non-Functional Requirements</a:t>
            </a:r>
          </a:p>
          <a:p>
            <a:pPr marL="0" indent="0" algn="l">
              <a:buNone/>
            </a:pPr>
            <a:r>
              <a:rPr sz="1600" b="0">
                <a:solidFill>
                  <a:srgbClr val="FFFFFF"/>
                </a:solidFill>
              </a:rPr>
              <a:t>What must the system do, and how well must it do it?</a:t>
            </a:r>
          </a:p>
        </p:txBody>
      </p:sp>
      <p:sp>
        <p:nvSpPr>
          <p:cNvPr id="5" name="Rounded Rectangle 4"/>
          <p:cNvSpPr/>
          <p:nvPr/>
        </p:nvSpPr>
        <p:spPr>
          <a:xfrm>
            <a:off x="457200" y="31546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2: Gathering and Validating Requirements</a:t>
            </a:r>
          </a:p>
          <a:p>
            <a:pPr marL="0" indent="0" algn="l">
              <a:buNone/>
            </a:pPr>
            <a:r>
              <a:rPr sz="1600" b="0">
                <a:solidFill>
                  <a:srgbClr val="595959"/>
                </a:solidFill>
              </a:rPr>
              <a:t>How do we find out what stakeholders need, and check we got it right?</a:t>
            </a:r>
          </a:p>
        </p:txBody>
      </p:sp>
      <p:sp>
        <p:nvSpPr>
          <p:cNvPr id="6" name="Rounded Rectangle 5"/>
          <p:cNvSpPr/>
          <p:nvPr/>
        </p:nvSpPr>
        <p:spPr>
          <a:xfrm>
            <a:off x="457200" y="45262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3: Use Cases and Personas</a:t>
            </a:r>
          </a:p>
          <a:p>
            <a:pPr marL="0" indent="0" algn="l">
              <a:buNone/>
            </a:pPr>
            <a:r>
              <a:rPr sz="1600" b="0">
                <a:solidFill>
                  <a:srgbClr val="595959"/>
                </a:solidFill>
              </a:rPr>
              <a:t>How do we capture users and their goals as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Lecture 1 Overview</a:t>
            </a:r>
          </a:p>
        </p:txBody>
      </p:sp>
      <p:sp>
        <p:nvSpPr>
          <p:cNvPr id="3" name="TextBox 2"/>
          <p:cNvSpPr txBox="1"/>
          <p:nvPr/>
        </p:nvSpPr>
        <p:spPr>
          <a:xfrm>
            <a:off x="457200" y="1097280"/>
            <a:ext cx="8229600" cy="1854867"/>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2000" b="0" dirty="0">
                <a:solidFill>
                  <a:srgbClr val="262626"/>
                </a:solidFill>
              </a:rPr>
              <a:t>Requirements, FRs and NFRs</a:t>
            </a:r>
          </a:p>
          <a:p>
            <a:pPr marL="285750" indent="-285750" algn="l">
              <a:spcAft>
                <a:spcPts val="400"/>
              </a:spcAft>
              <a:buFont typeface="Arial"/>
              <a:buChar char="•"/>
            </a:pPr>
            <a:r>
              <a:rPr sz="2000" b="0" dirty="0">
                <a:solidFill>
                  <a:srgbClr val="262626"/>
                </a:solidFill>
              </a:rPr>
              <a:t>Quality attributes and measurable NFRs</a:t>
            </a:r>
          </a:p>
          <a:p>
            <a:pPr marL="285750" indent="-285750" algn="l">
              <a:spcAft>
                <a:spcPts val="400"/>
              </a:spcAft>
              <a:buFont typeface="Arial"/>
              <a:buChar char="•"/>
            </a:pPr>
            <a:r>
              <a:rPr sz="2000" b="0" dirty="0">
                <a:solidFill>
                  <a:srgbClr val="262626"/>
                </a:solidFill>
              </a:rPr>
              <a:t>Writing precise requirements </a:t>
            </a:r>
          </a:p>
          <a:p>
            <a:pPr marL="285750" indent="-285750" algn="l">
              <a:spcAft>
                <a:spcPts val="400"/>
              </a:spcAft>
              <a:buFont typeface="Arial"/>
              <a:buChar char="•"/>
            </a:pPr>
            <a:r>
              <a:rPr sz="2000" b="0" dirty="0">
                <a:solidFill>
                  <a:srgbClr val="262626"/>
                </a:solidFill>
              </a:rPr>
              <a:t>NFRs, architecture and trade-offs</a:t>
            </a:r>
          </a:p>
          <a:p>
            <a:pPr marL="285750" indent="-285750" algn="l">
              <a:spcAft>
                <a:spcPts val="400"/>
              </a:spcAft>
              <a:buFont typeface="Arial"/>
              <a:buChar char="•"/>
            </a:pPr>
            <a:r>
              <a:rPr sz="2000" b="0" dirty="0">
                <a:solidFill>
                  <a:srgbClr val="262626"/>
                </a:solidFill>
              </a:rPr>
              <a:t>Practice: two short exercises</a:t>
            </a:r>
          </a:p>
        </p:txBody>
      </p:sp>
      <p:sp>
        <p:nvSpPr>
          <p:cNvPr id="4" name="TextBox 3"/>
          <p:cNvSpPr txBox="1"/>
          <p:nvPr/>
        </p:nvSpPr>
        <p:spPr>
          <a:xfrm>
            <a:off x="457200" y="3429000"/>
            <a:ext cx="8229600" cy="411480"/>
          </a:xfrm>
          <a:prstGeom prst="rect">
            <a:avLst/>
          </a:prstGeom>
          <a:noFill/>
        </p:spPr>
        <p:txBody>
          <a:bodyPr wrap="square" lIns="73152" tIns="54864" rIns="73152" bIns="54864" anchor="t">
            <a:spAutoFit/>
          </a:bodyPr>
          <a:lstStyle/>
          <a:p>
            <a:pPr marL="0" indent="0" algn="l">
              <a:buNone/>
            </a:pPr>
            <a:r>
              <a:rPr sz="2000" b="1">
                <a:solidFill>
                  <a:srgbClr val="1F497D"/>
                </a:solidFill>
              </a:rPr>
              <a:t>Learning Objectives:</a:t>
            </a:r>
          </a:p>
        </p:txBody>
      </p:sp>
      <p:sp>
        <p:nvSpPr>
          <p:cNvPr id="5" name="TextBox 4"/>
          <p:cNvSpPr txBox="1"/>
          <p:nvPr/>
        </p:nvSpPr>
        <p:spPr>
          <a:xfrm>
            <a:off x="457200" y="3886200"/>
            <a:ext cx="8229600" cy="1372683"/>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800" b="0" dirty="0">
                <a:solidFill>
                  <a:srgbClr val="262626"/>
                </a:solidFill>
              </a:rPr>
              <a:t>Distinguish and classify functional and non-functional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Write measurable, testable and unambiguous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Explain how NFRs shape architecture and force trade-offs</a:t>
            </a:r>
            <a:r>
              <a:rPr sz="1400" b="0" dirty="0">
                <a:solidFill>
                  <a:srgbClr val="595959"/>
                </a:solidFill>
              </a:rPr>
              <a:t>  </a:t>
            </a:r>
          </a:p>
          <a:p>
            <a:pPr marL="285750" indent="-285750" algn="l">
              <a:spcAft>
                <a:spcPts val="400"/>
              </a:spcAft>
              <a:buFont typeface="Arial"/>
              <a:buChar char="•"/>
            </a:pPr>
            <a:r>
              <a:rPr sz="1800" b="0" dirty="0">
                <a:solidFill>
                  <a:srgbClr val="262626"/>
                </a:solidFill>
              </a:rPr>
              <a:t>Begin drafting well-structured requirements for a multi-component system</a:t>
            </a:r>
            <a:endParaRPr sz="1400" b="0" dirty="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What is a Requirement?</a:t>
            </a:r>
          </a:p>
        </p:txBody>
      </p:sp>
      <p:sp>
        <p:nvSpPr>
          <p:cNvPr id="3" name="Rectangle 2"/>
          <p:cNvSpPr/>
          <p:nvPr/>
        </p:nvSpPr>
        <p:spPr>
          <a:xfrm>
            <a:off x="457200" y="1143000"/>
            <a:ext cx="8229600" cy="1234440"/>
          </a:xfrm>
          <a:prstGeom prst="rect">
            <a:avLst/>
          </a:prstGeom>
          <a:solidFill>
            <a:srgbClr val="DCE6F2"/>
          </a:solidFill>
          <a:ln>
            <a:noFill/>
          </a:ln>
          <a:effectLst/>
        </p:spPr>
        <p:txBody>
          <a:bodyPr wrap="square" lIns="182880" tIns="54864" rIns="182880" bIns="54864" rtlCol="0" anchor="ctr"/>
          <a:lstStyle/>
          <a:p>
            <a:pPr marL="0" indent="0" algn="l">
              <a:buNone/>
            </a:pPr>
            <a:r>
              <a:rPr sz="1900" b="0" dirty="0">
                <a:solidFill>
                  <a:srgbClr val="262626"/>
                </a:solidFill>
              </a:rPr>
              <a:t>A requirement is a statement of a capability, quality or constraint that </a:t>
            </a:r>
            <a:r>
              <a:rPr sz="1900" b="1" dirty="0">
                <a:solidFill>
                  <a:srgbClr val="262626"/>
                </a:solidFill>
              </a:rPr>
              <a:t>a system must meet </a:t>
            </a:r>
            <a:r>
              <a:rPr sz="1900" b="0" dirty="0">
                <a:solidFill>
                  <a:srgbClr val="262626"/>
                </a:solidFill>
              </a:rPr>
              <a:t>to satisfy the needs and expectations of its users and other stakeholders.</a:t>
            </a:r>
          </a:p>
        </p:txBody>
      </p:sp>
      <p:sp>
        <p:nvSpPr>
          <p:cNvPr id="4" name="TextBox 3"/>
          <p:cNvSpPr txBox="1"/>
          <p:nvPr/>
        </p:nvSpPr>
        <p:spPr>
          <a:xfrm>
            <a:off x="457200" y="2514600"/>
            <a:ext cx="8229600" cy="365760"/>
          </a:xfrm>
          <a:prstGeom prst="rect">
            <a:avLst/>
          </a:prstGeom>
          <a:noFill/>
        </p:spPr>
        <p:txBody>
          <a:bodyPr wrap="square" lIns="73152" tIns="54864" rIns="73152" bIns="54864" anchor="t">
            <a:spAutoFit/>
          </a:bodyPr>
          <a:lstStyle/>
          <a:p>
            <a:pPr marL="0" indent="0" algn="l">
              <a:buNone/>
            </a:pPr>
            <a:r>
              <a:rPr sz="1800" b="1">
                <a:solidFill>
                  <a:srgbClr val="1F497D"/>
                </a:solidFill>
              </a:rPr>
              <a:t>A requirement can state:</a:t>
            </a:r>
          </a:p>
        </p:txBody>
      </p:sp>
      <p:sp>
        <p:nvSpPr>
          <p:cNvPr id="5" name="Rectangle 4"/>
          <p:cNvSpPr/>
          <p:nvPr/>
        </p:nvSpPr>
        <p:spPr>
          <a:xfrm>
            <a:off x="457200" y="2926080"/>
            <a:ext cx="2621280" cy="1143000"/>
          </a:xfrm>
          <a:prstGeom prst="rect">
            <a:avLst/>
          </a:prstGeom>
          <a:solidFill>
            <a:srgbClr val="FFFFFF"/>
          </a:solidFill>
          <a:ln w="12700">
            <a:solidFill>
              <a:srgbClr val="BFBFBF"/>
            </a:solidFill>
          </a:ln>
          <a:effectLst/>
        </p:spPr>
        <p:txBody>
          <a:bodyPr rtlCol="0" anchor="ctr"/>
          <a:lstStyle/>
          <a:p>
            <a:pPr algn="ctr"/>
            <a:endParaRPr/>
          </a:p>
        </p:txBody>
      </p:sp>
      <p:sp>
        <p:nvSpPr>
          <p:cNvPr id="6" name="Oval 5"/>
          <p:cNvSpPr/>
          <p:nvPr/>
        </p:nvSpPr>
        <p:spPr>
          <a:xfrm>
            <a:off x="594360" y="3127248"/>
            <a:ext cx="411480" cy="411480"/>
          </a:xfrm>
          <a:prstGeom prst="ellipse">
            <a:avLst/>
          </a:prstGeom>
          <a:solidFill>
            <a:srgbClr val="1F497D"/>
          </a:solidFill>
          <a:ln>
            <a:noFill/>
          </a:ln>
          <a:effectLst/>
        </p:spPr>
        <p:txBody>
          <a:bodyPr wrap="square" lIns="0" tIns="0" rIns="0" bIns="0" rtlCol="0" anchor="ctr"/>
          <a:lstStyle/>
          <a:p>
            <a:pPr marL="0" indent="0" algn="ctr">
              <a:buNone/>
            </a:pPr>
            <a:r>
              <a:rPr sz="1500" b="1">
                <a:solidFill>
                  <a:srgbClr val="FFFFFF"/>
                </a:solidFill>
              </a:rPr>
              <a:t>1</a:t>
            </a:r>
          </a:p>
        </p:txBody>
      </p:sp>
      <p:sp>
        <p:nvSpPr>
          <p:cNvPr id="7" name="TextBox 6"/>
          <p:cNvSpPr txBox="1"/>
          <p:nvPr/>
        </p:nvSpPr>
        <p:spPr>
          <a:xfrm>
            <a:off x="1097280" y="2926080"/>
            <a:ext cx="1889759" cy="1143000"/>
          </a:xfrm>
          <a:prstGeom prst="rect">
            <a:avLst/>
          </a:prstGeom>
          <a:noFill/>
        </p:spPr>
        <p:txBody>
          <a:bodyPr wrap="square" lIns="73152" tIns="54864" rIns="73152" bIns="54864" anchor="ctr">
            <a:spAutoFit/>
          </a:bodyPr>
          <a:lstStyle/>
          <a:p>
            <a:pPr marL="0" indent="0" algn="l">
              <a:buNone/>
            </a:pPr>
            <a:r>
              <a:rPr sz="1600" b="0">
                <a:solidFill>
                  <a:srgbClr val="262626"/>
                </a:solidFill>
              </a:rPr>
              <a:t>a service the system should provide</a:t>
            </a:r>
          </a:p>
        </p:txBody>
      </p:sp>
      <p:sp>
        <p:nvSpPr>
          <p:cNvPr id="8" name="Rectangle 7"/>
          <p:cNvSpPr/>
          <p:nvPr/>
        </p:nvSpPr>
        <p:spPr>
          <a:xfrm>
            <a:off x="3261360" y="2926080"/>
            <a:ext cx="2621280" cy="1143000"/>
          </a:xfrm>
          <a:prstGeom prst="rect">
            <a:avLst/>
          </a:prstGeom>
          <a:solidFill>
            <a:srgbClr val="FFFFFF"/>
          </a:solidFill>
          <a:ln w="12700">
            <a:solidFill>
              <a:srgbClr val="BFBFBF"/>
            </a:solidFill>
          </a:ln>
          <a:effectLst/>
        </p:spPr>
        <p:txBody>
          <a:bodyPr rtlCol="0" anchor="ctr"/>
          <a:lstStyle/>
          <a:p>
            <a:pPr algn="ctr"/>
            <a:endParaRPr/>
          </a:p>
        </p:txBody>
      </p:sp>
      <p:sp>
        <p:nvSpPr>
          <p:cNvPr id="9" name="Oval 8"/>
          <p:cNvSpPr/>
          <p:nvPr/>
        </p:nvSpPr>
        <p:spPr>
          <a:xfrm>
            <a:off x="3398520" y="3127248"/>
            <a:ext cx="411480" cy="411480"/>
          </a:xfrm>
          <a:prstGeom prst="ellipse">
            <a:avLst/>
          </a:prstGeom>
          <a:solidFill>
            <a:srgbClr val="1F497D"/>
          </a:solidFill>
          <a:ln>
            <a:noFill/>
          </a:ln>
          <a:effectLst/>
        </p:spPr>
        <p:txBody>
          <a:bodyPr wrap="square" lIns="0" tIns="0" rIns="0" bIns="0" rtlCol="0" anchor="ctr"/>
          <a:lstStyle/>
          <a:p>
            <a:pPr marL="0" indent="0" algn="ctr">
              <a:buNone/>
            </a:pPr>
            <a:r>
              <a:rPr sz="1500" b="1">
                <a:solidFill>
                  <a:srgbClr val="FFFFFF"/>
                </a:solidFill>
              </a:rPr>
              <a:t>2</a:t>
            </a:r>
          </a:p>
        </p:txBody>
      </p:sp>
      <p:sp>
        <p:nvSpPr>
          <p:cNvPr id="10" name="TextBox 9"/>
          <p:cNvSpPr txBox="1"/>
          <p:nvPr/>
        </p:nvSpPr>
        <p:spPr>
          <a:xfrm>
            <a:off x="3901440" y="2926080"/>
            <a:ext cx="1889759" cy="1143000"/>
          </a:xfrm>
          <a:prstGeom prst="rect">
            <a:avLst/>
          </a:prstGeom>
          <a:noFill/>
        </p:spPr>
        <p:txBody>
          <a:bodyPr wrap="square" lIns="73152" tIns="54864" rIns="73152" bIns="54864" anchor="ctr">
            <a:spAutoFit/>
          </a:bodyPr>
          <a:lstStyle/>
          <a:p>
            <a:pPr marL="0" indent="0" algn="l">
              <a:buNone/>
            </a:pPr>
            <a:r>
              <a:rPr sz="1600" b="0">
                <a:solidFill>
                  <a:srgbClr val="262626"/>
                </a:solidFill>
              </a:rPr>
              <a:t>how it should react to particular inputs</a:t>
            </a:r>
          </a:p>
        </p:txBody>
      </p:sp>
      <p:sp>
        <p:nvSpPr>
          <p:cNvPr id="11" name="Rectangle 10"/>
          <p:cNvSpPr/>
          <p:nvPr/>
        </p:nvSpPr>
        <p:spPr>
          <a:xfrm>
            <a:off x="6065520" y="2926080"/>
            <a:ext cx="2621280" cy="1143000"/>
          </a:xfrm>
          <a:prstGeom prst="rect">
            <a:avLst/>
          </a:prstGeom>
          <a:solidFill>
            <a:srgbClr val="FFFFFF"/>
          </a:solidFill>
          <a:ln w="12700">
            <a:solidFill>
              <a:srgbClr val="BFBFBF"/>
            </a:solidFill>
          </a:ln>
          <a:effectLst/>
        </p:spPr>
        <p:txBody>
          <a:bodyPr rtlCol="0" anchor="ctr"/>
          <a:lstStyle/>
          <a:p>
            <a:pPr algn="ctr"/>
            <a:endParaRPr/>
          </a:p>
        </p:txBody>
      </p:sp>
      <p:sp>
        <p:nvSpPr>
          <p:cNvPr id="12" name="Oval 11"/>
          <p:cNvSpPr/>
          <p:nvPr/>
        </p:nvSpPr>
        <p:spPr>
          <a:xfrm>
            <a:off x="6202680" y="3127248"/>
            <a:ext cx="411480" cy="411480"/>
          </a:xfrm>
          <a:prstGeom prst="ellipse">
            <a:avLst/>
          </a:prstGeom>
          <a:solidFill>
            <a:srgbClr val="1F497D"/>
          </a:solidFill>
          <a:ln>
            <a:noFill/>
          </a:ln>
          <a:effectLst/>
        </p:spPr>
        <p:txBody>
          <a:bodyPr wrap="square" lIns="0" tIns="0" rIns="0" bIns="0" rtlCol="0" anchor="ctr"/>
          <a:lstStyle/>
          <a:p>
            <a:pPr marL="0" indent="0" algn="ctr">
              <a:buNone/>
            </a:pPr>
            <a:r>
              <a:rPr sz="1500" b="1">
                <a:solidFill>
                  <a:srgbClr val="FFFFFF"/>
                </a:solidFill>
              </a:rPr>
              <a:t>3</a:t>
            </a:r>
          </a:p>
        </p:txBody>
      </p:sp>
      <p:sp>
        <p:nvSpPr>
          <p:cNvPr id="13" name="TextBox 12"/>
          <p:cNvSpPr txBox="1"/>
          <p:nvPr/>
        </p:nvSpPr>
        <p:spPr>
          <a:xfrm>
            <a:off x="6705600" y="2926080"/>
            <a:ext cx="1889759" cy="1143000"/>
          </a:xfrm>
          <a:prstGeom prst="rect">
            <a:avLst/>
          </a:prstGeom>
          <a:noFill/>
        </p:spPr>
        <p:txBody>
          <a:bodyPr wrap="square" lIns="73152" tIns="54864" rIns="73152" bIns="54864" anchor="ctr">
            <a:spAutoFit/>
          </a:bodyPr>
          <a:lstStyle/>
          <a:p>
            <a:pPr marL="0" indent="0" algn="l">
              <a:buNone/>
            </a:pPr>
            <a:r>
              <a:rPr sz="1600" b="0">
                <a:solidFill>
                  <a:srgbClr val="262626"/>
                </a:solidFill>
              </a:rPr>
              <a:t>how it should behave in particular situations</a:t>
            </a:r>
          </a:p>
        </p:txBody>
      </p:sp>
      <p:sp>
        <p:nvSpPr>
          <p:cNvPr id="14" name="TextBox 13"/>
          <p:cNvSpPr txBox="1"/>
          <p:nvPr/>
        </p:nvSpPr>
        <p:spPr>
          <a:xfrm>
            <a:off x="457200" y="4297680"/>
            <a:ext cx="8229600" cy="365760"/>
          </a:xfrm>
          <a:prstGeom prst="rect">
            <a:avLst/>
          </a:prstGeom>
          <a:noFill/>
        </p:spPr>
        <p:txBody>
          <a:bodyPr wrap="square" lIns="73152" tIns="54864" rIns="73152" bIns="54864" anchor="t">
            <a:spAutoFit/>
          </a:bodyPr>
          <a:lstStyle/>
          <a:p>
            <a:pPr marL="0" indent="0" algn="l">
              <a:buNone/>
            </a:pPr>
            <a:r>
              <a:rPr sz="1800" b="1">
                <a:solidFill>
                  <a:srgbClr val="1F497D"/>
                </a:solidFill>
              </a:rPr>
              <a:t>Use the right verb:</a:t>
            </a:r>
          </a:p>
        </p:txBody>
      </p:sp>
      <p:sp>
        <p:nvSpPr>
          <p:cNvPr id="15" name="Rounded Rectangle 14"/>
          <p:cNvSpPr/>
          <p:nvPr/>
        </p:nvSpPr>
        <p:spPr>
          <a:xfrm>
            <a:off x="457200" y="4709160"/>
            <a:ext cx="2621280" cy="640080"/>
          </a:xfrm>
          <a:prstGeom prst="roundRect">
            <a:avLst>
              <a:gd name="adj" fmla="val 8000"/>
            </a:avLst>
          </a:prstGeom>
          <a:solidFill>
            <a:srgbClr val="F2F2F2"/>
          </a:solidFill>
          <a:ln>
            <a:noFill/>
          </a:ln>
          <a:effectLst/>
        </p:spPr>
        <p:txBody>
          <a:bodyPr wrap="square" lIns="73152" tIns="54864" rIns="73152" bIns="54864" rtlCol="0" anchor="ctr"/>
          <a:lstStyle/>
          <a:p>
            <a:pPr marL="0" indent="0" algn="ctr">
              <a:buNone/>
            </a:pPr>
            <a:r>
              <a:rPr sz="2200" b="1">
                <a:solidFill>
                  <a:srgbClr val="1F497D"/>
                </a:solidFill>
              </a:rPr>
              <a:t>shall</a:t>
            </a:r>
            <a:r>
              <a:rPr sz="1800" b="0">
                <a:solidFill>
                  <a:srgbClr val="262626"/>
                </a:solidFill>
              </a:rPr>
              <a:t> = mandatory</a:t>
            </a:r>
          </a:p>
        </p:txBody>
      </p:sp>
      <p:sp>
        <p:nvSpPr>
          <p:cNvPr id="16" name="Rounded Rectangle 15"/>
          <p:cNvSpPr/>
          <p:nvPr/>
        </p:nvSpPr>
        <p:spPr>
          <a:xfrm>
            <a:off x="3261360" y="4709160"/>
            <a:ext cx="2621280" cy="640080"/>
          </a:xfrm>
          <a:prstGeom prst="roundRect">
            <a:avLst>
              <a:gd name="adj" fmla="val 8000"/>
            </a:avLst>
          </a:prstGeom>
          <a:solidFill>
            <a:srgbClr val="F2F2F2"/>
          </a:solidFill>
          <a:ln>
            <a:noFill/>
          </a:ln>
          <a:effectLst/>
        </p:spPr>
        <p:txBody>
          <a:bodyPr wrap="square" lIns="73152" tIns="54864" rIns="73152" bIns="54864" rtlCol="0" anchor="ctr"/>
          <a:lstStyle/>
          <a:p>
            <a:pPr marL="0" indent="0" algn="ctr">
              <a:buNone/>
            </a:pPr>
            <a:r>
              <a:rPr sz="2200" b="1">
                <a:solidFill>
                  <a:srgbClr val="31859C"/>
                </a:solidFill>
              </a:rPr>
              <a:t>should</a:t>
            </a:r>
            <a:r>
              <a:rPr sz="1800" b="0">
                <a:solidFill>
                  <a:srgbClr val="262626"/>
                </a:solidFill>
              </a:rPr>
              <a:t> = desirable</a:t>
            </a:r>
          </a:p>
        </p:txBody>
      </p:sp>
      <p:sp>
        <p:nvSpPr>
          <p:cNvPr id="17" name="Rounded Rectangle 16"/>
          <p:cNvSpPr/>
          <p:nvPr/>
        </p:nvSpPr>
        <p:spPr>
          <a:xfrm>
            <a:off x="6065520" y="4709160"/>
            <a:ext cx="2621280" cy="640080"/>
          </a:xfrm>
          <a:prstGeom prst="roundRect">
            <a:avLst>
              <a:gd name="adj" fmla="val 8000"/>
            </a:avLst>
          </a:prstGeom>
          <a:solidFill>
            <a:srgbClr val="F2F2F2"/>
          </a:solidFill>
          <a:ln>
            <a:noFill/>
          </a:ln>
          <a:effectLst/>
        </p:spPr>
        <p:txBody>
          <a:bodyPr wrap="square" lIns="73152" tIns="54864" rIns="73152" bIns="54864" rtlCol="0" anchor="ctr"/>
          <a:lstStyle/>
          <a:p>
            <a:pPr marL="0" indent="0" algn="ctr">
              <a:buNone/>
            </a:pPr>
            <a:r>
              <a:rPr sz="2200" b="1">
                <a:solidFill>
                  <a:srgbClr val="595959"/>
                </a:solidFill>
              </a:rPr>
              <a:t>may</a:t>
            </a:r>
            <a:r>
              <a:rPr sz="1800" b="0">
                <a:solidFill>
                  <a:srgbClr val="262626"/>
                </a:solidFill>
              </a:rPr>
              <a:t> = optional</a:t>
            </a:r>
          </a:p>
        </p:txBody>
      </p:sp>
      <p:sp>
        <p:nvSpPr>
          <p:cNvPr id="18" name="TextBox 17"/>
          <p:cNvSpPr txBox="1"/>
          <p:nvPr/>
        </p:nvSpPr>
        <p:spPr>
          <a:xfrm>
            <a:off x="457200" y="5532120"/>
            <a:ext cx="8229600" cy="634020"/>
          </a:xfrm>
          <a:prstGeom prst="rect">
            <a:avLst/>
          </a:prstGeom>
          <a:noFill/>
        </p:spPr>
        <p:txBody>
          <a:bodyPr wrap="square" lIns="73152" tIns="54864" rIns="73152" bIns="54864" anchor="t">
            <a:spAutoFit/>
          </a:bodyPr>
          <a:lstStyle/>
          <a:p>
            <a:pPr marL="0" indent="0" algn="l">
              <a:buNone/>
            </a:pPr>
            <a:r>
              <a:rPr sz="1700" b="1" dirty="0">
                <a:solidFill>
                  <a:srgbClr val="262626"/>
                </a:solidFill>
              </a:rPr>
              <a:t>Requirements are the cornerstone of system development: </a:t>
            </a:r>
            <a:endParaRPr lang="en-US" sz="1700" b="1" dirty="0">
              <a:solidFill>
                <a:srgbClr val="262626"/>
              </a:solidFill>
            </a:endParaRPr>
          </a:p>
          <a:p>
            <a:pPr marL="0" indent="0" algn="l">
              <a:buNone/>
            </a:pPr>
            <a:r>
              <a:rPr sz="1700" b="1" dirty="0">
                <a:solidFill>
                  <a:srgbClr val="262626"/>
                </a:solidFill>
              </a:rPr>
              <a:t>they guide design, implementation and testing.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Functional Requirements (FRs)</a:t>
            </a:r>
          </a:p>
        </p:txBody>
      </p:sp>
      <p:sp>
        <p:nvSpPr>
          <p:cNvPr id="3" name="TextBox 2"/>
          <p:cNvSpPr txBox="1"/>
          <p:nvPr/>
        </p:nvSpPr>
        <p:spPr>
          <a:xfrm>
            <a:off x="457200" y="1097280"/>
            <a:ext cx="8229600" cy="731520"/>
          </a:xfrm>
          <a:prstGeom prst="rect">
            <a:avLst/>
          </a:prstGeom>
          <a:noFill/>
        </p:spPr>
        <p:txBody>
          <a:bodyPr wrap="square" lIns="73152" tIns="54864" rIns="73152" bIns="54864" anchor="ctr">
            <a:spAutoFit/>
          </a:bodyPr>
          <a:lstStyle/>
          <a:p>
            <a:pPr marL="0" indent="0" algn="l">
              <a:buNone/>
            </a:pPr>
            <a:r>
              <a:rPr sz="1900" b="0">
                <a:solidFill>
                  <a:srgbClr val="262626"/>
                </a:solidFill>
              </a:rPr>
              <a:t>Functional requirements describe </a:t>
            </a:r>
            <a:r>
              <a:rPr sz="1900" b="1" i="1">
                <a:solidFill>
                  <a:srgbClr val="262626"/>
                </a:solidFill>
              </a:rPr>
              <a:t>what</a:t>
            </a:r>
            <a:r>
              <a:rPr sz="1900" b="0">
                <a:solidFill>
                  <a:srgbClr val="262626"/>
                </a:solidFill>
              </a:rPr>
              <a:t> the system should do: its behaviours, services and functions.</a:t>
            </a:r>
          </a:p>
        </p:txBody>
      </p:sp>
      <p:sp>
        <p:nvSpPr>
          <p:cNvPr id="4" name="Rectangle 3"/>
          <p:cNvSpPr/>
          <p:nvPr/>
        </p:nvSpPr>
        <p:spPr>
          <a:xfrm>
            <a:off x="457200" y="1920240"/>
            <a:ext cx="8229600" cy="2057400"/>
          </a:xfrm>
          <a:prstGeom prst="rect">
            <a:avLst/>
          </a:prstGeom>
          <a:solidFill>
            <a:srgbClr val="F2F2F2"/>
          </a:solidFill>
          <a:ln>
            <a:noFill/>
          </a:ln>
          <a:effectLst/>
        </p:spPr>
        <p:txBody>
          <a:bodyPr rtlCol="0" anchor="ctr"/>
          <a:lstStyle/>
          <a:p>
            <a:pPr algn="ctr"/>
            <a:endParaRPr/>
          </a:p>
        </p:txBody>
      </p:sp>
      <p:sp>
        <p:nvSpPr>
          <p:cNvPr id="5" name="TextBox 4"/>
          <p:cNvSpPr txBox="1"/>
          <p:nvPr/>
        </p:nvSpPr>
        <p:spPr>
          <a:xfrm>
            <a:off x="594360" y="1965960"/>
            <a:ext cx="7955279" cy="365760"/>
          </a:xfrm>
          <a:prstGeom prst="rect">
            <a:avLst/>
          </a:prstGeom>
          <a:noFill/>
        </p:spPr>
        <p:txBody>
          <a:bodyPr wrap="square" lIns="73152" tIns="54864" rIns="73152" bIns="54864" anchor="t">
            <a:spAutoFit/>
          </a:bodyPr>
          <a:lstStyle/>
          <a:p>
            <a:pPr marL="0" indent="0" algn="l">
              <a:buNone/>
            </a:pPr>
            <a:r>
              <a:rPr sz="1800" b="1">
                <a:solidFill>
                  <a:srgbClr val="1F497D"/>
                </a:solidFill>
              </a:rPr>
              <a:t>Examples</a:t>
            </a:r>
          </a:p>
        </p:txBody>
      </p:sp>
      <p:sp>
        <p:nvSpPr>
          <p:cNvPr id="6" name="TextBox 5"/>
          <p:cNvSpPr txBox="1"/>
          <p:nvPr/>
        </p:nvSpPr>
        <p:spPr>
          <a:xfrm>
            <a:off x="594360" y="2331720"/>
            <a:ext cx="7955279" cy="164592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1700" b="0">
                <a:solidFill>
                  <a:srgbClr val="262626"/>
                </a:solidFill>
              </a:rPr>
              <a:t>The vehicle shall lock its doors automatically when speed exceeds 20 mph.</a:t>
            </a:r>
          </a:p>
          <a:p>
            <a:pPr marL="285750" indent="-285750" algn="l">
              <a:spcAft>
                <a:spcPts val="500"/>
              </a:spcAft>
              <a:buFont typeface="Arial"/>
              <a:buChar char="•"/>
            </a:pPr>
            <a:r>
              <a:rPr sz="1700" b="0">
                <a:solidFill>
                  <a:srgbClr val="262626"/>
                </a:solidFill>
              </a:rPr>
              <a:t>The user management module shall allow the creation, update and deletion of user accounts.</a:t>
            </a:r>
          </a:p>
          <a:p>
            <a:pPr marL="285750" indent="-285750" algn="l">
              <a:spcAft>
                <a:spcPts val="500"/>
              </a:spcAft>
              <a:buFont typeface="Arial"/>
              <a:buChar char="•"/>
            </a:pPr>
            <a:r>
              <a:rPr sz="1700" b="0">
                <a:solidFill>
                  <a:srgbClr val="262626"/>
                </a:solidFill>
              </a:rPr>
              <a:t>The recommendation engine shall suggest three relevant videos after a student completes a module.</a:t>
            </a:r>
          </a:p>
        </p:txBody>
      </p:sp>
      <p:sp>
        <p:nvSpPr>
          <p:cNvPr id="7" name="Rectangle 6"/>
          <p:cNvSpPr/>
          <p:nvPr/>
        </p:nvSpPr>
        <p:spPr>
          <a:xfrm>
            <a:off x="457200" y="4160520"/>
            <a:ext cx="5029200" cy="2011680"/>
          </a:xfrm>
          <a:prstGeom prst="rect">
            <a:avLst/>
          </a:prstGeom>
          <a:solidFill>
            <a:srgbClr val="FFFFFF"/>
          </a:solidFill>
          <a:ln w="12700">
            <a:solidFill>
              <a:srgbClr val="BFBFBF"/>
            </a:solidFill>
          </a:ln>
          <a:effectLst/>
        </p:spPr>
        <p:txBody>
          <a:bodyPr rtlCol="0" anchor="ctr"/>
          <a:lstStyle/>
          <a:p>
            <a:pPr algn="ctr"/>
            <a:endParaRPr/>
          </a:p>
        </p:txBody>
      </p:sp>
      <p:sp>
        <p:nvSpPr>
          <p:cNvPr id="8" name="TextBox 7"/>
          <p:cNvSpPr txBox="1"/>
          <p:nvPr/>
        </p:nvSpPr>
        <p:spPr>
          <a:xfrm>
            <a:off x="594360" y="4206240"/>
            <a:ext cx="4754880" cy="365760"/>
          </a:xfrm>
          <a:prstGeom prst="rect">
            <a:avLst/>
          </a:prstGeom>
          <a:noFill/>
        </p:spPr>
        <p:txBody>
          <a:bodyPr wrap="square" lIns="73152" tIns="54864" rIns="73152" bIns="54864" anchor="t">
            <a:spAutoFit/>
          </a:bodyPr>
          <a:lstStyle/>
          <a:p>
            <a:pPr marL="0" indent="0" algn="l">
              <a:buNone/>
            </a:pPr>
            <a:r>
              <a:rPr sz="1800" b="1">
                <a:solidFill>
                  <a:srgbClr val="1F497D"/>
                </a:solidFill>
              </a:rPr>
              <a:t>Characteristics</a:t>
            </a:r>
          </a:p>
        </p:txBody>
      </p:sp>
      <p:sp>
        <p:nvSpPr>
          <p:cNvPr id="9" name="TextBox 8"/>
          <p:cNvSpPr txBox="1"/>
          <p:nvPr/>
        </p:nvSpPr>
        <p:spPr>
          <a:xfrm>
            <a:off x="594360" y="4572000"/>
            <a:ext cx="4754880" cy="155448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600" b="0">
                <a:solidFill>
                  <a:srgbClr val="262626"/>
                </a:solidFill>
              </a:rPr>
              <a:t>Observable and testable (pass/fail)</a:t>
            </a:r>
          </a:p>
          <a:p>
            <a:pPr marL="285750" indent="-285750" algn="l">
              <a:spcAft>
                <a:spcPts val="400"/>
              </a:spcAft>
              <a:buFont typeface="Arial"/>
              <a:buChar char="•"/>
            </a:pPr>
            <a:r>
              <a:rPr sz="1600" b="0">
                <a:solidFill>
                  <a:srgbClr val="262626"/>
                </a:solidFill>
              </a:rPr>
              <a:t>Describe a behaviour: what the system does for a given input or situation</a:t>
            </a:r>
          </a:p>
          <a:p>
            <a:pPr marL="285750" indent="-285750" algn="l">
              <a:spcAft>
                <a:spcPts val="400"/>
              </a:spcAft>
              <a:buFont typeface="Arial"/>
              <a:buChar char="•"/>
            </a:pPr>
            <a:r>
              <a:rPr sz="1600" b="0">
                <a:solidFill>
                  <a:srgbClr val="262626"/>
                </a:solidFill>
              </a:rPr>
              <a:t>Define interactions between the system and its environment</a:t>
            </a:r>
          </a:p>
        </p:txBody>
      </p:sp>
      <p:sp>
        <p:nvSpPr>
          <p:cNvPr id="10" name="Rectangle 9"/>
          <p:cNvSpPr/>
          <p:nvPr/>
        </p:nvSpPr>
        <p:spPr>
          <a:xfrm>
            <a:off x="5669280" y="4160520"/>
            <a:ext cx="3017520" cy="2011680"/>
          </a:xfrm>
          <a:prstGeom prst="rect">
            <a:avLst/>
          </a:prstGeom>
          <a:solidFill>
            <a:srgbClr val="DCE6F2"/>
          </a:solidFill>
          <a:ln>
            <a:noFill/>
          </a:ln>
          <a:effectLst/>
        </p:spPr>
        <p:txBody>
          <a:bodyPr wrap="square" lIns="137160" tIns="54864" rIns="137160" bIns="54864" rtlCol="0" anchor="ctr"/>
          <a:lstStyle/>
          <a:p>
            <a:pPr marL="0" indent="0" algn="l">
              <a:buNone/>
            </a:pPr>
            <a:r>
              <a:rPr sz="1600" b="0">
                <a:solidFill>
                  <a:srgbClr val="262626"/>
                </a:solidFill>
              </a:rPr>
              <a:t>FRs are usually elicited first, because they map directly to what stakeholders want the system to 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Non-Functional Requirements (NFRs)</a:t>
            </a:r>
          </a:p>
        </p:txBody>
      </p:sp>
      <p:sp>
        <p:nvSpPr>
          <p:cNvPr id="3" name="TextBox 2"/>
          <p:cNvSpPr txBox="1"/>
          <p:nvPr/>
        </p:nvSpPr>
        <p:spPr>
          <a:xfrm>
            <a:off x="457200" y="1097280"/>
            <a:ext cx="8229600" cy="731520"/>
          </a:xfrm>
          <a:prstGeom prst="rect">
            <a:avLst/>
          </a:prstGeom>
          <a:noFill/>
        </p:spPr>
        <p:txBody>
          <a:bodyPr wrap="square" lIns="73152" tIns="54864" rIns="73152" bIns="54864" anchor="ctr">
            <a:spAutoFit/>
          </a:bodyPr>
          <a:lstStyle/>
          <a:p>
            <a:pPr marL="0" indent="0" algn="l">
              <a:buNone/>
            </a:pPr>
            <a:r>
              <a:rPr sz="1900" b="0">
                <a:solidFill>
                  <a:srgbClr val="262626"/>
                </a:solidFill>
              </a:rPr>
              <a:t>Non-functional requirements describe </a:t>
            </a:r>
            <a:r>
              <a:rPr sz="1900" b="1" i="1">
                <a:solidFill>
                  <a:srgbClr val="262626"/>
                </a:solidFill>
              </a:rPr>
              <a:t>how well</a:t>
            </a:r>
            <a:r>
              <a:rPr sz="1900" b="0">
                <a:solidFill>
                  <a:srgbClr val="262626"/>
                </a:solidFill>
              </a:rPr>
              <a:t> the system performs its functions: quality attributes and constraints.</a:t>
            </a:r>
          </a:p>
        </p:txBody>
      </p:sp>
      <p:sp>
        <p:nvSpPr>
          <p:cNvPr id="4" name="Rectangle 3"/>
          <p:cNvSpPr/>
          <p:nvPr/>
        </p:nvSpPr>
        <p:spPr>
          <a:xfrm>
            <a:off x="457200" y="1920240"/>
            <a:ext cx="8229600" cy="2514600"/>
          </a:xfrm>
          <a:prstGeom prst="rect">
            <a:avLst/>
          </a:prstGeom>
          <a:solidFill>
            <a:srgbClr val="F2F2F2"/>
          </a:solidFill>
          <a:ln>
            <a:noFill/>
          </a:ln>
          <a:effectLst/>
        </p:spPr>
        <p:txBody>
          <a:bodyPr rtlCol="0" anchor="ctr"/>
          <a:lstStyle/>
          <a:p>
            <a:pPr algn="ctr"/>
            <a:endParaRPr/>
          </a:p>
        </p:txBody>
      </p:sp>
      <p:sp>
        <p:nvSpPr>
          <p:cNvPr id="5" name="TextBox 4"/>
          <p:cNvSpPr txBox="1"/>
          <p:nvPr/>
        </p:nvSpPr>
        <p:spPr>
          <a:xfrm>
            <a:off x="594360" y="1965960"/>
            <a:ext cx="7955279" cy="365760"/>
          </a:xfrm>
          <a:prstGeom prst="rect">
            <a:avLst/>
          </a:prstGeom>
          <a:noFill/>
        </p:spPr>
        <p:txBody>
          <a:bodyPr wrap="square" lIns="73152" tIns="54864" rIns="73152" bIns="54864" anchor="t">
            <a:spAutoFit/>
          </a:bodyPr>
          <a:lstStyle/>
          <a:p>
            <a:pPr marL="0" indent="0" algn="l">
              <a:buNone/>
            </a:pPr>
            <a:r>
              <a:rPr sz="1800" b="1">
                <a:solidFill>
                  <a:srgbClr val="1F497D"/>
                </a:solidFill>
              </a:rPr>
              <a:t>Examples</a:t>
            </a:r>
          </a:p>
        </p:txBody>
      </p:sp>
      <p:sp>
        <p:nvSpPr>
          <p:cNvPr id="6" name="TextBox 5"/>
          <p:cNvSpPr txBox="1"/>
          <p:nvPr/>
        </p:nvSpPr>
        <p:spPr>
          <a:xfrm>
            <a:off x="594360" y="2331720"/>
            <a:ext cx="7955279" cy="210312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700" b="0">
                <a:solidFill>
                  <a:srgbClr val="262626"/>
                </a:solidFill>
              </a:rPr>
              <a:t>The system shall respond to user actions within 250 milliseconds </a:t>
            </a:r>
            <a:r>
              <a:rPr sz="1700" b="1">
                <a:solidFill>
                  <a:srgbClr val="1F497D"/>
                </a:solidFill>
              </a:rPr>
              <a:t>(Performance).</a:t>
            </a:r>
          </a:p>
          <a:p>
            <a:pPr marL="285750" indent="-285750" algn="l">
              <a:spcAft>
                <a:spcPts val="300"/>
              </a:spcAft>
              <a:buFont typeface="Arial"/>
              <a:buChar char="•"/>
            </a:pPr>
            <a:r>
              <a:rPr sz="1700" b="0">
                <a:solidFill>
                  <a:srgbClr val="262626"/>
                </a:solidFill>
              </a:rPr>
              <a:t>The system shall be usable by people with visual impairments </a:t>
            </a:r>
            <a:r>
              <a:rPr sz="1700" b="1">
                <a:solidFill>
                  <a:srgbClr val="1F497D"/>
                </a:solidFill>
              </a:rPr>
              <a:t>(Accessibility).</a:t>
            </a:r>
          </a:p>
          <a:p>
            <a:pPr marL="285750" indent="-285750" algn="l">
              <a:spcAft>
                <a:spcPts val="300"/>
              </a:spcAft>
              <a:buFont typeface="Arial"/>
              <a:buChar char="•"/>
            </a:pPr>
            <a:r>
              <a:rPr sz="1700" b="0">
                <a:solidFill>
                  <a:srgbClr val="262626"/>
                </a:solidFill>
              </a:rPr>
              <a:t>Data shall be encrypted using AES-256 </a:t>
            </a:r>
            <a:r>
              <a:rPr sz="1700" b="1">
                <a:solidFill>
                  <a:srgbClr val="1F497D"/>
                </a:solidFill>
              </a:rPr>
              <a:t>(Security).</a:t>
            </a:r>
          </a:p>
          <a:p>
            <a:pPr marL="285750" indent="-285750" algn="l">
              <a:spcAft>
                <a:spcPts val="300"/>
              </a:spcAft>
              <a:buFont typeface="Arial"/>
              <a:buChar char="•"/>
            </a:pPr>
            <a:r>
              <a:rPr sz="1700" b="0">
                <a:solidFill>
                  <a:srgbClr val="262626"/>
                </a:solidFill>
              </a:rPr>
              <a:t>System uptime shall be 99.99% over a rolling 30-day window </a:t>
            </a:r>
            <a:r>
              <a:rPr sz="1700" b="1">
                <a:solidFill>
                  <a:srgbClr val="1F497D"/>
                </a:solidFill>
              </a:rPr>
              <a:t>(Availability).</a:t>
            </a:r>
          </a:p>
          <a:p>
            <a:pPr marL="285750" indent="-285750" algn="l">
              <a:spcAft>
                <a:spcPts val="300"/>
              </a:spcAft>
              <a:buFont typeface="Arial"/>
              <a:buChar char="•"/>
            </a:pPr>
            <a:r>
              <a:rPr sz="1700" b="0">
                <a:solidFill>
                  <a:srgbClr val="262626"/>
                </a:solidFill>
              </a:rPr>
              <a:t>A sensor node shall run for 12 months on one battery </a:t>
            </a:r>
            <a:r>
              <a:rPr sz="1700" b="1">
                <a:solidFill>
                  <a:srgbClr val="1F497D"/>
                </a:solidFill>
              </a:rPr>
              <a:t>(Energy).</a:t>
            </a:r>
          </a:p>
        </p:txBody>
      </p:sp>
      <p:sp>
        <p:nvSpPr>
          <p:cNvPr id="7" name="TextBox 6"/>
          <p:cNvSpPr txBox="1"/>
          <p:nvPr/>
        </p:nvSpPr>
        <p:spPr>
          <a:xfrm>
            <a:off x="457200" y="4526280"/>
            <a:ext cx="8229600" cy="1691640"/>
          </a:xfrm>
          <a:prstGeom prst="rect">
            <a:avLst/>
          </a:prstGeom>
          <a:noFill/>
        </p:spPr>
        <p:txBody>
          <a:bodyPr wrap="square" lIns="73152" tIns="54864" rIns="73152" bIns="54864" anchor="t">
            <a:spAutoFit/>
          </a:bodyPr>
          <a:lstStyle/>
          <a:p>
            <a:pPr marL="0" indent="0" algn="l">
              <a:spcAft>
                <a:spcPts val="400"/>
              </a:spcAft>
              <a:buNone/>
            </a:pPr>
            <a:r>
              <a:rPr sz="1600" b="1">
                <a:solidFill>
                  <a:srgbClr val="262626"/>
                </a:solidFill>
              </a:rPr>
              <a:t>A product can meet every functional requirement and still fail: poor usability, high latency or unreliability.</a:t>
            </a:r>
          </a:p>
          <a:p>
            <a:pPr marL="0" indent="0" algn="l">
              <a:spcAft>
                <a:spcPts val="400"/>
              </a:spcAft>
              <a:buNone/>
            </a:pPr>
            <a:r>
              <a:rPr sz="1600" b="0">
                <a:solidFill>
                  <a:srgbClr val="262626"/>
                </a:solidFill>
              </a:rPr>
              <a:t>NFRs are harder to express, elicit and validate, which is why they are often the differentiators between competing systems.</a:t>
            </a:r>
          </a:p>
          <a:p>
            <a:pPr marL="0" indent="0" algn="l">
              <a:buNone/>
            </a:pPr>
            <a:r>
              <a:rPr sz="1600" b="1">
                <a:solidFill>
                  <a:srgbClr val="1F497D"/>
                </a:solidFill>
              </a:rPr>
              <a:t>Quality requirements</a:t>
            </a:r>
            <a:r>
              <a:rPr sz="1600" b="0">
                <a:solidFill>
                  <a:srgbClr val="262626"/>
                </a:solidFill>
              </a:rPr>
              <a:t> say how well; </a:t>
            </a:r>
            <a:r>
              <a:rPr sz="1600" b="1">
                <a:solidFill>
                  <a:srgbClr val="1F497D"/>
                </a:solidFill>
              </a:rPr>
              <a:t>constraints</a:t>
            </a:r>
            <a:r>
              <a:rPr sz="1600" b="0">
                <a:solidFill>
                  <a:srgbClr val="262626"/>
                </a:solidFill>
              </a:rPr>
              <a:t> limit the design (e.g. "must use the campus network").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85EC-7918-238D-2304-46BDD6DBD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BB57C-B8E2-BBC9-A800-BB7AF898D606}"/>
              </a:ext>
            </a:extLst>
          </p:cNvPr>
          <p:cNvSpPr>
            <a:spLocks noGrp="1"/>
          </p:cNvSpPr>
          <p:nvPr>
            <p:ph type="title"/>
          </p:nvPr>
        </p:nvSpPr>
        <p:spPr>
          <a:xfrm>
            <a:off x="342900" y="91440"/>
            <a:ext cx="8458200" cy="1005840"/>
          </a:xfrm>
        </p:spPr>
        <p:txBody>
          <a:bodyPr/>
          <a:lstStyle/>
          <a:p>
            <a:r>
              <a:rPr sz="2800" b="1">
                <a:solidFill>
                  <a:schemeClr val="tx2"/>
                </a:solidFill>
              </a:rPr>
              <a:t>Appendix: FR vs. NFR Key Differences</a:t>
            </a:r>
          </a:p>
        </p:txBody>
      </p:sp>
      <p:graphicFrame>
        <p:nvGraphicFramePr>
          <p:cNvPr id="3" name="Table 2">
            <a:extLst>
              <a:ext uri="{FF2B5EF4-FFF2-40B4-BE49-F238E27FC236}">
                <a16:creationId xmlns:a16="http://schemas.microsoft.com/office/drawing/2014/main" id="{3550EC34-3030-A655-B5BF-CFCBA0D2F041}"/>
              </a:ext>
            </a:extLst>
          </p:cNvPr>
          <p:cNvGraphicFramePr>
            <a:graphicFrameLocks noGrp="1"/>
          </p:cNvGraphicFramePr>
          <p:nvPr/>
        </p:nvGraphicFramePr>
        <p:xfrm>
          <a:off x="457200" y="1143000"/>
          <a:ext cx="8229599" cy="4864608"/>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75488">
                <a:tc>
                  <a:txBody>
                    <a:bodyPr/>
                    <a:lstStyle/>
                    <a:p>
                      <a:pPr marL="0" indent="0">
                        <a:buNone/>
                      </a:pPr>
                      <a:r>
                        <a:rPr sz="1500" b="1">
                          <a:solidFill>
                            <a:srgbClr val="FFFFFF"/>
                          </a:solidFill>
                        </a:rPr>
                        <a:t>Aspect</a:t>
                      </a:r>
                    </a:p>
                  </a:txBody>
                  <a:tcPr marL="73152" marR="73152" marT="36576" marB="36576" anchor="ctr">
                    <a:solidFill>
                      <a:srgbClr val="1F497D"/>
                    </a:solidFill>
                  </a:tcPr>
                </a:tc>
                <a:tc>
                  <a:txBody>
                    <a:bodyPr/>
                    <a:lstStyle/>
                    <a:p>
                      <a:pPr marL="0" indent="0">
                        <a:buNone/>
                      </a:pPr>
                      <a:r>
                        <a:rPr sz="1500" b="1">
                          <a:solidFill>
                            <a:srgbClr val="FFFFFF"/>
                          </a:solidFill>
                        </a:rPr>
                        <a:t>Functional (FR)</a:t>
                      </a:r>
                    </a:p>
                  </a:txBody>
                  <a:tcPr marL="73152" marR="73152" marT="36576" marB="36576" anchor="ctr">
                    <a:solidFill>
                      <a:srgbClr val="1F497D"/>
                    </a:solidFill>
                  </a:tcPr>
                </a:tc>
                <a:tc>
                  <a:txBody>
                    <a:bodyPr/>
                    <a:lstStyle/>
                    <a:p>
                      <a:pPr marL="0" indent="0">
                        <a:buNone/>
                      </a:pPr>
                      <a:r>
                        <a:rPr sz="1500" b="1">
                          <a:solidFill>
                            <a:srgbClr val="FFFFFF"/>
                          </a:solidFill>
                        </a:rPr>
                        <a:t>Non-functional (NFR)</a:t>
                      </a:r>
                    </a:p>
                  </a:txBody>
                  <a:tcPr marL="73152" marR="73152" marT="36576" marB="36576" anchor="ctr">
                    <a:solidFill>
                      <a:srgbClr val="1F497D"/>
                    </a:solidFill>
                  </a:tcPr>
                </a:tc>
                <a:extLst>
                  <a:ext uri="{0D108BD9-81ED-4DB2-BD59-A6C34878D82A}">
                    <a16:rowId xmlns:a16="http://schemas.microsoft.com/office/drawing/2014/main" val="10000"/>
                  </a:ext>
                </a:extLst>
              </a:tr>
              <a:tr h="475488">
                <a:tc>
                  <a:txBody>
                    <a:bodyPr/>
                    <a:lstStyle/>
                    <a:p>
                      <a:pPr marL="0" indent="0">
                        <a:buNone/>
                      </a:pPr>
                      <a:r>
                        <a:rPr sz="1500" b="1">
                          <a:solidFill>
                            <a:srgbClr val="262626"/>
                          </a:solidFill>
                        </a:rPr>
                        <a:t>Definition</a:t>
                      </a:r>
                    </a:p>
                  </a:txBody>
                  <a:tcPr marL="73152" marR="73152" marT="36576" marB="36576" anchor="ctr">
                    <a:solidFill>
                      <a:srgbClr val="DCE6F2"/>
                    </a:solidFill>
                  </a:tcPr>
                </a:tc>
                <a:tc>
                  <a:txBody>
                    <a:bodyPr/>
                    <a:lstStyle/>
                    <a:p>
                      <a:pPr marL="0" indent="0">
                        <a:buNone/>
                      </a:pPr>
                      <a:r>
                        <a:rPr sz="1500" b="0">
                          <a:solidFill>
                            <a:srgbClr val="262626"/>
                          </a:solidFill>
                        </a:rPr>
                        <a:t>What the system should do</a:t>
                      </a:r>
                    </a:p>
                  </a:txBody>
                  <a:tcPr marL="73152" marR="73152" marT="36576" marB="36576" anchor="ctr">
                    <a:solidFill>
                      <a:srgbClr val="FFFFFF"/>
                    </a:solidFill>
                  </a:tcPr>
                </a:tc>
                <a:tc>
                  <a:txBody>
                    <a:bodyPr/>
                    <a:lstStyle/>
                    <a:p>
                      <a:pPr marL="0" indent="0">
                        <a:buNone/>
                      </a:pPr>
                      <a:r>
                        <a:rPr sz="1500" b="0">
                          <a:solidFill>
                            <a:srgbClr val="262626"/>
                          </a:solidFill>
                        </a:rPr>
                        <a:t>How well it should do it</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pPr marL="0" indent="0">
                        <a:buNone/>
                      </a:pPr>
                      <a:r>
                        <a:rPr sz="1500" b="1">
                          <a:solidFill>
                            <a:srgbClr val="262626"/>
                          </a:solidFill>
                        </a:rPr>
                        <a:t>Purpose</a:t>
                      </a:r>
                    </a:p>
                  </a:txBody>
                  <a:tcPr marL="73152" marR="73152" marT="36576" marB="36576" anchor="ctr">
                    <a:solidFill>
                      <a:srgbClr val="DCE6F2"/>
                    </a:solidFill>
                  </a:tcPr>
                </a:tc>
                <a:tc>
                  <a:txBody>
                    <a:bodyPr/>
                    <a:lstStyle/>
                    <a:p>
                      <a:pPr marL="0" indent="0">
                        <a:buNone/>
                      </a:pPr>
                      <a:r>
                        <a:rPr sz="1500" b="0">
                          <a:solidFill>
                            <a:srgbClr val="262626"/>
                          </a:solidFill>
                        </a:rPr>
                        <a:t>Features, services, functions</a:t>
                      </a:r>
                    </a:p>
                  </a:txBody>
                  <a:tcPr marL="73152" marR="73152" marT="36576" marB="36576" anchor="ctr">
                    <a:solidFill>
                      <a:srgbClr val="F2F2F2"/>
                    </a:solidFill>
                  </a:tcPr>
                </a:tc>
                <a:tc>
                  <a:txBody>
                    <a:bodyPr/>
                    <a:lstStyle/>
                    <a:p>
                      <a:pPr marL="0" indent="0">
                        <a:buNone/>
                      </a:pPr>
                      <a:r>
                        <a:rPr sz="1500" b="0">
                          <a:solidFill>
                            <a:srgbClr val="262626"/>
                          </a:solidFill>
                        </a:rPr>
                        <a:t>Quality attributes and constraints</a:t>
                      </a:r>
                    </a:p>
                  </a:txBody>
                  <a:tcPr marL="73152" marR="73152" marT="36576" marB="36576" anchor="ctr">
                    <a:solidFill>
                      <a:srgbClr val="F2F2F2"/>
                    </a:solidFill>
                  </a:tcPr>
                </a:tc>
                <a:extLst>
                  <a:ext uri="{0D108BD9-81ED-4DB2-BD59-A6C34878D82A}">
                    <a16:rowId xmlns:a16="http://schemas.microsoft.com/office/drawing/2014/main" val="10002"/>
                  </a:ext>
                </a:extLst>
              </a:tr>
              <a:tr h="475488">
                <a:tc>
                  <a:txBody>
                    <a:bodyPr/>
                    <a:lstStyle/>
                    <a:p>
                      <a:pPr marL="0" indent="0">
                        <a:buNone/>
                      </a:pPr>
                      <a:r>
                        <a:rPr sz="1500" b="1">
                          <a:solidFill>
                            <a:srgbClr val="262626"/>
                          </a:solidFill>
                        </a:rPr>
                        <a:t>Example</a:t>
                      </a:r>
                    </a:p>
                  </a:txBody>
                  <a:tcPr marL="73152" marR="73152" marT="36576" marB="36576" anchor="ctr">
                    <a:solidFill>
                      <a:srgbClr val="DCE6F2"/>
                    </a:solidFill>
                  </a:tcPr>
                </a:tc>
                <a:tc>
                  <a:txBody>
                    <a:bodyPr/>
                    <a:lstStyle/>
                    <a:p>
                      <a:pPr marL="0" indent="0">
                        <a:buNone/>
                      </a:pPr>
                      <a:r>
                        <a:rPr sz="1500" b="0">
                          <a:solidFill>
                            <a:srgbClr val="262626"/>
                          </a:solidFill>
                        </a:rPr>
                        <a:t>"The system shall allow user login"</a:t>
                      </a:r>
                    </a:p>
                  </a:txBody>
                  <a:tcPr marL="73152" marR="73152" marT="36576" marB="36576" anchor="ctr">
                    <a:solidFill>
                      <a:srgbClr val="FFFFFF"/>
                    </a:solidFill>
                  </a:tcPr>
                </a:tc>
                <a:tc>
                  <a:txBody>
                    <a:bodyPr/>
                    <a:lstStyle/>
                    <a:p>
                      <a:pPr marL="0" indent="0">
                        <a:buNone/>
                      </a:pPr>
                      <a:r>
                        <a:rPr sz="1500" b="0">
                          <a:solidFill>
                            <a:srgbClr val="262626"/>
                          </a:solidFill>
                        </a:rPr>
                        <a:t>"The dashboard shall load in under 2 s"</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pPr marL="0" indent="0">
                        <a:buNone/>
                      </a:pPr>
                      <a:r>
                        <a:rPr sz="1500" b="1">
                          <a:solidFill>
                            <a:srgbClr val="262626"/>
                          </a:solidFill>
                        </a:rPr>
                        <a:t>Measurement</a:t>
                      </a:r>
                    </a:p>
                  </a:txBody>
                  <a:tcPr marL="73152" marR="73152" marT="36576" marB="36576" anchor="ctr">
                    <a:solidFill>
                      <a:srgbClr val="DCE6F2"/>
                    </a:solidFill>
                  </a:tcPr>
                </a:tc>
                <a:tc>
                  <a:txBody>
                    <a:bodyPr/>
                    <a:lstStyle/>
                    <a:p>
                      <a:pPr marL="0" indent="0">
                        <a:buNone/>
                      </a:pPr>
                      <a:r>
                        <a:rPr sz="1500" b="0">
                          <a:solidFill>
                            <a:srgbClr val="262626"/>
                          </a:solidFill>
                        </a:rPr>
                        <a:t>Pass/fail on correct output</a:t>
                      </a:r>
                    </a:p>
                  </a:txBody>
                  <a:tcPr marL="73152" marR="73152" marT="36576" marB="36576" anchor="ctr">
                    <a:solidFill>
                      <a:srgbClr val="F2F2F2"/>
                    </a:solidFill>
                  </a:tcPr>
                </a:tc>
                <a:tc>
                  <a:txBody>
                    <a:bodyPr/>
                    <a:lstStyle/>
                    <a:p>
                      <a:pPr marL="0" indent="0">
                        <a:buNone/>
                      </a:pPr>
                      <a:r>
                        <a:rPr sz="1500" b="0">
                          <a:solidFill>
                            <a:srgbClr val="262626"/>
                          </a:solidFill>
                        </a:rPr>
                        <a:t>Benchmarks, metrics, SLAs</a:t>
                      </a:r>
                    </a:p>
                  </a:txBody>
                  <a:tcPr marL="73152" marR="73152" marT="36576" marB="36576" anchor="ctr">
                    <a:solidFill>
                      <a:srgbClr val="F2F2F2"/>
                    </a:solidFill>
                  </a:tcPr>
                </a:tc>
                <a:extLst>
                  <a:ext uri="{0D108BD9-81ED-4DB2-BD59-A6C34878D82A}">
                    <a16:rowId xmlns:a16="http://schemas.microsoft.com/office/drawing/2014/main" val="10004"/>
                  </a:ext>
                </a:extLst>
              </a:tr>
              <a:tr h="475488">
                <a:tc>
                  <a:txBody>
                    <a:bodyPr/>
                    <a:lstStyle/>
                    <a:p>
                      <a:pPr marL="0" indent="0">
                        <a:buNone/>
                      </a:pPr>
                      <a:r>
                        <a:rPr sz="1500" b="1">
                          <a:solidFill>
                            <a:srgbClr val="262626"/>
                          </a:solidFill>
                        </a:rPr>
                        <a:t>Verification</a:t>
                      </a:r>
                    </a:p>
                  </a:txBody>
                  <a:tcPr marL="73152" marR="73152" marT="36576" marB="36576" anchor="ctr">
                    <a:solidFill>
                      <a:srgbClr val="DCE6F2"/>
                    </a:solidFill>
                  </a:tcPr>
                </a:tc>
                <a:tc>
                  <a:txBody>
                    <a:bodyPr/>
                    <a:lstStyle/>
                    <a:p>
                      <a:pPr marL="0" indent="0">
                        <a:buNone/>
                      </a:pPr>
                      <a:r>
                        <a:rPr sz="1500" b="0">
                          <a:solidFill>
                            <a:srgbClr val="262626"/>
                          </a:solidFill>
                        </a:rPr>
                        <a:t>Functional tests (unit, integration)</a:t>
                      </a:r>
                    </a:p>
                  </a:txBody>
                  <a:tcPr marL="73152" marR="73152" marT="36576" marB="36576" anchor="ctr">
                    <a:solidFill>
                      <a:srgbClr val="FFFFFF"/>
                    </a:solidFill>
                  </a:tcPr>
                </a:tc>
                <a:tc>
                  <a:txBody>
                    <a:bodyPr/>
                    <a:lstStyle/>
                    <a:p>
                      <a:pPr marL="0" indent="0">
                        <a:buNone/>
                      </a:pPr>
                      <a:r>
                        <a:rPr sz="1500" b="0">
                          <a:solidFill>
                            <a:srgbClr val="262626"/>
                          </a:solidFill>
                        </a:rPr>
                        <a:t>Performance, load, usability, security tests</a:t>
                      </a:r>
                    </a:p>
                  </a:txBody>
                  <a:tcPr marL="73152" marR="73152" marT="36576" marB="36576" anchor="ctr">
                    <a:solidFill>
                      <a:srgbClr val="FFFFFF"/>
                    </a:solidFill>
                  </a:tcPr>
                </a:tc>
                <a:extLst>
                  <a:ext uri="{0D108BD9-81ED-4DB2-BD59-A6C34878D82A}">
                    <a16:rowId xmlns:a16="http://schemas.microsoft.com/office/drawing/2014/main" val="10005"/>
                  </a:ext>
                </a:extLst>
              </a:tr>
              <a:tr h="475488">
                <a:tc>
                  <a:txBody>
                    <a:bodyPr/>
                    <a:lstStyle/>
                    <a:p>
                      <a:pPr marL="0" indent="0">
                        <a:buNone/>
                      </a:pPr>
                      <a:r>
                        <a:rPr sz="1500" b="1">
                          <a:solidFill>
                            <a:srgbClr val="262626"/>
                          </a:solidFill>
                        </a:rPr>
                        <a:t>Visibility</a:t>
                      </a:r>
                    </a:p>
                  </a:txBody>
                  <a:tcPr marL="73152" marR="73152" marT="36576" marB="36576" anchor="ctr">
                    <a:solidFill>
                      <a:srgbClr val="DCE6F2"/>
                    </a:solidFill>
                  </a:tcPr>
                </a:tc>
                <a:tc>
                  <a:txBody>
                    <a:bodyPr/>
                    <a:lstStyle/>
                    <a:p>
                      <a:pPr marL="0" indent="0">
                        <a:buNone/>
                      </a:pPr>
                      <a:r>
                        <a:rPr sz="1500" b="0">
                          <a:solidFill>
                            <a:srgbClr val="262626"/>
                          </a:solidFill>
                        </a:rPr>
                        <a:t>Directly observable</a:t>
                      </a:r>
                    </a:p>
                  </a:txBody>
                  <a:tcPr marL="73152" marR="73152" marT="36576" marB="36576" anchor="ctr">
                    <a:solidFill>
                      <a:srgbClr val="F2F2F2"/>
                    </a:solidFill>
                  </a:tcPr>
                </a:tc>
                <a:tc>
                  <a:txBody>
                    <a:bodyPr/>
                    <a:lstStyle/>
                    <a:p>
                      <a:pPr marL="0" indent="0">
                        <a:buNone/>
                      </a:pPr>
                      <a:r>
                        <a:rPr sz="1500" b="0">
                          <a:solidFill>
                            <a:srgbClr val="262626"/>
                          </a:solidFill>
                        </a:rPr>
                        <a:t>Often invisible until violated</a:t>
                      </a:r>
                    </a:p>
                  </a:txBody>
                  <a:tcPr marL="73152" marR="73152" marT="36576" marB="36576" anchor="ctr">
                    <a:solidFill>
                      <a:srgbClr val="F2F2F2"/>
                    </a:solidFill>
                  </a:tcPr>
                </a:tc>
                <a:extLst>
                  <a:ext uri="{0D108BD9-81ED-4DB2-BD59-A6C34878D82A}">
                    <a16:rowId xmlns:a16="http://schemas.microsoft.com/office/drawing/2014/main" val="10006"/>
                  </a:ext>
                </a:extLst>
              </a:tr>
              <a:tr h="475488">
                <a:tc>
                  <a:txBody>
                    <a:bodyPr/>
                    <a:lstStyle/>
                    <a:p>
                      <a:pPr marL="0" indent="0">
                        <a:buNone/>
                      </a:pPr>
                      <a:r>
                        <a:rPr sz="1500" b="1">
                          <a:solidFill>
                            <a:srgbClr val="262626"/>
                          </a:solidFill>
                        </a:rPr>
                        <a:t>Impact on design</a:t>
                      </a:r>
                    </a:p>
                  </a:txBody>
                  <a:tcPr marL="73152" marR="73152" marT="36576" marB="36576" anchor="ctr">
                    <a:solidFill>
                      <a:srgbClr val="DCE6F2"/>
                    </a:solidFill>
                  </a:tcPr>
                </a:tc>
                <a:tc>
                  <a:txBody>
                    <a:bodyPr/>
                    <a:lstStyle/>
                    <a:p>
                      <a:pPr marL="0" indent="0">
                        <a:buNone/>
                      </a:pPr>
                      <a:r>
                        <a:rPr sz="1500" b="0">
                          <a:solidFill>
                            <a:srgbClr val="262626"/>
                          </a:solidFill>
                        </a:rPr>
                        <a:t>Drives use cases and logic flow</a:t>
                      </a:r>
                    </a:p>
                  </a:txBody>
                  <a:tcPr marL="73152" marR="73152" marT="36576" marB="36576" anchor="ctr">
                    <a:solidFill>
                      <a:srgbClr val="FFFFFF"/>
                    </a:solidFill>
                  </a:tcPr>
                </a:tc>
                <a:tc>
                  <a:txBody>
                    <a:bodyPr/>
                    <a:lstStyle/>
                    <a:p>
                      <a:pPr marL="0" indent="0">
                        <a:buNone/>
                      </a:pPr>
                      <a:r>
                        <a:rPr sz="1500" b="0">
                          <a:solidFill>
                            <a:srgbClr val="262626"/>
                          </a:solidFill>
                        </a:rPr>
                        <a:t>Shapes architecture and deployment</a:t>
                      </a:r>
                    </a:p>
                  </a:txBody>
                  <a:tcPr marL="73152" marR="73152" marT="36576" marB="36576" anchor="ctr">
                    <a:solidFill>
                      <a:srgbClr val="FFFFFF"/>
                    </a:solidFill>
                  </a:tcPr>
                </a:tc>
                <a:extLst>
                  <a:ext uri="{0D108BD9-81ED-4DB2-BD59-A6C34878D82A}">
                    <a16:rowId xmlns:a16="http://schemas.microsoft.com/office/drawing/2014/main" val="10007"/>
                  </a:ext>
                </a:extLst>
              </a:tr>
              <a:tr h="475488">
                <a:tc>
                  <a:txBody>
                    <a:bodyPr/>
                    <a:lstStyle/>
                    <a:p>
                      <a:pPr marL="0" indent="0">
                        <a:buNone/>
                      </a:pPr>
                      <a:r>
                        <a:rPr sz="1500" b="1">
                          <a:solidFill>
                            <a:srgbClr val="262626"/>
                          </a:solidFill>
                        </a:rPr>
                        <a:t>Scope</a:t>
                      </a:r>
                    </a:p>
                  </a:txBody>
                  <a:tcPr marL="73152" marR="73152" marT="36576" marB="36576" anchor="ctr">
                    <a:solidFill>
                      <a:srgbClr val="DCE6F2"/>
                    </a:solidFill>
                  </a:tcPr>
                </a:tc>
                <a:tc>
                  <a:txBody>
                    <a:bodyPr/>
                    <a:lstStyle/>
                    <a:p>
                      <a:pPr marL="0" indent="0">
                        <a:buNone/>
                      </a:pPr>
                      <a:r>
                        <a:rPr sz="1500" b="0">
                          <a:solidFill>
                            <a:srgbClr val="262626"/>
                          </a:solidFill>
                        </a:rPr>
                        <a:t>Tied to specific functions or modules</a:t>
                      </a:r>
                    </a:p>
                  </a:txBody>
                  <a:tcPr marL="73152" marR="73152" marT="36576" marB="36576" anchor="ctr">
                    <a:solidFill>
                      <a:srgbClr val="F2F2F2"/>
                    </a:solidFill>
                  </a:tcPr>
                </a:tc>
                <a:tc>
                  <a:txBody>
                    <a:bodyPr/>
                    <a:lstStyle/>
                    <a:p>
                      <a:pPr marL="0" indent="0">
                        <a:buNone/>
                      </a:pPr>
                      <a:r>
                        <a:rPr sz="1500" b="0">
                          <a:solidFill>
                            <a:srgbClr val="262626"/>
                          </a:solidFill>
                        </a:rPr>
                        <a:t>Cross-cutting: affects many components</a:t>
                      </a:r>
                    </a:p>
                  </a:txBody>
                  <a:tcPr marL="73152" marR="73152" marT="36576" marB="36576" anchor="ctr">
                    <a:solidFill>
                      <a:srgbClr val="F2F2F2"/>
                    </a:solidFill>
                  </a:tcPr>
                </a:tc>
                <a:extLst>
                  <a:ext uri="{0D108BD9-81ED-4DB2-BD59-A6C34878D82A}">
                    <a16:rowId xmlns:a16="http://schemas.microsoft.com/office/drawing/2014/main" val="10008"/>
                  </a:ext>
                </a:extLst>
              </a:tr>
              <a:tr h="475488">
                <a:tc>
                  <a:txBody>
                    <a:bodyPr/>
                    <a:lstStyle/>
                    <a:p>
                      <a:pPr marL="0" indent="0">
                        <a:buNone/>
                      </a:pPr>
                      <a:r>
                        <a:rPr sz="1500" b="1">
                          <a:solidFill>
                            <a:srgbClr val="262626"/>
                          </a:solidFill>
                        </a:rPr>
                        <a:t>Documented in</a:t>
                      </a:r>
                    </a:p>
                  </a:txBody>
                  <a:tcPr marL="73152" marR="73152" marT="36576" marB="36576" anchor="ctr">
                    <a:solidFill>
                      <a:srgbClr val="DCE6F2"/>
                    </a:solidFill>
                  </a:tcPr>
                </a:tc>
                <a:tc>
                  <a:txBody>
                    <a:bodyPr/>
                    <a:lstStyle/>
                    <a:p>
                      <a:pPr marL="0" indent="0">
                        <a:buNone/>
                      </a:pPr>
                      <a:r>
                        <a:rPr sz="1500" b="0">
                          <a:solidFill>
                            <a:srgbClr val="262626"/>
                          </a:solidFill>
                        </a:rPr>
                        <a:t>Use cases, user stories, functional specs</a:t>
                      </a:r>
                    </a:p>
                  </a:txBody>
                  <a:tcPr marL="73152" marR="73152" marT="36576" marB="36576" anchor="ctr">
                    <a:solidFill>
                      <a:srgbClr val="FFFFFF"/>
                    </a:solidFill>
                  </a:tcPr>
                </a:tc>
                <a:tc>
                  <a:txBody>
                    <a:bodyPr/>
                    <a:lstStyle/>
                    <a:p>
                      <a:pPr marL="0" indent="0">
                        <a:buNone/>
                      </a:pPr>
                      <a:r>
                        <a:rPr sz="1500" b="0">
                          <a:solidFill>
                            <a:srgbClr val="262626"/>
                          </a:solidFill>
                        </a:rPr>
                        <a:t>Quality models, SLAs, system-wide constraints</a:t>
                      </a:r>
                    </a:p>
                  </a:txBody>
                  <a:tcPr marL="73152" marR="73152" marT="36576" marB="36576"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2534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31520"/>
            <a:ext cx="8458200" cy="822960"/>
          </a:xfrm>
        </p:spPr>
        <p:txBody>
          <a:bodyPr/>
          <a:lstStyle/>
          <a:p>
            <a:r>
              <a:rPr sz="3000" b="1" dirty="0">
                <a:solidFill>
                  <a:schemeClr val="tx2"/>
                </a:solidFill>
              </a:rPr>
              <a:t>Exercise: Which is which?</a:t>
            </a:r>
          </a:p>
        </p:txBody>
      </p:sp>
      <p:sp>
        <p:nvSpPr>
          <p:cNvPr id="3" name="Content Placeholder 2"/>
          <p:cNvSpPr>
            <a:spLocks noGrp="1"/>
          </p:cNvSpPr>
          <p:nvPr>
            <p:ph sz="quarter" idx="13"/>
          </p:nvPr>
        </p:nvSpPr>
        <p:spPr>
          <a:xfrm>
            <a:off x="3246120" y="1737360"/>
            <a:ext cx="5532120" cy="4480560"/>
          </a:xfrm>
        </p:spPr>
        <p:txBody>
          <a:bodyPr wrap="square"/>
          <a:lstStyle/>
          <a:p>
            <a:pPr marL="0" indent="0">
              <a:spcAft>
                <a:spcPts val="200"/>
              </a:spcAft>
              <a:buNone/>
            </a:pPr>
            <a:r>
              <a:rPr sz="1800" b="1" dirty="0">
                <a:solidFill>
                  <a:srgbClr val="1F497D"/>
                </a:solidFill>
              </a:rPr>
              <a:t>Case study: Smart Study Room</a:t>
            </a:r>
          </a:p>
          <a:p>
            <a:pPr marL="0" indent="0">
              <a:spcAft>
                <a:spcPts val="1000"/>
              </a:spcAft>
              <a:buNone/>
            </a:pPr>
            <a:r>
              <a:rPr sz="1600" b="0" dirty="0">
                <a:solidFill>
                  <a:srgbClr val="595959"/>
                </a:solidFill>
              </a:rPr>
              <a:t>Room sensors, a dashboard showing free rooms, and a study assistant.</a:t>
            </a:r>
          </a:p>
          <a:p>
            <a:pPr marL="0" indent="0">
              <a:spcAft>
                <a:spcPts val="400"/>
              </a:spcAft>
              <a:buNone/>
            </a:pPr>
            <a:r>
              <a:rPr sz="1800" b="1" dirty="0">
                <a:solidFill>
                  <a:srgbClr val="262626"/>
                </a:solidFill>
              </a:rPr>
              <a:t>Vote on </a:t>
            </a:r>
            <a:r>
              <a:rPr sz="1800" b="1" dirty="0" err="1">
                <a:solidFill>
                  <a:srgbClr val="262626"/>
                </a:solidFill>
              </a:rPr>
              <a:t>Vevox</a:t>
            </a:r>
            <a:r>
              <a:rPr sz="1800" b="1" dirty="0">
                <a:solidFill>
                  <a:srgbClr val="262626"/>
                </a:solidFill>
              </a:rPr>
              <a:t>: FR or NFR?</a:t>
            </a:r>
          </a:p>
          <a:p>
            <a:pPr marL="285750" indent="-285750">
              <a:spcAft>
                <a:spcPts val="300"/>
              </a:spcAft>
              <a:buFont typeface="+mj-lt"/>
              <a:buAutoNum type="arabicPeriod"/>
            </a:pPr>
            <a:r>
              <a:rPr sz="1800" b="0" dirty="0">
                <a:solidFill>
                  <a:srgbClr val="262626"/>
                </a:solidFill>
              </a:rPr>
              <a:t>The dashboard shall show each room's temperature.</a:t>
            </a:r>
          </a:p>
          <a:p>
            <a:pPr marL="285750" indent="-285750">
              <a:spcAft>
                <a:spcPts val="300"/>
              </a:spcAft>
              <a:buFont typeface="+mj-lt"/>
              <a:buAutoNum type="arabicPeriod"/>
            </a:pPr>
            <a:r>
              <a:rPr sz="1800" b="0" dirty="0">
                <a:solidFill>
                  <a:srgbClr val="262626"/>
                </a:solidFill>
              </a:rPr>
              <a:t>The dashboard shall load within 2 seconds.</a:t>
            </a:r>
          </a:p>
          <a:p>
            <a:pPr marL="285750" indent="-285750">
              <a:spcAft>
                <a:spcPts val="300"/>
              </a:spcAft>
              <a:buFont typeface="+mj-lt"/>
              <a:buAutoNum type="arabicPeriod"/>
            </a:pPr>
            <a:r>
              <a:rPr sz="1800" b="0" dirty="0">
                <a:solidFill>
                  <a:srgbClr val="262626"/>
                </a:solidFill>
              </a:rPr>
              <a:t>Staff shall be able to export occupancy as CSV.</a:t>
            </a:r>
          </a:p>
          <a:p>
            <a:pPr marL="285750" indent="-285750">
              <a:spcAft>
                <a:spcPts val="300"/>
              </a:spcAft>
              <a:buFont typeface="+mj-lt"/>
              <a:buAutoNum type="arabicPeriod"/>
            </a:pPr>
            <a:r>
              <a:rPr sz="1800" b="0" dirty="0">
                <a:solidFill>
                  <a:srgbClr val="262626"/>
                </a:solidFill>
              </a:rPr>
              <a:t>The dashboard shall work with a screen reader.</a:t>
            </a:r>
          </a:p>
          <a:p>
            <a:pPr marL="285750" indent="-285750">
              <a:spcAft>
                <a:spcPts val="300"/>
              </a:spcAft>
              <a:buFont typeface="+mj-lt"/>
              <a:buAutoNum type="arabicPeriod"/>
            </a:pPr>
            <a:r>
              <a:rPr sz="1800" b="0" dirty="0">
                <a:solidFill>
                  <a:srgbClr val="262626"/>
                </a:solidFill>
              </a:rPr>
              <a:t>The system shall log every failed login attempt.</a:t>
            </a:r>
          </a:p>
          <a:p>
            <a:pPr marL="285750" indent="-285750">
              <a:spcAft>
                <a:spcPts val="300"/>
              </a:spcAft>
              <a:buFont typeface="+mj-lt"/>
              <a:buAutoNum type="arabicPeriod"/>
            </a:pPr>
            <a:r>
              <a:rPr sz="1800" b="0" dirty="0">
                <a:solidFill>
                  <a:srgbClr val="262626"/>
                </a:solidFill>
              </a:rPr>
              <a:t>A sensor node shall run 12 months on one battery.</a:t>
            </a:r>
          </a:p>
        </p:txBody>
      </p:sp>
      <p:sp>
        <p:nvSpPr>
          <p:cNvPr id="4" name="Rectangle 3"/>
          <p:cNvSpPr/>
          <p:nvPr/>
        </p:nvSpPr>
        <p:spPr>
          <a:xfrm>
            <a:off x="914400" y="228600"/>
            <a:ext cx="7315200" cy="502920"/>
          </a:xfrm>
          <a:prstGeom prst="rect">
            <a:avLst/>
          </a:prstGeom>
          <a:solidFill>
            <a:srgbClr val="D7E4BD"/>
          </a:solidFill>
          <a:ln>
            <a:noFill/>
          </a:ln>
          <a:effectLst/>
        </p:spPr>
        <p:txBody>
          <a:bodyPr wrap="square" lIns="73152" tIns="54864" rIns="73152" bIns="54864" rtlCol="0" anchor="ctr"/>
          <a:lstStyle/>
          <a:p>
            <a:pPr marL="0" indent="0" algn="ctr">
              <a:buNone/>
            </a:pPr>
            <a:r>
              <a:rPr sz="2600" b="1">
                <a:solidFill>
                  <a:srgbClr val="000000"/>
                </a:solidFill>
              </a:rPr>
              <a:t>Let's think and reflect</a:t>
            </a:r>
          </a:p>
        </p:txBody>
      </p:sp>
      <p:pic>
        <p:nvPicPr>
          <p:cNvPr id="10" name="Picture 9" descr="A screen shot of a qr code&#10;&#10;AI-generated content may be incorrect.">
            <a:extLst>
              <a:ext uri="{FF2B5EF4-FFF2-40B4-BE49-F238E27FC236}">
                <a16:creationId xmlns:a16="http://schemas.microsoft.com/office/drawing/2014/main" id="{6526F863-9CD2-DC46-8B93-5405A760BCDF}"/>
              </a:ext>
            </a:extLst>
          </p:cNvPr>
          <p:cNvPicPr>
            <a:picLocks noChangeAspect="1"/>
          </p:cNvPicPr>
          <p:nvPr/>
        </p:nvPicPr>
        <p:blipFill>
          <a:blip r:embed="rId3"/>
          <a:stretch>
            <a:fillRect/>
          </a:stretch>
        </p:blipFill>
        <p:spPr>
          <a:xfrm>
            <a:off x="342899" y="1554480"/>
            <a:ext cx="2562141" cy="46157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Quality Attributes: ISO/IEC 25010</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1800" b="0">
                <a:solidFill>
                  <a:srgbClr val="595959"/>
                </a:solidFill>
              </a:rPr>
              <a:t>The product quality model (2023 edition) has nine characteristics</a:t>
            </a:r>
          </a:p>
        </p:txBody>
      </p:sp>
      <p:sp>
        <p:nvSpPr>
          <p:cNvPr id="4" name="Rectangle 3"/>
          <p:cNvSpPr/>
          <p:nvPr/>
        </p:nvSpPr>
        <p:spPr>
          <a:xfrm>
            <a:off x="457200" y="1645920"/>
            <a:ext cx="2621280" cy="1188720"/>
          </a:xfrm>
          <a:prstGeom prst="rect">
            <a:avLst/>
          </a:prstGeom>
          <a:solidFill>
            <a:srgbClr val="EBF1DE"/>
          </a:solidFill>
          <a:ln>
            <a:noFill/>
          </a:ln>
          <a:effectLst/>
        </p:spPr>
        <p:txBody>
          <a:bodyPr wrap="square" lIns="109728" tIns="54864" rIns="109728" bIns="54864" rtlCol="0" anchor="ctr"/>
          <a:lstStyle/>
          <a:p>
            <a:pPr marL="0" indent="0" algn="l">
              <a:spcAft>
                <a:spcPts val="300"/>
              </a:spcAft>
              <a:buNone/>
            </a:pPr>
            <a:r>
              <a:rPr sz="1700" b="1">
                <a:solidFill>
                  <a:srgbClr val="4F6228"/>
                </a:solidFill>
              </a:rPr>
              <a:t>Functional suitability</a:t>
            </a:r>
          </a:p>
          <a:p>
            <a:pPr marL="0" indent="0" algn="l">
              <a:buNone/>
            </a:pPr>
            <a:r>
              <a:rPr sz="1300" b="0">
                <a:solidFill>
                  <a:srgbClr val="262626"/>
                </a:solidFill>
              </a:rPr>
              <a:t>functions meet stated and implied needs</a:t>
            </a:r>
          </a:p>
        </p:txBody>
      </p:sp>
      <p:sp>
        <p:nvSpPr>
          <p:cNvPr id="5" name="Rectangle 4"/>
          <p:cNvSpPr/>
          <p:nvPr/>
        </p:nvSpPr>
        <p:spPr>
          <a:xfrm>
            <a:off x="3261360" y="164592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Performance efficiency</a:t>
            </a:r>
          </a:p>
          <a:p>
            <a:pPr marL="0" indent="0" algn="l">
              <a:buNone/>
            </a:pPr>
            <a:r>
              <a:rPr sz="1300" b="0">
                <a:solidFill>
                  <a:srgbClr val="262626"/>
                </a:solidFill>
              </a:rPr>
              <a:t>speed and resource use under stated conditions</a:t>
            </a:r>
          </a:p>
        </p:txBody>
      </p:sp>
      <p:sp>
        <p:nvSpPr>
          <p:cNvPr id="6" name="Rectangle 5"/>
          <p:cNvSpPr/>
          <p:nvPr/>
        </p:nvSpPr>
        <p:spPr>
          <a:xfrm>
            <a:off x="6065520" y="164592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Compatibility</a:t>
            </a:r>
          </a:p>
          <a:p>
            <a:pPr marL="0" indent="0" algn="l">
              <a:buNone/>
            </a:pPr>
            <a:r>
              <a:rPr sz="1300" b="0">
                <a:solidFill>
                  <a:srgbClr val="262626"/>
                </a:solidFill>
              </a:rPr>
              <a:t>exchanges information and co-exists with other systems</a:t>
            </a:r>
          </a:p>
        </p:txBody>
      </p:sp>
      <p:sp>
        <p:nvSpPr>
          <p:cNvPr id="7" name="Rectangle 6"/>
          <p:cNvSpPr/>
          <p:nvPr/>
        </p:nvSpPr>
        <p:spPr>
          <a:xfrm>
            <a:off x="457200" y="297180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Interaction capability</a:t>
            </a:r>
          </a:p>
          <a:p>
            <a:pPr marL="0" indent="0" algn="l">
              <a:buNone/>
            </a:pPr>
            <a:r>
              <a:rPr sz="1300" b="0">
                <a:solidFill>
                  <a:srgbClr val="262626"/>
                </a:solidFill>
              </a:rPr>
              <a:t>operated effectively and satisfactorily (was Usability)</a:t>
            </a:r>
          </a:p>
        </p:txBody>
      </p:sp>
      <p:sp>
        <p:nvSpPr>
          <p:cNvPr id="8" name="Rectangle 7"/>
          <p:cNvSpPr/>
          <p:nvPr/>
        </p:nvSpPr>
        <p:spPr>
          <a:xfrm>
            <a:off x="3261360" y="297180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Reliability</a:t>
            </a:r>
          </a:p>
          <a:p>
            <a:pPr marL="0" indent="0" algn="l">
              <a:buNone/>
            </a:pPr>
            <a:r>
              <a:rPr sz="1300" b="0">
                <a:solidFill>
                  <a:srgbClr val="262626"/>
                </a:solidFill>
              </a:rPr>
              <a:t>performs specified functions for a period of time</a:t>
            </a:r>
          </a:p>
        </p:txBody>
      </p:sp>
      <p:sp>
        <p:nvSpPr>
          <p:cNvPr id="9" name="Rectangle 8"/>
          <p:cNvSpPr/>
          <p:nvPr/>
        </p:nvSpPr>
        <p:spPr>
          <a:xfrm>
            <a:off x="6065520" y="297180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Security</a:t>
            </a:r>
          </a:p>
          <a:p>
            <a:pPr marL="0" indent="0" algn="l">
              <a:buNone/>
            </a:pPr>
            <a:r>
              <a:rPr sz="1300" b="0">
                <a:solidFill>
                  <a:srgbClr val="262626"/>
                </a:solidFill>
              </a:rPr>
              <a:t>protects data; access matches authorisation</a:t>
            </a:r>
          </a:p>
        </p:txBody>
      </p:sp>
      <p:sp>
        <p:nvSpPr>
          <p:cNvPr id="10" name="Rectangle 9"/>
          <p:cNvSpPr/>
          <p:nvPr/>
        </p:nvSpPr>
        <p:spPr>
          <a:xfrm>
            <a:off x="457200" y="429768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Maintainability</a:t>
            </a:r>
          </a:p>
          <a:p>
            <a:pPr marL="0" indent="0" algn="l">
              <a:buNone/>
            </a:pPr>
            <a:r>
              <a:rPr sz="1300" b="0">
                <a:solidFill>
                  <a:srgbClr val="262626"/>
                </a:solidFill>
              </a:rPr>
              <a:t>can be modified by its maintainers</a:t>
            </a:r>
          </a:p>
        </p:txBody>
      </p:sp>
      <p:sp>
        <p:nvSpPr>
          <p:cNvPr id="11" name="Rectangle 10"/>
          <p:cNvSpPr/>
          <p:nvPr/>
        </p:nvSpPr>
        <p:spPr>
          <a:xfrm>
            <a:off x="3261360" y="4297680"/>
            <a:ext cx="2621280" cy="1188720"/>
          </a:xfrm>
          <a:prstGeom prst="rect">
            <a:avLst/>
          </a:prstGeom>
          <a:solidFill>
            <a:srgbClr val="DCE6F2"/>
          </a:solidFill>
          <a:ln>
            <a:noFill/>
          </a:ln>
          <a:effectLst/>
        </p:spPr>
        <p:txBody>
          <a:bodyPr wrap="square" lIns="109728" tIns="54864" rIns="109728" bIns="54864" rtlCol="0" anchor="ctr"/>
          <a:lstStyle/>
          <a:p>
            <a:pPr marL="0" indent="0" algn="l">
              <a:spcAft>
                <a:spcPts val="300"/>
              </a:spcAft>
              <a:buNone/>
            </a:pPr>
            <a:r>
              <a:rPr sz="1700" b="1">
                <a:solidFill>
                  <a:srgbClr val="1F497D"/>
                </a:solidFill>
              </a:rPr>
              <a:t>Flexibility</a:t>
            </a:r>
          </a:p>
          <a:p>
            <a:pPr marL="0" indent="0" algn="l">
              <a:buNone/>
            </a:pPr>
            <a:r>
              <a:rPr sz="1300" b="0">
                <a:solidFill>
                  <a:srgbClr val="262626"/>
                </a:solidFill>
              </a:rPr>
              <a:t>adapts to different or evolving environments (was Portability)</a:t>
            </a:r>
          </a:p>
        </p:txBody>
      </p:sp>
      <p:sp>
        <p:nvSpPr>
          <p:cNvPr id="12" name="Rectangle 11"/>
          <p:cNvSpPr/>
          <p:nvPr/>
        </p:nvSpPr>
        <p:spPr>
          <a:xfrm>
            <a:off x="6065520" y="4297680"/>
            <a:ext cx="2621280" cy="1188720"/>
          </a:xfrm>
          <a:prstGeom prst="rect">
            <a:avLst/>
          </a:prstGeom>
          <a:solidFill>
            <a:srgbClr val="FDE9D9"/>
          </a:solidFill>
          <a:ln>
            <a:noFill/>
          </a:ln>
          <a:effectLst/>
        </p:spPr>
        <p:txBody>
          <a:bodyPr wrap="square" lIns="109728" tIns="54864" rIns="109728" bIns="54864" rtlCol="0" anchor="ctr"/>
          <a:lstStyle/>
          <a:p>
            <a:pPr marL="0" indent="0" algn="l">
              <a:spcAft>
                <a:spcPts val="300"/>
              </a:spcAft>
              <a:buNone/>
            </a:pPr>
            <a:r>
              <a:rPr sz="1700" b="1">
                <a:solidFill>
                  <a:srgbClr val="E36C09"/>
                </a:solidFill>
              </a:rPr>
              <a:t>Safety</a:t>
            </a:r>
          </a:p>
          <a:p>
            <a:pPr marL="0" indent="0" algn="l">
              <a:buNone/>
            </a:pPr>
            <a:r>
              <a:rPr sz="1300" b="0">
                <a:solidFill>
                  <a:srgbClr val="262626"/>
                </a:solidFill>
              </a:rPr>
              <a:t>avoids harm to people, property and environment (new)</a:t>
            </a:r>
          </a:p>
        </p:txBody>
      </p:sp>
      <p:sp>
        <p:nvSpPr>
          <p:cNvPr id="13" name="TextBox 12"/>
          <p:cNvSpPr txBox="1"/>
          <p:nvPr/>
        </p:nvSpPr>
        <p:spPr>
          <a:xfrm>
            <a:off x="457200" y="5669280"/>
            <a:ext cx="8229600" cy="640080"/>
          </a:xfrm>
          <a:prstGeom prst="rect">
            <a:avLst/>
          </a:prstGeom>
          <a:noFill/>
        </p:spPr>
        <p:txBody>
          <a:bodyPr wrap="square" lIns="73152" tIns="54864" rIns="73152" bIns="54864" anchor="ctr">
            <a:spAutoFit/>
          </a:bodyPr>
          <a:lstStyle/>
          <a:p>
            <a:pPr marL="0" indent="0" algn="l">
              <a:buNone/>
            </a:pPr>
            <a:r>
              <a:rPr sz="1300" b="0">
                <a:solidFill>
                  <a:srgbClr val="595959"/>
                </a:solidFill>
              </a:rPr>
              <a:t>Green = the functional characteristic; the rest are what we usually call NFRs. The 2011 edition had eight (Usability, Portability, no Safety); availability sits under Reliability.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From Vague to Measurable</a:t>
            </a:r>
          </a:p>
        </p:txBody>
      </p:sp>
      <p:sp>
        <p:nvSpPr>
          <p:cNvPr id="3" name="Rectangle 2"/>
          <p:cNvSpPr/>
          <p:nvPr/>
        </p:nvSpPr>
        <p:spPr>
          <a:xfrm>
            <a:off x="457200" y="1143000"/>
            <a:ext cx="8229600" cy="1051560"/>
          </a:xfrm>
          <a:prstGeom prst="rect">
            <a:avLst/>
          </a:prstGeom>
          <a:solidFill>
            <a:srgbClr val="F2DCDB"/>
          </a:solidFill>
          <a:ln>
            <a:noFill/>
          </a:ln>
          <a:effectLst/>
        </p:spPr>
        <p:txBody>
          <a:bodyPr wrap="square" lIns="182880" tIns="54864" rIns="182880" bIns="54864" rtlCol="0" anchor="ctr"/>
          <a:lstStyle/>
          <a:p>
            <a:pPr marL="0" indent="0" algn="l">
              <a:spcAft>
                <a:spcPts val="400"/>
              </a:spcAft>
              <a:buNone/>
            </a:pPr>
            <a:r>
              <a:rPr sz="2000" b="1">
                <a:solidFill>
                  <a:srgbClr val="A93226"/>
                </a:solidFill>
              </a:rPr>
              <a:t>Vague:  </a:t>
            </a:r>
            <a:r>
              <a:rPr sz="2000" b="0" i="1">
                <a:solidFill>
                  <a:srgbClr val="262626"/>
                </a:solidFill>
              </a:rPr>
              <a:t>"The system shall be fast."</a:t>
            </a:r>
          </a:p>
          <a:p>
            <a:pPr marL="0" indent="0" algn="l">
              <a:buNone/>
            </a:pPr>
            <a:r>
              <a:rPr sz="1500" b="0">
                <a:solidFill>
                  <a:srgbClr val="595959"/>
                </a:solidFill>
              </a:rPr>
              <a:t>Fast compared to what? Under what load? For whom? How would we test it?</a:t>
            </a:r>
          </a:p>
        </p:txBody>
      </p:sp>
      <p:sp>
        <p:nvSpPr>
          <p:cNvPr id="4" name="Rectangle 3"/>
          <p:cNvSpPr/>
          <p:nvPr/>
        </p:nvSpPr>
        <p:spPr>
          <a:xfrm>
            <a:off x="457200" y="2377440"/>
            <a:ext cx="8229600" cy="1554480"/>
          </a:xfrm>
          <a:prstGeom prst="rect">
            <a:avLst/>
          </a:prstGeom>
          <a:solidFill>
            <a:srgbClr val="EBF1DE"/>
          </a:solidFill>
          <a:ln>
            <a:noFill/>
          </a:ln>
          <a:effectLst/>
        </p:spPr>
        <p:txBody>
          <a:bodyPr wrap="square" lIns="182880" tIns="54864" rIns="182880" bIns="54864" rtlCol="0" anchor="ctr"/>
          <a:lstStyle/>
          <a:p>
            <a:pPr marL="0" indent="0" algn="l">
              <a:buNone/>
            </a:pPr>
            <a:r>
              <a:rPr sz="2000" b="1">
                <a:solidFill>
                  <a:srgbClr val="4F6228"/>
                </a:solidFill>
              </a:rPr>
              <a:t>Measurable:  </a:t>
            </a:r>
            <a:r>
              <a:rPr sz="2000" b="1">
                <a:solidFill>
                  <a:srgbClr val="604A7B"/>
                </a:solidFill>
              </a:rPr>
              <a:t>95%</a:t>
            </a:r>
            <a:r>
              <a:rPr sz="2000" b="0">
                <a:solidFill>
                  <a:srgbClr val="262626"/>
                </a:solidFill>
              </a:rPr>
              <a:t> of </a:t>
            </a:r>
            <a:r>
              <a:rPr sz="2000" b="1">
                <a:solidFill>
                  <a:srgbClr val="1F497D"/>
                </a:solidFill>
              </a:rPr>
              <a:t>dashboard page loads</a:t>
            </a:r>
            <a:r>
              <a:rPr sz="2000" b="0">
                <a:solidFill>
                  <a:srgbClr val="262626"/>
                </a:solidFill>
              </a:rPr>
              <a:t> shall complete within </a:t>
            </a:r>
            <a:r>
              <a:rPr sz="2000" b="1">
                <a:solidFill>
                  <a:srgbClr val="E36C09"/>
                </a:solidFill>
              </a:rPr>
              <a:t>2 seconds</a:t>
            </a:r>
            <a:r>
              <a:rPr sz="2000" b="0">
                <a:solidFill>
                  <a:srgbClr val="262626"/>
                </a:solidFill>
              </a:rPr>
              <a:t> with </a:t>
            </a:r>
            <a:r>
              <a:rPr sz="2000" b="1">
                <a:solidFill>
                  <a:srgbClr val="4F6228"/>
                </a:solidFill>
              </a:rPr>
              <a:t>100 concurrent users</a:t>
            </a:r>
            <a:r>
              <a:rPr sz="2000" b="0">
                <a:solidFill>
                  <a:srgbClr val="262626"/>
                </a:solidFill>
              </a:rPr>
              <a:t>, </a:t>
            </a:r>
            <a:r>
              <a:rPr sz="2000" b="1">
                <a:solidFill>
                  <a:srgbClr val="31859C"/>
                </a:solidFill>
              </a:rPr>
              <a:t>measured by a load test on the staging server</a:t>
            </a:r>
            <a:r>
              <a:rPr sz="2000" b="0">
                <a:solidFill>
                  <a:srgbClr val="262626"/>
                </a:solidFill>
              </a:rPr>
              <a:t>.</a:t>
            </a:r>
          </a:p>
        </p:txBody>
      </p:sp>
      <p:sp>
        <p:nvSpPr>
          <p:cNvPr id="5" name="Rectangle 4"/>
          <p:cNvSpPr/>
          <p:nvPr/>
        </p:nvSpPr>
        <p:spPr>
          <a:xfrm>
            <a:off x="548640" y="4142232"/>
            <a:ext cx="201168" cy="201168"/>
          </a:xfrm>
          <a:prstGeom prst="rect">
            <a:avLst/>
          </a:prstGeom>
          <a:solidFill>
            <a:srgbClr val="1F497D"/>
          </a:solidFill>
          <a:ln>
            <a:noFill/>
          </a:ln>
          <a:effectLst/>
        </p:spPr>
        <p:txBody>
          <a:bodyPr rtlCol="0" anchor="ctr"/>
          <a:lstStyle/>
          <a:p>
            <a:pPr algn="ctr"/>
            <a:endParaRPr/>
          </a:p>
        </p:txBody>
      </p:sp>
      <p:sp>
        <p:nvSpPr>
          <p:cNvPr id="6" name="TextBox 5"/>
          <p:cNvSpPr txBox="1"/>
          <p:nvPr/>
        </p:nvSpPr>
        <p:spPr>
          <a:xfrm>
            <a:off x="868680" y="4069080"/>
            <a:ext cx="7772400" cy="365760"/>
          </a:xfrm>
          <a:prstGeom prst="rect">
            <a:avLst/>
          </a:prstGeom>
          <a:noFill/>
        </p:spPr>
        <p:txBody>
          <a:bodyPr wrap="square" lIns="73152" tIns="54864" rIns="73152" bIns="54864" anchor="ctr">
            <a:spAutoFit/>
          </a:bodyPr>
          <a:lstStyle/>
          <a:p>
            <a:pPr marL="0" indent="0" algn="l">
              <a:buNone/>
            </a:pPr>
            <a:r>
              <a:rPr sz="1600" b="1">
                <a:solidFill>
                  <a:srgbClr val="1F497D"/>
                </a:solidFill>
              </a:rPr>
              <a:t>Which quality? </a:t>
            </a:r>
            <a:r>
              <a:rPr sz="1600" b="0">
                <a:solidFill>
                  <a:srgbClr val="262626"/>
                </a:solidFill>
              </a:rPr>
              <a:t>dashboard page loads (the attribute)</a:t>
            </a:r>
          </a:p>
        </p:txBody>
      </p:sp>
      <p:sp>
        <p:nvSpPr>
          <p:cNvPr id="7" name="Rectangle 6"/>
          <p:cNvSpPr/>
          <p:nvPr/>
        </p:nvSpPr>
        <p:spPr>
          <a:xfrm>
            <a:off x="548640" y="4507992"/>
            <a:ext cx="201168" cy="201168"/>
          </a:xfrm>
          <a:prstGeom prst="rect">
            <a:avLst/>
          </a:prstGeom>
          <a:solidFill>
            <a:srgbClr val="E36C09"/>
          </a:solidFill>
          <a:ln>
            <a:noFill/>
          </a:ln>
          <a:effectLst/>
        </p:spPr>
        <p:txBody>
          <a:bodyPr rtlCol="0" anchor="ctr"/>
          <a:lstStyle/>
          <a:p>
            <a:pPr algn="ctr"/>
            <a:endParaRPr/>
          </a:p>
        </p:txBody>
      </p:sp>
      <p:sp>
        <p:nvSpPr>
          <p:cNvPr id="8" name="TextBox 7"/>
          <p:cNvSpPr txBox="1"/>
          <p:nvPr/>
        </p:nvSpPr>
        <p:spPr>
          <a:xfrm>
            <a:off x="868680" y="4434840"/>
            <a:ext cx="7772400" cy="365760"/>
          </a:xfrm>
          <a:prstGeom prst="rect">
            <a:avLst/>
          </a:prstGeom>
          <a:noFill/>
        </p:spPr>
        <p:txBody>
          <a:bodyPr wrap="square" lIns="73152" tIns="54864" rIns="73152" bIns="54864" anchor="ctr">
            <a:spAutoFit/>
          </a:bodyPr>
          <a:lstStyle/>
          <a:p>
            <a:pPr marL="0" indent="0" algn="l">
              <a:buNone/>
            </a:pPr>
            <a:r>
              <a:rPr sz="1600" b="1">
                <a:solidFill>
                  <a:srgbClr val="E36C09"/>
                </a:solidFill>
              </a:rPr>
              <a:t>What value and unit? </a:t>
            </a:r>
            <a:r>
              <a:rPr sz="1600" b="0">
                <a:solidFill>
                  <a:srgbClr val="262626"/>
                </a:solidFill>
              </a:rPr>
              <a:t>2 seconds</a:t>
            </a:r>
          </a:p>
        </p:txBody>
      </p:sp>
      <p:sp>
        <p:nvSpPr>
          <p:cNvPr id="9" name="Rectangle 8"/>
          <p:cNvSpPr/>
          <p:nvPr/>
        </p:nvSpPr>
        <p:spPr>
          <a:xfrm>
            <a:off x="548640" y="4873752"/>
            <a:ext cx="201168" cy="201168"/>
          </a:xfrm>
          <a:prstGeom prst="rect">
            <a:avLst/>
          </a:prstGeom>
          <a:solidFill>
            <a:srgbClr val="4F6228"/>
          </a:solidFill>
          <a:ln>
            <a:noFill/>
          </a:ln>
          <a:effectLst/>
        </p:spPr>
        <p:txBody>
          <a:bodyPr rtlCol="0" anchor="ctr"/>
          <a:lstStyle/>
          <a:p>
            <a:pPr algn="ctr"/>
            <a:endParaRPr/>
          </a:p>
        </p:txBody>
      </p:sp>
      <p:sp>
        <p:nvSpPr>
          <p:cNvPr id="10" name="TextBox 9"/>
          <p:cNvSpPr txBox="1"/>
          <p:nvPr/>
        </p:nvSpPr>
        <p:spPr>
          <a:xfrm>
            <a:off x="868680" y="4800600"/>
            <a:ext cx="7772400" cy="365760"/>
          </a:xfrm>
          <a:prstGeom prst="rect">
            <a:avLst/>
          </a:prstGeom>
          <a:noFill/>
        </p:spPr>
        <p:txBody>
          <a:bodyPr wrap="square" lIns="73152" tIns="54864" rIns="73152" bIns="54864" anchor="ctr">
            <a:spAutoFit/>
          </a:bodyPr>
          <a:lstStyle/>
          <a:p>
            <a:pPr marL="0" indent="0" algn="l">
              <a:buNone/>
            </a:pPr>
            <a:r>
              <a:rPr sz="1600" b="1">
                <a:solidFill>
                  <a:srgbClr val="4F6228"/>
                </a:solidFill>
              </a:rPr>
              <a:t>Under what condition? </a:t>
            </a:r>
            <a:r>
              <a:rPr sz="1600" b="0">
                <a:solidFill>
                  <a:srgbClr val="262626"/>
                </a:solidFill>
              </a:rPr>
              <a:t>100 concurrent users</a:t>
            </a:r>
          </a:p>
        </p:txBody>
      </p:sp>
      <p:sp>
        <p:nvSpPr>
          <p:cNvPr id="11" name="Rectangle 10"/>
          <p:cNvSpPr/>
          <p:nvPr/>
        </p:nvSpPr>
        <p:spPr>
          <a:xfrm>
            <a:off x="548640" y="5239512"/>
            <a:ext cx="201168" cy="201168"/>
          </a:xfrm>
          <a:prstGeom prst="rect">
            <a:avLst/>
          </a:prstGeom>
          <a:solidFill>
            <a:srgbClr val="604A7B"/>
          </a:solidFill>
          <a:ln>
            <a:noFill/>
          </a:ln>
          <a:effectLst/>
        </p:spPr>
        <p:txBody>
          <a:bodyPr rtlCol="0" anchor="ctr"/>
          <a:lstStyle/>
          <a:p>
            <a:pPr algn="ctr"/>
            <a:endParaRPr/>
          </a:p>
        </p:txBody>
      </p:sp>
      <p:sp>
        <p:nvSpPr>
          <p:cNvPr id="12" name="TextBox 11"/>
          <p:cNvSpPr txBox="1"/>
          <p:nvPr/>
        </p:nvSpPr>
        <p:spPr>
          <a:xfrm>
            <a:off x="868680" y="5166360"/>
            <a:ext cx="7772400" cy="365760"/>
          </a:xfrm>
          <a:prstGeom prst="rect">
            <a:avLst/>
          </a:prstGeom>
          <a:noFill/>
        </p:spPr>
        <p:txBody>
          <a:bodyPr wrap="square" lIns="73152" tIns="54864" rIns="73152" bIns="54864" anchor="ctr">
            <a:spAutoFit/>
          </a:bodyPr>
          <a:lstStyle/>
          <a:p>
            <a:pPr marL="0" indent="0" algn="l">
              <a:buNone/>
            </a:pPr>
            <a:r>
              <a:rPr sz="1600" b="1">
                <a:solidFill>
                  <a:srgbClr val="604A7B"/>
                </a:solidFill>
              </a:rPr>
              <a:t>How often? </a:t>
            </a:r>
            <a:r>
              <a:rPr sz="1600" b="0">
                <a:solidFill>
                  <a:srgbClr val="262626"/>
                </a:solidFill>
              </a:rPr>
              <a:t>95% of the time (a probability, not "always")</a:t>
            </a:r>
          </a:p>
        </p:txBody>
      </p:sp>
      <p:sp>
        <p:nvSpPr>
          <p:cNvPr id="13" name="Rectangle 12"/>
          <p:cNvSpPr/>
          <p:nvPr/>
        </p:nvSpPr>
        <p:spPr>
          <a:xfrm>
            <a:off x="548640" y="5605272"/>
            <a:ext cx="201168" cy="201168"/>
          </a:xfrm>
          <a:prstGeom prst="rect">
            <a:avLst/>
          </a:prstGeom>
          <a:solidFill>
            <a:srgbClr val="31859C"/>
          </a:solidFill>
          <a:ln>
            <a:noFill/>
          </a:ln>
          <a:effectLst/>
        </p:spPr>
        <p:txBody>
          <a:bodyPr rtlCol="0" anchor="ctr"/>
          <a:lstStyle/>
          <a:p>
            <a:pPr algn="ctr"/>
            <a:endParaRPr/>
          </a:p>
        </p:txBody>
      </p:sp>
      <p:sp>
        <p:nvSpPr>
          <p:cNvPr id="14" name="TextBox 13"/>
          <p:cNvSpPr txBox="1"/>
          <p:nvPr/>
        </p:nvSpPr>
        <p:spPr>
          <a:xfrm>
            <a:off x="868680" y="5532120"/>
            <a:ext cx="7772400" cy="365760"/>
          </a:xfrm>
          <a:prstGeom prst="rect">
            <a:avLst/>
          </a:prstGeom>
          <a:noFill/>
        </p:spPr>
        <p:txBody>
          <a:bodyPr wrap="square" lIns="73152" tIns="54864" rIns="73152" bIns="54864" anchor="ctr">
            <a:spAutoFit/>
          </a:bodyPr>
          <a:lstStyle/>
          <a:p>
            <a:pPr marL="0" indent="0" algn="l">
              <a:buNone/>
            </a:pPr>
            <a:r>
              <a:rPr sz="1600" b="1">
                <a:solidFill>
                  <a:srgbClr val="31859C"/>
                </a:solidFill>
              </a:rPr>
              <a:t>How is it measured? </a:t>
            </a:r>
            <a:r>
              <a:rPr sz="1600" b="0">
                <a:solidFill>
                  <a:srgbClr val="262626"/>
                </a:solidFill>
              </a:rPr>
              <a:t>load test on the staging server</a:t>
            </a:r>
          </a:p>
        </p:txBody>
      </p:sp>
      <p:sp>
        <p:nvSpPr>
          <p:cNvPr id="15" name="TextBox 14"/>
          <p:cNvSpPr txBox="1"/>
          <p:nvPr/>
        </p:nvSpPr>
        <p:spPr>
          <a:xfrm>
            <a:off x="457200" y="5943600"/>
            <a:ext cx="8229600" cy="320040"/>
          </a:xfrm>
          <a:prstGeom prst="rect">
            <a:avLst/>
          </a:prstGeom>
          <a:noFill/>
        </p:spPr>
        <p:txBody>
          <a:bodyPr wrap="square" lIns="73152" tIns="54864" rIns="73152" bIns="54864" anchor="ctr">
            <a:spAutoFit/>
          </a:bodyPr>
          <a:lstStyle/>
          <a:p>
            <a:pPr marL="0" indent="0" algn="ctr">
              <a:buNone/>
            </a:pPr>
            <a:r>
              <a:rPr sz="1400" b="0">
                <a:solidFill>
                  <a:srgbClr val="595959"/>
                </a:solidFill>
              </a:rPr>
              <a:t>Relative words (fast, large, user-friendly) only mean something against a reference: state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Five Questions to Remove Ambiguity</a:t>
            </a:r>
          </a:p>
        </p:txBody>
      </p:sp>
      <p:graphicFrame>
        <p:nvGraphicFramePr>
          <p:cNvPr id="3" name="Table 2"/>
          <p:cNvGraphicFramePr>
            <a:graphicFrameLocks noGrp="1"/>
          </p:cNvGraphicFramePr>
          <p:nvPr>
            <p:extLst>
              <p:ext uri="{D42A27DB-BD31-4B8C-83A1-F6EECF244321}">
                <p14:modId xmlns:p14="http://schemas.microsoft.com/office/powerpoint/2010/main" val="3008795790"/>
              </p:ext>
            </p:extLst>
          </p:nvPr>
        </p:nvGraphicFramePr>
        <p:xfrm>
          <a:off x="457200" y="1188720"/>
          <a:ext cx="8229600" cy="3730752"/>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621792">
                <a:tc>
                  <a:txBody>
                    <a:bodyPr/>
                    <a:lstStyle/>
                    <a:p>
                      <a:pPr marL="0" indent="0">
                        <a:buNone/>
                      </a:pPr>
                      <a:r>
                        <a:rPr sz="1600" b="1">
                          <a:solidFill>
                            <a:srgbClr val="FFFFFF"/>
                          </a:solidFill>
                        </a:rPr>
                        <a:t>Ask</a:t>
                      </a:r>
                    </a:p>
                  </a:txBody>
                  <a:tcPr marL="73152" marR="73152" marT="36576" marB="36576" anchor="ctr">
                    <a:solidFill>
                      <a:srgbClr val="1F497D"/>
                    </a:solidFill>
                  </a:tcPr>
                </a:tc>
                <a:tc>
                  <a:txBody>
                    <a:bodyPr/>
                    <a:lstStyle/>
                    <a:p>
                      <a:pPr marL="0" indent="0">
                        <a:buNone/>
                      </a:pPr>
                      <a:r>
                        <a:rPr sz="1600" b="1">
                          <a:solidFill>
                            <a:srgbClr val="FFFFFF"/>
                          </a:solidFill>
                        </a:rPr>
                        <a:t>Pin down</a:t>
                      </a:r>
                    </a:p>
                  </a:txBody>
                  <a:tcPr marL="73152" marR="73152" marT="36576" marB="36576" anchor="ctr">
                    <a:solidFill>
                      <a:srgbClr val="1F497D"/>
                    </a:solidFill>
                  </a:tcPr>
                </a:tc>
                <a:tc>
                  <a:txBody>
                    <a:bodyPr/>
                    <a:lstStyle/>
                    <a:p>
                      <a:pPr marL="0" indent="0">
                        <a:buNone/>
                      </a:pPr>
                      <a:r>
                        <a:rPr sz="1600" b="1">
                          <a:solidFill>
                            <a:srgbClr val="FFFFFF"/>
                          </a:solidFill>
                        </a:rPr>
                        <a:t>Ambiguous words</a:t>
                      </a:r>
                    </a:p>
                  </a:txBody>
                  <a:tcPr marL="73152" marR="73152" marT="36576" marB="36576" anchor="ctr">
                    <a:solidFill>
                      <a:srgbClr val="1F497D"/>
                    </a:solidFill>
                  </a:tcPr>
                </a:tc>
                <a:extLst>
                  <a:ext uri="{0D108BD9-81ED-4DB2-BD59-A6C34878D82A}">
                    <a16:rowId xmlns:a16="http://schemas.microsoft.com/office/drawing/2014/main" val="10000"/>
                  </a:ext>
                </a:extLst>
              </a:tr>
              <a:tr h="621792">
                <a:tc>
                  <a:txBody>
                    <a:bodyPr/>
                    <a:lstStyle/>
                    <a:p>
                      <a:pPr marL="0" indent="0">
                        <a:buNone/>
                      </a:pPr>
                      <a:r>
                        <a:rPr sz="1600" b="1">
                          <a:solidFill>
                            <a:srgbClr val="262626"/>
                          </a:solidFill>
                        </a:rPr>
                        <a:t>Which things?</a:t>
                      </a:r>
                    </a:p>
                  </a:txBody>
                  <a:tcPr marL="73152" marR="73152" marT="36576" marB="36576" anchor="ctr">
                    <a:solidFill>
                      <a:srgbClr val="DCE6F2"/>
                    </a:solidFill>
                  </a:tcPr>
                </a:tc>
                <a:tc>
                  <a:txBody>
                    <a:bodyPr/>
                    <a:lstStyle/>
                    <a:p>
                      <a:pPr marL="0" indent="0">
                        <a:buNone/>
                      </a:pPr>
                      <a:r>
                        <a:rPr sz="1600" b="0">
                          <a:solidFill>
                            <a:srgbClr val="262626"/>
                          </a:solidFill>
                        </a:rPr>
                        <a:t>Instances vs classes: which user, every or some?</a:t>
                      </a:r>
                    </a:p>
                  </a:txBody>
                  <a:tcPr marL="73152" marR="73152" marT="36576" marB="36576" anchor="ctr">
                    <a:solidFill>
                      <a:srgbClr val="FFFFFF"/>
                    </a:solidFill>
                  </a:tcPr>
                </a:tc>
                <a:tc>
                  <a:txBody>
                    <a:bodyPr/>
                    <a:lstStyle/>
                    <a:p>
                      <a:pPr marL="0" indent="0">
                        <a:buNone/>
                      </a:pPr>
                      <a:r>
                        <a:rPr sz="1600" b="0">
                          <a:solidFill>
                            <a:srgbClr val="262626"/>
                          </a:solidFill>
                        </a:rPr>
                        <a:t>"the user", "the system"</a:t>
                      </a:r>
                    </a:p>
                  </a:txBody>
                  <a:tcPr marL="73152" marR="73152" marT="36576" marB="36576" anchor="ctr">
                    <a:solidFill>
                      <a:srgbClr val="FFFFFF"/>
                    </a:solidFill>
                  </a:tcPr>
                </a:tc>
                <a:extLst>
                  <a:ext uri="{0D108BD9-81ED-4DB2-BD59-A6C34878D82A}">
                    <a16:rowId xmlns:a16="http://schemas.microsoft.com/office/drawing/2014/main" val="10001"/>
                  </a:ext>
                </a:extLst>
              </a:tr>
              <a:tr h="621792">
                <a:tc>
                  <a:txBody>
                    <a:bodyPr/>
                    <a:lstStyle/>
                    <a:p>
                      <a:pPr marL="0" indent="0">
                        <a:buNone/>
                      </a:pPr>
                      <a:r>
                        <a:rPr sz="1600" b="1">
                          <a:solidFill>
                            <a:srgbClr val="262626"/>
                          </a:solidFill>
                        </a:rPr>
                        <a:t>Which value?</a:t>
                      </a:r>
                    </a:p>
                  </a:txBody>
                  <a:tcPr marL="73152" marR="73152" marT="36576" marB="36576" anchor="ctr">
                    <a:solidFill>
                      <a:srgbClr val="DCE6F2"/>
                    </a:solidFill>
                  </a:tcPr>
                </a:tc>
                <a:tc>
                  <a:txBody>
                    <a:bodyPr/>
                    <a:lstStyle/>
                    <a:p>
                      <a:pPr marL="0" indent="0">
                        <a:buNone/>
                      </a:pPr>
                      <a:r>
                        <a:rPr sz="1600" b="0">
                          <a:solidFill>
                            <a:srgbClr val="262626"/>
                          </a:solidFill>
                        </a:rPr>
                        <a:t>Attribute, unit and reference</a:t>
                      </a:r>
                    </a:p>
                  </a:txBody>
                  <a:tcPr marL="73152" marR="73152" marT="36576" marB="36576" anchor="ctr">
                    <a:solidFill>
                      <a:srgbClr val="F2F2F2"/>
                    </a:solidFill>
                  </a:tcPr>
                </a:tc>
                <a:tc>
                  <a:txBody>
                    <a:bodyPr/>
                    <a:lstStyle/>
                    <a:p>
                      <a:pPr marL="0" indent="0">
                        <a:buNone/>
                      </a:pPr>
                      <a:r>
                        <a:rPr sz="1600" b="0">
                          <a:solidFill>
                            <a:srgbClr val="262626"/>
                          </a:solidFill>
                        </a:rPr>
                        <a:t>"fast", "large", "accurate"</a:t>
                      </a:r>
                    </a:p>
                  </a:txBody>
                  <a:tcPr marL="73152" marR="73152" marT="36576" marB="36576" anchor="ctr">
                    <a:solidFill>
                      <a:srgbClr val="F2F2F2"/>
                    </a:solidFill>
                  </a:tcPr>
                </a:tc>
                <a:extLst>
                  <a:ext uri="{0D108BD9-81ED-4DB2-BD59-A6C34878D82A}">
                    <a16:rowId xmlns:a16="http://schemas.microsoft.com/office/drawing/2014/main" val="10002"/>
                  </a:ext>
                </a:extLst>
              </a:tr>
              <a:tr h="621792">
                <a:tc>
                  <a:txBody>
                    <a:bodyPr/>
                    <a:lstStyle/>
                    <a:p>
                      <a:pPr marL="0" indent="0">
                        <a:buNone/>
                      </a:pPr>
                      <a:r>
                        <a:rPr sz="1600" b="1">
                          <a:solidFill>
                            <a:srgbClr val="262626"/>
                          </a:solidFill>
                        </a:rPr>
                        <a:t>When?</a:t>
                      </a:r>
                    </a:p>
                  </a:txBody>
                  <a:tcPr marL="73152" marR="73152" marT="36576" marB="36576" anchor="ctr">
                    <a:solidFill>
                      <a:srgbClr val="DCE6F2"/>
                    </a:solidFill>
                  </a:tcPr>
                </a:tc>
                <a:tc>
                  <a:txBody>
                    <a:bodyPr/>
                    <a:lstStyle/>
                    <a:p>
                      <a:pPr marL="0" indent="0">
                        <a:buNone/>
                      </a:pPr>
                      <a:r>
                        <a:rPr sz="1600" b="0">
                          <a:solidFill>
                            <a:srgbClr val="262626"/>
                          </a:solidFill>
                        </a:rPr>
                        <a:t>Always, within X s of an event, or in a state</a:t>
                      </a:r>
                    </a:p>
                  </a:txBody>
                  <a:tcPr marL="73152" marR="73152" marT="36576" marB="36576" anchor="ctr">
                    <a:solidFill>
                      <a:srgbClr val="FFFFFF"/>
                    </a:solidFill>
                  </a:tcPr>
                </a:tc>
                <a:tc>
                  <a:txBody>
                    <a:bodyPr/>
                    <a:lstStyle/>
                    <a:p>
                      <a:pPr marL="0" indent="0">
                        <a:buNone/>
                      </a:pPr>
                      <a:r>
                        <a:rPr sz="1600" b="0">
                          <a:solidFill>
                            <a:srgbClr val="262626"/>
                          </a:solidFill>
                        </a:rPr>
                        <a:t>"quickly", "regularly", "after"</a:t>
                      </a:r>
                    </a:p>
                  </a:txBody>
                  <a:tcPr marL="73152" marR="73152" marT="36576" marB="36576" anchor="ctr">
                    <a:solidFill>
                      <a:srgbClr val="FFFFFF"/>
                    </a:solidFill>
                  </a:tcPr>
                </a:tc>
                <a:extLst>
                  <a:ext uri="{0D108BD9-81ED-4DB2-BD59-A6C34878D82A}">
                    <a16:rowId xmlns:a16="http://schemas.microsoft.com/office/drawing/2014/main" val="10003"/>
                  </a:ext>
                </a:extLst>
              </a:tr>
              <a:tr h="621792">
                <a:tc>
                  <a:txBody>
                    <a:bodyPr/>
                    <a:lstStyle/>
                    <a:p>
                      <a:pPr marL="0" indent="0">
                        <a:buNone/>
                      </a:pPr>
                      <a:r>
                        <a:rPr sz="1600" b="1">
                          <a:solidFill>
                            <a:srgbClr val="262626"/>
                          </a:solidFill>
                        </a:rPr>
                        <a:t>How many or how often?</a:t>
                      </a:r>
                    </a:p>
                  </a:txBody>
                  <a:tcPr marL="73152" marR="73152" marT="36576" marB="36576" anchor="ctr">
                    <a:solidFill>
                      <a:srgbClr val="DCE6F2"/>
                    </a:solidFill>
                  </a:tcPr>
                </a:tc>
                <a:tc>
                  <a:txBody>
                    <a:bodyPr/>
                    <a:lstStyle/>
                    <a:p>
                      <a:pPr marL="0" indent="0">
                        <a:buNone/>
                      </a:pPr>
                      <a:r>
                        <a:rPr sz="1600" b="0">
                          <a:solidFill>
                            <a:srgbClr val="262626"/>
                          </a:solidFill>
                        </a:rPr>
                        <a:t>All, at least one, or a percentage</a:t>
                      </a:r>
                    </a:p>
                  </a:txBody>
                  <a:tcPr marL="73152" marR="73152" marT="36576" marB="36576" anchor="ctr">
                    <a:solidFill>
                      <a:srgbClr val="F2F2F2"/>
                    </a:solidFill>
                  </a:tcPr>
                </a:tc>
                <a:tc>
                  <a:txBody>
                    <a:bodyPr/>
                    <a:lstStyle/>
                    <a:p>
                      <a:pPr marL="0" indent="0">
                        <a:buNone/>
                      </a:pPr>
                      <a:r>
                        <a:rPr sz="1600" b="0" dirty="0">
                          <a:solidFill>
                            <a:srgbClr val="262626"/>
                          </a:solidFill>
                        </a:rPr>
                        <a:t>"users", "</a:t>
                      </a:r>
                      <a:r>
                        <a:rPr sz="1600" b="0" dirty="0" err="1">
                          <a:solidFill>
                            <a:srgbClr val="262626"/>
                          </a:solidFill>
                        </a:rPr>
                        <a:t>most","sometimes</a:t>
                      </a:r>
                      <a:r>
                        <a:rPr sz="1600" b="0" dirty="0">
                          <a:solidFill>
                            <a:srgbClr val="262626"/>
                          </a:solidFill>
                        </a:rPr>
                        <a:t>"</a:t>
                      </a:r>
                    </a:p>
                  </a:txBody>
                  <a:tcPr marL="73152" marR="73152" marT="36576" marB="36576" anchor="ctr">
                    <a:solidFill>
                      <a:srgbClr val="F2F2F2"/>
                    </a:solidFill>
                  </a:tcPr>
                </a:tc>
                <a:extLst>
                  <a:ext uri="{0D108BD9-81ED-4DB2-BD59-A6C34878D82A}">
                    <a16:rowId xmlns:a16="http://schemas.microsoft.com/office/drawing/2014/main" val="10004"/>
                  </a:ext>
                </a:extLst>
              </a:tr>
              <a:tr h="621792">
                <a:tc>
                  <a:txBody>
                    <a:bodyPr/>
                    <a:lstStyle/>
                    <a:p>
                      <a:pPr marL="0" indent="0">
                        <a:buNone/>
                      </a:pPr>
                      <a:r>
                        <a:rPr sz="1600" b="1">
                          <a:solidFill>
                            <a:srgbClr val="262626"/>
                          </a:solidFill>
                        </a:rPr>
                        <a:t>Under what condition?</a:t>
                      </a:r>
                    </a:p>
                  </a:txBody>
                  <a:tcPr marL="73152" marR="73152" marT="36576" marB="36576" anchor="ctr">
                    <a:solidFill>
                      <a:srgbClr val="DCE6F2"/>
                    </a:solidFill>
                  </a:tcPr>
                </a:tc>
                <a:tc>
                  <a:txBody>
                    <a:bodyPr/>
                    <a:lstStyle/>
                    <a:p>
                      <a:pPr marL="0" indent="0">
                        <a:buNone/>
                      </a:pPr>
                      <a:r>
                        <a:rPr sz="1600" b="0">
                          <a:solidFill>
                            <a:srgbClr val="262626"/>
                          </a:solidFill>
                        </a:rPr>
                        <a:t>The trigger and what should follow</a:t>
                      </a:r>
                    </a:p>
                  </a:txBody>
                  <a:tcPr marL="73152" marR="73152" marT="36576" marB="36576" anchor="ctr">
                    <a:solidFill>
                      <a:srgbClr val="FFFFFF"/>
                    </a:solidFill>
                  </a:tcPr>
                </a:tc>
                <a:tc>
                  <a:txBody>
                    <a:bodyPr/>
                    <a:lstStyle/>
                    <a:p>
                      <a:pPr marL="0" indent="0">
                        <a:buNone/>
                      </a:pPr>
                      <a:r>
                        <a:rPr sz="1600" b="0" dirty="0">
                          <a:solidFill>
                            <a:srgbClr val="262626"/>
                          </a:solidFill>
                        </a:rPr>
                        <a:t>"when needed", "if possible"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Rectangle 3"/>
          <p:cNvSpPr/>
          <p:nvPr/>
        </p:nvSpPr>
        <p:spPr>
          <a:xfrm>
            <a:off x="457200" y="5074920"/>
            <a:ext cx="8229600" cy="868680"/>
          </a:xfrm>
          <a:prstGeom prst="rect">
            <a:avLst/>
          </a:prstGeom>
          <a:solidFill>
            <a:srgbClr val="DCE6F2"/>
          </a:solidFill>
          <a:ln>
            <a:noFill/>
          </a:ln>
          <a:effectLst/>
        </p:spPr>
        <p:txBody>
          <a:bodyPr wrap="square" lIns="182880" tIns="54864" rIns="182880" bIns="54864" rtlCol="0" anchor="ctr"/>
          <a:lstStyle/>
          <a:p>
            <a:pPr marL="0" indent="0" algn="l">
              <a:buNone/>
            </a:pPr>
            <a:r>
              <a:rPr sz="1600" b="0">
                <a:solidFill>
                  <a:srgbClr val="262626"/>
                </a:solidFill>
              </a:rPr>
              <a:t>Every requirement is a statement about things, values, time, quantity and conditions. Writing it as a logical statement makes any gap visible.</a:t>
            </a:r>
          </a:p>
        </p:txBody>
      </p:sp>
      <p:sp>
        <p:nvSpPr>
          <p:cNvPr id="5" name="TextBox 4"/>
          <p:cNvSpPr txBox="1"/>
          <p:nvPr/>
        </p:nvSpPr>
        <p:spPr>
          <a:xfrm>
            <a:off x="457200" y="5989320"/>
            <a:ext cx="8229600" cy="274320"/>
          </a:xfrm>
          <a:prstGeom prst="rect">
            <a:avLst/>
          </a:prstGeom>
          <a:noFill/>
        </p:spPr>
        <p:txBody>
          <a:bodyPr wrap="square" lIns="73152" tIns="54864" rIns="73152" bIns="54864" anchor="t">
            <a:spAutoFit/>
          </a:bodyPr>
          <a:lstStyle/>
          <a:p>
            <a:pPr marL="0" indent="0" algn="l">
              <a:buNone/>
            </a:pPr>
            <a:r>
              <a:rPr sz="1100" b="0" dirty="0">
                <a:solidFill>
                  <a:srgbClr val="595959"/>
                </a:solidFill>
              </a:rPr>
              <a:t>Adapted from ideas in "Introduction to Representing Sentences as Logical Statements" (</a:t>
            </a:r>
            <a:r>
              <a:rPr sz="1100" b="0" dirty="0" err="1">
                <a:solidFill>
                  <a:srgbClr val="595959"/>
                </a:solidFill>
              </a:rPr>
              <a:t>LessWrong</a:t>
            </a:r>
            <a:r>
              <a:rPr sz="1100" b="0" dirty="0">
                <a:solidFill>
                  <a:srgbClr val="595959"/>
                </a:solidFill>
              </a:rPr>
              <a:t>, 2025).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A Requirement Read as Logic</a:t>
            </a:r>
          </a:p>
        </p:txBody>
      </p:sp>
      <p:sp>
        <p:nvSpPr>
          <p:cNvPr id="3" name="Rectangle 2"/>
          <p:cNvSpPr/>
          <p:nvPr/>
        </p:nvSpPr>
        <p:spPr>
          <a:xfrm>
            <a:off x="457200" y="1097280"/>
            <a:ext cx="8229600" cy="822960"/>
          </a:xfrm>
          <a:prstGeom prst="rect">
            <a:avLst/>
          </a:prstGeom>
          <a:solidFill>
            <a:srgbClr val="F2F2F2"/>
          </a:solidFill>
          <a:ln>
            <a:noFill/>
          </a:ln>
          <a:effectLst/>
        </p:spPr>
        <p:txBody>
          <a:bodyPr wrap="square" lIns="182880" tIns="54864" rIns="182880" bIns="54864" rtlCol="0" anchor="ctr"/>
          <a:lstStyle/>
          <a:p>
            <a:pPr marL="0" indent="0" algn="l">
              <a:buNone/>
            </a:pPr>
            <a:r>
              <a:rPr sz="1700" b="0" i="1">
                <a:solidFill>
                  <a:srgbClr val="262626"/>
                </a:solidFill>
              </a:rPr>
              <a:t>"The recommendation engine shall suggest three relevant videos after a student completes a module."</a:t>
            </a:r>
          </a:p>
        </p:txBody>
      </p:sp>
      <p:sp>
        <p:nvSpPr>
          <p:cNvPr id="4" name="Rectangle 3"/>
          <p:cNvSpPr/>
          <p:nvPr/>
        </p:nvSpPr>
        <p:spPr>
          <a:xfrm>
            <a:off x="457200" y="2011680"/>
            <a:ext cx="8229600" cy="1508760"/>
          </a:xfrm>
          <a:prstGeom prst="rect">
            <a:avLst/>
          </a:prstGeom>
          <a:solidFill>
            <a:srgbClr val="DCE6F2"/>
          </a:solidFill>
          <a:ln>
            <a:noFill/>
          </a:ln>
          <a:effectLst/>
        </p:spPr>
        <p:txBody>
          <a:bodyPr wrap="square" lIns="182880" tIns="54864" rIns="182880" bIns="54864" rtlCol="0" anchor="ctr"/>
          <a:lstStyle/>
          <a:p>
            <a:pPr marL="0" indent="0" algn="l">
              <a:spcAft>
                <a:spcPts val="200"/>
              </a:spcAft>
              <a:buNone/>
            </a:pPr>
            <a:r>
              <a:rPr sz="1700" b="0">
                <a:solidFill>
                  <a:srgbClr val="1F497D"/>
                </a:solidFill>
              </a:rPr>
              <a:t>∀ s ∈ Student, ∀ m ∈ Module:</a:t>
            </a:r>
          </a:p>
          <a:p>
            <a:pPr marL="0" indent="0" algn="l">
              <a:spcAft>
                <a:spcPts val="200"/>
              </a:spcAft>
              <a:buNone/>
            </a:pPr>
            <a:r>
              <a:rPr sz="1700" b="0">
                <a:solidFill>
                  <a:srgbClr val="1F497D"/>
                </a:solidFill>
              </a:rPr>
              <a:t>   completes(s, m, t)  ⇒  ∃ R ⊆ Video:</a:t>
            </a:r>
          </a:p>
          <a:p>
            <a:pPr marL="0" indent="0" algn="l">
              <a:buNone/>
            </a:pPr>
            <a:r>
              <a:rPr sz="1700" b="0">
                <a:solidFill>
                  <a:srgbClr val="1F497D"/>
                </a:solidFill>
              </a:rPr>
              <a:t>       |R| = 3  ∧  ∀ v ∈ R: relevant(v, s)  ∧  suggested(s, R, t′)  ∧  t &lt; t′ ≤ t + Δ</a:t>
            </a:r>
          </a:p>
        </p:txBody>
      </p:sp>
      <p:sp>
        <p:nvSpPr>
          <p:cNvPr id="5" name="TextBox 4"/>
          <p:cNvSpPr txBox="1"/>
          <p:nvPr/>
        </p:nvSpPr>
        <p:spPr>
          <a:xfrm>
            <a:off x="457200" y="3611880"/>
            <a:ext cx="8229600" cy="411480"/>
          </a:xfrm>
          <a:prstGeom prst="rect">
            <a:avLst/>
          </a:prstGeom>
          <a:noFill/>
        </p:spPr>
        <p:txBody>
          <a:bodyPr wrap="square" lIns="73152" tIns="54864" rIns="73152" bIns="54864" anchor="t">
            <a:spAutoFit/>
          </a:bodyPr>
          <a:lstStyle/>
          <a:p>
            <a:pPr marL="0" indent="0" algn="l">
              <a:buNone/>
            </a:pPr>
            <a:r>
              <a:rPr sz="1800" b="1">
                <a:solidFill>
                  <a:srgbClr val="1F497D"/>
                </a:solidFill>
              </a:rPr>
              <a:t>Questions the logic forces us to ask:</a:t>
            </a:r>
          </a:p>
        </p:txBody>
      </p:sp>
      <p:sp>
        <p:nvSpPr>
          <p:cNvPr id="6" name="TextBox 5"/>
          <p:cNvSpPr txBox="1"/>
          <p:nvPr/>
        </p:nvSpPr>
        <p:spPr>
          <a:xfrm>
            <a:off x="457200" y="4023360"/>
            <a:ext cx="8229600" cy="219456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700" b="1">
                <a:solidFill>
                  <a:srgbClr val="262626"/>
                </a:solidFill>
              </a:rPr>
              <a:t>What does relevant mean? </a:t>
            </a:r>
            <a:r>
              <a:rPr sz="1700" b="0">
                <a:solidFill>
                  <a:srgbClr val="262626"/>
                </a:solidFill>
              </a:rPr>
              <a:t>Define it with a measure, e.g. rated relevant by at least 80% of students.</a:t>
            </a:r>
          </a:p>
          <a:p>
            <a:pPr marL="285750" indent="-285750" algn="l">
              <a:spcAft>
                <a:spcPts val="600"/>
              </a:spcAft>
              <a:buFont typeface="Arial"/>
              <a:buChar char="•"/>
            </a:pPr>
            <a:r>
              <a:rPr sz="1700" b="1">
                <a:solidFill>
                  <a:srgbClr val="262626"/>
                </a:solidFill>
              </a:rPr>
              <a:t>What is Δ? </a:t>
            </a:r>
            <a:r>
              <a:rPr sz="1700" b="0">
                <a:solidFill>
                  <a:srgbClr val="262626"/>
                </a:solidFill>
              </a:rPr>
              <a:t>"After" needs a time limit: within 5 seconds?</a:t>
            </a:r>
          </a:p>
          <a:p>
            <a:pPr marL="285750" indent="-285750" algn="l">
              <a:spcAft>
                <a:spcPts val="600"/>
              </a:spcAft>
              <a:buFont typeface="Arial"/>
              <a:buChar char="•"/>
            </a:pPr>
            <a:r>
              <a:rPr sz="1700" b="1">
                <a:solidFill>
                  <a:srgbClr val="262626"/>
                </a:solidFill>
              </a:rPr>
              <a:t>Which students? </a:t>
            </a:r>
            <a:r>
              <a:rPr sz="1700" b="0">
                <a:solidFill>
                  <a:srgbClr val="262626"/>
                </a:solidFill>
              </a:rPr>
              <a:t>All students, or only those enrolled? (the quantifier)</a:t>
            </a:r>
          </a:p>
          <a:p>
            <a:pPr marL="285750" indent="-285750" algn="l">
              <a:spcAft>
                <a:spcPts val="600"/>
              </a:spcAft>
              <a:buFont typeface="Arial"/>
              <a:buChar char="•"/>
            </a:pPr>
            <a:r>
              <a:rPr sz="1700" b="1">
                <a:solidFill>
                  <a:srgbClr val="262626"/>
                </a:solidFill>
              </a:rPr>
              <a:t>What if fewer than three videos exist? </a:t>
            </a:r>
            <a:r>
              <a:rPr sz="1700" b="0">
                <a:solidFill>
                  <a:srgbClr val="262626"/>
                </a:solidFill>
              </a:rPr>
              <a:t>A missing case: the requirement is incomplete.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Sentence Templates: EARS</a:t>
            </a:r>
          </a:p>
        </p:txBody>
      </p:sp>
      <p:graphicFrame>
        <p:nvGraphicFramePr>
          <p:cNvPr id="3" name="Table 2"/>
          <p:cNvGraphicFramePr>
            <a:graphicFrameLocks noGrp="1"/>
          </p:cNvGraphicFramePr>
          <p:nvPr/>
        </p:nvGraphicFramePr>
        <p:xfrm>
          <a:off x="365760" y="1143000"/>
          <a:ext cx="8412480" cy="4279392"/>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713232">
                <a:tc>
                  <a:txBody>
                    <a:bodyPr/>
                    <a:lstStyle/>
                    <a:p>
                      <a:pPr marL="0" indent="0">
                        <a:buNone/>
                      </a:pPr>
                      <a:r>
                        <a:rPr sz="1400" b="1">
                          <a:solidFill>
                            <a:srgbClr val="FFFFFF"/>
                          </a:solidFill>
                        </a:rPr>
                        <a:t>Pattern</a:t>
                      </a:r>
                    </a:p>
                  </a:txBody>
                  <a:tcPr marL="73152" marR="73152" marT="36576" marB="36576" anchor="ctr">
                    <a:solidFill>
                      <a:srgbClr val="1F497D"/>
                    </a:solidFill>
                  </a:tcPr>
                </a:tc>
                <a:tc>
                  <a:txBody>
                    <a:bodyPr/>
                    <a:lstStyle/>
                    <a:p>
                      <a:pPr marL="0" indent="0">
                        <a:buNone/>
                      </a:pPr>
                      <a:r>
                        <a:rPr sz="1400" b="1">
                          <a:solidFill>
                            <a:srgbClr val="FFFFFF"/>
                          </a:solidFill>
                        </a:rPr>
                        <a:t>Template</a:t>
                      </a:r>
                    </a:p>
                  </a:txBody>
                  <a:tcPr marL="73152" marR="73152" marT="36576" marB="36576" anchor="ctr">
                    <a:solidFill>
                      <a:srgbClr val="1F497D"/>
                    </a:solidFill>
                  </a:tcPr>
                </a:tc>
                <a:tc>
                  <a:txBody>
                    <a:bodyPr/>
                    <a:lstStyle/>
                    <a:p>
                      <a:pPr marL="0" indent="0">
                        <a:buNone/>
                      </a:pPr>
                      <a:r>
                        <a:rPr sz="1400" b="1">
                          <a:solidFill>
                            <a:srgbClr val="FFFFFF"/>
                          </a:solidFill>
                        </a:rPr>
                        <a:t>Smart Study Room example</a:t>
                      </a:r>
                    </a:p>
                  </a:txBody>
                  <a:tcPr marL="73152" marR="73152" marT="36576" marB="36576" anchor="ctr">
                    <a:solidFill>
                      <a:srgbClr val="1F497D"/>
                    </a:solidFill>
                  </a:tcPr>
                </a:tc>
                <a:extLst>
                  <a:ext uri="{0D108BD9-81ED-4DB2-BD59-A6C34878D82A}">
                    <a16:rowId xmlns:a16="http://schemas.microsoft.com/office/drawing/2014/main" val="10000"/>
                  </a:ext>
                </a:extLst>
              </a:tr>
              <a:tr h="713232">
                <a:tc>
                  <a:txBody>
                    <a:bodyPr/>
                    <a:lstStyle/>
                    <a:p>
                      <a:pPr marL="0" indent="0">
                        <a:buNone/>
                      </a:pPr>
                      <a:r>
                        <a:rPr sz="1400" b="1">
                          <a:solidFill>
                            <a:srgbClr val="262626"/>
                          </a:solidFill>
                        </a:rPr>
                        <a:t>Ubiquitous</a:t>
                      </a:r>
                    </a:p>
                  </a:txBody>
                  <a:tcPr marL="73152" marR="73152" marT="36576" marB="36576" anchor="ctr">
                    <a:solidFill>
                      <a:srgbClr val="DCE6F2"/>
                    </a:solidFill>
                  </a:tcPr>
                </a:tc>
                <a:tc>
                  <a:txBody>
                    <a:bodyPr/>
                    <a:lstStyle/>
                    <a:p>
                      <a:pPr marL="0" indent="0">
                        <a:buNone/>
                      </a:pPr>
                      <a:r>
                        <a:rPr sz="1400" b="0">
                          <a:solidFill>
                            <a:srgbClr val="262626"/>
                          </a:solidFill>
                        </a:rPr>
                        <a:t>The &lt;system&gt; shall &lt;response&gt;</a:t>
                      </a:r>
                    </a:p>
                  </a:txBody>
                  <a:tcPr marL="73152" marR="73152" marT="36576" marB="36576" anchor="ctr">
                    <a:solidFill>
                      <a:srgbClr val="FFFFFF"/>
                    </a:solidFill>
                  </a:tcPr>
                </a:tc>
                <a:tc>
                  <a:txBody>
                    <a:bodyPr/>
                    <a:lstStyle/>
                    <a:p>
                      <a:pPr marL="0" indent="0">
                        <a:buNone/>
                      </a:pPr>
                      <a:r>
                        <a:rPr sz="1400" b="0">
                          <a:solidFill>
                            <a:srgbClr val="262626"/>
                          </a:solidFill>
                        </a:rPr>
                        <a:t>The dashboard shall display the room name with every reading.</a:t>
                      </a:r>
                    </a:p>
                  </a:txBody>
                  <a:tcPr marL="73152" marR="73152" marT="36576" marB="36576" anchor="ctr">
                    <a:solidFill>
                      <a:srgbClr val="FFFFFF"/>
                    </a:solidFill>
                  </a:tcPr>
                </a:tc>
                <a:extLst>
                  <a:ext uri="{0D108BD9-81ED-4DB2-BD59-A6C34878D82A}">
                    <a16:rowId xmlns:a16="http://schemas.microsoft.com/office/drawing/2014/main" val="10001"/>
                  </a:ext>
                </a:extLst>
              </a:tr>
              <a:tr h="713232">
                <a:tc>
                  <a:txBody>
                    <a:bodyPr/>
                    <a:lstStyle/>
                    <a:p>
                      <a:pPr marL="0" indent="0">
                        <a:buNone/>
                      </a:pPr>
                      <a:r>
                        <a:rPr sz="1400" b="1">
                          <a:solidFill>
                            <a:srgbClr val="262626"/>
                          </a:solidFill>
                        </a:rPr>
                        <a:t>Event-driven</a:t>
                      </a:r>
                    </a:p>
                  </a:txBody>
                  <a:tcPr marL="73152" marR="73152" marT="36576" marB="36576" anchor="ctr">
                    <a:solidFill>
                      <a:srgbClr val="DCE6F2"/>
                    </a:solidFill>
                  </a:tcPr>
                </a:tc>
                <a:tc>
                  <a:txBody>
                    <a:bodyPr/>
                    <a:lstStyle/>
                    <a:p>
                      <a:pPr marL="0" indent="0">
                        <a:buNone/>
                      </a:pPr>
                      <a:r>
                        <a:rPr sz="1400" b="0">
                          <a:solidFill>
                            <a:srgbClr val="262626"/>
                          </a:solidFill>
                        </a:rPr>
                        <a:t>When &lt;trigger&gt;, the &lt;system&gt; shall &lt;response&gt;</a:t>
                      </a:r>
                    </a:p>
                  </a:txBody>
                  <a:tcPr marL="73152" marR="73152" marT="36576" marB="36576" anchor="ctr">
                    <a:solidFill>
                      <a:srgbClr val="F2F2F2"/>
                    </a:solidFill>
                  </a:tcPr>
                </a:tc>
                <a:tc>
                  <a:txBody>
                    <a:bodyPr/>
                    <a:lstStyle/>
                    <a:p>
                      <a:pPr marL="0" indent="0">
                        <a:buNone/>
                      </a:pPr>
                      <a:r>
                        <a:rPr sz="1400" b="0">
                          <a:solidFill>
                            <a:srgbClr val="262626"/>
                          </a:solidFill>
                        </a:rPr>
                        <a:t>When occupancy exceeds capacity, the dashboard shall mark the room full within 2 s.</a:t>
                      </a:r>
                    </a:p>
                  </a:txBody>
                  <a:tcPr marL="73152" marR="73152" marT="36576" marB="36576" anchor="ctr">
                    <a:solidFill>
                      <a:srgbClr val="F2F2F2"/>
                    </a:solidFill>
                  </a:tcPr>
                </a:tc>
                <a:extLst>
                  <a:ext uri="{0D108BD9-81ED-4DB2-BD59-A6C34878D82A}">
                    <a16:rowId xmlns:a16="http://schemas.microsoft.com/office/drawing/2014/main" val="10002"/>
                  </a:ext>
                </a:extLst>
              </a:tr>
              <a:tr h="713232">
                <a:tc>
                  <a:txBody>
                    <a:bodyPr/>
                    <a:lstStyle/>
                    <a:p>
                      <a:pPr marL="0" indent="0">
                        <a:buNone/>
                      </a:pPr>
                      <a:r>
                        <a:rPr sz="1400" b="1">
                          <a:solidFill>
                            <a:srgbClr val="262626"/>
                          </a:solidFill>
                        </a:rPr>
                        <a:t>State-driven</a:t>
                      </a:r>
                    </a:p>
                  </a:txBody>
                  <a:tcPr marL="73152" marR="73152" marT="36576" marB="36576" anchor="ctr">
                    <a:solidFill>
                      <a:srgbClr val="DCE6F2"/>
                    </a:solidFill>
                  </a:tcPr>
                </a:tc>
                <a:tc>
                  <a:txBody>
                    <a:bodyPr/>
                    <a:lstStyle/>
                    <a:p>
                      <a:pPr marL="0" indent="0">
                        <a:buNone/>
                      </a:pPr>
                      <a:r>
                        <a:rPr sz="1400" b="0">
                          <a:solidFill>
                            <a:srgbClr val="262626"/>
                          </a:solidFill>
                        </a:rPr>
                        <a:t>While &lt;state&gt;, the &lt;system&gt; shall &lt;response&gt;</a:t>
                      </a:r>
                    </a:p>
                  </a:txBody>
                  <a:tcPr marL="73152" marR="73152" marT="36576" marB="36576" anchor="ctr">
                    <a:solidFill>
                      <a:srgbClr val="FFFFFF"/>
                    </a:solidFill>
                  </a:tcPr>
                </a:tc>
                <a:tc>
                  <a:txBody>
                    <a:bodyPr/>
                    <a:lstStyle/>
                    <a:p>
                      <a:pPr marL="0" indent="0">
                        <a:buNone/>
                      </a:pPr>
                      <a:r>
                        <a:rPr sz="1400" b="0">
                          <a:solidFill>
                            <a:srgbClr val="262626"/>
                          </a:solidFill>
                        </a:rPr>
                        <a:t>While a room is occupied, the sensor node shall report every 60 s.</a:t>
                      </a:r>
                    </a:p>
                  </a:txBody>
                  <a:tcPr marL="73152" marR="73152" marT="36576" marB="36576" anchor="ctr">
                    <a:solidFill>
                      <a:srgbClr val="FFFFFF"/>
                    </a:solidFill>
                  </a:tcPr>
                </a:tc>
                <a:extLst>
                  <a:ext uri="{0D108BD9-81ED-4DB2-BD59-A6C34878D82A}">
                    <a16:rowId xmlns:a16="http://schemas.microsoft.com/office/drawing/2014/main" val="10003"/>
                  </a:ext>
                </a:extLst>
              </a:tr>
              <a:tr h="713232">
                <a:tc>
                  <a:txBody>
                    <a:bodyPr/>
                    <a:lstStyle/>
                    <a:p>
                      <a:pPr marL="0" indent="0">
                        <a:buNone/>
                      </a:pPr>
                      <a:r>
                        <a:rPr sz="1400" b="1">
                          <a:solidFill>
                            <a:srgbClr val="262626"/>
                          </a:solidFill>
                        </a:rPr>
                        <a:t>Unwanted behaviour</a:t>
                      </a:r>
                    </a:p>
                  </a:txBody>
                  <a:tcPr marL="73152" marR="73152" marT="36576" marB="36576" anchor="ctr">
                    <a:solidFill>
                      <a:srgbClr val="DCE6F2"/>
                    </a:solidFill>
                  </a:tcPr>
                </a:tc>
                <a:tc>
                  <a:txBody>
                    <a:bodyPr/>
                    <a:lstStyle/>
                    <a:p>
                      <a:pPr marL="0" indent="0">
                        <a:buNone/>
                      </a:pPr>
                      <a:r>
                        <a:rPr sz="1400" b="0">
                          <a:solidFill>
                            <a:srgbClr val="262626"/>
                          </a:solidFill>
                        </a:rPr>
                        <a:t>If &lt;condition&gt;, then the &lt;system&gt; shall &lt;response&gt;</a:t>
                      </a:r>
                    </a:p>
                  </a:txBody>
                  <a:tcPr marL="73152" marR="73152" marT="36576" marB="36576" anchor="ctr">
                    <a:solidFill>
                      <a:srgbClr val="F2F2F2"/>
                    </a:solidFill>
                  </a:tcPr>
                </a:tc>
                <a:tc>
                  <a:txBody>
                    <a:bodyPr/>
                    <a:lstStyle/>
                    <a:p>
                      <a:pPr marL="0" indent="0">
                        <a:buNone/>
                      </a:pPr>
                      <a:r>
                        <a:rPr sz="1400" b="0">
                          <a:solidFill>
                            <a:srgbClr val="262626"/>
                          </a:solidFill>
                        </a:rPr>
                        <a:t>If a sensor node is silent for 5 min, then the dashboard shall show the room as "unknown".</a:t>
                      </a:r>
                    </a:p>
                  </a:txBody>
                  <a:tcPr marL="73152" marR="73152" marT="36576" marB="36576" anchor="ctr">
                    <a:solidFill>
                      <a:srgbClr val="F2F2F2"/>
                    </a:solidFill>
                  </a:tcPr>
                </a:tc>
                <a:extLst>
                  <a:ext uri="{0D108BD9-81ED-4DB2-BD59-A6C34878D82A}">
                    <a16:rowId xmlns:a16="http://schemas.microsoft.com/office/drawing/2014/main" val="10004"/>
                  </a:ext>
                </a:extLst>
              </a:tr>
              <a:tr h="713232">
                <a:tc>
                  <a:txBody>
                    <a:bodyPr/>
                    <a:lstStyle/>
                    <a:p>
                      <a:pPr marL="0" indent="0">
                        <a:buNone/>
                      </a:pPr>
                      <a:r>
                        <a:rPr sz="1400" b="1">
                          <a:solidFill>
                            <a:srgbClr val="262626"/>
                          </a:solidFill>
                        </a:rPr>
                        <a:t>Optional feature</a:t>
                      </a:r>
                    </a:p>
                  </a:txBody>
                  <a:tcPr marL="73152" marR="73152" marT="36576" marB="36576" anchor="ctr">
                    <a:solidFill>
                      <a:srgbClr val="DCE6F2"/>
                    </a:solidFill>
                  </a:tcPr>
                </a:tc>
                <a:tc>
                  <a:txBody>
                    <a:bodyPr/>
                    <a:lstStyle/>
                    <a:p>
                      <a:pPr marL="0" indent="0">
                        <a:buNone/>
                      </a:pPr>
                      <a:r>
                        <a:rPr sz="1400" b="0">
                          <a:solidFill>
                            <a:srgbClr val="262626"/>
                          </a:solidFill>
                        </a:rPr>
                        <a:t>Where &lt;feature&gt;, the &lt;system&gt; shall &lt;response&gt;</a:t>
                      </a:r>
                    </a:p>
                  </a:txBody>
                  <a:tcPr marL="73152" marR="73152" marT="36576" marB="36576" anchor="ctr">
                    <a:solidFill>
                      <a:srgbClr val="FFFFFF"/>
                    </a:solidFill>
                  </a:tcPr>
                </a:tc>
                <a:tc>
                  <a:txBody>
                    <a:bodyPr/>
                    <a:lstStyle/>
                    <a:p>
                      <a:pPr marL="0" indent="0">
                        <a:buNone/>
                      </a:pPr>
                      <a:r>
                        <a:rPr sz="1400" b="0">
                          <a:solidFill>
                            <a:srgbClr val="262626"/>
                          </a:solidFill>
                        </a:rPr>
                        <a:t>Where a noise sensor is fitted, the sensor node shall report sound level.</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457200" y="5532120"/>
            <a:ext cx="8229600" cy="640080"/>
          </a:xfrm>
          <a:prstGeom prst="rect">
            <a:avLst/>
          </a:prstGeom>
          <a:noFill/>
        </p:spPr>
        <p:txBody>
          <a:bodyPr wrap="square" lIns="73152" tIns="54864" rIns="73152" bIns="54864" anchor="ctr">
            <a:spAutoFit/>
          </a:bodyPr>
          <a:lstStyle/>
          <a:p>
            <a:pPr marL="0" indent="0" algn="l">
              <a:buNone/>
            </a:pPr>
            <a:r>
              <a:rPr sz="1400" b="0" dirty="0">
                <a:solidFill>
                  <a:srgbClr val="595959"/>
                </a:solidFill>
              </a:rPr>
              <a:t>EARS: Easy Approach to Requirements Syntax (Mavin et al., 2009). "When … shall …" is a cause-and-effect statement, the same shape as a logical implication.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Spot the Problem, Then Rewrite</a:t>
            </a:r>
          </a:p>
        </p:txBody>
      </p:sp>
      <p:graphicFrame>
        <p:nvGraphicFramePr>
          <p:cNvPr id="3" name="Table 2"/>
          <p:cNvGraphicFramePr>
            <a:graphicFrameLocks noGrp="1"/>
          </p:cNvGraphicFramePr>
          <p:nvPr/>
        </p:nvGraphicFramePr>
        <p:xfrm>
          <a:off x="365760" y="1143000"/>
          <a:ext cx="8412477" cy="4114800"/>
        </p:xfrm>
        <a:graphic>
          <a:graphicData uri="http://schemas.openxmlformats.org/drawingml/2006/table">
            <a:tbl>
              <a:tblPr firstRow="1" bandRow="1">
                <a:tableStyleId>{5C22544A-7EE6-4342-B048-85BDC9FD1C3A}</a:tableStyleId>
              </a:tblPr>
              <a:tblGrid>
                <a:gridCol w="2377439">
                  <a:extLst>
                    <a:ext uri="{9D8B030D-6E8A-4147-A177-3AD203B41FA5}">
                      <a16:colId xmlns:a16="http://schemas.microsoft.com/office/drawing/2014/main" val="20000"/>
                    </a:ext>
                  </a:extLst>
                </a:gridCol>
                <a:gridCol w="2011679">
                  <a:extLst>
                    <a:ext uri="{9D8B030D-6E8A-4147-A177-3AD203B41FA5}">
                      <a16:colId xmlns:a16="http://schemas.microsoft.com/office/drawing/2014/main" val="20001"/>
                    </a:ext>
                  </a:extLst>
                </a:gridCol>
                <a:gridCol w="4023359">
                  <a:extLst>
                    <a:ext uri="{9D8B030D-6E8A-4147-A177-3AD203B41FA5}">
                      <a16:colId xmlns:a16="http://schemas.microsoft.com/office/drawing/2014/main" val="20002"/>
                    </a:ext>
                  </a:extLst>
                </a:gridCol>
              </a:tblGrid>
              <a:tr h="822960">
                <a:tc>
                  <a:txBody>
                    <a:bodyPr/>
                    <a:lstStyle/>
                    <a:p>
                      <a:pPr marL="0" indent="0">
                        <a:buNone/>
                      </a:pPr>
                      <a:r>
                        <a:rPr sz="1500" b="1">
                          <a:solidFill>
                            <a:srgbClr val="FFFFFF"/>
                          </a:solidFill>
                        </a:rPr>
                        <a:t>Weak requirement</a:t>
                      </a:r>
                    </a:p>
                  </a:txBody>
                  <a:tcPr marL="73152" marR="73152" marT="36576" marB="36576" anchor="ctr">
                    <a:solidFill>
                      <a:srgbClr val="1F497D"/>
                    </a:solidFill>
                  </a:tcPr>
                </a:tc>
                <a:tc>
                  <a:txBody>
                    <a:bodyPr/>
                    <a:lstStyle/>
                    <a:p>
                      <a:pPr marL="0" indent="0">
                        <a:buNone/>
                      </a:pPr>
                      <a:r>
                        <a:rPr sz="1500" b="1">
                          <a:solidFill>
                            <a:srgbClr val="FFFFFF"/>
                          </a:solidFill>
                        </a:rPr>
                        <a:t>Problem</a:t>
                      </a:r>
                    </a:p>
                  </a:txBody>
                  <a:tcPr marL="73152" marR="73152" marT="36576" marB="36576" anchor="ctr">
                    <a:solidFill>
                      <a:srgbClr val="1F497D"/>
                    </a:solidFill>
                  </a:tcPr>
                </a:tc>
                <a:tc>
                  <a:txBody>
                    <a:bodyPr/>
                    <a:lstStyle/>
                    <a:p>
                      <a:pPr marL="0" indent="0">
                        <a:buNone/>
                      </a:pPr>
                      <a:r>
                        <a:rPr sz="1500" b="1">
                          <a:solidFill>
                            <a:srgbClr val="FFFFFF"/>
                          </a:solidFill>
                        </a:rPr>
                        <a:t>Better</a:t>
                      </a:r>
                    </a:p>
                  </a:txBody>
                  <a:tcPr marL="73152" marR="73152" marT="36576" marB="36576" anchor="ctr">
                    <a:solidFill>
                      <a:srgbClr val="1F497D"/>
                    </a:solidFill>
                  </a:tcPr>
                </a:tc>
                <a:extLst>
                  <a:ext uri="{0D108BD9-81ED-4DB2-BD59-A6C34878D82A}">
                    <a16:rowId xmlns:a16="http://schemas.microsoft.com/office/drawing/2014/main" val="10000"/>
                  </a:ext>
                </a:extLst>
              </a:tr>
              <a:tr h="822960">
                <a:tc>
                  <a:txBody>
                    <a:bodyPr/>
                    <a:lstStyle/>
                    <a:p>
                      <a:pPr marL="0" indent="0">
                        <a:buNone/>
                      </a:pPr>
                      <a:r>
                        <a:rPr sz="1500" b="1">
                          <a:solidFill>
                            <a:srgbClr val="262626"/>
                          </a:solidFill>
                        </a:rPr>
                        <a:t>The system should be secure.</a:t>
                      </a:r>
                    </a:p>
                  </a:txBody>
                  <a:tcPr marL="73152" marR="73152" marT="36576" marB="36576" anchor="ctr">
                    <a:solidFill>
                      <a:srgbClr val="F2DCDB"/>
                    </a:solidFill>
                  </a:tcPr>
                </a:tc>
                <a:tc>
                  <a:txBody>
                    <a:bodyPr/>
                    <a:lstStyle/>
                    <a:p>
                      <a:pPr marL="0" indent="0">
                        <a:buNone/>
                      </a:pPr>
                      <a:r>
                        <a:rPr sz="1500" b="0">
                          <a:solidFill>
                            <a:srgbClr val="262626"/>
                          </a:solidFill>
                        </a:rPr>
                        <a:t>Vague, "should" is weak, no test</a:t>
                      </a:r>
                    </a:p>
                  </a:txBody>
                  <a:tcPr marL="73152" marR="73152" marT="36576" marB="36576" anchor="ctr">
                    <a:solidFill>
                      <a:srgbClr val="FFFFFF"/>
                    </a:solidFill>
                  </a:tcPr>
                </a:tc>
                <a:tc>
                  <a:txBody>
                    <a:bodyPr/>
                    <a:lstStyle/>
                    <a:p>
                      <a:pPr marL="0" indent="0">
                        <a:buNone/>
                      </a:pPr>
                      <a:r>
                        <a:rPr sz="1500" b="0">
                          <a:solidFill>
                            <a:srgbClr val="262626"/>
                          </a:solidFill>
                        </a:rPr>
                        <a:t>Passwords shall be stored only as salted Argon2id hashes and never logged.</a:t>
                      </a:r>
                    </a:p>
                  </a:txBody>
                  <a:tcPr marL="73152" marR="73152" marT="36576" marB="36576" anchor="ctr">
                    <a:solidFill>
                      <a:srgbClr val="FFFFFF"/>
                    </a:solidFill>
                  </a:tcPr>
                </a:tc>
                <a:extLst>
                  <a:ext uri="{0D108BD9-81ED-4DB2-BD59-A6C34878D82A}">
                    <a16:rowId xmlns:a16="http://schemas.microsoft.com/office/drawing/2014/main" val="10001"/>
                  </a:ext>
                </a:extLst>
              </a:tr>
              <a:tr h="822960">
                <a:tc>
                  <a:txBody>
                    <a:bodyPr/>
                    <a:lstStyle/>
                    <a:p>
                      <a:pPr marL="0" indent="0">
                        <a:buNone/>
                      </a:pPr>
                      <a:r>
                        <a:rPr sz="1500" b="1">
                          <a:solidFill>
                            <a:srgbClr val="262626"/>
                          </a:solidFill>
                        </a:rPr>
                        <a:t>The interface shall be user-friendly.</a:t>
                      </a:r>
                    </a:p>
                  </a:txBody>
                  <a:tcPr marL="73152" marR="73152" marT="36576" marB="36576" anchor="ctr">
                    <a:solidFill>
                      <a:srgbClr val="F2DCDB"/>
                    </a:solidFill>
                  </a:tcPr>
                </a:tc>
                <a:tc>
                  <a:txBody>
                    <a:bodyPr/>
                    <a:lstStyle/>
                    <a:p>
                      <a:pPr marL="0" indent="0">
                        <a:buNone/>
                      </a:pPr>
                      <a:r>
                        <a:rPr sz="1500" b="0">
                          <a:solidFill>
                            <a:srgbClr val="262626"/>
                          </a:solidFill>
                        </a:rPr>
                        <a:t>Unmeasurable</a:t>
                      </a:r>
                    </a:p>
                  </a:txBody>
                  <a:tcPr marL="73152" marR="73152" marT="36576" marB="36576" anchor="ctr">
                    <a:solidFill>
                      <a:srgbClr val="F2F2F2"/>
                    </a:solidFill>
                  </a:tcPr>
                </a:tc>
                <a:tc>
                  <a:txBody>
                    <a:bodyPr/>
                    <a:lstStyle/>
                    <a:p>
                      <a:pPr marL="0" indent="0">
                        <a:buNone/>
                      </a:pPr>
                      <a:r>
                        <a:rPr sz="1500" b="0">
                          <a:solidFill>
                            <a:srgbClr val="262626"/>
                          </a:solidFill>
                        </a:rPr>
                        <a:t>90% of first-time users shall book a room within 2 minutes without help (test with 10 users).</a:t>
                      </a:r>
                    </a:p>
                  </a:txBody>
                  <a:tcPr marL="73152" marR="73152" marT="36576" marB="36576" anchor="ctr">
                    <a:solidFill>
                      <a:srgbClr val="F2F2F2"/>
                    </a:solidFill>
                  </a:tcPr>
                </a:tc>
                <a:extLst>
                  <a:ext uri="{0D108BD9-81ED-4DB2-BD59-A6C34878D82A}">
                    <a16:rowId xmlns:a16="http://schemas.microsoft.com/office/drawing/2014/main" val="10002"/>
                  </a:ext>
                </a:extLst>
              </a:tr>
              <a:tr h="822960">
                <a:tc>
                  <a:txBody>
                    <a:bodyPr/>
                    <a:lstStyle/>
                    <a:p>
                      <a:pPr marL="0" indent="0">
                        <a:buNone/>
                      </a:pPr>
                      <a:r>
                        <a:rPr sz="1500" b="1">
                          <a:solidFill>
                            <a:srgbClr val="262626"/>
                          </a:solidFill>
                        </a:rPr>
                        <a:t>The system shall be fast, reliable and support many users.</a:t>
                      </a:r>
                    </a:p>
                  </a:txBody>
                  <a:tcPr marL="73152" marR="73152" marT="36576" marB="36576" anchor="ctr">
                    <a:solidFill>
                      <a:srgbClr val="F2DCDB"/>
                    </a:solidFill>
                  </a:tcPr>
                </a:tc>
                <a:tc>
                  <a:txBody>
                    <a:bodyPr/>
                    <a:lstStyle/>
                    <a:p>
                      <a:pPr marL="0" indent="0">
                        <a:buNone/>
                      </a:pPr>
                      <a:r>
                        <a:rPr sz="1500" b="0">
                          <a:solidFill>
                            <a:srgbClr val="262626"/>
                          </a:solidFill>
                        </a:rPr>
                        <a:t>Three requirements in one; no values</a:t>
                      </a:r>
                    </a:p>
                  </a:txBody>
                  <a:tcPr marL="73152" marR="73152" marT="36576" marB="36576" anchor="ctr">
                    <a:solidFill>
                      <a:srgbClr val="FFFFFF"/>
                    </a:solidFill>
                  </a:tcPr>
                </a:tc>
                <a:tc>
                  <a:txBody>
                    <a:bodyPr/>
                    <a:lstStyle/>
                    <a:p>
                      <a:pPr marL="0" indent="0">
                        <a:buNone/>
                      </a:pPr>
                      <a:r>
                        <a:rPr sz="1500" b="0">
                          <a:solidFill>
                            <a:srgbClr val="262626"/>
                          </a:solidFill>
                        </a:rPr>
                        <a:t>Split it: 95% of page loads in 2 s at 100 users; availability of at least 99.5% per month.</a:t>
                      </a:r>
                    </a:p>
                  </a:txBody>
                  <a:tcPr marL="73152" marR="73152" marT="36576" marB="36576" anchor="ctr">
                    <a:solidFill>
                      <a:srgbClr val="FFFFFF"/>
                    </a:solidFill>
                  </a:tcPr>
                </a:tc>
                <a:extLst>
                  <a:ext uri="{0D108BD9-81ED-4DB2-BD59-A6C34878D82A}">
                    <a16:rowId xmlns:a16="http://schemas.microsoft.com/office/drawing/2014/main" val="10003"/>
                  </a:ext>
                </a:extLst>
              </a:tr>
              <a:tr h="822960">
                <a:tc>
                  <a:txBody>
                    <a:bodyPr/>
                    <a:lstStyle/>
                    <a:p>
                      <a:pPr marL="0" indent="0">
                        <a:buNone/>
                      </a:pPr>
                      <a:r>
                        <a:rPr sz="1500" b="1">
                          <a:solidFill>
                            <a:srgbClr val="262626"/>
                          </a:solidFill>
                        </a:rPr>
                        <a:t>The sensor shall be accurate.</a:t>
                      </a:r>
                    </a:p>
                  </a:txBody>
                  <a:tcPr marL="73152" marR="73152" marT="36576" marB="36576" anchor="ctr">
                    <a:solidFill>
                      <a:srgbClr val="F2DCDB"/>
                    </a:solidFill>
                  </a:tcPr>
                </a:tc>
                <a:tc>
                  <a:txBody>
                    <a:bodyPr/>
                    <a:lstStyle/>
                    <a:p>
                      <a:pPr marL="0" indent="0">
                        <a:buNone/>
                      </a:pPr>
                      <a:r>
                        <a:rPr sz="1500" b="0">
                          <a:solidFill>
                            <a:srgbClr val="262626"/>
                          </a:solidFill>
                        </a:rPr>
                        <a:t>No value, unit or reference</a:t>
                      </a:r>
                    </a:p>
                  </a:txBody>
                  <a:tcPr marL="73152" marR="73152" marT="36576" marB="36576" anchor="ctr">
                    <a:solidFill>
                      <a:srgbClr val="F2F2F2"/>
                    </a:solidFill>
                  </a:tcPr>
                </a:tc>
                <a:tc>
                  <a:txBody>
                    <a:bodyPr/>
                    <a:lstStyle/>
                    <a:p>
                      <a:pPr marL="0" indent="0">
                        <a:buNone/>
                      </a:pPr>
                      <a:r>
                        <a:rPr sz="1500" b="0">
                          <a:solidFill>
                            <a:srgbClr val="262626"/>
                          </a:solidFill>
                        </a:rPr>
                        <a:t>Temperature shall be within ±0.5 °C of a calibrated reference between 10 and 35 °C.</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457200" y="5440680"/>
            <a:ext cx="8229600" cy="640080"/>
          </a:xfrm>
          <a:prstGeom prst="rect">
            <a:avLst/>
          </a:prstGeom>
          <a:noFill/>
        </p:spPr>
        <p:txBody>
          <a:bodyPr wrap="square" lIns="73152" tIns="54864" rIns="73152" bIns="54864" anchor="ctr">
            <a:spAutoFit/>
          </a:bodyPr>
          <a:lstStyle/>
          <a:p>
            <a:pPr marL="0" indent="0" algn="l">
              <a:buNone/>
            </a:pPr>
            <a:r>
              <a:rPr sz="1400" b="0">
                <a:solidFill>
                  <a:srgbClr val="595959"/>
                </a:solidFill>
              </a:rPr>
              <a:t>Also watch for: NFRs left out of testing and out of the Agile Definition of Done, and requirements that describe a solution ("use MySQL") instead of a need.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Allocating an NFR Across Components</a:t>
            </a:r>
          </a:p>
        </p:txBody>
      </p:sp>
      <p:sp>
        <p:nvSpPr>
          <p:cNvPr id="3" name="Rectangle 2"/>
          <p:cNvSpPr/>
          <p:nvPr/>
        </p:nvSpPr>
        <p:spPr>
          <a:xfrm>
            <a:off x="457200" y="1097280"/>
            <a:ext cx="8229600" cy="640080"/>
          </a:xfrm>
          <a:prstGeom prst="rect">
            <a:avLst/>
          </a:prstGeom>
          <a:solidFill>
            <a:srgbClr val="F2F2F2"/>
          </a:solidFill>
          <a:ln>
            <a:noFill/>
          </a:ln>
          <a:effectLst/>
        </p:spPr>
        <p:txBody>
          <a:bodyPr wrap="square" lIns="182880" tIns="54864" rIns="182880" bIns="54864" rtlCol="0" anchor="ctr"/>
          <a:lstStyle/>
          <a:p>
            <a:pPr marL="0" indent="0" algn="l">
              <a:buNone/>
            </a:pPr>
            <a:r>
              <a:rPr sz="1800" b="1">
                <a:solidFill>
                  <a:srgbClr val="1F497D"/>
                </a:solidFill>
              </a:rPr>
              <a:t>System NFR: </a:t>
            </a:r>
            <a:r>
              <a:rPr sz="1800" b="0">
                <a:solidFill>
                  <a:srgbClr val="262626"/>
                </a:solidFill>
              </a:rPr>
              <a:t>a new sensor reading shall appear on the dashboard within 2 seconds.</a:t>
            </a:r>
          </a:p>
        </p:txBody>
      </p:sp>
      <p:sp>
        <p:nvSpPr>
          <p:cNvPr id="4" name="Rectangle 3"/>
          <p:cNvSpPr/>
          <p:nvPr/>
        </p:nvSpPr>
        <p:spPr>
          <a:xfrm>
            <a:off x="457200" y="2103120"/>
            <a:ext cx="1783080" cy="1554480"/>
          </a:xfrm>
          <a:prstGeom prst="rect">
            <a:avLst/>
          </a:prstGeom>
          <a:solidFill>
            <a:srgbClr val="FDE9D9"/>
          </a:solidFill>
          <a:ln>
            <a:noFill/>
          </a:ln>
          <a:effectLst/>
        </p:spPr>
        <p:txBody>
          <a:bodyPr wrap="square" lIns="73152" tIns="54864" rIns="73152" bIns="54864" rtlCol="0" anchor="ctr"/>
          <a:lstStyle/>
          <a:p>
            <a:pPr marL="0" indent="0" algn="ctr">
              <a:spcAft>
                <a:spcPts val="200"/>
              </a:spcAft>
              <a:buNone/>
            </a:pPr>
            <a:r>
              <a:rPr sz="1700" b="1">
                <a:solidFill>
                  <a:srgbClr val="E36C09"/>
                </a:solidFill>
              </a:rPr>
              <a:t>Sensor node</a:t>
            </a:r>
          </a:p>
          <a:p>
            <a:pPr marL="0" indent="0" algn="ctr">
              <a:spcAft>
                <a:spcPts val="600"/>
              </a:spcAft>
              <a:buNone/>
            </a:pPr>
            <a:r>
              <a:rPr sz="1300" b="0">
                <a:solidFill>
                  <a:srgbClr val="595959"/>
                </a:solidFill>
              </a:rPr>
              <a:t>hardware</a:t>
            </a:r>
          </a:p>
          <a:p>
            <a:pPr marL="0" indent="0" algn="ctr">
              <a:buNone/>
            </a:pPr>
            <a:r>
              <a:rPr sz="2400" b="1">
                <a:solidFill>
                  <a:srgbClr val="262626"/>
                </a:solidFill>
              </a:rPr>
              <a:t>0.5 s</a:t>
            </a:r>
          </a:p>
        </p:txBody>
      </p:sp>
      <p:sp>
        <p:nvSpPr>
          <p:cNvPr id="5" name="Right Arrow 4"/>
          <p:cNvSpPr/>
          <p:nvPr/>
        </p:nvSpPr>
        <p:spPr>
          <a:xfrm>
            <a:off x="2295144" y="2697480"/>
            <a:ext cx="256032" cy="365760"/>
          </a:xfrm>
          <a:prstGeom prst="rightArrow">
            <a:avLst/>
          </a:prstGeom>
          <a:solidFill>
            <a:srgbClr val="1F497D"/>
          </a:solidFill>
          <a:ln>
            <a:noFill/>
          </a:ln>
          <a:effectLst/>
        </p:spPr>
        <p:txBody>
          <a:bodyPr rtlCol="0" anchor="ctr"/>
          <a:lstStyle/>
          <a:p>
            <a:pPr algn="ctr"/>
            <a:endParaRPr/>
          </a:p>
        </p:txBody>
      </p:sp>
      <p:sp>
        <p:nvSpPr>
          <p:cNvPr id="6" name="Rectangle 5"/>
          <p:cNvSpPr/>
          <p:nvPr/>
        </p:nvSpPr>
        <p:spPr>
          <a:xfrm>
            <a:off x="2606040" y="2103120"/>
            <a:ext cx="1783080" cy="1554480"/>
          </a:xfrm>
          <a:prstGeom prst="rect">
            <a:avLst/>
          </a:prstGeom>
          <a:solidFill>
            <a:srgbClr val="DAEEF3"/>
          </a:solidFill>
          <a:ln>
            <a:noFill/>
          </a:ln>
          <a:effectLst/>
        </p:spPr>
        <p:txBody>
          <a:bodyPr wrap="square" lIns="73152" tIns="54864" rIns="73152" bIns="54864" rtlCol="0" anchor="ctr"/>
          <a:lstStyle/>
          <a:p>
            <a:pPr marL="0" indent="0" algn="ctr">
              <a:spcAft>
                <a:spcPts val="200"/>
              </a:spcAft>
              <a:buNone/>
            </a:pPr>
            <a:r>
              <a:rPr sz="1700" b="1">
                <a:solidFill>
                  <a:srgbClr val="31859C"/>
                </a:solidFill>
              </a:rPr>
              <a:t>Network + gateway</a:t>
            </a:r>
          </a:p>
          <a:p>
            <a:pPr marL="0" indent="0" algn="ctr">
              <a:spcAft>
                <a:spcPts val="600"/>
              </a:spcAft>
              <a:buNone/>
            </a:pPr>
            <a:r>
              <a:rPr sz="1300" b="0">
                <a:solidFill>
                  <a:srgbClr val="595959"/>
                </a:solidFill>
              </a:rPr>
              <a:t>network</a:t>
            </a:r>
          </a:p>
          <a:p>
            <a:pPr marL="0" indent="0" algn="ctr">
              <a:buNone/>
            </a:pPr>
            <a:r>
              <a:rPr sz="2400" b="1">
                <a:solidFill>
                  <a:srgbClr val="262626"/>
                </a:solidFill>
              </a:rPr>
              <a:t>0.5 s</a:t>
            </a:r>
          </a:p>
        </p:txBody>
      </p:sp>
      <p:sp>
        <p:nvSpPr>
          <p:cNvPr id="7" name="Right Arrow 6"/>
          <p:cNvSpPr/>
          <p:nvPr/>
        </p:nvSpPr>
        <p:spPr>
          <a:xfrm>
            <a:off x="4443983" y="2697480"/>
            <a:ext cx="256032" cy="365760"/>
          </a:xfrm>
          <a:prstGeom prst="rightArrow">
            <a:avLst/>
          </a:prstGeom>
          <a:solidFill>
            <a:srgbClr val="1F497D"/>
          </a:solidFill>
          <a:ln>
            <a:noFill/>
          </a:ln>
          <a:effectLst/>
        </p:spPr>
        <p:txBody>
          <a:bodyPr rtlCol="0" anchor="ctr"/>
          <a:lstStyle/>
          <a:p>
            <a:pPr algn="ctr"/>
            <a:endParaRPr/>
          </a:p>
        </p:txBody>
      </p:sp>
      <p:sp>
        <p:nvSpPr>
          <p:cNvPr id="8" name="Rectangle 7"/>
          <p:cNvSpPr/>
          <p:nvPr/>
        </p:nvSpPr>
        <p:spPr>
          <a:xfrm>
            <a:off x="4754880" y="2103120"/>
            <a:ext cx="1783080" cy="1554480"/>
          </a:xfrm>
          <a:prstGeom prst="rect">
            <a:avLst/>
          </a:prstGeom>
          <a:solidFill>
            <a:srgbClr val="DCE6F2"/>
          </a:solidFill>
          <a:ln>
            <a:noFill/>
          </a:ln>
          <a:effectLst/>
        </p:spPr>
        <p:txBody>
          <a:bodyPr wrap="square" lIns="73152" tIns="54864" rIns="73152" bIns="54864" rtlCol="0" anchor="ctr"/>
          <a:lstStyle/>
          <a:p>
            <a:pPr marL="0" indent="0" algn="ctr">
              <a:spcAft>
                <a:spcPts val="200"/>
              </a:spcAft>
              <a:buNone/>
            </a:pPr>
            <a:r>
              <a:rPr sz="1700" b="1">
                <a:solidFill>
                  <a:srgbClr val="1F497D"/>
                </a:solidFill>
              </a:rPr>
              <a:t>Backend</a:t>
            </a:r>
          </a:p>
          <a:p>
            <a:pPr marL="0" indent="0" algn="ctr">
              <a:spcAft>
                <a:spcPts val="600"/>
              </a:spcAft>
              <a:buNone/>
            </a:pPr>
            <a:r>
              <a:rPr sz="1300" b="0">
                <a:solidFill>
                  <a:srgbClr val="595959"/>
                </a:solidFill>
              </a:rPr>
              <a:t>software</a:t>
            </a:r>
          </a:p>
          <a:p>
            <a:pPr marL="0" indent="0" algn="ctr">
              <a:buNone/>
            </a:pPr>
            <a:r>
              <a:rPr sz="2400" b="1">
                <a:solidFill>
                  <a:srgbClr val="262626"/>
                </a:solidFill>
              </a:rPr>
              <a:t>0.5 s</a:t>
            </a:r>
          </a:p>
        </p:txBody>
      </p:sp>
      <p:sp>
        <p:nvSpPr>
          <p:cNvPr id="9" name="Right Arrow 8"/>
          <p:cNvSpPr/>
          <p:nvPr/>
        </p:nvSpPr>
        <p:spPr>
          <a:xfrm>
            <a:off x="6592824" y="2697480"/>
            <a:ext cx="256032" cy="365760"/>
          </a:xfrm>
          <a:prstGeom prst="rightArrow">
            <a:avLst/>
          </a:prstGeom>
          <a:solidFill>
            <a:srgbClr val="1F497D"/>
          </a:solidFill>
          <a:ln>
            <a:noFill/>
          </a:ln>
          <a:effectLst/>
        </p:spPr>
        <p:txBody>
          <a:bodyPr rtlCol="0" anchor="ctr"/>
          <a:lstStyle/>
          <a:p>
            <a:pPr algn="ctr"/>
            <a:endParaRPr/>
          </a:p>
        </p:txBody>
      </p:sp>
      <p:sp>
        <p:nvSpPr>
          <p:cNvPr id="10" name="Rectangle 9"/>
          <p:cNvSpPr/>
          <p:nvPr/>
        </p:nvSpPr>
        <p:spPr>
          <a:xfrm>
            <a:off x="6903720" y="2103120"/>
            <a:ext cx="1783080" cy="1554480"/>
          </a:xfrm>
          <a:prstGeom prst="rect">
            <a:avLst/>
          </a:prstGeom>
          <a:solidFill>
            <a:srgbClr val="DCE6F2"/>
          </a:solidFill>
          <a:ln>
            <a:noFill/>
          </a:ln>
          <a:effectLst/>
        </p:spPr>
        <p:txBody>
          <a:bodyPr wrap="square" lIns="73152" tIns="54864" rIns="73152" bIns="54864" rtlCol="0" anchor="ctr"/>
          <a:lstStyle/>
          <a:p>
            <a:pPr marL="0" indent="0" algn="ctr">
              <a:spcAft>
                <a:spcPts val="200"/>
              </a:spcAft>
              <a:buNone/>
            </a:pPr>
            <a:r>
              <a:rPr sz="1700" b="1">
                <a:solidFill>
                  <a:srgbClr val="1F497D"/>
                </a:solidFill>
              </a:rPr>
              <a:t>Dashboard</a:t>
            </a:r>
          </a:p>
          <a:p>
            <a:pPr marL="0" indent="0" algn="ctr">
              <a:spcAft>
                <a:spcPts val="600"/>
              </a:spcAft>
              <a:buNone/>
            </a:pPr>
            <a:r>
              <a:rPr sz="1300" b="0">
                <a:solidFill>
                  <a:srgbClr val="595959"/>
                </a:solidFill>
              </a:rPr>
              <a:t>software</a:t>
            </a:r>
          </a:p>
          <a:p>
            <a:pPr marL="0" indent="0" algn="ctr">
              <a:buNone/>
            </a:pPr>
            <a:r>
              <a:rPr sz="2400" b="1">
                <a:solidFill>
                  <a:srgbClr val="262626"/>
                </a:solidFill>
              </a:rPr>
              <a:t>0.5 s</a:t>
            </a:r>
          </a:p>
        </p:txBody>
      </p:sp>
      <p:sp>
        <p:nvSpPr>
          <p:cNvPr id="11" name="Rectangle 10"/>
          <p:cNvSpPr/>
          <p:nvPr/>
        </p:nvSpPr>
        <p:spPr>
          <a:xfrm>
            <a:off x="457200" y="3840480"/>
            <a:ext cx="8229600" cy="457200"/>
          </a:xfrm>
          <a:prstGeom prst="rect">
            <a:avLst/>
          </a:prstGeom>
          <a:solidFill>
            <a:srgbClr val="EBF1DE"/>
          </a:solidFill>
          <a:ln>
            <a:noFill/>
          </a:ln>
          <a:effectLst/>
        </p:spPr>
        <p:txBody>
          <a:bodyPr wrap="square" lIns="73152" tIns="54864" rIns="73152" bIns="54864" rtlCol="0" anchor="ctr"/>
          <a:lstStyle/>
          <a:p>
            <a:pPr marL="0" indent="0" algn="ctr">
              <a:buNone/>
            </a:pPr>
            <a:r>
              <a:rPr sz="2000" b="1">
                <a:solidFill>
                  <a:srgbClr val="1F497D"/>
                </a:solidFill>
              </a:rPr>
              <a:t>0.5 + 0.5 + 0.5 + 0.5 = 2.0 s</a:t>
            </a:r>
          </a:p>
        </p:txBody>
      </p:sp>
      <p:sp>
        <p:nvSpPr>
          <p:cNvPr id="12" name="TextBox 11"/>
          <p:cNvSpPr txBox="1"/>
          <p:nvPr/>
        </p:nvSpPr>
        <p:spPr>
          <a:xfrm>
            <a:off x="457200" y="4572000"/>
            <a:ext cx="8229600" cy="169164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700" b="0">
                <a:solidFill>
                  <a:srgbClr val="262626"/>
                </a:solidFill>
              </a:rPr>
              <a:t>A system-level NFR is split into a budget for each component.</a:t>
            </a:r>
          </a:p>
          <a:p>
            <a:pPr marL="285750" indent="-285750" algn="l">
              <a:spcAft>
                <a:spcPts val="600"/>
              </a:spcAft>
              <a:buFont typeface="Arial"/>
              <a:buChar char="•"/>
            </a:pPr>
            <a:r>
              <a:rPr sz="1700" b="0">
                <a:solidFill>
                  <a:srgbClr val="262626"/>
                </a:solidFill>
              </a:rPr>
              <a:t>Each budget becomes a requirement on an interface between components.</a:t>
            </a:r>
          </a:p>
          <a:p>
            <a:pPr marL="285750" indent="-285750" algn="l">
              <a:spcAft>
                <a:spcPts val="600"/>
              </a:spcAft>
              <a:buFont typeface="Arial"/>
              <a:buChar char="•"/>
            </a:pPr>
            <a:r>
              <a:rPr sz="1700" b="0">
                <a:solidFill>
                  <a:srgbClr val="262626"/>
                </a:solidFill>
              </a:rPr>
              <a:t>If one component overruns, another must compensate or the requirement is renegotiated.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NFRs Conflict: Managing Trade-offs</a:t>
            </a:r>
          </a:p>
        </p:txBody>
      </p:sp>
      <p:sp>
        <p:nvSpPr>
          <p:cNvPr id="3" name="Rectangle 2"/>
          <p:cNvSpPr/>
          <p:nvPr/>
        </p:nvSpPr>
        <p:spPr>
          <a:xfrm>
            <a:off x="457200" y="118872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Performance vs security</a:t>
            </a:r>
          </a:p>
          <a:p>
            <a:pPr marL="0" indent="0" algn="l">
              <a:buNone/>
            </a:pPr>
            <a:r>
              <a:rPr sz="1700" b="0">
                <a:solidFill>
                  <a:srgbClr val="262626"/>
                </a:solidFill>
              </a:rPr>
              <a:t>Encryption and authentication add latency and CPU load.</a:t>
            </a:r>
          </a:p>
        </p:txBody>
      </p:sp>
      <p:sp>
        <p:nvSpPr>
          <p:cNvPr id="4" name="Rectangle 3"/>
          <p:cNvSpPr/>
          <p:nvPr/>
        </p:nvSpPr>
        <p:spPr>
          <a:xfrm>
            <a:off x="4686300" y="118872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Usability vs security</a:t>
            </a:r>
          </a:p>
          <a:p>
            <a:pPr marL="0" indent="0" algn="l">
              <a:buNone/>
            </a:pPr>
            <a:r>
              <a:rPr sz="1700" b="0">
                <a:solidFill>
                  <a:srgbClr val="262626"/>
                </a:solidFill>
              </a:rPr>
              <a:t>Stronger authentication adds friction for users.</a:t>
            </a:r>
          </a:p>
        </p:txBody>
      </p:sp>
      <p:sp>
        <p:nvSpPr>
          <p:cNvPr id="5" name="Rectangle 4"/>
          <p:cNvSpPr/>
          <p:nvPr/>
        </p:nvSpPr>
        <p:spPr>
          <a:xfrm>
            <a:off x="457200" y="288036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Accuracy vs battery life</a:t>
            </a:r>
          </a:p>
          <a:p>
            <a:pPr marL="0" indent="0" algn="l">
              <a:buNone/>
            </a:pPr>
            <a:r>
              <a:rPr sz="1700" b="0">
                <a:solidFill>
                  <a:srgbClr val="262626"/>
                </a:solidFill>
              </a:rPr>
              <a:t>Sampling faster and transmitting more drains the sensor battery.</a:t>
            </a:r>
          </a:p>
        </p:txBody>
      </p:sp>
      <p:sp>
        <p:nvSpPr>
          <p:cNvPr id="6" name="Rectangle 5"/>
          <p:cNvSpPr/>
          <p:nvPr/>
        </p:nvSpPr>
        <p:spPr>
          <a:xfrm>
            <a:off x="4686300" y="2880360"/>
            <a:ext cx="4000500" cy="150876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000" b="1">
                <a:solidFill>
                  <a:srgbClr val="1F497D"/>
                </a:solidFill>
              </a:rPr>
              <a:t>Personalisation vs privacy</a:t>
            </a:r>
          </a:p>
          <a:p>
            <a:pPr marL="0" indent="0" algn="l">
              <a:buNone/>
            </a:pPr>
            <a:r>
              <a:rPr sz="1700" b="0">
                <a:solidFill>
                  <a:srgbClr val="262626"/>
                </a:solidFill>
              </a:rPr>
              <a:t>Better recommendations need more personal data.</a:t>
            </a:r>
          </a:p>
        </p:txBody>
      </p:sp>
      <p:sp>
        <p:nvSpPr>
          <p:cNvPr id="7" name="TextBox 6"/>
          <p:cNvSpPr txBox="1"/>
          <p:nvPr/>
        </p:nvSpPr>
        <p:spPr>
          <a:xfrm>
            <a:off x="457200" y="470916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Resolving a conflict</a:t>
            </a:r>
          </a:p>
        </p:txBody>
      </p:sp>
      <p:sp>
        <p:nvSpPr>
          <p:cNvPr id="8" name="TextBox 7"/>
          <p:cNvSpPr txBox="1"/>
          <p:nvPr/>
        </p:nvSpPr>
        <p:spPr>
          <a:xfrm>
            <a:off x="457200" y="5120640"/>
            <a:ext cx="8229600" cy="118872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700" b="0" dirty="0">
                <a:solidFill>
                  <a:srgbClr val="262626"/>
                </a:solidFill>
              </a:rPr>
              <a:t>Quantify each NFR so the conflict is a number, not an opinion.</a:t>
            </a:r>
          </a:p>
          <a:p>
            <a:pPr marL="285750" indent="-285750" algn="l">
              <a:spcAft>
                <a:spcPts val="300"/>
              </a:spcAft>
              <a:buFont typeface="Arial"/>
              <a:buChar char="•"/>
            </a:pPr>
            <a:r>
              <a:rPr sz="1700" b="0" dirty="0">
                <a:solidFill>
                  <a:srgbClr val="262626"/>
                </a:solidFill>
              </a:rPr>
              <a:t>Rank with stakeholders (e.g. </a:t>
            </a:r>
            <a:r>
              <a:rPr sz="1700" b="0" dirty="0" err="1">
                <a:solidFill>
                  <a:srgbClr val="262626"/>
                </a:solidFill>
              </a:rPr>
              <a:t>MoSCoW</a:t>
            </a:r>
            <a:r>
              <a:rPr sz="1700" b="0" dirty="0">
                <a:solidFill>
                  <a:srgbClr val="262626"/>
                </a:solidFill>
              </a:rPr>
              <a:t>: must, should, could, won't).</a:t>
            </a:r>
          </a:p>
          <a:p>
            <a:pPr marL="285750" indent="-285750" algn="l">
              <a:spcAft>
                <a:spcPts val="300"/>
              </a:spcAft>
              <a:buFont typeface="Arial"/>
              <a:buChar char="•"/>
            </a:pPr>
            <a:r>
              <a:rPr sz="1700" b="0" dirty="0">
                <a:solidFill>
                  <a:srgbClr val="262626"/>
                </a:solidFill>
              </a:rPr>
              <a:t>Record the decision and the reason.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Summary and What's Next</a:t>
            </a:r>
          </a:p>
        </p:txBody>
      </p:sp>
      <p:sp>
        <p:nvSpPr>
          <p:cNvPr id="3" name="TextBox 2"/>
          <p:cNvSpPr txBox="1"/>
          <p:nvPr/>
        </p:nvSpPr>
        <p:spPr>
          <a:xfrm>
            <a:off x="457200" y="1051560"/>
            <a:ext cx="8229600" cy="19202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800" b="1">
                <a:solidFill>
                  <a:srgbClr val="1F497D"/>
                </a:solidFill>
              </a:rPr>
              <a:t>FR vs NFR: </a:t>
            </a:r>
            <a:r>
              <a:rPr sz="1800" b="0">
                <a:solidFill>
                  <a:srgbClr val="262626"/>
                </a:solidFill>
              </a:rPr>
              <a:t>what the system does vs how well it does it</a:t>
            </a:r>
          </a:p>
          <a:p>
            <a:pPr marL="285750" indent="-285750" algn="l">
              <a:spcAft>
                <a:spcPts val="300"/>
              </a:spcAft>
              <a:buFont typeface="Arial"/>
              <a:buChar char="•"/>
            </a:pPr>
            <a:r>
              <a:rPr sz="1800" b="1">
                <a:solidFill>
                  <a:srgbClr val="1F497D"/>
                </a:solidFill>
              </a:rPr>
              <a:t>Measurable NFRs: </a:t>
            </a:r>
            <a:r>
              <a:rPr sz="1800" b="0">
                <a:solidFill>
                  <a:srgbClr val="262626"/>
                </a:solidFill>
              </a:rPr>
              <a:t>value, unit, condition, proportion, method</a:t>
            </a:r>
          </a:p>
          <a:p>
            <a:pPr marL="285750" indent="-285750" algn="l">
              <a:spcAft>
                <a:spcPts val="300"/>
              </a:spcAft>
              <a:buFont typeface="Arial"/>
              <a:buChar char="•"/>
            </a:pPr>
            <a:r>
              <a:rPr sz="1800" b="1">
                <a:solidFill>
                  <a:srgbClr val="1F497D"/>
                </a:solidFill>
              </a:rPr>
              <a:t>Precise wording: </a:t>
            </a:r>
            <a:r>
              <a:rPr sz="1800" b="0">
                <a:solidFill>
                  <a:srgbClr val="262626"/>
                </a:solidFill>
              </a:rPr>
              <a:t>five questions, logic, EARS templates</a:t>
            </a:r>
          </a:p>
          <a:p>
            <a:pPr marL="285750" indent="-285750" algn="l">
              <a:spcAft>
                <a:spcPts val="300"/>
              </a:spcAft>
              <a:buFont typeface="Arial"/>
              <a:buChar char="•"/>
            </a:pPr>
            <a:r>
              <a:rPr sz="1800" b="1">
                <a:solidFill>
                  <a:srgbClr val="1F497D"/>
                </a:solidFill>
              </a:rPr>
              <a:t>Architecture: </a:t>
            </a:r>
            <a:r>
              <a:rPr sz="1800" b="0">
                <a:solidFill>
                  <a:srgbClr val="262626"/>
                </a:solidFill>
              </a:rPr>
              <a:t>NFRs are allocated across components and conflict</a:t>
            </a:r>
          </a:p>
        </p:txBody>
      </p:sp>
      <p:sp>
        <p:nvSpPr>
          <p:cNvPr id="4" name="Rectangle 3"/>
          <p:cNvSpPr/>
          <p:nvPr/>
        </p:nvSpPr>
        <p:spPr>
          <a:xfrm>
            <a:off x="1371600" y="2612876"/>
            <a:ext cx="6400800" cy="457200"/>
          </a:xfrm>
          <a:prstGeom prst="rect">
            <a:avLst/>
          </a:prstGeom>
          <a:solidFill>
            <a:srgbClr val="D7E4BD"/>
          </a:solidFill>
          <a:ln>
            <a:noFill/>
          </a:ln>
          <a:effectLst/>
        </p:spPr>
        <p:txBody>
          <a:bodyPr wrap="square" lIns="73152" tIns="54864" rIns="73152" bIns="54864" rtlCol="0" anchor="ctr"/>
          <a:lstStyle/>
          <a:p>
            <a:pPr marL="0" indent="0" algn="ctr">
              <a:buNone/>
            </a:pPr>
            <a:r>
              <a:rPr sz="2200" b="1">
                <a:solidFill>
                  <a:srgbClr val="000000"/>
                </a:solidFill>
              </a:rPr>
              <a:t>Let's read and explore</a:t>
            </a:r>
          </a:p>
        </p:txBody>
      </p:sp>
      <p:sp>
        <p:nvSpPr>
          <p:cNvPr id="5" name="TextBox 4"/>
          <p:cNvSpPr txBox="1"/>
          <p:nvPr/>
        </p:nvSpPr>
        <p:spPr>
          <a:xfrm>
            <a:off x="640080" y="3161516"/>
            <a:ext cx="8046720" cy="2254976"/>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dirty="0">
                <a:solidFill>
                  <a:srgbClr val="262626"/>
                </a:solidFill>
              </a:rPr>
              <a:t>ISO/IEC/IEEE 29148:2018. Requirements engineering.</a:t>
            </a:r>
            <a:endParaRPr lang="en-US" sz="1400" b="0" dirty="0">
              <a:solidFill>
                <a:srgbClr val="262626"/>
              </a:solidFill>
            </a:endParaRPr>
          </a:p>
          <a:p>
            <a:pPr>
              <a:spcAft>
                <a:spcPts val="200"/>
              </a:spcAft>
            </a:pPr>
            <a:r>
              <a:rPr lang="en-US" sz="1400" dirty="0">
                <a:hlinkClick r:id="rId3"/>
              </a:rPr>
              <a:t>https://www.iso.org/standard/72089.html</a:t>
            </a:r>
            <a:endParaRPr sz="1400" b="0" dirty="0">
              <a:solidFill>
                <a:srgbClr val="262626"/>
              </a:solidFill>
            </a:endParaRPr>
          </a:p>
          <a:p>
            <a:pPr marL="285750" indent="-285750" algn="l">
              <a:spcAft>
                <a:spcPts val="200"/>
              </a:spcAft>
              <a:buFont typeface="Arial"/>
              <a:buChar char="–"/>
            </a:pPr>
            <a:r>
              <a:rPr sz="1400" b="0" dirty="0">
                <a:solidFill>
                  <a:srgbClr val="262626"/>
                </a:solidFill>
              </a:rPr>
              <a:t>ISO/IEC 25010:2023. </a:t>
            </a:r>
            <a:r>
              <a:rPr sz="1400" b="0" dirty="0" err="1">
                <a:solidFill>
                  <a:srgbClr val="262626"/>
                </a:solidFill>
              </a:rPr>
              <a:t>SQuaRE</a:t>
            </a:r>
            <a:r>
              <a:rPr sz="1400" b="0" dirty="0">
                <a:solidFill>
                  <a:srgbClr val="262626"/>
                </a:solidFill>
              </a:rPr>
              <a:t>: Product quality model.</a:t>
            </a:r>
            <a:endParaRPr lang="en-US" sz="1400" b="0" dirty="0">
              <a:solidFill>
                <a:srgbClr val="262626"/>
              </a:solidFill>
            </a:endParaRPr>
          </a:p>
          <a:p>
            <a:pPr>
              <a:spcAft>
                <a:spcPts val="200"/>
              </a:spcAft>
            </a:pPr>
            <a:r>
              <a:rPr lang="en-US" sz="1400" dirty="0">
                <a:hlinkClick r:id="rId4"/>
              </a:rPr>
              <a:t>https://www.iso.org/standard/78176.html</a:t>
            </a:r>
            <a:endParaRPr sz="1400" b="0" dirty="0">
              <a:solidFill>
                <a:srgbClr val="262626"/>
              </a:solidFill>
            </a:endParaRPr>
          </a:p>
          <a:p>
            <a:pPr marL="285750" indent="-285750" algn="l">
              <a:spcAft>
                <a:spcPts val="200"/>
              </a:spcAft>
              <a:buFont typeface="Arial"/>
              <a:buChar char="–"/>
            </a:pPr>
            <a:r>
              <a:rPr sz="1400" b="0" dirty="0">
                <a:solidFill>
                  <a:srgbClr val="262626"/>
                </a:solidFill>
              </a:rPr>
              <a:t>Mavin et al. (2009). Easy Approach to Requirements Syntax (EARS). IEEE</a:t>
            </a:r>
            <a:r>
              <a:rPr lang="en-US" sz="1400" b="0" dirty="0">
                <a:solidFill>
                  <a:srgbClr val="262626"/>
                </a:solidFill>
              </a:rPr>
              <a:t>.</a:t>
            </a:r>
          </a:p>
          <a:p>
            <a:pPr>
              <a:spcAft>
                <a:spcPts val="200"/>
              </a:spcAft>
            </a:pPr>
            <a:r>
              <a:rPr lang="en-US" sz="1400" dirty="0">
                <a:hlinkClick r:id="rId5"/>
              </a:rPr>
              <a:t>https://doi.org/10.1109/RE.2009.9</a:t>
            </a:r>
            <a:endParaRPr lang="en-US" sz="1400" b="0" dirty="0">
              <a:solidFill>
                <a:srgbClr val="262626"/>
              </a:solidFill>
            </a:endParaRPr>
          </a:p>
          <a:p>
            <a:pPr marL="285750" indent="-285750" algn="l">
              <a:spcAft>
                <a:spcPts val="200"/>
              </a:spcAft>
              <a:buFont typeface="Arial"/>
              <a:buChar char="–"/>
            </a:pPr>
            <a:r>
              <a:rPr sz="1400" b="0" dirty="0" err="1">
                <a:solidFill>
                  <a:srgbClr val="262626"/>
                </a:solidFill>
              </a:rPr>
              <a:t>Kossiakoff</a:t>
            </a:r>
            <a:r>
              <a:rPr sz="1400" b="0" dirty="0">
                <a:solidFill>
                  <a:srgbClr val="262626"/>
                </a:solidFill>
              </a:rPr>
              <a:t>, A. et al. (2011). Systems Engineering Principles and Practice.</a:t>
            </a:r>
            <a:endParaRPr lang="en-US" sz="1400" b="0" dirty="0">
              <a:solidFill>
                <a:srgbClr val="262626"/>
              </a:solidFill>
            </a:endParaRPr>
          </a:p>
          <a:p>
            <a:pPr>
              <a:spcAft>
                <a:spcPts val="200"/>
              </a:spcAft>
            </a:pPr>
            <a:r>
              <a:rPr lang="en-US" sz="1400" dirty="0">
                <a:solidFill>
                  <a:srgbClr val="262626"/>
                </a:solidFill>
                <a:hlinkClick r:id="rId6"/>
              </a:rPr>
              <a:t>https://www.oreilly.com/library/view/systems-engineering-principles/9780470405482/</a:t>
            </a:r>
            <a:endParaRPr lang="en-US" sz="1400" dirty="0">
              <a:solidFill>
                <a:srgbClr val="262626"/>
              </a:solidFill>
            </a:endParaRPr>
          </a:p>
          <a:p>
            <a:pPr>
              <a:spcAft>
                <a:spcPts val="200"/>
              </a:spcAft>
            </a:pPr>
            <a:endParaRPr sz="1400" b="0" dirty="0">
              <a:solidFill>
                <a:srgbClr val="262626"/>
              </a:solidFill>
            </a:endParaRPr>
          </a:p>
        </p:txBody>
      </p:sp>
      <p:sp>
        <p:nvSpPr>
          <p:cNvPr id="6" name="Rectangle 5"/>
          <p:cNvSpPr/>
          <p:nvPr/>
        </p:nvSpPr>
        <p:spPr>
          <a:xfrm>
            <a:off x="457200" y="5416492"/>
            <a:ext cx="8229600" cy="685800"/>
          </a:xfrm>
          <a:prstGeom prst="rect">
            <a:avLst/>
          </a:prstGeom>
          <a:solidFill>
            <a:srgbClr val="DCE6F2"/>
          </a:solidFill>
          <a:ln>
            <a:noFill/>
          </a:ln>
          <a:effectLst/>
        </p:spPr>
        <p:txBody>
          <a:bodyPr wrap="square" lIns="182880" tIns="54864" rIns="182880" bIns="54864" rtlCol="0" anchor="ctr"/>
          <a:lstStyle/>
          <a:p>
            <a:pPr marL="0" indent="0" algn="l">
              <a:buNone/>
            </a:pPr>
            <a:r>
              <a:rPr sz="1600" b="1" dirty="0">
                <a:solidFill>
                  <a:srgbClr val="1F497D"/>
                </a:solidFill>
              </a:rPr>
              <a:t>Next</a:t>
            </a:r>
            <a:r>
              <a:rPr lang="en-US" sz="1600" b="1" dirty="0">
                <a:solidFill>
                  <a:srgbClr val="1F497D"/>
                </a:solidFill>
              </a:rPr>
              <a:t> Lecture</a:t>
            </a:r>
            <a:r>
              <a:rPr sz="1600" b="1" dirty="0">
                <a:solidFill>
                  <a:srgbClr val="1F497D"/>
                </a:solidFill>
              </a:rPr>
              <a:t>: </a:t>
            </a:r>
            <a:r>
              <a:rPr sz="1600" b="0" dirty="0">
                <a:solidFill>
                  <a:srgbClr val="262626"/>
                </a:solidFill>
              </a:rPr>
              <a:t>Gathering and Validating Requirements: </a:t>
            </a:r>
            <a:endParaRPr lang="en-US" sz="1600" b="0" dirty="0">
              <a:solidFill>
                <a:srgbClr val="262626"/>
              </a:solidFill>
            </a:endParaRPr>
          </a:p>
          <a:p>
            <a:pPr marL="0" indent="0" algn="l">
              <a:buNone/>
            </a:pPr>
            <a:r>
              <a:rPr sz="1600" b="0" dirty="0">
                <a:solidFill>
                  <a:srgbClr val="262626"/>
                </a:solidFill>
              </a:rPr>
              <a:t>how do we find out what stakeholders really need?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Requirements Exist at Several Levels</a:t>
            </a:r>
          </a:p>
        </p:txBody>
      </p:sp>
      <p:sp>
        <p:nvSpPr>
          <p:cNvPr id="3" name="TextBox 2"/>
          <p:cNvSpPr txBox="1"/>
          <p:nvPr/>
        </p:nvSpPr>
        <p:spPr>
          <a:xfrm>
            <a:off x="457200" y="1097280"/>
            <a:ext cx="8229600" cy="411480"/>
          </a:xfrm>
          <a:prstGeom prst="rect">
            <a:avLst/>
          </a:prstGeom>
          <a:noFill/>
        </p:spPr>
        <p:txBody>
          <a:bodyPr wrap="square" lIns="73152" tIns="54864" rIns="73152" bIns="54864" anchor="t">
            <a:spAutoFit/>
          </a:bodyPr>
          <a:lstStyle/>
          <a:p>
            <a:pPr marL="0" indent="0" algn="ctr">
              <a:buNone/>
            </a:pPr>
            <a:r>
              <a:rPr sz="1700" b="0">
                <a:solidFill>
                  <a:srgbClr val="595959"/>
                </a:solidFill>
              </a:rPr>
              <a:t>Running example: Smart Study Room (sensors + dashboard + study assistant)</a:t>
            </a:r>
          </a:p>
        </p:txBody>
      </p:sp>
      <p:sp>
        <p:nvSpPr>
          <p:cNvPr id="4" name="Rectangle 3"/>
          <p:cNvSpPr/>
          <p:nvPr/>
        </p:nvSpPr>
        <p:spPr>
          <a:xfrm>
            <a:off x="457200" y="1691640"/>
            <a:ext cx="2514600" cy="2926080"/>
          </a:xfrm>
          <a:prstGeom prst="rect">
            <a:avLst/>
          </a:prstGeom>
          <a:solidFill>
            <a:srgbClr val="DCE6F2"/>
          </a:solidFill>
          <a:ln>
            <a:noFill/>
          </a:ln>
          <a:effectLst/>
        </p:spPr>
        <p:txBody>
          <a:bodyPr rtlCol="0" anchor="ctr"/>
          <a:lstStyle/>
          <a:p>
            <a:pPr algn="ctr"/>
            <a:endParaRPr/>
          </a:p>
        </p:txBody>
      </p:sp>
      <p:sp>
        <p:nvSpPr>
          <p:cNvPr id="5" name="TextBox 4"/>
          <p:cNvSpPr txBox="1"/>
          <p:nvPr/>
        </p:nvSpPr>
        <p:spPr>
          <a:xfrm>
            <a:off x="457200" y="1783080"/>
            <a:ext cx="2514600" cy="502920"/>
          </a:xfrm>
          <a:prstGeom prst="rect">
            <a:avLst/>
          </a:prstGeom>
          <a:noFill/>
        </p:spPr>
        <p:txBody>
          <a:bodyPr wrap="square" lIns="73152" tIns="54864" rIns="73152" bIns="54864" anchor="ctr">
            <a:spAutoFit/>
          </a:bodyPr>
          <a:lstStyle/>
          <a:p>
            <a:pPr marL="0" indent="0" algn="ctr">
              <a:buNone/>
            </a:pPr>
            <a:r>
              <a:rPr sz="1800" b="1">
                <a:solidFill>
                  <a:srgbClr val="1F497D"/>
                </a:solidFill>
              </a:rPr>
              <a:t>Stakeholder need</a:t>
            </a:r>
          </a:p>
        </p:txBody>
      </p:sp>
      <p:sp>
        <p:nvSpPr>
          <p:cNvPr id="6" name="TextBox 5"/>
          <p:cNvSpPr txBox="1"/>
          <p:nvPr/>
        </p:nvSpPr>
        <p:spPr>
          <a:xfrm>
            <a:off x="457200" y="2286000"/>
            <a:ext cx="2514600" cy="365760"/>
          </a:xfrm>
          <a:prstGeom prst="rect">
            <a:avLst/>
          </a:prstGeom>
          <a:noFill/>
        </p:spPr>
        <p:txBody>
          <a:bodyPr wrap="square" lIns="73152" tIns="54864" rIns="73152" bIns="54864" anchor="ctr">
            <a:spAutoFit/>
          </a:bodyPr>
          <a:lstStyle/>
          <a:p>
            <a:pPr marL="0" indent="0" algn="ctr">
              <a:buNone/>
            </a:pPr>
            <a:r>
              <a:rPr sz="1300" b="0">
                <a:solidFill>
                  <a:srgbClr val="595959"/>
                </a:solidFill>
              </a:rPr>
              <a:t>what people want</a:t>
            </a:r>
          </a:p>
        </p:txBody>
      </p:sp>
      <p:sp>
        <p:nvSpPr>
          <p:cNvPr id="7" name="TextBox 6"/>
          <p:cNvSpPr txBox="1"/>
          <p:nvPr/>
        </p:nvSpPr>
        <p:spPr>
          <a:xfrm>
            <a:off x="548640" y="2743200"/>
            <a:ext cx="2331720" cy="1828800"/>
          </a:xfrm>
          <a:prstGeom prst="rect">
            <a:avLst/>
          </a:prstGeom>
          <a:noFill/>
        </p:spPr>
        <p:txBody>
          <a:bodyPr wrap="square" lIns="73152" tIns="54864" rIns="73152" bIns="54864" anchor="t">
            <a:spAutoFit/>
          </a:bodyPr>
          <a:lstStyle/>
          <a:p>
            <a:pPr marL="0" indent="0" algn="l">
              <a:buNone/>
            </a:pPr>
            <a:r>
              <a:rPr sz="1700" b="0">
                <a:solidFill>
                  <a:srgbClr val="262626"/>
                </a:solidFill>
              </a:rPr>
              <a:t>Students want to find a comfortable, free study room.</a:t>
            </a:r>
          </a:p>
        </p:txBody>
      </p:sp>
      <p:sp>
        <p:nvSpPr>
          <p:cNvPr id="8" name="Right Arrow 7"/>
          <p:cNvSpPr/>
          <p:nvPr/>
        </p:nvSpPr>
        <p:spPr>
          <a:xfrm>
            <a:off x="3008376" y="2926080"/>
            <a:ext cx="269748" cy="457200"/>
          </a:xfrm>
          <a:prstGeom prst="rightArrow">
            <a:avLst/>
          </a:prstGeom>
          <a:solidFill>
            <a:srgbClr val="1F497D"/>
          </a:solidFill>
          <a:ln>
            <a:noFill/>
          </a:ln>
          <a:effectLst/>
        </p:spPr>
        <p:txBody>
          <a:bodyPr rtlCol="0" anchor="ctr"/>
          <a:lstStyle/>
          <a:p>
            <a:pPr algn="ctr"/>
            <a:endParaRPr/>
          </a:p>
        </p:txBody>
      </p:sp>
      <p:sp>
        <p:nvSpPr>
          <p:cNvPr id="9" name="Rectangle 8"/>
          <p:cNvSpPr/>
          <p:nvPr/>
        </p:nvSpPr>
        <p:spPr>
          <a:xfrm>
            <a:off x="3314700" y="1691640"/>
            <a:ext cx="2514600" cy="292608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3314700" y="1783080"/>
            <a:ext cx="2514600" cy="502920"/>
          </a:xfrm>
          <a:prstGeom prst="rect">
            <a:avLst/>
          </a:prstGeom>
          <a:noFill/>
        </p:spPr>
        <p:txBody>
          <a:bodyPr wrap="square" lIns="73152" tIns="54864" rIns="73152" bIns="54864" anchor="ctr">
            <a:spAutoFit/>
          </a:bodyPr>
          <a:lstStyle/>
          <a:p>
            <a:pPr marL="0" indent="0" algn="ctr">
              <a:buNone/>
            </a:pPr>
            <a:r>
              <a:rPr sz="1800" b="1">
                <a:solidFill>
                  <a:srgbClr val="1F497D"/>
                </a:solidFill>
              </a:rPr>
              <a:t>System requirement</a:t>
            </a:r>
          </a:p>
        </p:txBody>
      </p:sp>
      <p:sp>
        <p:nvSpPr>
          <p:cNvPr id="11" name="TextBox 10"/>
          <p:cNvSpPr txBox="1"/>
          <p:nvPr/>
        </p:nvSpPr>
        <p:spPr>
          <a:xfrm>
            <a:off x="3314700" y="2286000"/>
            <a:ext cx="2514600" cy="365760"/>
          </a:xfrm>
          <a:prstGeom prst="rect">
            <a:avLst/>
          </a:prstGeom>
          <a:noFill/>
        </p:spPr>
        <p:txBody>
          <a:bodyPr wrap="square" lIns="73152" tIns="54864" rIns="73152" bIns="54864" anchor="ctr">
            <a:spAutoFit/>
          </a:bodyPr>
          <a:lstStyle/>
          <a:p>
            <a:pPr marL="0" indent="0" algn="ctr">
              <a:buNone/>
            </a:pPr>
            <a:r>
              <a:rPr sz="1300" b="0">
                <a:solidFill>
                  <a:srgbClr val="595959"/>
                </a:solidFill>
              </a:rPr>
              <a:t>what the whole system shall do</a:t>
            </a:r>
          </a:p>
        </p:txBody>
      </p:sp>
      <p:sp>
        <p:nvSpPr>
          <p:cNvPr id="12" name="TextBox 11"/>
          <p:cNvSpPr txBox="1"/>
          <p:nvPr/>
        </p:nvSpPr>
        <p:spPr>
          <a:xfrm>
            <a:off x="3406140" y="2743200"/>
            <a:ext cx="2331720" cy="1828800"/>
          </a:xfrm>
          <a:prstGeom prst="rect">
            <a:avLst/>
          </a:prstGeom>
          <a:noFill/>
        </p:spPr>
        <p:txBody>
          <a:bodyPr wrap="square" lIns="73152" tIns="54864" rIns="73152" bIns="54864" anchor="t">
            <a:spAutoFit/>
          </a:bodyPr>
          <a:lstStyle/>
          <a:p>
            <a:pPr marL="0" indent="0" algn="l">
              <a:buNone/>
            </a:pPr>
            <a:r>
              <a:rPr sz="1700" b="0">
                <a:solidFill>
                  <a:srgbClr val="262626"/>
                </a:solidFill>
              </a:rPr>
              <a:t>The system shall show each room's temperature and occupancy on a dashboard.</a:t>
            </a:r>
          </a:p>
        </p:txBody>
      </p:sp>
      <p:sp>
        <p:nvSpPr>
          <p:cNvPr id="13" name="Right Arrow 12"/>
          <p:cNvSpPr/>
          <p:nvPr/>
        </p:nvSpPr>
        <p:spPr>
          <a:xfrm>
            <a:off x="5865876" y="2926080"/>
            <a:ext cx="269748" cy="457200"/>
          </a:xfrm>
          <a:prstGeom prst="rightArrow">
            <a:avLst/>
          </a:prstGeom>
          <a:solidFill>
            <a:srgbClr val="1F497D"/>
          </a:solidFill>
          <a:ln>
            <a:noFill/>
          </a:ln>
          <a:effectLst/>
        </p:spPr>
        <p:txBody>
          <a:bodyPr rtlCol="0" anchor="ctr"/>
          <a:lstStyle/>
          <a:p>
            <a:pPr algn="ctr"/>
            <a:endParaRPr/>
          </a:p>
        </p:txBody>
      </p:sp>
      <p:sp>
        <p:nvSpPr>
          <p:cNvPr id="14" name="Rectangle 13"/>
          <p:cNvSpPr/>
          <p:nvPr/>
        </p:nvSpPr>
        <p:spPr>
          <a:xfrm>
            <a:off x="6172200" y="1691640"/>
            <a:ext cx="2514600" cy="2926080"/>
          </a:xfrm>
          <a:prstGeom prst="rect">
            <a:avLst/>
          </a:prstGeom>
          <a:solidFill>
            <a:srgbClr val="EBF1DE"/>
          </a:solidFill>
          <a:ln>
            <a:noFill/>
          </a:ln>
          <a:effectLst/>
        </p:spPr>
        <p:txBody>
          <a:bodyPr rtlCol="0" anchor="ctr"/>
          <a:lstStyle/>
          <a:p>
            <a:pPr algn="ctr"/>
            <a:endParaRPr/>
          </a:p>
        </p:txBody>
      </p:sp>
      <p:sp>
        <p:nvSpPr>
          <p:cNvPr id="15" name="TextBox 14"/>
          <p:cNvSpPr txBox="1"/>
          <p:nvPr/>
        </p:nvSpPr>
        <p:spPr>
          <a:xfrm>
            <a:off x="6172200" y="1783080"/>
            <a:ext cx="2514600" cy="502920"/>
          </a:xfrm>
          <a:prstGeom prst="rect">
            <a:avLst/>
          </a:prstGeom>
          <a:noFill/>
        </p:spPr>
        <p:txBody>
          <a:bodyPr wrap="square" lIns="73152" tIns="54864" rIns="73152" bIns="54864" anchor="ctr">
            <a:spAutoFit/>
          </a:bodyPr>
          <a:lstStyle/>
          <a:p>
            <a:pPr marL="0" indent="0" algn="ctr">
              <a:buNone/>
            </a:pPr>
            <a:r>
              <a:rPr sz="1800" b="1">
                <a:solidFill>
                  <a:srgbClr val="1F497D"/>
                </a:solidFill>
              </a:rPr>
              <a:t>Component requirements</a:t>
            </a:r>
          </a:p>
        </p:txBody>
      </p:sp>
      <p:sp>
        <p:nvSpPr>
          <p:cNvPr id="16" name="TextBox 15"/>
          <p:cNvSpPr txBox="1"/>
          <p:nvPr/>
        </p:nvSpPr>
        <p:spPr>
          <a:xfrm>
            <a:off x="6172200" y="2286000"/>
            <a:ext cx="2514600" cy="365760"/>
          </a:xfrm>
          <a:prstGeom prst="rect">
            <a:avLst/>
          </a:prstGeom>
          <a:noFill/>
        </p:spPr>
        <p:txBody>
          <a:bodyPr wrap="square" lIns="73152" tIns="54864" rIns="73152" bIns="54864" anchor="ctr">
            <a:spAutoFit/>
          </a:bodyPr>
          <a:lstStyle/>
          <a:p>
            <a:pPr marL="0" indent="0" algn="ctr">
              <a:buNone/>
            </a:pPr>
            <a:r>
              <a:rPr sz="1300" b="0">
                <a:solidFill>
                  <a:srgbClr val="595959"/>
                </a:solidFill>
              </a:rPr>
              <a:t>what each block shall do</a:t>
            </a:r>
          </a:p>
        </p:txBody>
      </p:sp>
      <p:sp>
        <p:nvSpPr>
          <p:cNvPr id="17" name="TextBox 16"/>
          <p:cNvSpPr txBox="1"/>
          <p:nvPr/>
        </p:nvSpPr>
        <p:spPr>
          <a:xfrm>
            <a:off x="6263640" y="2743200"/>
            <a:ext cx="2331720" cy="1828800"/>
          </a:xfrm>
          <a:prstGeom prst="rect">
            <a:avLst/>
          </a:prstGeom>
          <a:noFill/>
        </p:spPr>
        <p:txBody>
          <a:bodyPr wrap="square" lIns="73152" tIns="54864" rIns="73152" bIns="54864" anchor="t">
            <a:spAutoFit/>
          </a:bodyPr>
          <a:lstStyle/>
          <a:p>
            <a:pPr marL="0" indent="0" algn="l">
              <a:spcAft>
                <a:spcPts val="800"/>
              </a:spcAft>
              <a:buNone/>
            </a:pPr>
            <a:r>
              <a:rPr sz="1700" b="1">
                <a:solidFill>
                  <a:srgbClr val="262626"/>
                </a:solidFill>
              </a:rPr>
              <a:t>Sensor node: </a:t>
            </a:r>
            <a:r>
              <a:rPr sz="1700" b="0">
                <a:solidFill>
                  <a:srgbClr val="262626"/>
                </a:solidFill>
              </a:rPr>
              <a:t>measure temperature every 60 s, accuracy ±0.5 °C.</a:t>
            </a:r>
          </a:p>
          <a:p>
            <a:pPr marL="0" indent="0" algn="l">
              <a:buNone/>
            </a:pPr>
            <a:r>
              <a:rPr sz="1700" b="1">
                <a:solidFill>
                  <a:srgbClr val="262626"/>
                </a:solidFill>
              </a:rPr>
              <a:t>Dashboard: </a:t>
            </a:r>
            <a:r>
              <a:rPr sz="1700" b="0">
                <a:solidFill>
                  <a:srgbClr val="262626"/>
                </a:solidFill>
              </a:rPr>
              <a:t>show a new reading within 2 s of receiving it.</a:t>
            </a:r>
          </a:p>
        </p:txBody>
      </p:sp>
      <p:sp>
        <p:nvSpPr>
          <p:cNvPr id="18" name="TextBox 17"/>
          <p:cNvSpPr txBox="1"/>
          <p:nvPr/>
        </p:nvSpPr>
        <p:spPr>
          <a:xfrm>
            <a:off x="457200" y="4892040"/>
            <a:ext cx="8229600" cy="1188720"/>
          </a:xfrm>
          <a:prstGeom prst="rect">
            <a:avLst/>
          </a:prstGeom>
          <a:noFill/>
        </p:spPr>
        <p:txBody>
          <a:bodyPr wrap="square" lIns="73152" tIns="54864" rIns="73152" bIns="54864" anchor="ctr">
            <a:spAutoFit/>
          </a:bodyPr>
          <a:lstStyle/>
          <a:p>
            <a:pPr marL="0" indent="0" algn="l">
              <a:buNone/>
            </a:pPr>
            <a:r>
              <a:rPr sz="1900" b="1">
                <a:solidFill>
                  <a:srgbClr val="1F497D"/>
                </a:solidFill>
              </a:rPr>
              <a:t>Each level refines the one above. This is how requirements drive decomposition into components, and how component boundaries and interfaces first appear.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FR vs. NFR Key Differences</a:t>
            </a:r>
          </a:p>
        </p:txBody>
      </p:sp>
      <p:graphicFrame>
        <p:nvGraphicFramePr>
          <p:cNvPr id="3" name="Table 2"/>
          <p:cNvGraphicFramePr>
            <a:graphicFrameLocks noGrp="1"/>
          </p:cNvGraphicFramePr>
          <p:nvPr/>
        </p:nvGraphicFramePr>
        <p:xfrm>
          <a:off x="457200" y="1143000"/>
          <a:ext cx="8229599" cy="4864608"/>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75488">
                <a:tc>
                  <a:txBody>
                    <a:bodyPr/>
                    <a:lstStyle/>
                    <a:p>
                      <a:pPr marL="0" indent="0">
                        <a:buNone/>
                      </a:pPr>
                      <a:r>
                        <a:rPr sz="1500" b="1">
                          <a:solidFill>
                            <a:srgbClr val="FFFFFF"/>
                          </a:solidFill>
                        </a:rPr>
                        <a:t>Aspect</a:t>
                      </a:r>
                    </a:p>
                  </a:txBody>
                  <a:tcPr marL="73152" marR="73152" marT="36576" marB="36576" anchor="ctr">
                    <a:solidFill>
                      <a:srgbClr val="1F497D"/>
                    </a:solidFill>
                  </a:tcPr>
                </a:tc>
                <a:tc>
                  <a:txBody>
                    <a:bodyPr/>
                    <a:lstStyle/>
                    <a:p>
                      <a:pPr marL="0" indent="0">
                        <a:buNone/>
                      </a:pPr>
                      <a:r>
                        <a:rPr sz="1500" b="1">
                          <a:solidFill>
                            <a:srgbClr val="FFFFFF"/>
                          </a:solidFill>
                        </a:rPr>
                        <a:t>Functional (FR)</a:t>
                      </a:r>
                    </a:p>
                  </a:txBody>
                  <a:tcPr marL="73152" marR="73152" marT="36576" marB="36576" anchor="ctr">
                    <a:solidFill>
                      <a:srgbClr val="1F497D"/>
                    </a:solidFill>
                  </a:tcPr>
                </a:tc>
                <a:tc>
                  <a:txBody>
                    <a:bodyPr/>
                    <a:lstStyle/>
                    <a:p>
                      <a:pPr marL="0" indent="0">
                        <a:buNone/>
                      </a:pPr>
                      <a:r>
                        <a:rPr sz="1500" b="1">
                          <a:solidFill>
                            <a:srgbClr val="FFFFFF"/>
                          </a:solidFill>
                        </a:rPr>
                        <a:t>Non-functional (NFR)</a:t>
                      </a:r>
                    </a:p>
                  </a:txBody>
                  <a:tcPr marL="73152" marR="73152" marT="36576" marB="36576" anchor="ctr">
                    <a:solidFill>
                      <a:srgbClr val="1F497D"/>
                    </a:solidFill>
                  </a:tcPr>
                </a:tc>
                <a:extLst>
                  <a:ext uri="{0D108BD9-81ED-4DB2-BD59-A6C34878D82A}">
                    <a16:rowId xmlns:a16="http://schemas.microsoft.com/office/drawing/2014/main" val="10000"/>
                  </a:ext>
                </a:extLst>
              </a:tr>
              <a:tr h="475488">
                <a:tc>
                  <a:txBody>
                    <a:bodyPr/>
                    <a:lstStyle/>
                    <a:p>
                      <a:pPr marL="0" indent="0">
                        <a:buNone/>
                      </a:pPr>
                      <a:r>
                        <a:rPr sz="1500" b="1">
                          <a:solidFill>
                            <a:srgbClr val="262626"/>
                          </a:solidFill>
                        </a:rPr>
                        <a:t>Definition</a:t>
                      </a:r>
                    </a:p>
                  </a:txBody>
                  <a:tcPr marL="73152" marR="73152" marT="36576" marB="36576" anchor="ctr">
                    <a:solidFill>
                      <a:srgbClr val="DCE6F2"/>
                    </a:solidFill>
                  </a:tcPr>
                </a:tc>
                <a:tc>
                  <a:txBody>
                    <a:bodyPr/>
                    <a:lstStyle/>
                    <a:p>
                      <a:pPr marL="0" indent="0">
                        <a:buNone/>
                      </a:pPr>
                      <a:r>
                        <a:rPr sz="1500" b="0">
                          <a:solidFill>
                            <a:srgbClr val="262626"/>
                          </a:solidFill>
                        </a:rPr>
                        <a:t>What the system should do</a:t>
                      </a:r>
                    </a:p>
                  </a:txBody>
                  <a:tcPr marL="73152" marR="73152" marT="36576" marB="36576" anchor="ctr">
                    <a:solidFill>
                      <a:srgbClr val="FFFFFF"/>
                    </a:solidFill>
                  </a:tcPr>
                </a:tc>
                <a:tc>
                  <a:txBody>
                    <a:bodyPr/>
                    <a:lstStyle/>
                    <a:p>
                      <a:pPr marL="0" indent="0">
                        <a:buNone/>
                      </a:pPr>
                      <a:r>
                        <a:rPr sz="1500" b="0">
                          <a:solidFill>
                            <a:srgbClr val="262626"/>
                          </a:solidFill>
                        </a:rPr>
                        <a:t>How well it should do it</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pPr marL="0" indent="0">
                        <a:buNone/>
                      </a:pPr>
                      <a:r>
                        <a:rPr sz="1500" b="1">
                          <a:solidFill>
                            <a:srgbClr val="262626"/>
                          </a:solidFill>
                        </a:rPr>
                        <a:t>Purpose</a:t>
                      </a:r>
                    </a:p>
                  </a:txBody>
                  <a:tcPr marL="73152" marR="73152" marT="36576" marB="36576" anchor="ctr">
                    <a:solidFill>
                      <a:srgbClr val="DCE6F2"/>
                    </a:solidFill>
                  </a:tcPr>
                </a:tc>
                <a:tc>
                  <a:txBody>
                    <a:bodyPr/>
                    <a:lstStyle/>
                    <a:p>
                      <a:pPr marL="0" indent="0">
                        <a:buNone/>
                      </a:pPr>
                      <a:r>
                        <a:rPr sz="1500" b="0">
                          <a:solidFill>
                            <a:srgbClr val="262626"/>
                          </a:solidFill>
                        </a:rPr>
                        <a:t>Features, services, functions</a:t>
                      </a:r>
                    </a:p>
                  </a:txBody>
                  <a:tcPr marL="73152" marR="73152" marT="36576" marB="36576" anchor="ctr">
                    <a:solidFill>
                      <a:srgbClr val="F2F2F2"/>
                    </a:solidFill>
                  </a:tcPr>
                </a:tc>
                <a:tc>
                  <a:txBody>
                    <a:bodyPr/>
                    <a:lstStyle/>
                    <a:p>
                      <a:pPr marL="0" indent="0">
                        <a:buNone/>
                      </a:pPr>
                      <a:r>
                        <a:rPr sz="1500" b="0">
                          <a:solidFill>
                            <a:srgbClr val="262626"/>
                          </a:solidFill>
                        </a:rPr>
                        <a:t>Quality attributes and constraints</a:t>
                      </a:r>
                    </a:p>
                  </a:txBody>
                  <a:tcPr marL="73152" marR="73152" marT="36576" marB="36576" anchor="ctr">
                    <a:solidFill>
                      <a:srgbClr val="F2F2F2"/>
                    </a:solidFill>
                  </a:tcPr>
                </a:tc>
                <a:extLst>
                  <a:ext uri="{0D108BD9-81ED-4DB2-BD59-A6C34878D82A}">
                    <a16:rowId xmlns:a16="http://schemas.microsoft.com/office/drawing/2014/main" val="10002"/>
                  </a:ext>
                </a:extLst>
              </a:tr>
              <a:tr h="475488">
                <a:tc>
                  <a:txBody>
                    <a:bodyPr/>
                    <a:lstStyle/>
                    <a:p>
                      <a:pPr marL="0" indent="0">
                        <a:buNone/>
                      </a:pPr>
                      <a:r>
                        <a:rPr sz="1500" b="1">
                          <a:solidFill>
                            <a:srgbClr val="262626"/>
                          </a:solidFill>
                        </a:rPr>
                        <a:t>Example</a:t>
                      </a:r>
                    </a:p>
                  </a:txBody>
                  <a:tcPr marL="73152" marR="73152" marT="36576" marB="36576" anchor="ctr">
                    <a:solidFill>
                      <a:srgbClr val="DCE6F2"/>
                    </a:solidFill>
                  </a:tcPr>
                </a:tc>
                <a:tc>
                  <a:txBody>
                    <a:bodyPr/>
                    <a:lstStyle/>
                    <a:p>
                      <a:pPr marL="0" indent="0">
                        <a:buNone/>
                      </a:pPr>
                      <a:r>
                        <a:rPr sz="1500" b="0">
                          <a:solidFill>
                            <a:srgbClr val="262626"/>
                          </a:solidFill>
                        </a:rPr>
                        <a:t>"The system shall allow user login"</a:t>
                      </a:r>
                    </a:p>
                  </a:txBody>
                  <a:tcPr marL="73152" marR="73152" marT="36576" marB="36576" anchor="ctr">
                    <a:solidFill>
                      <a:srgbClr val="FFFFFF"/>
                    </a:solidFill>
                  </a:tcPr>
                </a:tc>
                <a:tc>
                  <a:txBody>
                    <a:bodyPr/>
                    <a:lstStyle/>
                    <a:p>
                      <a:pPr marL="0" indent="0">
                        <a:buNone/>
                      </a:pPr>
                      <a:r>
                        <a:rPr sz="1500" b="0">
                          <a:solidFill>
                            <a:srgbClr val="262626"/>
                          </a:solidFill>
                        </a:rPr>
                        <a:t>"The dashboard shall load in under 2 s"</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pPr marL="0" indent="0">
                        <a:buNone/>
                      </a:pPr>
                      <a:r>
                        <a:rPr sz="1500" b="1">
                          <a:solidFill>
                            <a:srgbClr val="262626"/>
                          </a:solidFill>
                        </a:rPr>
                        <a:t>Measurement</a:t>
                      </a:r>
                    </a:p>
                  </a:txBody>
                  <a:tcPr marL="73152" marR="73152" marT="36576" marB="36576" anchor="ctr">
                    <a:solidFill>
                      <a:srgbClr val="DCE6F2"/>
                    </a:solidFill>
                  </a:tcPr>
                </a:tc>
                <a:tc>
                  <a:txBody>
                    <a:bodyPr/>
                    <a:lstStyle/>
                    <a:p>
                      <a:pPr marL="0" indent="0">
                        <a:buNone/>
                      </a:pPr>
                      <a:r>
                        <a:rPr sz="1500" b="0">
                          <a:solidFill>
                            <a:srgbClr val="262626"/>
                          </a:solidFill>
                        </a:rPr>
                        <a:t>Pass/fail on correct output</a:t>
                      </a:r>
                    </a:p>
                  </a:txBody>
                  <a:tcPr marL="73152" marR="73152" marT="36576" marB="36576" anchor="ctr">
                    <a:solidFill>
                      <a:srgbClr val="F2F2F2"/>
                    </a:solidFill>
                  </a:tcPr>
                </a:tc>
                <a:tc>
                  <a:txBody>
                    <a:bodyPr/>
                    <a:lstStyle/>
                    <a:p>
                      <a:pPr marL="0" indent="0">
                        <a:buNone/>
                      </a:pPr>
                      <a:r>
                        <a:rPr sz="1500" b="0">
                          <a:solidFill>
                            <a:srgbClr val="262626"/>
                          </a:solidFill>
                        </a:rPr>
                        <a:t>Benchmarks, metrics, SLAs</a:t>
                      </a:r>
                    </a:p>
                  </a:txBody>
                  <a:tcPr marL="73152" marR="73152" marT="36576" marB="36576" anchor="ctr">
                    <a:solidFill>
                      <a:srgbClr val="F2F2F2"/>
                    </a:solidFill>
                  </a:tcPr>
                </a:tc>
                <a:extLst>
                  <a:ext uri="{0D108BD9-81ED-4DB2-BD59-A6C34878D82A}">
                    <a16:rowId xmlns:a16="http://schemas.microsoft.com/office/drawing/2014/main" val="10004"/>
                  </a:ext>
                </a:extLst>
              </a:tr>
              <a:tr h="475488">
                <a:tc>
                  <a:txBody>
                    <a:bodyPr/>
                    <a:lstStyle/>
                    <a:p>
                      <a:pPr marL="0" indent="0">
                        <a:buNone/>
                      </a:pPr>
                      <a:r>
                        <a:rPr sz="1500" b="1">
                          <a:solidFill>
                            <a:srgbClr val="262626"/>
                          </a:solidFill>
                        </a:rPr>
                        <a:t>Verification</a:t>
                      </a:r>
                    </a:p>
                  </a:txBody>
                  <a:tcPr marL="73152" marR="73152" marT="36576" marB="36576" anchor="ctr">
                    <a:solidFill>
                      <a:srgbClr val="DCE6F2"/>
                    </a:solidFill>
                  </a:tcPr>
                </a:tc>
                <a:tc>
                  <a:txBody>
                    <a:bodyPr/>
                    <a:lstStyle/>
                    <a:p>
                      <a:pPr marL="0" indent="0">
                        <a:buNone/>
                      </a:pPr>
                      <a:r>
                        <a:rPr sz="1500" b="0">
                          <a:solidFill>
                            <a:srgbClr val="262626"/>
                          </a:solidFill>
                        </a:rPr>
                        <a:t>Functional tests (unit, integration)</a:t>
                      </a:r>
                    </a:p>
                  </a:txBody>
                  <a:tcPr marL="73152" marR="73152" marT="36576" marB="36576" anchor="ctr">
                    <a:solidFill>
                      <a:srgbClr val="FFFFFF"/>
                    </a:solidFill>
                  </a:tcPr>
                </a:tc>
                <a:tc>
                  <a:txBody>
                    <a:bodyPr/>
                    <a:lstStyle/>
                    <a:p>
                      <a:pPr marL="0" indent="0">
                        <a:buNone/>
                      </a:pPr>
                      <a:r>
                        <a:rPr sz="1500" b="0">
                          <a:solidFill>
                            <a:srgbClr val="262626"/>
                          </a:solidFill>
                        </a:rPr>
                        <a:t>Performance, load, usability, security tests</a:t>
                      </a:r>
                    </a:p>
                  </a:txBody>
                  <a:tcPr marL="73152" marR="73152" marT="36576" marB="36576" anchor="ctr">
                    <a:solidFill>
                      <a:srgbClr val="FFFFFF"/>
                    </a:solidFill>
                  </a:tcPr>
                </a:tc>
                <a:extLst>
                  <a:ext uri="{0D108BD9-81ED-4DB2-BD59-A6C34878D82A}">
                    <a16:rowId xmlns:a16="http://schemas.microsoft.com/office/drawing/2014/main" val="10005"/>
                  </a:ext>
                </a:extLst>
              </a:tr>
              <a:tr h="475488">
                <a:tc>
                  <a:txBody>
                    <a:bodyPr/>
                    <a:lstStyle/>
                    <a:p>
                      <a:pPr marL="0" indent="0">
                        <a:buNone/>
                      </a:pPr>
                      <a:r>
                        <a:rPr sz="1500" b="1">
                          <a:solidFill>
                            <a:srgbClr val="262626"/>
                          </a:solidFill>
                        </a:rPr>
                        <a:t>Visibility</a:t>
                      </a:r>
                    </a:p>
                  </a:txBody>
                  <a:tcPr marL="73152" marR="73152" marT="36576" marB="36576" anchor="ctr">
                    <a:solidFill>
                      <a:srgbClr val="DCE6F2"/>
                    </a:solidFill>
                  </a:tcPr>
                </a:tc>
                <a:tc>
                  <a:txBody>
                    <a:bodyPr/>
                    <a:lstStyle/>
                    <a:p>
                      <a:pPr marL="0" indent="0">
                        <a:buNone/>
                      </a:pPr>
                      <a:r>
                        <a:rPr sz="1500" b="0">
                          <a:solidFill>
                            <a:srgbClr val="262626"/>
                          </a:solidFill>
                        </a:rPr>
                        <a:t>Directly observable</a:t>
                      </a:r>
                    </a:p>
                  </a:txBody>
                  <a:tcPr marL="73152" marR="73152" marT="36576" marB="36576" anchor="ctr">
                    <a:solidFill>
                      <a:srgbClr val="F2F2F2"/>
                    </a:solidFill>
                  </a:tcPr>
                </a:tc>
                <a:tc>
                  <a:txBody>
                    <a:bodyPr/>
                    <a:lstStyle/>
                    <a:p>
                      <a:pPr marL="0" indent="0">
                        <a:buNone/>
                      </a:pPr>
                      <a:r>
                        <a:rPr sz="1500" b="0">
                          <a:solidFill>
                            <a:srgbClr val="262626"/>
                          </a:solidFill>
                        </a:rPr>
                        <a:t>Often invisible until violated</a:t>
                      </a:r>
                    </a:p>
                  </a:txBody>
                  <a:tcPr marL="73152" marR="73152" marT="36576" marB="36576" anchor="ctr">
                    <a:solidFill>
                      <a:srgbClr val="F2F2F2"/>
                    </a:solidFill>
                  </a:tcPr>
                </a:tc>
                <a:extLst>
                  <a:ext uri="{0D108BD9-81ED-4DB2-BD59-A6C34878D82A}">
                    <a16:rowId xmlns:a16="http://schemas.microsoft.com/office/drawing/2014/main" val="10006"/>
                  </a:ext>
                </a:extLst>
              </a:tr>
              <a:tr h="475488">
                <a:tc>
                  <a:txBody>
                    <a:bodyPr/>
                    <a:lstStyle/>
                    <a:p>
                      <a:pPr marL="0" indent="0">
                        <a:buNone/>
                      </a:pPr>
                      <a:r>
                        <a:rPr sz="1500" b="1">
                          <a:solidFill>
                            <a:srgbClr val="262626"/>
                          </a:solidFill>
                        </a:rPr>
                        <a:t>Impact on design</a:t>
                      </a:r>
                    </a:p>
                  </a:txBody>
                  <a:tcPr marL="73152" marR="73152" marT="36576" marB="36576" anchor="ctr">
                    <a:solidFill>
                      <a:srgbClr val="DCE6F2"/>
                    </a:solidFill>
                  </a:tcPr>
                </a:tc>
                <a:tc>
                  <a:txBody>
                    <a:bodyPr/>
                    <a:lstStyle/>
                    <a:p>
                      <a:pPr marL="0" indent="0">
                        <a:buNone/>
                      </a:pPr>
                      <a:r>
                        <a:rPr sz="1500" b="0">
                          <a:solidFill>
                            <a:srgbClr val="262626"/>
                          </a:solidFill>
                        </a:rPr>
                        <a:t>Drives use cases and logic flow</a:t>
                      </a:r>
                    </a:p>
                  </a:txBody>
                  <a:tcPr marL="73152" marR="73152" marT="36576" marB="36576" anchor="ctr">
                    <a:solidFill>
                      <a:srgbClr val="FFFFFF"/>
                    </a:solidFill>
                  </a:tcPr>
                </a:tc>
                <a:tc>
                  <a:txBody>
                    <a:bodyPr/>
                    <a:lstStyle/>
                    <a:p>
                      <a:pPr marL="0" indent="0">
                        <a:buNone/>
                      </a:pPr>
                      <a:r>
                        <a:rPr sz="1500" b="0">
                          <a:solidFill>
                            <a:srgbClr val="262626"/>
                          </a:solidFill>
                        </a:rPr>
                        <a:t>Shapes architecture and deployment</a:t>
                      </a:r>
                    </a:p>
                  </a:txBody>
                  <a:tcPr marL="73152" marR="73152" marT="36576" marB="36576" anchor="ctr">
                    <a:solidFill>
                      <a:srgbClr val="FFFFFF"/>
                    </a:solidFill>
                  </a:tcPr>
                </a:tc>
                <a:extLst>
                  <a:ext uri="{0D108BD9-81ED-4DB2-BD59-A6C34878D82A}">
                    <a16:rowId xmlns:a16="http://schemas.microsoft.com/office/drawing/2014/main" val="10007"/>
                  </a:ext>
                </a:extLst>
              </a:tr>
              <a:tr h="475488">
                <a:tc>
                  <a:txBody>
                    <a:bodyPr/>
                    <a:lstStyle/>
                    <a:p>
                      <a:pPr marL="0" indent="0">
                        <a:buNone/>
                      </a:pPr>
                      <a:r>
                        <a:rPr sz="1500" b="1">
                          <a:solidFill>
                            <a:srgbClr val="262626"/>
                          </a:solidFill>
                        </a:rPr>
                        <a:t>Scope</a:t>
                      </a:r>
                    </a:p>
                  </a:txBody>
                  <a:tcPr marL="73152" marR="73152" marT="36576" marB="36576" anchor="ctr">
                    <a:solidFill>
                      <a:srgbClr val="DCE6F2"/>
                    </a:solidFill>
                  </a:tcPr>
                </a:tc>
                <a:tc>
                  <a:txBody>
                    <a:bodyPr/>
                    <a:lstStyle/>
                    <a:p>
                      <a:pPr marL="0" indent="0">
                        <a:buNone/>
                      </a:pPr>
                      <a:r>
                        <a:rPr sz="1500" b="0">
                          <a:solidFill>
                            <a:srgbClr val="262626"/>
                          </a:solidFill>
                        </a:rPr>
                        <a:t>Tied to specific functions or modules</a:t>
                      </a:r>
                    </a:p>
                  </a:txBody>
                  <a:tcPr marL="73152" marR="73152" marT="36576" marB="36576" anchor="ctr">
                    <a:solidFill>
                      <a:srgbClr val="F2F2F2"/>
                    </a:solidFill>
                  </a:tcPr>
                </a:tc>
                <a:tc>
                  <a:txBody>
                    <a:bodyPr/>
                    <a:lstStyle/>
                    <a:p>
                      <a:pPr marL="0" indent="0">
                        <a:buNone/>
                      </a:pPr>
                      <a:r>
                        <a:rPr sz="1500" b="0">
                          <a:solidFill>
                            <a:srgbClr val="262626"/>
                          </a:solidFill>
                        </a:rPr>
                        <a:t>Cross-cutting: affects many components</a:t>
                      </a:r>
                    </a:p>
                  </a:txBody>
                  <a:tcPr marL="73152" marR="73152" marT="36576" marB="36576" anchor="ctr">
                    <a:solidFill>
                      <a:srgbClr val="F2F2F2"/>
                    </a:solidFill>
                  </a:tcPr>
                </a:tc>
                <a:extLst>
                  <a:ext uri="{0D108BD9-81ED-4DB2-BD59-A6C34878D82A}">
                    <a16:rowId xmlns:a16="http://schemas.microsoft.com/office/drawing/2014/main" val="10008"/>
                  </a:ext>
                </a:extLst>
              </a:tr>
              <a:tr h="475488">
                <a:tc>
                  <a:txBody>
                    <a:bodyPr/>
                    <a:lstStyle/>
                    <a:p>
                      <a:pPr marL="0" indent="0">
                        <a:buNone/>
                      </a:pPr>
                      <a:r>
                        <a:rPr sz="1500" b="1">
                          <a:solidFill>
                            <a:srgbClr val="262626"/>
                          </a:solidFill>
                        </a:rPr>
                        <a:t>Documented in</a:t>
                      </a:r>
                    </a:p>
                  </a:txBody>
                  <a:tcPr marL="73152" marR="73152" marT="36576" marB="36576" anchor="ctr">
                    <a:solidFill>
                      <a:srgbClr val="DCE6F2"/>
                    </a:solidFill>
                  </a:tcPr>
                </a:tc>
                <a:tc>
                  <a:txBody>
                    <a:bodyPr/>
                    <a:lstStyle/>
                    <a:p>
                      <a:pPr marL="0" indent="0">
                        <a:buNone/>
                      </a:pPr>
                      <a:r>
                        <a:rPr sz="1500" b="0">
                          <a:solidFill>
                            <a:srgbClr val="262626"/>
                          </a:solidFill>
                        </a:rPr>
                        <a:t>Use cases, user stories, functional specs</a:t>
                      </a:r>
                    </a:p>
                  </a:txBody>
                  <a:tcPr marL="73152" marR="73152" marT="36576" marB="36576" anchor="ctr">
                    <a:solidFill>
                      <a:srgbClr val="FFFFFF"/>
                    </a:solidFill>
                  </a:tcPr>
                </a:tc>
                <a:tc>
                  <a:txBody>
                    <a:bodyPr/>
                    <a:lstStyle/>
                    <a:p>
                      <a:pPr marL="0" indent="0">
                        <a:buNone/>
                      </a:pPr>
                      <a:r>
                        <a:rPr sz="1500" b="0">
                          <a:solidFill>
                            <a:srgbClr val="262626"/>
                          </a:solidFill>
                        </a:rPr>
                        <a:t>Quality models, SLAs, system-wide constraints</a:t>
                      </a:r>
                    </a:p>
                  </a:txBody>
                  <a:tcPr marL="73152" marR="73152" marT="36576" marB="36576"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What Makes a Good Requirement?</a:t>
            </a:r>
          </a:p>
        </p:txBody>
      </p:sp>
      <p:sp>
        <p:nvSpPr>
          <p:cNvPr id="3" name="Rectangle 2"/>
          <p:cNvSpPr/>
          <p:nvPr/>
        </p:nvSpPr>
        <p:spPr>
          <a:xfrm>
            <a:off x="457200" y="118872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Necessary</a:t>
            </a:r>
          </a:p>
          <a:p>
            <a:pPr marL="0" indent="0" algn="l">
              <a:buNone/>
            </a:pPr>
            <a:r>
              <a:rPr sz="1400" b="0">
                <a:solidFill>
                  <a:srgbClr val="262626"/>
                </a:solidFill>
              </a:rPr>
              <a:t>removing it would leave a real gap</a:t>
            </a:r>
          </a:p>
        </p:txBody>
      </p:sp>
      <p:sp>
        <p:nvSpPr>
          <p:cNvPr id="4" name="Rectangle 3"/>
          <p:cNvSpPr/>
          <p:nvPr/>
        </p:nvSpPr>
        <p:spPr>
          <a:xfrm>
            <a:off x="4663440" y="118872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Unambiguous</a:t>
            </a:r>
          </a:p>
          <a:p>
            <a:pPr marL="0" indent="0" algn="l">
              <a:buNone/>
            </a:pPr>
            <a:r>
              <a:rPr sz="1400" b="0">
                <a:solidFill>
                  <a:srgbClr val="262626"/>
                </a:solidFill>
              </a:rPr>
              <a:t>one reading only</a:t>
            </a:r>
          </a:p>
        </p:txBody>
      </p:sp>
      <p:sp>
        <p:nvSpPr>
          <p:cNvPr id="5" name="Rectangle 4"/>
          <p:cNvSpPr/>
          <p:nvPr/>
        </p:nvSpPr>
        <p:spPr>
          <a:xfrm>
            <a:off x="457200" y="219456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Singular</a:t>
            </a:r>
          </a:p>
          <a:p>
            <a:pPr marL="0" indent="0" algn="l">
              <a:buNone/>
            </a:pPr>
            <a:r>
              <a:rPr sz="1400" b="0">
                <a:solidFill>
                  <a:srgbClr val="262626"/>
                </a:solidFill>
              </a:rPr>
              <a:t>one requirement per statement</a:t>
            </a:r>
          </a:p>
        </p:txBody>
      </p:sp>
      <p:sp>
        <p:nvSpPr>
          <p:cNvPr id="6" name="Rectangle 5"/>
          <p:cNvSpPr/>
          <p:nvPr/>
        </p:nvSpPr>
        <p:spPr>
          <a:xfrm>
            <a:off x="4663440" y="219456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Verifiable</a:t>
            </a:r>
          </a:p>
          <a:p>
            <a:pPr marL="0" indent="0" algn="l">
              <a:buNone/>
            </a:pPr>
            <a:r>
              <a:rPr sz="1400" b="0">
                <a:solidFill>
                  <a:srgbClr val="262626"/>
                </a:solidFill>
              </a:rPr>
              <a:t>a test or inspection can decide it</a:t>
            </a:r>
          </a:p>
        </p:txBody>
      </p:sp>
      <p:sp>
        <p:nvSpPr>
          <p:cNvPr id="7" name="Rectangle 6"/>
          <p:cNvSpPr/>
          <p:nvPr/>
        </p:nvSpPr>
        <p:spPr>
          <a:xfrm>
            <a:off x="457200" y="320040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Feasible</a:t>
            </a:r>
          </a:p>
          <a:p>
            <a:pPr marL="0" indent="0" algn="l">
              <a:buNone/>
            </a:pPr>
            <a:r>
              <a:rPr sz="1400" b="0">
                <a:solidFill>
                  <a:srgbClr val="262626"/>
                </a:solidFill>
              </a:rPr>
              <a:t>achievable within cost, time, technology</a:t>
            </a:r>
          </a:p>
        </p:txBody>
      </p:sp>
      <p:sp>
        <p:nvSpPr>
          <p:cNvPr id="8" name="Rectangle 7"/>
          <p:cNvSpPr/>
          <p:nvPr/>
        </p:nvSpPr>
        <p:spPr>
          <a:xfrm>
            <a:off x="4663440" y="320040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Complete</a:t>
            </a:r>
          </a:p>
          <a:p>
            <a:pPr marL="0" indent="0" algn="l">
              <a:buNone/>
            </a:pPr>
            <a:r>
              <a:rPr sz="1400" b="0">
                <a:solidFill>
                  <a:srgbClr val="262626"/>
                </a:solidFill>
              </a:rPr>
              <a:t>no missing cases or values</a:t>
            </a:r>
          </a:p>
        </p:txBody>
      </p:sp>
      <p:sp>
        <p:nvSpPr>
          <p:cNvPr id="9" name="Rectangle 8"/>
          <p:cNvSpPr/>
          <p:nvPr/>
        </p:nvSpPr>
        <p:spPr>
          <a:xfrm>
            <a:off x="457200" y="420624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Consistent</a:t>
            </a:r>
          </a:p>
          <a:p>
            <a:pPr marL="0" indent="0" algn="l">
              <a:buNone/>
            </a:pPr>
            <a:r>
              <a:rPr sz="1400" b="0">
                <a:solidFill>
                  <a:srgbClr val="262626"/>
                </a:solidFill>
              </a:rPr>
              <a:t>does not contradict another requirement</a:t>
            </a:r>
          </a:p>
        </p:txBody>
      </p:sp>
      <p:sp>
        <p:nvSpPr>
          <p:cNvPr id="10" name="Rectangle 9"/>
          <p:cNvSpPr/>
          <p:nvPr/>
        </p:nvSpPr>
        <p:spPr>
          <a:xfrm>
            <a:off x="4663440" y="4206240"/>
            <a:ext cx="4023360" cy="868680"/>
          </a:xfrm>
          <a:prstGeom prst="rect">
            <a:avLst/>
          </a:prstGeom>
          <a:solidFill>
            <a:srgbClr val="F2F2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Traceable</a:t>
            </a:r>
          </a:p>
          <a:p>
            <a:pPr marL="0" indent="0" algn="l">
              <a:buNone/>
            </a:pPr>
            <a:r>
              <a:rPr sz="1400" b="0">
                <a:solidFill>
                  <a:srgbClr val="262626"/>
                </a:solidFill>
              </a:rPr>
              <a:t>linked to a need and to a test</a:t>
            </a:r>
          </a:p>
        </p:txBody>
      </p:sp>
      <p:sp>
        <p:nvSpPr>
          <p:cNvPr id="11" name="Rectangle 10"/>
          <p:cNvSpPr/>
          <p:nvPr/>
        </p:nvSpPr>
        <p:spPr>
          <a:xfrm>
            <a:off x="457200" y="5349240"/>
            <a:ext cx="8229600" cy="868680"/>
          </a:xfrm>
          <a:prstGeom prst="rect">
            <a:avLst/>
          </a:prstGeom>
          <a:solidFill>
            <a:srgbClr val="DCE6F2"/>
          </a:solidFill>
          <a:ln>
            <a:noFill/>
          </a:ln>
          <a:effectLst/>
        </p:spPr>
        <p:txBody>
          <a:bodyPr wrap="square" lIns="182880" tIns="54864" rIns="182880" bIns="54864" rtlCol="0" anchor="ctr"/>
          <a:lstStyle/>
          <a:p>
            <a:pPr marL="0" indent="0" algn="l">
              <a:buNone/>
            </a:pPr>
            <a:r>
              <a:rPr sz="1500" b="0">
                <a:solidFill>
                  <a:srgbClr val="262626"/>
                </a:solidFill>
              </a:rPr>
              <a:t>Track them: give each requirement an ID, an owner and an acceptance test, and use a requirements tool (e.g. Jira, DOORS, ReqIF-based tools) so changes can be traced through design and tests.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NFRs Shape Architecture</a:t>
            </a:r>
          </a:p>
        </p:txBody>
      </p:sp>
      <p:sp>
        <p:nvSpPr>
          <p:cNvPr id="3" name="Rectangle 2"/>
          <p:cNvSpPr/>
          <p:nvPr/>
        </p:nvSpPr>
        <p:spPr>
          <a:xfrm>
            <a:off x="457200" y="1234440"/>
            <a:ext cx="4000500" cy="2286000"/>
          </a:xfrm>
          <a:prstGeom prst="rect">
            <a:avLst/>
          </a:prstGeom>
          <a:solidFill>
            <a:srgbClr val="DCE6F2"/>
          </a:solidFill>
          <a:ln>
            <a:noFill/>
          </a:ln>
          <a:effectLst/>
        </p:spPr>
        <p:txBody>
          <a:bodyPr rtlCol="0" anchor="ctr"/>
          <a:lstStyle/>
          <a:p>
            <a:pPr algn="ctr"/>
            <a:endParaRPr/>
          </a:p>
        </p:txBody>
      </p:sp>
      <p:sp>
        <p:nvSpPr>
          <p:cNvPr id="4" name="Oval 3"/>
          <p:cNvSpPr/>
          <p:nvPr/>
        </p:nvSpPr>
        <p:spPr>
          <a:xfrm>
            <a:off x="640080" y="141732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1</a:t>
            </a:r>
          </a:p>
        </p:txBody>
      </p:sp>
      <p:sp>
        <p:nvSpPr>
          <p:cNvPr id="5" name="TextBox 4"/>
          <p:cNvSpPr txBox="1"/>
          <p:nvPr/>
        </p:nvSpPr>
        <p:spPr>
          <a:xfrm>
            <a:off x="1234440" y="141732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Technology stack</a:t>
            </a:r>
          </a:p>
        </p:txBody>
      </p:sp>
      <p:sp>
        <p:nvSpPr>
          <p:cNvPr id="6" name="TextBox 5"/>
          <p:cNvSpPr txBox="1"/>
          <p:nvPr/>
        </p:nvSpPr>
        <p:spPr>
          <a:xfrm>
            <a:off x="640080" y="201168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Frameworks, languages and protocols chosen for performance or security NFRs.</a:t>
            </a:r>
          </a:p>
        </p:txBody>
      </p:sp>
      <p:sp>
        <p:nvSpPr>
          <p:cNvPr id="7" name="TextBox 6"/>
          <p:cNvSpPr txBox="1"/>
          <p:nvPr/>
        </p:nvSpPr>
        <p:spPr>
          <a:xfrm>
            <a:off x="640080" y="292608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MQTT over TLS for low-power sensors</a:t>
            </a:r>
          </a:p>
        </p:txBody>
      </p:sp>
      <p:sp>
        <p:nvSpPr>
          <p:cNvPr id="8" name="Rectangle 7"/>
          <p:cNvSpPr/>
          <p:nvPr/>
        </p:nvSpPr>
        <p:spPr>
          <a:xfrm>
            <a:off x="4686300" y="1234440"/>
            <a:ext cx="4000500" cy="2286000"/>
          </a:xfrm>
          <a:prstGeom prst="rect">
            <a:avLst/>
          </a:prstGeom>
          <a:solidFill>
            <a:srgbClr val="DCE6F2"/>
          </a:solidFill>
          <a:ln>
            <a:noFill/>
          </a:ln>
          <a:effectLst/>
        </p:spPr>
        <p:txBody>
          <a:bodyPr rtlCol="0" anchor="ctr"/>
          <a:lstStyle/>
          <a:p>
            <a:pPr algn="ctr"/>
            <a:endParaRPr/>
          </a:p>
        </p:txBody>
      </p:sp>
      <p:sp>
        <p:nvSpPr>
          <p:cNvPr id="9" name="Oval 8"/>
          <p:cNvSpPr/>
          <p:nvPr/>
        </p:nvSpPr>
        <p:spPr>
          <a:xfrm>
            <a:off x="4869180" y="141732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2</a:t>
            </a:r>
          </a:p>
        </p:txBody>
      </p:sp>
      <p:sp>
        <p:nvSpPr>
          <p:cNvPr id="10" name="TextBox 9"/>
          <p:cNvSpPr txBox="1"/>
          <p:nvPr/>
        </p:nvSpPr>
        <p:spPr>
          <a:xfrm>
            <a:off x="5463540" y="141732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Hardware</a:t>
            </a:r>
          </a:p>
        </p:txBody>
      </p:sp>
      <p:sp>
        <p:nvSpPr>
          <p:cNvPr id="11" name="TextBox 10"/>
          <p:cNvSpPr txBox="1"/>
          <p:nvPr/>
        </p:nvSpPr>
        <p:spPr>
          <a:xfrm>
            <a:off x="4869180" y="201168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Processing power, memory and bandwidth set by capacity NFRs.</a:t>
            </a:r>
          </a:p>
        </p:txBody>
      </p:sp>
      <p:sp>
        <p:nvSpPr>
          <p:cNvPr id="12" name="TextBox 11"/>
          <p:cNvSpPr txBox="1"/>
          <p:nvPr/>
        </p:nvSpPr>
        <p:spPr>
          <a:xfrm>
            <a:off x="4869180" y="292608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100+ sensors sets gateway capacity</a:t>
            </a:r>
          </a:p>
        </p:txBody>
      </p:sp>
      <p:sp>
        <p:nvSpPr>
          <p:cNvPr id="13" name="Rectangle 12"/>
          <p:cNvSpPr/>
          <p:nvPr/>
        </p:nvSpPr>
        <p:spPr>
          <a:xfrm>
            <a:off x="457200" y="3703320"/>
            <a:ext cx="4000500" cy="2286000"/>
          </a:xfrm>
          <a:prstGeom prst="rect">
            <a:avLst/>
          </a:prstGeom>
          <a:solidFill>
            <a:srgbClr val="DCE6F2"/>
          </a:solidFill>
          <a:ln>
            <a:noFill/>
          </a:ln>
          <a:effectLst/>
        </p:spPr>
        <p:txBody>
          <a:bodyPr rtlCol="0" anchor="ctr"/>
          <a:lstStyle/>
          <a:p>
            <a:pPr algn="ctr"/>
            <a:endParaRPr/>
          </a:p>
        </p:txBody>
      </p:sp>
      <p:sp>
        <p:nvSpPr>
          <p:cNvPr id="14" name="Oval 13"/>
          <p:cNvSpPr/>
          <p:nvPr/>
        </p:nvSpPr>
        <p:spPr>
          <a:xfrm>
            <a:off x="640080" y="388620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3</a:t>
            </a:r>
          </a:p>
        </p:txBody>
      </p:sp>
      <p:sp>
        <p:nvSpPr>
          <p:cNvPr id="15" name="TextBox 14"/>
          <p:cNvSpPr txBox="1"/>
          <p:nvPr/>
        </p:nvSpPr>
        <p:spPr>
          <a:xfrm>
            <a:off x="1234440" y="388620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Deployment</a:t>
            </a:r>
          </a:p>
        </p:txBody>
      </p:sp>
      <p:sp>
        <p:nvSpPr>
          <p:cNvPr id="16" name="TextBox 15"/>
          <p:cNvSpPr txBox="1"/>
          <p:nvPr/>
        </p:nvSpPr>
        <p:spPr>
          <a:xfrm>
            <a:off x="640080" y="448056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Cloud, on-premises or hybrid, driven by availability and data-location NFRs.</a:t>
            </a:r>
          </a:p>
        </p:txBody>
      </p:sp>
      <p:sp>
        <p:nvSpPr>
          <p:cNvPr id="17" name="TextBox 16"/>
          <p:cNvSpPr txBox="1"/>
          <p:nvPr/>
        </p:nvSpPr>
        <p:spPr>
          <a:xfrm>
            <a:off x="640080" y="539496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student data stays on campus servers</a:t>
            </a:r>
          </a:p>
        </p:txBody>
      </p:sp>
      <p:sp>
        <p:nvSpPr>
          <p:cNvPr id="18" name="Rectangle 17"/>
          <p:cNvSpPr/>
          <p:nvPr/>
        </p:nvSpPr>
        <p:spPr>
          <a:xfrm>
            <a:off x="4686300" y="3703320"/>
            <a:ext cx="4000500" cy="2286000"/>
          </a:xfrm>
          <a:prstGeom prst="rect">
            <a:avLst/>
          </a:prstGeom>
          <a:solidFill>
            <a:srgbClr val="DCE6F2"/>
          </a:solidFill>
          <a:ln>
            <a:noFill/>
          </a:ln>
          <a:effectLst/>
        </p:spPr>
        <p:txBody>
          <a:bodyPr rtlCol="0" anchor="ctr"/>
          <a:lstStyle/>
          <a:p>
            <a:pPr algn="ctr"/>
            <a:endParaRPr/>
          </a:p>
        </p:txBody>
      </p:sp>
      <p:sp>
        <p:nvSpPr>
          <p:cNvPr id="19" name="Oval 18"/>
          <p:cNvSpPr/>
          <p:nvPr/>
        </p:nvSpPr>
        <p:spPr>
          <a:xfrm>
            <a:off x="4869180" y="388620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4</a:t>
            </a:r>
          </a:p>
        </p:txBody>
      </p:sp>
      <p:sp>
        <p:nvSpPr>
          <p:cNvPr id="20" name="TextBox 19"/>
          <p:cNvSpPr txBox="1"/>
          <p:nvPr/>
        </p:nvSpPr>
        <p:spPr>
          <a:xfrm>
            <a:off x="5463540" y="3886200"/>
            <a:ext cx="3086100" cy="457200"/>
          </a:xfrm>
          <a:prstGeom prst="rect">
            <a:avLst/>
          </a:prstGeom>
          <a:noFill/>
        </p:spPr>
        <p:txBody>
          <a:bodyPr wrap="square" lIns="73152" tIns="54864" rIns="73152" bIns="54864" anchor="ctr">
            <a:spAutoFit/>
          </a:bodyPr>
          <a:lstStyle/>
          <a:p>
            <a:pPr marL="0" indent="0" algn="l">
              <a:buNone/>
            </a:pPr>
            <a:r>
              <a:rPr sz="2000" b="1">
                <a:solidFill>
                  <a:srgbClr val="1F497D"/>
                </a:solidFill>
              </a:rPr>
              <a:t>Fault tolerance</a:t>
            </a:r>
          </a:p>
        </p:txBody>
      </p:sp>
      <p:sp>
        <p:nvSpPr>
          <p:cNvPr id="21" name="TextBox 20"/>
          <p:cNvSpPr txBox="1"/>
          <p:nvPr/>
        </p:nvSpPr>
        <p:spPr>
          <a:xfrm>
            <a:off x="4869180" y="4480560"/>
            <a:ext cx="3634740" cy="914400"/>
          </a:xfrm>
          <a:prstGeom prst="rect">
            <a:avLst/>
          </a:prstGeom>
          <a:noFill/>
        </p:spPr>
        <p:txBody>
          <a:bodyPr wrap="square" lIns="73152" tIns="54864" rIns="73152" bIns="54864" anchor="t">
            <a:spAutoFit/>
          </a:bodyPr>
          <a:lstStyle/>
          <a:p>
            <a:pPr marL="0" indent="0" algn="l">
              <a:buNone/>
            </a:pPr>
            <a:r>
              <a:rPr sz="1600" b="0">
                <a:solidFill>
                  <a:srgbClr val="262626"/>
                </a:solidFill>
              </a:rPr>
              <a:t>Redundancy and failover shaped by reliability NFRs.</a:t>
            </a:r>
          </a:p>
        </p:txBody>
      </p:sp>
      <p:sp>
        <p:nvSpPr>
          <p:cNvPr id="22" name="TextBox 21"/>
          <p:cNvSpPr txBox="1"/>
          <p:nvPr/>
        </p:nvSpPr>
        <p:spPr>
          <a:xfrm>
            <a:off x="4869180" y="5394960"/>
            <a:ext cx="3634740" cy="502920"/>
          </a:xfrm>
          <a:prstGeom prst="rect">
            <a:avLst/>
          </a:prstGeom>
          <a:noFill/>
        </p:spPr>
        <p:txBody>
          <a:bodyPr wrap="square" lIns="73152" tIns="54864" rIns="73152" bIns="54864" anchor="ctr">
            <a:spAutoFit/>
          </a:bodyPr>
          <a:lstStyle/>
          <a:p>
            <a:pPr marL="0" indent="0" algn="l">
              <a:buNone/>
            </a:pPr>
            <a:r>
              <a:rPr sz="1400" b="0" i="1">
                <a:solidFill>
                  <a:srgbClr val="595959"/>
                </a:solidFill>
              </a:rPr>
              <a:t>e.g. sensor node buffers readings if the network drops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Multi-Component Interplay</a:t>
            </a:r>
          </a:p>
        </p:txBody>
      </p:sp>
      <p:sp>
        <p:nvSpPr>
          <p:cNvPr id="3" name="Rectangle 2"/>
          <p:cNvSpPr/>
          <p:nvPr/>
        </p:nvSpPr>
        <p:spPr>
          <a:xfrm>
            <a:off x="457200" y="1188720"/>
            <a:ext cx="2621280" cy="3474720"/>
          </a:xfrm>
          <a:prstGeom prst="rect">
            <a:avLst/>
          </a:prstGeom>
          <a:solidFill>
            <a:srgbClr val="FDE9D9"/>
          </a:solidFill>
          <a:ln>
            <a:noFill/>
          </a:ln>
          <a:effectLst/>
        </p:spPr>
        <p:txBody>
          <a:bodyPr rtlCol="0" anchor="ctr"/>
          <a:lstStyle/>
          <a:p>
            <a:pPr algn="ctr"/>
            <a:endParaRPr/>
          </a:p>
        </p:txBody>
      </p:sp>
      <p:sp>
        <p:nvSpPr>
          <p:cNvPr id="4" name="TextBox 3"/>
          <p:cNvSpPr txBox="1"/>
          <p:nvPr/>
        </p:nvSpPr>
        <p:spPr>
          <a:xfrm>
            <a:off x="457200" y="1234440"/>
            <a:ext cx="2621280" cy="548640"/>
          </a:xfrm>
          <a:prstGeom prst="rect">
            <a:avLst/>
          </a:prstGeom>
          <a:noFill/>
        </p:spPr>
        <p:txBody>
          <a:bodyPr wrap="square" lIns="73152" tIns="54864" rIns="73152" bIns="54864" anchor="ctr">
            <a:spAutoFit/>
          </a:bodyPr>
          <a:lstStyle/>
          <a:p>
            <a:pPr marL="0" indent="0" algn="ctr">
              <a:buNone/>
            </a:pPr>
            <a:r>
              <a:rPr sz="2200" b="1">
                <a:solidFill>
                  <a:srgbClr val="E36C09"/>
                </a:solidFill>
              </a:rPr>
              <a:t>Hardware</a:t>
            </a:r>
          </a:p>
        </p:txBody>
      </p:sp>
      <p:sp>
        <p:nvSpPr>
          <p:cNvPr id="5" name="TextBox 4"/>
          <p:cNvSpPr txBox="1"/>
          <p:nvPr/>
        </p:nvSpPr>
        <p:spPr>
          <a:xfrm>
            <a:off x="548640" y="1828800"/>
            <a:ext cx="2438400" cy="2926080"/>
          </a:xfrm>
          <a:prstGeom prst="rect">
            <a:avLst/>
          </a:prstGeom>
          <a:noFill/>
        </p:spPr>
        <p:txBody>
          <a:bodyPr wrap="square" lIns="73152" tIns="54864" rIns="73152" bIns="54864" anchor="t">
            <a:spAutoFit/>
          </a:bodyPr>
          <a:lstStyle/>
          <a:p>
            <a:pPr marL="0" indent="0" algn="l">
              <a:spcAft>
                <a:spcPts val="900"/>
              </a:spcAft>
              <a:buNone/>
            </a:pPr>
            <a:r>
              <a:rPr sz="1600" b="1">
                <a:solidFill>
                  <a:srgbClr val="E36C09"/>
                </a:solidFill>
              </a:rPr>
              <a:t>FR: </a:t>
            </a:r>
            <a:r>
              <a:rPr sz="1600" b="0">
                <a:solidFill>
                  <a:srgbClr val="262626"/>
                </a:solidFill>
              </a:rPr>
              <a:t>"Sensor captures temperature every 1 second"</a:t>
            </a:r>
          </a:p>
          <a:p>
            <a:pPr marL="0" indent="0" algn="l">
              <a:spcAft>
                <a:spcPts val="900"/>
              </a:spcAft>
              <a:buNone/>
            </a:pPr>
            <a:r>
              <a:rPr sz="1600" b="1">
                <a:solidFill>
                  <a:srgbClr val="E36C09"/>
                </a:solidFill>
              </a:rPr>
              <a:t>NFR: </a:t>
            </a:r>
            <a:r>
              <a:rPr sz="1600" b="0">
                <a:solidFill>
                  <a:srgbClr val="262626"/>
                </a:solidFill>
              </a:rPr>
              <a:t>"Sensor accuracy shall be ±0.1 °C"</a:t>
            </a:r>
          </a:p>
          <a:p>
            <a:pPr marL="0" indent="0" algn="l">
              <a:spcAft>
                <a:spcPts val="900"/>
              </a:spcAft>
              <a:buNone/>
            </a:pPr>
            <a:r>
              <a:rPr sz="1600" b="1">
                <a:solidFill>
                  <a:srgbClr val="E36C09"/>
                </a:solidFill>
              </a:rPr>
              <a:t>NFR: </a:t>
            </a:r>
            <a:r>
              <a:rPr sz="1600" b="0">
                <a:solidFill>
                  <a:srgbClr val="262626"/>
                </a:solidFill>
              </a:rPr>
              <a:t>"Battery life shall exceed 1 year"</a:t>
            </a:r>
          </a:p>
        </p:txBody>
      </p:sp>
      <p:sp>
        <p:nvSpPr>
          <p:cNvPr id="6" name="Rectangle 5"/>
          <p:cNvSpPr/>
          <p:nvPr/>
        </p:nvSpPr>
        <p:spPr>
          <a:xfrm>
            <a:off x="3261360" y="1188720"/>
            <a:ext cx="2621280" cy="3474720"/>
          </a:xfrm>
          <a:prstGeom prst="rect">
            <a:avLst/>
          </a:prstGeom>
          <a:solidFill>
            <a:srgbClr val="DCE6F2"/>
          </a:solidFill>
          <a:ln>
            <a:noFill/>
          </a:ln>
          <a:effectLst/>
        </p:spPr>
        <p:txBody>
          <a:bodyPr rtlCol="0" anchor="ctr"/>
          <a:lstStyle/>
          <a:p>
            <a:pPr algn="ctr"/>
            <a:endParaRPr/>
          </a:p>
        </p:txBody>
      </p:sp>
      <p:sp>
        <p:nvSpPr>
          <p:cNvPr id="7" name="TextBox 6"/>
          <p:cNvSpPr txBox="1"/>
          <p:nvPr/>
        </p:nvSpPr>
        <p:spPr>
          <a:xfrm>
            <a:off x="3261360" y="1234440"/>
            <a:ext cx="2621280" cy="548640"/>
          </a:xfrm>
          <a:prstGeom prst="rect">
            <a:avLst/>
          </a:prstGeom>
          <a:noFill/>
        </p:spPr>
        <p:txBody>
          <a:bodyPr wrap="square" lIns="73152" tIns="54864" rIns="73152" bIns="54864" anchor="ctr">
            <a:spAutoFit/>
          </a:bodyPr>
          <a:lstStyle/>
          <a:p>
            <a:pPr marL="0" indent="0" algn="ctr">
              <a:buNone/>
            </a:pPr>
            <a:r>
              <a:rPr sz="2200" b="1">
                <a:solidFill>
                  <a:srgbClr val="1F497D"/>
                </a:solidFill>
              </a:rPr>
              <a:t>Software</a:t>
            </a:r>
          </a:p>
        </p:txBody>
      </p:sp>
      <p:sp>
        <p:nvSpPr>
          <p:cNvPr id="8" name="TextBox 7"/>
          <p:cNvSpPr txBox="1"/>
          <p:nvPr/>
        </p:nvSpPr>
        <p:spPr>
          <a:xfrm>
            <a:off x="3352800" y="1828800"/>
            <a:ext cx="2438400" cy="2926080"/>
          </a:xfrm>
          <a:prstGeom prst="rect">
            <a:avLst/>
          </a:prstGeom>
          <a:noFill/>
        </p:spPr>
        <p:txBody>
          <a:bodyPr wrap="square" lIns="73152" tIns="54864" rIns="73152" bIns="54864" anchor="t">
            <a:spAutoFit/>
          </a:bodyPr>
          <a:lstStyle/>
          <a:p>
            <a:pPr marL="0" indent="0" algn="l">
              <a:spcAft>
                <a:spcPts val="900"/>
              </a:spcAft>
              <a:buNone/>
            </a:pPr>
            <a:r>
              <a:rPr sz="1600" b="1">
                <a:solidFill>
                  <a:srgbClr val="1F497D"/>
                </a:solidFill>
              </a:rPr>
              <a:t>FR: </a:t>
            </a:r>
            <a:r>
              <a:rPr sz="1600" b="0">
                <a:solidFill>
                  <a:srgbClr val="262626"/>
                </a:solidFill>
              </a:rPr>
              <a:t>"System displays temperature readings"</a:t>
            </a:r>
          </a:p>
          <a:p>
            <a:pPr marL="0" indent="0" algn="l">
              <a:spcAft>
                <a:spcPts val="900"/>
              </a:spcAft>
              <a:buNone/>
            </a:pPr>
            <a:r>
              <a:rPr sz="1600" b="1">
                <a:solidFill>
                  <a:srgbClr val="1F497D"/>
                </a:solidFill>
              </a:rPr>
              <a:t>NFR: </a:t>
            </a:r>
            <a:r>
              <a:rPr sz="1600" b="0">
                <a:solidFill>
                  <a:srgbClr val="262626"/>
                </a:solidFill>
              </a:rPr>
              <a:t>"UI updates within 0.5 seconds"</a:t>
            </a:r>
          </a:p>
          <a:p>
            <a:pPr marL="0" indent="0" algn="l">
              <a:spcAft>
                <a:spcPts val="900"/>
              </a:spcAft>
              <a:buNone/>
            </a:pPr>
            <a:r>
              <a:rPr sz="1600" b="1">
                <a:solidFill>
                  <a:srgbClr val="1F497D"/>
                </a:solidFill>
              </a:rPr>
              <a:t>NFR: </a:t>
            </a:r>
            <a:r>
              <a:rPr sz="1600" b="0">
                <a:solidFill>
                  <a:srgbClr val="262626"/>
                </a:solidFill>
              </a:rPr>
              <a:t>"System shall support 100+ sensors"</a:t>
            </a:r>
          </a:p>
        </p:txBody>
      </p:sp>
      <p:sp>
        <p:nvSpPr>
          <p:cNvPr id="9" name="Rectangle 8"/>
          <p:cNvSpPr/>
          <p:nvPr/>
        </p:nvSpPr>
        <p:spPr>
          <a:xfrm>
            <a:off x="6065520" y="1188720"/>
            <a:ext cx="2621280" cy="347472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6065520" y="1234440"/>
            <a:ext cx="2621280" cy="548640"/>
          </a:xfrm>
          <a:prstGeom prst="rect">
            <a:avLst/>
          </a:prstGeom>
          <a:noFill/>
        </p:spPr>
        <p:txBody>
          <a:bodyPr wrap="square" lIns="73152" tIns="54864" rIns="73152" bIns="54864" anchor="ctr">
            <a:spAutoFit/>
          </a:bodyPr>
          <a:lstStyle/>
          <a:p>
            <a:pPr marL="0" indent="0" algn="ctr">
              <a:buNone/>
            </a:pPr>
            <a:r>
              <a:rPr sz="2200" b="1">
                <a:solidFill>
                  <a:srgbClr val="31859C"/>
                </a:solidFill>
              </a:rPr>
              <a:t>Learning</a:t>
            </a:r>
          </a:p>
        </p:txBody>
      </p:sp>
      <p:sp>
        <p:nvSpPr>
          <p:cNvPr id="11" name="TextBox 10"/>
          <p:cNvSpPr txBox="1"/>
          <p:nvPr/>
        </p:nvSpPr>
        <p:spPr>
          <a:xfrm>
            <a:off x="6156960" y="1828800"/>
            <a:ext cx="2438400" cy="2926080"/>
          </a:xfrm>
          <a:prstGeom prst="rect">
            <a:avLst/>
          </a:prstGeom>
          <a:noFill/>
        </p:spPr>
        <p:txBody>
          <a:bodyPr wrap="square" lIns="73152" tIns="54864" rIns="73152" bIns="54864" anchor="t">
            <a:spAutoFit/>
          </a:bodyPr>
          <a:lstStyle/>
          <a:p>
            <a:pPr marL="0" indent="0" algn="l">
              <a:spcAft>
                <a:spcPts val="900"/>
              </a:spcAft>
              <a:buNone/>
            </a:pPr>
            <a:r>
              <a:rPr sz="1600" b="1">
                <a:solidFill>
                  <a:srgbClr val="31859C"/>
                </a:solidFill>
              </a:rPr>
              <a:t>FR: </a:t>
            </a:r>
            <a:r>
              <a:rPr sz="1600" b="0">
                <a:solidFill>
                  <a:srgbClr val="262626"/>
                </a:solidFill>
              </a:rPr>
              <a:t>"Tutorbot suggests a hint when requested"</a:t>
            </a:r>
          </a:p>
          <a:p>
            <a:pPr marL="0" indent="0" algn="l">
              <a:spcAft>
                <a:spcPts val="900"/>
              </a:spcAft>
              <a:buNone/>
            </a:pPr>
            <a:r>
              <a:rPr sz="1600" b="1">
                <a:solidFill>
                  <a:srgbClr val="31859C"/>
                </a:solidFill>
              </a:rPr>
              <a:t>NFR: </a:t>
            </a:r>
            <a:r>
              <a:rPr sz="1600" b="0">
                <a:solidFill>
                  <a:srgbClr val="262626"/>
                </a:solidFill>
              </a:rPr>
              <a:t>"Hint relevancy rated &gt;80% by students"</a:t>
            </a:r>
          </a:p>
          <a:p>
            <a:pPr marL="0" indent="0" algn="l">
              <a:spcAft>
                <a:spcPts val="900"/>
              </a:spcAft>
              <a:buNone/>
            </a:pPr>
            <a:r>
              <a:rPr sz="1600" b="1">
                <a:solidFill>
                  <a:srgbClr val="31859C"/>
                </a:solidFill>
              </a:rPr>
              <a:t>NFR: </a:t>
            </a:r>
            <a:r>
              <a:rPr sz="1600" b="0">
                <a:solidFill>
                  <a:srgbClr val="262626"/>
                </a:solidFill>
              </a:rPr>
              <a:t>"System adapts to user proficiency in ≤ 3 sessions"</a:t>
            </a:r>
          </a:p>
        </p:txBody>
      </p:sp>
      <p:sp>
        <p:nvSpPr>
          <p:cNvPr id="12" name="Rectangle 11"/>
          <p:cNvSpPr/>
          <p:nvPr/>
        </p:nvSpPr>
        <p:spPr>
          <a:xfrm>
            <a:off x="457200" y="4892040"/>
            <a:ext cx="8229600" cy="1417320"/>
          </a:xfrm>
          <a:prstGeom prst="rect">
            <a:avLst/>
          </a:prstGeom>
          <a:solidFill>
            <a:srgbClr val="FFFFFF"/>
          </a:solidFill>
          <a:ln w="12700">
            <a:solidFill>
              <a:srgbClr val="BFBFBF"/>
            </a:solidFill>
          </a:ln>
          <a:effectLst/>
        </p:spPr>
        <p:txBody>
          <a:bodyPr wrap="square" lIns="182880" tIns="54864" rIns="182880" bIns="54864" rtlCol="0" anchor="ctr"/>
          <a:lstStyle/>
          <a:p>
            <a:pPr marL="0" indent="0" algn="l">
              <a:buNone/>
            </a:pPr>
            <a:r>
              <a:rPr sz="1600" b="1">
                <a:solidFill>
                  <a:srgbClr val="1F497D"/>
                </a:solidFill>
              </a:rPr>
              <a:t>Where components meet, requirements become interface requirements: </a:t>
            </a:r>
            <a:r>
              <a:rPr sz="1600" b="0">
                <a:solidFill>
                  <a:srgbClr val="262626"/>
                </a:solidFill>
              </a:rPr>
              <a:t>data rate, format, units, latency and error handling. Getting these right makes components loosely coupled and independently testable.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02DFA9-1A7F-384F-9364-52518B21DDA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27736</TotalTime>
  <Words>3718</Words>
  <Application>Microsoft Macintosh PowerPoint</Application>
  <PresentationFormat>On-screen Show (4:3)</PresentationFormat>
  <Paragraphs>365</Paragraphs>
  <Slides>22</Slides>
  <Notes>22</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AICE2005 - Systematic Design  Functional and Non-Functional Requirements</vt:lpstr>
      <vt:lpstr>Week Overview</vt:lpstr>
      <vt:lpstr>Lecture 1 Overview</vt:lpstr>
      <vt:lpstr>What is a Requirement?</vt:lpstr>
      <vt:lpstr>Functional Requirements (FRs)</vt:lpstr>
      <vt:lpstr>Non-Functional Requirements (NFRs)</vt:lpstr>
      <vt:lpstr>Appendix: FR vs. NFR Key Differences</vt:lpstr>
      <vt:lpstr>Exercise: Which is which?</vt:lpstr>
      <vt:lpstr>Quality Attributes: ISO/IEC 25010</vt:lpstr>
      <vt:lpstr>From Vague to Measurable</vt:lpstr>
      <vt:lpstr>Five Questions to Remove Ambiguity</vt:lpstr>
      <vt:lpstr>A Requirement Read as Logic</vt:lpstr>
      <vt:lpstr>Sentence Templates: EARS</vt:lpstr>
      <vt:lpstr>Spot the Problem, Then Rewrite</vt:lpstr>
      <vt:lpstr>Allocating an NFR Across Components</vt:lpstr>
      <vt:lpstr>NFRs Conflict: Managing Trade-offs</vt:lpstr>
      <vt:lpstr>Summary and What's Next</vt:lpstr>
      <vt:lpstr>Appendix: Requirements Exist at Several Levels</vt:lpstr>
      <vt:lpstr>Appendix: FR vs. NFR Key Differences</vt:lpstr>
      <vt:lpstr>Appendix: What Makes a Good Requirement?</vt:lpstr>
      <vt:lpstr>Appendix: NFRs Shape Architecture</vt:lpstr>
      <vt:lpstr>Appendix: Multi-Component Interplay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Asieh Salehi Fathabadi</cp:lastModifiedBy>
  <cp:revision>54</cp:revision>
  <dcterms:created xsi:type="dcterms:W3CDTF">2013-01-27T09:14:16Z</dcterms:created>
  <dcterms:modified xsi:type="dcterms:W3CDTF">2026-09-21T19:07:22Z</dcterms:modified>
  <cp:category/>
</cp:coreProperties>
</file>