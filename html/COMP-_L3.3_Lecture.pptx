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_rels/.rels" ContentType="application/vnd.openxmlformats-package.relationship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_rels/presentation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2.xml.rels" ContentType="application/vnd.openxmlformats-package.relationships+xml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15.xml.rels" ContentType="application/vnd.openxmlformats-package.relationships+xml"/>
  <Override PartName="/ppt/slides/_rels/slide14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3.xml.rels" ContentType="application/vnd.openxmlformats-package.relationships+xml"/>
  <Override PartName="/ppt/slides/_rels/slide20.xml.rels" ContentType="application/vnd.openxmlformats-package.relationships+xml"/>
  <Override PartName="/ppt/slides/_rels/slide19.xml.rels" ContentType="application/vnd.openxmlformats-package.relationships+xml"/>
  <Override PartName="/ppt/slides/_rels/slide18.xml.rels" ContentType="application/vnd.openxmlformats-package.relationships+xml"/>
  <Override PartName="/ppt/slides/_rels/slide17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1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7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" name=""/>
          <p:cNvSpPr txBox="1"/>
          <p:nvPr/>
        </p:nvSpPr>
        <p:spPr>
          <a:xfrm>
            <a:off x="762120" y="5183640"/>
            <a:ext cx="19054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0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SEAtS | 661057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762120" y="1558800"/>
            <a:ext cx="8812080" cy="89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60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Problem Solving: From</a:t>
            </a:r>
            <a:endParaRPr b="0" lang="en-US" sz="6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762120" y="2454120"/>
            <a:ext cx="6260400" cy="89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60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Fire-Fighting to</a:t>
            </a:r>
            <a:endParaRPr b="0" lang="en-US" sz="6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762120" y="3349440"/>
            <a:ext cx="7542720" cy="89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60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Systematic Practice</a:t>
            </a:r>
            <a:endParaRPr b="0" lang="en-US" sz="6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5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" name=""/>
          <p:cNvSpPr/>
          <p:nvPr/>
        </p:nvSpPr>
        <p:spPr>
          <a:xfrm>
            <a:off x="4305240" y="150480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39"/>
                  <a:pt x="167" y="149"/>
                  <a:pt x="158" y="158"/>
                </a:cubicBezTo>
                <a:cubicBezTo>
                  <a:pt x="149" y="167"/>
                  <a:pt x="139" y="174"/>
                  <a:pt x="128" y="179"/>
                </a:cubicBezTo>
                <a:cubicBezTo>
                  <a:pt x="116" y="184"/>
                  <a:pt x="105" y="186"/>
                  <a:pt x="92" y="186"/>
                </a:cubicBezTo>
                <a:cubicBezTo>
                  <a:pt x="80" y="186"/>
                  <a:pt x="68" y="184"/>
                  <a:pt x="57" y="179"/>
                </a:cubicBezTo>
                <a:cubicBezTo>
                  <a:pt x="45" y="174"/>
                  <a:pt x="35" y="167"/>
                  <a:pt x="27" y="158"/>
                </a:cubicBezTo>
                <a:cubicBezTo>
                  <a:pt x="18" y="149"/>
                  <a:pt x="11" y="139"/>
                  <a:pt x="7" y="128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0"/>
                  <a:pt x="2" y="68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5" y="18"/>
                  <a:pt x="45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cubicBezTo>
                  <a:pt x="105" y="0"/>
                  <a:pt x="116" y="2"/>
                  <a:pt x="128" y="7"/>
                </a:cubicBezTo>
                <a:cubicBezTo>
                  <a:pt x="139" y="12"/>
                  <a:pt x="149" y="18"/>
                  <a:pt x="158" y="27"/>
                </a:cubicBezTo>
                <a:cubicBezTo>
                  <a:pt x="167" y="36"/>
                  <a:pt x="174" y="46"/>
                  <a:pt x="179" y="57"/>
                </a:cubicBezTo>
                <a:cubicBezTo>
                  <a:pt x="184" y="68"/>
                  <a:pt x="186" y="80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4095720" y="956160"/>
            <a:ext cx="44488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By the end of this lecture, you will be able to: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4502160" y="1413360"/>
            <a:ext cx="67316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Distinguish intuitive (ﬁre-ﬁghting) problem-solving from systematic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4502160" y="1717920"/>
            <a:ext cx="61646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problem-solving, and explain why organisations default to the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"/>
          <p:cNvSpPr/>
          <p:nvPr/>
        </p:nvSpPr>
        <p:spPr>
          <a:xfrm>
            <a:off x="4305240" y="24764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7"/>
                  <a:pt x="179" y="129"/>
                </a:cubicBezTo>
                <a:cubicBezTo>
                  <a:pt x="174" y="140"/>
                  <a:pt x="167" y="150"/>
                  <a:pt x="158" y="159"/>
                </a:cubicBezTo>
                <a:cubicBezTo>
                  <a:pt x="149" y="167"/>
                  <a:pt x="139" y="174"/>
                  <a:pt x="128" y="179"/>
                </a:cubicBezTo>
                <a:cubicBezTo>
                  <a:pt x="116" y="184"/>
                  <a:pt x="105" y="186"/>
                  <a:pt x="92" y="186"/>
                </a:cubicBezTo>
                <a:cubicBezTo>
                  <a:pt x="80" y="186"/>
                  <a:pt x="68" y="184"/>
                  <a:pt x="57" y="179"/>
                </a:cubicBezTo>
                <a:cubicBezTo>
                  <a:pt x="45" y="174"/>
                  <a:pt x="35" y="167"/>
                  <a:pt x="27" y="159"/>
                </a:cubicBezTo>
                <a:cubicBezTo>
                  <a:pt x="18" y="150"/>
                  <a:pt x="11" y="140"/>
                  <a:pt x="7" y="129"/>
                </a:cubicBezTo>
                <a:cubicBezTo>
                  <a:pt x="2" y="117"/>
                  <a:pt x="0" y="106"/>
                  <a:pt x="0" y="93"/>
                </a:cubicBezTo>
                <a:cubicBezTo>
                  <a:pt x="0" y="81"/>
                  <a:pt x="2" y="69"/>
                  <a:pt x="7" y="57"/>
                </a:cubicBezTo>
                <a:cubicBezTo>
                  <a:pt x="11" y="45"/>
                  <a:pt x="18" y="35"/>
                  <a:pt x="27" y="27"/>
                </a:cubicBezTo>
                <a:cubicBezTo>
                  <a:pt x="35" y="18"/>
                  <a:pt x="45" y="11"/>
                  <a:pt x="57" y="7"/>
                </a:cubicBezTo>
                <a:cubicBezTo>
                  <a:pt x="68" y="2"/>
                  <a:pt x="80" y="0"/>
                  <a:pt x="92" y="0"/>
                </a:cubicBezTo>
                <a:cubicBezTo>
                  <a:pt x="105" y="0"/>
                  <a:pt x="116" y="2"/>
                  <a:pt x="128" y="7"/>
                </a:cubicBezTo>
                <a:cubicBezTo>
                  <a:pt x="139" y="11"/>
                  <a:pt x="149" y="18"/>
                  <a:pt x="158" y="27"/>
                </a:cubicBezTo>
                <a:cubicBezTo>
                  <a:pt x="167" y="35"/>
                  <a:pt x="174" y="45"/>
                  <a:pt x="179" y="57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4502160" y="2022840"/>
            <a:ext cx="7318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former.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4502160" y="2384640"/>
            <a:ext cx="67345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Apply a general-purpose problem-solving process that holds across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4502160" y="2689560"/>
            <a:ext cx="60476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software engineering, physics/engineering, and management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"/>
          <p:cNvSpPr/>
          <p:nvPr/>
        </p:nvSpPr>
        <p:spPr>
          <a:xfrm>
            <a:off x="4305240" y="34383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39"/>
                  <a:pt x="167" y="149"/>
                  <a:pt x="158" y="158"/>
                </a:cubicBezTo>
                <a:cubicBezTo>
                  <a:pt x="149" y="168"/>
                  <a:pt x="139" y="174"/>
                  <a:pt x="128" y="179"/>
                </a:cubicBezTo>
                <a:cubicBezTo>
                  <a:pt x="116" y="184"/>
                  <a:pt x="105" y="186"/>
                  <a:pt x="92" y="186"/>
                </a:cubicBezTo>
                <a:cubicBezTo>
                  <a:pt x="80" y="186"/>
                  <a:pt x="68" y="184"/>
                  <a:pt x="57" y="179"/>
                </a:cubicBezTo>
                <a:cubicBezTo>
                  <a:pt x="45" y="174"/>
                  <a:pt x="35" y="168"/>
                  <a:pt x="27" y="158"/>
                </a:cubicBezTo>
                <a:cubicBezTo>
                  <a:pt x="18" y="149"/>
                  <a:pt x="11" y="139"/>
                  <a:pt x="7" y="128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0"/>
                  <a:pt x="2" y="68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5" y="18"/>
                  <a:pt x="45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cubicBezTo>
                  <a:pt x="105" y="0"/>
                  <a:pt x="116" y="2"/>
                  <a:pt x="128" y="7"/>
                </a:cubicBezTo>
                <a:cubicBezTo>
                  <a:pt x="139" y="12"/>
                  <a:pt x="149" y="18"/>
                  <a:pt x="158" y="27"/>
                </a:cubicBezTo>
                <a:cubicBezTo>
                  <a:pt x="167" y="36"/>
                  <a:pt x="174" y="46"/>
                  <a:pt x="179" y="57"/>
                </a:cubicBezTo>
                <a:cubicBezTo>
                  <a:pt x="184" y="68"/>
                  <a:pt x="186" y="80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4502160" y="2994480"/>
            <a:ext cx="9111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contexts.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4502160" y="3346920"/>
            <a:ext cx="68670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Select an appropriate problem-solving method — general-purpose or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4305240" y="40957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9"/>
                </a:cubicBezTo>
                <a:cubicBezTo>
                  <a:pt x="174" y="140"/>
                  <a:pt x="167" y="150"/>
                  <a:pt x="158" y="159"/>
                </a:cubicBezTo>
                <a:cubicBezTo>
                  <a:pt x="149" y="167"/>
                  <a:pt x="139" y="174"/>
                  <a:pt x="128" y="179"/>
                </a:cubicBezTo>
                <a:cubicBezTo>
                  <a:pt x="116" y="183"/>
                  <a:pt x="105" y="186"/>
                  <a:pt x="92" y="186"/>
                </a:cubicBezTo>
                <a:cubicBezTo>
                  <a:pt x="80" y="186"/>
                  <a:pt x="68" y="183"/>
                  <a:pt x="57" y="179"/>
                </a:cubicBezTo>
                <a:cubicBezTo>
                  <a:pt x="45" y="174"/>
                  <a:pt x="35" y="167"/>
                  <a:pt x="27" y="159"/>
                </a:cubicBezTo>
                <a:cubicBezTo>
                  <a:pt x="18" y="150"/>
                  <a:pt x="11" y="140"/>
                  <a:pt x="7" y="129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1"/>
                  <a:pt x="2" y="69"/>
                  <a:pt x="7" y="58"/>
                </a:cubicBezTo>
                <a:cubicBezTo>
                  <a:pt x="11" y="46"/>
                  <a:pt x="18" y="36"/>
                  <a:pt x="27" y="28"/>
                </a:cubicBezTo>
                <a:cubicBezTo>
                  <a:pt x="35" y="19"/>
                  <a:pt x="45" y="12"/>
                  <a:pt x="57" y="8"/>
                </a:cubicBezTo>
                <a:cubicBezTo>
                  <a:pt x="68" y="3"/>
                  <a:pt x="80" y="0"/>
                  <a:pt x="92" y="0"/>
                </a:cubicBezTo>
                <a:cubicBezTo>
                  <a:pt x="105" y="0"/>
                  <a:pt x="116" y="3"/>
                  <a:pt x="128" y="8"/>
                </a:cubicBezTo>
                <a:cubicBezTo>
                  <a:pt x="139" y="12"/>
                  <a:pt x="149" y="19"/>
                  <a:pt x="158" y="28"/>
                </a:cubicBezTo>
                <a:cubicBezTo>
                  <a:pt x="167" y="36"/>
                  <a:pt x="174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4502160" y="3651480"/>
            <a:ext cx="51217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systematic-inventive — for a given type of problem.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4502160" y="4003920"/>
            <a:ext cx="55324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Compare unsystematic idea-generating techniques (e.g.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4502160" y="4308840"/>
            <a:ext cx="64771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brainstorming) with systematic inventive-thinking methods (TRIZ,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>
            <a:off x="4305240" y="506700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1"/>
                  <a:pt x="167" y="151"/>
                  <a:pt x="158" y="159"/>
                </a:cubicBezTo>
                <a:cubicBezTo>
                  <a:pt x="149" y="168"/>
                  <a:pt x="139" y="175"/>
                  <a:pt x="128" y="179"/>
                </a:cubicBezTo>
                <a:cubicBezTo>
                  <a:pt x="116" y="184"/>
                  <a:pt x="105" y="187"/>
                  <a:pt x="92" y="187"/>
                </a:cubicBezTo>
                <a:cubicBezTo>
                  <a:pt x="80" y="187"/>
                  <a:pt x="68" y="184"/>
                  <a:pt x="57" y="179"/>
                </a:cubicBezTo>
                <a:cubicBezTo>
                  <a:pt x="45" y="175"/>
                  <a:pt x="35" y="168"/>
                  <a:pt x="27" y="159"/>
                </a:cubicBezTo>
                <a:cubicBezTo>
                  <a:pt x="18" y="151"/>
                  <a:pt x="11" y="141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2"/>
                  <a:pt x="2" y="69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5" y="19"/>
                  <a:pt x="45" y="12"/>
                  <a:pt x="57" y="7"/>
                </a:cubicBezTo>
                <a:cubicBezTo>
                  <a:pt x="68" y="3"/>
                  <a:pt x="80" y="0"/>
                  <a:pt x="92" y="0"/>
                </a:cubicBezTo>
                <a:cubicBezTo>
                  <a:pt x="105" y="0"/>
                  <a:pt x="116" y="3"/>
                  <a:pt x="128" y="7"/>
                </a:cubicBezTo>
                <a:cubicBezTo>
                  <a:pt x="139" y="12"/>
                  <a:pt x="149" y="19"/>
                  <a:pt x="158" y="27"/>
                </a:cubicBezTo>
                <a:cubicBezTo>
                  <a:pt x="167" y="36"/>
                  <a:pt x="174" y="46"/>
                  <a:pt x="179" y="57"/>
                </a:cubicBezTo>
                <a:cubicBezTo>
                  <a:pt x="184" y="69"/>
                  <a:pt x="186" y="82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4502160" y="4613760"/>
            <a:ext cx="20106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SIT/ASIT, SCAMPER).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4502160" y="4975560"/>
            <a:ext cx="60328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Identify the organisational and environmental conditions that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4502160" y="5280480"/>
            <a:ext cx="61952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determine whether systematic problem-solving is adopted and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0" y="0"/>
            <a:ext cx="4067280" cy="6191280"/>
          </a:xfrm>
          <a:custGeom>
            <a:avLst/>
            <a:gdLst/>
            <a:ahLst/>
            <a:rect l="0" t="0" r="r" b="b"/>
            <a:pathLst>
              <a:path w="11298" h="17198">
                <a:moveTo>
                  <a:pt x="0" y="0"/>
                </a:moveTo>
                <a:lnTo>
                  <a:pt x="11298" y="0"/>
                </a:lnTo>
                <a:lnTo>
                  <a:pt x="11298" y="17198"/>
                </a:lnTo>
                <a:lnTo>
                  <a:pt x="0" y="17198"/>
                </a:lnTo>
                <a:lnTo>
                  <a:pt x="0" y="0"/>
                </a:ln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4502160" y="5585040"/>
            <a:ext cx="10098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sustained.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646920" y="381960"/>
            <a:ext cx="277272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Intended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658800" y="1296360"/>
            <a:ext cx="274896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Learning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455040" y="2210760"/>
            <a:ext cx="315684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Outcomes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661057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1238400" y="6569280"/>
            <a:ext cx="31820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0020e35 | © 08.10.2026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47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" name=""/>
          <p:cNvSpPr/>
          <p:nvPr/>
        </p:nvSpPr>
        <p:spPr>
          <a:xfrm>
            <a:off x="4448160" y="126648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4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8" y="201"/>
                  <a:pt x="239" y="215"/>
                  <a:pt x="226" y="227"/>
                </a:cubicBezTo>
                <a:cubicBezTo>
                  <a:pt x="214" y="240"/>
                  <a:pt x="200" y="249"/>
                  <a:pt x="182" y="256"/>
                </a:cubicBezTo>
                <a:cubicBezTo>
                  <a:pt x="166" y="263"/>
                  <a:pt x="149" y="266"/>
                  <a:pt x="132" y="266"/>
                </a:cubicBezTo>
                <a:cubicBezTo>
                  <a:pt x="114" y="266"/>
                  <a:pt x="97" y="263"/>
                  <a:pt x="81" y="256"/>
                </a:cubicBezTo>
                <a:cubicBezTo>
                  <a:pt x="65" y="249"/>
                  <a:pt x="51" y="240"/>
                  <a:pt x="38" y="227"/>
                </a:cubicBezTo>
                <a:cubicBezTo>
                  <a:pt x="26" y="215"/>
                  <a:pt x="16" y="201"/>
                  <a:pt x="10" y="184"/>
                </a:cubicBezTo>
                <a:cubicBezTo>
                  <a:pt x="3" y="168"/>
                  <a:pt x="0" y="151"/>
                  <a:pt x="0" y="134"/>
                </a:cubicBezTo>
                <a:cubicBezTo>
                  <a:pt x="0" y="116"/>
                  <a:pt x="3" y="99"/>
                  <a:pt x="10" y="83"/>
                </a:cubicBezTo>
                <a:cubicBezTo>
                  <a:pt x="16" y="67"/>
                  <a:pt x="26" y="53"/>
                  <a:pt x="38" y="39"/>
                </a:cubicBezTo>
                <a:cubicBezTo>
                  <a:pt x="51" y="27"/>
                  <a:pt x="65" y="17"/>
                  <a:pt x="81" y="11"/>
                </a:cubicBezTo>
                <a:cubicBezTo>
                  <a:pt x="97" y="4"/>
                  <a:pt x="114" y="0"/>
                  <a:pt x="132" y="0"/>
                </a:cubicBezTo>
                <a:cubicBezTo>
                  <a:pt x="149" y="0"/>
                  <a:pt x="166" y="4"/>
                  <a:pt x="182" y="11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3"/>
                  <a:pt x="248" y="67"/>
                  <a:pt x="255" y="83"/>
                </a:cubicBezTo>
                <a:cubicBezTo>
                  <a:pt x="262" y="99"/>
                  <a:pt x="265" y="116"/>
                  <a:pt x="265" y="13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>
            <a:off x="4448160" y="180000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2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8" y="200"/>
                  <a:pt x="239" y="215"/>
                  <a:pt x="226" y="227"/>
                </a:cubicBezTo>
                <a:cubicBezTo>
                  <a:pt x="214" y="239"/>
                  <a:pt x="200" y="249"/>
                  <a:pt x="182" y="256"/>
                </a:cubicBezTo>
                <a:cubicBezTo>
                  <a:pt x="166" y="262"/>
                  <a:pt x="149" y="266"/>
                  <a:pt x="132" y="266"/>
                </a:cubicBezTo>
                <a:cubicBezTo>
                  <a:pt x="114" y="266"/>
                  <a:pt x="97" y="262"/>
                  <a:pt x="81" y="256"/>
                </a:cubicBezTo>
                <a:cubicBezTo>
                  <a:pt x="65" y="249"/>
                  <a:pt x="51" y="239"/>
                  <a:pt x="38" y="227"/>
                </a:cubicBezTo>
                <a:cubicBezTo>
                  <a:pt x="26" y="215"/>
                  <a:pt x="16" y="200"/>
                  <a:pt x="10" y="184"/>
                </a:cubicBezTo>
                <a:cubicBezTo>
                  <a:pt x="3" y="168"/>
                  <a:pt x="0" y="151"/>
                  <a:pt x="0" y="132"/>
                </a:cubicBezTo>
                <a:cubicBezTo>
                  <a:pt x="0" y="115"/>
                  <a:pt x="3" y="98"/>
                  <a:pt x="10" y="82"/>
                </a:cubicBezTo>
                <a:cubicBezTo>
                  <a:pt x="16" y="66"/>
                  <a:pt x="26" y="51"/>
                  <a:pt x="38" y="39"/>
                </a:cubicBezTo>
                <a:cubicBezTo>
                  <a:pt x="51" y="26"/>
                  <a:pt x="65" y="17"/>
                  <a:pt x="81" y="10"/>
                </a:cubicBezTo>
                <a:cubicBezTo>
                  <a:pt x="97" y="3"/>
                  <a:pt x="114" y="0"/>
                  <a:pt x="132" y="0"/>
                </a:cubicBezTo>
                <a:cubicBezTo>
                  <a:pt x="149" y="0"/>
                  <a:pt x="166" y="3"/>
                  <a:pt x="182" y="10"/>
                </a:cubicBezTo>
                <a:cubicBezTo>
                  <a:pt x="200" y="17"/>
                  <a:pt x="214" y="26"/>
                  <a:pt x="226" y="39"/>
                </a:cubicBezTo>
                <a:cubicBezTo>
                  <a:pt x="239" y="51"/>
                  <a:pt x="248" y="66"/>
                  <a:pt x="255" y="82"/>
                </a:cubicBezTo>
                <a:cubicBezTo>
                  <a:pt x="262" y="98"/>
                  <a:pt x="265" y="115"/>
                  <a:pt x="265" y="13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4705200" y="1114920"/>
            <a:ext cx="4626720" cy="358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Two Modes of Problem-Solving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4448160" y="233352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50"/>
                  <a:pt x="262" y="167"/>
                  <a:pt x="255" y="183"/>
                </a:cubicBezTo>
                <a:cubicBezTo>
                  <a:pt x="248" y="199"/>
                  <a:pt x="239" y="213"/>
                  <a:pt x="226" y="226"/>
                </a:cubicBezTo>
                <a:cubicBezTo>
                  <a:pt x="214" y="238"/>
                  <a:pt x="200" y="248"/>
                  <a:pt x="182" y="255"/>
                </a:cubicBezTo>
                <a:cubicBezTo>
                  <a:pt x="166" y="262"/>
                  <a:pt x="149" y="265"/>
                  <a:pt x="132" y="265"/>
                </a:cubicBezTo>
                <a:cubicBezTo>
                  <a:pt x="114" y="265"/>
                  <a:pt x="97" y="262"/>
                  <a:pt x="81" y="255"/>
                </a:cubicBezTo>
                <a:cubicBezTo>
                  <a:pt x="65" y="248"/>
                  <a:pt x="51" y="238"/>
                  <a:pt x="38" y="226"/>
                </a:cubicBezTo>
                <a:cubicBezTo>
                  <a:pt x="26" y="213"/>
                  <a:pt x="16" y="199"/>
                  <a:pt x="10" y="183"/>
                </a:cubicBezTo>
                <a:cubicBezTo>
                  <a:pt x="3" y="167"/>
                  <a:pt x="0" y="150"/>
                  <a:pt x="0" y="132"/>
                </a:cubicBezTo>
                <a:cubicBezTo>
                  <a:pt x="0" y="115"/>
                  <a:pt x="3" y="98"/>
                  <a:pt x="10" y="81"/>
                </a:cubicBezTo>
                <a:cubicBezTo>
                  <a:pt x="16" y="65"/>
                  <a:pt x="26" y="51"/>
                  <a:pt x="38" y="39"/>
                </a:cubicBezTo>
                <a:cubicBezTo>
                  <a:pt x="51" y="26"/>
                  <a:pt x="65" y="17"/>
                  <a:pt x="81" y="10"/>
                </a:cubicBezTo>
                <a:cubicBezTo>
                  <a:pt x="97" y="3"/>
                  <a:pt x="114" y="0"/>
                  <a:pt x="132" y="0"/>
                </a:cubicBezTo>
                <a:cubicBezTo>
                  <a:pt x="149" y="0"/>
                  <a:pt x="166" y="3"/>
                  <a:pt x="182" y="10"/>
                </a:cubicBezTo>
                <a:cubicBezTo>
                  <a:pt x="200" y="17"/>
                  <a:pt x="214" y="26"/>
                  <a:pt x="226" y="39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2" y="98"/>
                  <a:pt x="265" y="115"/>
                  <a:pt x="265" y="13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4705200" y="1648440"/>
            <a:ext cx="3214800" cy="358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The Universal Process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"/>
          <p:cNvSpPr/>
          <p:nvPr/>
        </p:nvSpPr>
        <p:spPr>
          <a:xfrm>
            <a:off x="4448160" y="286668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4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8" y="201"/>
                  <a:pt x="239" y="215"/>
                  <a:pt x="226" y="227"/>
                </a:cubicBezTo>
                <a:cubicBezTo>
                  <a:pt x="214" y="240"/>
                  <a:pt x="200" y="249"/>
                  <a:pt x="182" y="256"/>
                </a:cubicBezTo>
                <a:cubicBezTo>
                  <a:pt x="166" y="263"/>
                  <a:pt x="149" y="266"/>
                  <a:pt x="132" y="266"/>
                </a:cubicBezTo>
                <a:cubicBezTo>
                  <a:pt x="114" y="266"/>
                  <a:pt x="97" y="263"/>
                  <a:pt x="81" y="256"/>
                </a:cubicBezTo>
                <a:cubicBezTo>
                  <a:pt x="65" y="249"/>
                  <a:pt x="51" y="240"/>
                  <a:pt x="38" y="227"/>
                </a:cubicBezTo>
                <a:cubicBezTo>
                  <a:pt x="26" y="215"/>
                  <a:pt x="16" y="201"/>
                  <a:pt x="10" y="184"/>
                </a:cubicBezTo>
                <a:cubicBezTo>
                  <a:pt x="3" y="168"/>
                  <a:pt x="0" y="151"/>
                  <a:pt x="0" y="134"/>
                </a:cubicBezTo>
                <a:cubicBezTo>
                  <a:pt x="0" y="116"/>
                  <a:pt x="3" y="99"/>
                  <a:pt x="10" y="82"/>
                </a:cubicBezTo>
                <a:cubicBezTo>
                  <a:pt x="16" y="66"/>
                  <a:pt x="26" y="52"/>
                  <a:pt x="38" y="39"/>
                </a:cubicBezTo>
                <a:cubicBezTo>
                  <a:pt x="51" y="27"/>
                  <a:pt x="65" y="17"/>
                  <a:pt x="81" y="11"/>
                </a:cubicBezTo>
                <a:cubicBezTo>
                  <a:pt x="97" y="4"/>
                  <a:pt x="114" y="0"/>
                  <a:pt x="132" y="0"/>
                </a:cubicBezTo>
                <a:cubicBezTo>
                  <a:pt x="149" y="0"/>
                  <a:pt x="166" y="4"/>
                  <a:pt x="182" y="11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2"/>
                  <a:pt x="248" y="66"/>
                  <a:pt x="255" y="82"/>
                </a:cubicBezTo>
                <a:cubicBezTo>
                  <a:pt x="262" y="99"/>
                  <a:pt x="265" y="116"/>
                  <a:pt x="265" y="13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4705200" y="2181600"/>
            <a:ext cx="4508280" cy="358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Ten General-Purpose Methods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4448160" y="340020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2"/>
                </a:moveTo>
                <a:cubicBezTo>
                  <a:pt x="265" y="150"/>
                  <a:pt x="262" y="167"/>
                  <a:pt x="255" y="183"/>
                </a:cubicBezTo>
                <a:cubicBezTo>
                  <a:pt x="248" y="200"/>
                  <a:pt x="239" y="215"/>
                  <a:pt x="226" y="227"/>
                </a:cubicBezTo>
                <a:cubicBezTo>
                  <a:pt x="214" y="239"/>
                  <a:pt x="200" y="249"/>
                  <a:pt x="182" y="256"/>
                </a:cubicBezTo>
                <a:cubicBezTo>
                  <a:pt x="166" y="262"/>
                  <a:pt x="149" y="266"/>
                  <a:pt x="132" y="266"/>
                </a:cubicBezTo>
                <a:cubicBezTo>
                  <a:pt x="114" y="266"/>
                  <a:pt x="97" y="262"/>
                  <a:pt x="81" y="256"/>
                </a:cubicBezTo>
                <a:cubicBezTo>
                  <a:pt x="65" y="249"/>
                  <a:pt x="51" y="239"/>
                  <a:pt x="38" y="227"/>
                </a:cubicBezTo>
                <a:cubicBezTo>
                  <a:pt x="26" y="215"/>
                  <a:pt x="16" y="200"/>
                  <a:pt x="10" y="183"/>
                </a:cubicBezTo>
                <a:cubicBezTo>
                  <a:pt x="3" y="167"/>
                  <a:pt x="0" y="150"/>
                  <a:pt x="0" y="132"/>
                </a:cubicBezTo>
                <a:cubicBezTo>
                  <a:pt x="0" y="115"/>
                  <a:pt x="3" y="98"/>
                  <a:pt x="10" y="82"/>
                </a:cubicBezTo>
                <a:cubicBezTo>
                  <a:pt x="16" y="66"/>
                  <a:pt x="26" y="51"/>
                  <a:pt x="38" y="39"/>
                </a:cubicBezTo>
                <a:cubicBezTo>
                  <a:pt x="51" y="26"/>
                  <a:pt x="65" y="17"/>
                  <a:pt x="81" y="10"/>
                </a:cubicBezTo>
                <a:cubicBezTo>
                  <a:pt x="97" y="3"/>
                  <a:pt x="114" y="0"/>
                  <a:pt x="132" y="0"/>
                </a:cubicBezTo>
                <a:cubicBezTo>
                  <a:pt x="149" y="0"/>
                  <a:pt x="166" y="3"/>
                  <a:pt x="182" y="10"/>
                </a:cubicBezTo>
                <a:cubicBezTo>
                  <a:pt x="200" y="17"/>
                  <a:pt x="214" y="26"/>
                  <a:pt x="226" y="39"/>
                </a:cubicBezTo>
                <a:cubicBezTo>
                  <a:pt x="239" y="51"/>
                  <a:pt x="248" y="66"/>
                  <a:pt x="255" y="82"/>
                </a:cubicBezTo>
                <a:cubicBezTo>
                  <a:pt x="262" y="98"/>
                  <a:pt x="265" y="115"/>
                  <a:pt x="265" y="13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4705200" y="2715120"/>
            <a:ext cx="4087440" cy="358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From Brainstorming to TRIZ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"/>
          <p:cNvSpPr/>
          <p:nvPr/>
        </p:nvSpPr>
        <p:spPr>
          <a:xfrm>
            <a:off x="4448160" y="393372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3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2" y="255"/>
                </a:cubicBezTo>
                <a:cubicBezTo>
                  <a:pt x="166" y="262"/>
                  <a:pt x="149" y="265"/>
                  <a:pt x="132" y="265"/>
                </a:cubicBezTo>
                <a:cubicBezTo>
                  <a:pt x="114" y="265"/>
                  <a:pt x="97" y="262"/>
                  <a:pt x="81" y="255"/>
                </a:cubicBezTo>
                <a:cubicBezTo>
                  <a:pt x="65" y="249"/>
                  <a:pt x="51" y="239"/>
                  <a:pt x="38" y="227"/>
                </a:cubicBezTo>
                <a:cubicBezTo>
                  <a:pt x="26" y="214"/>
                  <a:pt x="16" y="200"/>
                  <a:pt x="10" y="184"/>
                </a:cubicBezTo>
                <a:cubicBezTo>
                  <a:pt x="3" y="168"/>
                  <a:pt x="0" y="151"/>
                  <a:pt x="0" y="133"/>
                </a:cubicBezTo>
                <a:cubicBezTo>
                  <a:pt x="0" y="116"/>
                  <a:pt x="3" y="99"/>
                  <a:pt x="10" y="82"/>
                </a:cubicBezTo>
                <a:cubicBezTo>
                  <a:pt x="16" y="66"/>
                  <a:pt x="26" y="52"/>
                  <a:pt x="38" y="40"/>
                </a:cubicBezTo>
                <a:cubicBezTo>
                  <a:pt x="51" y="26"/>
                  <a:pt x="65" y="17"/>
                  <a:pt x="81" y="10"/>
                </a:cubicBezTo>
                <a:cubicBezTo>
                  <a:pt x="97" y="3"/>
                  <a:pt x="114" y="0"/>
                  <a:pt x="132" y="0"/>
                </a:cubicBezTo>
                <a:cubicBezTo>
                  <a:pt x="149" y="0"/>
                  <a:pt x="166" y="3"/>
                  <a:pt x="182" y="10"/>
                </a:cubicBezTo>
                <a:cubicBezTo>
                  <a:pt x="200" y="17"/>
                  <a:pt x="214" y="26"/>
                  <a:pt x="226" y="40"/>
                </a:cubicBezTo>
                <a:cubicBezTo>
                  <a:pt x="239" y="52"/>
                  <a:pt x="248" y="66"/>
                  <a:pt x="255" y="82"/>
                </a:cubicBezTo>
                <a:cubicBezTo>
                  <a:pt x="262" y="99"/>
                  <a:pt x="265" y="116"/>
                  <a:pt x="265" y="13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4705200" y="3248640"/>
            <a:ext cx="4219920" cy="358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Worked Example: Rotate List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4448160" y="446688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4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8" y="201"/>
                  <a:pt x="239" y="215"/>
                  <a:pt x="226" y="227"/>
                </a:cubicBezTo>
                <a:cubicBezTo>
                  <a:pt x="214" y="240"/>
                  <a:pt x="200" y="249"/>
                  <a:pt x="182" y="256"/>
                </a:cubicBezTo>
                <a:cubicBezTo>
                  <a:pt x="166" y="263"/>
                  <a:pt x="149" y="266"/>
                  <a:pt x="132" y="266"/>
                </a:cubicBezTo>
                <a:cubicBezTo>
                  <a:pt x="114" y="266"/>
                  <a:pt x="97" y="263"/>
                  <a:pt x="81" y="256"/>
                </a:cubicBezTo>
                <a:cubicBezTo>
                  <a:pt x="65" y="249"/>
                  <a:pt x="51" y="240"/>
                  <a:pt x="38" y="227"/>
                </a:cubicBezTo>
                <a:cubicBezTo>
                  <a:pt x="26" y="215"/>
                  <a:pt x="16" y="201"/>
                  <a:pt x="10" y="184"/>
                </a:cubicBezTo>
                <a:cubicBezTo>
                  <a:pt x="3" y="168"/>
                  <a:pt x="0" y="151"/>
                  <a:pt x="0" y="134"/>
                </a:cubicBezTo>
                <a:cubicBezTo>
                  <a:pt x="0" y="115"/>
                  <a:pt x="3" y="98"/>
                  <a:pt x="10" y="82"/>
                </a:cubicBezTo>
                <a:cubicBezTo>
                  <a:pt x="16" y="66"/>
                  <a:pt x="26" y="52"/>
                  <a:pt x="38" y="39"/>
                </a:cubicBezTo>
                <a:cubicBezTo>
                  <a:pt x="51" y="27"/>
                  <a:pt x="65" y="17"/>
                  <a:pt x="81" y="11"/>
                </a:cubicBezTo>
                <a:cubicBezTo>
                  <a:pt x="97" y="4"/>
                  <a:pt x="114" y="0"/>
                  <a:pt x="132" y="0"/>
                </a:cubicBezTo>
                <a:cubicBezTo>
                  <a:pt x="149" y="0"/>
                  <a:pt x="166" y="4"/>
                  <a:pt x="182" y="11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2"/>
                  <a:pt x="248" y="66"/>
                  <a:pt x="255" y="82"/>
                </a:cubicBezTo>
                <a:cubicBezTo>
                  <a:pt x="262" y="98"/>
                  <a:pt x="265" y="115"/>
                  <a:pt x="265" y="13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4705200" y="3781800"/>
            <a:ext cx="2996280" cy="358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Engineering Practice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4705200" y="4315320"/>
            <a:ext cx="6042240" cy="358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Why Systematic Problem-Solving Doesn't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"/>
          <p:cNvSpPr/>
          <p:nvPr/>
        </p:nvSpPr>
        <p:spPr>
          <a:xfrm>
            <a:off x="4448160" y="545760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8" y="200"/>
                  <a:pt x="239" y="215"/>
                  <a:pt x="226" y="227"/>
                </a:cubicBezTo>
                <a:cubicBezTo>
                  <a:pt x="214" y="239"/>
                  <a:pt x="200" y="249"/>
                  <a:pt x="182" y="256"/>
                </a:cubicBezTo>
                <a:cubicBezTo>
                  <a:pt x="166" y="262"/>
                  <a:pt x="149" y="266"/>
                  <a:pt x="132" y="266"/>
                </a:cubicBezTo>
                <a:cubicBezTo>
                  <a:pt x="114" y="266"/>
                  <a:pt x="97" y="262"/>
                  <a:pt x="81" y="256"/>
                </a:cubicBezTo>
                <a:cubicBezTo>
                  <a:pt x="65" y="249"/>
                  <a:pt x="51" y="239"/>
                  <a:pt x="38" y="227"/>
                </a:cubicBezTo>
                <a:cubicBezTo>
                  <a:pt x="26" y="215"/>
                  <a:pt x="16" y="200"/>
                  <a:pt x="10" y="184"/>
                </a:cubicBezTo>
                <a:cubicBezTo>
                  <a:pt x="3" y="168"/>
                  <a:pt x="0" y="151"/>
                  <a:pt x="0" y="133"/>
                </a:cubicBezTo>
                <a:cubicBezTo>
                  <a:pt x="0" y="116"/>
                  <a:pt x="3" y="99"/>
                  <a:pt x="10" y="83"/>
                </a:cubicBezTo>
                <a:cubicBezTo>
                  <a:pt x="16" y="67"/>
                  <a:pt x="26" y="52"/>
                  <a:pt x="38" y="40"/>
                </a:cubicBezTo>
                <a:cubicBezTo>
                  <a:pt x="51" y="27"/>
                  <a:pt x="65" y="17"/>
                  <a:pt x="81" y="10"/>
                </a:cubicBezTo>
                <a:cubicBezTo>
                  <a:pt x="97" y="3"/>
                  <a:pt x="114" y="0"/>
                  <a:pt x="132" y="0"/>
                </a:cubicBezTo>
                <a:cubicBezTo>
                  <a:pt x="149" y="0"/>
                  <a:pt x="166" y="3"/>
                  <a:pt x="182" y="10"/>
                </a:cubicBezTo>
                <a:cubicBezTo>
                  <a:pt x="200" y="17"/>
                  <a:pt x="214" y="27"/>
                  <a:pt x="226" y="40"/>
                </a:cubicBezTo>
                <a:cubicBezTo>
                  <a:pt x="239" y="52"/>
                  <a:pt x="248" y="67"/>
                  <a:pt x="255" y="83"/>
                </a:cubicBezTo>
                <a:cubicBezTo>
                  <a:pt x="262" y="99"/>
                  <a:pt x="265" y="116"/>
                  <a:pt x="265" y="13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4705200" y="4772520"/>
            <a:ext cx="701280" cy="358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Stick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"/>
          <p:cNvSpPr/>
          <p:nvPr/>
        </p:nvSpPr>
        <p:spPr>
          <a:xfrm>
            <a:off x="0" y="0"/>
            <a:ext cx="4067280" cy="6191280"/>
          </a:xfrm>
          <a:custGeom>
            <a:avLst/>
            <a:gdLst/>
            <a:ahLst/>
            <a:rect l="0" t="0" r="r" b="b"/>
            <a:pathLst>
              <a:path w="11298" h="17198">
                <a:moveTo>
                  <a:pt x="0" y="0"/>
                </a:moveTo>
                <a:lnTo>
                  <a:pt x="11298" y="0"/>
                </a:lnTo>
                <a:lnTo>
                  <a:pt x="11298" y="17198"/>
                </a:lnTo>
                <a:lnTo>
                  <a:pt x="0" y="171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4705200" y="5306040"/>
            <a:ext cx="1641240" cy="358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Conclusion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847440" y="381960"/>
            <a:ext cx="237168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Agenda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661057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1238400" y="6569280"/>
            <a:ext cx="31820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0020e35 | © 08.10.2026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3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74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"/>
          <p:cNvSpPr/>
          <p:nvPr/>
        </p:nvSpPr>
        <p:spPr>
          <a:xfrm>
            <a:off x="571320" y="761760"/>
            <a:ext cx="11049480" cy="5410440"/>
          </a:xfrm>
          <a:custGeom>
            <a:avLst/>
            <a:gdLst/>
            <a:ahLst/>
            <a:rect l="0" t="0" r="r" b="b"/>
            <a:pathLst>
              <a:path w="30693" h="15029">
                <a:moveTo>
                  <a:pt x="0" y="0"/>
                </a:moveTo>
                <a:lnTo>
                  <a:pt x="30693" y="0"/>
                </a:lnTo>
                <a:lnTo>
                  <a:pt x="30693" y="15029"/>
                </a:lnTo>
                <a:lnTo>
                  <a:pt x="0" y="150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76" name="" descr=""/>
          <p:cNvPicPr/>
          <p:nvPr/>
        </p:nvPicPr>
        <p:blipFill>
          <a:blip r:embed="rId2"/>
          <a:stretch/>
        </p:blipFill>
        <p:spPr>
          <a:xfrm>
            <a:off x="5753160" y="2962440"/>
            <a:ext cx="685440" cy="68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661057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1238400" y="6569280"/>
            <a:ext cx="31820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0020e35 | © 08.10.2026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4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84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" name=""/>
          <p:cNvSpPr/>
          <p:nvPr/>
        </p:nvSpPr>
        <p:spPr>
          <a:xfrm>
            <a:off x="761760" y="2257200"/>
            <a:ext cx="5334480" cy="3000600"/>
          </a:xfrm>
          <a:custGeom>
            <a:avLst/>
            <a:gdLst/>
            <a:ahLst/>
            <a:rect l="0" t="0" r="r" b="b"/>
            <a:pathLst>
              <a:path w="14818" h="8335">
                <a:moveTo>
                  <a:pt x="0" y="0"/>
                </a:moveTo>
                <a:lnTo>
                  <a:pt x="14818" y="0"/>
                </a:lnTo>
                <a:lnTo>
                  <a:pt x="14818" y="8335"/>
                </a:lnTo>
                <a:lnTo>
                  <a:pt x="0" y="833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"/>
          <p:cNvSpPr/>
          <p:nvPr/>
        </p:nvSpPr>
        <p:spPr>
          <a:xfrm>
            <a:off x="761760" y="2257200"/>
            <a:ext cx="5334480" cy="3000600"/>
          </a:xfrm>
          <a:custGeom>
            <a:avLst/>
            <a:gdLst/>
            <a:ahLst/>
            <a:rect l="0" t="0" r="r" b="b"/>
            <a:pathLst>
              <a:path w="14818" h="8335">
                <a:moveTo>
                  <a:pt x="0" y="0"/>
                </a:moveTo>
                <a:lnTo>
                  <a:pt x="14818" y="0"/>
                </a:lnTo>
                <a:lnTo>
                  <a:pt x="14818" y="8335"/>
                </a:lnTo>
                <a:lnTo>
                  <a:pt x="0" y="833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"/>
          <p:cNvSpPr/>
          <p:nvPr/>
        </p:nvSpPr>
        <p:spPr>
          <a:xfrm>
            <a:off x="766440" y="2261880"/>
            <a:ext cx="5325120" cy="2991240"/>
          </a:xfrm>
          <a:custGeom>
            <a:avLst/>
            <a:gdLst/>
            <a:ahLst/>
            <a:rect l="0" t="0" r="r" b="b"/>
            <a:pathLst>
              <a:path fill="none" w="14792" h="8309">
                <a:moveTo>
                  <a:pt x="0" y="0"/>
                </a:moveTo>
                <a:lnTo>
                  <a:pt x="14792" y="0"/>
                </a:lnTo>
                <a:lnTo>
                  <a:pt x="14792" y="8309"/>
                </a:lnTo>
                <a:lnTo>
                  <a:pt x="0" y="8309"/>
                </a:lnTo>
                <a:lnTo>
                  <a:pt x="0" y="0"/>
                </a:lnTo>
              </a:path>
            </a:pathLst>
          </a:custGeom>
          <a:ln w="9360">
            <a:solidFill>
              <a:srgbClr val="00000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761760" y="2257200"/>
            <a:ext cx="5334480" cy="3000600"/>
          </a:xfrm>
          <a:custGeom>
            <a:avLst/>
            <a:gdLst/>
            <a:ahLst/>
            <a:rect l="0" t="0" r="r" b="b"/>
            <a:pathLst>
              <a:path w="14818" h="8335">
                <a:moveTo>
                  <a:pt x="0" y="0"/>
                </a:moveTo>
                <a:lnTo>
                  <a:pt x="14818" y="0"/>
                </a:lnTo>
                <a:lnTo>
                  <a:pt x="14818" y="8335"/>
                </a:lnTo>
                <a:lnTo>
                  <a:pt x="0" y="833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761760" y="2257200"/>
            <a:ext cx="5334480" cy="3000600"/>
          </a:xfrm>
          <a:custGeom>
            <a:avLst/>
            <a:gdLst/>
            <a:ahLst/>
            <a:rect l="0" t="0" r="r" b="b"/>
            <a:pathLst>
              <a:path w="14818" h="8335">
                <a:moveTo>
                  <a:pt x="0" y="0"/>
                </a:moveTo>
                <a:lnTo>
                  <a:pt x="14818" y="0"/>
                </a:lnTo>
                <a:lnTo>
                  <a:pt x="14818" y="8335"/>
                </a:lnTo>
                <a:lnTo>
                  <a:pt x="0" y="833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"/>
          <p:cNvSpPr/>
          <p:nvPr/>
        </p:nvSpPr>
        <p:spPr>
          <a:xfrm>
            <a:off x="761760" y="2257200"/>
            <a:ext cx="5334480" cy="3000600"/>
          </a:xfrm>
          <a:custGeom>
            <a:avLst/>
            <a:gdLst/>
            <a:ahLst/>
            <a:rect l="0" t="0" r="r" b="b"/>
            <a:pathLst>
              <a:path w="14818" h="8335">
                <a:moveTo>
                  <a:pt x="14818" y="0"/>
                </a:moveTo>
                <a:lnTo>
                  <a:pt x="14818" y="8335"/>
                </a:lnTo>
                <a:lnTo>
                  <a:pt x="0" y="8335"/>
                </a:lnTo>
                <a:lnTo>
                  <a:pt x="0" y="0"/>
                </a:lnTo>
                <a:lnTo>
                  <a:pt x="14818" y="0"/>
                </a:lnTo>
                <a:moveTo>
                  <a:pt x="14791" y="27"/>
                </a:moveTo>
                <a:lnTo>
                  <a:pt x="27" y="27"/>
                </a:lnTo>
                <a:lnTo>
                  <a:pt x="27" y="8309"/>
                </a:lnTo>
                <a:lnTo>
                  <a:pt x="14791" y="8309"/>
                </a:lnTo>
                <a:lnTo>
                  <a:pt x="14791" y="27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761760" y="2257200"/>
            <a:ext cx="5334480" cy="3000600"/>
          </a:xfrm>
          <a:custGeom>
            <a:avLst/>
            <a:gdLst/>
            <a:ahLst/>
            <a:rect l="0" t="0" r="r" b="b"/>
            <a:pathLst>
              <a:path w="14818" h="8335">
                <a:moveTo>
                  <a:pt x="0" y="0"/>
                </a:moveTo>
                <a:lnTo>
                  <a:pt x="14818" y="0"/>
                </a:lnTo>
                <a:lnTo>
                  <a:pt x="14818" y="8335"/>
                </a:lnTo>
                <a:lnTo>
                  <a:pt x="0" y="833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761760" y="2257200"/>
            <a:ext cx="5334480" cy="3000600"/>
          </a:xfrm>
          <a:custGeom>
            <a:avLst/>
            <a:gdLst/>
            <a:ahLst/>
            <a:rect l="0" t="0" r="r" b="b"/>
            <a:pathLst>
              <a:path w="14818" h="8335">
                <a:moveTo>
                  <a:pt x="0" y="0"/>
                </a:moveTo>
                <a:lnTo>
                  <a:pt x="14818" y="0"/>
                </a:lnTo>
                <a:lnTo>
                  <a:pt x="14818" y="8335"/>
                </a:lnTo>
                <a:lnTo>
                  <a:pt x="0" y="833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"/>
          <p:cNvSpPr/>
          <p:nvPr/>
        </p:nvSpPr>
        <p:spPr>
          <a:xfrm>
            <a:off x="761760" y="2257200"/>
            <a:ext cx="5334480" cy="3000600"/>
          </a:xfrm>
          <a:custGeom>
            <a:avLst/>
            <a:gdLst/>
            <a:ahLst/>
            <a:rect l="0" t="0" r="r" b="b"/>
            <a:pathLst>
              <a:path w="14818" h="8335">
                <a:moveTo>
                  <a:pt x="0" y="0"/>
                </a:moveTo>
                <a:lnTo>
                  <a:pt x="14818" y="0"/>
                </a:lnTo>
                <a:lnTo>
                  <a:pt x="14818" y="8335"/>
                </a:lnTo>
                <a:lnTo>
                  <a:pt x="0" y="833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"/>
          <p:cNvSpPr/>
          <p:nvPr/>
        </p:nvSpPr>
        <p:spPr>
          <a:xfrm>
            <a:off x="761760" y="2257200"/>
            <a:ext cx="5334480" cy="3000600"/>
          </a:xfrm>
          <a:custGeom>
            <a:avLst/>
            <a:gdLst/>
            <a:ahLst/>
            <a:rect l="0" t="0" r="r" b="b"/>
            <a:pathLst>
              <a:path w="14818" h="8335">
                <a:moveTo>
                  <a:pt x="0" y="0"/>
                </a:moveTo>
                <a:lnTo>
                  <a:pt x="14818" y="0"/>
                </a:lnTo>
                <a:lnTo>
                  <a:pt x="14818" y="8335"/>
                </a:lnTo>
                <a:lnTo>
                  <a:pt x="0" y="833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"/>
          <p:cNvSpPr/>
          <p:nvPr/>
        </p:nvSpPr>
        <p:spPr>
          <a:xfrm>
            <a:off x="761760" y="2257200"/>
            <a:ext cx="5334480" cy="3000600"/>
          </a:xfrm>
          <a:custGeom>
            <a:avLst/>
            <a:gdLst/>
            <a:ahLst/>
            <a:rect l="0" t="0" r="r" b="b"/>
            <a:pathLst>
              <a:path w="14818" h="8335">
                <a:moveTo>
                  <a:pt x="0" y="0"/>
                </a:moveTo>
                <a:lnTo>
                  <a:pt x="14818" y="0"/>
                </a:lnTo>
                <a:lnTo>
                  <a:pt x="14818" y="8335"/>
                </a:lnTo>
                <a:lnTo>
                  <a:pt x="0" y="833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1401840" y="2772360"/>
            <a:ext cx="1483200" cy="357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00" strike="noStrike" u="none">
                <a:solidFill>
                  <a:srgbClr val="ababab"/>
                </a:solidFill>
                <a:effectLst/>
                <a:uFillTx/>
                <a:latin typeface="Roboto"/>
                <a:ea typeface="Roboto"/>
              </a:rPr>
              <a:t>Video player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1401840" y="3134520"/>
            <a:ext cx="1527840" cy="357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00" strike="noStrike" u="none">
                <a:solidFill>
                  <a:srgbClr val="ababab"/>
                </a:solidFill>
                <a:effectLst/>
                <a:uFillTx/>
                <a:latin typeface="Roboto"/>
                <a:ea typeface="Roboto"/>
              </a:rPr>
              <a:t>configuration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1401840" y="3496320"/>
            <a:ext cx="563760" cy="357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00" strike="noStrike" u="none">
                <a:solidFill>
                  <a:srgbClr val="ababab"/>
                </a:solidFill>
                <a:effectLst/>
                <a:uFillTx/>
                <a:latin typeface="Roboto"/>
                <a:ea typeface="Roboto"/>
              </a:rPr>
              <a:t>error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1400040" y="4390920"/>
            <a:ext cx="1781640" cy="343080"/>
          </a:xfrm>
          <a:custGeom>
            <a:avLst/>
            <a:gdLst/>
            <a:ahLst/>
            <a:rect l="0" t="0" r="r" b="b"/>
            <a:pathLst>
              <a:path w="4949" h="953">
                <a:moveTo>
                  <a:pt x="0" y="476"/>
                </a:moveTo>
                <a:cubicBezTo>
                  <a:pt x="0" y="445"/>
                  <a:pt x="3" y="414"/>
                  <a:pt x="9" y="383"/>
                </a:cubicBezTo>
                <a:cubicBezTo>
                  <a:pt x="15" y="352"/>
                  <a:pt x="24" y="323"/>
                  <a:pt x="36" y="294"/>
                </a:cubicBezTo>
                <a:cubicBezTo>
                  <a:pt x="48" y="265"/>
                  <a:pt x="63" y="237"/>
                  <a:pt x="80" y="211"/>
                </a:cubicBezTo>
                <a:cubicBezTo>
                  <a:pt x="98" y="185"/>
                  <a:pt x="117" y="161"/>
                  <a:pt x="139" y="139"/>
                </a:cubicBezTo>
                <a:cubicBezTo>
                  <a:pt x="161" y="117"/>
                  <a:pt x="186" y="97"/>
                  <a:pt x="212" y="80"/>
                </a:cubicBezTo>
                <a:cubicBezTo>
                  <a:pt x="238" y="63"/>
                  <a:pt x="265" y="48"/>
                  <a:pt x="294" y="36"/>
                </a:cubicBezTo>
                <a:cubicBezTo>
                  <a:pt x="323" y="24"/>
                  <a:pt x="353" y="15"/>
                  <a:pt x="383" y="9"/>
                </a:cubicBezTo>
                <a:cubicBezTo>
                  <a:pt x="414" y="3"/>
                  <a:pt x="445" y="0"/>
                  <a:pt x="476" y="0"/>
                </a:cubicBezTo>
                <a:lnTo>
                  <a:pt x="4472" y="0"/>
                </a:lnTo>
                <a:cubicBezTo>
                  <a:pt x="4504" y="0"/>
                  <a:pt x="4535" y="3"/>
                  <a:pt x="4565" y="9"/>
                </a:cubicBezTo>
                <a:cubicBezTo>
                  <a:pt x="4596" y="15"/>
                  <a:pt x="4626" y="24"/>
                  <a:pt x="4655" y="36"/>
                </a:cubicBezTo>
                <a:cubicBezTo>
                  <a:pt x="4683" y="48"/>
                  <a:pt x="4711" y="63"/>
                  <a:pt x="4737" y="80"/>
                </a:cubicBezTo>
                <a:cubicBezTo>
                  <a:pt x="4763" y="97"/>
                  <a:pt x="4787" y="117"/>
                  <a:pt x="4809" y="139"/>
                </a:cubicBezTo>
                <a:cubicBezTo>
                  <a:pt x="4831" y="161"/>
                  <a:pt x="4851" y="185"/>
                  <a:pt x="4868" y="211"/>
                </a:cubicBezTo>
                <a:cubicBezTo>
                  <a:pt x="4886" y="237"/>
                  <a:pt x="4900" y="265"/>
                  <a:pt x="4912" y="294"/>
                </a:cubicBezTo>
                <a:cubicBezTo>
                  <a:pt x="4924" y="323"/>
                  <a:pt x="4933" y="352"/>
                  <a:pt x="4939" y="383"/>
                </a:cubicBezTo>
                <a:cubicBezTo>
                  <a:pt x="4946" y="414"/>
                  <a:pt x="4949" y="445"/>
                  <a:pt x="4949" y="476"/>
                </a:cubicBezTo>
                <a:cubicBezTo>
                  <a:pt x="4949" y="507"/>
                  <a:pt x="4946" y="538"/>
                  <a:pt x="4939" y="569"/>
                </a:cubicBezTo>
                <a:cubicBezTo>
                  <a:pt x="4933" y="600"/>
                  <a:pt x="4924" y="629"/>
                  <a:pt x="4912" y="659"/>
                </a:cubicBezTo>
                <a:cubicBezTo>
                  <a:pt x="4900" y="688"/>
                  <a:pt x="4886" y="716"/>
                  <a:pt x="4868" y="742"/>
                </a:cubicBezTo>
                <a:cubicBezTo>
                  <a:pt x="4851" y="768"/>
                  <a:pt x="4831" y="792"/>
                  <a:pt x="4809" y="814"/>
                </a:cubicBezTo>
                <a:cubicBezTo>
                  <a:pt x="4787" y="836"/>
                  <a:pt x="4763" y="856"/>
                  <a:pt x="4737" y="873"/>
                </a:cubicBezTo>
                <a:cubicBezTo>
                  <a:pt x="4711" y="890"/>
                  <a:pt x="4683" y="905"/>
                  <a:pt x="4655" y="917"/>
                </a:cubicBezTo>
                <a:cubicBezTo>
                  <a:pt x="4626" y="929"/>
                  <a:pt x="4596" y="938"/>
                  <a:pt x="4565" y="944"/>
                </a:cubicBezTo>
                <a:cubicBezTo>
                  <a:pt x="4535" y="950"/>
                  <a:pt x="4504" y="953"/>
                  <a:pt x="4472" y="953"/>
                </a:cubicBezTo>
                <a:lnTo>
                  <a:pt x="476" y="953"/>
                </a:lnTo>
                <a:cubicBezTo>
                  <a:pt x="445" y="953"/>
                  <a:pt x="414" y="950"/>
                  <a:pt x="383" y="944"/>
                </a:cubicBezTo>
                <a:cubicBezTo>
                  <a:pt x="353" y="938"/>
                  <a:pt x="323" y="929"/>
                  <a:pt x="294" y="917"/>
                </a:cubicBezTo>
                <a:cubicBezTo>
                  <a:pt x="265" y="905"/>
                  <a:pt x="238" y="890"/>
                  <a:pt x="212" y="873"/>
                </a:cubicBezTo>
                <a:cubicBezTo>
                  <a:pt x="186" y="856"/>
                  <a:pt x="161" y="836"/>
                  <a:pt x="139" y="814"/>
                </a:cubicBezTo>
                <a:cubicBezTo>
                  <a:pt x="117" y="792"/>
                  <a:pt x="98" y="768"/>
                  <a:pt x="80" y="742"/>
                </a:cubicBezTo>
                <a:cubicBezTo>
                  <a:pt x="63" y="716"/>
                  <a:pt x="48" y="688"/>
                  <a:pt x="36" y="659"/>
                </a:cubicBezTo>
                <a:cubicBezTo>
                  <a:pt x="24" y="629"/>
                  <a:pt x="15" y="600"/>
                  <a:pt x="9" y="569"/>
                </a:cubicBezTo>
                <a:cubicBezTo>
                  <a:pt x="3" y="538"/>
                  <a:pt x="0" y="507"/>
                  <a:pt x="0" y="47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1401840" y="4018680"/>
            <a:ext cx="63612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ababab"/>
                </a:solidFill>
                <a:effectLst/>
                <a:uFillTx/>
                <a:latin typeface="Roboto"/>
                <a:ea typeface="Roboto"/>
              </a:rPr>
              <a:t>Error 153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1400040" y="4809960"/>
            <a:ext cx="981360" cy="343080"/>
          </a:xfrm>
          <a:custGeom>
            <a:avLst/>
            <a:gdLst/>
            <a:ahLst/>
            <a:rect l="0" t="0" r="r" b="b"/>
            <a:pathLst>
              <a:path w="2726" h="953">
                <a:moveTo>
                  <a:pt x="0" y="477"/>
                </a:moveTo>
                <a:cubicBezTo>
                  <a:pt x="0" y="446"/>
                  <a:pt x="3" y="414"/>
                  <a:pt x="9" y="383"/>
                </a:cubicBezTo>
                <a:cubicBezTo>
                  <a:pt x="15" y="353"/>
                  <a:pt x="24" y="323"/>
                  <a:pt x="36" y="294"/>
                </a:cubicBezTo>
                <a:cubicBezTo>
                  <a:pt x="48" y="265"/>
                  <a:pt x="63" y="238"/>
                  <a:pt x="80" y="212"/>
                </a:cubicBezTo>
                <a:cubicBezTo>
                  <a:pt x="98" y="186"/>
                  <a:pt x="117" y="162"/>
                  <a:pt x="139" y="139"/>
                </a:cubicBezTo>
                <a:cubicBezTo>
                  <a:pt x="161" y="117"/>
                  <a:pt x="186" y="98"/>
                  <a:pt x="213" y="80"/>
                </a:cubicBezTo>
                <a:cubicBezTo>
                  <a:pt x="239" y="63"/>
                  <a:pt x="266" y="48"/>
                  <a:pt x="295" y="36"/>
                </a:cubicBezTo>
                <a:cubicBezTo>
                  <a:pt x="324" y="24"/>
                  <a:pt x="354" y="15"/>
                  <a:pt x="384" y="9"/>
                </a:cubicBezTo>
                <a:cubicBezTo>
                  <a:pt x="415" y="3"/>
                  <a:pt x="446" y="0"/>
                  <a:pt x="477" y="0"/>
                </a:cubicBezTo>
                <a:lnTo>
                  <a:pt x="2250" y="0"/>
                </a:lnTo>
                <a:cubicBezTo>
                  <a:pt x="2281" y="0"/>
                  <a:pt x="2312" y="3"/>
                  <a:pt x="2343" y="9"/>
                </a:cubicBezTo>
                <a:cubicBezTo>
                  <a:pt x="2373" y="15"/>
                  <a:pt x="2403" y="24"/>
                  <a:pt x="2432" y="36"/>
                </a:cubicBezTo>
                <a:cubicBezTo>
                  <a:pt x="2461" y="48"/>
                  <a:pt x="2488" y="63"/>
                  <a:pt x="2514" y="80"/>
                </a:cubicBezTo>
                <a:cubicBezTo>
                  <a:pt x="2540" y="98"/>
                  <a:pt x="2564" y="117"/>
                  <a:pt x="2587" y="139"/>
                </a:cubicBezTo>
                <a:cubicBezTo>
                  <a:pt x="2609" y="162"/>
                  <a:pt x="2628" y="186"/>
                  <a:pt x="2646" y="212"/>
                </a:cubicBezTo>
                <a:cubicBezTo>
                  <a:pt x="2663" y="238"/>
                  <a:pt x="2678" y="265"/>
                  <a:pt x="2690" y="294"/>
                </a:cubicBezTo>
                <a:cubicBezTo>
                  <a:pt x="2702" y="323"/>
                  <a:pt x="2711" y="353"/>
                  <a:pt x="2717" y="383"/>
                </a:cubicBezTo>
                <a:cubicBezTo>
                  <a:pt x="2723" y="414"/>
                  <a:pt x="2726" y="446"/>
                  <a:pt x="2726" y="477"/>
                </a:cubicBezTo>
                <a:cubicBezTo>
                  <a:pt x="2726" y="508"/>
                  <a:pt x="2723" y="539"/>
                  <a:pt x="2717" y="570"/>
                </a:cubicBezTo>
                <a:cubicBezTo>
                  <a:pt x="2711" y="601"/>
                  <a:pt x="2702" y="631"/>
                  <a:pt x="2690" y="659"/>
                </a:cubicBezTo>
                <a:cubicBezTo>
                  <a:pt x="2678" y="688"/>
                  <a:pt x="2663" y="716"/>
                  <a:pt x="2646" y="742"/>
                </a:cubicBezTo>
                <a:cubicBezTo>
                  <a:pt x="2628" y="768"/>
                  <a:pt x="2609" y="792"/>
                  <a:pt x="2587" y="814"/>
                </a:cubicBezTo>
                <a:cubicBezTo>
                  <a:pt x="2564" y="836"/>
                  <a:pt x="2540" y="856"/>
                  <a:pt x="2514" y="873"/>
                </a:cubicBezTo>
                <a:cubicBezTo>
                  <a:pt x="2488" y="891"/>
                  <a:pt x="2461" y="905"/>
                  <a:pt x="2432" y="917"/>
                </a:cubicBezTo>
                <a:cubicBezTo>
                  <a:pt x="2403" y="929"/>
                  <a:pt x="2373" y="938"/>
                  <a:pt x="2343" y="944"/>
                </a:cubicBezTo>
                <a:cubicBezTo>
                  <a:pt x="2312" y="950"/>
                  <a:pt x="2281" y="953"/>
                  <a:pt x="2250" y="953"/>
                </a:cubicBezTo>
                <a:lnTo>
                  <a:pt x="477" y="953"/>
                </a:lnTo>
                <a:cubicBezTo>
                  <a:pt x="446" y="953"/>
                  <a:pt x="415" y="950"/>
                  <a:pt x="384" y="944"/>
                </a:cubicBezTo>
                <a:cubicBezTo>
                  <a:pt x="354" y="938"/>
                  <a:pt x="324" y="929"/>
                  <a:pt x="295" y="917"/>
                </a:cubicBezTo>
                <a:cubicBezTo>
                  <a:pt x="266" y="905"/>
                  <a:pt x="239" y="891"/>
                  <a:pt x="213" y="873"/>
                </a:cubicBezTo>
                <a:cubicBezTo>
                  <a:pt x="186" y="856"/>
                  <a:pt x="161" y="836"/>
                  <a:pt x="139" y="814"/>
                </a:cubicBezTo>
                <a:cubicBezTo>
                  <a:pt x="117" y="792"/>
                  <a:pt x="98" y="768"/>
                  <a:pt x="80" y="742"/>
                </a:cubicBezTo>
                <a:cubicBezTo>
                  <a:pt x="63" y="716"/>
                  <a:pt x="48" y="688"/>
                  <a:pt x="36" y="659"/>
                </a:cubicBezTo>
                <a:cubicBezTo>
                  <a:pt x="24" y="631"/>
                  <a:pt x="15" y="601"/>
                  <a:pt x="9" y="570"/>
                </a:cubicBezTo>
                <a:cubicBezTo>
                  <a:pt x="3" y="539"/>
                  <a:pt x="0" y="508"/>
                  <a:pt x="0" y="47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1554480" y="4467600"/>
            <a:ext cx="1489680" cy="178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000000"/>
                </a:solidFill>
                <a:effectLst/>
                <a:uFillTx/>
                <a:latin typeface="Roboto"/>
                <a:ea typeface="Roboto"/>
              </a:rPr>
              <a:t>Watch video on YouTube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"/>
          <p:cNvSpPr/>
          <p:nvPr/>
        </p:nvSpPr>
        <p:spPr>
          <a:xfrm>
            <a:off x="5248080" y="4914720"/>
            <a:ext cx="771840" cy="267120"/>
          </a:xfrm>
          <a:custGeom>
            <a:avLst/>
            <a:gdLst/>
            <a:ahLst/>
            <a:rect l="0" t="0" r="r" b="b"/>
            <a:pathLst>
              <a:path w="2144" h="742">
                <a:moveTo>
                  <a:pt x="0" y="424"/>
                </a:moveTo>
                <a:lnTo>
                  <a:pt x="0" y="318"/>
                </a:lnTo>
                <a:cubicBezTo>
                  <a:pt x="0" y="298"/>
                  <a:pt x="2" y="277"/>
                  <a:pt x="6" y="257"/>
                </a:cubicBezTo>
                <a:cubicBezTo>
                  <a:pt x="10" y="236"/>
                  <a:pt x="16" y="216"/>
                  <a:pt x="24" y="197"/>
                </a:cubicBezTo>
                <a:cubicBezTo>
                  <a:pt x="32" y="178"/>
                  <a:pt x="42" y="159"/>
                  <a:pt x="54" y="142"/>
                </a:cubicBezTo>
                <a:cubicBezTo>
                  <a:pt x="65" y="125"/>
                  <a:pt x="78" y="109"/>
                  <a:pt x="93" y="94"/>
                </a:cubicBezTo>
                <a:cubicBezTo>
                  <a:pt x="108" y="79"/>
                  <a:pt x="124" y="66"/>
                  <a:pt x="141" y="55"/>
                </a:cubicBezTo>
                <a:cubicBezTo>
                  <a:pt x="158" y="43"/>
                  <a:pt x="177" y="32"/>
                  <a:pt x="196" y="24"/>
                </a:cubicBezTo>
                <a:cubicBezTo>
                  <a:pt x="215" y="16"/>
                  <a:pt x="235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lnTo>
                  <a:pt x="1827" y="0"/>
                </a:lnTo>
                <a:cubicBezTo>
                  <a:pt x="1848" y="0"/>
                  <a:pt x="1868" y="2"/>
                  <a:pt x="1889" y="6"/>
                </a:cubicBezTo>
                <a:cubicBezTo>
                  <a:pt x="1909" y="10"/>
                  <a:pt x="1929" y="16"/>
                  <a:pt x="1948" y="24"/>
                </a:cubicBezTo>
                <a:cubicBezTo>
                  <a:pt x="1967" y="32"/>
                  <a:pt x="1986" y="43"/>
                  <a:pt x="2003" y="55"/>
                </a:cubicBezTo>
                <a:cubicBezTo>
                  <a:pt x="2020" y="66"/>
                  <a:pt x="2036" y="79"/>
                  <a:pt x="2051" y="94"/>
                </a:cubicBezTo>
                <a:cubicBezTo>
                  <a:pt x="2066" y="109"/>
                  <a:pt x="2079" y="125"/>
                  <a:pt x="2091" y="142"/>
                </a:cubicBezTo>
                <a:cubicBezTo>
                  <a:pt x="2102" y="159"/>
                  <a:pt x="2112" y="178"/>
                  <a:pt x="2120" y="197"/>
                </a:cubicBezTo>
                <a:cubicBezTo>
                  <a:pt x="2128" y="216"/>
                  <a:pt x="2134" y="236"/>
                  <a:pt x="2138" y="257"/>
                </a:cubicBezTo>
                <a:cubicBezTo>
                  <a:pt x="2142" y="277"/>
                  <a:pt x="2144" y="298"/>
                  <a:pt x="2144" y="318"/>
                </a:cubicBezTo>
                <a:lnTo>
                  <a:pt x="2144" y="424"/>
                </a:lnTo>
                <a:cubicBezTo>
                  <a:pt x="2144" y="445"/>
                  <a:pt x="2142" y="466"/>
                  <a:pt x="2138" y="486"/>
                </a:cubicBezTo>
                <a:cubicBezTo>
                  <a:pt x="2134" y="507"/>
                  <a:pt x="2128" y="527"/>
                  <a:pt x="2120" y="546"/>
                </a:cubicBezTo>
                <a:cubicBezTo>
                  <a:pt x="2112" y="565"/>
                  <a:pt x="2102" y="583"/>
                  <a:pt x="2091" y="601"/>
                </a:cubicBezTo>
                <a:cubicBezTo>
                  <a:pt x="2079" y="618"/>
                  <a:pt x="2066" y="634"/>
                  <a:pt x="2051" y="649"/>
                </a:cubicBezTo>
                <a:cubicBezTo>
                  <a:pt x="2036" y="664"/>
                  <a:pt x="2020" y="677"/>
                  <a:pt x="2003" y="688"/>
                </a:cubicBezTo>
                <a:cubicBezTo>
                  <a:pt x="1986" y="700"/>
                  <a:pt x="1967" y="710"/>
                  <a:pt x="1948" y="718"/>
                </a:cubicBezTo>
                <a:cubicBezTo>
                  <a:pt x="1929" y="726"/>
                  <a:pt x="1909" y="732"/>
                  <a:pt x="1889" y="736"/>
                </a:cubicBezTo>
                <a:cubicBezTo>
                  <a:pt x="1868" y="740"/>
                  <a:pt x="1848" y="742"/>
                  <a:pt x="1827" y="742"/>
                </a:cubicBezTo>
                <a:lnTo>
                  <a:pt x="318" y="742"/>
                </a:lnTo>
                <a:cubicBezTo>
                  <a:pt x="297" y="742"/>
                  <a:pt x="276" y="740"/>
                  <a:pt x="256" y="736"/>
                </a:cubicBezTo>
                <a:cubicBezTo>
                  <a:pt x="235" y="732"/>
                  <a:pt x="215" y="726"/>
                  <a:pt x="196" y="718"/>
                </a:cubicBezTo>
                <a:cubicBezTo>
                  <a:pt x="177" y="710"/>
                  <a:pt x="158" y="700"/>
                  <a:pt x="141" y="688"/>
                </a:cubicBezTo>
                <a:cubicBezTo>
                  <a:pt x="124" y="677"/>
                  <a:pt x="108" y="664"/>
                  <a:pt x="93" y="649"/>
                </a:cubicBezTo>
                <a:cubicBezTo>
                  <a:pt x="78" y="634"/>
                  <a:pt x="65" y="618"/>
                  <a:pt x="54" y="601"/>
                </a:cubicBezTo>
                <a:cubicBezTo>
                  <a:pt x="42" y="583"/>
                  <a:pt x="32" y="565"/>
                  <a:pt x="24" y="546"/>
                </a:cubicBezTo>
                <a:cubicBezTo>
                  <a:pt x="16" y="527"/>
                  <a:pt x="10" y="507"/>
                  <a:pt x="6" y="486"/>
                </a:cubicBezTo>
                <a:cubicBezTo>
                  <a:pt x="2" y="466"/>
                  <a:pt x="0" y="445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1554480" y="4886640"/>
            <a:ext cx="678600" cy="178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ababab"/>
                </a:solidFill>
                <a:effectLst/>
                <a:uFillTx/>
                <a:latin typeface="Roboto"/>
                <a:ea typeface="Roboto"/>
              </a:rPr>
              <a:t>Learn more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5361480" y="4953240"/>
            <a:ext cx="553320" cy="178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ababab"/>
                </a:solidFill>
                <a:effectLst/>
                <a:uFillTx/>
                <a:latin typeface="Roboto"/>
                <a:ea typeface="Roboto"/>
              </a:rPr>
              <a:t>Error 153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661057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1238400" y="6569280"/>
            <a:ext cx="31820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0020e35 | © 08.10.2026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5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13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4" name=""/>
          <p:cNvSpPr txBox="1"/>
          <p:nvPr/>
        </p:nvSpPr>
        <p:spPr>
          <a:xfrm>
            <a:off x="762120" y="4528080"/>
            <a:ext cx="104169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Despite near-universal agreement that SPS is superior, organisations repeatedly default to IPS — the </a:t>
            </a:r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ﬁre-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762120" y="4832640"/>
            <a:ext cx="46944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ﬁghting syndrome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. Part IV comes back to why.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851400" y="5273280"/>
            <a:ext cx="706392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6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1. </a:t>
            </a:r>
            <a:r>
              <a:rPr b="0" lang="en-US" sz="96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Mohaghegh, M. and Furlan, A. (2020). Systematic problem-solving and its antecedents: a synthesis of the literature. </a:t>
            </a:r>
            <a:endParaRPr b="0" lang="en-US" sz="9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7944480" y="5273280"/>
            <a:ext cx="1820160" cy="14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89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Management Research Review</a:t>
            </a:r>
            <a:endParaRPr b="0" lang="en-US" sz="989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9690120" y="5273280"/>
            <a:ext cx="141264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6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, 43(9), pp. 1033–1062.</a:t>
            </a:r>
            <a:endParaRPr b="0" lang="en-US" sz="9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661057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"/>
          <p:cNvSpPr/>
          <p:nvPr/>
        </p:nvSpPr>
        <p:spPr>
          <a:xfrm>
            <a:off x="766440" y="2271600"/>
            <a:ext cx="5277240" cy="2105280"/>
          </a:xfrm>
          <a:custGeom>
            <a:avLst/>
            <a:gdLst/>
            <a:ahLst/>
            <a:rect l="0" t="0" r="r" b="b"/>
            <a:pathLst>
              <a:path w="14659" h="5848">
                <a:moveTo>
                  <a:pt x="0" y="570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3"/>
                </a:cubicBezTo>
                <a:cubicBezTo>
                  <a:pt x="14552" y="4"/>
                  <a:pt x="14561" y="7"/>
                  <a:pt x="14569" y="11"/>
                </a:cubicBezTo>
                <a:cubicBezTo>
                  <a:pt x="14578" y="15"/>
                  <a:pt x="14587" y="19"/>
                  <a:pt x="14595" y="24"/>
                </a:cubicBezTo>
                <a:cubicBezTo>
                  <a:pt x="14603" y="30"/>
                  <a:pt x="14610" y="36"/>
                  <a:pt x="14617" y="42"/>
                </a:cubicBezTo>
                <a:cubicBezTo>
                  <a:pt x="14623" y="49"/>
                  <a:pt x="14629" y="57"/>
                  <a:pt x="14635" y="64"/>
                </a:cubicBezTo>
                <a:cubicBezTo>
                  <a:pt x="14640" y="72"/>
                  <a:pt x="14645" y="81"/>
                  <a:pt x="14648" y="90"/>
                </a:cubicBezTo>
                <a:cubicBezTo>
                  <a:pt x="14652" y="98"/>
                  <a:pt x="14655" y="108"/>
                  <a:pt x="14657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5703"/>
                </a:lnTo>
                <a:cubicBezTo>
                  <a:pt x="14659" y="5712"/>
                  <a:pt x="14658" y="5722"/>
                  <a:pt x="14657" y="5731"/>
                </a:cubicBezTo>
                <a:cubicBezTo>
                  <a:pt x="14655" y="5740"/>
                  <a:pt x="14652" y="5749"/>
                  <a:pt x="14648" y="5758"/>
                </a:cubicBezTo>
                <a:cubicBezTo>
                  <a:pt x="14645" y="5767"/>
                  <a:pt x="14640" y="5775"/>
                  <a:pt x="14635" y="5783"/>
                </a:cubicBezTo>
                <a:cubicBezTo>
                  <a:pt x="14629" y="5791"/>
                  <a:pt x="14623" y="5799"/>
                  <a:pt x="14617" y="5805"/>
                </a:cubicBezTo>
                <a:cubicBezTo>
                  <a:pt x="14610" y="5812"/>
                  <a:pt x="14603" y="5818"/>
                  <a:pt x="14595" y="5824"/>
                </a:cubicBezTo>
                <a:cubicBezTo>
                  <a:pt x="14587" y="5829"/>
                  <a:pt x="14578" y="5833"/>
                  <a:pt x="14569" y="5837"/>
                </a:cubicBezTo>
                <a:cubicBezTo>
                  <a:pt x="14561" y="5841"/>
                  <a:pt x="14552" y="5843"/>
                  <a:pt x="14542" y="5845"/>
                </a:cubicBezTo>
                <a:cubicBezTo>
                  <a:pt x="14533" y="5847"/>
                  <a:pt x="14523" y="5848"/>
                  <a:pt x="14514" y="5848"/>
                </a:cubicBezTo>
                <a:lnTo>
                  <a:pt x="146" y="5848"/>
                </a:lnTo>
                <a:cubicBezTo>
                  <a:pt x="136" y="5848"/>
                  <a:pt x="127" y="5847"/>
                  <a:pt x="118" y="5845"/>
                </a:cubicBezTo>
                <a:cubicBezTo>
                  <a:pt x="108" y="5843"/>
                  <a:pt x="99" y="5841"/>
                  <a:pt x="90" y="5837"/>
                </a:cubicBezTo>
                <a:cubicBezTo>
                  <a:pt x="81" y="5833"/>
                  <a:pt x="73" y="5829"/>
                  <a:pt x="65" y="5824"/>
                </a:cubicBezTo>
                <a:cubicBezTo>
                  <a:pt x="57" y="5818"/>
                  <a:pt x="50" y="5812"/>
                  <a:pt x="43" y="5805"/>
                </a:cubicBezTo>
                <a:cubicBezTo>
                  <a:pt x="36" y="5799"/>
                  <a:pt x="30" y="5791"/>
                  <a:pt x="25" y="5783"/>
                </a:cubicBezTo>
                <a:cubicBezTo>
                  <a:pt x="20" y="5775"/>
                  <a:pt x="15" y="5767"/>
                  <a:pt x="11" y="5758"/>
                </a:cubicBezTo>
                <a:cubicBezTo>
                  <a:pt x="8" y="5749"/>
                  <a:pt x="5" y="5740"/>
                  <a:pt x="3" y="5731"/>
                </a:cubicBezTo>
                <a:cubicBezTo>
                  <a:pt x="1" y="5722"/>
                  <a:pt x="0" y="5712"/>
                  <a:pt x="0" y="5703"/>
                </a:cubicBezTo>
                <a:close/>
              </a:path>
            </a:pathLst>
          </a:custGeom>
          <a:solidFill>
            <a:srgbClr val="fde8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766440" y="2271600"/>
            <a:ext cx="5277240" cy="2105280"/>
          </a:xfrm>
          <a:custGeom>
            <a:avLst/>
            <a:gdLst/>
            <a:ahLst/>
            <a:rect l="0" t="0" r="r" b="b"/>
            <a:pathLst>
              <a:path fill="none" w="14659" h="5848">
                <a:moveTo>
                  <a:pt x="0" y="570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3"/>
                </a:cubicBezTo>
                <a:cubicBezTo>
                  <a:pt x="14552" y="4"/>
                  <a:pt x="14561" y="7"/>
                  <a:pt x="14569" y="11"/>
                </a:cubicBezTo>
                <a:cubicBezTo>
                  <a:pt x="14578" y="15"/>
                  <a:pt x="14587" y="19"/>
                  <a:pt x="14595" y="24"/>
                </a:cubicBezTo>
                <a:cubicBezTo>
                  <a:pt x="14603" y="30"/>
                  <a:pt x="14610" y="36"/>
                  <a:pt x="14617" y="42"/>
                </a:cubicBezTo>
                <a:cubicBezTo>
                  <a:pt x="14623" y="49"/>
                  <a:pt x="14629" y="57"/>
                  <a:pt x="14635" y="64"/>
                </a:cubicBezTo>
                <a:cubicBezTo>
                  <a:pt x="14640" y="72"/>
                  <a:pt x="14645" y="81"/>
                  <a:pt x="14648" y="90"/>
                </a:cubicBezTo>
                <a:cubicBezTo>
                  <a:pt x="14652" y="98"/>
                  <a:pt x="14655" y="108"/>
                  <a:pt x="14657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5703"/>
                </a:lnTo>
                <a:cubicBezTo>
                  <a:pt x="14659" y="5712"/>
                  <a:pt x="14658" y="5722"/>
                  <a:pt x="14657" y="5731"/>
                </a:cubicBezTo>
                <a:cubicBezTo>
                  <a:pt x="14655" y="5740"/>
                  <a:pt x="14652" y="5749"/>
                  <a:pt x="14648" y="5758"/>
                </a:cubicBezTo>
                <a:cubicBezTo>
                  <a:pt x="14645" y="5767"/>
                  <a:pt x="14640" y="5775"/>
                  <a:pt x="14635" y="5783"/>
                </a:cubicBezTo>
                <a:cubicBezTo>
                  <a:pt x="14629" y="5791"/>
                  <a:pt x="14623" y="5799"/>
                  <a:pt x="14617" y="5805"/>
                </a:cubicBezTo>
                <a:cubicBezTo>
                  <a:pt x="14610" y="5812"/>
                  <a:pt x="14603" y="5818"/>
                  <a:pt x="14595" y="5824"/>
                </a:cubicBezTo>
                <a:cubicBezTo>
                  <a:pt x="14587" y="5829"/>
                  <a:pt x="14578" y="5833"/>
                  <a:pt x="14569" y="5837"/>
                </a:cubicBezTo>
                <a:cubicBezTo>
                  <a:pt x="14561" y="5841"/>
                  <a:pt x="14552" y="5843"/>
                  <a:pt x="14542" y="5845"/>
                </a:cubicBezTo>
                <a:cubicBezTo>
                  <a:pt x="14533" y="5847"/>
                  <a:pt x="14523" y="5848"/>
                  <a:pt x="14514" y="5848"/>
                </a:cubicBezTo>
                <a:lnTo>
                  <a:pt x="146" y="5848"/>
                </a:lnTo>
                <a:cubicBezTo>
                  <a:pt x="136" y="5848"/>
                  <a:pt x="127" y="5847"/>
                  <a:pt x="118" y="5845"/>
                </a:cubicBezTo>
                <a:cubicBezTo>
                  <a:pt x="108" y="5843"/>
                  <a:pt x="99" y="5841"/>
                  <a:pt x="90" y="5837"/>
                </a:cubicBezTo>
                <a:cubicBezTo>
                  <a:pt x="81" y="5833"/>
                  <a:pt x="73" y="5829"/>
                  <a:pt x="65" y="5824"/>
                </a:cubicBezTo>
                <a:cubicBezTo>
                  <a:pt x="57" y="5818"/>
                  <a:pt x="50" y="5812"/>
                  <a:pt x="43" y="5805"/>
                </a:cubicBezTo>
                <a:cubicBezTo>
                  <a:pt x="36" y="5799"/>
                  <a:pt x="30" y="5791"/>
                  <a:pt x="25" y="5783"/>
                </a:cubicBezTo>
                <a:cubicBezTo>
                  <a:pt x="20" y="5775"/>
                  <a:pt x="15" y="5767"/>
                  <a:pt x="11" y="5758"/>
                </a:cubicBezTo>
                <a:cubicBezTo>
                  <a:pt x="8" y="5749"/>
                  <a:pt x="5" y="5740"/>
                  <a:pt x="3" y="5731"/>
                </a:cubicBezTo>
                <a:cubicBezTo>
                  <a:pt x="1" y="5722"/>
                  <a:pt x="0" y="5712"/>
                  <a:pt x="0" y="5703"/>
                </a:cubicBezTo>
              </a:path>
            </a:pathLst>
          </a:custGeom>
          <a:ln w="9360">
            <a:solidFill>
              <a:srgbClr val="f8ba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762120" y="372600"/>
            <a:ext cx="990828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Two Modes of Problem-Solving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923760" y="3166560"/>
            <a:ext cx="44582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"System 1" — minimal cognitive eﬀort, short-term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923760" y="3432960"/>
            <a:ext cx="42332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remedies and heuristics that temporarily ﬁx the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968040" y="3709440"/>
            <a:ext cx="854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9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symptom</a:t>
            </a:r>
            <a:endParaRPr b="0" lang="en-US" sz="149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1749960" y="3709440"/>
            <a:ext cx="37292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. Fast, but leads to "severe and systematic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981000" y="2666880"/>
            <a:ext cx="114480" cy="114480"/>
          </a:xfrm>
          <a:custGeom>
            <a:avLst/>
            <a:gdLst/>
            <a:ahLst/>
            <a:rect l="0" t="0" r="r" b="b"/>
            <a:pathLst>
              <a:path fill="none" w="318" h="318">
                <a:moveTo>
                  <a:pt x="318" y="0"/>
                </a:moveTo>
                <a:lnTo>
                  <a:pt x="0" y="318"/>
                </a:lnTo>
                <a:moveTo>
                  <a:pt x="0" y="0"/>
                </a:moveTo>
                <a:lnTo>
                  <a:pt x="318" y="318"/>
                </a:lnTo>
              </a:path>
            </a:pathLst>
          </a:custGeom>
          <a:ln cap="rnd" w="18720">
            <a:solidFill>
              <a:srgbClr val="e93147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923760" y="3985560"/>
            <a:ext cx="34405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errors" and fails to prevent recurrence.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1203120" y="2474640"/>
            <a:ext cx="303516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e93147"/>
                </a:solidFill>
                <a:effectLst/>
                <a:uFillTx/>
                <a:latin typeface="LucidaGrande"/>
                <a:ea typeface="LucidaGrande"/>
              </a:rPr>
              <a:t>Intuitive Problem-Solving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>
            <a:off x="6148080" y="2271600"/>
            <a:ext cx="5277240" cy="2105280"/>
          </a:xfrm>
          <a:custGeom>
            <a:avLst/>
            <a:gdLst/>
            <a:ahLst/>
            <a:rect l="0" t="0" r="r" b="b"/>
            <a:pathLst>
              <a:path w="14659" h="5848">
                <a:moveTo>
                  <a:pt x="0" y="570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3"/>
                </a:cubicBezTo>
                <a:cubicBezTo>
                  <a:pt x="14552" y="4"/>
                  <a:pt x="14561" y="7"/>
                  <a:pt x="14569" y="11"/>
                </a:cubicBezTo>
                <a:cubicBezTo>
                  <a:pt x="14578" y="15"/>
                  <a:pt x="14587" y="19"/>
                  <a:pt x="14595" y="24"/>
                </a:cubicBezTo>
                <a:cubicBezTo>
                  <a:pt x="14603" y="30"/>
                  <a:pt x="14610" y="36"/>
                  <a:pt x="14617" y="42"/>
                </a:cubicBezTo>
                <a:cubicBezTo>
                  <a:pt x="14623" y="49"/>
                  <a:pt x="14629" y="57"/>
                  <a:pt x="14635" y="64"/>
                </a:cubicBezTo>
                <a:cubicBezTo>
                  <a:pt x="14640" y="72"/>
                  <a:pt x="14645" y="81"/>
                  <a:pt x="14648" y="90"/>
                </a:cubicBezTo>
                <a:cubicBezTo>
                  <a:pt x="14652" y="98"/>
                  <a:pt x="14655" y="108"/>
                  <a:pt x="14656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5703"/>
                </a:lnTo>
                <a:cubicBezTo>
                  <a:pt x="14659" y="5712"/>
                  <a:pt x="14658" y="5722"/>
                  <a:pt x="14656" y="5731"/>
                </a:cubicBezTo>
                <a:cubicBezTo>
                  <a:pt x="14655" y="5740"/>
                  <a:pt x="14652" y="5749"/>
                  <a:pt x="14648" y="5758"/>
                </a:cubicBezTo>
                <a:cubicBezTo>
                  <a:pt x="14645" y="5767"/>
                  <a:pt x="14640" y="5775"/>
                  <a:pt x="14635" y="5783"/>
                </a:cubicBezTo>
                <a:cubicBezTo>
                  <a:pt x="14629" y="5791"/>
                  <a:pt x="14623" y="5799"/>
                  <a:pt x="14617" y="5805"/>
                </a:cubicBezTo>
                <a:cubicBezTo>
                  <a:pt x="14610" y="5812"/>
                  <a:pt x="14603" y="5818"/>
                  <a:pt x="14595" y="5824"/>
                </a:cubicBezTo>
                <a:cubicBezTo>
                  <a:pt x="14587" y="5829"/>
                  <a:pt x="14578" y="5833"/>
                  <a:pt x="14569" y="5837"/>
                </a:cubicBezTo>
                <a:cubicBezTo>
                  <a:pt x="14561" y="5841"/>
                  <a:pt x="14552" y="5843"/>
                  <a:pt x="14542" y="5845"/>
                </a:cubicBezTo>
                <a:cubicBezTo>
                  <a:pt x="14533" y="5847"/>
                  <a:pt x="14523" y="5848"/>
                  <a:pt x="14514" y="5848"/>
                </a:cubicBezTo>
                <a:lnTo>
                  <a:pt x="146" y="5848"/>
                </a:lnTo>
                <a:cubicBezTo>
                  <a:pt x="136" y="5848"/>
                  <a:pt x="127" y="5847"/>
                  <a:pt x="117" y="5845"/>
                </a:cubicBezTo>
                <a:cubicBezTo>
                  <a:pt x="108" y="5843"/>
                  <a:pt x="99" y="5841"/>
                  <a:pt x="90" y="5837"/>
                </a:cubicBezTo>
                <a:cubicBezTo>
                  <a:pt x="81" y="5833"/>
                  <a:pt x="73" y="5829"/>
                  <a:pt x="65" y="5824"/>
                </a:cubicBezTo>
                <a:cubicBezTo>
                  <a:pt x="57" y="5818"/>
                  <a:pt x="50" y="5812"/>
                  <a:pt x="43" y="5805"/>
                </a:cubicBezTo>
                <a:cubicBezTo>
                  <a:pt x="36" y="5799"/>
                  <a:pt x="30" y="5791"/>
                  <a:pt x="25" y="5783"/>
                </a:cubicBezTo>
                <a:cubicBezTo>
                  <a:pt x="20" y="5775"/>
                  <a:pt x="15" y="5767"/>
                  <a:pt x="11" y="5758"/>
                </a:cubicBezTo>
                <a:cubicBezTo>
                  <a:pt x="8" y="5749"/>
                  <a:pt x="5" y="5740"/>
                  <a:pt x="3" y="5731"/>
                </a:cubicBezTo>
                <a:cubicBezTo>
                  <a:pt x="1" y="5722"/>
                  <a:pt x="0" y="5712"/>
                  <a:pt x="0" y="5703"/>
                </a:cubicBezTo>
                <a:close/>
              </a:path>
            </a:pathLst>
          </a:custGeom>
          <a:solidFill>
            <a:srgbClr val="e9fb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"/>
          <p:cNvSpPr/>
          <p:nvPr/>
        </p:nvSpPr>
        <p:spPr>
          <a:xfrm>
            <a:off x="6148080" y="2271600"/>
            <a:ext cx="5277240" cy="2105280"/>
          </a:xfrm>
          <a:custGeom>
            <a:avLst/>
            <a:gdLst/>
            <a:ahLst/>
            <a:rect l="0" t="0" r="r" b="b"/>
            <a:pathLst>
              <a:path fill="none" w="14659" h="5848">
                <a:moveTo>
                  <a:pt x="0" y="570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3"/>
                </a:cubicBezTo>
                <a:cubicBezTo>
                  <a:pt x="14552" y="4"/>
                  <a:pt x="14561" y="7"/>
                  <a:pt x="14569" y="11"/>
                </a:cubicBezTo>
                <a:cubicBezTo>
                  <a:pt x="14578" y="15"/>
                  <a:pt x="14587" y="19"/>
                  <a:pt x="14595" y="24"/>
                </a:cubicBezTo>
                <a:cubicBezTo>
                  <a:pt x="14603" y="30"/>
                  <a:pt x="14610" y="36"/>
                  <a:pt x="14617" y="42"/>
                </a:cubicBezTo>
                <a:cubicBezTo>
                  <a:pt x="14623" y="49"/>
                  <a:pt x="14629" y="57"/>
                  <a:pt x="14635" y="64"/>
                </a:cubicBezTo>
                <a:cubicBezTo>
                  <a:pt x="14640" y="72"/>
                  <a:pt x="14645" y="81"/>
                  <a:pt x="14648" y="90"/>
                </a:cubicBezTo>
                <a:cubicBezTo>
                  <a:pt x="14652" y="98"/>
                  <a:pt x="14655" y="108"/>
                  <a:pt x="14656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5703"/>
                </a:lnTo>
                <a:cubicBezTo>
                  <a:pt x="14659" y="5712"/>
                  <a:pt x="14658" y="5722"/>
                  <a:pt x="14656" y="5731"/>
                </a:cubicBezTo>
                <a:cubicBezTo>
                  <a:pt x="14655" y="5740"/>
                  <a:pt x="14652" y="5749"/>
                  <a:pt x="14648" y="5758"/>
                </a:cubicBezTo>
                <a:cubicBezTo>
                  <a:pt x="14645" y="5767"/>
                  <a:pt x="14640" y="5775"/>
                  <a:pt x="14635" y="5783"/>
                </a:cubicBezTo>
                <a:cubicBezTo>
                  <a:pt x="14629" y="5791"/>
                  <a:pt x="14623" y="5799"/>
                  <a:pt x="14617" y="5805"/>
                </a:cubicBezTo>
                <a:cubicBezTo>
                  <a:pt x="14610" y="5812"/>
                  <a:pt x="14603" y="5818"/>
                  <a:pt x="14595" y="5824"/>
                </a:cubicBezTo>
                <a:cubicBezTo>
                  <a:pt x="14587" y="5829"/>
                  <a:pt x="14578" y="5833"/>
                  <a:pt x="14569" y="5837"/>
                </a:cubicBezTo>
                <a:cubicBezTo>
                  <a:pt x="14561" y="5841"/>
                  <a:pt x="14552" y="5843"/>
                  <a:pt x="14542" y="5845"/>
                </a:cubicBezTo>
                <a:cubicBezTo>
                  <a:pt x="14533" y="5847"/>
                  <a:pt x="14523" y="5848"/>
                  <a:pt x="14514" y="5848"/>
                </a:cubicBezTo>
                <a:lnTo>
                  <a:pt x="146" y="5848"/>
                </a:lnTo>
                <a:cubicBezTo>
                  <a:pt x="136" y="5848"/>
                  <a:pt x="127" y="5847"/>
                  <a:pt x="117" y="5845"/>
                </a:cubicBezTo>
                <a:cubicBezTo>
                  <a:pt x="108" y="5843"/>
                  <a:pt x="99" y="5841"/>
                  <a:pt x="90" y="5837"/>
                </a:cubicBezTo>
                <a:cubicBezTo>
                  <a:pt x="81" y="5833"/>
                  <a:pt x="73" y="5829"/>
                  <a:pt x="65" y="5824"/>
                </a:cubicBezTo>
                <a:cubicBezTo>
                  <a:pt x="57" y="5818"/>
                  <a:pt x="50" y="5812"/>
                  <a:pt x="43" y="5805"/>
                </a:cubicBezTo>
                <a:cubicBezTo>
                  <a:pt x="36" y="5799"/>
                  <a:pt x="30" y="5791"/>
                  <a:pt x="25" y="5783"/>
                </a:cubicBezTo>
                <a:cubicBezTo>
                  <a:pt x="20" y="5775"/>
                  <a:pt x="15" y="5767"/>
                  <a:pt x="11" y="5758"/>
                </a:cubicBezTo>
                <a:cubicBezTo>
                  <a:pt x="8" y="5749"/>
                  <a:pt x="5" y="5740"/>
                  <a:pt x="3" y="5731"/>
                </a:cubicBezTo>
                <a:cubicBezTo>
                  <a:pt x="1" y="5722"/>
                  <a:pt x="0" y="5712"/>
                  <a:pt x="0" y="5703"/>
                </a:cubicBezTo>
              </a:path>
            </a:pathLst>
          </a:custGeom>
          <a:ln w="9360">
            <a:solidFill>
              <a:srgbClr val="bef4d3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1203120" y="2760120"/>
            <a:ext cx="5166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e93147"/>
                </a:solidFill>
                <a:effectLst/>
                <a:uFillTx/>
                <a:latin typeface="LucidaGrande"/>
                <a:ea typeface="LucidaGrande"/>
              </a:rPr>
              <a:t>(IPS)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6305400" y="3166560"/>
            <a:ext cx="41727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"System 2" — deliberative, analytical eﬀort that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6305400" y="3432960"/>
            <a:ext cx="22348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diagnoses and alters the 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8583840" y="3432960"/>
            <a:ext cx="1559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9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underlying cause</a:t>
            </a:r>
            <a:endParaRPr b="0" lang="en-US" sz="149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10048680" y="3432960"/>
            <a:ext cx="10854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. Slower and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6305400" y="3709440"/>
            <a:ext cx="46695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more resource-intensive, but produces robust, non-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6343560" y="2666880"/>
            <a:ext cx="152640" cy="105120"/>
          </a:xfrm>
          <a:custGeom>
            <a:avLst/>
            <a:gdLst/>
            <a:ahLst/>
            <a:rect l="0" t="0" r="r" b="b"/>
            <a:pathLst>
              <a:path fill="none" w="424" h="292">
                <a:moveTo>
                  <a:pt x="424" y="0"/>
                </a:moveTo>
                <a:lnTo>
                  <a:pt x="132" y="292"/>
                </a:lnTo>
                <a:lnTo>
                  <a:pt x="0" y="160"/>
                </a:lnTo>
              </a:path>
            </a:pathLst>
          </a:custGeom>
          <a:ln cap="rnd" w="18720">
            <a:solidFill>
              <a:srgbClr val="22c061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6305400" y="3985560"/>
            <a:ext cx="17427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recurring solutions.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6584760" y="2474640"/>
            <a:ext cx="245808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22c061"/>
                </a:solidFill>
                <a:effectLst/>
                <a:uFillTx/>
                <a:latin typeface="LucidaGrande"/>
                <a:ea typeface="LucidaGrande"/>
              </a:rPr>
              <a:t>Systematic Problem-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6584760" y="2760120"/>
            <a:ext cx="150876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22c061"/>
                </a:solidFill>
                <a:effectLst/>
                <a:uFillTx/>
                <a:latin typeface="LucidaGrande"/>
                <a:ea typeface="LucidaGrande"/>
              </a:rPr>
              <a:t>Solving (SPS)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1238400" y="6569280"/>
            <a:ext cx="31820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0020e35 | © 08.10.2026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6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8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" name=""/>
          <p:cNvSpPr txBox="1"/>
          <p:nvPr/>
        </p:nvSpPr>
        <p:spPr>
          <a:xfrm>
            <a:off x="762120" y="2163960"/>
            <a:ext cx="4159080" cy="30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08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Ten General-Purpose Methods</a:t>
            </a:r>
            <a:endParaRPr b="0" lang="en-US" sz="20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661057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766440" y="2766960"/>
            <a:ext cx="2048400" cy="2657880"/>
          </a:xfrm>
          <a:custGeom>
            <a:avLst/>
            <a:gdLst/>
            <a:ahLst/>
            <a:rect l="0" t="0" r="r" b="b"/>
            <a:pathLst>
              <a:path w="5690" h="7383">
                <a:moveTo>
                  <a:pt x="0" y="723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lnTo>
                  <a:pt x="5544" y="0"/>
                </a:lnTo>
                <a:cubicBezTo>
                  <a:pt x="5554" y="0"/>
                  <a:pt x="5563" y="1"/>
                  <a:pt x="5573" y="2"/>
                </a:cubicBezTo>
                <a:cubicBezTo>
                  <a:pt x="5582" y="4"/>
                  <a:pt x="5591" y="7"/>
                  <a:pt x="5600" y="11"/>
                </a:cubicBezTo>
                <a:cubicBezTo>
                  <a:pt x="5609" y="14"/>
                  <a:pt x="5617" y="19"/>
                  <a:pt x="5625" y="24"/>
                </a:cubicBezTo>
                <a:cubicBezTo>
                  <a:pt x="5633" y="29"/>
                  <a:pt x="5641" y="36"/>
                  <a:pt x="5647" y="42"/>
                </a:cubicBezTo>
                <a:cubicBezTo>
                  <a:pt x="5654" y="49"/>
                  <a:pt x="5660" y="56"/>
                  <a:pt x="5665" y="64"/>
                </a:cubicBezTo>
                <a:cubicBezTo>
                  <a:pt x="5671" y="72"/>
                  <a:pt x="5675" y="81"/>
                  <a:pt x="5679" y="89"/>
                </a:cubicBezTo>
                <a:cubicBezTo>
                  <a:pt x="5683" y="98"/>
                  <a:pt x="5685" y="107"/>
                  <a:pt x="5687" y="117"/>
                </a:cubicBezTo>
                <a:cubicBezTo>
                  <a:pt x="5689" y="126"/>
                  <a:pt x="5690" y="136"/>
                  <a:pt x="5690" y="145"/>
                </a:cubicBezTo>
                <a:lnTo>
                  <a:pt x="5690" y="7237"/>
                </a:lnTo>
                <a:cubicBezTo>
                  <a:pt x="5690" y="7247"/>
                  <a:pt x="5689" y="7256"/>
                  <a:pt x="5687" y="7265"/>
                </a:cubicBezTo>
                <a:cubicBezTo>
                  <a:pt x="5685" y="7275"/>
                  <a:pt x="5683" y="7284"/>
                  <a:pt x="5679" y="7293"/>
                </a:cubicBezTo>
                <a:cubicBezTo>
                  <a:pt x="5675" y="7302"/>
                  <a:pt x="5671" y="7310"/>
                  <a:pt x="5665" y="7318"/>
                </a:cubicBezTo>
                <a:cubicBezTo>
                  <a:pt x="5660" y="7326"/>
                  <a:pt x="5654" y="7333"/>
                  <a:pt x="5647" y="7340"/>
                </a:cubicBezTo>
                <a:cubicBezTo>
                  <a:pt x="5641" y="7347"/>
                  <a:pt x="5633" y="7353"/>
                  <a:pt x="5625" y="7358"/>
                </a:cubicBezTo>
                <a:cubicBezTo>
                  <a:pt x="5617" y="7363"/>
                  <a:pt x="5609" y="7368"/>
                  <a:pt x="5600" y="7371"/>
                </a:cubicBezTo>
                <a:cubicBezTo>
                  <a:pt x="5591" y="7375"/>
                  <a:pt x="5582" y="7378"/>
                  <a:pt x="5573" y="7380"/>
                </a:cubicBezTo>
                <a:cubicBezTo>
                  <a:pt x="5563" y="7382"/>
                  <a:pt x="5554" y="7383"/>
                  <a:pt x="5544" y="7383"/>
                </a:cubicBezTo>
                <a:lnTo>
                  <a:pt x="146" y="7383"/>
                </a:lnTo>
                <a:cubicBezTo>
                  <a:pt x="136" y="7383"/>
                  <a:pt x="127" y="7382"/>
                  <a:pt x="118" y="7380"/>
                </a:cubicBezTo>
                <a:cubicBezTo>
                  <a:pt x="108" y="7378"/>
                  <a:pt x="99" y="7375"/>
                  <a:pt x="90" y="7371"/>
                </a:cubicBezTo>
                <a:cubicBezTo>
                  <a:pt x="81" y="7368"/>
                  <a:pt x="73" y="7363"/>
                  <a:pt x="65" y="7358"/>
                </a:cubicBezTo>
                <a:cubicBezTo>
                  <a:pt x="57" y="7353"/>
                  <a:pt x="50" y="7347"/>
                  <a:pt x="43" y="7340"/>
                </a:cubicBezTo>
                <a:cubicBezTo>
                  <a:pt x="36" y="7333"/>
                  <a:pt x="30" y="7326"/>
                  <a:pt x="25" y="7318"/>
                </a:cubicBezTo>
                <a:cubicBezTo>
                  <a:pt x="20" y="7310"/>
                  <a:pt x="15" y="7302"/>
                  <a:pt x="11" y="7293"/>
                </a:cubicBezTo>
                <a:cubicBezTo>
                  <a:pt x="8" y="7284"/>
                  <a:pt x="5" y="7275"/>
                  <a:pt x="3" y="7265"/>
                </a:cubicBezTo>
                <a:cubicBezTo>
                  <a:pt x="1" y="7256"/>
                  <a:pt x="0" y="7247"/>
                  <a:pt x="0" y="7237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" name=""/>
          <p:cNvSpPr/>
          <p:nvPr/>
        </p:nvSpPr>
        <p:spPr>
          <a:xfrm>
            <a:off x="766440" y="2766960"/>
            <a:ext cx="2048400" cy="2657880"/>
          </a:xfrm>
          <a:custGeom>
            <a:avLst/>
            <a:gdLst/>
            <a:ahLst/>
            <a:rect l="0" t="0" r="r" b="b"/>
            <a:pathLst>
              <a:path fill="none" w="5690" h="7383">
                <a:moveTo>
                  <a:pt x="0" y="723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lnTo>
                  <a:pt x="5544" y="0"/>
                </a:lnTo>
                <a:cubicBezTo>
                  <a:pt x="5554" y="0"/>
                  <a:pt x="5563" y="1"/>
                  <a:pt x="5573" y="2"/>
                </a:cubicBezTo>
                <a:cubicBezTo>
                  <a:pt x="5582" y="4"/>
                  <a:pt x="5591" y="7"/>
                  <a:pt x="5600" y="11"/>
                </a:cubicBezTo>
                <a:cubicBezTo>
                  <a:pt x="5609" y="14"/>
                  <a:pt x="5617" y="19"/>
                  <a:pt x="5625" y="24"/>
                </a:cubicBezTo>
                <a:cubicBezTo>
                  <a:pt x="5633" y="29"/>
                  <a:pt x="5641" y="36"/>
                  <a:pt x="5647" y="42"/>
                </a:cubicBezTo>
                <a:cubicBezTo>
                  <a:pt x="5654" y="49"/>
                  <a:pt x="5660" y="56"/>
                  <a:pt x="5665" y="64"/>
                </a:cubicBezTo>
                <a:cubicBezTo>
                  <a:pt x="5671" y="72"/>
                  <a:pt x="5675" y="81"/>
                  <a:pt x="5679" y="89"/>
                </a:cubicBezTo>
                <a:cubicBezTo>
                  <a:pt x="5683" y="98"/>
                  <a:pt x="5685" y="107"/>
                  <a:pt x="5687" y="117"/>
                </a:cubicBezTo>
                <a:cubicBezTo>
                  <a:pt x="5689" y="126"/>
                  <a:pt x="5690" y="136"/>
                  <a:pt x="5690" y="145"/>
                </a:cubicBezTo>
                <a:lnTo>
                  <a:pt x="5690" y="7237"/>
                </a:lnTo>
                <a:cubicBezTo>
                  <a:pt x="5690" y="7247"/>
                  <a:pt x="5689" y="7256"/>
                  <a:pt x="5687" y="7265"/>
                </a:cubicBezTo>
                <a:cubicBezTo>
                  <a:pt x="5685" y="7275"/>
                  <a:pt x="5683" y="7284"/>
                  <a:pt x="5679" y="7293"/>
                </a:cubicBezTo>
                <a:cubicBezTo>
                  <a:pt x="5675" y="7302"/>
                  <a:pt x="5671" y="7310"/>
                  <a:pt x="5665" y="7318"/>
                </a:cubicBezTo>
                <a:cubicBezTo>
                  <a:pt x="5660" y="7326"/>
                  <a:pt x="5654" y="7333"/>
                  <a:pt x="5647" y="7340"/>
                </a:cubicBezTo>
                <a:cubicBezTo>
                  <a:pt x="5641" y="7347"/>
                  <a:pt x="5633" y="7353"/>
                  <a:pt x="5625" y="7358"/>
                </a:cubicBezTo>
                <a:cubicBezTo>
                  <a:pt x="5617" y="7363"/>
                  <a:pt x="5609" y="7368"/>
                  <a:pt x="5600" y="7371"/>
                </a:cubicBezTo>
                <a:cubicBezTo>
                  <a:pt x="5591" y="7375"/>
                  <a:pt x="5582" y="7378"/>
                  <a:pt x="5573" y="7380"/>
                </a:cubicBezTo>
                <a:cubicBezTo>
                  <a:pt x="5563" y="7382"/>
                  <a:pt x="5554" y="7383"/>
                  <a:pt x="5544" y="7383"/>
                </a:cubicBezTo>
                <a:lnTo>
                  <a:pt x="146" y="7383"/>
                </a:lnTo>
                <a:cubicBezTo>
                  <a:pt x="136" y="7383"/>
                  <a:pt x="127" y="7382"/>
                  <a:pt x="118" y="7380"/>
                </a:cubicBezTo>
                <a:cubicBezTo>
                  <a:pt x="108" y="7378"/>
                  <a:pt x="99" y="7375"/>
                  <a:pt x="90" y="7371"/>
                </a:cubicBezTo>
                <a:cubicBezTo>
                  <a:pt x="81" y="7368"/>
                  <a:pt x="73" y="7363"/>
                  <a:pt x="65" y="7358"/>
                </a:cubicBezTo>
                <a:cubicBezTo>
                  <a:pt x="57" y="7353"/>
                  <a:pt x="50" y="7347"/>
                  <a:pt x="43" y="7340"/>
                </a:cubicBezTo>
                <a:cubicBezTo>
                  <a:pt x="36" y="7333"/>
                  <a:pt x="30" y="7326"/>
                  <a:pt x="25" y="7318"/>
                </a:cubicBezTo>
                <a:cubicBezTo>
                  <a:pt x="20" y="7310"/>
                  <a:pt x="15" y="7302"/>
                  <a:pt x="11" y="7293"/>
                </a:cubicBezTo>
                <a:cubicBezTo>
                  <a:pt x="8" y="7284"/>
                  <a:pt x="5" y="7275"/>
                  <a:pt x="3" y="7265"/>
                </a:cubicBezTo>
                <a:cubicBezTo>
                  <a:pt x="1" y="7256"/>
                  <a:pt x="0" y="7247"/>
                  <a:pt x="0" y="7237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762120" y="372600"/>
            <a:ext cx="966924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Intuitive Problem-Solving (IPS)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923760" y="3938040"/>
            <a:ext cx="15681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Keep testing until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923760" y="4214160"/>
            <a:ext cx="17679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something works —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923760" y="4490280"/>
            <a:ext cx="16927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good for hands-on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923760" y="4766760"/>
            <a:ext cx="15541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problems with no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"/>
          <p:cNvSpPr/>
          <p:nvPr/>
        </p:nvSpPr>
        <p:spPr>
          <a:xfrm>
            <a:off x="942840" y="3267000"/>
            <a:ext cx="190800" cy="190800"/>
          </a:xfrm>
          <a:custGeom>
            <a:avLst/>
            <a:gdLst/>
            <a:ahLst/>
            <a:rect l="0" t="0" r="r" b="b"/>
            <a:pathLst>
              <a:path fill="none" w="530" h="530">
                <a:moveTo>
                  <a:pt x="530" y="265"/>
                </a:moveTo>
                <a:cubicBezTo>
                  <a:pt x="530" y="283"/>
                  <a:pt x="528" y="300"/>
                  <a:pt x="525" y="317"/>
                </a:cubicBezTo>
                <a:cubicBezTo>
                  <a:pt x="522" y="334"/>
                  <a:pt x="517" y="350"/>
                  <a:pt x="510" y="367"/>
                </a:cubicBezTo>
                <a:cubicBezTo>
                  <a:pt x="503" y="383"/>
                  <a:pt x="495" y="398"/>
                  <a:pt x="485" y="412"/>
                </a:cubicBezTo>
                <a:cubicBezTo>
                  <a:pt x="476" y="427"/>
                  <a:pt x="465" y="440"/>
                  <a:pt x="453" y="452"/>
                </a:cubicBezTo>
                <a:cubicBezTo>
                  <a:pt x="440" y="465"/>
                  <a:pt x="427" y="476"/>
                  <a:pt x="412" y="485"/>
                </a:cubicBezTo>
                <a:cubicBezTo>
                  <a:pt x="398" y="495"/>
                  <a:pt x="383" y="503"/>
                  <a:pt x="367" y="510"/>
                </a:cubicBezTo>
                <a:cubicBezTo>
                  <a:pt x="351" y="516"/>
                  <a:pt x="334" y="521"/>
                  <a:pt x="317" y="525"/>
                </a:cubicBezTo>
                <a:cubicBezTo>
                  <a:pt x="300" y="528"/>
                  <a:pt x="282" y="530"/>
                  <a:pt x="264" y="530"/>
                </a:cubicBezTo>
                <a:cubicBezTo>
                  <a:pt x="247" y="530"/>
                  <a:pt x="230" y="528"/>
                  <a:pt x="213" y="525"/>
                </a:cubicBezTo>
                <a:cubicBezTo>
                  <a:pt x="196" y="521"/>
                  <a:pt x="179" y="516"/>
                  <a:pt x="163" y="510"/>
                </a:cubicBezTo>
                <a:cubicBezTo>
                  <a:pt x="147" y="503"/>
                  <a:pt x="132" y="495"/>
                  <a:pt x="117" y="485"/>
                </a:cubicBezTo>
                <a:cubicBezTo>
                  <a:pt x="103" y="476"/>
                  <a:pt x="90" y="465"/>
                  <a:pt x="77" y="452"/>
                </a:cubicBezTo>
                <a:cubicBezTo>
                  <a:pt x="65" y="440"/>
                  <a:pt x="54" y="427"/>
                  <a:pt x="44" y="412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3" y="350"/>
                  <a:pt x="8" y="334"/>
                  <a:pt x="5" y="317"/>
                </a:cubicBezTo>
                <a:cubicBezTo>
                  <a:pt x="2" y="300"/>
                  <a:pt x="0" y="283"/>
                  <a:pt x="0" y="265"/>
                </a:cubicBezTo>
                <a:cubicBezTo>
                  <a:pt x="0" y="248"/>
                  <a:pt x="2" y="231"/>
                  <a:pt x="5" y="214"/>
                </a:cubicBezTo>
                <a:cubicBezTo>
                  <a:pt x="8" y="197"/>
                  <a:pt x="13" y="179"/>
                  <a:pt x="20" y="163"/>
                </a:cubicBezTo>
                <a:cubicBezTo>
                  <a:pt x="27" y="147"/>
                  <a:pt x="35" y="132"/>
                  <a:pt x="44" y="117"/>
                </a:cubicBezTo>
                <a:cubicBezTo>
                  <a:pt x="54" y="103"/>
                  <a:pt x="65" y="89"/>
                  <a:pt x="77" y="77"/>
                </a:cubicBezTo>
                <a:cubicBezTo>
                  <a:pt x="90" y="65"/>
                  <a:pt x="103" y="54"/>
                  <a:pt x="117" y="44"/>
                </a:cubicBezTo>
                <a:cubicBezTo>
                  <a:pt x="132" y="35"/>
                  <a:pt x="147" y="26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1"/>
                  <a:pt x="247" y="0"/>
                  <a:pt x="264" y="0"/>
                </a:cubicBezTo>
                <a:cubicBezTo>
                  <a:pt x="282" y="0"/>
                  <a:pt x="300" y="1"/>
                  <a:pt x="317" y="5"/>
                </a:cubicBezTo>
                <a:cubicBezTo>
                  <a:pt x="334" y="8"/>
                  <a:pt x="351" y="13"/>
                  <a:pt x="367" y="20"/>
                </a:cubicBezTo>
                <a:cubicBezTo>
                  <a:pt x="383" y="26"/>
                  <a:pt x="398" y="35"/>
                  <a:pt x="412" y="44"/>
                </a:cubicBezTo>
                <a:cubicBezTo>
                  <a:pt x="427" y="54"/>
                  <a:pt x="440" y="65"/>
                  <a:pt x="453" y="77"/>
                </a:cubicBezTo>
                <a:cubicBezTo>
                  <a:pt x="465" y="89"/>
                  <a:pt x="476" y="103"/>
                  <a:pt x="485" y="117"/>
                </a:cubicBezTo>
                <a:cubicBezTo>
                  <a:pt x="495" y="132"/>
                  <a:pt x="503" y="147"/>
                  <a:pt x="510" y="163"/>
                </a:cubicBezTo>
                <a:cubicBezTo>
                  <a:pt x="517" y="179"/>
                  <a:pt x="522" y="197"/>
                  <a:pt x="525" y="214"/>
                </a:cubicBezTo>
                <a:cubicBezTo>
                  <a:pt x="528" y="231"/>
                  <a:pt x="530" y="248"/>
                  <a:pt x="530" y="265"/>
                </a:cubicBez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>
            <a:off x="1037880" y="3323880"/>
            <a:ext cx="360" cy="76320"/>
          </a:xfrm>
          <a:custGeom>
            <a:avLst/>
            <a:gdLst/>
            <a:ahLst/>
            <a:rect l="0" t="0" r="r" b="b"/>
            <a:pathLst>
              <a:path fill="none" w="1" h="212">
                <a:moveTo>
                  <a:pt x="0" y="212"/>
                </a:moveTo>
                <a:lnTo>
                  <a:pt x="0" y="106"/>
                </a:lnTo>
                <a:moveTo>
                  <a:pt x="0" y="0"/>
                </a:moveTo>
                <a:lnTo>
                  <a:pt x="1" y="0"/>
                </a:ln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923760" y="5042880"/>
            <a:ext cx="17517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single right answer.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1203120" y="2969640"/>
            <a:ext cx="5454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Trial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1203120" y="3255480"/>
            <a:ext cx="43668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and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2919240" y="2766960"/>
            <a:ext cx="2048400" cy="2657880"/>
          </a:xfrm>
          <a:custGeom>
            <a:avLst/>
            <a:gdLst/>
            <a:ahLst/>
            <a:rect l="0" t="0" r="r" b="b"/>
            <a:pathLst>
              <a:path w="5690" h="7383">
                <a:moveTo>
                  <a:pt x="0" y="723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1"/>
                  <a:pt x="136" y="0"/>
                  <a:pt x="145" y="0"/>
                </a:cubicBezTo>
                <a:lnTo>
                  <a:pt x="5544" y="0"/>
                </a:lnTo>
                <a:cubicBezTo>
                  <a:pt x="5554" y="0"/>
                  <a:pt x="5563" y="1"/>
                  <a:pt x="5572" y="2"/>
                </a:cubicBezTo>
                <a:cubicBezTo>
                  <a:pt x="5582" y="4"/>
                  <a:pt x="5591" y="7"/>
                  <a:pt x="5600" y="11"/>
                </a:cubicBezTo>
                <a:cubicBezTo>
                  <a:pt x="5609" y="14"/>
                  <a:pt x="5617" y="19"/>
                  <a:pt x="5625" y="24"/>
                </a:cubicBezTo>
                <a:cubicBezTo>
                  <a:pt x="5633" y="29"/>
                  <a:pt x="5640" y="36"/>
                  <a:pt x="5647" y="42"/>
                </a:cubicBezTo>
                <a:cubicBezTo>
                  <a:pt x="5654" y="49"/>
                  <a:pt x="5660" y="56"/>
                  <a:pt x="5665" y="64"/>
                </a:cubicBezTo>
                <a:cubicBezTo>
                  <a:pt x="5670" y="72"/>
                  <a:pt x="5675" y="81"/>
                  <a:pt x="5678" y="89"/>
                </a:cubicBezTo>
                <a:cubicBezTo>
                  <a:pt x="5682" y="98"/>
                  <a:pt x="5685" y="107"/>
                  <a:pt x="5687" y="117"/>
                </a:cubicBezTo>
                <a:cubicBezTo>
                  <a:pt x="5689" y="126"/>
                  <a:pt x="5690" y="136"/>
                  <a:pt x="5690" y="145"/>
                </a:cubicBezTo>
                <a:lnTo>
                  <a:pt x="5690" y="7237"/>
                </a:lnTo>
                <a:cubicBezTo>
                  <a:pt x="5690" y="7247"/>
                  <a:pt x="5689" y="7256"/>
                  <a:pt x="5687" y="7265"/>
                </a:cubicBezTo>
                <a:cubicBezTo>
                  <a:pt x="5685" y="7275"/>
                  <a:pt x="5682" y="7284"/>
                  <a:pt x="5678" y="7293"/>
                </a:cubicBezTo>
                <a:cubicBezTo>
                  <a:pt x="5675" y="7302"/>
                  <a:pt x="5670" y="7310"/>
                  <a:pt x="5665" y="7318"/>
                </a:cubicBezTo>
                <a:cubicBezTo>
                  <a:pt x="5660" y="7326"/>
                  <a:pt x="5654" y="7333"/>
                  <a:pt x="5647" y="7340"/>
                </a:cubicBezTo>
                <a:cubicBezTo>
                  <a:pt x="5640" y="7347"/>
                  <a:pt x="5633" y="7353"/>
                  <a:pt x="5625" y="7358"/>
                </a:cubicBezTo>
                <a:cubicBezTo>
                  <a:pt x="5617" y="7363"/>
                  <a:pt x="5609" y="7368"/>
                  <a:pt x="5600" y="7371"/>
                </a:cubicBezTo>
                <a:cubicBezTo>
                  <a:pt x="5591" y="7375"/>
                  <a:pt x="5582" y="7378"/>
                  <a:pt x="5572" y="7380"/>
                </a:cubicBezTo>
                <a:cubicBezTo>
                  <a:pt x="5563" y="7382"/>
                  <a:pt x="5554" y="7383"/>
                  <a:pt x="5544" y="7383"/>
                </a:cubicBezTo>
                <a:lnTo>
                  <a:pt x="145" y="7383"/>
                </a:lnTo>
                <a:cubicBezTo>
                  <a:pt x="136" y="7383"/>
                  <a:pt x="126" y="7382"/>
                  <a:pt x="117" y="7380"/>
                </a:cubicBezTo>
                <a:cubicBezTo>
                  <a:pt x="108" y="7378"/>
                  <a:pt x="99" y="7375"/>
                  <a:pt x="90" y="7371"/>
                </a:cubicBezTo>
                <a:cubicBezTo>
                  <a:pt x="81" y="7368"/>
                  <a:pt x="73" y="7363"/>
                  <a:pt x="65" y="7358"/>
                </a:cubicBezTo>
                <a:cubicBezTo>
                  <a:pt x="57" y="7353"/>
                  <a:pt x="49" y="7347"/>
                  <a:pt x="43" y="7340"/>
                </a:cubicBezTo>
                <a:cubicBezTo>
                  <a:pt x="36" y="7333"/>
                  <a:pt x="30" y="7326"/>
                  <a:pt x="25" y="7318"/>
                </a:cubicBezTo>
                <a:cubicBezTo>
                  <a:pt x="19" y="7310"/>
                  <a:pt x="15" y="7302"/>
                  <a:pt x="11" y="7293"/>
                </a:cubicBezTo>
                <a:cubicBezTo>
                  <a:pt x="7" y="7284"/>
                  <a:pt x="5" y="7275"/>
                  <a:pt x="3" y="7265"/>
                </a:cubicBezTo>
                <a:cubicBezTo>
                  <a:pt x="1" y="7256"/>
                  <a:pt x="0" y="7247"/>
                  <a:pt x="0" y="7237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"/>
          <p:cNvSpPr/>
          <p:nvPr/>
        </p:nvSpPr>
        <p:spPr>
          <a:xfrm>
            <a:off x="2919240" y="2766960"/>
            <a:ext cx="2048400" cy="2657880"/>
          </a:xfrm>
          <a:custGeom>
            <a:avLst/>
            <a:gdLst/>
            <a:ahLst/>
            <a:rect l="0" t="0" r="r" b="b"/>
            <a:pathLst>
              <a:path fill="none" w="5690" h="7383">
                <a:moveTo>
                  <a:pt x="0" y="723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1"/>
                  <a:pt x="136" y="0"/>
                  <a:pt x="145" y="0"/>
                </a:cubicBezTo>
                <a:lnTo>
                  <a:pt x="5544" y="0"/>
                </a:lnTo>
                <a:cubicBezTo>
                  <a:pt x="5554" y="0"/>
                  <a:pt x="5563" y="1"/>
                  <a:pt x="5572" y="2"/>
                </a:cubicBezTo>
                <a:cubicBezTo>
                  <a:pt x="5582" y="4"/>
                  <a:pt x="5591" y="7"/>
                  <a:pt x="5600" y="11"/>
                </a:cubicBezTo>
                <a:cubicBezTo>
                  <a:pt x="5609" y="14"/>
                  <a:pt x="5617" y="19"/>
                  <a:pt x="5625" y="24"/>
                </a:cubicBezTo>
                <a:cubicBezTo>
                  <a:pt x="5633" y="29"/>
                  <a:pt x="5640" y="36"/>
                  <a:pt x="5647" y="42"/>
                </a:cubicBezTo>
                <a:cubicBezTo>
                  <a:pt x="5654" y="49"/>
                  <a:pt x="5660" y="56"/>
                  <a:pt x="5665" y="64"/>
                </a:cubicBezTo>
                <a:cubicBezTo>
                  <a:pt x="5670" y="72"/>
                  <a:pt x="5675" y="81"/>
                  <a:pt x="5678" y="89"/>
                </a:cubicBezTo>
                <a:cubicBezTo>
                  <a:pt x="5682" y="98"/>
                  <a:pt x="5685" y="107"/>
                  <a:pt x="5687" y="117"/>
                </a:cubicBezTo>
                <a:cubicBezTo>
                  <a:pt x="5689" y="126"/>
                  <a:pt x="5690" y="136"/>
                  <a:pt x="5690" y="145"/>
                </a:cubicBezTo>
                <a:lnTo>
                  <a:pt x="5690" y="7237"/>
                </a:lnTo>
                <a:cubicBezTo>
                  <a:pt x="5690" y="7247"/>
                  <a:pt x="5689" y="7256"/>
                  <a:pt x="5687" y="7265"/>
                </a:cubicBezTo>
                <a:cubicBezTo>
                  <a:pt x="5685" y="7275"/>
                  <a:pt x="5682" y="7284"/>
                  <a:pt x="5678" y="7293"/>
                </a:cubicBezTo>
                <a:cubicBezTo>
                  <a:pt x="5675" y="7302"/>
                  <a:pt x="5670" y="7310"/>
                  <a:pt x="5665" y="7318"/>
                </a:cubicBezTo>
                <a:cubicBezTo>
                  <a:pt x="5660" y="7326"/>
                  <a:pt x="5654" y="7333"/>
                  <a:pt x="5647" y="7340"/>
                </a:cubicBezTo>
                <a:cubicBezTo>
                  <a:pt x="5640" y="7347"/>
                  <a:pt x="5633" y="7353"/>
                  <a:pt x="5625" y="7358"/>
                </a:cubicBezTo>
                <a:cubicBezTo>
                  <a:pt x="5617" y="7363"/>
                  <a:pt x="5609" y="7368"/>
                  <a:pt x="5600" y="7371"/>
                </a:cubicBezTo>
                <a:cubicBezTo>
                  <a:pt x="5591" y="7375"/>
                  <a:pt x="5582" y="7378"/>
                  <a:pt x="5572" y="7380"/>
                </a:cubicBezTo>
                <a:cubicBezTo>
                  <a:pt x="5563" y="7382"/>
                  <a:pt x="5554" y="7383"/>
                  <a:pt x="5544" y="7383"/>
                </a:cubicBezTo>
                <a:lnTo>
                  <a:pt x="145" y="7383"/>
                </a:lnTo>
                <a:cubicBezTo>
                  <a:pt x="136" y="7383"/>
                  <a:pt x="126" y="7382"/>
                  <a:pt x="117" y="7380"/>
                </a:cubicBezTo>
                <a:cubicBezTo>
                  <a:pt x="108" y="7378"/>
                  <a:pt x="99" y="7375"/>
                  <a:pt x="90" y="7371"/>
                </a:cubicBezTo>
                <a:cubicBezTo>
                  <a:pt x="81" y="7368"/>
                  <a:pt x="73" y="7363"/>
                  <a:pt x="65" y="7358"/>
                </a:cubicBezTo>
                <a:cubicBezTo>
                  <a:pt x="57" y="7353"/>
                  <a:pt x="49" y="7347"/>
                  <a:pt x="43" y="7340"/>
                </a:cubicBezTo>
                <a:cubicBezTo>
                  <a:pt x="36" y="7333"/>
                  <a:pt x="30" y="7326"/>
                  <a:pt x="25" y="7318"/>
                </a:cubicBezTo>
                <a:cubicBezTo>
                  <a:pt x="19" y="7310"/>
                  <a:pt x="15" y="7302"/>
                  <a:pt x="11" y="7293"/>
                </a:cubicBezTo>
                <a:cubicBezTo>
                  <a:pt x="7" y="7284"/>
                  <a:pt x="5" y="7275"/>
                  <a:pt x="3" y="7265"/>
                </a:cubicBezTo>
                <a:cubicBezTo>
                  <a:pt x="1" y="7256"/>
                  <a:pt x="0" y="7247"/>
                  <a:pt x="0" y="7237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1203120" y="3541320"/>
            <a:ext cx="5958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Error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3076560" y="3652200"/>
            <a:ext cx="17528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Split a problem into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3076560" y="3928320"/>
            <a:ext cx="17636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smaller parts so the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"/>
          <p:cNvSpPr/>
          <p:nvPr/>
        </p:nvSpPr>
        <p:spPr>
          <a:xfrm>
            <a:off x="3095280" y="3124080"/>
            <a:ext cx="191160" cy="190800"/>
          </a:xfrm>
          <a:custGeom>
            <a:avLst/>
            <a:gdLst/>
            <a:ahLst/>
            <a:rect l="0" t="0" r="r" b="b"/>
            <a:pathLst>
              <a:path fill="none" w="531" h="530">
                <a:moveTo>
                  <a:pt x="531" y="265"/>
                </a:moveTo>
                <a:cubicBezTo>
                  <a:pt x="531" y="283"/>
                  <a:pt x="529" y="300"/>
                  <a:pt x="526" y="317"/>
                </a:cubicBezTo>
                <a:cubicBezTo>
                  <a:pt x="522" y="334"/>
                  <a:pt x="517" y="351"/>
                  <a:pt x="510" y="367"/>
                </a:cubicBezTo>
                <a:cubicBezTo>
                  <a:pt x="504" y="383"/>
                  <a:pt x="496" y="398"/>
                  <a:pt x="486" y="412"/>
                </a:cubicBezTo>
                <a:cubicBezTo>
                  <a:pt x="476" y="427"/>
                  <a:pt x="465" y="440"/>
                  <a:pt x="453" y="453"/>
                </a:cubicBezTo>
                <a:cubicBezTo>
                  <a:pt x="441" y="465"/>
                  <a:pt x="427" y="476"/>
                  <a:pt x="413" y="485"/>
                </a:cubicBezTo>
                <a:cubicBezTo>
                  <a:pt x="399" y="495"/>
                  <a:pt x="383" y="503"/>
                  <a:pt x="367" y="510"/>
                </a:cubicBezTo>
                <a:cubicBezTo>
                  <a:pt x="351" y="517"/>
                  <a:pt x="335" y="522"/>
                  <a:pt x="318" y="525"/>
                </a:cubicBezTo>
                <a:cubicBezTo>
                  <a:pt x="301" y="528"/>
                  <a:pt x="283" y="530"/>
                  <a:pt x="266" y="530"/>
                </a:cubicBezTo>
                <a:cubicBezTo>
                  <a:pt x="249" y="530"/>
                  <a:pt x="231" y="528"/>
                  <a:pt x="214" y="525"/>
                </a:cubicBezTo>
                <a:cubicBezTo>
                  <a:pt x="197" y="522"/>
                  <a:pt x="181" y="517"/>
                  <a:pt x="165" y="510"/>
                </a:cubicBezTo>
                <a:cubicBezTo>
                  <a:pt x="149" y="503"/>
                  <a:pt x="133" y="495"/>
                  <a:pt x="118" y="485"/>
                </a:cubicBezTo>
                <a:cubicBezTo>
                  <a:pt x="104" y="476"/>
                  <a:pt x="90" y="465"/>
                  <a:pt x="78" y="453"/>
                </a:cubicBezTo>
                <a:cubicBezTo>
                  <a:pt x="66" y="440"/>
                  <a:pt x="55" y="427"/>
                  <a:pt x="45" y="412"/>
                </a:cubicBezTo>
                <a:cubicBezTo>
                  <a:pt x="35" y="398"/>
                  <a:pt x="27" y="383"/>
                  <a:pt x="21" y="367"/>
                </a:cubicBezTo>
                <a:cubicBezTo>
                  <a:pt x="14" y="351"/>
                  <a:pt x="9" y="334"/>
                  <a:pt x="6" y="317"/>
                </a:cubicBezTo>
                <a:cubicBezTo>
                  <a:pt x="2" y="300"/>
                  <a:pt x="0" y="283"/>
                  <a:pt x="0" y="265"/>
                </a:cubicBez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1"/>
                  <a:pt x="78" y="78"/>
                </a:cubicBezTo>
                <a:cubicBezTo>
                  <a:pt x="90" y="66"/>
                  <a:pt x="104" y="55"/>
                  <a:pt x="118" y="44"/>
                </a:cubicBezTo>
                <a:cubicBezTo>
                  <a:pt x="133" y="35"/>
                  <a:pt x="149" y="27"/>
                  <a:pt x="165" y="20"/>
                </a:cubicBezTo>
                <a:cubicBezTo>
                  <a:pt x="181" y="13"/>
                  <a:pt x="197" y="8"/>
                  <a:pt x="214" y="5"/>
                </a:cubicBezTo>
                <a:cubicBezTo>
                  <a:pt x="231" y="2"/>
                  <a:pt x="249" y="0"/>
                  <a:pt x="266" y="0"/>
                </a:cubicBezTo>
                <a:cubicBezTo>
                  <a:pt x="283" y="0"/>
                  <a:pt x="301" y="2"/>
                  <a:pt x="318" y="5"/>
                </a:cubicBezTo>
                <a:cubicBezTo>
                  <a:pt x="335" y="8"/>
                  <a:pt x="351" y="13"/>
                  <a:pt x="367" y="20"/>
                </a:cubicBezTo>
                <a:cubicBezTo>
                  <a:pt x="383" y="27"/>
                  <a:pt x="399" y="35"/>
                  <a:pt x="413" y="44"/>
                </a:cubicBezTo>
                <a:cubicBezTo>
                  <a:pt x="427" y="55"/>
                  <a:pt x="441" y="66"/>
                  <a:pt x="453" y="78"/>
                </a:cubicBezTo>
                <a:cubicBezTo>
                  <a:pt x="465" y="91"/>
                  <a:pt x="476" y="104"/>
                  <a:pt x="486" y="118"/>
                </a:cubicBezTo>
                <a:cubicBezTo>
                  <a:pt x="496" y="133"/>
                  <a:pt x="504" y="148"/>
                  <a:pt x="510" y="164"/>
                </a:cubicBezTo>
                <a:cubicBezTo>
                  <a:pt x="517" y="180"/>
                  <a:pt x="522" y="197"/>
                  <a:pt x="526" y="214"/>
                </a:cubicBezTo>
                <a:cubicBezTo>
                  <a:pt x="529" y="231"/>
                  <a:pt x="531" y="248"/>
                  <a:pt x="531" y="265"/>
                </a:cubicBez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3190680" y="3181320"/>
            <a:ext cx="0" cy="75960"/>
          </a:xfrm>
          <a:custGeom>
            <a:avLst/>
            <a:gdLst/>
            <a:ahLst/>
            <a:rect l="0" t="0" r="r" b="b"/>
            <a:pathLst>
              <a:path fill="none" w="0" h="211">
                <a:moveTo>
                  <a:pt x="0" y="211"/>
                </a:moveTo>
                <a:lnTo>
                  <a:pt x="0" y="105"/>
                </a:lnTo>
                <a:moveTo>
                  <a:pt x="0" y="0"/>
                </a:move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3076560" y="4204800"/>
            <a:ext cx="17110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whole feels doable.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3355920" y="2969640"/>
            <a:ext cx="10368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Breaking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" name=""/>
          <p:cNvSpPr/>
          <p:nvPr/>
        </p:nvSpPr>
        <p:spPr>
          <a:xfrm>
            <a:off x="5072040" y="2766960"/>
            <a:ext cx="2048040" cy="2657880"/>
          </a:xfrm>
          <a:custGeom>
            <a:avLst/>
            <a:gdLst/>
            <a:ahLst/>
            <a:rect l="0" t="0" r="r" b="b"/>
            <a:pathLst>
              <a:path w="5689" h="7383">
                <a:moveTo>
                  <a:pt x="0" y="7237"/>
                </a:moveTo>
                <a:lnTo>
                  <a:pt x="0" y="145"/>
                </a:lnTo>
                <a:cubicBezTo>
                  <a:pt x="0" y="136"/>
                  <a:pt x="0" y="126"/>
                  <a:pt x="2" y="117"/>
                </a:cubicBezTo>
                <a:cubicBezTo>
                  <a:pt x="4" y="107"/>
                  <a:pt x="7" y="98"/>
                  <a:pt x="11" y="89"/>
                </a:cubicBezTo>
                <a:cubicBezTo>
                  <a:pt x="14" y="81"/>
                  <a:pt x="19" y="72"/>
                  <a:pt x="24" y="64"/>
                </a:cubicBezTo>
                <a:cubicBezTo>
                  <a:pt x="29" y="56"/>
                  <a:pt x="35" y="49"/>
                  <a:pt x="42" y="42"/>
                </a:cubicBezTo>
                <a:cubicBezTo>
                  <a:pt x="49" y="36"/>
                  <a:pt x="56" y="29"/>
                  <a:pt x="64" y="24"/>
                </a:cubicBezTo>
                <a:cubicBezTo>
                  <a:pt x="72" y="19"/>
                  <a:pt x="81" y="14"/>
                  <a:pt x="89" y="11"/>
                </a:cubicBezTo>
                <a:cubicBezTo>
                  <a:pt x="98" y="7"/>
                  <a:pt x="107" y="4"/>
                  <a:pt x="117" y="2"/>
                </a:cubicBezTo>
                <a:cubicBezTo>
                  <a:pt x="126" y="1"/>
                  <a:pt x="137" y="0"/>
                  <a:pt x="146" y="0"/>
                </a:cubicBezTo>
                <a:lnTo>
                  <a:pt x="5544" y="0"/>
                </a:lnTo>
                <a:cubicBezTo>
                  <a:pt x="5553" y="0"/>
                  <a:pt x="5563" y="1"/>
                  <a:pt x="5572" y="2"/>
                </a:cubicBezTo>
                <a:cubicBezTo>
                  <a:pt x="5581" y="4"/>
                  <a:pt x="5590" y="7"/>
                  <a:pt x="5599" y="11"/>
                </a:cubicBezTo>
                <a:cubicBezTo>
                  <a:pt x="5608" y="14"/>
                  <a:pt x="5616" y="19"/>
                  <a:pt x="5624" y="24"/>
                </a:cubicBezTo>
                <a:cubicBezTo>
                  <a:pt x="5632" y="29"/>
                  <a:pt x="5640" y="36"/>
                  <a:pt x="5646" y="42"/>
                </a:cubicBezTo>
                <a:cubicBezTo>
                  <a:pt x="5653" y="49"/>
                  <a:pt x="5659" y="56"/>
                  <a:pt x="5665" y="64"/>
                </a:cubicBezTo>
                <a:cubicBezTo>
                  <a:pt x="5670" y="72"/>
                  <a:pt x="5674" y="81"/>
                  <a:pt x="5678" y="89"/>
                </a:cubicBezTo>
                <a:cubicBezTo>
                  <a:pt x="5682" y="98"/>
                  <a:pt x="5684" y="107"/>
                  <a:pt x="5686" y="117"/>
                </a:cubicBezTo>
                <a:cubicBezTo>
                  <a:pt x="5688" y="126"/>
                  <a:pt x="5689" y="136"/>
                  <a:pt x="5689" y="145"/>
                </a:cubicBezTo>
                <a:lnTo>
                  <a:pt x="5689" y="7237"/>
                </a:lnTo>
                <a:cubicBezTo>
                  <a:pt x="5689" y="7247"/>
                  <a:pt x="5688" y="7256"/>
                  <a:pt x="5686" y="7265"/>
                </a:cubicBezTo>
                <a:cubicBezTo>
                  <a:pt x="5684" y="7275"/>
                  <a:pt x="5682" y="7284"/>
                  <a:pt x="5678" y="7293"/>
                </a:cubicBezTo>
                <a:cubicBezTo>
                  <a:pt x="5674" y="7302"/>
                  <a:pt x="5670" y="7310"/>
                  <a:pt x="5665" y="7318"/>
                </a:cubicBezTo>
                <a:cubicBezTo>
                  <a:pt x="5659" y="7326"/>
                  <a:pt x="5653" y="7333"/>
                  <a:pt x="5646" y="7340"/>
                </a:cubicBezTo>
                <a:cubicBezTo>
                  <a:pt x="5640" y="7347"/>
                  <a:pt x="5632" y="7353"/>
                  <a:pt x="5624" y="7358"/>
                </a:cubicBezTo>
                <a:cubicBezTo>
                  <a:pt x="5616" y="7363"/>
                  <a:pt x="5608" y="7368"/>
                  <a:pt x="5599" y="7371"/>
                </a:cubicBezTo>
                <a:cubicBezTo>
                  <a:pt x="5590" y="7375"/>
                  <a:pt x="5581" y="7378"/>
                  <a:pt x="5572" y="7380"/>
                </a:cubicBezTo>
                <a:cubicBezTo>
                  <a:pt x="5563" y="7382"/>
                  <a:pt x="5553" y="7383"/>
                  <a:pt x="5544" y="7383"/>
                </a:cubicBezTo>
                <a:lnTo>
                  <a:pt x="146" y="7383"/>
                </a:lnTo>
                <a:cubicBezTo>
                  <a:pt x="137" y="7383"/>
                  <a:pt x="126" y="7382"/>
                  <a:pt x="117" y="7380"/>
                </a:cubicBezTo>
                <a:cubicBezTo>
                  <a:pt x="107" y="7378"/>
                  <a:pt x="98" y="7375"/>
                  <a:pt x="89" y="7371"/>
                </a:cubicBezTo>
                <a:cubicBezTo>
                  <a:pt x="81" y="7368"/>
                  <a:pt x="72" y="7363"/>
                  <a:pt x="64" y="7358"/>
                </a:cubicBezTo>
                <a:cubicBezTo>
                  <a:pt x="56" y="7353"/>
                  <a:pt x="49" y="7347"/>
                  <a:pt x="42" y="7340"/>
                </a:cubicBezTo>
                <a:cubicBezTo>
                  <a:pt x="35" y="7333"/>
                  <a:pt x="29" y="7326"/>
                  <a:pt x="24" y="7318"/>
                </a:cubicBezTo>
                <a:cubicBezTo>
                  <a:pt x="19" y="7310"/>
                  <a:pt x="14" y="7302"/>
                  <a:pt x="11" y="7293"/>
                </a:cubicBezTo>
                <a:cubicBezTo>
                  <a:pt x="7" y="7284"/>
                  <a:pt x="4" y="7275"/>
                  <a:pt x="2" y="7265"/>
                </a:cubicBezTo>
                <a:cubicBezTo>
                  <a:pt x="0" y="7256"/>
                  <a:pt x="0" y="7247"/>
                  <a:pt x="0" y="7237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" name=""/>
          <p:cNvSpPr/>
          <p:nvPr/>
        </p:nvSpPr>
        <p:spPr>
          <a:xfrm>
            <a:off x="5072040" y="2766960"/>
            <a:ext cx="2048040" cy="2657880"/>
          </a:xfrm>
          <a:custGeom>
            <a:avLst/>
            <a:gdLst/>
            <a:ahLst/>
            <a:rect l="0" t="0" r="r" b="b"/>
            <a:pathLst>
              <a:path fill="none" w="5689" h="7383">
                <a:moveTo>
                  <a:pt x="0" y="7237"/>
                </a:moveTo>
                <a:lnTo>
                  <a:pt x="0" y="145"/>
                </a:lnTo>
                <a:cubicBezTo>
                  <a:pt x="0" y="136"/>
                  <a:pt x="0" y="126"/>
                  <a:pt x="2" y="117"/>
                </a:cubicBezTo>
                <a:cubicBezTo>
                  <a:pt x="4" y="107"/>
                  <a:pt x="7" y="98"/>
                  <a:pt x="11" y="89"/>
                </a:cubicBezTo>
                <a:cubicBezTo>
                  <a:pt x="14" y="81"/>
                  <a:pt x="19" y="72"/>
                  <a:pt x="24" y="64"/>
                </a:cubicBezTo>
                <a:cubicBezTo>
                  <a:pt x="29" y="56"/>
                  <a:pt x="35" y="49"/>
                  <a:pt x="42" y="42"/>
                </a:cubicBezTo>
                <a:cubicBezTo>
                  <a:pt x="49" y="36"/>
                  <a:pt x="56" y="29"/>
                  <a:pt x="64" y="24"/>
                </a:cubicBezTo>
                <a:cubicBezTo>
                  <a:pt x="72" y="19"/>
                  <a:pt x="81" y="14"/>
                  <a:pt x="89" y="11"/>
                </a:cubicBezTo>
                <a:cubicBezTo>
                  <a:pt x="98" y="7"/>
                  <a:pt x="107" y="4"/>
                  <a:pt x="117" y="2"/>
                </a:cubicBezTo>
                <a:cubicBezTo>
                  <a:pt x="126" y="1"/>
                  <a:pt x="137" y="0"/>
                  <a:pt x="146" y="0"/>
                </a:cubicBezTo>
                <a:lnTo>
                  <a:pt x="5544" y="0"/>
                </a:lnTo>
                <a:cubicBezTo>
                  <a:pt x="5553" y="0"/>
                  <a:pt x="5563" y="1"/>
                  <a:pt x="5572" y="2"/>
                </a:cubicBezTo>
                <a:cubicBezTo>
                  <a:pt x="5581" y="4"/>
                  <a:pt x="5590" y="7"/>
                  <a:pt x="5599" y="11"/>
                </a:cubicBezTo>
                <a:cubicBezTo>
                  <a:pt x="5608" y="14"/>
                  <a:pt x="5616" y="19"/>
                  <a:pt x="5624" y="24"/>
                </a:cubicBezTo>
                <a:cubicBezTo>
                  <a:pt x="5632" y="29"/>
                  <a:pt x="5640" y="36"/>
                  <a:pt x="5646" y="42"/>
                </a:cubicBezTo>
                <a:cubicBezTo>
                  <a:pt x="5653" y="49"/>
                  <a:pt x="5659" y="56"/>
                  <a:pt x="5665" y="64"/>
                </a:cubicBezTo>
                <a:cubicBezTo>
                  <a:pt x="5670" y="72"/>
                  <a:pt x="5674" y="81"/>
                  <a:pt x="5678" y="89"/>
                </a:cubicBezTo>
                <a:cubicBezTo>
                  <a:pt x="5682" y="98"/>
                  <a:pt x="5684" y="107"/>
                  <a:pt x="5686" y="117"/>
                </a:cubicBezTo>
                <a:cubicBezTo>
                  <a:pt x="5688" y="126"/>
                  <a:pt x="5689" y="136"/>
                  <a:pt x="5689" y="145"/>
                </a:cubicBezTo>
                <a:lnTo>
                  <a:pt x="5689" y="7237"/>
                </a:lnTo>
                <a:cubicBezTo>
                  <a:pt x="5689" y="7247"/>
                  <a:pt x="5688" y="7256"/>
                  <a:pt x="5686" y="7265"/>
                </a:cubicBezTo>
                <a:cubicBezTo>
                  <a:pt x="5684" y="7275"/>
                  <a:pt x="5682" y="7284"/>
                  <a:pt x="5678" y="7293"/>
                </a:cubicBezTo>
                <a:cubicBezTo>
                  <a:pt x="5674" y="7302"/>
                  <a:pt x="5670" y="7310"/>
                  <a:pt x="5665" y="7318"/>
                </a:cubicBezTo>
                <a:cubicBezTo>
                  <a:pt x="5659" y="7326"/>
                  <a:pt x="5653" y="7333"/>
                  <a:pt x="5646" y="7340"/>
                </a:cubicBezTo>
                <a:cubicBezTo>
                  <a:pt x="5640" y="7347"/>
                  <a:pt x="5632" y="7353"/>
                  <a:pt x="5624" y="7358"/>
                </a:cubicBezTo>
                <a:cubicBezTo>
                  <a:pt x="5616" y="7363"/>
                  <a:pt x="5608" y="7368"/>
                  <a:pt x="5599" y="7371"/>
                </a:cubicBezTo>
                <a:cubicBezTo>
                  <a:pt x="5590" y="7375"/>
                  <a:pt x="5581" y="7378"/>
                  <a:pt x="5572" y="7380"/>
                </a:cubicBezTo>
                <a:cubicBezTo>
                  <a:pt x="5563" y="7382"/>
                  <a:pt x="5553" y="7383"/>
                  <a:pt x="5544" y="7383"/>
                </a:cubicBezTo>
                <a:lnTo>
                  <a:pt x="146" y="7383"/>
                </a:lnTo>
                <a:cubicBezTo>
                  <a:pt x="137" y="7383"/>
                  <a:pt x="126" y="7382"/>
                  <a:pt x="117" y="7380"/>
                </a:cubicBezTo>
                <a:cubicBezTo>
                  <a:pt x="107" y="7378"/>
                  <a:pt x="98" y="7375"/>
                  <a:pt x="89" y="7371"/>
                </a:cubicBezTo>
                <a:cubicBezTo>
                  <a:pt x="81" y="7368"/>
                  <a:pt x="72" y="7363"/>
                  <a:pt x="64" y="7358"/>
                </a:cubicBezTo>
                <a:cubicBezTo>
                  <a:pt x="56" y="7353"/>
                  <a:pt x="49" y="7347"/>
                  <a:pt x="42" y="7340"/>
                </a:cubicBezTo>
                <a:cubicBezTo>
                  <a:pt x="35" y="7333"/>
                  <a:pt x="29" y="7326"/>
                  <a:pt x="24" y="7318"/>
                </a:cubicBezTo>
                <a:cubicBezTo>
                  <a:pt x="19" y="7310"/>
                  <a:pt x="14" y="7302"/>
                  <a:pt x="11" y="7293"/>
                </a:cubicBezTo>
                <a:cubicBezTo>
                  <a:pt x="7" y="7284"/>
                  <a:pt x="4" y="7275"/>
                  <a:pt x="2" y="7265"/>
                </a:cubicBezTo>
                <a:cubicBezTo>
                  <a:pt x="0" y="7256"/>
                  <a:pt x="0" y="7247"/>
                  <a:pt x="0" y="7237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3355920" y="3255480"/>
            <a:ext cx="91908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It Down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5229360" y="3938040"/>
            <a:ext cx="16228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Keep asking "why"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5229360" y="4214160"/>
            <a:ext cx="16653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until you reach the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5229360" y="4490280"/>
            <a:ext cx="17301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real source, not the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" name=""/>
          <p:cNvSpPr/>
          <p:nvPr/>
        </p:nvSpPr>
        <p:spPr>
          <a:xfrm>
            <a:off x="5248080" y="3267000"/>
            <a:ext cx="190800" cy="190800"/>
          </a:xfrm>
          <a:custGeom>
            <a:avLst/>
            <a:gdLst/>
            <a:ahLst/>
            <a:rect l="0" t="0" r="r" b="b"/>
            <a:pathLst>
              <a:path fill="none" w="530" h="530">
                <a:moveTo>
                  <a:pt x="530" y="265"/>
                </a:moveTo>
                <a:cubicBezTo>
                  <a:pt x="530" y="283"/>
                  <a:pt x="529" y="300"/>
                  <a:pt x="525" y="317"/>
                </a:cubicBezTo>
                <a:cubicBezTo>
                  <a:pt x="522" y="334"/>
                  <a:pt x="517" y="350"/>
                  <a:pt x="510" y="367"/>
                </a:cubicBezTo>
                <a:cubicBezTo>
                  <a:pt x="503" y="383"/>
                  <a:pt x="494" y="398"/>
                  <a:pt x="485" y="412"/>
                </a:cubicBezTo>
                <a:cubicBezTo>
                  <a:pt x="475" y="427"/>
                  <a:pt x="464" y="440"/>
                  <a:pt x="452" y="452"/>
                </a:cubicBezTo>
                <a:cubicBezTo>
                  <a:pt x="439" y="465"/>
                  <a:pt x="426" y="476"/>
                  <a:pt x="412" y="485"/>
                </a:cubicBezTo>
                <a:cubicBezTo>
                  <a:pt x="397" y="495"/>
                  <a:pt x="382" y="503"/>
                  <a:pt x="366" y="510"/>
                </a:cubicBezTo>
                <a:cubicBezTo>
                  <a:pt x="350" y="516"/>
                  <a:pt x="333" y="521"/>
                  <a:pt x="316" y="525"/>
                </a:cubicBezTo>
                <a:cubicBezTo>
                  <a:pt x="299" y="528"/>
                  <a:pt x="282" y="530"/>
                  <a:pt x="265" y="530"/>
                </a:cubicBezTo>
                <a:cubicBezTo>
                  <a:pt x="247" y="530"/>
                  <a:pt x="230" y="528"/>
                  <a:pt x="213" y="525"/>
                </a:cubicBezTo>
                <a:cubicBezTo>
                  <a:pt x="196" y="521"/>
                  <a:pt x="179" y="516"/>
                  <a:pt x="163" y="510"/>
                </a:cubicBezTo>
                <a:cubicBezTo>
                  <a:pt x="147" y="503"/>
                  <a:pt x="132" y="495"/>
                  <a:pt x="118" y="485"/>
                </a:cubicBezTo>
                <a:cubicBezTo>
                  <a:pt x="103" y="476"/>
                  <a:pt x="90" y="465"/>
                  <a:pt x="78" y="452"/>
                </a:cubicBezTo>
                <a:cubicBezTo>
                  <a:pt x="65" y="440"/>
                  <a:pt x="54" y="427"/>
                  <a:pt x="45" y="412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4" y="350"/>
                  <a:pt x="9" y="334"/>
                  <a:pt x="5" y="317"/>
                </a:cubicBezTo>
                <a:cubicBezTo>
                  <a:pt x="2" y="300"/>
                  <a:pt x="0" y="283"/>
                  <a:pt x="0" y="265"/>
                </a:cubicBezTo>
                <a:cubicBezTo>
                  <a:pt x="0" y="248"/>
                  <a:pt x="2" y="231"/>
                  <a:pt x="5" y="214"/>
                </a:cubicBezTo>
                <a:cubicBezTo>
                  <a:pt x="9" y="197"/>
                  <a:pt x="14" y="179"/>
                  <a:pt x="20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4" y="103"/>
                  <a:pt x="65" y="89"/>
                  <a:pt x="78" y="77"/>
                </a:cubicBezTo>
                <a:cubicBezTo>
                  <a:pt x="90" y="65"/>
                  <a:pt x="103" y="54"/>
                  <a:pt x="118" y="44"/>
                </a:cubicBezTo>
                <a:cubicBezTo>
                  <a:pt x="132" y="35"/>
                  <a:pt x="147" y="26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1"/>
                  <a:pt x="247" y="0"/>
                  <a:pt x="265" y="0"/>
                </a:cubicBezTo>
                <a:cubicBezTo>
                  <a:pt x="282" y="0"/>
                  <a:pt x="299" y="1"/>
                  <a:pt x="316" y="5"/>
                </a:cubicBezTo>
                <a:cubicBezTo>
                  <a:pt x="333" y="8"/>
                  <a:pt x="350" y="13"/>
                  <a:pt x="366" y="20"/>
                </a:cubicBezTo>
                <a:cubicBezTo>
                  <a:pt x="382" y="26"/>
                  <a:pt x="397" y="35"/>
                  <a:pt x="412" y="44"/>
                </a:cubicBezTo>
                <a:cubicBezTo>
                  <a:pt x="426" y="54"/>
                  <a:pt x="439" y="65"/>
                  <a:pt x="452" y="77"/>
                </a:cubicBezTo>
                <a:cubicBezTo>
                  <a:pt x="464" y="89"/>
                  <a:pt x="475" y="103"/>
                  <a:pt x="485" y="117"/>
                </a:cubicBezTo>
                <a:cubicBezTo>
                  <a:pt x="494" y="132"/>
                  <a:pt x="503" y="147"/>
                  <a:pt x="510" y="163"/>
                </a:cubicBezTo>
                <a:cubicBezTo>
                  <a:pt x="517" y="179"/>
                  <a:pt x="522" y="197"/>
                  <a:pt x="525" y="214"/>
                </a:cubicBezTo>
                <a:cubicBezTo>
                  <a:pt x="529" y="231"/>
                  <a:pt x="530" y="248"/>
                  <a:pt x="530" y="265"/>
                </a:cubicBez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"/>
          <p:cNvSpPr/>
          <p:nvPr/>
        </p:nvSpPr>
        <p:spPr>
          <a:xfrm>
            <a:off x="5343480" y="3323880"/>
            <a:ext cx="0" cy="76320"/>
          </a:xfrm>
          <a:custGeom>
            <a:avLst/>
            <a:gdLst/>
            <a:ahLst/>
            <a:rect l="0" t="0" r="r" b="b"/>
            <a:pathLst>
              <a:path fill="none" w="0" h="212">
                <a:moveTo>
                  <a:pt x="0" y="212"/>
                </a:moveTo>
                <a:lnTo>
                  <a:pt x="0" y="106"/>
                </a:lnTo>
                <a:moveTo>
                  <a:pt x="0" y="0"/>
                </a:move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5229360" y="4766760"/>
            <a:ext cx="8845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symptom.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5508720" y="2969640"/>
            <a:ext cx="5432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Root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5508720" y="3255480"/>
            <a:ext cx="71136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Cause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7224480" y="2766960"/>
            <a:ext cx="2048400" cy="2657880"/>
          </a:xfrm>
          <a:custGeom>
            <a:avLst/>
            <a:gdLst/>
            <a:ahLst/>
            <a:rect l="0" t="0" r="r" b="b"/>
            <a:pathLst>
              <a:path w="5690" h="7383">
                <a:moveTo>
                  <a:pt x="0" y="723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5544" y="0"/>
                </a:lnTo>
                <a:cubicBezTo>
                  <a:pt x="5554" y="0"/>
                  <a:pt x="5563" y="1"/>
                  <a:pt x="5573" y="2"/>
                </a:cubicBezTo>
                <a:cubicBezTo>
                  <a:pt x="5582" y="4"/>
                  <a:pt x="5591" y="7"/>
                  <a:pt x="5600" y="11"/>
                </a:cubicBezTo>
                <a:cubicBezTo>
                  <a:pt x="5609" y="14"/>
                  <a:pt x="5617" y="19"/>
                  <a:pt x="5625" y="24"/>
                </a:cubicBezTo>
                <a:cubicBezTo>
                  <a:pt x="5633" y="29"/>
                  <a:pt x="5640" y="36"/>
                  <a:pt x="5647" y="42"/>
                </a:cubicBezTo>
                <a:cubicBezTo>
                  <a:pt x="5654" y="49"/>
                  <a:pt x="5660" y="56"/>
                  <a:pt x="5665" y="64"/>
                </a:cubicBezTo>
                <a:cubicBezTo>
                  <a:pt x="5670" y="72"/>
                  <a:pt x="5675" y="81"/>
                  <a:pt x="5679" y="89"/>
                </a:cubicBezTo>
                <a:cubicBezTo>
                  <a:pt x="5682" y="98"/>
                  <a:pt x="5685" y="107"/>
                  <a:pt x="5687" y="117"/>
                </a:cubicBezTo>
                <a:cubicBezTo>
                  <a:pt x="5689" y="126"/>
                  <a:pt x="5690" y="136"/>
                  <a:pt x="5690" y="145"/>
                </a:cubicBezTo>
                <a:lnTo>
                  <a:pt x="5690" y="7237"/>
                </a:lnTo>
                <a:cubicBezTo>
                  <a:pt x="5690" y="7247"/>
                  <a:pt x="5689" y="7256"/>
                  <a:pt x="5687" y="7265"/>
                </a:cubicBezTo>
                <a:cubicBezTo>
                  <a:pt x="5685" y="7275"/>
                  <a:pt x="5682" y="7284"/>
                  <a:pt x="5679" y="7293"/>
                </a:cubicBezTo>
                <a:cubicBezTo>
                  <a:pt x="5675" y="7302"/>
                  <a:pt x="5670" y="7310"/>
                  <a:pt x="5665" y="7318"/>
                </a:cubicBezTo>
                <a:cubicBezTo>
                  <a:pt x="5660" y="7326"/>
                  <a:pt x="5654" y="7333"/>
                  <a:pt x="5647" y="7340"/>
                </a:cubicBezTo>
                <a:cubicBezTo>
                  <a:pt x="5640" y="7347"/>
                  <a:pt x="5633" y="7353"/>
                  <a:pt x="5625" y="7358"/>
                </a:cubicBezTo>
                <a:cubicBezTo>
                  <a:pt x="5617" y="7363"/>
                  <a:pt x="5609" y="7368"/>
                  <a:pt x="5600" y="7371"/>
                </a:cubicBezTo>
                <a:cubicBezTo>
                  <a:pt x="5591" y="7375"/>
                  <a:pt x="5582" y="7378"/>
                  <a:pt x="5573" y="7380"/>
                </a:cubicBezTo>
                <a:cubicBezTo>
                  <a:pt x="5563" y="7382"/>
                  <a:pt x="5554" y="7383"/>
                  <a:pt x="5544" y="7383"/>
                </a:cubicBezTo>
                <a:lnTo>
                  <a:pt x="146" y="7383"/>
                </a:lnTo>
                <a:cubicBezTo>
                  <a:pt x="136" y="7383"/>
                  <a:pt x="127" y="7382"/>
                  <a:pt x="117" y="7380"/>
                </a:cubicBezTo>
                <a:cubicBezTo>
                  <a:pt x="108" y="7378"/>
                  <a:pt x="99" y="7375"/>
                  <a:pt x="90" y="7371"/>
                </a:cubicBezTo>
                <a:cubicBezTo>
                  <a:pt x="81" y="7368"/>
                  <a:pt x="73" y="7363"/>
                  <a:pt x="65" y="7358"/>
                </a:cubicBezTo>
                <a:cubicBezTo>
                  <a:pt x="57" y="7353"/>
                  <a:pt x="50" y="7347"/>
                  <a:pt x="43" y="7340"/>
                </a:cubicBezTo>
                <a:cubicBezTo>
                  <a:pt x="36" y="7333"/>
                  <a:pt x="30" y="7326"/>
                  <a:pt x="25" y="7318"/>
                </a:cubicBezTo>
                <a:cubicBezTo>
                  <a:pt x="19" y="7310"/>
                  <a:pt x="15" y="7302"/>
                  <a:pt x="11" y="7293"/>
                </a:cubicBezTo>
                <a:cubicBezTo>
                  <a:pt x="8" y="7284"/>
                  <a:pt x="5" y="7275"/>
                  <a:pt x="3" y="7265"/>
                </a:cubicBezTo>
                <a:cubicBezTo>
                  <a:pt x="1" y="7256"/>
                  <a:pt x="0" y="7247"/>
                  <a:pt x="0" y="7237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" name=""/>
          <p:cNvSpPr/>
          <p:nvPr/>
        </p:nvSpPr>
        <p:spPr>
          <a:xfrm>
            <a:off x="7224480" y="2766960"/>
            <a:ext cx="2048400" cy="2657880"/>
          </a:xfrm>
          <a:custGeom>
            <a:avLst/>
            <a:gdLst/>
            <a:ahLst/>
            <a:rect l="0" t="0" r="r" b="b"/>
            <a:pathLst>
              <a:path fill="none" w="5690" h="7383">
                <a:moveTo>
                  <a:pt x="0" y="723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5544" y="0"/>
                </a:lnTo>
                <a:cubicBezTo>
                  <a:pt x="5554" y="0"/>
                  <a:pt x="5563" y="1"/>
                  <a:pt x="5573" y="2"/>
                </a:cubicBezTo>
                <a:cubicBezTo>
                  <a:pt x="5582" y="4"/>
                  <a:pt x="5591" y="7"/>
                  <a:pt x="5600" y="11"/>
                </a:cubicBezTo>
                <a:cubicBezTo>
                  <a:pt x="5609" y="14"/>
                  <a:pt x="5617" y="19"/>
                  <a:pt x="5625" y="24"/>
                </a:cubicBezTo>
                <a:cubicBezTo>
                  <a:pt x="5633" y="29"/>
                  <a:pt x="5640" y="36"/>
                  <a:pt x="5647" y="42"/>
                </a:cubicBezTo>
                <a:cubicBezTo>
                  <a:pt x="5654" y="49"/>
                  <a:pt x="5660" y="56"/>
                  <a:pt x="5665" y="64"/>
                </a:cubicBezTo>
                <a:cubicBezTo>
                  <a:pt x="5670" y="72"/>
                  <a:pt x="5675" y="81"/>
                  <a:pt x="5679" y="89"/>
                </a:cubicBezTo>
                <a:cubicBezTo>
                  <a:pt x="5682" y="98"/>
                  <a:pt x="5685" y="107"/>
                  <a:pt x="5687" y="117"/>
                </a:cubicBezTo>
                <a:cubicBezTo>
                  <a:pt x="5689" y="126"/>
                  <a:pt x="5690" y="136"/>
                  <a:pt x="5690" y="145"/>
                </a:cubicBezTo>
                <a:lnTo>
                  <a:pt x="5690" y="7237"/>
                </a:lnTo>
                <a:cubicBezTo>
                  <a:pt x="5690" y="7247"/>
                  <a:pt x="5689" y="7256"/>
                  <a:pt x="5687" y="7265"/>
                </a:cubicBezTo>
                <a:cubicBezTo>
                  <a:pt x="5685" y="7275"/>
                  <a:pt x="5682" y="7284"/>
                  <a:pt x="5679" y="7293"/>
                </a:cubicBezTo>
                <a:cubicBezTo>
                  <a:pt x="5675" y="7302"/>
                  <a:pt x="5670" y="7310"/>
                  <a:pt x="5665" y="7318"/>
                </a:cubicBezTo>
                <a:cubicBezTo>
                  <a:pt x="5660" y="7326"/>
                  <a:pt x="5654" y="7333"/>
                  <a:pt x="5647" y="7340"/>
                </a:cubicBezTo>
                <a:cubicBezTo>
                  <a:pt x="5640" y="7347"/>
                  <a:pt x="5633" y="7353"/>
                  <a:pt x="5625" y="7358"/>
                </a:cubicBezTo>
                <a:cubicBezTo>
                  <a:pt x="5617" y="7363"/>
                  <a:pt x="5609" y="7368"/>
                  <a:pt x="5600" y="7371"/>
                </a:cubicBezTo>
                <a:cubicBezTo>
                  <a:pt x="5591" y="7375"/>
                  <a:pt x="5582" y="7378"/>
                  <a:pt x="5573" y="7380"/>
                </a:cubicBezTo>
                <a:cubicBezTo>
                  <a:pt x="5563" y="7382"/>
                  <a:pt x="5554" y="7383"/>
                  <a:pt x="5544" y="7383"/>
                </a:cubicBezTo>
                <a:lnTo>
                  <a:pt x="146" y="7383"/>
                </a:lnTo>
                <a:cubicBezTo>
                  <a:pt x="136" y="7383"/>
                  <a:pt x="127" y="7382"/>
                  <a:pt x="117" y="7380"/>
                </a:cubicBezTo>
                <a:cubicBezTo>
                  <a:pt x="108" y="7378"/>
                  <a:pt x="99" y="7375"/>
                  <a:pt x="90" y="7371"/>
                </a:cubicBezTo>
                <a:cubicBezTo>
                  <a:pt x="81" y="7368"/>
                  <a:pt x="73" y="7363"/>
                  <a:pt x="65" y="7358"/>
                </a:cubicBezTo>
                <a:cubicBezTo>
                  <a:pt x="57" y="7353"/>
                  <a:pt x="50" y="7347"/>
                  <a:pt x="43" y="7340"/>
                </a:cubicBezTo>
                <a:cubicBezTo>
                  <a:pt x="36" y="7333"/>
                  <a:pt x="30" y="7326"/>
                  <a:pt x="25" y="7318"/>
                </a:cubicBezTo>
                <a:cubicBezTo>
                  <a:pt x="19" y="7310"/>
                  <a:pt x="15" y="7302"/>
                  <a:pt x="11" y="7293"/>
                </a:cubicBezTo>
                <a:cubicBezTo>
                  <a:pt x="8" y="7284"/>
                  <a:pt x="5" y="7275"/>
                  <a:pt x="3" y="7265"/>
                </a:cubicBezTo>
                <a:cubicBezTo>
                  <a:pt x="1" y="7256"/>
                  <a:pt x="0" y="7247"/>
                  <a:pt x="0" y="7237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5508720" y="3541320"/>
            <a:ext cx="99396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Analysis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7381800" y="3366360"/>
            <a:ext cx="13183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Generate ideas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7381800" y="3642840"/>
            <a:ext cx="12805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freely, without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7381800" y="3918960"/>
            <a:ext cx="15238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ﬁltering — works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7381800" y="4195080"/>
            <a:ext cx="16545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best in groups, for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"/>
          <p:cNvSpPr/>
          <p:nvPr/>
        </p:nvSpPr>
        <p:spPr>
          <a:xfrm>
            <a:off x="7400880" y="2981160"/>
            <a:ext cx="190800" cy="190800"/>
          </a:xfrm>
          <a:custGeom>
            <a:avLst/>
            <a:gdLst/>
            <a:ahLst/>
            <a:rect l="0" t="0" r="r" b="b"/>
            <a:pathLst>
              <a:path fill="none" w="530" h="530">
                <a:moveTo>
                  <a:pt x="530" y="265"/>
                </a:moveTo>
                <a:cubicBezTo>
                  <a:pt x="530" y="282"/>
                  <a:pt x="528" y="299"/>
                  <a:pt x="525" y="316"/>
                </a:cubicBezTo>
                <a:cubicBezTo>
                  <a:pt x="521" y="333"/>
                  <a:pt x="516" y="350"/>
                  <a:pt x="510" y="366"/>
                </a:cubicBezTo>
                <a:cubicBezTo>
                  <a:pt x="503" y="382"/>
                  <a:pt x="495" y="397"/>
                  <a:pt x="485" y="412"/>
                </a:cubicBezTo>
                <a:cubicBezTo>
                  <a:pt x="476" y="426"/>
                  <a:pt x="465" y="439"/>
                  <a:pt x="452" y="453"/>
                </a:cubicBezTo>
                <a:cubicBezTo>
                  <a:pt x="440" y="465"/>
                  <a:pt x="427" y="476"/>
                  <a:pt x="412" y="486"/>
                </a:cubicBezTo>
                <a:cubicBezTo>
                  <a:pt x="398" y="495"/>
                  <a:pt x="383" y="503"/>
                  <a:pt x="366" y="510"/>
                </a:cubicBezTo>
                <a:cubicBezTo>
                  <a:pt x="350" y="517"/>
                  <a:pt x="333" y="522"/>
                  <a:pt x="316" y="525"/>
                </a:cubicBezTo>
                <a:cubicBezTo>
                  <a:pt x="299" y="528"/>
                  <a:pt x="282" y="530"/>
                  <a:pt x="264" y="530"/>
                </a:cubicBezTo>
                <a:cubicBezTo>
                  <a:pt x="247" y="530"/>
                  <a:pt x="230" y="528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3"/>
                  <a:pt x="132" y="495"/>
                  <a:pt x="117" y="486"/>
                </a:cubicBezTo>
                <a:cubicBezTo>
                  <a:pt x="103" y="476"/>
                  <a:pt x="89" y="465"/>
                  <a:pt x="77" y="453"/>
                </a:cubicBezTo>
                <a:cubicBezTo>
                  <a:pt x="65" y="439"/>
                  <a:pt x="54" y="426"/>
                  <a:pt x="44" y="412"/>
                </a:cubicBezTo>
                <a:cubicBezTo>
                  <a:pt x="35" y="397"/>
                  <a:pt x="26" y="382"/>
                  <a:pt x="20" y="366"/>
                </a:cubicBezTo>
                <a:cubicBezTo>
                  <a:pt x="13" y="350"/>
                  <a:pt x="8" y="333"/>
                  <a:pt x="5" y="316"/>
                </a:cubicBezTo>
                <a:cubicBezTo>
                  <a:pt x="1" y="299"/>
                  <a:pt x="0" y="282"/>
                  <a:pt x="0" y="265"/>
                </a:cubicBez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79"/>
                  <a:pt x="20" y="163"/>
                </a:cubicBezTo>
                <a:cubicBezTo>
                  <a:pt x="26" y="147"/>
                  <a:pt x="35" y="132"/>
                  <a:pt x="44" y="118"/>
                </a:cubicBezTo>
                <a:cubicBezTo>
                  <a:pt x="54" y="103"/>
                  <a:pt x="65" y="90"/>
                  <a:pt x="77" y="77"/>
                </a:cubicBezTo>
                <a:cubicBezTo>
                  <a:pt x="89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2"/>
                  <a:pt x="247" y="0"/>
                  <a:pt x="264" y="0"/>
                </a:cubicBezTo>
                <a:cubicBezTo>
                  <a:pt x="282" y="0"/>
                  <a:pt x="299" y="2"/>
                  <a:pt x="316" y="5"/>
                </a:cubicBezTo>
                <a:cubicBezTo>
                  <a:pt x="333" y="8"/>
                  <a:pt x="350" y="13"/>
                  <a:pt x="366" y="20"/>
                </a:cubicBezTo>
                <a:cubicBezTo>
                  <a:pt x="383" y="27"/>
                  <a:pt x="398" y="35"/>
                  <a:pt x="412" y="45"/>
                </a:cubicBezTo>
                <a:cubicBezTo>
                  <a:pt x="427" y="54"/>
                  <a:pt x="440" y="65"/>
                  <a:pt x="452" y="77"/>
                </a:cubicBezTo>
                <a:cubicBezTo>
                  <a:pt x="465" y="90"/>
                  <a:pt x="476" y="103"/>
                  <a:pt x="485" y="118"/>
                </a:cubicBezTo>
                <a:cubicBezTo>
                  <a:pt x="495" y="132"/>
                  <a:pt x="503" y="147"/>
                  <a:pt x="510" y="163"/>
                </a:cubicBezTo>
                <a:cubicBezTo>
                  <a:pt x="516" y="179"/>
                  <a:pt x="521" y="196"/>
                  <a:pt x="525" y="213"/>
                </a:cubicBezTo>
                <a:cubicBezTo>
                  <a:pt x="528" y="230"/>
                  <a:pt x="530" y="247"/>
                  <a:pt x="530" y="265"/>
                </a:cubicBez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" name=""/>
          <p:cNvSpPr/>
          <p:nvPr/>
        </p:nvSpPr>
        <p:spPr>
          <a:xfrm>
            <a:off x="7495920" y="3038400"/>
            <a:ext cx="0" cy="75960"/>
          </a:xfrm>
          <a:custGeom>
            <a:avLst/>
            <a:gdLst/>
            <a:ahLst/>
            <a:rect l="0" t="0" r="r" b="b"/>
            <a:pathLst>
              <a:path fill="none" w="0" h="211">
                <a:moveTo>
                  <a:pt x="0" y="211"/>
                </a:moveTo>
                <a:lnTo>
                  <a:pt x="0" y="106"/>
                </a:lnTo>
                <a:moveTo>
                  <a:pt x="0" y="0"/>
                </a:move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7381800" y="4471200"/>
            <a:ext cx="16416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creative problems.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"/>
          <p:cNvSpPr/>
          <p:nvPr/>
        </p:nvSpPr>
        <p:spPr>
          <a:xfrm>
            <a:off x="9377280" y="2766960"/>
            <a:ext cx="2048040" cy="2657880"/>
          </a:xfrm>
          <a:custGeom>
            <a:avLst/>
            <a:gdLst/>
            <a:ahLst/>
            <a:rect l="0" t="0" r="r" b="b"/>
            <a:pathLst>
              <a:path w="5689" h="7383">
                <a:moveTo>
                  <a:pt x="0" y="723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4" y="107"/>
                  <a:pt x="7" y="98"/>
                  <a:pt x="11" y="89"/>
                </a:cubicBezTo>
                <a:cubicBezTo>
                  <a:pt x="14" y="81"/>
                  <a:pt x="19" y="72"/>
                  <a:pt x="24" y="64"/>
                </a:cubicBezTo>
                <a:cubicBezTo>
                  <a:pt x="30" y="56"/>
                  <a:pt x="36" y="49"/>
                  <a:pt x="42" y="42"/>
                </a:cubicBezTo>
                <a:cubicBezTo>
                  <a:pt x="49" y="36"/>
                  <a:pt x="56" y="29"/>
                  <a:pt x="64" y="24"/>
                </a:cubicBezTo>
                <a:cubicBezTo>
                  <a:pt x="72" y="19"/>
                  <a:pt x="81" y="14"/>
                  <a:pt x="90" y="11"/>
                </a:cubicBezTo>
                <a:cubicBezTo>
                  <a:pt x="98" y="7"/>
                  <a:pt x="107" y="4"/>
                  <a:pt x="117" y="2"/>
                </a:cubicBezTo>
                <a:cubicBezTo>
                  <a:pt x="126" y="1"/>
                  <a:pt x="136" y="0"/>
                  <a:pt x="145" y="0"/>
                </a:cubicBezTo>
                <a:lnTo>
                  <a:pt x="5544" y="0"/>
                </a:lnTo>
                <a:cubicBezTo>
                  <a:pt x="5553" y="0"/>
                  <a:pt x="5563" y="1"/>
                  <a:pt x="5572" y="2"/>
                </a:cubicBezTo>
                <a:cubicBezTo>
                  <a:pt x="5582" y="4"/>
                  <a:pt x="5591" y="7"/>
                  <a:pt x="5599" y="11"/>
                </a:cubicBezTo>
                <a:cubicBezTo>
                  <a:pt x="5608" y="14"/>
                  <a:pt x="5617" y="19"/>
                  <a:pt x="5625" y="24"/>
                </a:cubicBezTo>
                <a:cubicBezTo>
                  <a:pt x="5633" y="29"/>
                  <a:pt x="5640" y="36"/>
                  <a:pt x="5647" y="42"/>
                </a:cubicBezTo>
                <a:cubicBezTo>
                  <a:pt x="5653" y="49"/>
                  <a:pt x="5659" y="56"/>
                  <a:pt x="5665" y="64"/>
                </a:cubicBezTo>
                <a:cubicBezTo>
                  <a:pt x="5670" y="72"/>
                  <a:pt x="5675" y="81"/>
                  <a:pt x="5678" y="89"/>
                </a:cubicBezTo>
                <a:cubicBezTo>
                  <a:pt x="5682" y="98"/>
                  <a:pt x="5685" y="107"/>
                  <a:pt x="5686" y="117"/>
                </a:cubicBezTo>
                <a:cubicBezTo>
                  <a:pt x="5688" y="126"/>
                  <a:pt x="5689" y="136"/>
                  <a:pt x="5689" y="145"/>
                </a:cubicBezTo>
                <a:lnTo>
                  <a:pt x="5689" y="7237"/>
                </a:lnTo>
                <a:cubicBezTo>
                  <a:pt x="5689" y="7247"/>
                  <a:pt x="5688" y="7256"/>
                  <a:pt x="5686" y="7265"/>
                </a:cubicBezTo>
                <a:cubicBezTo>
                  <a:pt x="5685" y="7275"/>
                  <a:pt x="5682" y="7284"/>
                  <a:pt x="5678" y="7293"/>
                </a:cubicBezTo>
                <a:cubicBezTo>
                  <a:pt x="5675" y="7302"/>
                  <a:pt x="5670" y="7310"/>
                  <a:pt x="5665" y="7318"/>
                </a:cubicBezTo>
                <a:cubicBezTo>
                  <a:pt x="5659" y="7326"/>
                  <a:pt x="5653" y="7333"/>
                  <a:pt x="5647" y="7340"/>
                </a:cubicBezTo>
                <a:cubicBezTo>
                  <a:pt x="5640" y="7347"/>
                  <a:pt x="5633" y="7353"/>
                  <a:pt x="5625" y="7358"/>
                </a:cubicBezTo>
                <a:cubicBezTo>
                  <a:pt x="5617" y="7363"/>
                  <a:pt x="5608" y="7368"/>
                  <a:pt x="5599" y="7371"/>
                </a:cubicBezTo>
                <a:cubicBezTo>
                  <a:pt x="5591" y="7375"/>
                  <a:pt x="5582" y="7378"/>
                  <a:pt x="5572" y="7380"/>
                </a:cubicBezTo>
                <a:cubicBezTo>
                  <a:pt x="5563" y="7382"/>
                  <a:pt x="5553" y="7383"/>
                  <a:pt x="5544" y="7383"/>
                </a:cubicBezTo>
                <a:lnTo>
                  <a:pt x="145" y="7383"/>
                </a:lnTo>
                <a:cubicBezTo>
                  <a:pt x="136" y="7383"/>
                  <a:pt x="126" y="7382"/>
                  <a:pt x="117" y="7380"/>
                </a:cubicBezTo>
                <a:cubicBezTo>
                  <a:pt x="107" y="7378"/>
                  <a:pt x="98" y="7375"/>
                  <a:pt x="90" y="7371"/>
                </a:cubicBezTo>
                <a:cubicBezTo>
                  <a:pt x="81" y="7368"/>
                  <a:pt x="72" y="7363"/>
                  <a:pt x="64" y="7358"/>
                </a:cubicBezTo>
                <a:cubicBezTo>
                  <a:pt x="56" y="7353"/>
                  <a:pt x="49" y="7347"/>
                  <a:pt x="42" y="7340"/>
                </a:cubicBezTo>
                <a:cubicBezTo>
                  <a:pt x="36" y="7333"/>
                  <a:pt x="30" y="7326"/>
                  <a:pt x="24" y="7318"/>
                </a:cubicBezTo>
                <a:cubicBezTo>
                  <a:pt x="19" y="7310"/>
                  <a:pt x="14" y="7302"/>
                  <a:pt x="11" y="7293"/>
                </a:cubicBezTo>
                <a:cubicBezTo>
                  <a:pt x="7" y="7284"/>
                  <a:pt x="4" y="7275"/>
                  <a:pt x="3" y="7265"/>
                </a:cubicBezTo>
                <a:cubicBezTo>
                  <a:pt x="1" y="7256"/>
                  <a:pt x="0" y="7247"/>
                  <a:pt x="0" y="7237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" name=""/>
          <p:cNvSpPr/>
          <p:nvPr/>
        </p:nvSpPr>
        <p:spPr>
          <a:xfrm>
            <a:off x="9377280" y="2766960"/>
            <a:ext cx="2048040" cy="2657880"/>
          </a:xfrm>
          <a:custGeom>
            <a:avLst/>
            <a:gdLst/>
            <a:ahLst/>
            <a:rect l="0" t="0" r="r" b="b"/>
            <a:pathLst>
              <a:path fill="none" w="5689" h="7383">
                <a:moveTo>
                  <a:pt x="0" y="723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4" y="107"/>
                  <a:pt x="7" y="98"/>
                  <a:pt x="11" y="89"/>
                </a:cubicBezTo>
                <a:cubicBezTo>
                  <a:pt x="14" y="81"/>
                  <a:pt x="19" y="72"/>
                  <a:pt x="24" y="64"/>
                </a:cubicBezTo>
                <a:cubicBezTo>
                  <a:pt x="30" y="56"/>
                  <a:pt x="36" y="49"/>
                  <a:pt x="42" y="42"/>
                </a:cubicBezTo>
                <a:cubicBezTo>
                  <a:pt x="49" y="36"/>
                  <a:pt x="56" y="29"/>
                  <a:pt x="64" y="24"/>
                </a:cubicBezTo>
                <a:cubicBezTo>
                  <a:pt x="72" y="19"/>
                  <a:pt x="81" y="14"/>
                  <a:pt x="90" y="11"/>
                </a:cubicBezTo>
                <a:cubicBezTo>
                  <a:pt x="98" y="7"/>
                  <a:pt x="107" y="4"/>
                  <a:pt x="117" y="2"/>
                </a:cubicBezTo>
                <a:cubicBezTo>
                  <a:pt x="126" y="1"/>
                  <a:pt x="136" y="0"/>
                  <a:pt x="145" y="0"/>
                </a:cubicBezTo>
                <a:lnTo>
                  <a:pt x="5544" y="0"/>
                </a:lnTo>
                <a:cubicBezTo>
                  <a:pt x="5553" y="0"/>
                  <a:pt x="5563" y="1"/>
                  <a:pt x="5572" y="2"/>
                </a:cubicBezTo>
                <a:cubicBezTo>
                  <a:pt x="5582" y="4"/>
                  <a:pt x="5591" y="7"/>
                  <a:pt x="5599" y="11"/>
                </a:cubicBezTo>
                <a:cubicBezTo>
                  <a:pt x="5608" y="14"/>
                  <a:pt x="5617" y="19"/>
                  <a:pt x="5625" y="24"/>
                </a:cubicBezTo>
                <a:cubicBezTo>
                  <a:pt x="5633" y="29"/>
                  <a:pt x="5640" y="36"/>
                  <a:pt x="5647" y="42"/>
                </a:cubicBezTo>
                <a:cubicBezTo>
                  <a:pt x="5653" y="49"/>
                  <a:pt x="5659" y="56"/>
                  <a:pt x="5665" y="64"/>
                </a:cubicBezTo>
                <a:cubicBezTo>
                  <a:pt x="5670" y="72"/>
                  <a:pt x="5675" y="81"/>
                  <a:pt x="5678" y="89"/>
                </a:cubicBezTo>
                <a:cubicBezTo>
                  <a:pt x="5682" y="98"/>
                  <a:pt x="5685" y="107"/>
                  <a:pt x="5686" y="117"/>
                </a:cubicBezTo>
                <a:cubicBezTo>
                  <a:pt x="5688" y="126"/>
                  <a:pt x="5689" y="136"/>
                  <a:pt x="5689" y="145"/>
                </a:cubicBezTo>
                <a:lnTo>
                  <a:pt x="5689" y="7237"/>
                </a:lnTo>
                <a:cubicBezTo>
                  <a:pt x="5689" y="7247"/>
                  <a:pt x="5688" y="7256"/>
                  <a:pt x="5686" y="7265"/>
                </a:cubicBezTo>
                <a:cubicBezTo>
                  <a:pt x="5685" y="7275"/>
                  <a:pt x="5682" y="7284"/>
                  <a:pt x="5678" y="7293"/>
                </a:cubicBezTo>
                <a:cubicBezTo>
                  <a:pt x="5675" y="7302"/>
                  <a:pt x="5670" y="7310"/>
                  <a:pt x="5665" y="7318"/>
                </a:cubicBezTo>
                <a:cubicBezTo>
                  <a:pt x="5659" y="7326"/>
                  <a:pt x="5653" y="7333"/>
                  <a:pt x="5647" y="7340"/>
                </a:cubicBezTo>
                <a:cubicBezTo>
                  <a:pt x="5640" y="7347"/>
                  <a:pt x="5633" y="7353"/>
                  <a:pt x="5625" y="7358"/>
                </a:cubicBezTo>
                <a:cubicBezTo>
                  <a:pt x="5617" y="7363"/>
                  <a:pt x="5608" y="7368"/>
                  <a:pt x="5599" y="7371"/>
                </a:cubicBezTo>
                <a:cubicBezTo>
                  <a:pt x="5591" y="7375"/>
                  <a:pt x="5582" y="7378"/>
                  <a:pt x="5572" y="7380"/>
                </a:cubicBezTo>
                <a:cubicBezTo>
                  <a:pt x="5563" y="7382"/>
                  <a:pt x="5553" y="7383"/>
                  <a:pt x="5544" y="7383"/>
                </a:cubicBezTo>
                <a:lnTo>
                  <a:pt x="145" y="7383"/>
                </a:lnTo>
                <a:cubicBezTo>
                  <a:pt x="136" y="7383"/>
                  <a:pt x="126" y="7382"/>
                  <a:pt x="117" y="7380"/>
                </a:cubicBezTo>
                <a:cubicBezTo>
                  <a:pt x="107" y="7378"/>
                  <a:pt x="98" y="7375"/>
                  <a:pt x="90" y="7371"/>
                </a:cubicBezTo>
                <a:cubicBezTo>
                  <a:pt x="81" y="7368"/>
                  <a:pt x="72" y="7363"/>
                  <a:pt x="64" y="7358"/>
                </a:cubicBezTo>
                <a:cubicBezTo>
                  <a:pt x="56" y="7353"/>
                  <a:pt x="49" y="7347"/>
                  <a:pt x="42" y="7340"/>
                </a:cubicBezTo>
                <a:cubicBezTo>
                  <a:pt x="36" y="7333"/>
                  <a:pt x="30" y="7326"/>
                  <a:pt x="24" y="7318"/>
                </a:cubicBezTo>
                <a:cubicBezTo>
                  <a:pt x="19" y="7310"/>
                  <a:pt x="14" y="7302"/>
                  <a:pt x="11" y="7293"/>
                </a:cubicBezTo>
                <a:cubicBezTo>
                  <a:pt x="7" y="7284"/>
                  <a:pt x="4" y="7275"/>
                  <a:pt x="3" y="7265"/>
                </a:cubicBezTo>
                <a:cubicBezTo>
                  <a:pt x="1" y="7256"/>
                  <a:pt x="0" y="7247"/>
                  <a:pt x="0" y="7237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7661160" y="2969640"/>
            <a:ext cx="167616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Brainstorming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9534600" y="3652200"/>
            <a:ext cx="16246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Start from the end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9534600" y="3928320"/>
            <a:ext cx="15670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result and retrace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9534600" y="4204800"/>
            <a:ext cx="17600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the steps needed to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"/>
          <p:cNvSpPr/>
          <p:nvPr/>
        </p:nvSpPr>
        <p:spPr>
          <a:xfrm>
            <a:off x="9553320" y="3124080"/>
            <a:ext cx="190800" cy="190800"/>
          </a:xfrm>
          <a:custGeom>
            <a:avLst/>
            <a:gdLst/>
            <a:ahLst/>
            <a:rect l="0" t="0" r="r" b="b"/>
            <a:pathLst>
              <a:path fill="none" w="530" h="530">
                <a:moveTo>
                  <a:pt x="530" y="265"/>
                </a:moveTo>
                <a:cubicBezTo>
                  <a:pt x="530" y="283"/>
                  <a:pt x="529" y="300"/>
                  <a:pt x="525" y="317"/>
                </a:cubicBezTo>
                <a:cubicBezTo>
                  <a:pt x="522" y="334"/>
                  <a:pt x="517" y="351"/>
                  <a:pt x="510" y="367"/>
                </a:cubicBezTo>
                <a:cubicBezTo>
                  <a:pt x="504" y="383"/>
                  <a:pt x="495" y="398"/>
                  <a:pt x="486" y="412"/>
                </a:cubicBezTo>
                <a:cubicBezTo>
                  <a:pt x="476" y="427"/>
                  <a:pt x="465" y="440"/>
                  <a:pt x="453" y="453"/>
                </a:cubicBezTo>
                <a:cubicBezTo>
                  <a:pt x="441" y="465"/>
                  <a:pt x="427" y="476"/>
                  <a:pt x="413" y="485"/>
                </a:cubicBezTo>
                <a:cubicBezTo>
                  <a:pt x="398" y="495"/>
                  <a:pt x="383" y="503"/>
                  <a:pt x="367" y="510"/>
                </a:cubicBezTo>
                <a:cubicBezTo>
                  <a:pt x="351" y="517"/>
                  <a:pt x="334" y="522"/>
                  <a:pt x="317" y="525"/>
                </a:cubicBezTo>
                <a:cubicBezTo>
                  <a:pt x="300" y="528"/>
                  <a:pt x="283" y="530"/>
                  <a:pt x="266" y="530"/>
                </a:cubicBezTo>
                <a:cubicBezTo>
                  <a:pt x="248" y="530"/>
                  <a:pt x="231" y="528"/>
                  <a:pt x="214" y="525"/>
                </a:cubicBezTo>
                <a:cubicBezTo>
                  <a:pt x="197" y="522"/>
                  <a:pt x="181" y="517"/>
                  <a:pt x="164" y="510"/>
                </a:cubicBezTo>
                <a:cubicBezTo>
                  <a:pt x="147" y="503"/>
                  <a:pt x="132" y="495"/>
                  <a:pt x="118" y="485"/>
                </a:cubicBezTo>
                <a:cubicBezTo>
                  <a:pt x="103" y="476"/>
                  <a:pt x="90" y="465"/>
                  <a:pt x="78" y="453"/>
                </a:cubicBezTo>
                <a:cubicBezTo>
                  <a:pt x="65" y="440"/>
                  <a:pt x="54" y="427"/>
                  <a:pt x="45" y="412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4" y="351"/>
                  <a:pt x="9" y="334"/>
                  <a:pt x="5" y="317"/>
                </a:cubicBezTo>
                <a:cubicBezTo>
                  <a:pt x="2" y="300"/>
                  <a:pt x="0" y="283"/>
                  <a:pt x="0" y="265"/>
                </a:cubicBezTo>
                <a:cubicBezTo>
                  <a:pt x="0" y="248"/>
                  <a:pt x="2" y="231"/>
                  <a:pt x="5" y="214"/>
                </a:cubicBezTo>
                <a:cubicBezTo>
                  <a:pt x="9" y="197"/>
                  <a:pt x="14" y="180"/>
                  <a:pt x="20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4" y="104"/>
                  <a:pt x="65" y="91"/>
                  <a:pt x="78" y="78"/>
                </a:cubicBezTo>
                <a:cubicBezTo>
                  <a:pt x="90" y="66"/>
                  <a:pt x="103" y="55"/>
                  <a:pt x="118" y="44"/>
                </a:cubicBezTo>
                <a:cubicBezTo>
                  <a:pt x="132" y="35"/>
                  <a:pt x="147" y="27"/>
                  <a:pt x="164" y="20"/>
                </a:cubicBezTo>
                <a:cubicBezTo>
                  <a:pt x="181" y="13"/>
                  <a:pt x="197" y="8"/>
                  <a:pt x="214" y="5"/>
                </a:cubicBezTo>
                <a:cubicBezTo>
                  <a:pt x="231" y="2"/>
                  <a:pt x="248" y="0"/>
                  <a:pt x="266" y="0"/>
                </a:cubicBezTo>
                <a:cubicBezTo>
                  <a:pt x="283" y="0"/>
                  <a:pt x="300" y="2"/>
                  <a:pt x="317" y="5"/>
                </a:cubicBezTo>
                <a:cubicBezTo>
                  <a:pt x="334" y="8"/>
                  <a:pt x="351" y="13"/>
                  <a:pt x="367" y="20"/>
                </a:cubicBezTo>
                <a:cubicBezTo>
                  <a:pt x="383" y="27"/>
                  <a:pt x="398" y="35"/>
                  <a:pt x="413" y="44"/>
                </a:cubicBezTo>
                <a:cubicBezTo>
                  <a:pt x="427" y="55"/>
                  <a:pt x="441" y="66"/>
                  <a:pt x="453" y="78"/>
                </a:cubicBezTo>
                <a:cubicBezTo>
                  <a:pt x="465" y="91"/>
                  <a:pt x="476" y="104"/>
                  <a:pt x="486" y="118"/>
                </a:cubicBezTo>
                <a:cubicBezTo>
                  <a:pt x="495" y="133"/>
                  <a:pt x="504" y="148"/>
                  <a:pt x="510" y="164"/>
                </a:cubicBezTo>
                <a:cubicBezTo>
                  <a:pt x="517" y="180"/>
                  <a:pt x="522" y="197"/>
                  <a:pt x="525" y="214"/>
                </a:cubicBezTo>
                <a:cubicBezTo>
                  <a:pt x="529" y="231"/>
                  <a:pt x="530" y="248"/>
                  <a:pt x="530" y="265"/>
                </a:cubicBez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" name=""/>
          <p:cNvSpPr/>
          <p:nvPr/>
        </p:nvSpPr>
        <p:spPr>
          <a:xfrm>
            <a:off x="9648720" y="3181320"/>
            <a:ext cx="0" cy="75960"/>
          </a:xfrm>
          <a:custGeom>
            <a:avLst/>
            <a:gdLst/>
            <a:ahLst/>
            <a:rect l="0" t="0" r="r" b="b"/>
            <a:pathLst>
              <a:path fill="none" w="0" h="211">
                <a:moveTo>
                  <a:pt x="0" y="211"/>
                </a:moveTo>
                <a:lnTo>
                  <a:pt x="0" y="105"/>
                </a:lnTo>
                <a:moveTo>
                  <a:pt x="0" y="0"/>
                </a:move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9534600" y="4480920"/>
            <a:ext cx="8611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get there.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9813960" y="2969640"/>
            <a:ext cx="9770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Working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9813960" y="3255480"/>
            <a:ext cx="12618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Backwards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1238400" y="6569280"/>
            <a:ext cx="31820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0020e35 | © 08.10.2026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7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10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1" name=""/>
          <p:cNvSpPr txBox="1"/>
          <p:nvPr/>
        </p:nvSpPr>
        <p:spPr>
          <a:xfrm>
            <a:off x="762120" y="4966200"/>
            <a:ext cx="104626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These aren't mutually exclusive — the best solutions often combine several (e.g. break the problem down,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762120" y="5270760"/>
            <a:ext cx="50104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then run root cause analysis on one sub-problem).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3" name=""/>
          <p:cNvSpPr/>
          <p:nvPr/>
        </p:nvSpPr>
        <p:spPr>
          <a:xfrm>
            <a:off x="766440" y="2166840"/>
            <a:ext cx="2048400" cy="2648160"/>
          </a:xfrm>
          <a:custGeom>
            <a:avLst/>
            <a:gdLst/>
            <a:ahLst/>
            <a:rect l="0" t="0" r="r" b="b"/>
            <a:pathLst>
              <a:path w="5690" h="7356">
                <a:moveTo>
                  <a:pt x="0" y="721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5544" y="0"/>
                </a:lnTo>
                <a:cubicBezTo>
                  <a:pt x="5554" y="0"/>
                  <a:pt x="5563" y="1"/>
                  <a:pt x="5573" y="3"/>
                </a:cubicBezTo>
                <a:cubicBezTo>
                  <a:pt x="5582" y="4"/>
                  <a:pt x="5591" y="7"/>
                  <a:pt x="5600" y="11"/>
                </a:cubicBezTo>
                <a:cubicBezTo>
                  <a:pt x="5609" y="15"/>
                  <a:pt x="5617" y="19"/>
                  <a:pt x="5625" y="24"/>
                </a:cubicBezTo>
                <a:cubicBezTo>
                  <a:pt x="5633" y="30"/>
                  <a:pt x="5641" y="36"/>
                  <a:pt x="5647" y="42"/>
                </a:cubicBezTo>
                <a:cubicBezTo>
                  <a:pt x="5654" y="49"/>
                  <a:pt x="5660" y="56"/>
                  <a:pt x="5665" y="64"/>
                </a:cubicBezTo>
                <a:cubicBezTo>
                  <a:pt x="5671" y="72"/>
                  <a:pt x="5675" y="81"/>
                  <a:pt x="5679" y="90"/>
                </a:cubicBezTo>
                <a:cubicBezTo>
                  <a:pt x="5683" y="98"/>
                  <a:pt x="5685" y="108"/>
                  <a:pt x="5687" y="117"/>
                </a:cubicBezTo>
                <a:cubicBezTo>
                  <a:pt x="5689" y="126"/>
                  <a:pt x="5690" y="136"/>
                  <a:pt x="5690" y="145"/>
                </a:cubicBezTo>
                <a:lnTo>
                  <a:pt x="5690" y="7211"/>
                </a:lnTo>
                <a:cubicBezTo>
                  <a:pt x="5690" y="7220"/>
                  <a:pt x="5689" y="7230"/>
                  <a:pt x="5687" y="7239"/>
                </a:cubicBezTo>
                <a:cubicBezTo>
                  <a:pt x="5685" y="7248"/>
                  <a:pt x="5683" y="7258"/>
                  <a:pt x="5679" y="7266"/>
                </a:cubicBezTo>
                <a:cubicBezTo>
                  <a:pt x="5675" y="7275"/>
                  <a:pt x="5671" y="7284"/>
                  <a:pt x="5665" y="7292"/>
                </a:cubicBezTo>
                <a:cubicBezTo>
                  <a:pt x="5660" y="7299"/>
                  <a:pt x="5654" y="7307"/>
                  <a:pt x="5647" y="7314"/>
                </a:cubicBezTo>
                <a:cubicBezTo>
                  <a:pt x="5641" y="7320"/>
                  <a:pt x="5633" y="7326"/>
                  <a:pt x="5625" y="7332"/>
                </a:cubicBezTo>
                <a:cubicBezTo>
                  <a:pt x="5617" y="7337"/>
                  <a:pt x="5609" y="7341"/>
                  <a:pt x="5600" y="7345"/>
                </a:cubicBezTo>
                <a:cubicBezTo>
                  <a:pt x="5591" y="7349"/>
                  <a:pt x="5582" y="7352"/>
                  <a:pt x="5573" y="7353"/>
                </a:cubicBezTo>
                <a:cubicBezTo>
                  <a:pt x="5563" y="7355"/>
                  <a:pt x="5554" y="7356"/>
                  <a:pt x="5544" y="7356"/>
                </a:cubicBezTo>
                <a:lnTo>
                  <a:pt x="146" y="7356"/>
                </a:lnTo>
                <a:cubicBezTo>
                  <a:pt x="136" y="7356"/>
                  <a:pt x="127" y="7355"/>
                  <a:pt x="118" y="7353"/>
                </a:cubicBezTo>
                <a:cubicBezTo>
                  <a:pt x="108" y="7352"/>
                  <a:pt x="99" y="7349"/>
                  <a:pt x="90" y="7345"/>
                </a:cubicBezTo>
                <a:cubicBezTo>
                  <a:pt x="81" y="7341"/>
                  <a:pt x="73" y="7337"/>
                  <a:pt x="65" y="7332"/>
                </a:cubicBezTo>
                <a:cubicBezTo>
                  <a:pt x="57" y="7326"/>
                  <a:pt x="50" y="7320"/>
                  <a:pt x="43" y="7314"/>
                </a:cubicBezTo>
                <a:cubicBezTo>
                  <a:pt x="36" y="7307"/>
                  <a:pt x="30" y="7299"/>
                  <a:pt x="25" y="7292"/>
                </a:cubicBezTo>
                <a:cubicBezTo>
                  <a:pt x="20" y="7284"/>
                  <a:pt x="15" y="7275"/>
                  <a:pt x="11" y="7266"/>
                </a:cubicBezTo>
                <a:cubicBezTo>
                  <a:pt x="8" y="7258"/>
                  <a:pt x="5" y="7248"/>
                  <a:pt x="3" y="7239"/>
                </a:cubicBezTo>
                <a:cubicBezTo>
                  <a:pt x="1" y="7230"/>
                  <a:pt x="0" y="7220"/>
                  <a:pt x="0" y="7211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" name=""/>
          <p:cNvSpPr/>
          <p:nvPr/>
        </p:nvSpPr>
        <p:spPr>
          <a:xfrm>
            <a:off x="766440" y="2166840"/>
            <a:ext cx="2048400" cy="2648160"/>
          </a:xfrm>
          <a:custGeom>
            <a:avLst/>
            <a:gdLst/>
            <a:ahLst/>
            <a:rect l="0" t="0" r="r" b="b"/>
            <a:pathLst>
              <a:path fill="none" w="5690" h="7356">
                <a:moveTo>
                  <a:pt x="0" y="721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5544" y="0"/>
                </a:lnTo>
                <a:cubicBezTo>
                  <a:pt x="5554" y="0"/>
                  <a:pt x="5563" y="1"/>
                  <a:pt x="5573" y="3"/>
                </a:cubicBezTo>
                <a:cubicBezTo>
                  <a:pt x="5582" y="4"/>
                  <a:pt x="5591" y="7"/>
                  <a:pt x="5600" y="11"/>
                </a:cubicBezTo>
                <a:cubicBezTo>
                  <a:pt x="5609" y="15"/>
                  <a:pt x="5617" y="19"/>
                  <a:pt x="5625" y="24"/>
                </a:cubicBezTo>
                <a:cubicBezTo>
                  <a:pt x="5633" y="30"/>
                  <a:pt x="5641" y="36"/>
                  <a:pt x="5647" y="42"/>
                </a:cubicBezTo>
                <a:cubicBezTo>
                  <a:pt x="5654" y="49"/>
                  <a:pt x="5660" y="56"/>
                  <a:pt x="5665" y="64"/>
                </a:cubicBezTo>
                <a:cubicBezTo>
                  <a:pt x="5671" y="72"/>
                  <a:pt x="5675" y="81"/>
                  <a:pt x="5679" y="90"/>
                </a:cubicBezTo>
                <a:cubicBezTo>
                  <a:pt x="5683" y="98"/>
                  <a:pt x="5685" y="108"/>
                  <a:pt x="5687" y="117"/>
                </a:cubicBezTo>
                <a:cubicBezTo>
                  <a:pt x="5689" y="126"/>
                  <a:pt x="5690" y="136"/>
                  <a:pt x="5690" y="145"/>
                </a:cubicBezTo>
                <a:lnTo>
                  <a:pt x="5690" y="7211"/>
                </a:lnTo>
                <a:cubicBezTo>
                  <a:pt x="5690" y="7220"/>
                  <a:pt x="5689" y="7230"/>
                  <a:pt x="5687" y="7239"/>
                </a:cubicBezTo>
                <a:cubicBezTo>
                  <a:pt x="5685" y="7248"/>
                  <a:pt x="5683" y="7258"/>
                  <a:pt x="5679" y="7266"/>
                </a:cubicBezTo>
                <a:cubicBezTo>
                  <a:pt x="5675" y="7275"/>
                  <a:pt x="5671" y="7284"/>
                  <a:pt x="5665" y="7292"/>
                </a:cubicBezTo>
                <a:cubicBezTo>
                  <a:pt x="5660" y="7299"/>
                  <a:pt x="5654" y="7307"/>
                  <a:pt x="5647" y="7314"/>
                </a:cubicBezTo>
                <a:cubicBezTo>
                  <a:pt x="5641" y="7320"/>
                  <a:pt x="5633" y="7326"/>
                  <a:pt x="5625" y="7332"/>
                </a:cubicBezTo>
                <a:cubicBezTo>
                  <a:pt x="5617" y="7337"/>
                  <a:pt x="5609" y="7341"/>
                  <a:pt x="5600" y="7345"/>
                </a:cubicBezTo>
                <a:cubicBezTo>
                  <a:pt x="5591" y="7349"/>
                  <a:pt x="5582" y="7352"/>
                  <a:pt x="5573" y="7353"/>
                </a:cubicBezTo>
                <a:cubicBezTo>
                  <a:pt x="5563" y="7355"/>
                  <a:pt x="5554" y="7356"/>
                  <a:pt x="5544" y="7356"/>
                </a:cubicBezTo>
                <a:lnTo>
                  <a:pt x="146" y="7356"/>
                </a:lnTo>
                <a:cubicBezTo>
                  <a:pt x="136" y="7356"/>
                  <a:pt x="127" y="7355"/>
                  <a:pt x="118" y="7353"/>
                </a:cubicBezTo>
                <a:cubicBezTo>
                  <a:pt x="108" y="7352"/>
                  <a:pt x="99" y="7349"/>
                  <a:pt x="90" y="7345"/>
                </a:cubicBezTo>
                <a:cubicBezTo>
                  <a:pt x="81" y="7341"/>
                  <a:pt x="73" y="7337"/>
                  <a:pt x="65" y="7332"/>
                </a:cubicBezTo>
                <a:cubicBezTo>
                  <a:pt x="57" y="7326"/>
                  <a:pt x="50" y="7320"/>
                  <a:pt x="43" y="7314"/>
                </a:cubicBezTo>
                <a:cubicBezTo>
                  <a:pt x="36" y="7307"/>
                  <a:pt x="30" y="7299"/>
                  <a:pt x="25" y="7292"/>
                </a:cubicBezTo>
                <a:cubicBezTo>
                  <a:pt x="20" y="7284"/>
                  <a:pt x="15" y="7275"/>
                  <a:pt x="11" y="7266"/>
                </a:cubicBezTo>
                <a:cubicBezTo>
                  <a:pt x="8" y="7258"/>
                  <a:pt x="5" y="7248"/>
                  <a:pt x="3" y="7239"/>
                </a:cubicBezTo>
                <a:cubicBezTo>
                  <a:pt x="1" y="7230"/>
                  <a:pt x="0" y="7220"/>
                  <a:pt x="0" y="7211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661057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923760" y="3052080"/>
            <a:ext cx="11390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Abandon the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923760" y="3328200"/>
            <a:ext cx="12085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obvious path;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923760" y="3604680"/>
            <a:ext cx="15825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approach from an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923760" y="3880800"/>
            <a:ext cx="13582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unconventional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" name=""/>
          <p:cNvSpPr/>
          <p:nvPr/>
        </p:nvSpPr>
        <p:spPr>
          <a:xfrm>
            <a:off x="942840" y="2523960"/>
            <a:ext cx="190800" cy="190800"/>
          </a:xfrm>
          <a:custGeom>
            <a:avLst/>
            <a:gdLst/>
            <a:ahLst/>
            <a:rect l="0" t="0" r="r" b="b"/>
            <a:pathLst>
              <a:path fill="none" w="530" h="530">
                <a:moveTo>
                  <a:pt x="530" y="266"/>
                </a:moveTo>
                <a:cubicBezTo>
                  <a:pt x="530" y="283"/>
                  <a:pt x="528" y="300"/>
                  <a:pt x="525" y="317"/>
                </a:cubicBezTo>
                <a:cubicBezTo>
                  <a:pt x="522" y="334"/>
                  <a:pt x="517" y="351"/>
                  <a:pt x="510" y="367"/>
                </a:cubicBezTo>
                <a:cubicBezTo>
                  <a:pt x="503" y="383"/>
                  <a:pt x="495" y="398"/>
                  <a:pt x="485" y="413"/>
                </a:cubicBezTo>
                <a:cubicBezTo>
                  <a:pt x="476" y="427"/>
                  <a:pt x="465" y="440"/>
                  <a:pt x="453" y="453"/>
                </a:cubicBezTo>
                <a:cubicBezTo>
                  <a:pt x="440" y="465"/>
                  <a:pt x="427" y="476"/>
                  <a:pt x="412" y="486"/>
                </a:cubicBezTo>
                <a:cubicBezTo>
                  <a:pt x="398" y="495"/>
                  <a:pt x="383" y="503"/>
                  <a:pt x="367" y="510"/>
                </a:cubicBezTo>
                <a:cubicBezTo>
                  <a:pt x="351" y="517"/>
                  <a:pt x="334" y="522"/>
                  <a:pt x="317" y="525"/>
                </a:cubicBezTo>
                <a:cubicBezTo>
                  <a:pt x="300" y="528"/>
                  <a:pt x="282" y="530"/>
                  <a:pt x="264" y="530"/>
                </a:cubicBezTo>
                <a:cubicBezTo>
                  <a:pt x="247" y="530"/>
                  <a:pt x="230" y="528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3"/>
                  <a:pt x="132" y="495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0"/>
                  <a:pt x="54" y="427"/>
                  <a:pt x="44" y="413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3" y="351"/>
                  <a:pt x="8" y="334"/>
                  <a:pt x="5" y="317"/>
                </a:cubicBezTo>
                <a:cubicBezTo>
                  <a:pt x="2" y="300"/>
                  <a:pt x="0" y="283"/>
                  <a:pt x="0" y="266"/>
                </a:cubicBezTo>
                <a:cubicBezTo>
                  <a:pt x="0" y="248"/>
                  <a:pt x="2" y="231"/>
                  <a:pt x="5" y="214"/>
                </a:cubicBezTo>
                <a:cubicBezTo>
                  <a:pt x="8" y="197"/>
                  <a:pt x="13" y="180"/>
                  <a:pt x="20" y="164"/>
                </a:cubicBezTo>
                <a:cubicBezTo>
                  <a:pt x="27" y="148"/>
                  <a:pt x="35" y="133"/>
                  <a:pt x="44" y="118"/>
                </a:cubicBezTo>
                <a:cubicBezTo>
                  <a:pt x="54" y="103"/>
                  <a:pt x="65" y="90"/>
                  <a:pt x="77" y="77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2"/>
                  <a:pt x="247" y="0"/>
                  <a:pt x="264" y="0"/>
                </a:cubicBezTo>
                <a:cubicBezTo>
                  <a:pt x="282" y="0"/>
                  <a:pt x="300" y="2"/>
                  <a:pt x="317" y="5"/>
                </a:cubicBezTo>
                <a:cubicBezTo>
                  <a:pt x="334" y="8"/>
                  <a:pt x="351" y="13"/>
                  <a:pt x="367" y="20"/>
                </a:cubicBezTo>
                <a:cubicBezTo>
                  <a:pt x="383" y="27"/>
                  <a:pt x="398" y="35"/>
                  <a:pt x="412" y="45"/>
                </a:cubicBezTo>
                <a:cubicBezTo>
                  <a:pt x="427" y="54"/>
                  <a:pt x="440" y="65"/>
                  <a:pt x="453" y="77"/>
                </a:cubicBezTo>
                <a:cubicBezTo>
                  <a:pt x="465" y="90"/>
                  <a:pt x="476" y="103"/>
                  <a:pt x="485" y="118"/>
                </a:cubicBezTo>
                <a:cubicBezTo>
                  <a:pt x="495" y="133"/>
                  <a:pt x="503" y="148"/>
                  <a:pt x="510" y="164"/>
                </a:cubicBezTo>
                <a:cubicBezTo>
                  <a:pt x="517" y="180"/>
                  <a:pt x="522" y="197"/>
                  <a:pt x="525" y="214"/>
                </a:cubicBezTo>
                <a:cubicBezTo>
                  <a:pt x="528" y="231"/>
                  <a:pt x="530" y="248"/>
                  <a:pt x="530" y="266"/>
                </a:cubicBez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" name=""/>
          <p:cNvSpPr/>
          <p:nvPr/>
        </p:nvSpPr>
        <p:spPr>
          <a:xfrm>
            <a:off x="1037880" y="2581200"/>
            <a:ext cx="360" cy="75960"/>
          </a:xfrm>
          <a:custGeom>
            <a:avLst/>
            <a:gdLst/>
            <a:ahLst/>
            <a:rect l="0" t="0" r="r" b="b"/>
            <a:pathLst>
              <a:path fill="none" w="1" h="211">
                <a:moveTo>
                  <a:pt x="0" y="211"/>
                </a:moveTo>
                <a:lnTo>
                  <a:pt x="0" y="106"/>
                </a:lnTo>
                <a:moveTo>
                  <a:pt x="0" y="0"/>
                </a:moveTo>
                <a:lnTo>
                  <a:pt x="1" y="0"/>
                </a:ln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923760" y="4156920"/>
            <a:ext cx="5418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angle.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1203120" y="2369880"/>
            <a:ext cx="8071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Lateral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" name=""/>
          <p:cNvSpPr/>
          <p:nvPr/>
        </p:nvSpPr>
        <p:spPr>
          <a:xfrm>
            <a:off x="2919240" y="2166840"/>
            <a:ext cx="2048400" cy="2648160"/>
          </a:xfrm>
          <a:custGeom>
            <a:avLst/>
            <a:gdLst/>
            <a:ahLst/>
            <a:rect l="0" t="0" r="r" b="b"/>
            <a:pathLst>
              <a:path w="5690" h="7356">
                <a:moveTo>
                  <a:pt x="0" y="721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5544" y="0"/>
                </a:lnTo>
                <a:cubicBezTo>
                  <a:pt x="5554" y="0"/>
                  <a:pt x="5563" y="1"/>
                  <a:pt x="5572" y="3"/>
                </a:cubicBezTo>
                <a:cubicBezTo>
                  <a:pt x="5582" y="4"/>
                  <a:pt x="5591" y="7"/>
                  <a:pt x="5600" y="11"/>
                </a:cubicBezTo>
                <a:cubicBezTo>
                  <a:pt x="5609" y="15"/>
                  <a:pt x="5617" y="19"/>
                  <a:pt x="5625" y="24"/>
                </a:cubicBezTo>
                <a:cubicBezTo>
                  <a:pt x="5633" y="30"/>
                  <a:pt x="5640" y="36"/>
                  <a:pt x="5647" y="42"/>
                </a:cubicBezTo>
                <a:cubicBezTo>
                  <a:pt x="5654" y="49"/>
                  <a:pt x="5660" y="56"/>
                  <a:pt x="5665" y="64"/>
                </a:cubicBezTo>
                <a:cubicBezTo>
                  <a:pt x="5670" y="72"/>
                  <a:pt x="5675" y="81"/>
                  <a:pt x="5678" y="90"/>
                </a:cubicBezTo>
                <a:cubicBezTo>
                  <a:pt x="5682" y="98"/>
                  <a:pt x="5685" y="108"/>
                  <a:pt x="5687" y="117"/>
                </a:cubicBezTo>
                <a:cubicBezTo>
                  <a:pt x="5689" y="126"/>
                  <a:pt x="5690" y="136"/>
                  <a:pt x="5690" y="145"/>
                </a:cubicBezTo>
                <a:lnTo>
                  <a:pt x="5690" y="7211"/>
                </a:lnTo>
                <a:cubicBezTo>
                  <a:pt x="5690" y="7220"/>
                  <a:pt x="5689" y="7230"/>
                  <a:pt x="5687" y="7239"/>
                </a:cubicBezTo>
                <a:cubicBezTo>
                  <a:pt x="5685" y="7248"/>
                  <a:pt x="5682" y="7258"/>
                  <a:pt x="5678" y="7266"/>
                </a:cubicBezTo>
                <a:cubicBezTo>
                  <a:pt x="5675" y="7275"/>
                  <a:pt x="5670" y="7284"/>
                  <a:pt x="5665" y="7292"/>
                </a:cubicBezTo>
                <a:cubicBezTo>
                  <a:pt x="5660" y="7299"/>
                  <a:pt x="5654" y="7307"/>
                  <a:pt x="5647" y="7314"/>
                </a:cubicBezTo>
                <a:cubicBezTo>
                  <a:pt x="5640" y="7320"/>
                  <a:pt x="5633" y="7326"/>
                  <a:pt x="5625" y="7332"/>
                </a:cubicBezTo>
                <a:cubicBezTo>
                  <a:pt x="5617" y="7337"/>
                  <a:pt x="5609" y="7341"/>
                  <a:pt x="5600" y="7345"/>
                </a:cubicBezTo>
                <a:cubicBezTo>
                  <a:pt x="5591" y="7349"/>
                  <a:pt x="5582" y="7352"/>
                  <a:pt x="5572" y="7353"/>
                </a:cubicBezTo>
                <a:cubicBezTo>
                  <a:pt x="5563" y="7355"/>
                  <a:pt x="5554" y="7356"/>
                  <a:pt x="5544" y="7356"/>
                </a:cubicBezTo>
                <a:lnTo>
                  <a:pt x="145" y="7356"/>
                </a:lnTo>
                <a:cubicBezTo>
                  <a:pt x="136" y="7356"/>
                  <a:pt x="126" y="7355"/>
                  <a:pt x="117" y="7353"/>
                </a:cubicBezTo>
                <a:cubicBezTo>
                  <a:pt x="108" y="7352"/>
                  <a:pt x="99" y="7349"/>
                  <a:pt x="90" y="7345"/>
                </a:cubicBezTo>
                <a:cubicBezTo>
                  <a:pt x="81" y="7341"/>
                  <a:pt x="73" y="7337"/>
                  <a:pt x="65" y="7332"/>
                </a:cubicBezTo>
                <a:cubicBezTo>
                  <a:pt x="57" y="7326"/>
                  <a:pt x="49" y="7320"/>
                  <a:pt x="43" y="7314"/>
                </a:cubicBezTo>
                <a:cubicBezTo>
                  <a:pt x="36" y="7307"/>
                  <a:pt x="30" y="7299"/>
                  <a:pt x="25" y="7292"/>
                </a:cubicBezTo>
                <a:cubicBezTo>
                  <a:pt x="19" y="7284"/>
                  <a:pt x="15" y="7275"/>
                  <a:pt x="11" y="7266"/>
                </a:cubicBezTo>
                <a:cubicBezTo>
                  <a:pt x="7" y="7258"/>
                  <a:pt x="5" y="7248"/>
                  <a:pt x="3" y="7239"/>
                </a:cubicBezTo>
                <a:cubicBezTo>
                  <a:pt x="1" y="7230"/>
                  <a:pt x="0" y="7220"/>
                  <a:pt x="0" y="7211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" name=""/>
          <p:cNvSpPr/>
          <p:nvPr/>
        </p:nvSpPr>
        <p:spPr>
          <a:xfrm>
            <a:off x="2919240" y="2166840"/>
            <a:ext cx="2048400" cy="2648160"/>
          </a:xfrm>
          <a:custGeom>
            <a:avLst/>
            <a:gdLst/>
            <a:ahLst/>
            <a:rect l="0" t="0" r="r" b="b"/>
            <a:pathLst>
              <a:path fill="none" w="5690" h="7356">
                <a:moveTo>
                  <a:pt x="0" y="721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5544" y="0"/>
                </a:lnTo>
                <a:cubicBezTo>
                  <a:pt x="5554" y="0"/>
                  <a:pt x="5563" y="1"/>
                  <a:pt x="5572" y="3"/>
                </a:cubicBezTo>
                <a:cubicBezTo>
                  <a:pt x="5582" y="4"/>
                  <a:pt x="5591" y="7"/>
                  <a:pt x="5600" y="11"/>
                </a:cubicBezTo>
                <a:cubicBezTo>
                  <a:pt x="5609" y="15"/>
                  <a:pt x="5617" y="19"/>
                  <a:pt x="5625" y="24"/>
                </a:cubicBezTo>
                <a:cubicBezTo>
                  <a:pt x="5633" y="30"/>
                  <a:pt x="5640" y="36"/>
                  <a:pt x="5647" y="42"/>
                </a:cubicBezTo>
                <a:cubicBezTo>
                  <a:pt x="5654" y="49"/>
                  <a:pt x="5660" y="56"/>
                  <a:pt x="5665" y="64"/>
                </a:cubicBezTo>
                <a:cubicBezTo>
                  <a:pt x="5670" y="72"/>
                  <a:pt x="5675" y="81"/>
                  <a:pt x="5678" y="90"/>
                </a:cubicBezTo>
                <a:cubicBezTo>
                  <a:pt x="5682" y="98"/>
                  <a:pt x="5685" y="108"/>
                  <a:pt x="5687" y="117"/>
                </a:cubicBezTo>
                <a:cubicBezTo>
                  <a:pt x="5689" y="126"/>
                  <a:pt x="5690" y="136"/>
                  <a:pt x="5690" y="145"/>
                </a:cubicBezTo>
                <a:lnTo>
                  <a:pt x="5690" y="7211"/>
                </a:lnTo>
                <a:cubicBezTo>
                  <a:pt x="5690" y="7220"/>
                  <a:pt x="5689" y="7230"/>
                  <a:pt x="5687" y="7239"/>
                </a:cubicBezTo>
                <a:cubicBezTo>
                  <a:pt x="5685" y="7248"/>
                  <a:pt x="5682" y="7258"/>
                  <a:pt x="5678" y="7266"/>
                </a:cubicBezTo>
                <a:cubicBezTo>
                  <a:pt x="5675" y="7275"/>
                  <a:pt x="5670" y="7284"/>
                  <a:pt x="5665" y="7292"/>
                </a:cubicBezTo>
                <a:cubicBezTo>
                  <a:pt x="5660" y="7299"/>
                  <a:pt x="5654" y="7307"/>
                  <a:pt x="5647" y="7314"/>
                </a:cubicBezTo>
                <a:cubicBezTo>
                  <a:pt x="5640" y="7320"/>
                  <a:pt x="5633" y="7326"/>
                  <a:pt x="5625" y="7332"/>
                </a:cubicBezTo>
                <a:cubicBezTo>
                  <a:pt x="5617" y="7337"/>
                  <a:pt x="5609" y="7341"/>
                  <a:pt x="5600" y="7345"/>
                </a:cubicBezTo>
                <a:cubicBezTo>
                  <a:pt x="5591" y="7349"/>
                  <a:pt x="5582" y="7352"/>
                  <a:pt x="5572" y="7353"/>
                </a:cubicBezTo>
                <a:cubicBezTo>
                  <a:pt x="5563" y="7355"/>
                  <a:pt x="5554" y="7356"/>
                  <a:pt x="5544" y="7356"/>
                </a:cubicBezTo>
                <a:lnTo>
                  <a:pt x="145" y="7356"/>
                </a:lnTo>
                <a:cubicBezTo>
                  <a:pt x="136" y="7356"/>
                  <a:pt x="126" y="7355"/>
                  <a:pt x="117" y="7353"/>
                </a:cubicBezTo>
                <a:cubicBezTo>
                  <a:pt x="108" y="7352"/>
                  <a:pt x="99" y="7349"/>
                  <a:pt x="90" y="7345"/>
                </a:cubicBezTo>
                <a:cubicBezTo>
                  <a:pt x="81" y="7341"/>
                  <a:pt x="73" y="7337"/>
                  <a:pt x="65" y="7332"/>
                </a:cubicBezTo>
                <a:cubicBezTo>
                  <a:pt x="57" y="7326"/>
                  <a:pt x="49" y="7320"/>
                  <a:pt x="43" y="7314"/>
                </a:cubicBezTo>
                <a:cubicBezTo>
                  <a:pt x="36" y="7307"/>
                  <a:pt x="30" y="7299"/>
                  <a:pt x="25" y="7292"/>
                </a:cubicBezTo>
                <a:cubicBezTo>
                  <a:pt x="19" y="7284"/>
                  <a:pt x="15" y="7275"/>
                  <a:pt x="11" y="7266"/>
                </a:cubicBezTo>
                <a:cubicBezTo>
                  <a:pt x="7" y="7258"/>
                  <a:pt x="5" y="7248"/>
                  <a:pt x="3" y="7239"/>
                </a:cubicBezTo>
                <a:cubicBezTo>
                  <a:pt x="1" y="7230"/>
                  <a:pt x="0" y="7220"/>
                  <a:pt x="0" y="7211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1203120" y="2655360"/>
            <a:ext cx="10530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Thinking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3076560" y="3052080"/>
            <a:ext cx="9046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Strengths,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3076560" y="3328200"/>
            <a:ext cx="11217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Weaknesses,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3076560" y="3604680"/>
            <a:ext cx="12826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Opportunities,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3076560" y="3880800"/>
            <a:ext cx="16005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Threats — a four-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3076560" y="4156920"/>
            <a:ext cx="12772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angle decision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" name=""/>
          <p:cNvSpPr/>
          <p:nvPr/>
        </p:nvSpPr>
        <p:spPr>
          <a:xfrm>
            <a:off x="3095280" y="2523960"/>
            <a:ext cx="191160" cy="190800"/>
          </a:xfrm>
          <a:custGeom>
            <a:avLst/>
            <a:gdLst/>
            <a:ahLst/>
            <a:rect l="0" t="0" r="r" b="b"/>
            <a:pathLst>
              <a:path fill="none" w="531" h="530">
                <a:moveTo>
                  <a:pt x="531" y="266"/>
                </a:moveTo>
                <a:cubicBezTo>
                  <a:pt x="531" y="283"/>
                  <a:pt x="529" y="300"/>
                  <a:pt x="526" y="317"/>
                </a:cubicBezTo>
                <a:cubicBezTo>
                  <a:pt x="522" y="334"/>
                  <a:pt x="517" y="351"/>
                  <a:pt x="510" y="367"/>
                </a:cubicBezTo>
                <a:cubicBezTo>
                  <a:pt x="504" y="383"/>
                  <a:pt x="496" y="398"/>
                  <a:pt x="486" y="413"/>
                </a:cubicBezTo>
                <a:cubicBezTo>
                  <a:pt x="476" y="427"/>
                  <a:pt x="465" y="440"/>
                  <a:pt x="453" y="453"/>
                </a:cubicBezTo>
                <a:cubicBezTo>
                  <a:pt x="441" y="465"/>
                  <a:pt x="427" y="476"/>
                  <a:pt x="413" y="486"/>
                </a:cubicBezTo>
                <a:cubicBezTo>
                  <a:pt x="399" y="495"/>
                  <a:pt x="383" y="503"/>
                  <a:pt x="367" y="510"/>
                </a:cubicBezTo>
                <a:cubicBezTo>
                  <a:pt x="351" y="517"/>
                  <a:pt x="335" y="522"/>
                  <a:pt x="318" y="525"/>
                </a:cubicBezTo>
                <a:cubicBezTo>
                  <a:pt x="301" y="528"/>
                  <a:pt x="283" y="530"/>
                  <a:pt x="266" y="530"/>
                </a:cubicBezTo>
                <a:cubicBezTo>
                  <a:pt x="249" y="530"/>
                  <a:pt x="231" y="528"/>
                  <a:pt x="214" y="525"/>
                </a:cubicBezTo>
                <a:cubicBezTo>
                  <a:pt x="197" y="522"/>
                  <a:pt x="181" y="517"/>
                  <a:pt x="165" y="510"/>
                </a:cubicBezTo>
                <a:cubicBezTo>
                  <a:pt x="149" y="503"/>
                  <a:pt x="133" y="495"/>
                  <a:pt x="118" y="486"/>
                </a:cubicBezTo>
                <a:cubicBezTo>
                  <a:pt x="104" y="476"/>
                  <a:pt x="90" y="465"/>
                  <a:pt x="78" y="453"/>
                </a:cubicBezTo>
                <a:cubicBezTo>
                  <a:pt x="66" y="440"/>
                  <a:pt x="55" y="427"/>
                  <a:pt x="45" y="413"/>
                </a:cubicBezTo>
                <a:cubicBezTo>
                  <a:pt x="35" y="398"/>
                  <a:pt x="27" y="383"/>
                  <a:pt x="21" y="367"/>
                </a:cubicBezTo>
                <a:cubicBezTo>
                  <a:pt x="14" y="351"/>
                  <a:pt x="9" y="334"/>
                  <a:pt x="6" y="317"/>
                </a:cubicBezTo>
                <a:cubicBezTo>
                  <a:pt x="2" y="300"/>
                  <a:pt x="0" y="283"/>
                  <a:pt x="0" y="266"/>
                </a:cubicBez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9" y="27"/>
                  <a:pt x="165" y="20"/>
                </a:cubicBezTo>
                <a:cubicBezTo>
                  <a:pt x="181" y="13"/>
                  <a:pt x="197" y="8"/>
                  <a:pt x="214" y="5"/>
                </a:cubicBezTo>
                <a:cubicBezTo>
                  <a:pt x="231" y="2"/>
                  <a:pt x="249" y="0"/>
                  <a:pt x="266" y="0"/>
                </a:cubicBezTo>
                <a:cubicBezTo>
                  <a:pt x="283" y="0"/>
                  <a:pt x="301" y="2"/>
                  <a:pt x="318" y="5"/>
                </a:cubicBezTo>
                <a:cubicBezTo>
                  <a:pt x="335" y="8"/>
                  <a:pt x="351" y="13"/>
                  <a:pt x="367" y="20"/>
                </a:cubicBezTo>
                <a:cubicBezTo>
                  <a:pt x="383" y="27"/>
                  <a:pt x="399" y="35"/>
                  <a:pt x="413" y="45"/>
                </a:cubicBezTo>
                <a:cubicBezTo>
                  <a:pt x="427" y="54"/>
                  <a:pt x="441" y="65"/>
                  <a:pt x="453" y="77"/>
                </a:cubicBezTo>
                <a:cubicBezTo>
                  <a:pt x="465" y="90"/>
                  <a:pt x="476" y="103"/>
                  <a:pt x="486" y="118"/>
                </a:cubicBezTo>
                <a:cubicBezTo>
                  <a:pt x="496" y="133"/>
                  <a:pt x="504" y="148"/>
                  <a:pt x="510" y="164"/>
                </a:cubicBezTo>
                <a:cubicBezTo>
                  <a:pt x="517" y="180"/>
                  <a:pt x="522" y="197"/>
                  <a:pt x="526" y="214"/>
                </a:cubicBezTo>
                <a:cubicBezTo>
                  <a:pt x="529" y="231"/>
                  <a:pt x="531" y="248"/>
                  <a:pt x="531" y="266"/>
                </a:cubicBez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" name=""/>
          <p:cNvSpPr/>
          <p:nvPr/>
        </p:nvSpPr>
        <p:spPr>
          <a:xfrm>
            <a:off x="3190680" y="2581200"/>
            <a:ext cx="0" cy="75960"/>
          </a:xfrm>
          <a:custGeom>
            <a:avLst/>
            <a:gdLst/>
            <a:ahLst/>
            <a:rect l="0" t="0" r="r" b="b"/>
            <a:pathLst>
              <a:path fill="none" w="0" h="211">
                <a:moveTo>
                  <a:pt x="0" y="211"/>
                </a:moveTo>
                <a:lnTo>
                  <a:pt x="0" y="106"/>
                </a:lnTo>
                <a:moveTo>
                  <a:pt x="0" y="0"/>
                </a:move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3076560" y="4423680"/>
            <a:ext cx="10090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framework.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3355920" y="2369880"/>
            <a:ext cx="6840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SWOT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" name=""/>
          <p:cNvSpPr/>
          <p:nvPr/>
        </p:nvSpPr>
        <p:spPr>
          <a:xfrm>
            <a:off x="5072040" y="2166840"/>
            <a:ext cx="2048040" cy="2648160"/>
          </a:xfrm>
          <a:custGeom>
            <a:avLst/>
            <a:gdLst/>
            <a:ahLst/>
            <a:rect l="0" t="0" r="r" b="b"/>
            <a:pathLst>
              <a:path w="5689" h="7356">
                <a:moveTo>
                  <a:pt x="0" y="7211"/>
                </a:moveTo>
                <a:lnTo>
                  <a:pt x="0" y="145"/>
                </a:lnTo>
                <a:cubicBezTo>
                  <a:pt x="0" y="136"/>
                  <a:pt x="0" y="126"/>
                  <a:pt x="2" y="117"/>
                </a:cubicBezTo>
                <a:cubicBezTo>
                  <a:pt x="4" y="108"/>
                  <a:pt x="7" y="98"/>
                  <a:pt x="11" y="90"/>
                </a:cubicBezTo>
                <a:cubicBezTo>
                  <a:pt x="14" y="81"/>
                  <a:pt x="19" y="72"/>
                  <a:pt x="24" y="64"/>
                </a:cubicBezTo>
                <a:cubicBezTo>
                  <a:pt x="29" y="56"/>
                  <a:pt x="35" y="49"/>
                  <a:pt x="42" y="42"/>
                </a:cubicBezTo>
                <a:cubicBezTo>
                  <a:pt x="49" y="36"/>
                  <a:pt x="56" y="30"/>
                  <a:pt x="64" y="24"/>
                </a:cubicBezTo>
                <a:cubicBezTo>
                  <a:pt x="72" y="19"/>
                  <a:pt x="81" y="15"/>
                  <a:pt x="89" y="11"/>
                </a:cubicBezTo>
                <a:cubicBezTo>
                  <a:pt x="98" y="7"/>
                  <a:pt x="107" y="4"/>
                  <a:pt x="117" y="3"/>
                </a:cubicBezTo>
                <a:cubicBezTo>
                  <a:pt x="126" y="1"/>
                  <a:pt x="137" y="0"/>
                  <a:pt x="146" y="0"/>
                </a:cubicBezTo>
                <a:lnTo>
                  <a:pt x="5544" y="0"/>
                </a:lnTo>
                <a:cubicBezTo>
                  <a:pt x="5553" y="0"/>
                  <a:pt x="5563" y="1"/>
                  <a:pt x="5572" y="3"/>
                </a:cubicBezTo>
                <a:cubicBezTo>
                  <a:pt x="5581" y="4"/>
                  <a:pt x="5590" y="7"/>
                  <a:pt x="5599" y="11"/>
                </a:cubicBezTo>
                <a:cubicBezTo>
                  <a:pt x="5608" y="15"/>
                  <a:pt x="5616" y="19"/>
                  <a:pt x="5624" y="24"/>
                </a:cubicBezTo>
                <a:cubicBezTo>
                  <a:pt x="5632" y="30"/>
                  <a:pt x="5640" y="36"/>
                  <a:pt x="5646" y="42"/>
                </a:cubicBezTo>
                <a:cubicBezTo>
                  <a:pt x="5653" y="49"/>
                  <a:pt x="5659" y="56"/>
                  <a:pt x="5665" y="64"/>
                </a:cubicBezTo>
                <a:cubicBezTo>
                  <a:pt x="5670" y="72"/>
                  <a:pt x="5674" y="81"/>
                  <a:pt x="5678" y="90"/>
                </a:cubicBezTo>
                <a:cubicBezTo>
                  <a:pt x="5682" y="98"/>
                  <a:pt x="5684" y="108"/>
                  <a:pt x="5686" y="117"/>
                </a:cubicBezTo>
                <a:cubicBezTo>
                  <a:pt x="5688" y="126"/>
                  <a:pt x="5689" y="136"/>
                  <a:pt x="5689" y="145"/>
                </a:cubicBezTo>
                <a:lnTo>
                  <a:pt x="5689" y="7211"/>
                </a:lnTo>
                <a:cubicBezTo>
                  <a:pt x="5689" y="7220"/>
                  <a:pt x="5688" y="7230"/>
                  <a:pt x="5686" y="7239"/>
                </a:cubicBezTo>
                <a:cubicBezTo>
                  <a:pt x="5684" y="7248"/>
                  <a:pt x="5682" y="7258"/>
                  <a:pt x="5678" y="7266"/>
                </a:cubicBezTo>
                <a:cubicBezTo>
                  <a:pt x="5674" y="7275"/>
                  <a:pt x="5670" y="7284"/>
                  <a:pt x="5665" y="7292"/>
                </a:cubicBezTo>
                <a:cubicBezTo>
                  <a:pt x="5659" y="7299"/>
                  <a:pt x="5653" y="7307"/>
                  <a:pt x="5646" y="7314"/>
                </a:cubicBezTo>
                <a:cubicBezTo>
                  <a:pt x="5640" y="7320"/>
                  <a:pt x="5632" y="7326"/>
                  <a:pt x="5624" y="7332"/>
                </a:cubicBezTo>
                <a:cubicBezTo>
                  <a:pt x="5616" y="7337"/>
                  <a:pt x="5608" y="7341"/>
                  <a:pt x="5599" y="7345"/>
                </a:cubicBezTo>
                <a:cubicBezTo>
                  <a:pt x="5590" y="7349"/>
                  <a:pt x="5581" y="7352"/>
                  <a:pt x="5572" y="7353"/>
                </a:cubicBezTo>
                <a:cubicBezTo>
                  <a:pt x="5563" y="7355"/>
                  <a:pt x="5553" y="7356"/>
                  <a:pt x="5544" y="7356"/>
                </a:cubicBezTo>
                <a:lnTo>
                  <a:pt x="146" y="7356"/>
                </a:lnTo>
                <a:cubicBezTo>
                  <a:pt x="137" y="7356"/>
                  <a:pt x="126" y="7355"/>
                  <a:pt x="117" y="7353"/>
                </a:cubicBezTo>
                <a:cubicBezTo>
                  <a:pt x="107" y="7352"/>
                  <a:pt x="98" y="7349"/>
                  <a:pt x="89" y="7345"/>
                </a:cubicBezTo>
                <a:cubicBezTo>
                  <a:pt x="81" y="7341"/>
                  <a:pt x="72" y="7337"/>
                  <a:pt x="64" y="7332"/>
                </a:cubicBezTo>
                <a:cubicBezTo>
                  <a:pt x="56" y="7326"/>
                  <a:pt x="49" y="7320"/>
                  <a:pt x="42" y="7314"/>
                </a:cubicBezTo>
                <a:cubicBezTo>
                  <a:pt x="35" y="7307"/>
                  <a:pt x="29" y="7299"/>
                  <a:pt x="24" y="7292"/>
                </a:cubicBezTo>
                <a:cubicBezTo>
                  <a:pt x="19" y="7284"/>
                  <a:pt x="14" y="7275"/>
                  <a:pt x="11" y="7266"/>
                </a:cubicBezTo>
                <a:cubicBezTo>
                  <a:pt x="7" y="7258"/>
                  <a:pt x="4" y="7248"/>
                  <a:pt x="2" y="7239"/>
                </a:cubicBezTo>
                <a:cubicBezTo>
                  <a:pt x="0" y="7230"/>
                  <a:pt x="0" y="7220"/>
                  <a:pt x="0" y="7211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" name=""/>
          <p:cNvSpPr/>
          <p:nvPr/>
        </p:nvSpPr>
        <p:spPr>
          <a:xfrm>
            <a:off x="5072040" y="2166840"/>
            <a:ext cx="2048040" cy="2648160"/>
          </a:xfrm>
          <a:custGeom>
            <a:avLst/>
            <a:gdLst/>
            <a:ahLst/>
            <a:rect l="0" t="0" r="r" b="b"/>
            <a:pathLst>
              <a:path fill="none" w="5689" h="7356">
                <a:moveTo>
                  <a:pt x="0" y="7211"/>
                </a:moveTo>
                <a:lnTo>
                  <a:pt x="0" y="145"/>
                </a:lnTo>
                <a:cubicBezTo>
                  <a:pt x="0" y="136"/>
                  <a:pt x="0" y="126"/>
                  <a:pt x="2" y="117"/>
                </a:cubicBezTo>
                <a:cubicBezTo>
                  <a:pt x="4" y="108"/>
                  <a:pt x="7" y="98"/>
                  <a:pt x="11" y="90"/>
                </a:cubicBezTo>
                <a:cubicBezTo>
                  <a:pt x="14" y="81"/>
                  <a:pt x="19" y="72"/>
                  <a:pt x="24" y="64"/>
                </a:cubicBezTo>
                <a:cubicBezTo>
                  <a:pt x="29" y="56"/>
                  <a:pt x="35" y="49"/>
                  <a:pt x="42" y="42"/>
                </a:cubicBezTo>
                <a:cubicBezTo>
                  <a:pt x="49" y="36"/>
                  <a:pt x="56" y="30"/>
                  <a:pt x="64" y="24"/>
                </a:cubicBezTo>
                <a:cubicBezTo>
                  <a:pt x="72" y="19"/>
                  <a:pt x="81" y="15"/>
                  <a:pt x="89" y="11"/>
                </a:cubicBezTo>
                <a:cubicBezTo>
                  <a:pt x="98" y="7"/>
                  <a:pt x="107" y="4"/>
                  <a:pt x="117" y="3"/>
                </a:cubicBezTo>
                <a:cubicBezTo>
                  <a:pt x="126" y="1"/>
                  <a:pt x="137" y="0"/>
                  <a:pt x="146" y="0"/>
                </a:cubicBezTo>
                <a:lnTo>
                  <a:pt x="5544" y="0"/>
                </a:lnTo>
                <a:cubicBezTo>
                  <a:pt x="5553" y="0"/>
                  <a:pt x="5563" y="1"/>
                  <a:pt x="5572" y="3"/>
                </a:cubicBezTo>
                <a:cubicBezTo>
                  <a:pt x="5581" y="4"/>
                  <a:pt x="5590" y="7"/>
                  <a:pt x="5599" y="11"/>
                </a:cubicBezTo>
                <a:cubicBezTo>
                  <a:pt x="5608" y="15"/>
                  <a:pt x="5616" y="19"/>
                  <a:pt x="5624" y="24"/>
                </a:cubicBezTo>
                <a:cubicBezTo>
                  <a:pt x="5632" y="30"/>
                  <a:pt x="5640" y="36"/>
                  <a:pt x="5646" y="42"/>
                </a:cubicBezTo>
                <a:cubicBezTo>
                  <a:pt x="5653" y="49"/>
                  <a:pt x="5659" y="56"/>
                  <a:pt x="5665" y="64"/>
                </a:cubicBezTo>
                <a:cubicBezTo>
                  <a:pt x="5670" y="72"/>
                  <a:pt x="5674" y="81"/>
                  <a:pt x="5678" y="90"/>
                </a:cubicBezTo>
                <a:cubicBezTo>
                  <a:pt x="5682" y="98"/>
                  <a:pt x="5684" y="108"/>
                  <a:pt x="5686" y="117"/>
                </a:cubicBezTo>
                <a:cubicBezTo>
                  <a:pt x="5688" y="126"/>
                  <a:pt x="5689" y="136"/>
                  <a:pt x="5689" y="145"/>
                </a:cubicBezTo>
                <a:lnTo>
                  <a:pt x="5689" y="7211"/>
                </a:lnTo>
                <a:cubicBezTo>
                  <a:pt x="5689" y="7220"/>
                  <a:pt x="5688" y="7230"/>
                  <a:pt x="5686" y="7239"/>
                </a:cubicBezTo>
                <a:cubicBezTo>
                  <a:pt x="5684" y="7248"/>
                  <a:pt x="5682" y="7258"/>
                  <a:pt x="5678" y="7266"/>
                </a:cubicBezTo>
                <a:cubicBezTo>
                  <a:pt x="5674" y="7275"/>
                  <a:pt x="5670" y="7284"/>
                  <a:pt x="5665" y="7292"/>
                </a:cubicBezTo>
                <a:cubicBezTo>
                  <a:pt x="5659" y="7299"/>
                  <a:pt x="5653" y="7307"/>
                  <a:pt x="5646" y="7314"/>
                </a:cubicBezTo>
                <a:cubicBezTo>
                  <a:pt x="5640" y="7320"/>
                  <a:pt x="5632" y="7326"/>
                  <a:pt x="5624" y="7332"/>
                </a:cubicBezTo>
                <a:cubicBezTo>
                  <a:pt x="5616" y="7337"/>
                  <a:pt x="5608" y="7341"/>
                  <a:pt x="5599" y="7345"/>
                </a:cubicBezTo>
                <a:cubicBezTo>
                  <a:pt x="5590" y="7349"/>
                  <a:pt x="5581" y="7352"/>
                  <a:pt x="5572" y="7353"/>
                </a:cubicBezTo>
                <a:cubicBezTo>
                  <a:pt x="5563" y="7355"/>
                  <a:pt x="5553" y="7356"/>
                  <a:pt x="5544" y="7356"/>
                </a:cubicBezTo>
                <a:lnTo>
                  <a:pt x="146" y="7356"/>
                </a:lnTo>
                <a:cubicBezTo>
                  <a:pt x="137" y="7356"/>
                  <a:pt x="126" y="7355"/>
                  <a:pt x="117" y="7353"/>
                </a:cubicBezTo>
                <a:cubicBezTo>
                  <a:pt x="107" y="7352"/>
                  <a:pt x="98" y="7349"/>
                  <a:pt x="89" y="7345"/>
                </a:cubicBezTo>
                <a:cubicBezTo>
                  <a:pt x="81" y="7341"/>
                  <a:pt x="72" y="7337"/>
                  <a:pt x="64" y="7332"/>
                </a:cubicBezTo>
                <a:cubicBezTo>
                  <a:pt x="56" y="7326"/>
                  <a:pt x="49" y="7320"/>
                  <a:pt x="42" y="7314"/>
                </a:cubicBezTo>
                <a:cubicBezTo>
                  <a:pt x="35" y="7307"/>
                  <a:pt x="29" y="7299"/>
                  <a:pt x="24" y="7292"/>
                </a:cubicBezTo>
                <a:cubicBezTo>
                  <a:pt x="19" y="7284"/>
                  <a:pt x="14" y="7275"/>
                  <a:pt x="11" y="7266"/>
                </a:cubicBezTo>
                <a:cubicBezTo>
                  <a:pt x="7" y="7258"/>
                  <a:pt x="4" y="7248"/>
                  <a:pt x="2" y="7239"/>
                </a:cubicBezTo>
                <a:cubicBezTo>
                  <a:pt x="0" y="7230"/>
                  <a:pt x="0" y="7220"/>
                  <a:pt x="0" y="7211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3355920" y="2655360"/>
            <a:ext cx="99396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Analysis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5229360" y="3052080"/>
            <a:ext cx="16203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Visual map from a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5229360" y="3328200"/>
            <a:ext cx="10933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central idea,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5229360" y="3604680"/>
            <a:ext cx="12978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branching into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5229360" y="3880800"/>
            <a:ext cx="14094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topics and sub-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3" name=""/>
          <p:cNvSpPr/>
          <p:nvPr/>
        </p:nvSpPr>
        <p:spPr>
          <a:xfrm>
            <a:off x="5248080" y="2523960"/>
            <a:ext cx="190800" cy="190800"/>
          </a:xfrm>
          <a:custGeom>
            <a:avLst/>
            <a:gdLst/>
            <a:ahLst/>
            <a:rect l="0" t="0" r="r" b="b"/>
            <a:pathLst>
              <a:path fill="none" w="530" h="530">
                <a:moveTo>
                  <a:pt x="530" y="266"/>
                </a:moveTo>
                <a:cubicBezTo>
                  <a:pt x="530" y="283"/>
                  <a:pt x="529" y="300"/>
                  <a:pt x="525" y="317"/>
                </a:cubicBezTo>
                <a:cubicBezTo>
                  <a:pt x="522" y="334"/>
                  <a:pt x="517" y="351"/>
                  <a:pt x="510" y="367"/>
                </a:cubicBezTo>
                <a:cubicBezTo>
                  <a:pt x="503" y="383"/>
                  <a:pt x="494" y="398"/>
                  <a:pt x="485" y="413"/>
                </a:cubicBezTo>
                <a:cubicBezTo>
                  <a:pt x="475" y="427"/>
                  <a:pt x="464" y="440"/>
                  <a:pt x="452" y="453"/>
                </a:cubicBezTo>
                <a:cubicBezTo>
                  <a:pt x="439" y="465"/>
                  <a:pt x="426" y="476"/>
                  <a:pt x="412" y="486"/>
                </a:cubicBezTo>
                <a:cubicBezTo>
                  <a:pt x="397" y="495"/>
                  <a:pt x="382" y="503"/>
                  <a:pt x="366" y="510"/>
                </a:cubicBezTo>
                <a:cubicBezTo>
                  <a:pt x="350" y="517"/>
                  <a:pt x="333" y="522"/>
                  <a:pt x="316" y="525"/>
                </a:cubicBezTo>
                <a:cubicBezTo>
                  <a:pt x="299" y="528"/>
                  <a:pt x="282" y="530"/>
                  <a:pt x="265" y="530"/>
                </a:cubicBezTo>
                <a:cubicBezTo>
                  <a:pt x="247" y="530"/>
                  <a:pt x="230" y="528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3"/>
                  <a:pt x="132" y="495"/>
                  <a:pt x="118" y="486"/>
                </a:cubicBezTo>
                <a:cubicBezTo>
                  <a:pt x="103" y="476"/>
                  <a:pt x="90" y="465"/>
                  <a:pt x="78" y="453"/>
                </a:cubicBezTo>
                <a:cubicBezTo>
                  <a:pt x="65" y="440"/>
                  <a:pt x="54" y="427"/>
                  <a:pt x="45" y="413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4" y="351"/>
                  <a:pt x="9" y="334"/>
                  <a:pt x="5" y="317"/>
                </a:cubicBezTo>
                <a:cubicBezTo>
                  <a:pt x="2" y="300"/>
                  <a:pt x="0" y="283"/>
                  <a:pt x="0" y="266"/>
                </a:cubicBezTo>
                <a:cubicBezTo>
                  <a:pt x="0" y="248"/>
                  <a:pt x="2" y="231"/>
                  <a:pt x="5" y="214"/>
                </a:cubicBezTo>
                <a:cubicBezTo>
                  <a:pt x="9" y="197"/>
                  <a:pt x="14" y="180"/>
                  <a:pt x="20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4" y="103"/>
                  <a:pt x="65" y="90"/>
                  <a:pt x="78" y="77"/>
                </a:cubicBezTo>
                <a:cubicBezTo>
                  <a:pt x="90" y="65"/>
                  <a:pt x="103" y="54"/>
                  <a:pt x="118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2"/>
                  <a:pt x="247" y="0"/>
                  <a:pt x="265" y="0"/>
                </a:cubicBezTo>
                <a:cubicBezTo>
                  <a:pt x="282" y="0"/>
                  <a:pt x="299" y="2"/>
                  <a:pt x="316" y="5"/>
                </a:cubicBezTo>
                <a:cubicBezTo>
                  <a:pt x="333" y="8"/>
                  <a:pt x="350" y="13"/>
                  <a:pt x="366" y="20"/>
                </a:cubicBezTo>
                <a:cubicBezTo>
                  <a:pt x="382" y="27"/>
                  <a:pt x="397" y="35"/>
                  <a:pt x="412" y="45"/>
                </a:cubicBezTo>
                <a:cubicBezTo>
                  <a:pt x="426" y="54"/>
                  <a:pt x="439" y="65"/>
                  <a:pt x="452" y="77"/>
                </a:cubicBezTo>
                <a:cubicBezTo>
                  <a:pt x="464" y="90"/>
                  <a:pt x="475" y="103"/>
                  <a:pt x="485" y="118"/>
                </a:cubicBezTo>
                <a:cubicBezTo>
                  <a:pt x="494" y="133"/>
                  <a:pt x="503" y="148"/>
                  <a:pt x="510" y="164"/>
                </a:cubicBezTo>
                <a:cubicBezTo>
                  <a:pt x="517" y="180"/>
                  <a:pt x="522" y="197"/>
                  <a:pt x="525" y="214"/>
                </a:cubicBezTo>
                <a:cubicBezTo>
                  <a:pt x="529" y="231"/>
                  <a:pt x="530" y="248"/>
                  <a:pt x="530" y="266"/>
                </a:cubicBez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" name=""/>
          <p:cNvSpPr/>
          <p:nvPr/>
        </p:nvSpPr>
        <p:spPr>
          <a:xfrm>
            <a:off x="5343480" y="2581200"/>
            <a:ext cx="0" cy="75960"/>
          </a:xfrm>
          <a:custGeom>
            <a:avLst/>
            <a:gdLst/>
            <a:ahLst/>
            <a:rect l="0" t="0" r="r" b="b"/>
            <a:pathLst>
              <a:path fill="none" w="0" h="211">
                <a:moveTo>
                  <a:pt x="0" y="211"/>
                </a:moveTo>
                <a:lnTo>
                  <a:pt x="0" y="106"/>
                </a:lnTo>
                <a:moveTo>
                  <a:pt x="0" y="0"/>
                </a:move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5229360" y="4156920"/>
            <a:ext cx="5943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topics.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5508720" y="2369880"/>
            <a:ext cx="58428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Mind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" name=""/>
          <p:cNvSpPr/>
          <p:nvPr/>
        </p:nvSpPr>
        <p:spPr>
          <a:xfrm>
            <a:off x="7224480" y="2166840"/>
            <a:ext cx="2048400" cy="2648160"/>
          </a:xfrm>
          <a:custGeom>
            <a:avLst/>
            <a:gdLst/>
            <a:ahLst/>
            <a:rect l="0" t="0" r="r" b="b"/>
            <a:pathLst>
              <a:path w="5690" h="7356">
                <a:moveTo>
                  <a:pt x="0" y="721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5544" y="0"/>
                </a:lnTo>
                <a:cubicBezTo>
                  <a:pt x="5554" y="0"/>
                  <a:pt x="5563" y="1"/>
                  <a:pt x="5573" y="3"/>
                </a:cubicBezTo>
                <a:cubicBezTo>
                  <a:pt x="5582" y="4"/>
                  <a:pt x="5591" y="7"/>
                  <a:pt x="5600" y="11"/>
                </a:cubicBezTo>
                <a:cubicBezTo>
                  <a:pt x="5609" y="15"/>
                  <a:pt x="5617" y="19"/>
                  <a:pt x="5625" y="24"/>
                </a:cubicBezTo>
                <a:cubicBezTo>
                  <a:pt x="5633" y="30"/>
                  <a:pt x="5640" y="36"/>
                  <a:pt x="5647" y="42"/>
                </a:cubicBezTo>
                <a:cubicBezTo>
                  <a:pt x="5654" y="49"/>
                  <a:pt x="5660" y="56"/>
                  <a:pt x="5665" y="64"/>
                </a:cubicBezTo>
                <a:cubicBezTo>
                  <a:pt x="5670" y="72"/>
                  <a:pt x="5675" y="81"/>
                  <a:pt x="5679" y="90"/>
                </a:cubicBezTo>
                <a:cubicBezTo>
                  <a:pt x="5682" y="98"/>
                  <a:pt x="5685" y="108"/>
                  <a:pt x="5687" y="117"/>
                </a:cubicBezTo>
                <a:cubicBezTo>
                  <a:pt x="5689" y="126"/>
                  <a:pt x="5690" y="136"/>
                  <a:pt x="5690" y="145"/>
                </a:cubicBezTo>
                <a:lnTo>
                  <a:pt x="5690" y="7211"/>
                </a:lnTo>
                <a:cubicBezTo>
                  <a:pt x="5690" y="7220"/>
                  <a:pt x="5689" y="7230"/>
                  <a:pt x="5687" y="7239"/>
                </a:cubicBezTo>
                <a:cubicBezTo>
                  <a:pt x="5685" y="7248"/>
                  <a:pt x="5682" y="7258"/>
                  <a:pt x="5679" y="7266"/>
                </a:cubicBezTo>
                <a:cubicBezTo>
                  <a:pt x="5675" y="7275"/>
                  <a:pt x="5670" y="7284"/>
                  <a:pt x="5665" y="7292"/>
                </a:cubicBezTo>
                <a:cubicBezTo>
                  <a:pt x="5660" y="7299"/>
                  <a:pt x="5654" y="7307"/>
                  <a:pt x="5647" y="7314"/>
                </a:cubicBezTo>
                <a:cubicBezTo>
                  <a:pt x="5640" y="7320"/>
                  <a:pt x="5633" y="7326"/>
                  <a:pt x="5625" y="7332"/>
                </a:cubicBezTo>
                <a:cubicBezTo>
                  <a:pt x="5617" y="7337"/>
                  <a:pt x="5609" y="7341"/>
                  <a:pt x="5600" y="7345"/>
                </a:cubicBezTo>
                <a:cubicBezTo>
                  <a:pt x="5591" y="7349"/>
                  <a:pt x="5582" y="7352"/>
                  <a:pt x="5573" y="7353"/>
                </a:cubicBezTo>
                <a:cubicBezTo>
                  <a:pt x="5563" y="7355"/>
                  <a:pt x="5554" y="7356"/>
                  <a:pt x="5544" y="7356"/>
                </a:cubicBezTo>
                <a:lnTo>
                  <a:pt x="146" y="7356"/>
                </a:lnTo>
                <a:cubicBezTo>
                  <a:pt x="136" y="7356"/>
                  <a:pt x="127" y="7355"/>
                  <a:pt x="117" y="7353"/>
                </a:cubicBezTo>
                <a:cubicBezTo>
                  <a:pt x="108" y="7352"/>
                  <a:pt x="99" y="7349"/>
                  <a:pt x="90" y="7345"/>
                </a:cubicBezTo>
                <a:cubicBezTo>
                  <a:pt x="81" y="7341"/>
                  <a:pt x="73" y="7337"/>
                  <a:pt x="65" y="7332"/>
                </a:cubicBezTo>
                <a:cubicBezTo>
                  <a:pt x="57" y="7326"/>
                  <a:pt x="50" y="7320"/>
                  <a:pt x="43" y="7314"/>
                </a:cubicBezTo>
                <a:cubicBezTo>
                  <a:pt x="36" y="7307"/>
                  <a:pt x="30" y="7299"/>
                  <a:pt x="25" y="7292"/>
                </a:cubicBezTo>
                <a:cubicBezTo>
                  <a:pt x="19" y="7284"/>
                  <a:pt x="15" y="7275"/>
                  <a:pt x="11" y="7266"/>
                </a:cubicBezTo>
                <a:cubicBezTo>
                  <a:pt x="8" y="7258"/>
                  <a:pt x="5" y="7248"/>
                  <a:pt x="3" y="7239"/>
                </a:cubicBezTo>
                <a:cubicBezTo>
                  <a:pt x="1" y="7230"/>
                  <a:pt x="0" y="7220"/>
                  <a:pt x="0" y="7211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" name=""/>
          <p:cNvSpPr/>
          <p:nvPr/>
        </p:nvSpPr>
        <p:spPr>
          <a:xfrm>
            <a:off x="7224480" y="2166840"/>
            <a:ext cx="2048400" cy="2648160"/>
          </a:xfrm>
          <a:custGeom>
            <a:avLst/>
            <a:gdLst/>
            <a:ahLst/>
            <a:rect l="0" t="0" r="r" b="b"/>
            <a:pathLst>
              <a:path fill="none" w="5690" h="7356">
                <a:moveTo>
                  <a:pt x="0" y="721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5544" y="0"/>
                </a:lnTo>
                <a:cubicBezTo>
                  <a:pt x="5554" y="0"/>
                  <a:pt x="5563" y="1"/>
                  <a:pt x="5573" y="3"/>
                </a:cubicBezTo>
                <a:cubicBezTo>
                  <a:pt x="5582" y="4"/>
                  <a:pt x="5591" y="7"/>
                  <a:pt x="5600" y="11"/>
                </a:cubicBezTo>
                <a:cubicBezTo>
                  <a:pt x="5609" y="15"/>
                  <a:pt x="5617" y="19"/>
                  <a:pt x="5625" y="24"/>
                </a:cubicBezTo>
                <a:cubicBezTo>
                  <a:pt x="5633" y="30"/>
                  <a:pt x="5640" y="36"/>
                  <a:pt x="5647" y="42"/>
                </a:cubicBezTo>
                <a:cubicBezTo>
                  <a:pt x="5654" y="49"/>
                  <a:pt x="5660" y="56"/>
                  <a:pt x="5665" y="64"/>
                </a:cubicBezTo>
                <a:cubicBezTo>
                  <a:pt x="5670" y="72"/>
                  <a:pt x="5675" y="81"/>
                  <a:pt x="5679" y="90"/>
                </a:cubicBezTo>
                <a:cubicBezTo>
                  <a:pt x="5682" y="98"/>
                  <a:pt x="5685" y="108"/>
                  <a:pt x="5687" y="117"/>
                </a:cubicBezTo>
                <a:cubicBezTo>
                  <a:pt x="5689" y="126"/>
                  <a:pt x="5690" y="136"/>
                  <a:pt x="5690" y="145"/>
                </a:cubicBezTo>
                <a:lnTo>
                  <a:pt x="5690" y="7211"/>
                </a:lnTo>
                <a:cubicBezTo>
                  <a:pt x="5690" y="7220"/>
                  <a:pt x="5689" y="7230"/>
                  <a:pt x="5687" y="7239"/>
                </a:cubicBezTo>
                <a:cubicBezTo>
                  <a:pt x="5685" y="7248"/>
                  <a:pt x="5682" y="7258"/>
                  <a:pt x="5679" y="7266"/>
                </a:cubicBezTo>
                <a:cubicBezTo>
                  <a:pt x="5675" y="7275"/>
                  <a:pt x="5670" y="7284"/>
                  <a:pt x="5665" y="7292"/>
                </a:cubicBezTo>
                <a:cubicBezTo>
                  <a:pt x="5660" y="7299"/>
                  <a:pt x="5654" y="7307"/>
                  <a:pt x="5647" y="7314"/>
                </a:cubicBezTo>
                <a:cubicBezTo>
                  <a:pt x="5640" y="7320"/>
                  <a:pt x="5633" y="7326"/>
                  <a:pt x="5625" y="7332"/>
                </a:cubicBezTo>
                <a:cubicBezTo>
                  <a:pt x="5617" y="7337"/>
                  <a:pt x="5609" y="7341"/>
                  <a:pt x="5600" y="7345"/>
                </a:cubicBezTo>
                <a:cubicBezTo>
                  <a:pt x="5591" y="7349"/>
                  <a:pt x="5582" y="7352"/>
                  <a:pt x="5573" y="7353"/>
                </a:cubicBezTo>
                <a:cubicBezTo>
                  <a:pt x="5563" y="7355"/>
                  <a:pt x="5554" y="7356"/>
                  <a:pt x="5544" y="7356"/>
                </a:cubicBezTo>
                <a:lnTo>
                  <a:pt x="146" y="7356"/>
                </a:lnTo>
                <a:cubicBezTo>
                  <a:pt x="136" y="7356"/>
                  <a:pt x="127" y="7355"/>
                  <a:pt x="117" y="7353"/>
                </a:cubicBezTo>
                <a:cubicBezTo>
                  <a:pt x="108" y="7352"/>
                  <a:pt x="99" y="7349"/>
                  <a:pt x="90" y="7345"/>
                </a:cubicBezTo>
                <a:cubicBezTo>
                  <a:pt x="81" y="7341"/>
                  <a:pt x="73" y="7337"/>
                  <a:pt x="65" y="7332"/>
                </a:cubicBezTo>
                <a:cubicBezTo>
                  <a:pt x="57" y="7326"/>
                  <a:pt x="50" y="7320"/>
                  <a:pt x="43" y="7314"/>
                </a:cubicBezTo>
                <a:cubicBezTo>
                  <a:pt x="36" y="7307"/>
                  <a:pt x="30" y="7299"/>
                  <a:pt x="25" y="7292"/>
                </a:cubicBezTo>
                <a:cubicBezTo>
                  <a:pt x="19" y="7284"/>
                  <a:pt x="15" y="7275"/>
                  <a:pt x="11" y="7266"/>
                </a:cubicBezTo>
                <a:cubicBezTo>
                  <a:pt x="8" y="7258"/>
                  <a:pt x="5" y="7248"/>
                  <a:pt x="3" y="7239"/>
                </a:cubicBezTo>
                <a:cubicBezTo>
                  <a:pt x="1" y="7230"/>
                  <a:pt x="0" y="7220"/>
                  <a:pt x="0" y="7211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5508720" y="2655360"/>
            <a:ext cx="102096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Mapping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7381800" y="3052080"/>
            <a:ext cx="11476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Quick, "good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7381800" y="3328200"/>
            <a:ext cx="16077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enough" solutions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7381800" y="3604680"/>
            <a:ext cx="14533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from experience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3" name=""/>
          <p:cNvSpPr/>
          <p:nvPr/>
        </p:nvSpPr>
        <p:spPr>
          <a:xfrm>
            <a:off x="7400880" y="2523960"/>
            <a:ext cx="190800" cy="190800"/>
          </a:xfrm>
          <a:custGeom>
            <a:avLst/>
            <a:gdLst/>
            <a:ahLst/>
            <a:rect l="0" t="0" r="r" b="b"/>
            <a:pathLst>
              <a:path fill="none" w="530" h="530">
                <a:moveTo>
                  <a:pt x="530" y="266"/>
                </a:moveTo>
                <a:cubicBezTo>
                  <a:pt x="530" y="283"/>
                  <a:pt x="528" y="300"/>
                  <a:pt x="525" y="317"/>
                </a:cubicBezTo>
                <a:cubicBezTo>
                  <a:pt x="521" y="334"/>
                  <a:pt x="516" y="351"/>
                  <a:pt x="510" y="367"/>
                </a:cubicBezTo>
                <a:cubicBezTo>
                  <a:pt x="503" y="383"/>
                  <a:pt x="495" y="398"/>
                  <a:pt x="485" y="413"/>
                </a:cubicBezTo>
                <a:cubicBezTo>
                  <a:pt x="476" y="427"/>
                  <a:pt x="465" y="440"/>
                  <a:pt x="452" y="453"/>
                </a:cubicBezTo>
                <a:cubicBezTo>
                  <a:pt x="440" y="465"/>
                  <a:pt x="427" y="476"/>
                  <a:pt x="412" y="486"/>
                </a:cubicBezTo>
                <a:cubicBezTo>
                  <a:pt x="398" y="495"/>
                  <a:pt x="383" y="503"/>
                  <a:pt x="366" y="510"/>
                </a:cubicBezTo>
                <a:cubicBezTo>
                  <a:pt x="350" y="517"/>
                  <a:pt x="333" y="522"/>
                  <a:pt x="316" y="525"/>
                </a:cubicBezTo>
                <a:cubicBezTo>
                  <a:pt x="299" y="528"/>
                  <a:pt x="282" y="530"/>
                  <a:pt x="264" y="530"/>
                </a:cubicBezTo>
                <a:cubicBezTo>
                  <a:pt x="247" y="530"/>
                  <a:pt x="230" y="528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3"/>
                  <a:pt x="132" y="495"/>
                  <a:pt x="117" y="486"/>
                </a:cubicBezTo>
                <a:cubicBezTo>
                  <a:pt x="103" y="476"/>
                  <a:pt x="89" y="465"/>
                  <a:pt x="77" y="453"/>
                </a:cubicBezTo>
                <a:cubicBezTo>
                  <a:pt x="65" y="440"/>
                  <a:pt x="54" y="427"/>
                  <a:pt x="44" y="413"/>
                </a:cubicBezTo>
                <a:cubicBezTo>
                  <a:pt x="35" y="398"/>
                  <a:pt x="26" y="383"/>
                  <a:pt x="20" y="367"/>
                </a:cubicBezTo>
                <a:cubicBezTo>
                  <a:pt x="13" y="351"/>
                  <a:pt x="8" y="334"/>
                  <a:pt x="5" y="317"/>
                </a:cubicBezTo>
                <a:cubicBezTo>
                  <a:pt x="1" y="300"/>
                  <a:pt x="0" y="283"/>
                  <a:pt x="0" y="266"/>
                </a:cubicBezTo>
                <a:cubicBezTo>
                  <a:pt x="0" y="248"/>
                  <a:pt x="1" y="231"/>
                  <a:pt x="5" y="214"/>
                </a:cubicBezTo>
                <a:cubicBezTo>
                  <a:pt x="8" y="197"/>
                  <a:pt x="13" y="180"/>
                  <a:pt x="20" y="164"/>
                </a:cubicBezTo>
                <a:cubicBezTo>
                  <a:pt x="26" y="148"/>
                  <a:pt x="35" y="133"/>
                  <a:pt x="44" y="118"/>
                </a:cubicBezTo>
                <a:cubicBezTo>
                  <a:pt x="54" y="103"/>
                  <a:pt x="65" y="90"/>
                  <a:pt x="77" y="77"/>
                </a:cubicBezTo>
                <a:cubicBezTo>
                  <a:pt x="89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2"/>
                  <a:pt x="247" y="0"/>
                  <a:pt x="264" y="0"/>
                </a:cubicBezTo>
                <a:cubicBezTo>
                  <a:pt x="282" y="0"/>
                  <a:pt x="299" y="2"/>
                  <a:pt x="316" y="5"/>
                </a:cubicBezTo>
                <a:cubicBezTo>
                  <a:pt x="333" y="8"/>
                  <a:pt x="350" y="13"/>
                  <a:pt x="366" y="20"/>
                </a:cubicBezTo>
                <a:cubicBezTo>
                  <a:pt x="383" y="27"/>
                  <a:pt x="398" y="35"/>
                  <a:pt x="412" y="45"/>
                </a:cubicBezTo>
                <a:cubicBezTo>
                  <a:pt x="427" y="54"/>
                  <a:pt x="440" y="65"/>
                  <a:pt x="452" y="77"/>
                </a:cubicBezTo>
                <a:cubicBezTo>
                  <a:pt x="465" y="90"/>
                  <a:pt x="476" y="103"/>
                  <a:pt x="485" y="118"/>
                </a:cubicBezTo>
                <a:cubicBezTo>
                  <a:pt x="495" y="133"/>
                  <a:pt x="503" y="148"/>
                  <a:pt x="510" y="164"/>
                </a:cubicBezTo>
                <a:cubicBezTo>
                  <a:pt x="516" y="180"/>
                  <a:pt x="521" y="197"/>
                  <a:pt x="525" y="214"/>
                </a:cubicBezTo>
                <a:cubicBezTo>
                  <a:pt x="528" y="231"/>
                  <a:pt x="530" y="248"/>
                  <a:pt x="530" y="266"/>
                </a:cubicBez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4" name=""/>
          <p:cNvSpPr/>
          <p:nvPr/>
        </p:nvSpPr>
        <p:spPr>
          <a:xfrm>
            <a:off x="7495920" y="2581200"/>
            <a:ext cx="0" cy="75960"/>
          </a:xfrm>
          <a:custGeom>
            <a:avLst/>
            <a:gdLst/>
            <a:ahLst/>
            <a:rect l="0" t="0" r="r" b="b"/>
            <a:pathLst>
              <a:path fill="none" w="0" h="211">
                <a:moveTo>
                  <a:pt x="0" y="211"/>
                </a:moveTo>
                <a:lnTo>
                  <a:pt x="0" y="106"/>
                </a:lnTo>
                <a:moveTo>
                  <a:pt x="0" y="0"/>
                </a:move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7381800" y="3880800"/>
            <a:ext cx="17589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and rules of thumb.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7661160" y="2369880"/>
            <a:ext cx="105948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Heuristic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7" name=""/>
          <p:cNvSpPr/>
          <p:nvPr/>
        </p:nvSpPr>
        <p:spPr>
          <a:xfrm>
            <a:off x="9377280" y="2166840"/>
            <a:ext cx="2048040" cy="2648160"/>
          </a:xfrm>
          <a:custGeom>
            <a:avLst/>
            <a:gdLst/>
            <a:ahLst/>
            <a:rect l="0" t="0" r="r" b="b"/>
            <a:pathLst>
              <a:path w="5689" h="7356">
                <a:moveTo>
                  <a:pt x="0" y="721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4" y="108"/>
                  <a:pt x="7" y="98"/>
                  <a:pt x="11" y="90"/>
                </a:cubicBezTo>
                <a:cubicBezTo>
                  <a:pt x="14" y="81"/>
                  <a:pt x="19" y="72"/>
                  <a:pt x="24" y="64"/>
                </a:cubicBezTo>
                <a:cubicBezTo>
                  <a:pt x="30" y="56"/>
                  <a:pt x="36" y="49"/>
                  <a:pt x="42" y="42"/>
                </a:cubicBezTo>
                <a:cubicBezTo>
                  <a:pt x="49" y="36"/>
                  <a:pt x="56" y="30"/>
                  <a:pt x="64" y="24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7"/>
                  <a:pt x="107" y="4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5544" y="0"/>
                </a:lnTo>
                <a:cubicBezTo>
                  <a:pt x="5553" y="0"/>
                  <a:pt x="5563" y="1"/>
                  <a:pt x="5572" y="3"/>
                </a:cubicBezTo>
                <a:cubicBezTo>
                  <a:pt x="5582" y="4"/>
                  <a:pt x="5591" y="7"/>
                  <a:pt x="5599" y="11"/>
                </a:cubicBezTo>
                <a:cubicBezTo>
                  <a:pt x="5608" y="15"/>
                  <a:pt x="5617" y="19"/>
                  <a:pt x="5625" y="24"/>
                </a:cubicBezTo>
                <a:cubicBezTo>
                  <a:pt x="5633" y="30"/>
                  <a:pt x="5640" y="36"/>
                  <a:pt x="5647" y="42"/>
                </a:cubicBezTo>
                <a:cubicBezTo>
                  <a:pt x="5653" y="49"/>
                  <a:pt x="5659" y="56"/>
                  <a:pt x="5665" y="64"/>
                </a:cubicBezTo>
                <a:cubicBezTo>
                  <a:pt x="5670" y="72"/>
                  <a:pt x="5675" y="81"/>
                  <a:pt x="5678" y="90"/>
                </a:cubicBezTo>
                <a:cubicBezTo>
                  <a:pt x="5682" y="98"/>
                  <a:pt x="5685" y="108"/>
                  <a:pt x="5686" y="117"/>
                </a:cubicBezTo>
                <a:cubicBezTo>
                  <a:pt x="5688" y="126"/>
                  <a:pt x="5689" y="136"/>
                  <a:pt x="5689" y="145"/>
                </a:cubicBezTo>
                <a:lnTo>
                  <a:pt x="5689" y="7211"/>
                </a:lnTo>
                <a:cubicBezTo>
                  <a:pt x="5689" y="7220"/>
                  <a:pt x="5688" y="7230"/>
                  <a:pt x="5686" y="7239"/>
                </a:cubicBezTo>
                <a:cubicBezTo>
                  <a:pt x="5685" y="7248"/>
                  <a:pt x="5682" y="7258"/>
                  <a:pt x="5678" y="7266"/>
                </a:cubicBezTo>
                <a:cubicBezTo>
                  <a:pt x="5675" y="7275"/>
                  <a:pt x="5670" y="7284"/>
                  <a:pt x="5665" y="7292"/>
                </a:cubicBezTo>
                <a:cubicBezTo>
                  <a:pt x="5659" y="7299"/>
                  <a:pt x="5653" y="7307"/>
                  <a:pt x="5647" y="7314"/>
                </a:cubicBezTo>
                <a:cubicBezTo>
                  <a:pt x="5640" y="7320"/>
                  <a:pt x="5633" y="7326"/>
                  <a:pt x="5625" y="7332"/>
                </a:cubicBezTo>
                <a:cubicBezTo>
                  <a:pt x="5617" y="7337"/>
                  <a:pt x="5608" y="7341"/>
                  <a:pt x="5599" y="7345"/>
                </a:cubicBezTo>
                <a:cubicBezTo>
                  <a:pt x="5591" y="7349"/>
                  <a:pt x="5582" y="7352"/>
                  <a:pt x="5572" y="7353"/>
                </a:cubicBezTo>
                <a:cubicBezTo>
                  <a:pt x="5563" y="7355"/>
                  <a:pt x="5553" y="7356"/>
                  <a:pt x="5544" y="7356"/>
                </a:cubicBezTo>
                <a:lnTo>
                  <a:pt x="145" y="7356"/>
                </a:lnTo>
                <a:cubicBezTo>
                  <a:pt x="136" y="7356"/>
                  <a:pt x="126" y="7355"/>
                  <a:pt x="117" y="7353"/>
                </a:cubicBezTo>
                <a:cubicBezTo>
                  <a:pt x="107" y="7352"/>
                  <a:pt x="98" y="7349"/>
                  <a:pt x="90" y="7345"/>
                </a:cubicBezTo>
                <a:cubicBezTo>
                  <a:pt x="81" y="7341"/>
                  <a:pt x="72" y="7337"/>
                  <a:pt x="64" y="7332"/>
                </a:cubicBezTo>
                <a:cubicBezTo>
                  <a:pt x="56" y="7326"/>
                  <a:pt x="49" y="7320"/>
                  <a:pt x="42" y="7314"/>
                </a:cubicBezTo>
                <a:cubicBezTo>
                  <a:pt x="36" y="7307"/>
                  <a:pt x="30" y="7299"/>
                  <a:pt x="24" y="7292"/>
                </a:cubicBezTo>
                <a:cubicBezTo>
                  <a:pt x="19" y="7284"/>
                  <a:pt x="14" y="7275"/>
                  <a:pt x="11" y="7266"/>
                </a:cubicBezTo>
                <a:cubicBezTo>
                  <a:pt x="7" y="7258"/>
                  <a:pt x="4" y="7248"/>
                  <a:pt x="3" y="7239"/>
                </a:cubicBezTo>
                <a:cubicBezTo>
                  <a:pt x="1" y="7230"/>
                  <a:pt x="0" y="7220"/>
                  <a:pt x="0" y="7211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" name=""/>
          <p:cNvSpPr/>
          <p:nvPr/>
        </p:nvSpPr>
        <p:spPr>
          <a:xfrm>
            <a:off x="9377280" y="2166840"/>
            <a:ext cx="2048040" cy="2648160"/>
          </a:xfrm>
          <a:custGeom>
            <a:avLst/>
            <a:gdLst/>
            <a:ahLst/>
            <a:rect l="0" t="0" r="r" b="b"/>
            <a:pathLst>
              <a:path fill="none" w="5689" h="7356">
                <a:moveTo>
                  <a:pt x="0" y="721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4" y="108"/>
                  <a:pt x="7" y="98"/>
                  <a:pt x="11" y="90"/>
                </a:cubicBezTo>
                <a:cubicBezTo>
                  <a:pt x="14" y="81"/>
                  <a:pt x="19" y="72"/>
                  <a:pt x="24" y="64"/>
                </a:cubicBezTo>
                <a:cubicBezTo>
                  <a:pt x="30" y="56"/>
                  <a:pt x="36" y="49"/>
                  <a:pt x="42" y="42"/>
                </a:cubicBezTo>
                <a:cubicBezTo>
                  <a:pt x="49" y="36"/>
                  <a:pt x="56" y="30"/>
                  <a:pt x="64" y="24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7"/>
                  <a:pt x="107" y="4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5544" y="0"/>
                </a:lnTo>
                <a:cubicBezTo>
                  <a:pt x="5553" y="0"/>
                  <a:pt x="5563" y="1"/>
                  <a:pt x="5572" y="3"/>
                </a:cubicBezTo>
                <a:cubicBezTo>
                  <a:pt x="5582" y="4"/>
                  <a:pt x="5591" y="7"/>
                  <a:pt x="5599" y="11"/>
                </a:cubicBezTo>
                <a:cubicBezTo>
                  <a:pt x="5608" y="15"/>
                  <a:pt x="5617" y="19"/>
                  <a:pt x="5625" y="24"/>
                </a:cubicBezTo>
                <a:cubicBezTo>
                  <a:pt x="5633" y="30"/>
                  <a:pt x="5640" y="36"/>
                  <a:pt x="5647" y="42"/>
                </a:cubicBezTo>
                <a:cubicBezTo>
                  <a:pt x="5653" y="49"/>
                  <a:pt x="5659" y="56"/>
                  <a:pt x="5665" y="64"/>
                </a:cubicBezTo>
                <a:cubicBezTo>
                  <a:pt x="5670" y="72"/>
                  <a:pt x="5675" y="81"/>
                  <a:pt x="5678" y="90"/>
                </a:cubicBezTo>
                <a:cubicBezTo>
                  <a:pt x="5682" y="98"/>
                  <a:pt x="5685" y="108"/>
                  <a:pt x="5686" y="117"/>
                </a:cubicBezTo>
                <a:cubicBezTo>
                  <a:pt x="5688" y="126"/>
                  <a:pt x="5689" y="136"/>
                  <a:pt x="5689" y="145"/>
                </a:cubicBezTo>
                <a:lnTo>
                  <a:pt x="5689" y="7211"/>
                </a:lnTo>
                <a:cubicBezTo>
                  <a:pt x="5689" y="7220"/>
                  <a:pt x="5688" y="7230"/>
                  <a:pt x="5686" y="7239"/>
                </a:cubicBezTo>
                <a:cubicBezTo>
                  <a:pt x="5685" y="7248"/>
                  <a:pt x="5682" y="7258"/>
                  <a:pt x="5678" y="7266"/>
                </a:cubicBezTo>
                <a:cubicBezTo>
                  <a:pt x="5675" y="7275"/>
                  <a:pt x="5670" y="7284"/>
                  <a:pt x="5665" y="7292"/>
                </a:cubicBezTo>
                <a:cubicBezTo>
                  <a:pt x="5659" y="7299"/>
                  <a:pt x="5653" y="7307"/>
                  <a:pt x="5647" y="7314"/>
                </a:cubicBezTo>
                <a:cubicBezTo>
                  <a:pt x="5640" y="7320"/>
                  <a:pt x="5633" y="7326"/>
                  <a:pt x="5625" y="7332"/>
                </a:cubicBezTo>
                <a:cubicBezTo>
                  <a:pt x="5617" y="7337"/>
                  <a:pt x="5608" y="7341"/>
                  <a:pt x="5599" y="7345"/>
                </a:cubicBezTo>
                <a:cubicBezTo>
                  <a:pt x="5591" y="7349"/>
                  <a:pt x="5582" y="7352"/>
                  <a:pt x="5572" y="7353"/>
                </a:cubicBezTo>
                <a:cubicBezTo>
                  <a:pt x="5563" y="7355"/>
                  <a:pt x="5553" y="7356"/>
                  <a:pt x="5544" y="7356"/>
                </a:cubicBezTo>
                <a:lnTo>
                  <a:pt x="145" y="7356"/>
                </a:lnTo>
                <a:cubicBezTo>
                  <a:pt x="136" y="7356"/>
                  <a:pt x="126" y="7355"/>
                  <a:pt x="117" y="7353"/>
                </a:cubicBezTo>
                <a:cubicBezTo>
                  <a:pt x="107" y="7352"/>
                  <a:pt x="98" y="7349"/>
                  <a:pt x="90" y="7345"/>
                </a:cubicBezTo>
                <a:cubicBezTo>
                  <a:pt x="81" y="7341"/>
                  <a:pt x="72" y="7337"/>
                  <a:pt x="64" y="7332"/>
                </a:cubicBezTo>
                <a:cubicBezTo>
                  <a:pt x="56" y="7326"/>
                  <a:pt x="49" y="7320"/>
                  <a:pt x="42" y="7314"/>
                </a:cubicBezTo>
                <a:cubicBezTo>
                  <a:pt x="36" y="7307"/>
                  <a:pt x="30" y="7299"/>
                  <a:pt x="24" y="7292"/>
                </a:cubicBezTo>
                <a:cubicBezTo>
                  <a:pt x="19" y="7284"/>
                  <a:pt x="14" y="7275"/>
                  <a:pt x="11" y="7266"/>
                </a:cubicBezTo>
                <a:cubicBezTo>
                  <a:pt x="7" y="7258"/>
                  <a:pt x="4" y="7248"/>
                  <a:pt x="3" y="7239"/>
                </a:cubicBezTo>
                <a:cubicBezTo>
                  <a:pt x="1" y="7230"/>
                  <a:pt x="0" y="7220"/>
                  <a:pt x="0" y="7211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7661160" y="2655360"/>
            <a:ext cx="88236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Method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9534600" y="2766240"/>
            <a:ext cx="15652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Mentally rehearse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9534600" y="3042720"/>
            <a:ext cx="17766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solving the problem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" name=""/>
          <p:cNvSpPr/>
          <p:nvPr/>
        </p:nvSpPr>
        <p:spPr>
          <a:xfrm>
            <a:off x="9553320" y="2381040"/>
            <a:ext cx="190800" cy="190800"/>
          </a:xfrm>
          <a:custGeom>
            <a:avLst/>
            <a:gdLst/>
            <a:ahLst/>
            <a:rect l="0" t="0" r="r" b="b"/>
            <a:pathLst>
              <a:path fill="none" w="530" h="530">
                <a:moveTo>
                  <a:pt x="530" y="265"/>
                </a:moveTo>
                <a:cubicBezTo>
                  <a:pt x="530" y="282"/>
                  <a:pt x="529" y="299"/>
                  <a:pt x="525" y="316"/>
                </a:cubicBezTo>
                <a:cubicBezTo>
                  <a:pt x="522" y="333"/>
                  <a:pt x="517" y="350"/>
                  <a:pt x="510" y="366"/>
                </a:cubicBezTo>
                <a:cubicBezTo>
                  <a:pt x="504" y="382"/>
                  <a:pt x="495" y="397"/>
                  <a:pt x="486" y="412"/>
                </a:cubicBezTo>
                <a:cubicBezTo>
                  <a:pt x="476" y="426"/>
                  <a:pt x="465" y="439"/>
                  <a:pt x="453" y="452"/>
                </a:cubicBezTo>
                <a:cubicBezTo>
                  <a:pt x="441" y="464"/>
                  <a:pt x="427" y="475"/>
                  <a:pt x="413" y="485"/>
                </a:cubicBezTo>
                <a:cubicBezTo>
                  <a:pt x="398" y="494"/>
                  <a:pt x="383" y="502"/>
                  <a:pt x="367" y="509"/>
                </a:cubicBezTo>
                <a:cubicBezTo>
                  <a:pt x="351" y="516"/>
                  <a:pt x="334" y="521"/>
                  <a:pt x="317" y="524"/>
                </a:cubicBezTo>
                <a:cubicBezTo>
                  <a:pt x="300" y="529"/>
                  <a:pt x="283" y="530"/>
                  <a:pt x="266" y="530"/>
                </a:cubicBezTo>
                <a:cubicBezTo>
                  <a:pt x="248" y="530"/>
                  <a:pt x="231" y="529"/>
                  <a:pt x="214" y="524"/>
                </a:cubicBezTo>
                <a:cubicBezTo>
                  <a:pt x="197" y="521"/>
                  <a:pt x="181" y="516"/>
                  <a:pt x="164" y="509"/>
                </a:cubicBezTo>
                <a:cubicBezTo>
                  <a:pt x="147" y="502"/>
                  <a:pt x="132" y="494"/>
                  <a:pt x="118" y="485"/>
                </a:cubicBezTo>
                <a:cubicBezTo>
                  <a:pt x="103" y="475"/>
                  <a:pt x="90" y="464"/>
                  <a:pt x="78" y="452"/>
                </a:cubicBezTo>
                <a:cubicBezTo>
                  <a:pt x="65" y="439"/>
                  <a:pt x="54" y="426"/>
                  <a:pt x="45" y="412"/>
                </a:cubicBezTo>
                <a:cubicBezTo>
                  <a:pt x="35" y="397"/>
                  <a:pt x="27" y="382"/>
                  <a:pt x="20" y="366"/>
                </a:cubicBezTo>
                <a:cubicBezTo>
                  <a:pt x="14" y="350"/>
                  <a:pt x="9" y="333"/>
                  <a:pt x="5" y="316"/>
                </a:cubicBezTo>
                <a:cubicBezTo>
                  <a:pt x="2" y="299"/>
                  <a:pt x="0" y="282"/>
                  <a:pt x="0" y="265"/>
                </a:cubicBez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4" y="103"/>
                  <a:pt x="65" y="90"/>
                  <a:pt x="78" y="78"/>
                </a:cubicBezTo>
                <a:cubicBezTo>
                  <a:pt x="90" y="65"/>
                  <a:pt x="103" y="54"/>
                  <a:pt x="118" y="45"/>
                </a:cubicBezTo>
                <a:cubicBezTo>
                  <a:pt x="132" y="35"/>
                  <a:pt x="147" y="27"/>
                  <a:pt x="164" y="20"/>
                </a:cubicBezTo>
                <a:cubicBezTo>
                  <a:pt x="181" y="14"/>
                  <a:pt x="197" y="9"/>
                  <a:pt x="214" y="5"/>
                </a:cubicBezTo>
                <a:cubicBezTo>
                  <a:pt x="231" y="2"/>
                  <a:pt x="248" y="0"/>
                  <a:pt x="266" y="0"/>
                </a:cubicBezTo>
                <a:cubicBezTo>
                  <a:pt x="283" y="0"/>
                  <a:pt x="300" y="2"/>
                  <a:pt x="317" y="5"/>
                </a:cubicBezTo>
                <a:cubicBezTo>
                  <a:pt x="334" y="9"/>
                  <a:pt x="351" y="14"/>
                  <a:pt x="367" y="20"/>
                </a:cubicBezTo>
                <a:cubicBezTo>
                  <a:pt x="383" y="27"/>
                  <a:pt x="398" y="35"/>
                  <a:pt x="413" y="45"/>
                </a:cubicBezTo>
                <a:cubicBezTo>
                  <a:pt x="427" y="54"/>
                  <a:pt x="441" y="65"/>
                  <a:pt x="453" y="78"/>
                </a:cubicBezTo>
                <a:cubicBezTo>
                  <a:pt x="465" y="90"/>
                  <a:pt x="476" y="103"/>
                  <a:pt x="486" y="118"/>
                </a:cubicBezTo>
                <a:cubicBezTo>
                  <a:pt x="495" y="132"/>
                  <a:pt x="504" y="147"/>
                  <a:pt x="510" y="163"/>
                </a:cubicBezTo>
                <a:cubicBezTo>
                  <a:pt x="517" y="179"/>
                  <a:pt x="522" y="196"/>
                  <a:pt x="525" y="213"/>
                </a:cubicBezTo>
                <a:cubicBezTo>
                  <a:pt x="529" y="230"/>
                  <a:pt x="530" y="247"/>
                  <a:pt x="530" y="265"/>
                </a:cubicBez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3" name=""/>
          <p:cNvSpPr/>
          <p:nvPr/>
        </p:nvSpPr>
        <p:spPr>
          <a:xfrm>
            <a:off x="9648720" y="2438280"/>
            <a:ext cx="0" cy="75960"/>
          </a:xfrm>
          <a:custGeom>
            <a:avLst/>
            <a:gdLst/>
            <a:ahLst/>
            <a:rect l="0" t="0" r="r" b="b"/>
            <a:pathLst>
              <a:path fill="none" w="0" h="211">
                <a:moveTo>
                  <a:pt x="0" y="211"/>
                </a:moveTo>
                <a:lnTo>
                  <a:pt x="0" y="106"/>
                </a:lnTo>
                <a:moveTo>
                  <a:pt x="0" y="0"/>
                </a:move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9534600" y="3318840"/>
            <a:ext cx="12333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before acting.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9813960" y="2369880"/>
            <a:ext cx="15296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Visualization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1238400" y="6569280"/>
            <a:ext cx="31820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0020e35 | © 08.10.2026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8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72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3" name=""/>
          <p:cNvSpPr/>
          <p:nvPr/>
        </p:nvSpPr>
        <p:spPr>
          <a:xfrm>
            <a:off x="771480" y="2485800"/>
            <a:ext cx="1428840" cy="352800"/>
          </a:xfrm>
          <a:custGeom>
            <a:avLst/>
            <a:gdLst/>
            <a:ahLst/>
            <a:rect l="0" t="0" r="r" b="b"/>
            <a:pathLst>
              <a:path w="3969" h="980">
                <a:moveTo>
                  <a:pt x="0" y="0"/>
                </a:moveTo>
                <a:lnTo>
                  <a:pt x="3969" y="0"/>
                </a:lnTo>
                <a:lnTo>
                  <a:pt x="3969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4" name=""/>
          <p:cNvSpPr/>
          <p:nvPr/>
        </p:nvSpPr>
        <p:spPr>
          <a:xfrm>
            <a:off x="2199960" y="2485800"/>
            <a:ext cx="3020040" cy="352800"/>
          </a:xfrm>
          <a:custGeom>
            <a:avLst/>
            <a:gdLst/>
            <a:ahLst/>
            <a:rect l="0" t="0" r="r" b="b"/>
            <a:pathLst>
              <a:path w="8389" h="980">
                <a:moveTo>
                  <a:pt x="0" y="0"/>
                </a:moveTo>
                <a:lnTo>
                  <a:pt x="8389" y="0"/>
                </a:lnTo>
                <a:lnTo>
                  <a:pt x="8389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5" name=""/>
          <p:cNvSpPr/>
          <p:nvPr/>
        </p:nvSpPr>
        <p:spPr>
          <a:xfrm>
            <a:off x="5219640" y="2485800"/>
            <a:ext cx="2743560" cy="352800"/>
          </a:xfrm>
          <a:custGeom>
            <a:avLst/>
            <a:gdLst/>
            <a:ahLst/>
            <a:rect l="0" t="0" r="r" b="b"/>
            <a:pathLst>
              <a:path w="7621" h="980">
                <a:moveTo>
                  <a:pt x="0" y="0"/>
                </a:moveTo>
                <a:lnTo>
                  <a:pt x="7621" y="0"/>
                </a:lnTo>
                <a:lnTo>
                  <a:pt x="7621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6" name=""/>
          <p:cNvSpPr/>
          <p:nvPr/>
        </p:nvSpPr>
        <p:spPr>
          <a:xfrm>
            <a:off x="7962840" y="2485800"/>
            <a:ext cx="3467160" cy="352800"/>
          </a:xfrm>
          <a:custGeom>
            <a:avLst/>
            <a:gdLst/>
            <a:ahLst/>
            <a:rect l="0" t="0" r="r" b="b"/>
            <a:pathLst>
              <a:path w="9631" h="980">
                <a:moveTo>
                  <a:pt x="0" y="0"/>
                </a:moveTo>
                <a:lnTo>
                  <a:pt x="9631" y="0"/>
                </a:lnTo>
                <a:lnTo>
                  <a:pt x="9631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7" name=""/>
          <p:cNvSpPr/>
          <p:nvPr/>
        </p:nvSpPr>
        <p:spPr>
          <a:xfrm>
            <a:off x="771480" y="2838240"/>
            <a:ext cx="1428840" cy="581400"/>
          </a:xfrm>
          <a:custGeom>
            <a:avLst/>
            <a:gdLst/>
            <a:ahLst/>
            <a:rect l="0" t="0" r="r" b="b"/>
            <a:pathLst>
              <a:path w="3969" h="1615">
                <a:moveTo>
                  <a:pt x="0" y="0"/>
                </a:moveTo>
                <a:lnTo>
                  <a:pt x="3969" y="0"/>
                </a:lnTo>
                <a:lnTo>
                  <a:pt x="3969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8" name=""/>
          <p:cNvSpPr/>
          <p:nvPr/>
        </p:nvSpPr>
        <p:spPr>
          <a:xfrm>
            <a:off x="2199960" y="2838240"/>
            <a:ext cx="3020040" cy="581400"/>
          </a:xfrm>
          <a:custGeom>
            <a:avLst/>
            <a:gdLst/>
            <a:ahLst/>
            <a:rect l="0" t="0" r="r" b="b"/>
            <a:pathLst>
              <a:path w="8389" h="1615">
                <a:moveTo>
                  <a:pt x="0" y="0"/>
                </a:moveTo>
                <a:lnTo>
                  <a:pt x="8389" y="0"/>
                </a:lnTo>
                <a:lnTo>
                  <a:pt x="8389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" name=""/>
          <p:cNvSpPr/>
          <p:nvPr/>
        </p:nvSpPr>
        <p:spPr>
          <a:xfrm>
            <a:off x="5219640" y="2838240"/>
            <a:ext cx="2743560" cy="581400"/>
          </a:xfrm>
          <a:custGeom>
            <a:avLst/>
            <a:gdLst/>
            <a:ahLst/>
            <a:rect l="0" t="0" r="r" b="b"/>
            <a:pathLst>
              <a:path w="7621" h="1615">
                <a:moveTo>
                  <a:pt x="0" y="0"/>
                </a:moveTo>
                <a:lnTo>
                  <a:pt x="7621" y="0"/>
                </a:lnTo>
                <a:lnTo>
                  <a:pt x="7621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7962840" y="2838240"/>
            <a:ext cx="3467160" cy="581400"/>
          </a:xfrm>
          <a:custGeom>
            <a:avLst/>
            <a:gdLst/>
            <a:ahLst/>
            <a:rect l="0" t="0" r="r" b="b"/>
            <a:pathLst>
              <a:path w="9631" h="1615">
                <a:moveTo>
                  <a:pt x="0" y="0"/>
                </a:moveTo>
                <a:lnTo>
                  <a:pt x="9631" y="0"/>
                </a:lnTo>
                <a:lnTo>
                  <a:pt x="9631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1" name=""/>
          <p:cNvSpPr/>
          <p:nvPr/>
        </p:nvSpPr>
        <p:spPr>
          <a:xfrm>
            <a:off x="771480" y="3419280"/>
            <a:ext cx="1428840" cy="581400"/>
          </a:xfrm>
          <a:custGeom>
            <a:avLst/>
            <a:gdLst/>
            <a:ahLst/>
            <a:rect l="0" t="0" r="r" b="b"/>
            <a:pathLst>
              <a:path w="3969" h="1615">
                <a:moveTo>
                  <a:pt x="0" y="0"/>
                </a:moveTo>
                <a:lnTo>
                  <a:pt x="3969" y="0"/>
                </a:lnTo>
                <a:lnTo>
                  <a:pt x="3969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2" name=""/>
          <p:cNvSpPr/>
          <p:nvPr/>
        </p:nvSpPr>
        <p:spPr>
          <a:xfrm>
            <a:off x="2199960" y="3419280"/>
            <a:ext cx="3020040" cy="581400"/>
          </a:xfrm>
          <a:custGeom>
            <a:avLst/>
            <a:gdLst/>
            <a:ahLst/>
            <a:rect l="0" t="0" r="r" b="b"/>
            <a:pathLst>
              <a:path w="8389" h="1615">
                <a:moveTo>
                  <a:pt x="0" y="0"/>
                </a:moveTo>
                <a:lnTo>
                  <a:pt x="8389" y="0"/>
                </a:lnTo>
                <a:lnTo>
                  <a:pt x="8389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3" name=""/>
          <p:cNvSpPr/>
          <p:nvPr/>
        </p:nvSpPr>
        <p:spPr>
          <a:xfrm>
            <a:off x="5219640" y="3419280"/>
            <a:ext cx="2743560" cy="581400"/>
          </a:xfrm>
          <a:custGeom>
            <a:avLst/>
            <a:gdLst/>
            <a:ahLst/>
            <a:rect l="0" t="0" r="r" b="b"/>
            <a:pathLst>
              <a:path w="7621" h="1615">
                <a:moveTo>
                  <a:pt x="0" y="0"/>
                </a:moveTo>
                <a:lnTo>
                  <a:pt x="7621" y="0"/>
                </a:lnTo>
                <a:lnTo>
                  <a:pt x="7621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4" name=""/>
          <p:cNvSpPr/>
          <p:nvPr/>
        </p:nvSpPr>
        <p:spPr>
          <a:xfrm>
            <a:off x="7962840" y="3419280"/>
            <a:ext cx="3467160" cy="581400"/>
          </a:xfrm>
          <a:custGeom>
            <a:avLst/>
            <a:gdLst/>
            <a:ahLst/>
            <a:rect l="0" t="0" r="r" b="b"/>
            <a:pathLst>
              <a:path w="9631" h="1615">
                <a:moveTo>
                  <a:pt x="0" y="0"/>
                </a:moveTo>
                <a:lnTo>
                  <a:pt x="9631" y="0"/>
                </a:lnTo>
                <a:lnTo>
                  <a:pt x="9631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5" name=""/>
          <p:cNvSpPr/>
          <p:nvPr/>
        </p:nvSpPr>
        <p:spPr>
          <a:xfrm>
            <a:off x="771480" y="4000320"/>
            <a:ext cx="1428840" cy="581400"/>
          </a:xfrm>
          <a:custGeom>
            <a:avLst/>
            <a:gdLst/>
            <a:ahLst/>
            <a:rect l="0" t="0" r="r" b="b"/>
            <a:pathLst>
              <a:path w="3969" h="1615">
                <a:moveTo>
                  <a:pt x="0" y="0"/>
                </a:moveTo>
                <a:lnTo>
                  <a:pt x="3969" y="0"/>
                </a:lnTo>
                <a:lnTo>
                  <a:pt x="3969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6" name=""/>
          <p:cNvSpPr/>
          <p:nvPr/>
        </p:nvSpPr>
        <p:spPr>
          <a:xfrm>
            <a:off x="2199960" y="4000320"/>
            <a:ext cx="3020040" cy="581400"/>
          </a:xfrm>
          <a:custGeom>
            <a:avLst/>
            <a:gdLst/>
            <a:ahLst/>
            <a:rect l="0" t="0" r="r" b="b"/>
            <a:pathLst>
              <a:path w="8389" h="1615">
                <a:moveTo>
                  <a:pt x="0" y="0"/>
                </a:moveTo>
                <a:lnTo>
                  <a:pt x="8389" y="0"/>
                </a:lnTo>
                <a:lnTo>
                  <a:pt x="8389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7" name=""/>
          <p:cNvSpPr/>
          <p:nvPr/>
        </p:nvSpPr>
        <p:spPr>
          <a:xfrm>
            <a:off x="5219640" y="4000320"/>
            <a:ext cx="2743560" cy="581400"/>
          </a:xfrm>
          <a:custGeom>
            <a:avLst/>
            <a:gdLst/>
            <a:ahLst/>
            <a:rect l="0" t="0" r="r" b="b"/>
            <a:pathLst>
              <a:path w="7621" h="1615">
                <a:moveTo>
                  <a:pt x="0" y="0"/>
                </a:moveTo>
                <a:lnTo>
                  <a:pt x="7621" y="0"/>
                </a:lnTo>
                <a:lnTo>
                  <a:pt x="7621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8" name=""/>
          <p:cNvSpPr/>
          <p:nvPr/>
        </p:nvSpPr>
        <p:spPr>
          <a:xfrm>
            <a:off x="7962840" y="4000320"/>
            <a:ext cx="3467160" cy="581400"/>
          </a:xfrm>
          <a:custGeom>
            <a:avLst/>
            <a:gdLst/>
            <a:ahLst/>
            <a:rect l="0" t="0" r="r" b="b"/>
            <a:pathLst>
              <a:path w="9631" h="1615">
                <a:moveTo>
                  <a:pt x="0" y="0"/>
                </a:moveTo>
                <a:lnTo>
                  <a:pt x="9631" y="0"/>
                </a:lnTo>
                <a:lnTo>
                  <a:pt x="9631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9" name=""/>
          <p:cNvSpPr/>
          <p:nvPr/>
        </p:nvSpPr>
        <p:spPr>
          <a:xfrm>
            <a:off x="771480" y="4581360"/>
            <a:ext cx="1428840" cy="581400"/>
          </a:xfrm>
          <a:custGeom>
            <a:avLst/>
            <a:gdLst/>
            <a:ahLst/>
            <a:rect l="0" t="0" r="r" b="b"/>
            <a:pathLst>
              <a:path w="3969" h="1615">
                <a:moveTo>
                  <a:pt x="0" y="0"/>
                </a:moveTo>
                <a:lnTo>
                  <a:pt x="3969" y="0"/>
                </a:lnTo>
                <a:lnTo>
                  <a:pt x="3969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0" name=""/>
          <p:cNvSpPr/>
          <p:nvPr/>
        </p:nvSpPr>
        <p:spPr>
          <a:xfrm>
            <a:off x="2199960" y="4581360"/>
            <a:ext cx="3020040" cy="581400"/>
          </a:xfrm>
          <a:custGeom>
            <a:avLst/>
            <a:gdLst/>
            <a:ahLst/>
            <a:rect l="0" t="0" r="r" b="b"/>
            <a:pathLst>
              <a:path w="8389" h="1615">
                <a:moveTo>
                  <a:pt x="0" y="0"/>
                </a:moveTo>
                <a:lnTo>
                  <a:pt x="8389" y="0"/>
                </a:lnTo>
                <a:lnTo>
                  <a:pt x="8389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1" name=""/>
          <p:cNvSpPr/>
          <p:nvPr/>
        </p:nvSpPr>
        <p:spPr>
          <a:xfrm>
            <a:off x="5219640" y="4581360"/>
            <a:ext cx="2743560" cy="581400"/>
          </a:xfrm>
          <a:custGeom>
            <a:avLst/>
            <a:gdLst/>
            <a:ahLst/>
            <a:rect l="0" t="0" r="r" b="b"/>
            <a:pathLst>
              <a:path w="7621" h="1615">
                <a:moveTo>
                  <a:pt x="0" y="0"/>
                </a:moveTo>
                <a:lnTo>
                  <a:pt x="7621" y="0"/>
                </a:lnTo>
                <a:lnTo>
                  <a:pt x="7621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2" name=""/>
          <p:cNvSpPr/>
          <p:nvPr/>
        </p:nvSpPr>
        <p:spPr>
          <a:xfrm>
            <a:off x="7962840" y="4581360"/>
            <a:ext cx="3467160" cy="581400"/>
          </a:xfrm>
          <a:custGeom>
            <a:avLst/>
            <a:gdLst/>
            <a:ahLst/>
            <a:rect l="0" t="0" r="r" b="b"/>
            <a:pathLst>
              <a:path w="9631" h="1615">
                <a:moveTo>
                  <a:pt x="0" y="0"/>
                </a:moveTo>
                <a:lnTo>
                  <a:pt x="9631" y="0"/>
                </a:lnTo>
                <a:lnTo>
                  <a:pt x="9631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" name=""/>
          <p:cNvSpPr/>
          <p:nvPr/>
        </p:nvSpPr>
        <p:spPr>
          <a:xfrm>
            <a:off x="771480" y="5162400"/>
            <a:ext cx="1428840" cy="581400"/>
          </a:xfrm>
          <a:custGeom>
            <a:avLst/>
            <a:gdLst/>
            <a:ahLst/>
            <a:rect l="0" t="0" r="r" b="b"/>
            <a:pathLst>
              <a:path w="3969" h="1615">
                <a:moveTo>
                  <a:pt x="0" y="0"/>
                </a:moveTo>
                <a:lnTo>
                  <a:pt x="3969" y="0"/>
                </a:lnTo>
                <a:lnTo>
                  <a:pt x="3969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4" name=""/>
          <p:cNvSpPr/>
          <p:nvPr/>
        </p:nvSpPr>
        <p:spPr>
          <a:xfrm>
            <a:off x="2199960" y="5162400"/>
            <a:ext cx="3020040" cy="581400"/>
          </a:xfrm>
          <a:custGeom>
            <a:avLst/>
            <a:gdLst/>
            <a:ahLst/>
            <a:rect l="0" t="0" r="r" b="b"/>
            <a:pathLst>
              <a:path w="8389" h="1615">
                <a:moveTo>
                  <a:pt x="0" y="0"/>
                </a:moveTo>
                <a:lnTo>
                  <a:pt x="8389" y="0"/>
                </a:lnTo>
                <a:lnTo>
                  <a:pt x="8389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5" name=""/>
          <p:cNvSpPr/>
          <p:nvPr/>
        </p:nvSpPr>
        <p:spPr>
          <a:xfrm>
            <a:off x="5219640" y="5162400"/>
            <a:ext cx="2743560" cy="581400"/>
          </a:xfrm>
          <a:custGeom>
            <a:avLst/>
            <a:gdLst/>
            <a:ahLst/>
            <a:rect l="0" t="0" r="r" b="b"/>
            <a:pathLst>
              <a:path w="7621" h="1615">
                <a:moveTo>
                  <a:pt x="0" y="0"/>
                </a:moveTo>
                <a:lnTo>
                  <a:pt x="7621" y="0"/>
                </a:lnTo>
                <a:lnTo>
                  <a:pt x="7621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6" name=""/>
          <p:cNvSpPr/>
          <p:nvPr/>
        </p:nvSpPr>
        <p:spPr>
          <a:xfrm>
            <a:off x="7962840" y="5162400"/>
            <a:ext cx="3467160" cy="581400"/>
          </a:xfrm>
          <a:custGeom>
            <a:avLst/>
            <a:gdLst/>
            <a:ahLst/>
            <a:rect l="0" t="0" r="r" b="b"/>
            <a:pathLst>
              <a:path w="9631" h="1615">
                <a:moveTo>
                  <a:pt x="0" y="0"/>
                </a:moveTo>
                <a:lnTo>
                  <a:pt x="9631" y="0"/>
                </a:lnTo>
                <a:lnTo>
                  <a:pt x="9631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7" name=""/>
          <p:cNvSpPr/>
          <p:nvPr/>
        </p:nvSpPr>
        <p:spPr>
          <a:xfrm>
            <a:off x="761760" y="2476440"/>
            <a:ext cx="10080" cy="362160"/>
          </a:xfrm>
          <a:custGeom>
            <a:avLst/>
            <a:gdLst/>
            <a:ahLst/>
            <a:rect l="0" t="0" r="r" b="b"/>
            <a:pathLst>
              <a:path w="28" h="1006">
                <a:moveTo>
                  <a:pt x="0" y="0"/>
                </a:moveTo>
                <a:lnTo>
                  <a:pt x="28" y="0"/>
                </a:lnTo>
                <a:lnTo>
                  <a:pt x="28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8" name=""/>
          <p:cNvSpPr/>
          <p:nvPr/>
        </p:nvSpPr>
        <p:spPr>
          <a:xfrm>
            <a:off x="761760" y="2476440"/>
            <a:ext cx="1448280" cy="9720"/>
          </a:xfrm>
          <a:custGeom>
            <a:avLst/>
            <a:gdLst/>
            <a:ahLst/>
            <a:rect l="0" t="0" r="r" b="b"/>
            <a:pathLst>
              <a:path w="4023" h="27">
                <a:moveTo>
                  <a:pt x="0" y="0"/>
                </a:moveTo>
                <a:lnTo>
                  <a:pt x="4023" y="0"/>
                </a:lnTo>
                <a:lnTo>
                  <a:pt x="402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9" name=""/>
          <p:cNvSpPr/>
          <p:nvPr/>
        </p:nvSpPr>
        <p:spPr>
          <a:xfrm>
            <a:off x="2199960" y="2476440"/>
            <a:ext cx="10080" cy="362160"/>
          </a:xfrm>
          <a:custGeom>
            <a:avLst/>
            <a:gdLst/>
            <a:ahLst/>
            <a:rect l="0" t="0" r="r" b="b"/>
            <a:pathLst>
              <a:path w="28" h="1006">
                <a:moveTo>
                  <a:pt x="0" y="0"/>
                </a:moveTo>
                <a:lnTo>
                  <a:pt x="28" y="0"/>
                </a:lnTo>
                <a:lnTo>
                  <a:pt x="28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" name=""/>
          <p:cNvSpPr/>
          <p:nvPr/>
        </p:nvSpPr>
        <p:spPr>
          <a:xfrm>
            <a:off x="2209680" y="2476440"/>
            <a:ext cx="3010320" cy="9720"/>
          </a:xfrm>
          <a:custGeom>
            <a:avLst/>
            <a:gdLst/>
            <a:ahLst/>
            <a:rect l="0" t="0" r="r" b="b"/>
            <a:pathLst>
              <a:path w="8362" h="27">
                <a:moveTo>
                  <a:pt x="0" y="0"/>
                </a:moveTo>
                <a:lnTo>
                  <a:pt x="8362" y="0"/>
                </a:lnTo>
                <a:lnTo>
                  <a:pt x="8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" name=""/>
          <p:cNvSpPr/>
          <p:nvPr/>
        </p:nvSpPr>
        <p:spPr>
          <a:xfrm>
            <a:off x="5209920" y="2476440"/>
            <a:ext cx="10080" cy="362160"/>
          </a:xfrm>
          <a:custGeom>
            <a:avLst/>
            <a:gdLst/>
            <a:ahLst/>
            <a:rect l="0" t="0" r="r" b="b"/>
            <a:pathLst>
              <a:path w="28" h="1006">
                <a:moveTo>
                  <a:pt x="0" y="0"/>
                </a:moveTo>
                <a:lnTo>
                  <a:pt x="28" y="0"/>
                </a:lnTo>
                <a:lnTo>
                  <a:pt x="28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2" name=""/>
          <p:cNvSpPr/>
          <p:nvPr/>
        </p:nvSpPr>
        <p:spPr>
          <a:xfrm>
            <a:off x="5219640" y="2476440"/>
            <a:ext cx="2752920" cy="9720"/>
          </a:xfrm>
          <a:custGeom>
            <a:avLst/>
            <a:gdLst/>
            <a:ahLst/>
            <a:rect l="0" t="0" r="r" b="b"/>
            <a:pathLst>
              <a:path w="7647" h="27">
                <a:moveTo>
                  <a:pt x="0" y="0"/>
                </a:moveTo>
                <a:lnTo>
                  <a:pt x="7647" y="0"/>
                </a:lnTo>
                <a:lnTo>
                  <a:pt x="76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3" name=""/>
          <p:cNvSpPr/>
          <p:nvPr/>
        </p:nvSpPr>
        <p:spPr>
          <a:xfrm>
            <a:off x="7962840" y="2476440"/>
            <a:ext cx="9720" cy="362160"/>
          </a:xfrm>
          <a:custGeom>
            <a:avLst/>
            <a:gdLst/>
            <a:ahLst/>
            <a:rect l="0" t="0" r="r" b="b"/>
            <a:pathLst>
              <a:path w="27" h="1006">
                <a:moveTo>
                  <a:pt x="0" y="0"/>
                </a:moveTo>
                <a:lnTo>
                  <a:pt x="27" y="0"/>
                </a:lnTo>
                <a:lnTo>
                  <a:pt x="27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4" name=""/>
          <p:cNvSpPr/>
          <p:nvPr/>
        </p:nvSpPr>
        <p:spPr>
          <a:xfrm>
            <a:off x="7972200" y="2476440"/>
            <a:ext cx="3457800" cy="9720"/>
          </a:xfrm>
          <a:custGeom>
            <a:avLst/>
            <a:gdLst/>
            <a:ahLst/>
            <a:rect l="0" t="0" r="r" b="b"/>
            <a:pathLst>
              <a:path w="9605" h="27">
                <a:moveTo>
                  <a:pt x="0" y="0"/>
                </a:moveTo>
                <a:lnTo>
                  <a:pt x="9605" y="0"/>
                </a:lnTo>
                <a:lnTo>
                  <a:pt x="9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5" name=""/>
          <p:cNvSpPr/>
          <p:nvPr/>
        </p:nvSpPr>
        <p:spPr>
          <a:xfrm>
            <a:off x="11420280" y="2476440"/>
            <a:ext cx="9720" cy="362160"/>
          </a:xfrm>
          <a:custGeom>
            <a:avLst/>
            <a:gdLst/>
            <a:ahLst/>
            <a:rect l="0" t="0" r="r" b="b"/>
            <a:pathLst>
              <a:path w="27" h="1006">
                <a:moveTo>
                  <a:pt x="0" y="0"/>
                </a:moveTo>
                <a:lnTo>
                  <a:pt x="27" y="0"/>
                </a:lnTo>
                <a:lnTo>
                  <a:pt x="27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6" name=""/>
          <p:cNvSpPr/>
          <p:nvPr/>
        </p:nvSpPr>
        <p:spPr>
          <a:xfrm>
            <a:off x="761760" y="2828880"/>
            <a:ext cx="1448280" cy="9720"/>
          </a:xfrm>
          <a:custGeom>
            <a:avLst/>
            <a:gdLst/>
            <a:ahLst/>
            <a:rect l="0" t="0" r="r" b="b"/>
            <a:pathLst>
              <a:path w="4023" h="27">
                <a:moveTo>
                  <a:pt x="0" y="0"/>
                </a:moveTo>
                <a:lnTo>
                  <a:pt x="4023" y="0"/>
                </a:lnTo>
                <a:lnTo>
                  <a:pt x="402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7" name=""/>
          <p:cNvSpPr/>
          <p:nvPr/>
        </p:nvSpPr>
        <p:spPr>
          <a:xfrm>
            <a:off x="2209680" y="2828880"/>
            <a:ext cx="3010320" cy="9720"/>
          </a:xfrm>
          <a:custGeom>
            <a:avLst/>
            <a:gdLst/>
            <a:ahLst/>
            <a:rect l="0" t="0" r="r" b="b"/>
            <a:pathLst>
              <a:path w="8362" h="27">
                <a:moveTo>
                  <a:pt x="0" y="0"/>
                </a:moveTo>
                <a:lnTo>
                  <a:pt x="8362" y="0"/>
                </a:lnTo>
                <a:lnTo>
                  <a:pt x="8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8" name=""/>
          <p:cNvSpPr/>
          <p:nvPr/>
        </p:nvSpPr>
        <p:spPr>
          <a:xfrm>
            <a:off x="5219640" y="2828880"/>
            <a:ext cx="2752920" cy="9720"/>
          </a:xfrm>
          <a:custGeom>
            <a:avLst/>
            <a:gdLst/>
            <a:ahLst/>
            <a:rect l="0" t="0" r="r" b="b"/>
            <a:pathLst>
              <a:path w="7647" h="27">
                <a:moveTo>
                  <a:pt x="0" y="0"/>
                </a:moveTo>
                <a:lnTo>
                  <a:pt x="7647" y="0"/>
                </a:lnTo>
                <a:lnTo>
                  <a:pt x="76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9" name=""/>
          <p:cNvSpPr/>
          <p:nvPr/>
        </p:nvSpPr>
        <p:spPr>
          <a:xfrm>
            <a:off x="7972200" y="2828880"/>
            <a:ext cx="3457800" cy="9720"/>
          </a:xfrm>
          <a:custGeom>
            <a:avLst/>
            <a:gdLst/>
            <a:ahLst/>
            <a:rect l="0" t="0" r="r" b="b"/>
            <a:pathLst>
              <a:path w="9605" h="27">
                <a:moveTo>
                  <a:pt x="0" y="0"/>
                </a:moveTo>
                <a:lnTo>
                  <a:pt x="9605" y="0"/>
                </a:lnTo>
                <a:lnTo>
                  <a:pt x="9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0" name=""/>
          <p:cNvSpPr/>
          <p:nvPr/>
        </p:nvSpPr>
        <p:spPr>
          <a:xfrm>
            <a:off x="761760" y="283824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0"/>
                </a:moveTo>
                <a:lnTo>
                  <a:pt x="28" y="0"/>
                </a:lnTo>
                <a:lnTo>
                  <a:pt x="28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1" name=""/>
          <p:cNvSpPr/>
          <p:nvPr/>
        </p:nvSpPr>
        <p:spPr>
          <a:xfrm>
            <a:off x="2199960" y="283824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0"/>
                </a:moveTo>
                <a:lnTo>
                  <a:pt x="28" y="0"/>
                </a:lnTo>
                <a:lnTo>
                  <a:pt x="28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2" name=""/>
          <p:cNvSpPr/>
          <p:nvPr/>
        </p:nvSpPr>
        <p:spPr>
          <a:xfrm>
            <a:off x="5209920" y="283824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0"/>
                </a:moveTo>
                <a:lnTo>
                  <a:pt x="28" y="0"/>
                </a:lnTo>
                <a:lnTo>
                  <a:pt x="28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3" name=""/>
          <p:cNvSpPr/>
          <p:nvPr/>
        </p:nvSpPr>
        <p:spPr>
          <a:xfrm>
            <a:off x="7962840" y="2838240"/>
            <a:ext cx="9720" cy="581400"/>
          </a:xfrm>
          <a:custGeom>
            <a:avLst/>
            <a:gdLst/>
            <a:ahLst/>
            <a:rect l="0" t="0" r="r" b="b"/>
            <a:pathLst>
              <a:path w="27" h="1615">
                <a:moveTo>
                  <a:pt x="0" y="0"/>
                </a:moveTo>
                <a:lnTo>
                  <a:pt x="27" y="0"/>
                </a:lnTo>
                <a:lnTo>
                  <a:pt x="27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4" name=""/>
          <p:cNvSpPr/>
          <p:nvPr/>
        </p:nvSpPr>
        <p:spPr>
          <a:xfrm>
            <a:off x="11420280" y="2838240"/>
            <a:ext cx="9720" cy="581400"/>
          </a:xfrm>
          <a:custGeom>
            <a:avLst/>
            <a:gdLst/>
            <a:ahLst/>
            <a:rect l="0" t="0" r="r" b="b"/>
            <a:pathLst>
              <a:path w="27" h="1615">
                <a:moveTo>
                  <a:pt x="0" y="0"/>
                </a:moveTo>
                <a:lnTo>
                  <a:pt x="27" y="0"/>
                </a:lnTo>
                <a:lnTo>
                  <a:pt x="27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5" name=""/>
          <p:cNvSpPr/>
          <p:nvPr/>
        </p:nvSpPr>
        <p:spPr>
          <a:xfrm>
            <a:off x="761760" y="341928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0"/>
                </a:moveTo>
                <a:lnTo>
                  <a:pt x="28" y="0"/>
                </a:lnTo>
                <a:lnTo>
                  <a:pt x="28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6" name=""/>
          <p:cNvSpPr/>
          <p:nvPr/>
        </p:nvSpPr>
        <p:spPr>
          <a:xfrm>
            <a:off x="761760" y="3409920"/>
            <a:ext cx="1448280" cy="9720"/>
          </a:xfrm>
          <a:custGeom>
            <a:avLst/>
            <a:gdLst/>
            <a:ahLst/>
            <a:rect l="0" t="0" r="r" b="b"/>
            <a:pathLst>
              <a:path w="4023" h="27">
                <a:moveTo>
                  <a:pt x="0" y="0"/>
                </a:moveTo>
                <a:lnTo>
                  <a:pt x="4023" y="0"/>
                </a:lnTo>
                <a:lnTo>
                  <a:pt x="402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7" name=""/>
          <p:cNvSpPr/>
          <p:nvPr/>
        </p:nvSpPr>
        <p:spPr>
          <a:xfrm>
            <a:off x="2199960" y="341928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0"/>
                </a:moveTo>
                <a:lnTo>
                  <a:pt x="28" y="0"/>
                </a:lnTo>
                <a:lnTo>
                  <a:pt x="28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8" name=""/>
          <p:cNvSpPr/>
          <p:nvPr/>
        </p:nvSpPr>
        <p:spPr>
          <a:xfrm>
            <a:off x="2209680" y="3409920"/>
            <a:ext cx="3010320" cy="9720"/>
          </a:xfrm>
          <a:custGeom>
            <a:avLst/>
            <a:gdLst/>
            <a:ahLst/>
            <a:rect l="0" t="0" r="r" b="b"/>
            <a:pathLst>
              <a:path w="8362" h="27">
                <a:moveTo>
                  <a:pt x="0" y="0"/>
                </a:moveTo>
                <a:lnTo>
                  <a:pt x="8362" y="0"/>
                </a:lnTo>
                <a:lnTo>
                  <a:pt x="8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9" name=""/>
          <p:cNvSpPr/>
          <p:nvPr/>
        </p:nvSpPr>
        <p:spPr>
          <a:xfrm>
            <a:off x="5209920" y="341928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0"/>
                </a:moveTo>
                <a:lnTo>
                  <a:pt x="28" y="0"/>
                </a:lnTo>
                <a:lnTo>
                  <a:pt x="28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0" name=""/>
          <p:cNvSpPr/>
          <p:nvPr/>
        </p:nvSpPr>
        <p:spPr>
          <a:xfrm>
            <a:off x="5219640" y="3409920"/>
            <a:ext cx="2752920" cy="9720"/>
          </a:xfrm>
          <a:custGeom>
            <a:avLst/>
            <a:gdLst/>
            <a:ahLst/>
            <a:rect l="0" t="0" r="r" b="b"/>
            <a:pathLst>
              <a:path w="7647" h="27">
                <a:moveTo>
                  <a:pt x="0" y="0"/>
                </a:moveTo>
                <a:lnTo>
                  <a:pt x="7647" y="0"/>
                </a:lnTo>
                <a:lnTo>
                  <a:pt x="76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1" name=""/>
          <p:cNvSpPr/>
          <p:nvPr/>
        </p:nvSpPr>
        <p:spPr>
          <a:xfrm>
            <a:off x="7962840" y="3419280"/>
            <a:ext cx="9720" cy="581400"/>
          </a:xfrm>
          <a:custGeom>
            <a:avLst/>
            <a:gdLst/>
            <a:ahLst/>
            <a:rect l="0" t="0" r="r" b="b"/>
            <a:pathLst>
              <a:path w="27" h="1615">
                <a:moveTo>
                  <a:pt x="0" y="0"/>
                </a:moveTo>
                <a:lnTo>
                  <a:pt x="27" y="0"/>
                </a:lnTo>
                <a:lnTo>
                  <a:pt x="27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2" name=""/>
          <p:cNvSpPr/>
          <p:nvPr/>
        </p:nvSpPr>
        <p:spPr>
          <a:xfrm>
            <a:off x="7972200" y="3409920"/>
            <a:ext cx="3457800" cy="9720"/>
          </a:xfrm>
          <a:custGeom>
            <a:avLst/>
            <a:gdLst/>
            <a:ahLst/>
            <a:rect l="0" t="0" r="r" b="b"/>
            <a:pathLst>
              <a:path w="9605" h="27">
                <a:moveTo>
                  <a:pt x="0" y="0"/>
                </a:moveTo>
                <a:lnTo>
                  <a:pt x="9605" y="0"/>
                </a:lnTo>
                <a:lnTo>
                  <a:pt x="9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3" name=""/>
          <p:cNvSpPr/>
          <p:nvPr/>
        </p:nvSpPr>
        <p:spPr>
          <a:xfrm>
            <a:off x="11420280" y="3419280"/>
            <a:ext cx="9720" cy="581400"/>
          </a:xfrm>
          <a:custGeom>
            <a:avLst/>
            <a:gdLst/>
            <a:ahLst/>
            <a:rect l="0" t="0" r="r" b="b"/>
            <a:pathLst>
              <a:path w="27" h="1615">
                <a:moveTo>
                  <a:pt x="0" y="0"/>
                </a:moveTo>
                <a:lnTo>
                  <a:pt x="27" y="0"/>
                </a:lnTo>
                <a:lnTo>
                  <a:pt x="27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4" name=""/>
          <p:cNvSpPr/>
          <p:nvPr/>
        </p:nvSpPr>
        <p:spPr>
          <a:xfrm>
            <a:off x="761760" y="400032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0"/>
                </a:moveTo>
                <a:lnTo>
                  <a:pt x="28" y="0"/>
                </a:lnTo>
                <a:lnTo>
                  <a:pt x="28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5" name=""/>
          <p:cNvSpPr/>
          <p:nvPr/>
        </p:nvSpPr>
        <p:spPr>
          <a:xfrm>
            <a:off x="761760" y="3990960"/>
            <a:ext cx="1448280" cy="9720"/>
          </a:xfrm>
          <a:custGeom>
            <a:avLst/>
            <a:gdLst/>
            <a:ahLst/>
            <a:rect l="0" t="0" r="r" b="b"/>
            <a:pathLst>
              <a:path w="4023" h="27">
                <a:moveTo>
                  <a:pt x="0" y="0"/>
                </a:moveTo>
                <a:lnTo>
                  <a:pt x="4023" y="0"/>
                </a:lnTo>
                <a:lnTo>
                  <a:pt x="402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6" name=""/>
          <p:cNvSpPr/>
          <p:nvPr/>
        </p:nvSpPr>
        <p:spPr>
          <a:xfrm>
            <a:off x="2199960" y="400032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0"/>
                </a:moveTo>
                <a:lnTo>
                  <a:pt x="28" y="0"/>
                </a:lnTo>
                <a:lnTo>
                  <a:pt x="28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7" name=""/>
          <p:cNvSpPr/>
          <p:nvPr/>
        </p:nvSpPr>
        <p:spPr>
          <a:xfrm>
            <a:off x="2209680" y="3990960"/>
            <a:ext cx="3010320" cy="9720"/>
          </a:xfrm>
          <a:custGeom>
            <a:avLst/>
            <a:gdLst/>
            <a:ahLst/>
            <a:rect l="0" t="0" r="r" b="b"/>
            <a:pathLst>
              <a:path w="8362" h="27">
                <a:moveTo>
                  <a:pt x="0" y="0"/>
                </a:moveTo>
                <a:lnTo>
                  <a:pt x="8362" y="0"/>
                </a:lnTo>
                <a:lnTo>
                  <a:pt x="8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8" name=""/>
          <p:cNvSpPr/>
          <p:nvPr/>
        </p:nvSpPr>
        <p:spPr>
          <a:xfrm>
            <a:off x="5209920" y="400032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0"/>
                </a:moveTo>
                <a:lnTo>
                  <a:pt x="28" y="0"/>
                </a:lnTo>
                <a:lnTo>
                  <a:pt x="28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9" name=""/>
          <p:cNvSpPr/>
          <p:nvPr/>
        </p:nvSpPr>
        <p:spPr>
          <a:xfrm>
            <a:off x="5219640" y="3990960"/>
            <a:ext cx="2752920" cy="9720"/>
          </a:xfrm>
          <a:custGeom>
            <a:avLst/>
            <a:gdLst/>
            <a:ahLst/>
            <a:rect l="0" t="0" r="r" b="b"/>
            <a:pathLst>
              <a:path w="7647" h="27">
                <a:moveTo>
                  <a:pt x="0" y="0"/>
                </a:moveTo>
                <a:lnTo>
                  <a:pt x="7647" y="0"/>
                </a:lnTo>
                <a:lnTo>
                  <a:pt x="76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0" name=""/>
          <p:cNvSpPr/>
          <p:nvPr/>
        </p:nvSpPr>
        <p:spPr>
          <a:xfrm>
            <a:off x="7962840" y="4000320"/>
            <a:ext cx="9720" cy="581400"/>
          </a:xfrm>
          <a:custGeom>
            <a:avLst/>
            <a:gdLst/>
            <a:ahLst/>
            <a:rect l="0" t="0" r="r" b="b"/>
            <a:pathLst>
              <a:path w="27" h="1615">
                <a:moveTo>
                  <a:pt x="0" y="0"/>
                </a:moveTo>
                <a:lnTo>
                  <a:pt x="27" y="0"/>
                </a:lnTo>
                <a:lnTo>
                  <a:pt x="27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1" name=""/>
          <p:cNvSpPr/>
          <p:nvPr/>
        </p:nvSpPr>
        <p:spPr>
          <a:xfrm>
            <a:off x="7972200" y="3990960"/>
            <a:ext cx="3457800" cy="9720"/>
          </a:xfrm>
          <a:custGeom>
            <a:avLst/>
            <a:gdLst/>
            <a:ahLst/>
            <a:rect l="0" t="0" r="r" b="b"/>
            <a:pathLst>
              <a:path w="9605" h="27">
                <a:moveTo>
                  <a:pt x="0" y="0"/>
                </a:moveTo>
                <a:lnTo>
                  <a:pt x="9605" y="0"/>
                </a:lnTo>
                <a:lnTo>
                  <a:pt x="9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2" name=""/>
          <p:cNvSpPr/>
          <p:nvPr/>
        </p:nvSpPr>
        <p:spPr>
          <a:xfrm>
            <a:off x="11420280" y="4000320"/>
            <a:ext cx="9720" cy="581400"/>
          </a:xfrm>
          <a:custGeom>
            <a:avLst/>
            <a:gdLst/>
            <a:ahLst/>
            <a:rect l="0" t="0" r="r" b="b"/>
            <a:pathLst>
              <a:path w="27" h="1615">
                <a:moveTo>
                  <a:pt x="0" y="0"/>
                </a:moveTo>
                <a:lnTo>
                  <a:pt x="27" y="0"/>
                </a:lnTo>
                <a:lnTo>
                  <a:pt x="27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3" name=""/>
          <p:cNvSpPr/>
          <p:nvPr/>
        </p:nvSpPr>
        <p:spPr>
          <a:xfrm>
            <a:off x="761760" y="458136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0"/>
                </a:moveTo>
                <a:lnTo>
                  <a:pt x="28" y="0"/>
                </a:lnTo>
                <a:lnTo>
                  <a:pt x="28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4" name=""/>
          <p:cNvSpPr/>
          <p:nvPr/>
        </p:nvSpPr>
        <p:spPr>
          <a:xfrm>
            <a:off x="761760" y="4571640"/>
            <a:ext cx="1448280" cy="10080"/>
          </a:xfrm>
          <a:custGeom>
            <a:avLst/>
            <a:gdLst/>
            <a:ahLst/>
            <a:rect l="0" t="0" r="r" b="b"/>
            <a:pathLst>
              <a:path w="4023" h="28">
                <a:moveTo>
                  <a:pt x="0" y="0"/>
                </a:moveTo>
                <a:lnTo>
                  <a:pt x="4023" y="0"/>
                </a:lnTo>
                <a:lnTo>
                  <a:pt x="402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5" name=""/>
          <p:cNvSpPr/>
          <p:nvPr/>
        </p:nvSpPr>
        <p:spPr>
          <a:xfrm>
            <a:off x="2199960" y="458136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0"/>
                </a:moveTo>
                <a:lnTo>
                  <a:pt x="28" y="0"/>
                </a:lnTo>
                <a:lnTo>
                  <a:pt x="28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6" name=""/>
          <p:cNvSpPr/>
          <p:nvPr/>
        </p:nvSpPr>
        <p:spPr>
          <a:xfrm>
            <a:off x="2209680" y="4571640"/>
            <a:ext cx="3010320" cy="10080"/>
          </a:xfrm>
          <a:custGeom>
            <a:avLst/>
            <a:gdLst/>
            <a:ahLst/>
            <a:rect l="0" t="0" r="r" b="b"/>
            <a:pathLst>
              <a:path w="8362" h="28">
                <a:moveTo>
                  <a:pt x="0" y="0"/>
                </a:moveTo>
                <a:lnTo>
                  <a:pt x="8362" y="0"/>
                </a:lnTo>
                <a:lnTo>
                  <a:pt x="8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7" name=""/>
          <p:cNvSpPr/>
          <p:nvPr/>
        </p:nvSpPr>
        <p:spPr>
          <a:xfrm>
            <a:off x="5209920" y="458136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0"/>
                </a:moveTo>
                <a:lnTo>
                  <a:pt x="28" y="0"/>
                </a:lnTo>
                <a:lnTo>
                  <a:pt x="28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8" name=""/>
          <p:cNvSpPr/>
          <p:nvPr/>
        </p:nvSpPr>
        <p:spPr>
          <a:xfrm>
            <a:off x="5219640" y="4571640"/>
            <a:ext cx="2752920" cy="10080"/>
          </a:xfrm>
          <a:custGeom>
            <a:avLst/>
            <a:gdLst/>
            <a:ahLst/>
            <a:rect l="0" t="0" r="r" b="b"/>
            <a:pathLst>
              <a:path w="7647" h="28">
                <a:moveTo>
                  <a:pt x="0" y="0"/>
                </a:moveTo>
                <a:lnTo>
                  <a:pt x="7647" y="0"/>
                </a:lnTo>
                <a:lnTo>
                  <a:pt x="76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9" name=""/>
          <p:cNvSpPr/>
          <p:nvPr/>
        </p:nvSpPr>
        <p:spPr>
          <a:xfrm>
            <a:off x="7962840" y="4581360"/>
            <a:ext cx="9720" cy="581400"/>
          </a:xfrm>
          <a:custGeom>
            <a:avLst/>
            <a:gdLst/>
            <a:ahLst/>
            <a:rect l="0" t="0" r="r" b="b"/>
            <a:pathLst>
              <a:path w="27" h="1615">
                <a:moveTo>
                  <a:pt x="0" y="0"/>
                </a:moveTo>
                <a:lnTo>
                  <a:pt x="27" y="0"/>
                </a:lnTo>
                <a:lnTo>
                  <a:pt x="27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0" name=""/>
          <p:cNvSpPr/>
          <p:nvPr/>
        </p:nvSpPr>
        <p:spPr>
          <a:xfrm>
            <a:off x="7972200" y="4571640"/>
            <a:ext cx="3457800" cy="10080"/>
          </a:xfrm>
          <a:custGeom>
            <a:avLst/>
            <a:gdLst/>
            <a:ahLst/>
            <a:rect l="0" t="0" r="r" b="b"/>
            <a:pathLst>
              <a:path w="9605" h="28">
                <a:moveTo>
                  <a:pt x="0" y="0"/>
                </a:moveTo>
                <a:lnTo>
                  <a:pt x="9605" y="0"/>
                </a:lnTo>
                <a:lnTo>
                  <a:pt x="9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1" name=""/>
          <p:cNvSpPr/>
          <p:nvPr/>
        </p:nvSpPr>
        <p:spPr>
          <a:xfrm>
            <a:off x="11420280" y="4581360"/>
            <a:ext cx="9720" cy="581400"/>
          </a:xfrm>
          <a:custGeom>
            <a:avLst/>
            <a:gdLst/>
            <a:ahLst/>
            <a:rect l="0" t="0" r="r" b="b"/>
            <a:pathLst>
              <a:path w="27" h="1615">
                <a:moveTo>
                  <a:pt x="0" y="0"/>
                </a:moveTo>
                <a:lnTo>
                  <a:pt x="27" y="0"/>
                </a:lnTo>
                <a:lnTo>
                  <a:pt x="27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2" name=""/>
          <p:cNvSpPr/>
          <p:nvPr/>
        </p:nvSpPr>
        <p:spPr>
          <a:xfrm>
            <a:off x="761760" y="516240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0"/>
                </a:moveTo>
                <a:lnTo>
                  <a:pt x="28" y="0"/>
                </a:lnTo>
                <a:lnTo>
                  <a:pt x="28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3" name=""/>
          <p:cNvSpPr/>
          <p:nvPr/>
        </p:nvSpPr>
        <p:spPr>
          <a:xfrm>
            <a:off x="761760" y="5152680"/>
            <a:ext cx="1448280" cy="10080"/>
          </a:xfrm>
          <a:custGeom>
            <a:avLst/>
            <a:gdLst/>
            <a:ahLst/>
            <a:rect l="0" t="0" r="r" b="b"/>
            <a:pathLst>
              <a:path w="4023" h="28">
                <a:moveTo>
                  <a:pt x="0" y="0"/>
                </a:moveTo>
                <a:lnTo>
                  <a:pt x="4023" y="0"/>
                </a:lnTo>
                <a:lnTo>
                  <a:pt x="402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4" name=""/>
          <p:cNvSpPr/>
          <p:nvPr/>
        </p:nvSpPr>
        <p:spPr>
          <a:xfrm>
            <a:off x="2199960" y="516240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0"/>
                </a:moveTo>
                <a:lnTo>
                  <a:pt x="28" y="0"/>
                </a:lnTo>
                <a:lnTo>
                  <a:pt x="28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5" name=""/>
          <p:cNvSpPr/>
          <p:nvPr/>
        </p:nvSpPr>
        <p:spPr>
          <a:xfrm>
            <a:off x="2209680" y="5152680"/>
            <a:ext cx="3010320" cy="10080"/>
          </a:xfrm>
          <a:custGeom>
            <a:avLst/>
            <a:gdLst/>
            <a:ahLst/>
            <a:rect l="0" t="0" r="r" b="b"/>
            <a:pathLst>
              <a:path w="8362" h="28">
                <a:moveTo>
                  <a:pt x="0" y="0"/>
                </a:moveTo>
                <a:lnTo>
                  <a:pt x="8362" y="0"/>
                </a:lnTo>
                <a:lnTo>
                  <a:pt x="8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6" name=""/>
          <p:cNvSpPr/>
          <p:nvPr/>
        </p:nvSpPr>
        <p:spPr>
          <a:xfrm>
            <a:off x="5209920" y="516240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0"/>
                </a:moveTo>
                <a:lnTo>
                  <a:pt x="28" y="0"/>
                </a:lnTo>
                <a:lnTo>
                  <a:pt x="28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7" name=""/>
          <p:cNvSpPr/>
          <p:nvPr/>
        </p:nvSpPr>
        <p:spPr>
          <a:xfrm>
            <a:off x="5219640" y="5152680"/>
            <a:ext cx="2752920" cy="10080"/>
          </a:xfrm>
          <a:custGeom>
            <a:avLst/>
            <a:gdLst/>
            <a:ahLst/>
            <a:rect l="0" t="0" r="r" b="b"/>
            <a:pathLst>
              <a:path w="7647" h="28">
                <a:moveTo>
                  <a:pt x="0" y="0"/>
                </a:moveTo>
                <a:lnTo>
                  <a:pt x="7647" y="0"/>
                </a:lnTo>
                <a:lnTo>
                  <a:pt x="76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8" name=""/>
          <p:cNvSpPr/>
          <p:nvPr/>
        </p:nvSpPr>
        <p:spPr>
          <a:xfrm>
            <a:off x="7962840" y="5162400"/>
            <a:ext cx="9720" cy="581400"/>
          </a:xfrm>
          <a:custGeom>
            <a:avLst/>
            <a:gdLst/>
            <a:ahLst/>
            <a:rect l="0" t="0" r="r" b="b"/>
            <a:pathLst>
              <a:path w="27" h="1615">
                <a:moveTo>
                  <a:pt x="0" y="0"/>
                </a:moveTo>
                <a:lnTo>
                  <a:pt x="27" y="0"/>
                </a:lnTo>
                <a:lnTo>
                  <a:pt x="27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9" name=""/>
          <p:cNvSpPr/>
          <p:nvPr/>
        </p:nvSpPr>
        <p:spPr>
          <a:xfrm>
            <a:off x="7972200" y="5152680"/>
            <a:ext cx="3457800" cy="10080"/>
          </a:xfrm>
          <a:custGeom>
            <a:avLst/>
            <a:gdLst/>
            <a:ahLst/>
            <a:rect l="0" t="0" r="r" b="b"/>
            <a:pathLst>
              <a:path w="9605" h="28">
                <a:moveTo>
                  <a:pt x="0" y="0"/>
                </a:moveTo>
                <a:lnTo>
                  <a:pt x="9605" y="0"/>
                </a:lnTo>
                <a:lnTo>
                  <a:pt x="9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0" name=""/>
          <p:cNvSpPr/>
          <p:nvPr/>
        </p:nvSpPr>
        <p:spPr>
          <a:xfrm>
            <a:off x="11420280" y="5162400"/>
            <a:ext cx="9720" cy="581400"/>
          </a:xfrm>
          <a:custGeom>
            <a:avLst/>
            <a:gdLst/>
            <a:ahLst/>
            <a:rect l="0" t="0" r="r" b="b"/>
            <a:pathLst>
              <a:path w="27" h="1615">
                <a:moveTo>
                  <a:pt x="0" y="0"/>
                </a:moveTo>
                <a:lnTo>
                  <a:pt x="27" y="0"/>
                </a:lnTo>
                <a:lnTo>
                  <a:pt x="27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1" name=""/>
          <p:cNvSpPr/>
          <p:nvPr/>
        </p:nvSpPr>
        <p:spPr>
          <a:xfrm>
            <a:off x="761760" y="5733720"/>
            <a:ext cx="1448280" cy="10080"/>
          </a:xfrm>
          <a:custGeom>
            <a:avLst/>
            <a:gdLst/>
            <a:ahLst/>
            <a:rect l="0" t="0" r="r" b="b"/>
            <a:pathLst>
              <a:path w="4023" h="28">
                <a:moveTo>
                  <a:pt x="0" y="0"/>
                </a:moveTo>
                <a:lnTo>
                  <a:pt x="4023" y="0"/>
                </a:lnTo>
                <a:lnTo>
                  <a:pt x="402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2" name=""/>
          <p:cNvSpPr/>
          <p:nvPr/>
        </p:nvSpPr>
        <p:spPr>
          <a:xfrm>
            <a:off x="2209680" y="5733720"/>
            <a:ext cx="3010320" cy="10080"/>
          </a:xfrm>
          <a:custGeom>
            <a:avLst/>
            <a:gdLst/>
            <a:ahLst/>
            <a:rect l="0" t="0" r="r" b="b"/>
            <a:pathLst>
              <a:path w="8362" h="28">
                <a:moveTo>
                  <a:pt x="0" y="0"/>
                </a:moveTo>
                <a:lnTo>
                  <a:pt x="8362" y="0"/>
                </a:lnTo>
                <a:lnTo>
                  <a:pt x="8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3" name=""/>
          <p:cNvSpPr/>
          <p:nvPr/>
        </p:nvSpPr>
        <p:spPr>
          <a:xfrm>
            <a:off x="5219640" y="5733720"/>
            <a:ext cx="2752920" cy="10080"/>
          </a:xfrm>
          <a:custGeom>
            <a:avLst/>
            <a:gdLst/>
            <a:ahLst/>
            <a:rect l="0" t="0" r="r" b="b"/>
            <a:pathLst>
              <a:path w="7647" h="28">
                <a:moveTo>
                  <a:pt x="0" y="0"/>
                </a:moveTo>
                <a:lnTo>
                  <a:pt x="7647" y="0"/>
                </a:lnTo>
                <a:lnTo>
                  <a:pt x="76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4" name=""/>
          <p:cNvSpPr/>
          <p:nvPr/>
        </p:nvSpPr>
        <p:spPr>
          <a:xfrm>
            <a:off x="7972200" y="5733720"/>
            <a:ext cx="3457800" cy="10080"/>
          </a:xfrm>
          <a:custGeom>
            <a:avLst/>
            <a:gdLst/>
            <a:ahLst/>
            <a:rect l="0" t="0" r="r" b="b"/>
            <a:pathLst>
              <a:path w="9605" h="28">
                <a:moveTo>
                  <a:pt x="0" y="0"/>
                </a:moveTo>
                <a:lnTo>
                  <a:pt x="9605" y="0"/>
                </a:lnTo>
                <a:lnTo>
                  <a:pt x="9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762120" y="1698840"/>
            <a:ext cx="105120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The same loop reappears whether you're writing code, solving a physics problem, or running a business —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762120" y="2003760"/>
            <a:ext cx="28544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only the vocabulary changes.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1316160" y="2567160"/>
            <a:ext cx="33984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Step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2872080" y="2567160"/>
            <a:ext cx="167976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Software Engineering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5734800" y="2567160"/>
            <a:ext cx="171252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Physics / Engineering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8975520" y="2567160"/>
            <a:ext cx="143784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Management (SPS)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905040" y="3034080"/>
            <a:ext cx="91116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Understand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2342880" y="2919600"/>
            <a:ext cx="233676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Write down what you know; ask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2342880" y="3148200"/>
            <a:ext cx="158832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about inputs/outputs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5393520" y="2919600"/>
            <a:ext cx="6724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Thinking</a:t>
            </a:r>
            <a:endParaRPr b="0" lang="en-US" sz="12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6008760" y="2919600"/>
            <a:ext cx="175320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: read carefully, identify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5356800" y="3148200"/>
            <a:ext cx="124056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given vs. needed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8101440" y="3034080"/>
            <a:ext cx="136332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Problem deﬁnition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905040" y="3500640"/>
            <a:ext cx="66600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Devise a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905040" y="3729240"/>
            <a:ext cx="64800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strategy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2342880" y="3500640"/>
            <a:ext cx="247608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Divide and conquer; reuse known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2342880" y="3729240"/>
            <a:ext cx="79560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algorithms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5393520" y="3500640"/>
            <a:ext cx="6724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Thinking</a:t>
            </a:r>
            <a:endParaRPr b="0" lang="en-US" sz="12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6008760" y="3500640"/>
            <a:ext cx="147888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: sketch the system,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5356800" y="3729240"/>
            <a:ext cx="73512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strategize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5" name=""/>
          <p:cNvSpPr txBox="1"/>
          <p:nvPr/>
        </p:nvSpPr>
        <p:spPr>
          <a:xfrm>
            <a:off x="8101440" y="3615120"/>
            <a:ext cx="216396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Problem analysis (root cause)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905040" y="4196160"/>
            <a:ext cx="89712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Carry it out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2342880" y="4196160"/>
            <a:ext cx="174312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Combine sub-solutions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5393520" y="4081680"/>
            <a:ext cx="45540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Doing</a:t>
            </a:r>
            <a:endParaRPr b="0" lang="en-US" sz="12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5798160" y="4081680"/>
            <a:ext cx="168768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: carry out the strategy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5356800" y="4310280"/>
            <a:ext cx="97272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with symbols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8101440" y="4196160"/>
            <a:ext cx="210744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Solution design &amp; evaluation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905040" y="4777200"/>
            <a:ext cx="47628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Check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2342880" y="4662720"/>
            <a:ext cx="249840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Due diligence — test edge/corner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2342880" y="4891320"/>
            <a:ext cx="40320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cases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5393520" y="4662720"/>
            <a:ext cx="45540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Doing</a:t>
            </a:r>
            <a:endParaRPr b="0" lang="en-US" sz="12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5798160" y="4662720"/>
            <a:ext cx="190224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: check the answer makes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7" name=""/>
          <p:cNvSpPr txBox="1"/>
          <p:nvPr/>
        </p:nvSpPr>
        <p:spPr>
          <a:xfrm>
            <a:off x="5356800" y="4891320"/>
            <a:ext cx="42048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sense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8" name=""/>
          <p:cNvSpPr txBox="1"/>
          <p:nvPr/>
        </p:nvSpPr>
        <p:spPr>
          <a:xfrm>
            <a:off x="8101440" y="4777200"/>
            <a:ext cx="131148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Solution selection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905040" y="5358240"/>
            <a:ext cx="72576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Lock it in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2342880" y="5243760"/>
            <a:ext cx="166644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Optimize using known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2342880" y="5472360"/>
            <a:ext cx="199116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algorithms/data structures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5356800" y="5358240"/>
            <a:ext cx="15300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—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8101440" y="5243760"/>
            <a:ext cx="244872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Standardise (PDCA "Act" / DMAIC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8101440" y="5472360"/>
            <a:ext cx="243504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"Control") — prevents recurrence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851400" y="5758920"/>
            <a:ext cx="83466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6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1. </a:t>
            </a:r>
            <a:r>
              <a:rPr b="0" lang="en-US" sz="96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Video notes, Florian (software engineering); "R2 — Engineering Problem Solving Skills" (physics/engineering); Mohaghegh &amp; Furlan (2020).</a:t>
            </a:r>
            <a:endParaRPr b="0" lang="en-US" sz="9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661057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762120" y="372600"/>
            <a:ext cx="693684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The Universal Process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8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9" name=""/>
          <p:cNvSpPr txBox="1"/>
          <p:nvPr/>
        </p:nvSpPr>
        <p:spPr>
          <a:xfrm>
            <a:off x="1238400" y="6569280"/>
            <a:ext cx="31820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0020e35 | © 08.10.2026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0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9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04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5" name=""/>
          <p:cNvSpPr/>
          <p:nvPr/>
        </p:nvSpPr>
        <p:spPr>
          <a:xfrm>
            <a:off x="761760" y="2600280"/>
            <a:ext cx="47880" cy="304920"/>
          </a:xfrm>
          <a:custGeom>
            <a:avLst/>
            <a:gdLst/>
            <a:ahLst/>
            <a:rect l="0" t="0" r="r" b="b"/>
            <a:pathLst>
              <a:path w="133" h="847">
                <a:moveTo>
                  <a:pt x="0" y="0"/>
                </a:moveTo>
                <a:lnTo>
                  <a:pt x="133" y="0"/>
                </a:lnTo>
                <a:lnTo>
                  <a:pt x="13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6" name=""/>
          <p:cNvSpPr txBox="1"/>
          <p:nvPr/>
        </p:nvSpPr>
        <p:spPr>
          <a:xfrm>
            <a:off x="762120" y="2116440"/>
            <a:ext cx="2765520" cy="30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08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Step 1 - Understand</a:t>
            </a:r>
            <a:endParaRPr b="0" lang="en-US" sz="20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7" name=""/>
          <p:cNvSpPr/>
          <p:nvPr/>
        </p:nvSpPr>
        <p:spPr>
          <a:xfrm>
            <a:off x="6953040" y="2638080"/>
            <a:ext cx="238680" cy="267120"/>
          </a:xfrm>
          <a:custGeom>
            <a:avLst/>
            <a:gdLst/>
            <a:ahLst/>
            <a:rect l="0" t="0" r="r" b="b"/>
            <a:pathLst>
              <a:path w="663" h="742">
                <a:moveTo>
                  <a:pt x="0" y="584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40"/>
                  <a:pt x="62" y="33"/>
                  <a:pt x="71" y="27"/>
                </a:cubicBezTo>
                <a:cubicBezTo>
                  <a:pt x="79" y="21"/>
                  <a:pt x="88" y="17"/>
                  <a:pt x="98" y="13"/>
                </a:cubicBezTo>
                <a:cubicBezTo>
                  <a:pt x="108" y="9"/>
                  <a:pt x="118" y="6"/>
                  <a:pt x="128" y="4"/>
                </a:cubicBezTo>
                <a:cubicBezTo>
                  <a:pt x="138" y="1"/>
                  <a:pt x="148" y="0"/>
                  <a:pt x="159" y="0"/>
                </a:cubicBezTo>
                <a:lnTo>
                  <a:pt x="504" y="0"/>
                </a:lnTo>
                <a:cubicBezTo>
                  <a:pt x="514" y="0"/>
                  <a:pt x="525" y="1"/>
                  <a:pt x="535" y="4"/>
                </a:cubicBezTo>
                <a:cubicBezTo>
                  <a:pt x="545" y="6"/>
                  <a:pt x="555" y="9"/>
                  <a:pt x="565" y="13"/>
                </a:cubicBezTo>
                <a:cubicBezTo>
                  <a:pt x="574" y="17"/>
                  <a:pt x="583" y="21"/>
                  <a:pt x="592" y="27"/>
                </a:cubicBezTo>
                <a:cubicBezTo>
                  <a:pt x="601" y="33"/>
                  <a:pt x="609" y="40"/>
                  <a:pt x="616" y="47"/>
                </a:cubicBezTo>
                <a:cubicBezTo>
                  <a:pt x="623" y="54"/>
                  <a:pt x="630" y="62"/>
                  <a:pt x="636" y="71"/>
                </a:cubicBezTo>
                <a:cubicBezTo>
                  <a:pt x="642" y="80"/>
                  <a:pt x="646" y="89"/>
                  <a:pt x="650" y="98"/>
                </a:cubicBezTo>
                <a:cubicBezTo>
                  <a:pt x="654" y="108"/>
                  <a:pt x="657" y="118"/>
                  <a:pt x="659" y="128"/>
                </a:cubicBezTo>
                <a:cubicBezTo>
                  <a:pt x="662" y="138"/>
                  <a:pt x="663" y="149"/>
                  <a:pt x="663" y="159"/>
                </a:cubicBezTo>
                <a:lnTo>
                  <a:pt x="663" y="584"/>
                </a:lnTo>
                <a:cubicBezTo>
                  <a:pt x="663" y="594"/>
                  <a:pt x="662" y="604"/>
                  <a:pt x="659" y="615"/>
                </a:cubicBezTo>
                <a:cubicBezTo>
                  <a:pt x="657" y="625"/>
                  <a:pt x="654" y="635"/>
                  <a:pt x="650" y="644"/>
                </a:cubicBezTo>
                <a:cubicBezTo>
                  <a:pt x="646" y="654"/>
                  <a:pt x="642" y="663"/>
                  <a:pt x="636" y="672"/>
                </a:cubicBezTo>
                <a:cubicBezTo>
                  <a:pt x="630" y="680"/>
                  <a:pt x="623" y="688"/>
                  <a:pt x="616" y="696"/>
                </a:cubicBezTo>
                <a:cubicBezTo>
                  <a:pt x="609" y="703"/>
                  <a:pt x="601" y="710"/>
                  <a:pt x="592" y="716"/>
                </a:cubicBezTo>
                <a:cubicBezTo>
                  <a:pt x="583" y="721"/>
                  <a:pt x="574" y="726"/>
                  <a:pt x="565" y="730"/>
                </a:cubicBezTo>
                <a:cubicBezTo>
                  <a:pt x="555" y="734"/>
                  <a:pt x="545" y="737"/>
                  <a:pt x="535" y="739"/>
                </a:cubicBezTo>
                <a:cubicBezTo>
                  <a:pt x="525" y="741"/>
                  <a:pt x="514" y="742"/>
                  <a:pt x="504" y="742"/>
                </a:cubicBezTo>
                <a:lnTo>
                  <a:pt x="159" y="742"/>
                </a:lnTo>
                <a:cubicBezTo>
                  <a:pt x="148" y="742"/>
                  <a:pt x="138" y="741"/>
                  <a:pt x="128" y="739"/>
                </a:cubicBezTo>
                <a:cubicBezTo>
                  <a:pt x="118" y="737"/>
                  <a:pt x="108" y="734"/>
                  <a:pt x="98" y="730"/>
                </a:cubicBezTo>
                <a:cubicBezTo>
                  <a:pt x="88" y="726"/>
                  <a:pt x="79" y="721"/>
                  <a:pt x="71" y="716"/>
                </a:cubicBezTo>
                <a:cubicBezTo>
                  <a:pt x="62" y="710"/>
                  <a:pt x="54" y="703"/>
                  <a:pt x="47" y="696"/>
                </a:cubicBezTo>
                <a:cubicBezTo>
                  <a:pt x="39" y="688"/>
                  <a:pt x="33" y="680"/>
                  <a:pt x="27" y="672"/>
                </a:cubicBezTo>
                <a:cubicBezTo>
                  <a:pt x="21" y="663"/>
                  <a:pt x="16" y="654"/>
                  <a:pt x="12" y="644"/>
                </a:cubicBezTo>
                <a:cubicBezTo>
                  <a:pt x="8" y="635"/>
                  <a:pt x="5" y="625"/>
                  <a:pt x="3" y="615"/>
                </a:cubicBezTo>
                <a:cubicBezTo>
                  <a:pt x="1" y="604"/>
                  <a:pt x="0" y="594"/>
                  <a:pt x="0" y="584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1012680" y="2632320"/>
            <a:ext cx="59259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59636e"/>
                </a:solidFill>
                <a:effectLst/>
                <a:uFillTx/>
                <a:latin typeface="LucidaGrande"/>
                <a:ea typeface="LucidaGrande"/>
              </a:rPr>
              <a:t>Given the head of a linked list, rotate the list to the right by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9" name=""/>
          <p:cNvSpPr txBox="1"/>
          <p:nvPr/>
        </p:nvSpPr>
        <p:spPr>
          <a:xfrm>
            <a:off x="7021080" y="2674800"/>
            <a:ext cx="17244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60" strike="noStrike" u="non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k</a:t>
            </a:r>
            <a:endParaRPr b="0" lang="en-US" sz="13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7194240" y="2632320"/>
            <a:ext cx="7470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59636e"/>
                </a:solidFill>
                <a:effectLst/>
                <a:uFillTx/>
                <a:latin typeface="LucidaGrande"/>
                <a:ea typeface="LucidaGrande"/>
              </a:rPr>
              <a:t> places.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1" name=""/>
          <p:cNvSpPr txBox="1"/>
          <p:nvPr/>
        </p:nvSpPr>
        <p:spPr>
          <a:xfrm>
            <a:off x="762120" y="3089520"/>
            <a:ext cx="104918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Clarifying questions, as in a real interview: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Is there a maximum length? Could the list be empty, or have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2" name=""/>
          <p:cNvSpPr/>
          <p:nvPr/>
        </p:nvSpPr>
        <p:spPr>
          <a:xfrm>
            <a:off x="2571480" y="3400200"/>
            <a:ext cx="248040" cy="267120"/>
          </a:xfrm>
          <a:custGeom>
            <a:avLst/>
            <a:gdLst/>
            <a:ahLst/>
            <a:rect l="0" t="0" r="r" b="b"/>
            <a:pathLst>
              <a:path w="689" h="742">
                <a:moveTo>
                  <a:pt x="0" y="583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2" y="27"/>
                </a:cubicBezTo>
                <a:cubicBezTo>
                  <a:pt x="80" y="21"/>
                  <a:pt x="90" y="16"/>
                  <a:pt x="99" y="12"/>
                </a:cubicBezTo>
                <a:cubicBezTo>
                  <a:pt x="109" y="8"/>
                  <a:pt x="119" y="5"/>
                  <a:pt x="129" y="3"/>
                </a:cubicBezTo>
                <a:cubicBezTo>
                  <a:pt x="139" y="1"/>
                  <a:pt x="150" y="0"/>
                  <a:pt x="160" y="0"/>
                </a:cubicBezTo>
                <a:lnTo>
                  <a:pt x="530" y="0"/>
                </a:lnTo>
                <a:cubicBezTo>
                  <a:pt x="541" y="0"/>
                  <a:pt x="551" y="1"/>
                  <a:pt x="561" y="3"/>
                </a:cubicBezTo>
                <a:cubicBezTo>
                  <a:pt x="572" y="5"/>
                  <a:pt x="582" y="8"/>
                  <a:pt x="591" y="12"/>
                </a:cubicBezTo>
                <a:cubicBezTo>
                  <a:pt x="601" y="16"/>
                  <a:pt x="610" y="21"/>
                  <a:pt x="619" y="27"/>
                </a:cubicBezTo>
                <a:cubicBezTo>
                  <a:pt x="627" y="33"/>
                  <a:pt x="635" y="39"/>
                  <a:pt x="643" y="47"/>
                </a:cubicBezTo>
                <a:cubicBezTo>
                  <a:pt x="650" y="54"/>
                  <a:pt x="657" y="62"/>
                  <a:pt x="662" y="71"/>
                </a:cubicBezTo>
                <a:cubicBezTo>
                  <a:pt x="668" y="79"/>
                  <a:pt x="673" y="88"/>
                  <a:pt x="677" y="98"/>
                </a:cubicBezTo>
                <a:cubicBezTo>
                  <a:pt x="681" y="108"/>
                  <a:pt x="684" y="118"/>
                  <a:pt x="686" y="128"/>
                </a:cubicBezTo>
                <a:cubicBezTo>
                  <a:pt x="688" y="138"/>
                  <a:pt x="689" y="148"/>
                  <a:pt x="689" y="159"/>
                </a:cubicBezTo>
                <a:lnTo>
                  <a:pt x="689" y="583"/>
                </a:lnTo>
                <a:cubicBezTo>
                  <a:pt x="689" y="594"/>
                  <a:pt x="688" y="604"/>
                  <a:pt x="686" y="614"/>
                </a:cubicBezTo>
                <a:cubicBezTo>
                  <a:pt x="684" y="624"/>
                  <a:pt x="681" y="634"/>
                  <a:pt x="677" y="644"/>
                </a:cubicBezTo>
                <a:cubicBezTo>
                  <a:pt x="673" y="654"/>
                  <a:pt x="668" y="663"/>
                  <a:pt x="662" y="671"/>
                </a:cubicBezTo>
                <a:cubicBezTo>
                  <a:pt x="657" y="680"/>
                  <a:pt x="650" y="688"/>
                  <a:pt x="643" y="695"/>
                </a:cubicBezTo>
                <a:cubicBezTo>
                  <a:pt x="635" y="703"/>
                  <a:pt x="627" y="709"/>
                  <a:pt x="619" y="715"/>
                </a:cubicBezTo>
                <a:cubicBezTo>
                  <a:pt x="610" y="721"/>
                  <a:pt x="601" y="726"/>
                  <a:pt x="591" y="730"/>
                </a:cubicBezTo>
                <a:cubicBezTo>
                  <a:pt x="582" y="734"/>
                  <a:pt x="572" y="737"/>
                  <a:pt x="561" y="739"/>
                </a:cubicBezTo>
                <a:cubicBezTo>
                  <a:pt x="551" y="741"/>
                  <a:pt x="541" y="742"/>
                  <a:pt x="530" y="742"/>
                </a:cubicBezTo>
                <a:lnTo>
                  <a:pt x="160" y="742"/>
                </a:lnTo>
                <a:cubicBezTo>
                  <a:pt x="150" y="742"/>
                  <a:pt x="139" y="741"/>
                  <a:pt x="129" y="739"/>
                </a:cubicBezTo>
                <a:cubicBezTo>
                  <a:pt x="119" y="737"/>
                  <a:pt x="109" y="734"/>
                  <a:pt x="99" y="730"/>
                </a:cubicBezTo>
                <a:cubicBezTo>
                  <a:pt x="90" y="726"/>
                  <a:pt x="80" y="721"/>
                  <a:pt x="72" y="715"/>
                </a:cubicBezTo>
                <a:cubicBezTo>
                  <a:pt x="62" y="709"/>
                  <a:pt x="54" y="703"/>
                  <a:pt x="47" y="695"/>
                </a:cubicBezTo>
                <a:cubicBezTo>
                  <a:pt x="39" y="688"/>
                  <a:pt x="33" y="680"/>
                  <a:pt x="27" y="671"/>
                </a:cubicBezTo>
                <a:cubicBezTo>
                  <a:pt x="21" y="663"/>
                  <a:pt x="16" y="654"/>
                  <a:pt x="12" y="644"/>
                </a:cubicBezTo>
                <a:cubicBezTo>
                  <a:pt x="8" y="634"/>
                  <a:pt x="5" y="624"/>
                  <a:pt x="3" y="614"/>
                </a:cubicBezTo>
                <a:cubicBezTo>
                  <a:pt x="1" y="604"/>
                  <a:pt x="0" y="594"/>
                  <a:pt x="0" y="58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3" name=""/>
          <p:cNvSpPr txBox="1"/>
          <p:nvPr/>
        </p:nvSpPr>
        <p:spPr>
          <a:xfrm>
            <a:off x="762120" y="3394440"/>
            <a:ext cx="18079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one element? Can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4" name=""/>
          <p:cNvSpPr txBox="1"/>
          <p:nvPr/>
        </p:nvSpPr>
        <p:spPr>
          <a:xfrm>
            <a:off x="2642760" y="3436560"/>
            <a:ext cx="17244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k</a:t>
            </a:r>
            <a:endParaRPr b="0" lang="en-US" sz="13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5" name=""/>
          <p:cNvSpPr txBox="1"/>
          <p:nvPr/>
        </p:nvSpPr>
        <p:spPr>
          <a:xfrm>
            <a:off x="2815920" y="3394440"/>
            <a:ext cx="12841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 be negative?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6" name=""/>
          <p:cNvSpPr/>
          <p:nvPr/>
        </p:nvSpPr>
        <p:spPr>
          <a:xfrm>
            <a:off x="3390840" y="3857400"/>
            <a:ext cx="238320" cy="267120"/>
          </a:xfrm>
          <a:custGeom>
            <a:avLst/>
            <a:gdLst/>
            <a:ahLst/>
            <a:rect l="0" t="0" r="r" b="b"/>
            <a:pathLst>
              <a:path w="662" h="742">
                <a:moveTo>
                  <a:pt x="0" y="583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89"/>
                  <a:pt x="21" y="80"/>
                  <a:pt x="26" y="72"/>
                </a:cubicBezTo>
                <a:cubicBezTo>
                  <a:pt x="32" y="63"/>
                  <a:pt x="39" y="55"/>
                  <a:pt x="46" y="48"/>
                </a:cubicBezTo>
                <a:cubicBezTo>
                  <a:pt x="54" y="40"/>
                  <a:pt x="62" y="34"/>
                  <a:pt x="70" y="28"/>
                </a:cubicBezTo>
                <a:cubicBezTo>
                  <a:pt x="79" y="22"/>
                  <a:pt x="88" y="17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503" y="0"/>
                </a:lnTo>
                <a:cubicBezTo>
                  <a:pt x="514" y="0"/>
                  <a:pt x="524" y="1"/>
                  <a:pt x="534" y="3"/>
                </a:cubicBezTo>
                <a:cubicBezTo>
                  <a:pt x="545" y="5"/>
                  <a:pt x="554" y="8"/>
                  <a:pt x="564" y="12"/>
                </a:cubicBezTo>
                <a:cubicBezTo>
                  <a:pt x="574" y="17"/>
                  <a:pt x="583" y="22"/>
                  <a:pt x="592" y="28"/>
                </a:cubicBezTo>
                <a:cubicBezTo>
                  <a:pt x="600" y="34"/>
                  <a:pt x="608" y="40"/>
                  <a:pt x="616" y="48"/>
                </a:cubicBezTo>
                <a:cubicBezTo>
                  <a:pt x="623" y="55"/>
                  <a:pt x="630" y="63"/>
                  <a:pt x="635" y="72"/>
                </a:cubicBezTo>
                <a:cubicBezTo>
                  <a:pt x="641" y="80"/>
                  <a:pt x="646" y="89"/>
                  <a:pt x="650" y="99"/>
                </a:cubicBezTo>
                <a:cubicBezTo>
                  <a:pt x="654" y="109"/>
                  <a:pt x="657" y="119"/>
                  <a:pt x="659" y="129"/>
                </a:cubicBezTo>
                <a:cubicBezTo>
                  <a:pt x="661" y="139"/>
                  <a:pt x="662" y="149"/>
                  <a:pt x="662" y="160"/>
                </a:cubicBezTo>
                <a:lnTo>
                  <a:pt x="662" y="583"/>
                </a:lnTo>
                <a:cubicBezTo>
                  <a:pt x="662" y="594"/>
                  <a:pt x="661" y="604"/>
                  <a:pt x="659" y="614"/>
                </a:cubicBezTo>
                <a:cubicBezTo>
                  <a:pt x="657" y="624"/>
                  <a:pt x="654" y="634"/>
                  <a:pt x="650" y="644"/>
                </a:cubicBezTo>
                <a:cubicBezTo>
                  <a:pt x="646" y="654"/>
                  <a:pt x="641" y="663"/>
                  <a:pt x="635" y="671"/>
                </a:cubicBezTo>
                <a:cubicBezTo>
                  <a:pt x="630" y="680"/>
                  <a:pt x="623" y="688"/>
                  <a:pt x="616" y="695"/>
                </a:cubicBezTo>
                <a:cubicBezTo>
                  <a:pt x="608" y="703"/>
                  <a:pt x="600" y="709"/>
                  <a:pt x="592" y="715"/>
                </a:cubicBezTo>
                <a:cubicBezTo>
                  <a:pt x="583" y="721"/>
                  <a:pt x="574" y="726"/>
                  <a:pt x="564" y="730"/>
                </a:cubicBezTo>
                <a:cubicBezTo>
                  <a:pt x="554" y="734"/>
                  <a:pt x="545" y="737"/>
                  <a:pt x="534" y="739"/>
                </a:cubicBezTo>
                <a:cubicBezTo>
                  <a:pt x="524" y="741"/>
                  <a:pt x="514" y="742"/>
                  <a:pt x="503" y="742"/>
                </a:cubicBezTo>
                <a:lnTo>
                  <a:pt x="158" y="742"/>
                </a:lnTo>
                <a:cubicBezTo>
                  <a:pt x="148" y="742"/>
                  <a:pt x="138" y="741"/>
                  <a:pt x="127" y="739"/>
                </a:cubicBezTo>
                <a:cubicBezTo>
                  <a:pt x="117" y="737"/>
                  <a:pt x="107" y="734"/>
                  <a:pt x="98" y="730"/>
                </a:cubicBezTo>
                <a:cubicBezTo>
                  <a:pt x="88" y="726"/>
                  <a:pt x="79" y="721"/>
                  <a:pt x="70" y="715"/>
                </a:cubicBezTo>
                <a:cubicBezTo>
                  <a:pt x="62" y="709"/>
                  <a:pt x="54" y="703"/>
                  <a:pt x="46" y="695"/>
                </a:cubicBezTo>
                <a:cubicBezTo>
                  <a:pt x="39" y="688"/>
                  <a:pt x="32" y="680"/>
                  <a:pt x="26" y="671"/>
                </a:cubicBezTo>
                <a:cubicBezTo>
                  <a:pt x="21" y="663"/>
                  <a:pt x="16" y="654"/>
                  <a:pt x="12" y="644"/>
                </a:cubicBezTo>
                <a:cubicBezTo>
                  <a:pt x="8" y="634"/>
                  <a:pt x="5" y="624"/>
                  <a:pt x="3" y="614"/>
                </a:cubicBezTo>
                <a:cubicBezTo>
                  <a:pt x="1" y="604"/>
                  <a:pt x="0" y="594"/>
                  <a:pt x="0" y="58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7" name=""/>
          <p:cNvSpPr txBox="1"/>
          <p:nvPr/>
        </p:nvSpPr>
        <p:spPr>
          <a:xfrm>
            <a:off x="762120" y="3851640"/>
            <a:ext cx="26251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Reframe: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rotating the last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8" name=""/>
          <p:cNvSpPr txBox="1"/>
          <p:nvPr/>
        </p:nvSpPr>
        <p:spPr>
          <a:xfrm>
            <a:off x="3459240" y="3893760"/>
            <a:ext cx="17244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k</a:t>
            </a:r>
            <a:endParaRPr b="0" lang="en-US" sz="13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9" name=""/>
          <p:cNvSpPr txBox="1"/>
          <p:nvPr/>
        </p:nvSpPr>
        <p:spPr>
          <a:xfrm>
            <a:off x="3632400" y="3851640"/>
            <a:ext cx="22114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 elements to the front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0" name=""/>
          <p:cNvSpPr txBox="1"/>
          <p:nvPr/>
        </p:nvSpPr>
        <p:spPr>
          <a:xfrm>
            <a:off x="5848200" y="3844800"/>
            <a:ext cx="202680" cy="25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Geneva"/>
                <a:ea typeface="Geneva"/>
              </a:rPr>
              <a:t>≡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1" name=""/>
          <p:cNvSpPr/>
          <p:nvPr/>
        </p:nvSpPr>
        <p:spPr>
          <a:xfrm>
            <a:off x="7734240" y="3857400"/>
            <a:ext cx="1381320" cy="267120"/>
          </a:xfrm>
          <a:custGeom>
            <a:avLst/>
            <a:gdLst/>
            <a:ahLst/>
            <a:rect l="0" t="0" r="r" b="b"/>
            <a:pathLst>
              <a:path w="3837" h="742">
                <a:moveTo>
                  <a:pt x="0" y="583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89"/>
                  <a:pt x="21" y="80"/>
                  <a:pt x="26" y="72"/>
                </a:cubicBezTo>
                <a:cubicBezTo>
                  <a:pt x="32" y="63"/>
                  <a:pt x="39" y="55"/>
                  <a:pt x="46" y="48"/>
                </a:cubicBezTo>
                <a:cubicBezTo>
                  <a:pt x="54" y="40"/>
                  <a:pt x="62" y="34"/>
                  <a:pt x="70" y="28"/>
                </a:cubicBezTo>
                <a:cubicBezTo>
                  <a:pt x="79" y="22"/>
                  <a:pt x="88" y="17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3678" y="0"/>
                </a:lnTo>
                <a:cubicBezTo>
                  <a:pt x="3689" y="0"/>
                  <a:pt x="3699" y="1"/>
                  <a:pt x="3709" y="3"/>
                </a:cubicBezTo>
                <a:cubicBezTo>
                  <a:pt x="3720" y="5"/>
                  <a:pt x="3729" y="8"/>
                  <a:pt x="3739" y="12"/>
                </a:cubicBezTo>
                <a:cubicBezTo>
                  <a:pt x="3749" y="17"/>
                  <a:pt x="3758" y="22"/>
                  <a:pt x="3767" y="28"/>
                </a:cubicBezTo>
                <a:cubicBezTo>
                  <a:pt x="3775" y="34"/>
                  <a:pt x="3783" y="40"/>
                  <a:pt x="3791" y="48"/>
                </a:cubicBezTo>
                <a:cubicBezTo>
                  <a:pt x="3798" y="55"/>
                  <a:pt x="3805" y="63"/>
                  <a:pt x="3810" y="72"/>
                </a:cubicBezTo>
                <a:cubicBezTo>
                  <a:pt x="3816" y="80"/>
                  <a:pt x="3821" y="89"/>
                  <a:pt x="3825" y="99"/>
                </a:cubicBezTo>
                <a:cubicBezTo>
                  <a:pt x="3829" y="109"/>
                  <a:pt x="3832" y="119"/>
                  <a:pt x="3834" y="129"/>
                </a:cubicBezTo>
                <a:cubicBezTo>
                  <a:pt x="3836" y="139"/>
                  <a:pt x="3837" y="149"/>
                  <a:pt x="3837" y="160"/>
                </a:cubicBezTo>
                <a:lnTo>
                  <a:pt x="3837" y="583"/>
                </a:lnTo>
                <a:cubicBezTo>
                  <a:pt x="3837" y="594"/>
                  <a:pt x="3836" y="604"/>
                  <a:pt x="3834" y="614"/>
                </a:cubicBezTo>
                <a:cubicBezTo>
                  <a:pt x="3832" y="624"/>
                  <a:pt x="3829" y="634"/>
                  <a:pt x="3825" y="644"/>
                </a:cubicBezTo>
                <a:cubicBezTo>
                  <a:pt x="3821" y="654"/>
                  <a:pt x="3816" y="663"/>
                  <a:pt x="3810" y="671"/>
                </a:cubicBezTo>
                <a:cubicBezTo>
                  <a:pt x="3805" y="680"/>
                  <a:pt x="3798" y="688"/>
                  <a:pt x="3791" y="695"/>
                </a:cubicBezTo>
                <a:cubicBezTo>
                  <a:pt x="3783" y="703"/>
                  <a:pt x="3775" y="709"/>
                  <a:pt x="3767" y="715"/>
                </a:cubicBezTo>
                <a:cubicBezTo>
                  <a:pt x="3758" y="721"/>
                  <a:pt x="3749" y="726"/>
                  <a:pt x="3739" y="730"/>
                </a:cubicBezTo>
                <a:cubicBezTo>
                  <a:pt x="3729" y="734"/>
                  <a:pt x="3720" y="737"/>
                  <a:pt x="3709" y="739"/>
                </a:cubicBezTo>
                <a:cubicBezTo>
                  <a:pt x="3699" y="741"/>
                  <a:pt x="3689" y="742"/>
                  <a:pt x="3678" y="742"/>
                </a:cubicBezTo>
                <a:lnTo>
                  <a:pt x="158" y="742"/>
                </a:lnTo>
                <a:cubicBezTo>
                  <a:pt x="148" y="742"/>
                  <a:pt x="138" y="741"/>
                  <a:pt x="127" y="739"/>
                </a:cubicBezTo>
                <a:cubicBezTo>
                  <a:pt x="117" y="737"/>
                  <a:pt x="107" y="734"/>
                  <a:pt x="98" y="730"/>
                </a:cubicBezTo>
                <a:cubicBezTo>
                  <a:pt x="88" y="726"/>
                  <a:pt x="79" y="721"/>
                  <a:pt x="70" y="715"/>
                </a:cubicBezTo>
                <a:cubicBezTo>
                  <a:pt x="62" y="709"/>
                  <a:pt x="54" y="703"/>
                  <a:pt x="46" y="695"/>
                </a:cubicBezTo>
                <a:cubicBezTo>
                  <a:pt x="39" y="688"/>
                  <a:pt x="32" y="680"/>
                  <a:pt x="26" y="671"/>
                </a:cubicBezTo>
                <a:cubicBezTo>
                  <a:pt x="21" y="663"/>
                  <a:pt x="16" y="654"/>
                  <a:pt x="12" y="644"/>
                </a:cubicBezTo>
                <a:cubicBezTo>
                  <a:pt x="8" y="634"/>
                  <a:pt x="5" y="624"/>
                  <a:pt x="3" y="614"/>
                </a:cubicBezTo>
                <a:cubicBezTo>
                  <a:pt x="1" y="604"/>
                  <a:pt x="0" y="594"/>
                  <a:pt x="0" y="58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2" name=""/>
          <p:cNvSpPr txBox="1"/>
          <p:nvPr/>
        </p:nvSpPr>
        <p:spPr>
          <a:xfrm>
            <a:off x="5983560" y="3851640"/>
            <a:ext cx="17463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 rotating the ﬁrst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3" name=""/>
          <p:cNvSpPr txBox="1"/>
          <p:nvPr/>
        </p:nvSpPr>
        <p:spPr>
          <a:xfrm>
            <a:off x="7802280" y="3893760"/>
            <a:ext cx="124488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(length − k)</a:t>
            </a:r>
            <a:endParaRPr b="0" lang="en-US" sz="13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4" name=""/>
          <p:cNvSpPr txBox="1"/>
          <p:nvPr/>
        </p:nvSpPr>
        <p:spPr>
          <a:xfrm>
            <a:off x="9119160" y="3851640"/>
            <a:ext cx="21895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 elements to the back.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5" name=""/>
          <p:cNvSpPr/>
          <p:nvPr/>
        </p:nvSpPr>
        <p:spPr>
          <a:xfrm>
            <a:off x="1828440" y="4162320"/>
            <a:ext cx="238680" cy="267120"/>
          </a:xfrm>
          <a:custGeom>
            <a:avLst/>
            <a:gdLst/>
            <a:ahLst/>
            <a:rect l="0" t="0" r="r" b="b"/>
            <a:pathLst>
              <a:path w="663" h="742">
                <a:moveTo>
                  <a:pt x="0" y="582"/>
                </a:moveTo>
                <a:lnTo>
                  <a:pt x="0" y="159"/>
                </a:lnTo>
                <a:cubicBezTo>
                  <a:pt x="0" y="148"/>
                  <a:pt x="2" y="138"/>
                  <a:pt x="4" y="128"/>
                </a:cubicBezTo>
                <a:cubicBezTo>
                  <a:pt x="6" y="117"/>
                  <a:pt x="9" y="107"/>
                  <a:pt x="13" y="98"/>
                </a:cubicBezTo>
                <a:cubicBezTo>
                  <a:pt x="17" y="88"/>
                  <a:pt x="21" y="79"/>
                  <a:pt x="27" y="70"/>
                </a:cubicBezTo>
                <a:cubicBezTo>
                  <a:pt x="33" y="62"/>
                  <a:pt x="40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9" y="1"/>
                  <a:pt x="149" y="0"/>
                  <a:pt x="159" y="0"/>
                </a:cubicBezTo>
                <a:lnTo>
                  <a:pt x="503" y="0"/>
                </a:lnTo>
                <a:cubicBezTo>
                  <a:pt x="514" y="0"/>
                  <a:pt x="524" y="1"/>
                  <a:pt x="534" y="3"/>
                </a:cubicBezTo>
                <a:cubicBezTo>
                  <a:pt x="545" y="5"/>
                  <a:pt x="555" y="8"/>
                  <a:pt x="565" y="12"/>
                </a:cubicBezTo>
                <a:cubicBezTo>
                  <a:pt x="575" y="16"/>
                  <a:pt x="584" y="21"/>
                  <a:pt x="592" y="27"/>
                </a:cubicBezTo>
                <a:cubicBezTo>
                  <a:pt x="601" y="32"/>
                  <a:pt x="609" y="39"/>
                  <a:pt x="616" y="46"/>
                </a:cubicBezTo>
                <a:cubicBezTo>
                  <a:pt x="624" y="54"/>
                  <a:pt x="630" y="62"/>
                  <a:pt x="636" y="70"/>
                </a:cubicBezTo>
                <a:cubicBezTo>
                  <a:pt x="642" y="79"/>
                  <a:pt x="647" y="88"/>
                  <a:pt x="651" y="98"/>
                </a:cubicBezTo>
                <a:cubicBezTo>
                  <a:pt x="655" y="107"/>
                  <a:pt x="658" y="117"/>
                  <a:pt x="660" y="128"/>
                </a:cubicBezTo>
                <a:cubicBezTo>
                  <a:pt x="662" y="138"/>
                  <a:pt x="663" y="148"/>
                  <a:pt x="663" y="159"/>
                </a:cubicBezTo>
                <a:lnTo>
                  <a:pt x="663" y="582"/>
                </a:lnTo>
                <a:cubicBezTo>
                  <a:pt x="663" y="592"/>
                  <a:pt x="662" y="603"/>
                  <a:pt x="660" y="613"/>
                </a:cubicBezTo>
                <a:cubicBezTo>
                  <a:pt x="658" y="623"/>
                  <a:pt x="655" y="633"/>
                  <a:pt x="651" y="643"/>
                </a:cubicBezTo>
                <a:cubicBezTo>
                  <a:pt x="647" y="653"/>
                  <a:pt x="642" y="662"/>
                  <a:pt x="636" y="671"/>
                </a:cubicBezTo>
                <a:cubicBezTo>
                  <a:pt x="630" y="680"/>
                  <a:pt x="624" y="688"/>
                  <a:pt x="616" y="695"/>
                </a:cubicBezTo>
                <a:cubicBezTo>
                  <a:pt x="609" y="702"/>
                  <a:pt x="601" y="709"/>
                  <a:pt x="592" y="715"/>
                </a:cubicBezTo>
                <a:cubicBezTo>
                  <a:pt x="584" y="721"/>
                  <a:pt x="575" y="726"/>
                  <a:pt x="565" y="730"/>
                </a:cubicBezTo>
                <a:cubicBezTo>
                  <a:pt x="555" y="734"/>
                  <a:pt x="545" y="737"/>
                  <a:pt x="534" y="739"/>
                </a:cubicBezTo>
                <a:cubicBezTo>
                  <a:pt x="524" y="741"/>
                  <a:pt x="514" y="742"/>
                  <a:pt x="503" y="742"/>
                </a:cubicBezTo>
                <a:lnTo>
                  <a:pt x="159" y="742"/>
                </a:lnTo>
                <a:cubicBezTo>
                  <a:pt x="149" y="742"/>
                  <a:pt x="139" y="741"/>
                  <a:pt x="128" y="739"/>
                </a:cubicBezTo>
                <a:cubicBezTo>
                  <a:pt x="118" y="737"/>
                  <a:pt x="108" y="734"/>
                  <a:pt x="98" y="730"/>
                </a:cubicBezTo>
                <a:cubicBezTo>
                  <a:pt x="89" y="726"/>
                  <a:pt x="80" y="721"/>
                  <a:pt x="71" y="715"/>
                </a:cubicBezTo>
                <a:cubicBezTo>
                  <a:pt x="62" y="709"/>
                  <a:pt x="54" y="702"/>
                  <a:pt x="47" y="695"/>
                </a:cubicBezTo>
                <a:cubicBezTo>
                  <a:pt x="40" y="688"/>
                  <a:pt x="33" y="680"/>
                  <a:pt x="27" y="671"/>
                </a:cubicBezTo>
                <a:cubicBezTo>
                  <a:pt x="21" y="662"/>
                  <a:pt x="17" y="653"/>
                  <a:pt x="13" y="643"/>
                </a:cubicBezTo>
                <a:cubicBezTo>
                  <a:pt x="9" y="633"/>
                  <a:pt x="6" y="623"/>
                  <a:pt x="4" y="613"/>
                </a:cubicBezTo>
                <a:cubicBezTo>
                  <a:pt x="2" y="603"/>
                  <a:pt x="0" y="592"/>
                  <a:pt x="0" y="582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762120" y="4156560"/>
            <a:ext cx="10674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Reduce: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if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7" name=""/>
          <p:cNvSpPr txBox="1"/>
          <p:nvPr/>
        </p:nvSpPr>
        <p:spPr>
          <a:xfrm>
            <a:off x="1897920" y="4198680"/>
            <a:ext cx="17244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k</a:t>
            </a:r>
            <a:endParaRPr b="0" lang="en-US" sz="13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8" name=""/>
          <p:cNvSpPr/>
          <p:nvPr/>
        </p:nvSpPr>
        <p:spPr>
          <a:xfrm>
            <a:off x="4971960" y="4162320"/>
            <a:ext cx="1391040" cy="267120"/>
          </a:xfrm>
          <a:custGeom>
            <a:avLst/>
            <a:gdLst/>
            <a:ahLst/>
            <a:rect l="0" t="0" r="r" b="b"/>
            <a:pathLst>
              <a:path w="3864" h="742">
                <a:moveTo>
                  <a:pt x="0" y="582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2" y="62"/>
                  <a:pt x="39" y="54"/>
                  <a:pt x="46" y="46"/>
                </a:cubicBezTo>
                <a:cubicBezTo>
                  <a:pt x="54" y="39"/>
                  <a:pt x="62" y="32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8" y="3"/>
                </a:cubicBezTo>
                <a:cubicBezTo>
                  <a:pt x="138" y="1"/>
                  <a:pt x="148" y="0"/>
                  <a:pt x="158" y="0"/>
                </a:cubicBezTo>
                <a:lnTo>
                  <a:pt x="3705" y="0"/>
                </a:lnTo>
                <a:cubicBezTo>
                  <a:pt x="3715" y="0"/>
                  <a:pt x="3726" y="1"/>
                  <a:pt x="3736" y="3"/>
                </a:cubicBezTo>
                <a:cubicBezTo>
                  <a:pt x="3746" y="5"/>
                  <a:pt x="3756" y="8"/>
                  <a:pt x="3766" y="12"/>
                </a:cubicBezTo>
                <a:cubicBezTo>
                  <a:pt x="3775" y="16"/>
                  <a:pt x="3784" y="21"/>
                  <a:pt x="3793" y="27"/>
                </a:cubicBezTo>
                <a:cubicBezTo>
                  <a:pt x="3802" y="32"/>
                  <a:pt x="3810" y="39"/>
                  <a:pt x="3817" y="46"/>
                </a:cubicBezTo>
                <a:cubicBezTo>
                  <a:pt x="3825" y="54"/>
                  <a:pt x="3831" y="62"/>
                  <a:pt x="3837" y="70"/>
                </a:cubicBezTo>
                <a:cubicBezTo>
                  <a:pt x="3843" y="79"/>
                  <a:pt x="3848" y="88"/>
                  <a:pt x="3852" y="98"/>
                </a:cubicBezTo>
                <a:cubicBezTo>
                  <a:pt x="3856" y="107"/>
                  <a:pt x="3859" y="117"/>
                  <a:pt x="3861" y="128"/>
                </a:cubicBezTo>
                <a:cubicBezTo>
                  <a:pt x="3863" y="138"/>
                  <a:pt x="3864" y="148"/>
                  <a:pt x="3864" y="159"/>
                </a:cubicBezTo>
                <a:lnTo>
                  <a:pt x="3864" y="582"/>
                </a:lnTo>
                <a:cubicBezTo>
                  <a:pt x="3864" y="592"/>
                  <a:pt x="3863" y="603"/>
                  <a:pt x="3861" y="613"/>
                </a:cubicBezTo>
                <a:cubicBezTo>
                  <a:pt x="3859" y="623"/>
                  <a:pt x="3856" y="633"/>
                  <a:pt x="3852" y="643"/>
                </a:cubicBezTo>
                <a:cubicBezTo>
                  <a:pt x="3848" y="653"/>
                  <a:pt x="3843" y="662"/>
                  <a:pt x="3837" y="671"/>
                </a:cubicBezTo>
                <a:cubicBezTo>
                  <a:pt x="3831" y="680"/>
                  <a:pt x="3825" y="688"/>
                  <a:pt x="3817" y="695"/>
                </a:cubicBezTo>
                <a:cubicBezTo>
                  <a:pt x="3810" y="702"/>
                  <a:pt x="3802" y="709"/>
                  <a:pt x="3793" y="715"/>
                </a:cubicBezTo>
                <a:cubicBezTo>
                  <a:pt x="3784" y="721"/>
                  <a:pt x="3775" y="726"/>
                  <a:pt x="3766" y="730"/>
                </a:cubicBezTo>
                <a:cubicBezTo>
                  <a:pt x="3756" y="734"/>
                  <a:pt x="3746" y="737"/>
                  <a:pt x="3736" y="739"/>
                </a:cubicBezTo>
                <a:cubicBezTo>
                  <a:pt x="3726" y="741"/>
                  <a:pt x="3715" y="742"/>
                  <a:pt x="3705" y="742"/>
                </a:cubicBezTo>
                <a:lnTo>
                  <a:pt x="158" y="742"/>
                </a:lnTo>
                <a:cubicBezTo>
                  <a:pt x="148" y="742"/>
                  <a:pt x="138" y="741"/>
                  <a:pt x="128" y="739"/>
                </a:cubicBezTo>
                <a:cubicBezTo>
                  <a:pt x="117" y="737"/>
                  <a:pt x="107" y="734"/>
                  <a:pt x="98" y="730"/>
                </a:cubicBezTo>
                <a:cubicBezTo>
                  <a:pt x="88" y="726"/>
                  <a:pt x="79" y="721"/>
                  <a:pt x="70" y="715"/>
                </a:cubicBezTo>
                <a:cubicBezTo>
                  <a:pt x="62" y="709"/>
                  <a:pt x="54" y="702"/>
                  <a:pt x="46" y="695"/>
                </a:cubicBezTo>
                <a:cubicBezTo>
                  <a:pt x="39" y="688"/>
                  <a:pt x="32" y="680"/>
                  <a:pt x="27" y="671"/>
                </a:cubicBezTo>
                <a:cubicBezTo>
                  <a:pt x="21" y="662"/>
                  <a:pt x="16" y="653"/>
                  <a:pt x="12" y="643"/>
                </a:cubicBezTo>
                <a:cubicBezTo>
                  <a:pt x="8" y="633"/>
                  <a:pt x="5" y="623"/>
                  <a:pt x="3" y="613"/>
                </a:cubicBezTo>
                <a:cubicBezTo>
                  <a:pt x="1" y="603"/>
                  <a:pt x="0" y="592"/>
                  <a:pt x="0" y="582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2071080" y="4156560"/>
            <a:ext cx="28983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 exceeds the list length, only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0" name=""/>
          <p:cNvSpPr txBox="1"/>
          <p:nvPr/>
        </p:nvSpPr>
        <p:spPr>
          <a:xfrm>
            <a:off x="5044680" y="4198680"/>
            <a:ext cx="124488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k mod length</a:t>
            </a:r>
            <a:endParaRPr b="0" lang="en-US" sz="13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1" name=""/>
          <p:cNvSpPr txBox="1"/>
          <p:nvPr/>
        </p:nvSpPr>
        <p:spPr>
          <a:xfrm>
            <a:off x="6361200" y="4156560"/>
            <a:ext cx="17251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 rotations matter.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2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661057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3" name=""/>
          <p:cNvSpPr/>
          <p:nvPr/>
        </p:nvSpPr>
        <p:spPr>
          <a:xfrm>
            <a:off x="766440" y="4586040"/>
            <a:ext cx="10658880" cy="1000440"/>
          </a:xfrm>
          <a:custGeom>
            <a:avLst/>
            <a:gdLst/>
            <a:ahLst/>
            <a:rect l="0" t="0" r="r" b="b"/>
            <a:pathLst>
              <a:path w="29608" h="2779">
                <a:moveTo>
                  <a:pt x="0" y="2634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5"/>
                  <a:pt x="29510" y="8"/>
                  <a:pt x="29518" y="11"/>
                </a:cubicBezTo>
                <a:cubicBezTo>
                  <a:pt x="29527" y="15"/>
                  <a:pt x="29536" y="19"/>
                  <a:pt x="29544" y="25"/>
                </a:cubicBezTo>
                <a:cubicBezTo>
                  <a:pt x="29552" y="30"/>
                  <a:pt x="29559" y="36"/>
                  <a:pt x="29566" y="43"/>
                </a:cubicBezTo>
                <a:cubicBezTo>
                  <a:pt x="29572" y="50"/>
                  <a:pt x="29578" y="57"/>
                  <a:pt x="29584" y="65"/>
                </a:cubicBezTo>
                <a:cubicBezTo>
                  <a:pt x="29589" y="73"/>
                  <a:pt x="29594" y="81"/>
                  <a:pt x="29597" y="90"/>
                </a:cubicBezTo>
                <a:cubicBezTo>
                  <a:pt x="29601" y="99"/>
                  <a:pt x="29604" y="108"/>
                  <a:pt x="29605" y="117"/>
                </a:cubicBezTo>
                <a:cubicBezTo>
                  <a:pt x="29607" y="127"/>
                  <a:pt x="29608" y="136"/>
                  <a:pt x="29608" y="146"/>
                </a:cubicBezTo>
                <a:lnTo>
                  <a:pt x="29608" y="2634"/>
                </a:lnTo>
                <a:cubicBezTo>
                  <a:pt x="29608" y="2643"/>
                  <a:pt x="29607" y="2653"/>
                  <a:pt x="29605" y="2662"/>
                </a:cubicBezTo>
                <a:cubicBezTo>
                  <a:pt x="29604" y="2672"/>
                  <a:pt x="29601" y="2681"/>
                  <a:pt x="29597" y="2689"/>
                </a:cubicBezTo>
                <a:cubicBezTo>
                  <a:pt x="29594" y="2698"/>
                  <a:pt x="29589" y="2707"/>
                  <a:pt x="29584" y="2715"/>
                </a:cubicBezTo>
                <a:cubicBezTo>
                  <a:pt x="29578" y="2723"/>
                  <a:pt x="29572" y="2730"/>
                  <a:pt x="29566" y="2737"/>
                </a:cubicBezTo>
                <a:cubicBezTo>
                  <a:pt x="29559" y="2743"/>
                  <a:pt x="29552" y="2749"/>
                  <a:pt x="29544" y="2755"/>
                </a:cubicBezTo>
                <a:cubicBezTo>
                  <a:pt x="29536" y="2760"/>
                  <a:pt x="29527" y="2765"/>
                  <a:pt x="29518" y="2768"/>
                </a:cubicBezTo>
                <a:cubicBezTo>
                  <a:pt x="29510" y="2772"/>
                  <a:pt x="29501" y="2775"/>
                  <a:pt x="29491" y="2777"/>
                </a:cubicBezTo>
                <a:cubicBezTo>
                  <a:pt x="29482" y="2778"/>
                  <a:pt x="29472" y="2779"/>
                  <a:pt x="29463" y="2779"/>
                </a:cubicBezTo>
                <a:lnTo>
                  <a:pt x="146" y="2779"/>
                </a:lnTo>
                <a:cubicBezTo>
                  <a:pt x="136" y="2779"/>
                  <a:pt x="127" y="2778"/>
                  <a:pt x="118" y="2777"/>
                </a:cubicBezTo>
                <a:cubicBezTo>
                  <a:pt x="108" y="2775"/>
                  <a:pt x="99" y="2772"/>
                  <a:pt x="90" y="2768"/>
                </a:cubicBezTo>
                <a:cubicBezTo>
                  <a:pt x="81" y="2765"/>
                  <a:pt x="73" y="2760"/>
                  <a:pt x="65" y="2755"/>
                </a:cubicBezTo>
                <a:cubicBezTo>
                  <a:pt x="57" y="2749"/>
                  <a:pt x="50" y="2743"/>
                  <a:pt x="43" y="2737"/>
                </a:cubicBezTo>
                <a:cubicBezTo>
                  <a:pt x="36" y="2730"/>
                  <a:pt x="30" y="2723"/>
                  <a:pt x="25" y="2715"/>
                </a:cubicBezTo>
                <a:cubicBezTo>
                  <a:pt x="20" y="2707"/>
                  <a:pt x="15" y="2698"/>
                  <a:pt x="11" y="2689"/>
                </a:cubicBezTo>
                <a:cubicBezTo>
                  <a:pt x="8" y="2681"/>
                  <a:pt x="5" y="2672"/>
                  <a:pt x="3" y="2662"/>
                </a:cubicBezTo>
                <a:cubicBezTo>
                  <a:pt x="1" y="2653"/>
                  <a:pt x="0" y="2643"/>
                  <a:pt x="0" y="2634"/>
                </a:cubicBezTo>
                <a:close/>
              </a:path>
            </a:pathLst>
          </a:custGeom>
          <a:solidFill>
            <a:srgbClr val="fde8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4" name=""/>
          <p:cNvSpPr/>
          <p:nvPr/>
        </p:nvSpPr>
        <p:spPr>
          <a:xfrm>
            <a:off x="766440" y="4586040"/>
            <a:ext cx="10658880" cy="1000440"/>
          </a:xfrm>
          <a:custGeom>
            <a:avLst/>
            <a:gdLst/>
            <a:ahLst/>
            <a:rect l="0" t="0" r="r" b="b"/>
            <a:pathLst>
              <a:path fill="none" w="29608" h="2779">
                <a:moveTo>
                  <a:pt x="0" y="2634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5"/>
                  <a:pt x="29510" y="8"/>
                  <a:pt x="29518" y="11"/>
                </a:cubicBezTo>
                <a:cubicBezTo>
                  <a:pt x="29527" y="15"/>
                  <a:pt x="29536" y="19"/>
                  <a:pt x="29544" y="25"/>
                </a:cubicBezTo>
                <a:cubicBezTo>
                  <a:pt x="29552" y="30"/>
                  <a:pt x="29559" y="36"/>
                  <a:pt x="29566" y="43"/>
                </a:cubicBezTo>
                <a:cubicBezTo>
                  <a:pt x="29572" y="50"/>
                  <a:pt x="29578" y="57"/>
                  <a:pt x="29584" y="65"/>
                </a:cubicBezTo>
                <a:cubicBezTo>
                  <a:pt x="29589" y="73"/>
                  <a:pt x="29594" y="81"/>
                  <a:pt x="29597" y="90"/>
                </a:cubicBezTo>
                <a:cubicBezTo>
                  <a:pt x="29601" y="99"/>
                  <a:pt x="29604" y="108"/>
                  <a:pt x="29605" y="117"/>
                </a:cubicBezTo>
                <a:cubicBezTo>
                  <a:pt x="29607" y="127"/>
                  <a:pt x="29608" y="136"/>
                  <a:pt x="29608" y="146"/>
                </a:cubicBezTo>
                <a:lnTo>
                  <a:pt x="29608" y="2634"/>
                </a:lnTo>
                <a:cubicBezTo>
                  <a:pt x="29608" y="2643"/>
                  <a:pt x="29607" y="2653"/>
                  <a:pt x="29605" y="2662"/>
                </a:cubicBezTo>
                <a:cubicBezTo>
                  <a:pt x="29604" y="2672"/>
                  <a:pt x="29601" y="2681"/>
                  <a:pt x="29597" y="2689"/>
                </a:cubicBezTo>
                <a:cubicBezTo>
                  <a:pt x="29594" y="2698"/>
                  <a:pt x="29589" y="2707"/>
                  <a:pt x="29584" y="2715"/>
                </a:cubicBezTo>
                <a:cubicBezTo>
                  <a:pt x="29578" y="2723"/>
                  <a:pt x="29572" y="2730"/>
                  <a:pt x="29566" y="2737"/>
                </a:cubicBezTo>
                <a:cubicBezTo>
                  <a:pt x="29559" y="2743"/>
                  <a:pt x="29552" y="2749"/>
                  <a:pt x="29544" y="2755"/>
                </a:cubicBezTo>
                <a:cubicBezTo>
                  <a:pt x="29536" y="2760"/>
                  <a:pt x="29527" y="2765"/>
                  <a:pt x="29518" y="2768"/>
                </a:cubicBezTo>
                <a:cubicBezTo>
                  <a:pt x="29510" y="2772"/>
                  <a:pt x="29501" y="2775"/>
                  <a:pt x="29491" y="2777"/>
                </a:cubicBezTo>
                <a:cubicBezTo>
                  <a:pt x="29482" y="2778"/>
                  <a:pt x="29472" y="2779"/>
                  <a:pt x="29463" y="2779"/>
                </a:cubicBezTo>
                <a:lnTo>
                  <a:pt x="146" y="2779"/>
                </a:lnTo>
                <a:cubicBezTo>
                  <a:pt x="136" y="2779"/>
                  <a:pt x="127" y="2778"/>
                  <a:pt x="118" y="2777"/>
                </a:cubicBezTo>
                <a:cubicBezTo>
                  <a:pt x="108" y="2775"/>
                  <a:pt x="99" y="2772"/>
                  <a:pt x="90" y="2768"/>
                </a:cubicBezTo>
                <a:cubicBezTo>
                  <a:pt x="81" y="2765"/>
                  <a:pt x="73" y="2760"/>
                  <a:pt x="65" y="2755"/>
                </a:cubicBezTo>
                <a:cubicBezTo>
                  <a:pt x="57" y="2749"/>
                  <a:pt x="50" y="2743"/>
                  <a:pt x="43" y="2737"/>
                </a:cubicBezTo>
                <a:cubicBezTo>
                  <a:pt x="36" y="2730"/>
                  <a:pt x="30" y="2723"/>
                  <a:pt x="25" y="2715"/>
                </a:cubicBezTo>
                <a:cubicBezTo>
                  <a:pt x="20" y="2707"/>
                  <a:pt x="15" y="2698"/>
                  <a:pt x="11" y="2689"/>
                </a:cubicBezTo>
                <a:cubicBezTo>
                  <a:pt x="8" y="2681"/>
                  <a:pt x="5" y="2672"/>
                  <a:pt x="3" y="2662"/>
                </a:cubicBezTo>
                <a:cubicBezTo>
                  <a:pt x="1" y="2653"/>
                  <a:pt x="0" y="2643"/>
                  <a:pt x="0" y="2634"/>
                </a:cubicBezTo>
              </a:path>
            </a:pathLst>
          </a:custGeom>
          <a:ln w="9360">
            <a:solidFill>
              <a:srgbClr val="f8ba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762120" y="372600"/>
            <a:ext cx="635256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Example: Rotate List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6" name=""/>
          <p:cNvSpPr/>
          <p:nvPr/>
        </p:nvSpPr>
        <p:spPr>
          <a:xfrm>
            <a:off x="6257880" y="5200560"/>
            <a:ext cx="495360" cy="238320"/>
          </a:xfrm>
          <a:custGeom>
            <a:avLst/>
            <a:gdLst/>
            <a:ahLst/>
            <a:rect l="0" t="0" r="r" b="b"/>
            <a:pathLst>
              <a:path w="1376" h="662">
                <a:moveTo>
                  <a:pt x="0" y="503"/>
                </a:moveTo>
                <a:lnTo>
                  <a:pt x="0" y="158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6" y="70"/>
                </a:cubicBezTo>
                <a:cubicBezTo>
                  <a:pt x="32" y="62"/>
                  <a:pt x="39" y="54"/>
                  <a:pt x="46" y="46"/>
                </a:cubicBezTo>
                <a:cubicBezTo>
                  <a:pt x="53" y="39"/>
                  <a:pt x="62" y="32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1218" y="0"/>
                </a:lnTo>
                <a:cubicBezTo>
                  <a:pt x="1228" y="0"/>
                  <a:pt x="1238" y="1"/>
                  <a:pt x="1249" y="3"/>
                </a:cubicBezTo>
                <a:cubicBezTo>
                  <a:pt x="1259" y="5"/>
                  <a:pt x="1269" y="8"/>
                  <a:pt x="1278" y="12"/>
                </a:cubicBezTo>
                <a:cubicBezTo>
                  <a:pt x="1288" y="16"/>
                  <a:pt x="1297" y="21"/>
                  <a:pt x="1306" y="27"/>
                </a:cubicBezTo>
                <a:cubicBezTo>
                  <a:pt x="1315" y="32"/>
                  <a:pt x="1323" y="39"/>
                  <a:pt x="1330" y="46"/>
                </a:cubicBezTo>
                <a:cubicBezTo>
                  <a:pt x="1337" y="54"/>
                  <a:pt x="1344" y="62"/>
                  <a:pt x="1350" y="70"/>
                </a:cubicBezTo>
                <a:cubicBezTo>
                  <a:pt x="1355" y="79"/>
                  <a:pt x="1360" y="88"/>
                  <a:pt x="1364" y="98"/>
                </a:cubicBezTo>
                <a:cubicBezTo>
                  <a:pt x="1368" y="107"/>
                  <a:pt x="1371" y="117"/>
                  <a:pt x="1373" y="128"/>
                </a:cubicBezTo>
                <a:cubicBezTo>
                  <a:pt x="1375" y="138"/>
                  <a:pt x="1376" y="148"/>
                  <a:pt x="1376" y="158"/>
                </a:cubicBezTo>
                <a:lnTo>
                  <a:pt x="1376" y="503"/>
                </a:lnTo>
                <a:cubicBezTo>
                  <a:pt x="1376" y="514"/>
                  <a:pt x="1375" y="524"/>
                  <a:pt x="1373" y="534"/>
                </a:cubicBezTo>
                <a:cubicBezTo>
                  <a:pt x="1371" y="545"/>
                  <a:pt x="1368" y="555"/>
                  <a:pt x="1364" y="564"/>
                </a:cubicBezTo>
                <a:cubicBezTo>
                  <a:pt x="1360" y="574"/>
                  <a:pt x="1355" y="583"/>
                  <a:pt x="1350" y="592"/>
                </a:cubicBezTo>
                <a:cubicBezTo>
                  <a:pt x="1344" y="600"/>
                  <a:pt x="1337" y="608"/>
                  <a:pt x="1330" y="616"/>
                </a:cubicBezTo>
                <a:cubicBezTo>
                  <a:pt x="1323" y="623"/>
                  <a:pt x="1315" y="630"/>
                  <a:pt x="1306" y="635"/>
                </a:cubicBezTo>
                <a:cubicBezTo>
                  <a:pt x="1297" y="641"/>
                  <a:pt x="1288" y="646"/>
                  <a:pt x="1278" y="650"/>
                </a:cubicBezTo>
                <a:cubicBezTo>
                  <a:pt x="1269" y="654"/>
                  <a:pt x="1259" y="657"/>
                  <a:pt x="1249" y="659"/>
                </a:cubicBezTo>
                <a:cubicBezTo>
                  <a:pt x="1238" y="661"/>
                  <a:pt x="1228" y="662"/>
                  <a:pt x="1218" y="662"/>
                </a:cubicBezTo>
                <a:lnTo>
                  <a:pt x="158" y="662"/>
                </a:lnTo>
                <a:cubicBezTo>
                  <a:pt x="148" y="662"/>
                  <a:pt x="138" y="661"/>
                  <a:pt x="127" y="659"/>
                </a:cubicBezTo>
                <a:cubicBezTo>
                  <a:pt x="117" y="657"/>
                  <a:pt x="107" y="654"/>
                  <a:pt x="98" y="650"/>
                </a:cubicBezTo>
                <a:cubicBezTo>
                  <a:pt x="88" y="646"/>
                  <a:pt x="79" y="641"/>
                  <a:pt x="70" y="635"/>
                </a:cubicBezTo>
                <a:cubicBezTo>
                  <a:pt x="62" y="630"/>
                  <a:pt x="53" y="623"/>
                  <a:pt x="46" y="616"/>
                </a:cubicBezTo>
                <a:cubicBezTo>
                  <a:pt x="39" y="608"/>
                  <a:pt x="32" y="600"/>
                  <a:pt x="26" y="592"/>
                </a:cubicBezTo>
                <a:cubicBezTo>
                  <a:pt x="21" y="583"/>
                  <a:pt x="16" y="574"/>
                  <a:pt x="12" y="564"/>
                </a:cubicBezTo>
                <a:cubicBezTo>
                  <a:pt x="8" y="555"/>
                  <a:pt x="5" y="545"/>
                  <a:pt x="3" y="534"/>
                </a:cubicBezTo>
                <a:cubicBezTo>
                  <a:pt x="1" y="524"/>
                  <a:pt x="0" y="514"/>
                  <a:pt x="0" y="50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7" name=""/>
          <p:cNvSpPr txBox="1"/>
          <p:nvPr/>
        </p:nvSpPr>
        <p:spPr>
          <a:xfrm>
            <a:off x="923760" y="5195160"/>
            <a:ext cx="53323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Move the tail to the front — but a singly linked list only has 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8" name=""/>
          <p:cNvSpPr txBox="1"/>
          <p:nvPr/>
        </p:nvSpPr>
        <p:spPr>
          <a:xfrm>
            <a:off x="6317640" y="5230080"/>
            <a:ext cx="3751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2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next</a:t>
            </a:r>
            <a:endParaRPr b="0" lang="en-US" sz="12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9" name=""/>
          <p:cNvSpPr/>
          <p:nvPr/>
        </p:nvSpPr>
        <p:spPr>
          <a:xfrm>
            <a:off x="8010360" y="5200560"/>
            <a:ext cx="505080" cy="238320"/>
          </a:xfrm>
          <a:custGeom>
            <a:avLst/>
            <a:gdLst/>
            <a:ahLst/>
            <a:rect l="0" t="0" r="r" b="b"/>
            <a:pathLst>
              <a:path w="1403" h="662">
                <a:moveTo>
                  <a:pt x="0" y="503"/>
                </a:moveTo>
                <a:lnTo>
                  <a:pt x="0" y="158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2" y="62"/>
                  <a:pt x="39" y="54"/>
                  <a:pt x="46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1244" y="0"/>
                </a:lnTo>
                <a:cubicBezTo>
                  <a:pt x="1255" y="0"/>
                  <a:pt x="1265" y="1"/>
                  <a:pt x="1275" y="3"/>
                </a:cubicBezTo>
                <a:cubicBezTo>
                  <a:pt x="1286" y="5"/>
                  <a:pt x="1296" y="8"/>
                  <a:pt x="1305" y="12"/>
                </a:cubicBezTo>
                <a:cubicBezTo>
                  <a:pt x="1315" y="16"/>
                  <a:pt x="1324" y="21"/>
                  <a:pt x="1333" y="27"/>
                </a:cubicBezTo>
                <a:cubicBezTo>
                  <a:pt x="1341" y="32"/>
                  <a:pt x="1349" y="39"/>
                  <a:pt x="1357" y="46"/>
                </a:cubicBezTo>
                <a:cubicBezTo>
                  <a:pt x="1364" y="54"/>
                  <a:pt x="1371" y="62"/>
                  <a:pt x="1376" y="70"/>
                </a:cubicBezTo>
                <a:cubicBezTo>
                  <a:pt x="1382" y="79"/>
                  <a:pt x="1387" y="88"/>
                  <a:pt x="1391" y="98"/>
                </a:cubicBezTo>
                <a:cubicBezTo>
                  <a:pt x="1395" y="107"/>
                  <a:pt x="1398" y="117"/>
                  <a:pt x="1400" y="128"/>
                </a:cubicBezTo>
                <a:cubicBezTo>
                  <a:pt x="1402" y="138"/>
                  <a:pt x="1403" y="148"/>
                  <a:pt x="1403" y="158"/>
                </a:cubicBezTo>
                <a:lnTo>
                  <a:pt x="1403" y="503"/>
                </a:lnTo>
                <a:cubicBezTo>
                  <a:pt x="1403" y="514"/>
                  <a:pt x="1402" y="524"/>
                  <a:pt x="1400" y="534"/>
                </a:cubicBezTo>
                <a:cubicBezTo>
                  <a:pt x="1398" y="545"/>
                  <a:pt x="1395" y="555"/>
                  <a:pt x="1391" y="564"/>
                </a:cubicBezTo>
                <a:cubicBezTo>
                  <a:pt x="1387" y="574"/>
                  <a:pt x="1382" y="583"/>
                  <a:pt x="1376" y="592"/>
                </a:cubicBezTo>
                <a:cubicBezTo>
                  <a:pt x="1371" y="600"/>
                  <a:pt x="1364" y="608"/>
                  <a:pt x="1357" y="616"/>
                </a:cubicBezTo>
                <a:cubicBezTo>
                  <a:pt x="1349" y="623"/>
                  <a:pt x="1341" y="630"/>
                  <a:pt x="1333" y="635"/>
                </a:cubicBezTo>
                <a:cubicBezTo>
                  <a:pt x="1324" y="641"/>
                  <a:pt x="1315" y="646"/>
                  <a:pt x="1305" y="650"/>
                </a:cubicBezTo>
                <a:cubicBezTo>
                  <a:pt x="1296" y="654"/>
                  <a:pt x="1286" y="657"/>
                  <a:pt x="1275" y="659"/>
                </a:cubicBezTo>
                <a:cubicBezTo>
                  <a:pt x="1265" y="661"/>
                  <a:pt x="1255" y="662"/>
                  <a:pt x="1244" y="662"/>
                </a:cubicBezTo>
                <a:lnTo>
                  <a:pt x="159" y="662"/>
                </a:lnTo>
                <a:cubicBezTo>
                  <a:pt x="148" y="662"/>
                  <a:pt x="138" y="661"/>
                  <a:pt x="128" y="659"/>
                </a:cubicBezTo>
                <a:cubicBezTo>
                  <a:pt x="118" y="657"/>
                  <a:pt x="108" y="654"/>
                  <a:pt x="98" y="650"/>
                </a:cubicBezTo>
                <a:cubicBezTo>
                  <a:pt x="88" y="646"/>
                  <a:pt x="79" y="641"/>
                  <a:pt x="71" y="635"/>
                </a:cubicBezTo>
                <a:cubicBezTo>
                  <a:pt x="62" y="630"/>
                  <a:pt x="54" y="623"/>
                  <a:pt x="46" y="616"/>
                </a:cubicBezTo>
                <a:cubicBezTo>
                  <a:pt x="39" y="608"/>
                  <a:pt x="32" y="600"/>
                  <a:pt x="27" y="592"/>
                </a:cubicBezTo>
                <a:cubicBezTo>
                  <a:pt x="21" y="583"/>
                  <a:pt x="16" y="574"/>
                  <a:pt x="12" y="564"/>
                </a:cubicBezTo>
                <a:cubicBezTo>
                  <a:pt x="8" y="555"/>
                  <a:pt x="5" y="545"/>
                  <a:pt x="3" y="534"/>
                </a:cubicBezTo>
                <a:cubicBezTo>
                  <a:pt x="1" y="524"/>
                  <a:pt x="0" y="514"/>
                  <a:pt x="0" y="50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0" name=""/>
          <p:cNvSpPr txBox="1"/>
          <p:nvPr/>
        </p:nvSpPr>
        <p:spPr>
          <a:xfrm>
            <a:off x="6753960" y="5195160"/>
            <a:ext cx="12585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 pointers, not 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8074080" y="5230080"/>
            <a:ext cx="3751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2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prev</a:t>
            </a:r>
            <a:endParaRPr b="0" lang="en-US" sz="12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2" name=""/>
          <p:cNvSpPr/>
          <p:nvPr/>
        </p:nvSpPr>
        <p:spPr>
          <a:xfrm>
            <a:off x="981000" y="4838400"/>
            <a:ext cx="114480" cy="114840"/>
          </a:xfrm>
          <a:custGeom>
            <a:avLst/>
            <a:gdLst/>
            <a:ahLst/>
            <a:rect l="0" t="0" r="r" b="b"/>
            <a:pathLst>
              <a:path fill="none" w="318" h="319">
                <a:moveTo>
                  <a:pt x="318" y="0"/>
                </a:moveTo>
                <a:lnTo>
                  <a:pt x="0" y="319"/>
                </a:lnTo>
                <a:moveTo>
                  <a:pt x="0" y="0"/>
                </a:moveTo>
                <a:lnTo>
                  <a:pt x="318" y="319"/>
                </a:lnTo>
              </a:path>
            </a:pathLst>
          </a:custGeom>
          <a:ln cap="rnd" w="18720">
            <a:solidFill>
              <a:srgbClr val="e93147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"/>
          <p:cNvSpPr txBox="1"/>
          <p:nvPr/>
        </p:nvSpPr>
        <p:spPr>
          <a:xfrm>
            <a:off x="8510760" y="5195160"/>
            <a:ext cx="1825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4" name=""/>
          <p:cNvSpPr txBox="1"/>
          <p:nvPr/>
        </p:nvSpPr>
        <p:spPr>
          <a:xfrm>
            <a:off x="1203120" y="4789080"/>
            <a:ext cx="21798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e93147"/>
                </a:solidFill>
                <a:effectLst/>
                <a:uFillTx/>
                <a:latin typeface="LucidaGrande"/>
                <a:ea typeface="LucidaGrande"/>
              </a:rPr>
              <a:t>First Attempt Fails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5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6" name=""/>
          <p:cNvSpPr txBox="1"/>
          <p:nvPr/>
        </p:nvSpPr>
        <p:spPr>
          <a:xfrm>
            <a:off x="1238400" y="6569280"/>
            <a:ext cx="31820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0020e35 | © 08.10.2026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7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10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51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2" name=""/>
          <p:cNvSpPr txBox="1"/>
          <p:nvPr/>
        </p:nvSpPr>
        <p:spPr>
          <a:xfrm>
            <a:off x="762120" y="2497320"/>
            <a:ext cx="3548160" cy="30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08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Step 2 - Devise a strategy</a:t>
            </a:r>
            <a:endParaRPr b="0" lang="en-US" sz="20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3" name=""/>
          <p:cNvSpPr/>
          <p:nvPr/>
        </p:nvSpPr>
        <p:spPr>
          <a:xfrm>
            <a:off x="8667720" y="3009600"/>
            <a:ext cx="552600" cy="267120"/>
          </a:xfrm>
          <a:custGeom>
            <a:avLst/>
            <a:gdLst/>
            <a:ahLst/>
            <a:rect l="0" t="0" r="r" b="b"/>
            <a:pathLst>
              <a:path w="1535" h="742">
                <a:moveTo>
                  <a:pt x="0" y="583"/>
                </a:moveTo>
                <a:lnTo>
                  <a:pt x="0" y="160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3" y="39"/>
                  <a:pt x="61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1376" y="0"/>
                </a:lnTo>
                <a:cubicBezTo>
                  <a:pt x="1387" y="0"/>
                  <a:pt x="1397" y="1"/>
                  <a:pt x="1407" y="3"/>
                </a:cubicBezTo>
                <a:cubicBezTo>
                  <a:pt x="1418" y="5"/>
                  <a:pt x="1428" y="8"/>
                  <a:pt x="1437" y="12"/>
                </a:cubicBezTo>
                <a:cubicBezTo>
                  <a:pt x="1447" y="16"/>
                  <a:pt x="1456" y="21"/>
                  <a:pt x="1465" y="27"/>
                </a:cubicBezTo>
                <a:cubicBezTo>
                  <a:pt x="1473" y="33"/>
                  <a:pt x="1481" y="39"/>
                  <a:pt x="1489" y="47"/>
                </a:cubicBezTo>
                <a:cubicBezTo>
                  <a:pt x="1496" y="54"/>
                  <a:pt x="1503" y="62"/>
                  <a:pt x="1508" y="71"/>
                </a:cubicBezTo>
                <a:cubicBezTo>
                  <a:pt x="1514" y="80"/>
                  <a:pt x="1519" y="89"/>
                  <a:pt x="1523" y="98"/>
                </a:cubicBezTo>
                <a:cubicBezTo>
                  <a:pt x="1527" y="108"/>
                  <a:pt x="1530" y="118"/>
                  <a:pt x="1532" y="128"/>
                </a:cubicBezTo>
                <a:cubicBezTo>
                  <a:pt x="1534" y="138"/>
                  <a:pt x="1535" y="149"/>
                  <a:pt x="1535" y="160"/>
                </a:cubicBezTo>
                <a:lnTo>
                  <a:pt x="1535" y="583"/>
                </a:lnTo>
                <a:cubicBezTo>
                  <a:pt x="1535" y="594"/>
                  <a:pt x="1534" y="604"/>
                  <a:pt x="1532" y="614"/>
                </a:cubicBezTo>
                <a:cubicBezTo>
                  <a:pt x="1530" y="625"/>
                  <a:pt x="1527" y="635"/>
                  <a:pt x="1523" y="644"/>
                </a:cubicBezTo>
                <a:cubicBezTo>
                  <a:pt x="1519" y="654"/>
                  <a:pt x="1514" y="663"/>
                  <a:pt x="1508" y="672"/>
                </a:cubicBezTo>
                <a:cubicBezTo>
                  <a:pt x="1503" y="680"/>
                  <a:pt x="1496" y="688"/>
                  <a:pt x="1489" y="696"/>
                </a:cubicBezTo>
                <a:cubicBezTo>
                  <a:pt x="1481" y="703"/>
                  <a:pt x="1473" y="710"/>
                  <a:pt x="1465" y="715"/>
                </a:cubicBezTo>
                <a:cubicBezTo>
                  <a:pt x="1456" y="721"/>
                  <a:pt x="1447" y="726"/>
                  <a:pt x="1437" y="730"/>
                </a:cubicBezTo>
                <a:cubicBezTo>
                  <a:pt x="1428" y="734"/>
                  <a:pt x="1418" y="737"/>
                  <a:pt x="1407" y="739"/>
                </a:cubicBezTo>
                <a:cubicBezTo>
                  <a:pt x="1397" y="741"/>
                  <a:pt x="1387" y="742"/>
                  <a:pt x="1376" y="742"/>
                </a:cubicBezTo>
                <a:lnTo>
                  <a:pt x="158" y="742"/>
                </a:lnTo>
                <a:cubicBezTo>
                  <a:pt x="148" y="742"/>
                  <a:pt x="138" y="741"/>
                  <a:pt x="127" y="739"/>
                </a:cubicBezTo>
                <a:cubicBezTo>
                  <a:pt x="117" y="737"/>
                  <a:pt x="107" y="734"/>
                  <a:pt x="98" y="730"/>
                </a:cubicBezTo>
                <a:cubicBezTo>
                  <a:pt x="88" y="726"/>
                  <a:pt x="79" y="721"/>
                  <a:pt x="70" y="715"/>
                </a:cubicBezTo>
                <a:cubicBezTo>
                  <a:pt x="61" y="710"/>
                  <a:pt x="53" y="703"/>
                  <a:pt x="46" y="696"/>
                </a:cubicBezTo>
                <a:cubicBezTo>
                  <a:pt x="39" y="688"/>
                  <a:pt x="32" y="680"/>
                  <a:pt x="26" y="672"/>
                </a:cubicBezTo>
                <a:cubicBezTo>
                  <a:pt x="21" y="663"/>
                  <a:pt x="16" y="654"/>
                  <a:pt x="12" y="644"/>
                </a:cubicBezTo>
                <a:cubicBezTo>
                  <a:pt x="8" y="635"/>
                  <a:pt x="5" y="625"/>
                  <a:pt x="3" y="614"/>
                </a:cubicBezTo>
                <a:cubicBezTo>
                  <a:pt x="1" y="604"/>
                  <a:pt x="0" y="594"/>
                  <a:pt x="0" y="58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762120" y="3013560"/>
            <a:ext cx="78879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Working approach: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move front elements to the back instead — this only needs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8734320" y="3045960"/>
            <a:ext cx="41544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head</a:t>
            </a:r>
            <a:endParaRPr b="0" lang="en-US" sz="13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6" name=""/>
          <p:cNvSpPr/>
          <p:nvPr/>
        </p:nvSpPr>
        <p:spPr>
          <a:xfrm>
            <a:off x="10810800" y="3009600"/>
            <a:ext cx="552600" cy="267120"/>
          </a:xfrm>
          <a:custGeom>
            <a:avLst/>
            <a:gdLst/>
            <a:ahLst/>
            <a:rect l="0" t="0" r="r" b="b"/>
            <a:pathLst>
              <a:path w="1535" h="742">
                <a:moveTo>
                  <a:pt x="0" y="583"/>
                </a:moveTo>
                <a:lnTo>
                  <a:pt x="0" y="160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1376" y="0"/>
                </a:lnTo>
                <a:cubicBezTo>
                  <a:pt x="1386" y="0"/>
                  <a:pt x="1396" y="1"/>
                  <a:pt x="1407" y="3"/>
                </a:cubicBezTo>
                <a:cubicBezTo>
                  <a:pt x="1418" y="5"/>
                  <a:pt x="1428" y="8"/>
                  <a:pt x="1437" y="12"/>
                </a:cubicBezTo>
                <a:cubicBezTo>
                  <a:pt x="1447" y="16"/>
                  <a:pt x="1456" y="21"/>
                  <a:pt x="1465" y="27"/>
                </a:cubicBezTo>
                <a:cubicBezTo>
                  <a:pt x="1473" y="33"/>
                  <a:pt x="1481" y="39"/>
                  <a:pt x="1489" y="47"/>
                </a:cubicBezTo>
                <a:cubicBezTo>
                  <a:pt x="1496" y="54"/>
                  <a:pt x="1503" y="62"/>
                  <a:pt x="1509" y="71"/>
                </a:cubicBezTo>
                <a:cubicBezTo>
                  <a:pt x="1514" y="80"/>
                  <a:pt x="1519" y="89"/>
                  <a:pt x="1523" y="98"/>
                </a:cubicBezTo>
                <a:cubicBezTo>
                  <a:pt x="1527" y="108"/>
                  <a:pt x="1530" y="118"/>
                  <a:pt x="1532" y="128"/>
                </a:cubicBezTo>
                <a:cubicBezTo>
                  <a:pt x="1534" y="138"/>
                  <a:pt x="1535" y="149"/>
                  <a:pt x="1535" y="160"/>
                </a:cubicBezTo>
                <a:lnTo>
                  <a:pt x="1535" y="583"/>
                </a:lnTo>
                <a:cubicBezTo>
                  <a:pt x="1535" y="594"/>
                  <a:pt x="1534" y="604"/>
                  <a:pt x="1532" y="614"/>
                </a:cubicBezTo>
                <a:cubicBezTo>
                  <a:pt x="1530" y="625"/>
                  <a:pt x="1527" y="635"/>
                  <a:pt x="1523" y="644"/>
                </a:cubicBezTo>
                <a:cubicBezTo>
                  <a:pt x="1519" y="654"/>
                  <a:pt x="1514" y="663"/>
                  <a:pt x="1509" y="672"/>
                </a:cubicBezTo>
                <a:cubicBezTo>
                  <a:pt x="1503" y="680"/>
                  <a:pt x="1496" y="688"/>
                  <a:pt x="1489" y="696"/>
                </a:cubicBezTo>
                <a:cubicBezTo>
                  <a:pt x="1481" y="703"/>
                  <a:pt x="1473" y="710"/>
                  <a:pt x="1465" y="715"/>
                </a:cubicBezTo>
                <a:cubicBezTo>
                  <a:pt x="1456" y="721"/>
                  <a:pt x="1447" y="726"/>
                  <a:pt x="1437" y="730"/>
                </a:cubicBezTo>
                <a:cubicBezTo>
                  <a:pt x="1428" y="734"/>
                  <a:pt x="1418" y="737"/>
                  <a:pt x="1407" y="739"/>
                </a:cubicBezTo>
                <a:cubicBezTo>
                  <a:pt x="1396" y="741"/>
                  <a:pt x="1386" y="742"/>
                  <a:pt x="1376" y="742"/>
                </a:cubicBezTo>
                <a:lnTo>
                  <a:pt x="158" y="742"/>
                </a:lnTo>
                <a:cubicBezTo>
                  <a:pt x="148" y="742"/>
                  <a:pt x="138" y="741"/>
                  <a:pt x="127" y="739"/>
                </a:cubicBezTo>
                <a:cubicBezTo>
                  <a:pt x="117" y="737"/>
                  <a:pt x="107" y="734"/>
                  <a:pt x="98" y="730"/>
                </a:cubicBezTo>
                <a:cubicBezTo>
                  <a:pt x="88" y="726"/>
                  <a:pt x="79" y="721"/>
                  <a:pt x="70" y="715"/>
                </a:cubicBezTo>
                <a:cubicBezTo>
                  <a:pt x="62" y="710"/>
                  <a:pt x="54" y="703"/>
                  <a:pt x="46" y="696"/>
                </a:cubicBezTo>
                <a:cubicBezTo>
                  <a:pt x="39" y="688"/>
                  <a:pt x="32" y="680"/>
                  <a:pt x="26" y="672"/>
                </a:cubicBezTo>
                <a:cubicBezTo>
                  <a:pt x="21" y="663"/>
                  <a:pt x="16" y="654"/>
                  <a:pt x="12" y="644"/>
                </a:cubicBezTo>
                <a:cubicBezTo>
                  <a:pt x="8" y="635"/>
                  <a:pt x="5" y="625"/>
                  <a:pt x="3" y="614"/>
                </a:cubicBezTo>
                <a:cubicBezTo>
                  <a:pt x="1" y="604"/>
                  <a:pt x="0" y="594"/>
                  <a:pt x="0" y="58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9219240" y="3013560"/>
            <a:ext cx="15879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 and the known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8" name=""/>
          <p:cNvSpPr txBox="1"/>
          <p:nvPr/>
        </p:nvSpPr>
        <p:spPr>
          <a:xfrm>
            <a:off x="10879200" y="3045960"/>
            <a:ext cx="41544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tail</a:t>
            </a:r>
            <a:endParaRPr b="0" lang="en-US" sz="13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9" name=""/>
          <p:cNvSpPr txBox="1"/>
          <p:nvPr/>
        </p:nvSpPr>
        <p:spPr>
          <a:xfrm>
            <a:off x="11364120" y="3013560"/>
            <a:ext cx="2026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911160" y="3470760"/>
            <a:ext cx="56746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Find the list length (the same traversal locates the tail).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1" name=""/>
          <p:cNvSpPr/>
          <p:nvPr/>
        </p:nvSpPr>
        <p:spPr>
          <a:xfrm>
            <a:off x="2076120" y="3819240"/>
            <a:ext cx="3467520" cy="276840"/>
          </a:xfrm>
          <a:custGeom>
            <a:avLst/>
            <a:gdLst/>
            <a:ahLst/>
            <a:rect l="0" t="0" r="r" b="b"/>
            <a:pathLst>
              <a:path w="9632" h="769">
                <a:moveTo>
                  <a:pt x="0" y="610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6" y="118"/>
                  <a:pt x="9" y="108"/>
                  <a:pt x="13" y="98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2"/>
                  <a:pt x="40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9473" y="0"/>
                </a:lnTo>
                <a:cubicBezTo>
                  <a:pt x="9484" y="0"/>
                  <a:pt x="9494" y="1"/>
                  <a:pt x="9504" y="3"/>
                </a:cubicBezTo>
                <a:cubicBezTo>
                  <a:pt x="9515" y="5"/>
                  <a:pt x="9525" y="8"/>
                  <a:pt x="9534" y="12"/>
                </a:cubicBezTo>
                <a:cubicBezTo>
                  <a:pt x="9544" y="16"/>
                  <a:pt x="9553" y="21"/>
                  <a:pt x="9562" y="27"/>
                </a:cubicBezTo>
                <a:cubicBezTo>
                  <a:pt x="9570" y="33"/>
                  <a:pt x="9578" y="39"/>
                  <a:pt x="9586" y="47"/>
                </a:cubicBezTo>
                <a:cubicBezTo>
                  <a:pt x="9593" y="54"/>
                  <a:pt x="9600" y="62"/>
                  <a:pt x="9605" y="71"/>
                </a:cubicBezTo>
                <a:cubicBezTo>
                  <a:pt x="9611" y="80"/>
                  <a:pt x="9616" y="89"/>
                  <a:pt x="9620" y="98"/>
                </a:cubicBezTo>
                <a:cubicBezTo>
                  <a:pt x="9624" y="108"/>
                  <a:pt x="9627" y="118"/>
                  <a:pt x="9629" y="128"/>
                </a:cubicBezTo>
                <a:cubicBezTo>
                  <a:pt x="9631" y="138"/>
                  <a:pt x="9632" y="149"/>
                  <a:pt x="9632" y="159"/>
                </a:cubicBezTo>
                <a:lnTo>
                  <a:pt x="9632" y="610"/>
                </a:lnTo>
                <a:cubicBezTo>
                  <a:pt x="9632" y="620"/>
                  <a:pt x="9631" y="631"/>
                  <a:pt x="9629" y="641"/>
                </a:cubicBezTo>
                <a:cubicBezTo>
                  <a:pt x="9627" y="651"/>
                  <a:pt x="9624" y="661"/>
                  <a:pt x="9620" y="671"/>
                </a:cubicBezTo>
                <a:cubicBezTo>
                  <a:pt x="9616" y="680"/>
                  <a:pt x="9611" y="689"/>
                  <a:pt x="9605" y="698"/>
                </a:cubicBezTo>
                <a:cubicBezTo>
                  <a:pt x="9600" y="707"/>
                  <a:pt x="9593" y="715"/>
                  <a:pt x="9586" y="722"/>
                </a:cubicBezTo>
                <a:cubicBezTo>
                  <a:pt x="9578" y="729"/>
                  <a:pt x="9570" y="736"/>
                  <a:pt x="9562" y="742"/>
                </a:cubicBezTo>
                <a:cubicBezTo>
                  <a:pt x="9553" y="748"/>
                  <a:pt x="9544" y="753"/>
                  <a:pt x="9534" y="756"/>
                </a:cubicBezTo>
                <a:cubicBezTo>
                  <a:pt x="9525" y="760"/>
                  <a:pt x="9515" y="763"/>
                  <a:pt x="9504" y="766"/>
                </a:cubicBezTo>
                <a:cubicBezTo>
                  <a:pt x="9494" y="768"/>
                  <a:pt x="9484" y="769"/>
                  <a:pt x="9473" y="769"/>
                </a:cubicBezTo>
                <a:lnTo>
                  <a:pt x="159" y="769"/>
                </a:lnTo>
                <a:cubicBezTo>
                  <a:pt x="149" y="769"/>
                  <a:pt x="138" y="768"/>
                  <a:pt x="128" y="766"/>
                </a:cubicBezTo>
                <a:cubicBezTo>
                  <a:pt x="118" y="763"/>
                  <a:pt x="108" y="760"/>
                  <a:pt x="98" y="756"/>
                </a:cubicBezTo>
                <a:cubicBezTo>
                  <a:pt x="89" y="753"/>
                  <a:pt x="80" y="748"/>
                  <a:pt x="71" y="742"/>
                </a:cubicBezTo>
                <a:cubicBezTo>
                  <a:pt x="62" y="736"/>
                  <a:pt x="54" y="729"/>
                  <a:pt x="47" y="722"/>
                </a:cubicBezTo>
                <a:cubicBezTo>
                  <a:pt x="40" y="715"/>
                  <a:pt x="33" y="707"/>
                  <a:pt x="27" y="698"/>
                </a:cubicBezTo>
                <a:cubicBezTo>
                  <a:pt x="21" y="689"/>
                  <a:pt x="16" y="680"/>
                  <a:pt x="13" y="671"/>
                </a:cubicBezTo>
                <a:cubicBezTo>
                  <a:pt x="9" y="661"/>
                  <a:pt x="6" y="651"/>
                  <a:pt x="3" y="641"/>
                </a:cubicBezTo>
                <a:cubicBezTo>
                  <a:pt x="1" y="631"/>
                  <a:pt x="0" y="620"/>
                  <a:pt x="0" y="610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2" name=""/>
          <p:cNvSpPr txBox="1"/>
          <p:nvPr/>
        </p:nvSpPr>
        <p:spPr>
          <a:xfrm>
            <a:off x="911160" y="3823200"/>
            <a:ext cx="11674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Simplify: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2149920" y="3855600"/>
            <a:ext cx="331848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true_k = length − (k mod length)</a:t>
            </a:r>
            <a:endParaRPr b="0" lang="en-US" sz="13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4" name=""/>
          <p:cNvSpPr txBox="1"/>
          <p:nvPr/>
        </p:nvSpPr>
        <p:spPr>
          <a:xfrm>
            <a:off x="5546160" y="3823200"/>
            <a:ext cx="2026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5" name=""/>
          <p:cNvSpPr/>
          <p:nvPr/>
        </p:nvSpPr>
        <p:spPr>
          <a:xfrm>
            <a:off x="2047680" y="4181400"/>
            <a:ext cx="1800720" cy="267120"/>
          </a:xfrm>
          <a:custGeom>
            <a:avLst/>
            <a:gdLst/>
            <a:ahLst/>
            <a:rect l="0" t="0" r="r" b="b"/>
            <a:pathLst>
              <a:path w="5002" h="742">
                <a:moveTo>
                  <a:pt x="0" y="582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4843" y="0"/>
                </a:lnTo>
                <a:cubicBezTo>
                  <a:pt x="4853" y="0"/>
                  <a:pt x="4864" y="1"/>
                  <a:pt x="4874" y="3"/>
                </a:cubicBezTo>
                <a:cubicBezTo>
                  <a:pt x="4884" y="5"/>
                  <a:pt x="4894" y="8"/>
                  <a:pt x="4904" y="12"/>
                </a:cubicBezTo>
                <a:cubicBezTo>
                  <a:pt x="4913" y="16"/>
                  <a:pt x="4922" y="21"/>
                  <a:pt x="4931" y="26"/>
                </a:cubicBezTo>
                <a:cubicBezTo>
                  <a:pt x="4940" y="32"/>
                  <a:pt x="4948" y="39"/>
                  <a:pt x="4955" y="46"/>
                </a:cubicBezTo>
                <a:cubicBezTo>
                  <a:pt x="4963" y="54"/>
                  <a:pt x="4969" y="62"/>
                  <a:pt x="4975" y="70"/>
                </a:cubicBezTo>
                <a:cubicBezTo>
                  <a:pt x="4981" y="79"/>
                  <a:pt x="4986" y="88"/>
                  <a:pt x="4990" y="98"/>
                </a:cubicBezTo>
                <a:cubicBezTo>
                  <a:pt x="4994" y="107"/>
                  <a:pt x="4997" y="117"/>
                  <a:pt x="4999" y="127"/>
                </a:cubicBezTo>
                <a:cubicBezTo>
                  <a:pt x="5001" y="138"/>
                  <a:pt x="5002" y="148"/>
                  <a:pt x="5002" y="158"/>
                </a:cubicBezTo>
                <a:lnTo>
                  <a:pt x="5002" y="582"/>
                </a:lnTo>
                <a:cubicBezTo>
                  <a:pt x="5002" y="592"/>
                  <a:pt x="5001" y="604"/>
                  <a:pt x="4999" y="614"/>
                </a:cubicBezTo>
                <a:cubicBezTo>
                  <a:pt x="4997" y="624"/>
                  <a:pt x="4994" y="634"/>
                  <a:pt x="4990" y="644"/>
                </a:cubicBezTo>
                <a:cubicBezTo>
                  <a:pt x="4986" y="653"/>
                  <a:pt x="4981" y="662"/>
                  <a:pt x="4975" y="671"/>
                </a:cubicBezTo>
                <a:cubicBezTo>
                  <a:pt x="4969" y="680"/>
                  <a:pt x="4963" y="688"/>
                  <a:pt x="4955" y="695"/>
                </a:cubicBezTo>
                <a:cubicBezTo>
                  <a:pt x="4948" y="702"/>
                  <a:pt x="4940" y="709"/>
                  <a:pt x="4931" y="715"/>
                </a:cubicBezTo>
                <a:cubicBezTo>
                  <a:pt x="4922" y="721"/>
                  <a:pt x="4913" y="725"/>
                  <a:pt x="4904" y="729"/>
                </a:cubicBezTo>
                <a:cubicBezTo>
                  <a:pt x="4894" y="733"/>
                  <a:pt x="4884" y="736"/>
                  <a:pt x="4874" y="738"/>
                </a:cubicBezTo>
                <a:cubicBezTo>
                  <a:pt x="4864" y="741"/>
                  <a:pt x="4853" y="742"/>
                  <a:pt x="4843" y="742"/>
                </a:cubicBezTo>
                <a:lnTo>
                  <a:pt x="159" y="742"/>
                </a:lnTo>
                <a:cubicBezTo>
                  <a:pt x="148" y="742"/>
                  <a:pt x="138" y="741"/>
                  <a:pt x="128" y="738"/>
                </a:cubicBezTo>
                <a:cubicBezTo>
                  <a:pt x="118" y="736"/>
                  <a:pt x="108" y="733"/>
                  <a:pt x="98" y="729"/>
                </a:cubicBezTo>
                <a:cubicBezTo>
                  <a:pt x="88" y="725"/>
                  <a:pt x="79" y="721"/>
                  <a:pt x="71" y="715"/>
                </a:cubicBezTo>
                <a:cubicBezTo>
                  <a:pt x="62" y="709"/>
                  <a:pt x="54" y="702"/>
                  <a:pt x="47" y="695"/>
                </a:cubicBezTo>
                <a:cubicBezTo>
                  <a:pt x="39" y="688"/>
                  <a:pt x="33" y="680"/>
                  <a:pt x="27" y="671"/>
                </a:cubicBezTo>
                <a:cubicBezTo>
                  <a:pt x="21" y="662"/>
                  <a:pt x="16" y="653"/>
                  <a:pt x="12" y="644"/>
                </a:cubicBezTo>
                <a:cubicBezTo>
                  <a:pt x="8" y="634"/>
                  <a:pt x="5" y="624"/>
                  <a:pt x="3" y="614"/>
                </a:cubicBezTo>
                <a:cubicBezTo>
                  <a:pt x="1" y="604"/>
                  <a:pt x="0" y="592"/>
                  <a:pt x="0" y="582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911160" y="4175640"/>
            <a:ext cx="11300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3.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Connect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2112480" y="4217760"/>
            <a:ext cx="165960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tail.next = head</a:t>
            </a:r>
            <a:endParaRPr b="0" lang="en-US" sz="13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8" name=""/>
          <p:cNvSpPr/>
          <p:nvPr/>
        </p:nvSpPr>
        <p:spPr>
          <a:xfrm>
            <a:off x="6848280" y="4181400"/>
            <a:ext cx="762480" cy="267120"/>
          </a:xfrm>
          <a:custGeom>
            <a:avLst/>
            <a:gdLst/>
            <a:ahLst/>
            <a:rect l="0" t="0" r="r" b="b"/>
            <a:pathLst>
              <a:path w="2118" h="742">
                <a:moveTo>
                  <a:pt x="0" y="582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1959" y="0"/>
                </a:lnTo>
                <a:cubicBezTo>
                  <a:pt x="1969" y="0"/>
                  <a:pt x="1980" y="1"/>
                  <a:pt x="1990" y="3"/>
                </a:cubicBezTo>
                <a:cubicBezTo>
                  <a:pt x="2000" y="5"/>
                  <a:pt x="2010" y="8"/>
                  <a:pt x="2020" y="12"/>
                </a:cubicBezTo>
                <a:cubicBezTo>
                  <a:pt x="2029" y="16"/>
                  <a:pt x="2038" y="21"/>
                  <a:pt x="2047" y="26"/>
                </a:cubicBezTo>
                <a:cubicBezTo>
                  <a:pt x="2056" y="32"/>
                  <a:pt x="2064" y="39"/>
                  <a:pt x="2071" y="46"/>
                </a:cubicBezTo>
                <a:cubicBezTo>
                  <a:pt x="2079" y="54"/>
                  <a:pt x="2085" y="62"/>
                  <a:pt x="2091" y="70"/>
                </a:cubicBezTo>
                <a:cubicBezTo>
                  <a:pt x="2097" y="79"/>
                  <a:pt x="2102" y="88"/>
                  <a:pt x="2106" y="98"/>
                </a:cubicBezTo>
                <a:cubicBezTo>
                  <a:pt x="2110" y="107"/>
                  <a:pt x="2113" y="117"/>
                  <a:pt x="2115" y="127"/>
                </a:cubicBezTo>
                <a:cubicBezTo>
                  <a:pt x="2117" y="138"/>
                  <a:pt x="2118" y="148"/>
                  <a:pt x="2118" y="158"/>
                </a:cubicBezTo>
                <a:lnTo>
                  <a:pt x="2118" y="582"/>
                </a:lnTo>
                <a:cubicBezTo>
                  <a:pt x="2118" y="592"/>
                  <a:pt x="2117" y="604"/>
                  <a:pt x="2115" y="614"/>
                </a:cubicBezTo>
                <a:cubicBezTo>
                  <a:pt x="2113" y="624"/>
                  <a:pt x="2110" y="634"/>
                  <a:pt x="2106" y="644"/>
                </a:cubicBezTo>
                <a:cubicBezTo>
                  <a:pt x="2102" y="653"/>
                  <a:pt x="2097" y="662"/>
                  <a:pt x="2091" y="671"/>
                </a:cubicBezTo>
                <a:cubicBezTo>
                  <a:pt x="2085" y="680"/>
                  <a:pt x="2079" y="688"/>
                  <a:pt x="2071" y="695"/>
                </a:cubicBezTo>
                <a:cubicBezTo>
                  <a:pt x="2064" y="702"/>
                  <a:pt x="2056" y="709"/>
                  <a:pt x="2047" y="715"/>
                </a:cubicBezTo>
                <a:cubicBezTo>
                  <a:pt x="2038" y="721"/>
                  <a:pt x="2029" y="725"/>
                  <a:pt x="2020" y="729"/>
                </a:cubicBezTo>
                <a:cubicBezTo>
                  <a:pt x="2010" y="733"/>
                  <a:pt x="2000" y="736"/>
                  <a:pt x="1990" y="738"/>
                </a:cubicBezTo>
                <a:cubicBezTo>
                  <a:pt x="1980" y="741"/>
                  <a:pt x="1969" y="742"/>
                  <a:pt x="1959" y="742"/>
                </a:cubicBezTo>
                <a:lnTo>
                  <a:pt x="159" y="742"/>
                </a:lnTo>
                <a:cubicBezTo>
                  <a:pt x="148" y="742"/>
                  <a:pt x="138" y="741"/>
                  <a:pt x="128" y="738"/>
                </a:cubicBezTo>
                <a:cubicBezTo>
                  <a:pt x="118" y="736"/>
                  <a:pt x="108" y="733"/>
                  <a:pt x="98" y="729"/>
                </a:cubicBezTo>
                <a:cubicBezTo>
                  <a:pt x="88" y="725"/>
                  <a:pt x="79" y="721"/>
                  <a:pt x="71" y="715"/>
                </a:cubicBezTo>
                <a:cubicBezTo>
                  <a:pt x="62" y="709"/>
                  <a:pt x="54" y="702"/>
                  <a:pt x="47" y="695"/>
                </a:cubicBezTo>
                <a:cubicBezTo>
                  <a:pt x="39" y="688"/>
                  <a:pt x="33" y="680"/>
                  <a:pt x="27" y="671"/>
                </a:cubicBezTo>
                <a:cubicBezTo>
                  <a:pt x="21" y="662"/>
                  <a:pt x="16" y="653"/>
                  <a:pt x="12" y="644"/>
                </a:cubicBezTo>
                <a:cubicBezTo>
                  <a:pt x="8" y="634"/>
                  <a:pt x="5" y="624"/>
                  <a:pt x="3" y="614"/>
                </a:cubicBezTo>
                <a:cubicBezTo>
                  <a:pt x="1" y="604"/>
                  <a:pt x="0" y="592"/>
                  <a:pt x="0" y="582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3845160" y="4175640"/>
            <a:ext cx="30009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 (temporary circular list); walk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0" name=""/>
          <p:cNvSpPr txBox="1"/>
          <p:nvPr/>
        </p:nvSpPr>
        <p:spPr>
          <a:xfrm>
            <a:off x="6921720" y="4217760"/>
            <a:ext cx="62280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true_k</a:t>
            </a:r>
            <a:endParaRPr b="0" lang="en-US" sz="13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1" name=""/>
          <p:cNvSpPr/>
          <p:nvPr/>
        </p:nvSpPr>
        <p:spPr>
          <a:xfrm>
            <a:off x="8800920" y="4181400"/>
            <a:ext cx="552960" cy="267120"/>
          </a:xfrm>
          <a:custGeom>
            <a:avLst/>
            <a:gdLst/>
            <a:ahLst/>
            <a:rect l="0" t="0" r="r" b="b"/>
            <a:pathLst>
              <a:path w="1536" h="742">
                <a:moveTo>
                  <a:pt x="0" y="582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6" y="46"/>
                </a:cubicBezTo>
                <a:cubicBezTo>
                  <a:pt x="54" y="39"/>
                  <a:pt x="62" y="32"/>
                  <a:pt x="71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1377" y="0"/>
                </a:lnTo>
                <a:cubicBezTo>
                  <a:pt x="1387" y="0"/>
                  <a:pt x="1398" y="1"/>
                  <a:pt x="1408" y="3"/>
                </a:cubicBezTo>
                <a:cubicBezTo>
                  <a:pt x="1418" y="5"/>
                  <a:pt x="1428" y="8"/>
                  <a:pt x="1438" y="12"/>
                </a:cubicBezTo>
                <a:cubicBezTo>
                  <a:pt x="1447" y="16"/>
                  <a:pt x="1456" y="21"/>
                  <a:pt x="1465" y="26"/>
                </a:cubicBezTo>
                <a:cubicBezTo>
                  <a:pt x="1474" y="32"/>
                  <a:pt x="1482" y="39"/>
                  <a:pt x="1489" y="46"/>
                </a:cubicBezTo>
                <a:cubicBezTo>
                  <a:pt x="1496" y="54"/>
                  <a:pt x="1503" y="62"/>
                  <a:pt x="1509" y="70"/>
                </a:cubicBezTo>
                <a:cubicBezTo>
                  <a:pt x="1515" y="79"/>
                  <a:pt x="1520" y="88"/>
                  <a:pt x="1523" y="98"/>
                </a:cubicBezTo>
                <a:cubicBezTo>
                  <a:pt x="1527" y="107"/>
                  <a:pt x="1530" y="117"/>
                  <a:pt x="1533" y="127"/>
                </a:cubicBezTo>
                <a:cubicBezTo>
                  <a:pt x="1535" y="138"/>
                  <a:pt x="1536" y="148"/>
                  <a:pt x="1536" y="158"/>
                </a:cubicBezTo>
                <a:lnTo>
                  <a:pt x="1536" y="582"/>
                </a:lnTo>
                <a:cubicBezTo>
                  <a:pt x="1536" y="592"/>
                  <a:pt x="1535" y="604"/>
                  <a:pt x="1533" y="614"/>
                </a:cubicBezTo>
                <a:cubicBezTo>
                  <a:pt x="1530" y="624"/>
                  <a:pt x="1527" y="634"/>
                  <a:pt x="1523" y="644"/>
                </a:cubicBezTo>
                <a:cubicBezTo>
                  <a:pt x="1520" y="653"/>
                  <a:pt x="1515" y="662"/>
                  <a:pt x="1509" y="671"/>
                </a:cubicBezTo>
                <a:cubicBezTo>
                  <a:pt x="1503" y="680"/>
                  <a:pt x="1496" y="688"/>
                  <a:pt x="1489" y="695"/>
                </a:cubicBezTo>
                <a:cubicBezTo>
                  <a:pt x="1482" y="702"/>
                  <a:pt x="1474" y="709"/>
                  <a:pt x="1465" y="715"/>
                </a:cubicBezTo>
                <a:cubicBezTo>
                  <a:pt x="1456" y="721"/>
                  <a:pt x="1447" y="725"/>
                  <a:pt x="1438" y="729"/>
                </a:cubicBezTo>
                <a:cubicBezTo>
                  <a:pt x="1428" y="733"/>
                  <a:pt x="1418" y="736"/>
                  <a:pt x="1408" y="738"/>
                </a:cubicBezTo>
                <a:cubicBezTo>
                  <a:pt x="1398" y="741"/>
                  <a:pt x="1387" y="742"/>
                  <a:pt x="1377" y="742"/>
                </a:cubicBezTo>
                <a:lnTo>
                  <a:pt x="159" y="742"/>
                </a:lnTo>
                <a:cubicBezTo>
                  <a:pt x="148" y="742"/>
                  <a:pt x="138" y="741"/>
                  <a:pt x="128" y="738"/>
                </a:cubicBezTo>
                <a:cubicBezTo>
                  <a:pt x="118" y="736"/>
                  <a:pt x="108" y="733"/>
                  <a:pt x="98" y="729"/>
                </a:cubicBezTo>
                <a:cubicBezTo>
                  <a:pt x="88" y="725"/>
                  <a:pt x="79" y="721"/>
                  <a:pt x="71" y="715"/>
                </a:cubicBezTo>
                <a:cubicBezTo>
                  <a:pt x="62" y="709"/>
                  <a:pt x="54" y="702"/>
                  <a:pt x="46" y="695"/>
                </a:cubicBezTo>
                <a:cubicBezTo>
                  <a:pt x="39" y="688"/>
                  <a:pt x="33" y="680"/>
                  <a:pt x="27" y="671"/>
                </a:cubicBezTo>
                <a:cubicBezTo>
                  <a:pt x="21" y="662"/>
                  <a:pt x="16" y="653"/>
                  <a:pt x="12" y="644"/>
                </a:cubicBezTo>
                <a:cubicBezTo>
                  <a:pt x="8" y="634"/>
                  <a:pt x="5" y="624"/>
                  <a:pt x="3" y="614"/>
                </a:cubicBezTo>
                <a:cubicBezTo>
                  <a:pt x="1" y="604"/>
                  <a:pt x="0" y="592"/>
                  <a:pt x="0" y="582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7614360" y="4175640"/>
            <a:ext cx="11872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 steps from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3" name=""/>
          <p:cNvSpPr txBox="1"/>
          <p:nvPr/>
        </p:nvSpPr>
        <p:spPr>
          <a:xfrm>
            <a:off x="8872920" y="4217760"/>
            <a:ext cx="41544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head</a:t>
            </a:r>
            <a:endParaRPr b="0" lang="en-US" sz="13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4" name=""/>
          <p:cNvSpPr/>
          <p:nvPr/>
        </p:nvSpPr>
        <p:spPr>
          <a:xfrm>
            <a:off x="10610640" y="4181400"/>
            <a:ext cx="667080" cy="267120"/>
          </a:xfrm>
          <a:custGeom>
            <a:avLst/>
            <a:gdLst/>
            <a:ahLst/>
            <a:rect l="0" t="0" r="r" b="b"/>
            <a:pathLst>
              <a:path w="1853" h="742">
                <a:moveTo>
                  <a:pt x="0" y="582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1694" y="0"/>
                </a:lnTo>
                <a:cubicBezTo>
                  <a:pt x="1705" y="0"/>
                  <a:pt x="1715" y="1"/>
                  <a:pt x="1725" y="3"/>
                </a:cubicBezTo>
                <a:cubicBezTo>
                  <a:pt x="1736" y="5"/>
                  <a:pt x="1746" y="8"/>
                  <a:pt x="1755" y="12"/>
                </a:cubicBezTo>
                <a:cubicBezTo>
                  <a:pt x="1765" y="16"/>
                  <a:pt x="1774" y="21"/>
                  <a:pt x="1783" y="26"/>
                </a:cubicBezTo>
                <a:cubicBezTo>
                  <a:pt x="1791" y="32"/>
                  <a:pt x="1799" y="39"/>
                  <a:pt x="1807" y="46"/>
                </a:cubicBezTo>
                <a:cubicBezTo>
                  <a:pt x="1814" y="54"/>
                  <a:pt x="1821" y="62"/>
                  <a:pt x="1826" y="70"/>
                </a:cubicBezTo>
                <a:cubicBezTo>
                  <a:pt x="1832" y="79"/>
                  <a:pt x="1837" y="88"/>
                  <a:pt x="1841" y="98"/>
                </a:cubicBezTo>
                <a:cubicBezTo>
                  <a:pt x="1845" y="107"/>
                  <a:pt x="1848" y="117"/>
                  <a:pt x="1850" y="127"/>
                </a:cubicBezTo>
                <a:cubicBezTo>
                  <a:pt x="1852" y="138"/>
                  <a:pt x="1853" y="148"/>
                  <a:pt x="1853" y="158"/>
                </a:cubicBezTo>
                <a:lnTo>
                  <a:pt x="1853" y="582"/>
                </a:lnTo>
                <a:cubicBezTo>
                  <a:pt x="1853" y="592"/>
                  <a:pt x="1852" y="604"/>
                  <a:pt x="1850" y="614"/>
                </a:cubicBezTo>
                <a:cubicBezTo>
                  <a:pt x="1848" y="624"/>
                  <a:pt x="1845" y="634"/>
                  <a:pt x="1841" y="644"/>
                </a:cubicBezTo>
                <a:cubicBezTo>
                  <a:pt x="1837" y="653"/>
                  <a:pt x="1832" y="662"/>
                  <a:pt x="1826" y="671"/>
                </a:cubicBezTo>
                <a:cubicBezTo>
                  <a:pt x="1821" y="680"/>
                  <a:pt x="1814" y="688"/>
                  <a:pt x="1807" y="695"/>
                </a:cubicBezTo>
                <a:cubicBezTo>
                  <a:pt x="1799" y="702"/>
                  <a:pt x="1791" y="709"/>
                  <a:pt x="1783" y="715"/>
                </a:cubicBezTo>
                <a:cubicBezTo>
                  <a:pt x="1774" y="721"/>
                  <a:pt x="1765" y="725"/>
                  <a:pt x="1755" y="729"/>
                </a:cubicBezTo>
                <a:cubicBezTo>
                  <a:pt x="1746" y="733"/>
                  <a:pt x="1736" y="736"/>
                  <a:pt x="1725" y="738"/>
                </a:cubicBezTo>
                <a:cubicBezTo>
                  <a:pt x="1715" y="741"/>
                  <a:pt x="1705" y="742"/>
                  <a:pt x="1694" y="742"/>
                </a:cubicBezTo>
                <a:lnTo>
                  <a:pt x="159" y="742"/>
                </a:lnTo>
                <a:cubicBezTo>
                  <a:pt x="148" y="742"/>
                  <a:pt x="138" y="741"/>
                  <a:pt x="128" y="738"/>
                </a:cubicBezTo>
                <a:cubicBezTo>
                  <a:pt x="118" y="736"/>
                  <a:pt x="108" y="733"/>
                  <a:pt x="98" y="729"/>
                </a:cubicBezTo>
                <a:cubicBezTo>
                  <a:pt x="88" y="725"/>
                  <a:pt x="79" y="721"/>
                  <a:pt x="71" y="715"/>
                </a:cubicBezTo>
                <a:cubicBezTo>
                  <a:pt x="62" y="709"/>
                  <a:pt x="54" y="702"/>
                  <a:pt x="47" y="695"/>
                </a:cubicBezTo>
                <a:cubicBezTo>
                  <a:pt x="39" y="688"/>
                  <a:pt x="33" y="680"/>
                  <a:pt x="27" y="671"/>
                </a:cubicBezTo>
                <a:cubicBezTo>
                  <a:pt x="21" y="662"/>
                  <a:pt x="16" y="653"/>
                  <a:pt x="12" y="644"/>
                </a:cubicBezTo>
                <a:cubicBezTo>
                  <a:pt x="8" y="634"/>
                  <a:pt x="5" y="624"/>
                  <a:pt x="3" y="614"/>
                </a:cubicBezTo>
                <a:cubicBezTo>
                  <a:pt x="1" y="604"/>
                  <a:pt x="0" y="592"/>
                  <a:pt x="0" y="582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5" name=""/>
          <p:cNvSpPr txBox="1"/>
          <p:nvPr/>
        </p:nvSpPr>
        <p:spPr>
          <a:xfrm>
            <a:off x="9357840" y="4175640"/>
            <a:ext cx="12549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; disconnect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6" name=""/>
          <p:cNvSpPr txBox="1"/>
          <p:nvPr/>
        </p:nvSpPr>
        <p:spPr>
          <a:xfrm>
            <a:off x="10684440" y="4217760"/>
            <a:ext cx="51912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.next</a:t>
            </a:r>
            <a:endParaRPr b="0" lang="en-US" sz="13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1168200" y="4480200"/>
            <a:ext cx="44056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there; return the next node as the new head.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762120" y="4937400"/>
            <a:ext cx="105393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Edge cases: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empty list → return as-is. Single-element list → return as-is (would otherwise self-reference).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9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661057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0" name=""/>
          <p:cNvSpPr txBox="1"/>
          <p:nvPr/>
        </p:nvSpPr>
        <p:spPr>
          <a:xfrm>
            <a:off x="762120" y="372600"/>
            <a:ext cx="723780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Deriving the Algorithm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1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1238400" y="6569280"/>
            <a:ext cx="31820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0020e35 | © 08.10.2026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3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11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87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8" name=""/>
          <p:cNvSpPr/>
          <p:nvPr/>
        </p:nvSpPr>
        <p:spPr>
          <a:xfrm>
            <a:off x="766440" y="1738080"/>
            <a:ext cx="10658880" cy="4886640"/>
          </a:xfrm>
          <a:custGeom>
            <a:avLst/>
            <a:gdLst/>
            <a:ahLst/>
            <a:rect l="0" t="0" r="r" b="b"/>
            <a:pathLst>
              <a:path w="29608" h="13574">
                <a:moveTo>
                  <a:pt x="0" y="13429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5"/>
                  <a:pt x="29510" y="8"/>
                  <a:pt x="29518" y="11"/>
                </a:cubicBezTo>
                <a:cubicBezTo>
                  <a:pt x="29527" y="15"/>
                  <a:pt x="29536" y="19"/>
                  <a:pt x="29544" y="25"/>
                </a:cubicBezTo>
                <a:cubicBezTo>
                  <a:pt x="29552" y="30"/>
                  <a:pt x="29559" y="36"/>
                  <a:pt x="29566" y="43"/>
                </a:cubicBezTo>
                <a:cubicBezTo>
                  <a:pt x="29572" y="50"/>
                  <a:pt x="29578" y="57"/>
                  <a:pt x="29584" y="65"/>
                </a:cubicBezTo>
                <a:cubicBezTo>
                  <a:pt x="29589" y="73"/>
                  <a:pt x="29594" y="81"/>
                  <a:pt x="29597" y="90"/>
                </a:cubicBezTo>
                <a:cubicBezTo>
                  <a:pt x="29601" y="99"/>
                  <a:pt x="29604" y="108"/>
                  <a:pt x="29605" y="117"/>
                </a:cubicBezTo>
                <a:cubicBezTo>
                  <a:pt x="29607" y="127"/>
                  <a:pt x="29608" y="136"/>
                  <a:pt x="29608" y="146"/>
                </a:cubicBezTo>
                <a:lnTo>
                  <a:pt x="29608" y="13429"/>
                </a:lnTo>
                <a:cubicBezTo>
                  <a:pt x="29608" y="13438"/>
                  <a:pt x="29607" y="13448"/>
                  <a:pt x="29605" y="13457"/>
                </a:cubicBezTo>
                <a:cubicBezTo>
                  <a:pt x="29604" y="13467"/>
                  <a:pt x="29601" y="13476"/>
                  <a:pt x="29597" y="13484"/>
                </a:cubicBezTo>
                <a:cubicBezTo>
                  <a:pt x="29594" y="13493"/>
                  <a:pt x="29589" y="13502"/>
                  <a:pt x="29584" y="13510"/>
                </a:cubicBezTo>
                <a:cubicBezTo>
                  <a:pt x="29578" y="13518"/>
                  <a:pt x="29572" y="13525"/>
                  <a:pt x="29566" y="13532"/>
                </a:cubicBezTo>
                <a:cubicBezTo>
                  <a:pt x="29559" y="13538"/>
                  <a:pt x="29552" y="13544"/>
                  <a:pt x="29544" y="13550"/>
                </a:cubicBezTo>
                <a:cubicBezTo>
                  <a:pt x="29536" y="13555"/>
                  <a:pt x="29527" y="13560"/>
                  <a:pt x="29518" y="13563"/>
                </a:cubicBezTo>
                <a:cubicBezTo>
                  <a:pt x="29510" y="13567"/>
                  <a:pt x="29501" y="13570"/>
                  <a:pt x="29491" y="13571"/>
                </a:cubicBezTo>
                <a:cubicBezTo>
                  <a:pt x="29482" y="13573"/>
                  <a:pt x="29472" y="13574"/>
                  <a:pt x="29463" y="13574"/>
                </a:cubicBezTo>
                <a:lnTo>
                  <a:pt x="146" y="13574"/>
                </a:lnTo>
                <a:cubicBezTo>
                  <a:pt x="136" y="13574"/>
                  <a:pt x="127" y="13573"/>
                  <a:pt x="118" y="13571"/>
                </a:cubicBezTo>
                <a:cubicBezTo>
                  <a:pt x="108" y="13570"/>
                  <a:pt x="99" y="13567"/>
                  <a:pt x="90" y="13563"/>
                </a:cubicBezTo>
                <a:cubicBezTo>
                  <a:pt x="81" y="13560"/>
                  <a:pt x="73" y="13555"/>
                  <a:pt x="65" y="13550"/>
                </a:cubicBezTo>
                <a:cubicBezTo>
                  <a:pt x="57" y="13544"/>
                  <a:pt x="50" y="13538"/>
                  <a:pt x="43" y="13532"/>
                </a:cubicBezTo>
                <a:cubicBezTo>
                  <a:pt x="36" y="13525"/>
                  <a:pt x="30" y="13518"/>
                  <a:pt x="25" y="13510"/>
                </a:cubicBezTo>
                <a:cubicBezTo>
                  <a:pt x="20" y="13502"/>
                  <a:pt x="15" y="13493"/>
                  <a:pt x="11" y="13484"/>
                </a:cubicBezTo>
                <a:cubicBezTo>
                  <a:pt x="8" y="13476"/>
                  <a:pt x="5" y="13467"/>
                  <a:pt x="3" y="13457"/>
                </a:cubicBezTo>
                <a:cubicBezTo>
                  <a:pt x="1" y="13448"/>
                  <a:pt x="0" y="13438"/>
                  <a:pt x="0" y="13429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9" name=""/>
          <p:cNvSpPr/>
          <p:nvPr/>
        </p:nvSpPr>
        <p:spPr>
          <a:xfrm>
            <a:off x="766440" y="1738080"/>
            <a:ext cx="10658880" cy="4886640"/>
          </a:xfrm>
          <a:custGeom>
            <a:avLst/>
            <a:gdLst/>
            <a:ahLst/>
            <a:rect l="0" t="0" r="r" b="b"/>
            <a:pathLst>
              <a:path fill="none" w="29608" h="13574">
                <a:moveTo>
                  <a:pt x="0" y="13429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5"/>
                  <a:pt x="29510" y="8"/>
                  <a:pt x="29518" y="11"/>
                </a:cubicBezTo>
                <a:cubicBezTo>
                  <a:pt x="29527" y="15"/>
                  <a:pt x="29536" y="19"/>
                  <a:pt x="29544" y="25"/>
                </a:cubicBezTo>
                <a:cubicBezTo>
                  <a:pt x="29552" y="30"/>
                  <a:pt x="29559" y="36"/>
                  <a:pt x="29566" y="43"/>
                </a:cubicBezTo>
                <a:cubicBezTo>
                  <a:pt x="29572" y="50"/>
                  <a:pt x="29578" y="57"/>
                  <a:pt x="29584" y="65"/>
                </a:cubicBezTo>
                <a:cubicBezTo>
                  <a:pt x="29589" y="73"/>
                  <a:pt x="29594" y="81"/>
                  <a:pt x="29597" y="90"/>
                </a:cubicBezTo>
                <a:cubicBezTo>
                  <a:pt x="29601" y="99"/>
                  <a:pt x="29604" y="108"/>
                  <a:pt x="29605" y="117"/>
                </a:cubicBezTo>
                <a:cubicBezTo>
                  <a:pt x="29607" y="127"/>
                  <a:pt x="29608" y="136"/>
                  <a:pt x="29608" y="146"/>
                </a:cubicBezTo>
                <a:lnTo>
                  <a:pt x="29608" y="13429"/>
                </a:lnTo>
                <a:cubicBezTo>
                  <a:pt x="29608" y="13438"/>
                  <a:pt x="29607" y="13448"/>
                  <a:pt x="29605" y="13457"/>
                </a:cubicBezTo>
                <a:cubicBezTo>
                  <a:pt x="29604" y="13467"/>
                  <a:pt x="29601" y="13476"/>
                  <a:pt x="29597" y="13484"/>
                </a:cubicBezTo>
                <a:cubicBezTo>
                  <a:pt x="29594" y="13493"/>
                  <a:pt x="29589" y="13502"/>
                  <a:pt x="29584" y="13510"/>
                </a:cubicBezTo>
                <a:cubicBezTo>
                  <a:pt x="29578" y="13518"/>
                  <a:pt x="29572" y="13525"/>
                  <a:pt x="29566" y="13532"/>
                </a:cubicBezTo>
                <a:cubicBezTo>
                  <a:pt x="29559" y="13538"/>
                  <a:pt x="29552" y="13544"/>
                  <a:pt x="29544" y="13550"/>
                </a:cubicBezTo>
                <a:cubicBezTo>
                  <a:pt x="29536" y="13555"/>
                  <a:pt x="29527" y="13560"/>
                  <a:pt x="29518" y="13563"/>
                </a:cubicBezTo>
                <a:cubicBezTo>
                  <a:pt x="29510" y="13567"/>
                  <a:pt x="29501" y="13570"/>
                  <a:pt x="29491" y="13571"/>
                </a:cubicBezTo>
                <a:cubicBezTo>
                  <a:pt x="29482" y="13573"/>
                  <a:pt x="29472" y="13574"/>
                  <a:pt x="29463" y="13574"/>
                </a:cubicBezTo>
                <a:lnTo>
                  <a:pt x="146" y="13574"/>
                </a:lnTo>
                <a:cubicBezTo>
                  <a:pt x="136" y="13574"/>
                  <a:pt x="127" y="13573"/>
                  <a:pt x="118" y="13571"/>
                </a:cubicBezTo>
                <a:cubicBezTo>
                  <a:pt x="108" y="13570"/>
                  <a:pt x="99" y="13567"/>
                  <a:pt x="90" y="13563"/>
                </a:cubicBezTo>
                <a:cubicBezTo>
                  <a:pt x="81" y="13560"/>
                  <a:pt x="73" y="13555"/>
                  <a:pt x="65" y="13550"/>
                </a:cubicBezTo>
                <a:cubicBezTo>
                  <a:pt x="57" y="13544"/>
                  <a:pt x="50" y="13538"/>
                  <a:pt x="43" y="13532"/>
                </a:cubicBezTo>
                <a:cubicBezTo>
                  <a:pt x="36" y="13525"/>
                  <a:pt x="30" y="13518"/>
                  <a:pt x="25" y="13510"/>
                </a:cubicBezTo>
                <a:cubicBezTo>
                  <a:pt x="20" y="13502"/>
                  <a:pt x="15" y="13493"/>
                  <a:pt x="11" y="13484"/>
                </a:cubicBezTo>
                <a:cubicBezTo>
                  <a:pt x="8" y="13476"/>
                  <a:pt x="5" y="13467"/>
                  <a:pt x="3" y="13457"/>
                </a:cubicBezTo>
                <a:cubicBezTo>
                  <a:pt x="1" y="13448"/>
                  <a:pt x="0" y="13438"/>
                  <a:pt x="0" y="13429"/>
                </a:cubicBezTo>
              </a:path>
            </a:pathLst>
          </a:custGeom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762120" y="1384200"/>
            <a:ext cx="2329560" cy="263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76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Step 3 - Carry it out</a:t>
            </a:r>
            <a:endParaRPr b="0" lang="en-US" sz="17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923760" y="1887480"/>
            <a:ext cx="259272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60" strike="noStrike" u="non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def</a:t>
            </a:r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</a:t>
            </a:r>
            <a:r>
              <a:rPr b="0" lang="en-US" sz="1360" strike="noStrike" u="none">
                <a:solidFill>
                  <a:srgbClr val="6639ba"/>
                </a:solidFill>
                <a:effectLst/>
                <a:uFillTx/>
                <a:latin typeface="Menlo"/>
                <a:ea typeface="Menlo"/>
              </a:rPr>
              <a:t>rotateRight</a:t>
            </a:r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(head, k):</a:t>
            </a:r>
            <a:endParaRPr b="0" lang="en-US" sz="13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923760" y="2087640"/>
            <a:ext cx="207432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</a:t>
            </a:r>
            <a:r>
              <a:rPr b="0" lang="en-US" sz="1360" strike="noStrike" u="non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if</a:t>
            </a:r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head </a:t>
            </a:r>
            <a:r>
              <a:rPr b="0" lang="en-US" sz="1360" strike="noStrike" u="non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is</a:t>
            </a:r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</a:t>
            </a:r>
            <a:r>
              <a:rPr b="0" lang="en-US" sz="1360" strike="noStrike" u="non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None</a:t>
            </a:r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:</a:t>
            </a:r>
            <a:endParaRPr b="0" lang="en-US" sz="13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923760" y="2287800"/>
            <a:ext cx="197064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    </a:t>
            </a:r>
            <a:r>
              <a:rPr b="0" lang="en-US" sz="1360" strike="noStrike" u="non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return</a:t>
            </a:r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head</a:t>
            </a:r>
            <a:endParaRPr b="0" lang="en-US" sz="13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923760" y="2678040"/>
            <a:ext cx="145224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length = </a:t>
            </a:r>
            <a:r>
              <a:rPr b="0" lang="en-US" sz="1360" strike="noStrike" u="non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1</a:t>
            </a:r>
            <a:endParaRPr b="0" lang="en-US" sz="13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5" name=""/>
          <p:cNvSpPr txBox="1"/>
          <p:nvPr/>
        </p:nvSpPr>
        <p:spPr>
          <a:xfrm>
            <a:off x="923760" y="2878200"/>
            <a:ext cx="186696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current = head</a:t>
            </a:r>
            <a:endParaRPr b="0" lang="en-US" sz="13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923760" y="3078360"/>
            <a:ext cx="362952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</a:t>
            </a:r>
            <a:r>
              <a:rPr b="0" lang="en-US" sz="1360" strike="noStrike" u="non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while</a:t>
            </a:r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current.</a:t>
            </a:r>
            <a:r>
              <a:rPr b="0" lang="en-US" sz="1360" strike="noStrike" u="none">
                <a:solidFill>
                  <a:srgbClr val="953800"/>
                </a:solidFill>
                <a:effectLst/>
                <a:uFillTx/>
                <a:latin typeface="Menlo"/>
                <a:ea typeface="Menlo"/>
              </a:rPr>
              <a:t>next</a:t>
            </a:r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</a:t>
            </a:r>
            <a:r>
              <a:rPr b="0" lang="en-US" sz="1360" strike="noStrike" u="non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is</a:t>
            </a:r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</a:t>
            </a:r>
            <a:r>
              <a:rPr b="0" lang="en-US" sz="1360" strike="noStrike" u="non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not</a:t>
            </a:r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</a:t>
            </a:r>
            <a:r>
              <a:rPr b="0" lang="en-US" sz="1360" strike="noStrike" u="non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None</a:t>
            </a:r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:</a:t>
            </a:r>
            <a:endParaRPr b="0" lang="en-US" sz="13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7" name=""/>
          <p:cNvSpPr txBox="1"/>
          <p:nvPr/>
        </p:nvSpPr>
        <p:spPr>
          <a:xfrm>
            <a:off x="923760" y="3278160"/>
            <a:ext cx="197064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    length += </a:t>
            </a:r>
            <a:r>
              <a:rPr b="0" lang="en-US" sz="1360" strike="noStrike" u="non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1</a:t>
            </a:r>
            <a:endParaRPr b="0" lang="en-US" sz="13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923760" y="3478320"/>
            <a:ext cx="311112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    current = current.</a:t>
            </a:r>
            <a:r>
              <a:rPr b="0" lang="en-US" sz="1360" strike="noStrike" u="none">
                <a:solidFill>
                  <a:srgbClr val="953800"/>
                </a:solidFill>
                <a:effectLst/>
                <a:uFillTx/>
                <a:latin typeface="Menlo"/>
                <a:ea typeface="Menlo"/>
              </a:rPr>
              <a:t>next</a:t>
            </a:r>
            <a:endParaRPr b="0" lang="en-US" sz="13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923760" y="3878280"/>
            <a:ext cx="197064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</a:t>
            </a:r>
            <a:r>
              <a:rPr b="0" lang="en-US" sz="1360" strike="noStrike" u="non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if</a:t>
            </a:r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length == </a:t>
            </a:r>
            <a:r>
              <a:rPr b="0" lang="en-US" sz="1360" strike="noStrike" u="non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1</a:t>
            </a:r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:</a:t>
            </a:r>
            <a:endParaRPr b="0" lang="en-US" sz="13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923760" y="4068720"/>
            <a:ext cx="197064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    </a:t>
            </a:r>
            <a:r>
              <a:rPr b="0" lang="en-US" sz="1360" strike="noStrike" u="non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return</a:t>
            </a:r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head</a:t>
            </a:r>
            <a:endParaRPr b="0" lang="en-US" sz="13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923760" y="4469040"/>
            <a:ext cx="352584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true_k = length - (k % length)</a:t>
            </a:r>
            <a:endParaRPr b="0" lang="en-US" sz="13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923760" y="4668840"/>
            <a:ext cx="601416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current.</a:t>
            </a:r>
            <a:r>
              <a:rPr b="0" lang="en-US" sz="1360" strike="noStrike" u="none">
                <a:solidFill>
                  <a:srgbClr val="953800"/>
                </a:solidFill>
                <a:effectLst/>
                <a:uFillTx/>
                <a:latin typeface="Menlo"/>
                <a:ea typeface="Menlo"/>
              </a:rPr>
              <a:t>next</a:t>
            </a:r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= head          </a:t>
            </a:r>
            <a:r>
              <a:rPr b="0" lang="en-US" sz="1360" strike="noStrike" u="none">
                <a:solidFill>
                  <a:srgbClr val="59636e"/>
                </a:solidFill>
                <a:effectLst/>
                <a:uFillTx/>
                <a:latin typeface="Menlo"/>
                <a:ea typeface="Menlo"/>
              </a:rPr>
              <a:t># temporary circular list</a:t>
            </a:r>
            <a:endParaRPr b="0" lang="en-US" sz="13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3" name=""/>
          <p:cNvSpPr txBox="1"/>
          <p:nvPr/>
        </p:nvSpPr>
        <p:spPr>
          <a:xfrm>
            <a:off x="923760" y="5068800"/>
            <a:ext cx="186696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current = head</a:t>
            </a:r>
            <a:endParaRPr b="0" lang="en-US" sz="13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4" name=""/>
          <p:cNvSpPr txBox="1"/>
          <p:nvPr/>
        </p:nvSpPr>
        <p:spPr>
          <a:xfrm>
            <a:off x="923760" y="5268960"/>
            <a:ext cx="321480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</a:t>
            </a:r>
            <a:r>
              <a:rPr b="0" lang="en-US" sz="1360" strike="noStrike" u="non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for</a:t>
            </a:r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_ </a:t>
            </a:r>
            <a:r>
              <a:rPr b="0" lang="en-US" sz="1360" strike="noStrike" u="non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in</a:t>
            </a:r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</a:t>
            </a:r>
            <a:r>
              <a:rPr b="0" lang="en-US" sz="1360" strike="noStrike" u="none">
                <a:solidFill>
                  <a:srgbClr val="953800"/>
                </a:solidFill>
                <a:effectLst/>
                <a:uFillTx/>
                <a:latin typeface="Menlo"/>
                <a:ea typeface="Menlo"/>
              </a:rPr>
              <a:t>range</a:t>
            </a:r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(true_k - </a:t>
            </a:r>
            <a:r>
              <a:rPr b="0" lang="en-US" sz="1360" strike="noStrike" u="non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1</a:t>
            </a:r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):</a:t>
            </a:r>
            <a:endParaRPr b="0" lang="en-US" sz="13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923760" y="5459400"/>
            <a:ext cx="311112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    current = current.</a:t>
            </a:r>
            <a:r>
              <a:rPr b="0" lang="en-US" sz="1360" strike="noStrike" u="none">
                <a:solidFill>
                  <a:srgbClr val="953800"/>
                </a:solidFill>
                <a:effectLst/>
                <a:uFillTx/>
                <a:latin typeface="Menlo"/>
                <a:ea typeface="Menlo"/>
              </a:rPr>
              <a:t>next</a:t>
            </a:r>
            <a:endParaRPr b="0" lang="en-US" sz="13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923760" y="5859720"/>
            <a:ext cx="280008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new_head = current.</a:t>
            </a:r>
            <a:r>
              <a:rPr b="0" lang="en-US" sz="1360" strike="noStrike" u="none">
                <a:solidFill>
                  <a:srgbClr val="953800"/>
                </a:solidFill>
                <a:effectLst/>
                <a:uFillTx/>
                <a:latin typeface="Menlo"/>
                <a:ea typeface="Menlo"/>
              </a:rPr>
              <a:t>next</a:t>
            </a:r>
            <a:endParaRPr b="0" lang="en-US" sz="13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923760" y="6059520"/>
            <a:ext cx="238536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current.</a:t>
            </a:r>
            <a:r>
              <a:rPr b="0" lang="en-US" sz="1360" strike="noStrike" u="none">
                <a:solidFill>
                  <a:srgbClr val="953800"/>
                </a:solidFill>
                <a:effectLst/>
                <a:uFillTx/>
                <a:latin typeface="Menlo"/>
                <a:ea typeface="Menlo"/>
              </a:rPr>
              <a:t>next</a:t>
            </a:r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= </a:t>
            </a:r>
            <a:r>
              <a:rPr b="0" lang="en-US" sz="1360" strike="noStrike" u="none">
                <a:solidFill>
                  <a:srgbClr val="0550ae"/>
                </a:solidFill>
                <a:effectLst/>
                <a:uFillTx/>
                <a:latin typeface="Menlo"/>
                <a:ea typeface="Menlo"/>
              </a:rPr>
              <a:t>None</a:t>
            </a:r>
            <a:endParaRPr b="0" lang="en-US" sz="13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923760" y="6259680"/>
            <a:ext cx="197064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   </a:t>
            </a:r>
            <a:r>
              <a:rPr b="0" lang="en-US" sz="1360" strike="noStrike" u="none">
                <a:solidFill>
                  <a:srgbClr val="cf222e"/>
                </a:solidFill>
                <a:effectLst/>
                <a:uFillTx/>
                <a:latin typeface="Menlo"/>
                <a:ea typeface="Menlo"/>
              </a:rPr>
              <a:t>return</a:t>
            </a:r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 new_head</a:t>
            </a:r>
            <a:endParaRPr b="0" lang="en-US" sz="13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9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661057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0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1238400" y="6569280"/>
            <a:ext cx="31820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0020e35 | © 08.10.2026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12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16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7" name=""/>
          <p:cNvSpPr/>
          <p:nvPr/>
        </p:nvSpPr>
        <p:spPr>
          <a:xfrm>
            <a:off x="971280" y="26193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7"/>
                  <a:pt x="140" y="174"/>
                  <a:pt x="128" y="179"/>
                </a:cubicBezTo>
                <a:cubicBezTo>
                  <a:pt x="117" y="183"/>
                  <a:pt x="105" y="186"/>
                  <a:pt x="93" y="186"/>
                </a:cubicBezTo>
                <a:cubicBezTo>
                  <a:pt x="81" y="186"/>
                  <a:pt x="69" y="183"/>
                  <a:pt x="57" y="179"/>
                </a:cubicBezTo>
                <a:cubicBezTo>
                  <a:pt x="46" y="174"/>
                  <a:pt x="36" y="167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7"/>
                  <a:pt x="0" y="105"/>
                  <a:pt x="0" y="93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1"/>
                  <a:pt x="150" y="18"/>
                  <a:pt x="158" y="27"/>
                </a:cubicBezTo>
                <a:cubicBezTo>
                  <a:pt x="167" y="36"/>
                  <a:pt x="175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8" name=""/>
          <p:cNvSpPr/>
          <p:nvPr/>
        </p:nvSpPr>
        <p:spPr>
          <a:xfrm>
            <a:off x="1171440" y="2533320"/>
            <a:ext cx="762480" cy="267120"/>
          </a:xfrm>
          <a:custGeom>
            <a:avLst/>
            <a:gdLst/>
            <a:ahLst/>
            <a:rect l="0" t="0" r="r" b="b"/>
            <a:pathLst>
              <a:path w="2118" h="742">
                <a:moveTo>
                  <a:pt x="0" y="582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7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40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9"/>
                  <a:pt x="117" y="6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1958" y="0"/>
                </a:lnTo>
                <a:cubicBezTo>
                  <a:pt x="1968" y="0"/>
                  <a:pt x="1979" y="1"/>
                  <a:pt x="1989" y="3"/>
                </a:cubicBezTo>
                <a:cubicBezTo>
                  <a:pt x="1999" y="6"/>
                  <a:pt x="2009" y="9"/>
                  <a:pt x="2019" y="12"/>
                </a:cubicBezTo>
                <a:cubicBezTo>
                  <a:pt x="2028" y="16"/>
                  <a:pt x="2038" y="21"/>
                  <a:pt x="2047" y="27"/>
                </a:cubicBezTo>
                <a:cubicBezTo>
                  <a:pt x="2056" y="33"/>
                  <a:pt x="2064" y="40"/>
                  <a:pt x="2071" y="47"/>
                </a:cubicBezTo>
                <a:cubicBezTo>
                  <a:pt x="2078" y="54"/>
                  <a:pt x="2085" y="62"/>
                  <a:pt x="2091" y="71"/>
                </a:cubicBezTo>
                <a:cubicBezTo>
                  <a:pt x="2097" y="80"/>
                  <a:pt x="2101" y="89"/>
                  <a:pt x="2105" y="98"/>
                </a:cubicBezTo>
                <a:cubicBezTo>
                  <a:pt x="2109" y="108"/>
                  <a:pt x="2112" y="118"/>
                  <a:pt x="2114" y="128"/>
                </a:cubicBezTo>
                <a:cubicBezTo>
                  <a:pt x="2117" y="138"/>
                  <a:pt x="2118" y="149"/>
                  <a:pt x="2118" y="159"/>
                </a:cubicBezTo>
                <a:lnTo>
                  <a:pt x="2118" y="582"/>
                </a:lnTo>
                <a:cubicBezTo>
                  <a:pt x="2118" y="593"/>
                  <a:pt x="2117" y="603"/>
                  <a:pt x="2114" y="613"/>
                </a:cubicBezTo>
                <a:cubicBezTo>
                  <a:pt x="2112" y="624"/>
                  <a:pt x="2109" y="634"/>
                  <a:pt x="2105" y="643"/>
                </a:cubicBezTo>
                <a:cubicBezTo>
                  <a:pt x="2101" y="653"/>
                  <a:pt x="2097" y="662"/>
                  <a:pt x="2091" y="671"/>
                </a:cubicBezTo>
                <a:cubicBezTo>
                  <a:pt x="2085" y="679"/>
                  <a:pt x="2078" y="687"/>
                  <a:pt x="2071" y="695"/>
                </a:cubicBezTo>
                <a:cubicBezTo>
                  <a:pt x="2064" y="702"/>
                  <a:pt x="2056" y="709"/>
                  <a:pt x="2047" y="714"/>
                </a:cubicBezTo>
                <a:cubicBezTo>
                  <a:pt x="2038" y="720"/>
                  <a:pt x="2028" y="725"/>
                  <a:pt x="2019" y="729"/>
                </a:cubicBezTo>
                <a:cubicBezTo>
                  <a:pt x="2009" y="734"/>
                  <a:pt x="1999" y="737"/>
                  <a:pt x="1989" y="739"/>
                </a:cubicBezTo>
                <a:cubicBezTo>
                  <a:pt x="1979" y="741"/>
                  <a:pt x="1968" y="742"/>
                  <a:pt x="1958" y="742"/>
                </a:cubicBezTo>
                <a:lnTo>
                  <a:pt x="159" y="742"/>
                </a:lnTo>
                <a:cubicBezTo>
                  <a:pt x="148" y="742"/>
                  <a:pt x="138" y="741"/>
                  <a:pt x="128" y="739"/>
                </a:cubicBezTo>
                <a:cubicBezTo>
                  <a:pt x="117" y="737"/>
                  <a:pt x="108" y="734"/>
                  <a:pt x="98" y="729"/>
                </a:cubicBezTo>
                <a:cubicBezTo>
                  <a:pt x="88" y="725"/>
                  <a:pt x="79" y="720"/>
                  <a:pt x="70" y="714"/>
                </a:cubicBezTo>
                <a:cubicBezTo>
                  <a:pt x="62" y="709"/>
                  <a:pt x="54" y="702"/>
                  <a:pt x="46" y="695"/>
                </a:cubicBezTo>
                <a:cubicBezTo>
                  <a:pt x="39" y="687"/>
                  <a:pt x="32" y="679"/>
                  <a:pt x="27" y="671"/>
                </a:cubicBezTo>
                <a:cubicBezTo>
                  <a:pt x="21" y="662"/>
                  <a:pt x="16" y="653"/>
                  <a:pt x="12" y="643"/>
                </a:cubicBezTo>
                <a:cubicBezTo>
                  <a:pt x="8" y="634"/>
                  <a:pt x="5" y="624"/>
                  <a:pt x="3" y="613"/>
                </a:cubicBezTo>
                <a:cubicBezTo>
                  <a:pt x="1" y="603"/>
                  <a:pt x="0" y="593"/>
                  <a:pt x="0" y="582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9" name=""/>
          <p:cNvSpPr txBox="1"/>
          <p:nvPr/>
        </p:nvSpPr>
        <p:spPr>
          <a:xfrm>
            <a:off x="762120" y="2011680"/>
            <a:ext cx="2013120" cy="30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08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Step 4 - Check</a:t>
            </a:r>
            <a:endParaRPr b="0" lang="en-US" sz="20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0" name=""/>
          <p:cNvSpPr txBox="1"/>
          <p:nvPr/>
        </p:nvSpPr>
        <p:spPr>
          <a:xfrm>
            <a:off x="1237320" y="2569680"/>
            <a:ext cx="62280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length</a:t>
            </a:r>
            <a:endParaRPr b="0" lang="en-US" sz="13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1" name=""/>
          <p:cNvSpPr/>
          <p:nvPr/>
        </p:nvSpPr>
        <p:spPr>
          <a:xfrm>
            <a:off x="3000240" y="2533320"/>
            <a:ext cx="248040" cy="267120"/>
          </a:xfrm>
          <a:custGeom>
            <a:avLst/>
            <a:gdLst/>
            <a:ahLst/>
            <a:rect l="0" t="0" r="r" b="b"/>
            <a:pathLst>
              <a:path w="689" h="742">
                <a:moveTo>
                  <a:pt x="0" y="582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7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40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9"/>
                  <a:pt x="117" y="6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530" y="0"/>
                </a:lnTo>
                <a:cubicBezTo>
                  <a:pt x="540" y="0"/>
                  <a:pt x="551" y="1"/>
                  <a:pt x="561" y="3"/>
                </a:cubicBezTo>
                <a:cubicBezTo>
                  <a:pt x="571" y="6"/>
                  <a:pt x="581" y="9"/>
                  <a:pt x="591" y="12"/>
                </a:cubicBezTo>
                <a:cubicBezTo>
                  <a:pt x="600" y="16"/>
                  <a:pt x="610" y="21"/>
                  <a:pt x="618" y="27"/>
                </a:cubicBezTo>
                <a:cubicBezTo>
                  <a:pt x="627" y="33"/>
                  <a:pt x="635" y="40"/>
                  <a:pt x="642" y="47"/>
                </a:cubicBezTo>
                <a:cubicBezTo>
                  <a:pt x="650" y="54"/>
                  <a:pt x="656" y="62"/>
                  <a:pt x="662" y="71"/>
                </a:cubicBezTo>
                <a:cubicBezTo>
                  <a:pt x="668" y="80"/>
                  <a:pt x="673" y="89"/>
                  <a:pt x="677" y="98"/>
                </a:cubicBezTo>
                <a:cubicBezTo>
                  <a:pt x="681" y="108"/>
                  <a:pt x="684" y="118"/>
                  <a:pt x="686" y="128"/>
                </a:cubicBezTo>
                <a:cubicBezTo>
                  <a:pt x="688" y="138"/>
                  <a:pt x="689" y="149"/>
                  <a:pt x="689" y="159"/>
                </a:cubicBezTo>
                <a:lnTo>
                  <a:pt x="689" y="582"/>
                </a:lnTo>
                <a:cubicBezTo>
                  <a:pt x="689" y="593"/>
                  <a:pt x="688" y="603"/>
                  <a:pt x="686" y="613"/>
                </a:cubicBezTo>
                <a:cubicBezTo>
                  <a:pt x="684" y="624"/>
                  <a:pt x="681" y="634"/>
                  <a:pt x="677" y="643"/>
                </a:cubicBezTo>
                <a:cubicBezTo>
                  <a:pt x="673" y="653"/>
                  <a:pt x="668" y="662"/>
                  <a:pt x="662" y="671"/>
                </a:cubicBezTo>
                <a:cubicBezTo>
                  <a:pt x="656" y="679"/>
                  <a:pt x="650" y="687"/>
                  <a:pt x="642" y="695"/>
                </a:cubicBezTo>
                <a:cubicBezTo>
                  <a:pt x="635" y="702"/>
                  <a:pt x="627" y="709"/>
                  <a:pt x="618" y="714"/>
                </a:cubicBezTo>
                <a:cubicBezTo>
                  <a:pt x="610" y="720"/>
                  <a:pt x="600" y="725"/>
                  <a:pt x="591" y="729"/>
                </a:cubicBezTo>
                <a:cubicBezTo>
                  <a:pt x="581" y="734"/>
                  <a:pt x="571" y="737"/>
                  <a:pt x="561" y="739"/>
                </a:cubicBezTo>
                <a:cubicBezTo>
                  <a:pt x="551" y="741"/>
                  <a:pt x="540" y="742"/>
                  <a:pt x="530" y="742"/>
                </a:cubicBezTo>
                <a:lnTo>
                  <a:pt x="159" y="742"/>
                </a:lnTo>
                <a:cubicBezTo>
                  <a:pt x="148" y="742"/>
                  <a:pt x="138" y="741"/>
                  <a:pt x="128" y="739"/>
                </a:cubicBezTo>
                <a:cubicBezTo>
                  <a:pt x="117" y="737"/>
                  <a:pt x="108" y="734"/>
                  <a:pt x="98" y="729"/>
                </a:cubicBezTo>
                <a:cubicBezTo>
                  <a:pt x="88" y="725"/>
                  <a:pt x="79" y="720"/>
                  <a:pt x="70" y="714"/>
                </a:cubicBezTo>
                <a:cubicBezTo>
                  <a:pt x="62" y="709"/>
                  <a:pt x="54" y="702"/>
                  <a:pt x="46" y="695"/>
                </a:cubicBezTo>
                <a:cubicBezTo>
                  <a:pt x="39" y="687"/>
                  <a:pt x="32" y="679"/>
                  <a:pt x="27" y="671"/>
                </a:cubicBezTo>
                <a:cubicBezTo>
                  <a:pt x="21" y="662"/>
                  <a:pt x="16" y="653"/>
                  <a:pt x="12" y="643"/>
                </a:cubicBezTo>
                <a:cubicBezTo>
                  <a:pt x="8" y="634"/>
                  <a:pt x="5" y="624"/>
                  <a:pt x="3" y="613"/>
                </a:cubicBezTo>
                <a:cubicBezTo>
                  <a:pt x="1" y="603"/>
                  <a:pt x="0" y="593"/>
                  <a:pt x="0" y="582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22" name=""/>
          <p:cNvSpPr txBox="1"/>
          <p:nvPr/>
        </p:nvSpPr>
        <p:spPr>
          <a:xfrm>
            <a:off x="1930320" y="2527560"/>
            <a:ext cx="10713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 started at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3" name=""/>
          <p:cNvSpPr txBox="1"/>
          <p:nvPr/>
        </p:nvSpPr>
        <p:spPr>
          <a:xfrm>
            <a:off x="3072240" y="2569680"/>
            <a:ext cx="17244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1</a:t>
            </a:r>
            <a:endParaRPr b="0" lang="en-US" sz="13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4" name=""/>
          <p:cNvSpPr/>
          <p:nvPr/>
        </p:nvSpPr>
        <p:spPr>
          <a:xfrm>
            <a:off x="3762360" y="2533320"/>
            <a:ext cx="247680" cy="267120"/>
          </a:xfrm>
          <a:custGeom>
            <a:avLst/>
            <a:gdLst/>
            <a:ahLst/>
            <a:rect l="0" t="0" r="r" b="b"/>
            <a:pathLst>
              <a:path w="688" h="742">
                <a:moveTo>
                  <a:pt x="0" y="582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3" y="40"/>
                  <a:pt x="61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9"/>
                  <a:pt x="117" y="6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530" y="0"/>
                </a:lnTo>
                <a:cubicBezTo>
                  <a:pt x="540" y="0"/>
                  <a:pt x="550" y="1"/>
                  <a:pt x="561" y="3"/>
                </a:cubicBezTo>
                <a:cubicBezTo>
                  <a:pt x="571" y="6"/>
                  <a:pt x="581" y="9"/>
                  <a:pt x="590" y="12"/>
                </a:cubicBezTo>
                <a:cubicBezTo>
                  <a:pt x="600" y="16"/>
                  <a:pt x="609" y="21"/>
                  <a:pt x="618" y="27"/>
                </a:cubicBezTo>
                <a:cubicBezTo>
                  <a:pt x="627" y="33"/>
                  <a:pt x="635" y="40"/>
                  <a:pt x="642" y="47"/>
                </a:cubicBezTo>
                <a:cubicBezTo>
                  <a:pt x="649" y="54"/>
                  <a:pt x="656" y="62"/>
                  <a:pt x="662" y="71"/>
                </a:cubicBezTo>
                <a:cubicBezTo>
                  <a:pt x="667" y="80"/>
                  <a:pt x="672" y="89"/>
                  <a:pt x="676" y="98"/>
                </a:cubicBezTo>
                <a:cubicBezTo>
                  <a:pt x="680" y="108"/>
                  <a:pt x="683" y="118"/>
                  <a:pt x="685" y="128"/>
                </a:cubicBezTo>
                <a:cubicBezTo>
                  <a:pt x="687" y="138"/>
                  <a:pt x="688" y="149"/>
                  <a:pt x="688" y="159"/>
                </a:cubicBezTo>
                <a:lnTo>
                  <a:pt x="688" y="582"/>
                </a:lnTo>
                <a:cubicBezTo>
                  <a:pt x="688" y="593"/>
                  <a:pt x="687" y="603"/>
                  <a:pt x="685" y="613"/>
                </a:cubicBezTo>
                <a:cubicBezTo>
                  <a:pt x="683" y="624"/>
                  <a:pt x="680" y="634"/>
                  <a:pt x="676" y="643"/>
                </a:cubicBezTo>
                <a:cubicBezTo>
                  <a:pt x="672" y="653"/>
                  <a:pt x="667" y="662"/>
                  <a:pt x="662" y="671"/>
                </a:cubicBezTo>
                <a:cubicBezTo>
                  <a:pt x="656" y="679"/>
                  <a:pt x="649" y="687"/>
                  <a:pt x="642" y="695"/>
                </a:cubicBezTo>
                <a:cubicBezTo>
                  <a:pt x="635" y="702"/>
                  <a:pt x="627" y="709"/>
                  <a:pt x="618" y="714"/>
                </a:cubicBezTo>
                <a:cubicBezTo>
                  <a:pt x="609" y="720"/>
                  <a:pt x="600" y="725"/>
                  <a:pt x="590" y="729"/>
                </a:cubicBezTo>
                <a:cubicBezTo>
                  <a:pt x="581" y="734"/>
                  <a:pt x="571" y="737"/>
                  <a:pt x="561" y="739"/>
                </a:cubicBezTo>
                <a:cubicBezTo>
                  <a:pt x="550" y="741"/>
                  <a:pt x="540" y="742"/>
                  <a:pt x="530" y="742"/>
                </a:cubicBezTo>
                <a:lnTo>
                  <a:pt x="158" y="742"/>
                </a:lnTo>
                <a:cubicBezTo>
                  <a:pt x="148" y="742"/>
                  <a:pt x="138" y="741"/>
                  <a:pt x="127" y="739"/>
                </a:cubicBezTo>
                <a:cubicBezTo>
                  <a:pt x="117" y="737"/>
                  <a:pt x="107" y="734"/>
                  <a:pt x="98" y="729"/>
                </a:cubicBezTo>
                <a:cubicBezTo>
                  <a:pt x="88" y="725"/>
                  <a:pt x="79" y="720"/>
                  <a:pt x="70" y="714"/>
                </a:cubicBezTo>
                <a:cubicBezTo>
                  <a:pt x="61" y="709"/>
                  <a:pt x="53" y="702"/>
                  <a:pt x="46" y="695"/>
                </a:cubicBezTo>
                <a:cubicBezTo>
                  <a:pt x="39" y="687"/>
                  <a:pt x="32" y="679"/>
                  <a:pt x="26" y="671"/>
                </a:cubicBezTo>
                <a:cubicBezTo>
                  <a:pt x="21" y="662"/>
                  <a:pt x="16" y="653"/>
                  <a:pt x="12" y="643"/>
                </a:cubicBezTo>
                <a:cubicBezTo>
                  <a:pt x="8" y="634"/>
                  <a:pt x="5" y="624"/>
                  <a:pt x="3" y="613"/>
                </a:cubicBezTo>
                <a:cubicBezTo>
                  <a:pt x="1" y="603"/>
                  <a:pt x="0" y="593"/>
                  <a:pt x="0" y="582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25" name=""/>
          <p:cNvSpPr txBox="1"/>
          <p:nvPr/>
        </p:nvSpPr>
        <p:spPr>
          <a:xfrm>
            <a:off x="3245400" y="2527560"/>
            <a:ext cx="5191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, not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6" name=""/>
          <p:cNvSpPr txBox="1"/>
          <p:nvPr/>
        </p:nvSpPr>
        <p:spPr>
          <a:xfrm>
            <a:off x="3834360" y="2569680"/>
            <a:ext cx="17244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0</a:t>
            </a:r>
            <a:endParaRPr b="0" lang="en-US" sz="13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7" name=""/>
          <p:cNvSpPr/>
          <p:nvPr/>
        </p:nvSpPr>
        <p:spPr>
          <a:xfrm>
            <a:off x="971280" y="29811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8"/>
                </a:cubicBezTo>
                <a:cubicBezTo>
                  <a:pt x="3" y="117"/>
                  <a:pt x="0" y="105"/>
                  <a:pt x="0" y="93"/>
                </a:cubicBezTo>
                <a:cubicBezTo>
                  <a:pt x="0" y="80"/>
                  <a:pt x="3" y="68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8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8"/>
                  <a:pt x="186" y="80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28" name=""/>
          <p:cNvSpPr txBox="1"/>
          <p:nvPr/>
        </p:nvSpPr>
        <p:spPr>
          <a:xfrm>
            <a:off x="4007520" y="2527560"/>
            <a:ext cx="54338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 — the traversal loop already assumes one node exists.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9" name=""/>
          <p:cNvSpPr/>
          <p:nvPr/>
        </p:nvSpPr>
        <p:spPr>
          <a:xfrm>
            <a:off x="3333600" y="2885760"/>
            <a:ext cx="1181520" cy="267120"/>
          </a:xfrm>
          <a:custGeom>
            <a:avLst/>
            <a:gdLst/>
            <a:ahLst/>
            <a:rect l="0" t="0" r="r" b="b"/>
            <a:pathLst>
              <a:path w="3282" h="742">
                <a:moveTo>
                  <a:pt x="0" y="583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7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40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3123" y="0"/>
                </a:lnTo>
                <a:cubicBezTo>
                  <a:pt x="3133" y="0"/>
                  <a:pt x="3144" y="1"/>
                  <a:pt x="3154" y="3"/>
                </a:cubicBezTo>
                <a:cubicBezTo>
                  <a:pt x="3164" y="5"/>
                  <a:pt x="3174" y="8"/>
                  <a:pt x="3184" y="12"/>
                </a:cubicBezTo>
                <a:cubicBezTo>
                  <a:pt x="3193" y="16"/>
                  <a:pt x="3203" y="21"/>
                  <a:pt x="3211" y="27"/>
                </a:cubicBezTo>
                <a:cubicBezTo>
                  <a:pt x="3220" y="33"/>
                  <a:pt x="3228" y="40"/>
                  <a:pt x="3235" y="47"/>
                </a:cubicBezTo>
                <a:cubicBezTo>
                  <a:pt x="3243" y="54"/>
                  <a:pt x="3249" y="62"/>
                  <a:pt x="3255" y="71"/>
                </a:cubicBezTo>
                <a:cubicBezTo>
                  <a:pt x="3261" y="80"/>
                  <a:pt x="3266" y="89"/>
                  <a:pt x="3270" y="98"/>
                </a:cubicBezTo>
                <a:cubicBezTo>
                  <a:pt x="3274" y="108"/>
                  <a:pt x="3277" y="118"/>
                  <a:pt x="3279" y="128"/>
                </a:cubicBezTo>
                <a:cubicBezTo>
                  <a:pt x="3281" y="138"/>
                  <a:pt x="3282" y="149"/>
                  <a:pt x="3282" y="159"/>
                </a:cubicBezTo>
                <a:lnTo>
                  <a:pt x="3282" y="583"/>
                </a:lnTo>
                <a:cubicBezTo>
                  <a:pt x="3282" y="594"/>
                  <a:pt x="3281" y="604"/>
                  <a:pt x="3279" y="614"/>
                </a:cubicBezTo>
                <a:cubicBezTo>
                  <a:pt x="3277" y="625"/>
                  <a:pt x="3274" y="635"/>
                  <a:pt x="3270" y="644"/>
                </a:cubicBezTo>
                <a:cubicBezTo>
                  <a:pt x="3266" y="654"/>
                  <a:pt x="3261" y="663"/>
                  <a:pt x="3255" y="672"/>
                </a:cubicBezTo>
                <a:cubicBezTo>
                  <a:pt x="3249" y="680"/>
                  <a:pt x="3243" y="688"/>
                  <a:pt x="3235" y="696"/>
                </a:cubicBezTo>
                <a:cubicBezTo>
                  <a:pt x="3228" y="703"/>
                  <a:pt x="3220" y="710"/>
                  <a:pt x="3211" y="715"/>
                </a:cubicBezTo>
                <a:cubicBezTo>
                  <a:pt x="3203" y="721"/>
                  <a:pt x="3193" y="726"/>
                  <a:pt x="3184" y="730"/>
                </a:cubicBezTo>
                <a:cubicBezTo>
                  <a:pt x="3174" y="734"/>
                  <a:pt x="3164" y="737"/>
                  <a:pt x="3154" y="739"/>
                </a:cubicBezTo>
                <a:cubicBezTo>
                  <a:pt x="3144" y="741"/>
                  <a:pt x="3133" y="742"/>
                  <a:pt x="3123" y="742"/>
                </a:cubicBezTo>
                <a:lnTo>
                  <a:pt x="159" y="742"/>
                </a:lnTo>
                <a:cubicBezTo>
                  <a:pt x="148" y="742"/>
                  <a:pt x="138" y="741"/>
                  <a:pt x="128" y="739"/>
                </a:cubicBezTo>
                <a:cubicBezTo>
                  <a:pt x="117" y="737"/>
                  <a:pt x="108" y="734"/>
                  <a:pt x="98" y="730"/>
                </a:cubicBezTo>
                <a:cubicBezTo>
                  <a:pt x="88" y="726"/>
                  <a:pt x="79" y="721"/>
                  <a:pt x="70" y="715"/>
                </a:cubicBezTo>
                <a:cubicBezTo>
                  <a:pt x="62" y="710"/>
                  <a:pt x="54" y="703"/>
                  <a:pt x="46" y="696"/>
                </a:cubicBezTo>
                <a:cubicBezTo>
                  <a:pt x="39" y="688"/>
                  <a:pt x="32" y="680"/>
                  <a:pt x="27" y="672"/>
                </a:cubicBezTo>
                <a:cubicBezTo>
                  <a:pt x="21" y="663"/>
                  <a:pt x="16" y="654"/>
                  <a:pt x="12" y="644"/>
                </a:cubicBezTo>
                <a:cubicBezTo>
                  <a:pt x="8" y="635"/>
                  <a:pt x="5" y="625"/>
                  <a:pt x="3" y="614"/>
                </a:cubicBezTo>
                <a:cubicBezTo>
                  <a:pt x="1" y="604"/>
                  <a:pt x="0" y="594"/>
                  <a:pt x="0" y="58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0" name=""/>
          <p:cNvSpPr txBox="1"/>
          <p:nvPr/>
        </p:nvSpPr>
        <p:spPr>
          <a:xfrm>
            <a:off x="1168200" y="2889720"/>
            <a:ext cx="21600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The rotation loop ran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1" name=""/>
          <p:cNvSpPr txBox="1"/>
          <p:nvPr/>
        </p:nvSpPr>
        <p:spPr>
          <a:xfrm>
            <a:off x="3401640" y="2922120"/>
            <a:ext cx="103752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true_k - 1</a:t>
            </a:r>
            <a:endParaRPr b="0" lang="en-US" sz="13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2" name=""/>
          <p:cNvSpPr/>
          <p:nvPr/>
        </p:nvSpPr>
        <p:spPr>
          <a:xfrm>
            <a:off x="5638680" y="2885760"/>
            <a:ext cx="762120" cy="267120"/>
          </a:xfrm>
          <a:custGeom>
            <a:avLst/>
            <a:gdLst/>
            <a:ahLst/>
            <a:rect l="0" t="0" r="r" b="b"/>
            <a:pathLst>
              <a:path w="2117" h="742">
                <a:moveTo>
                  <a:pt x="0" y="583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7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40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1959" y="0"/>
                </a:lnTo>
                <a:cubicBezTo>
                  <a:pt x="1969" y="0"/>
                  <a:pt x="1979" y="1"/>
                  <a:pt x="1990" y="3"/>
                </a:cubicBezTo>
                <a:cubicBezTo>
                  <a:pt x="2000" y="5"/>
                  <a:pt x="2010" y="8"/>
                  <a:pt x="2019" y="12"/>
                </a:cubicBezTo>
                <a:cubicBezTo>
                  <a:pt x="2029" y="16"/>
                  <a:pt x="2038" y="21"/>
                  <a:pt x="2047" y="27"/>
                </a:cubicBezTo>
                <a:cubicBezTo>
                  <a:pt x="2056" y="33"/>
                  <a:pt x="2064" y="40"/>
                  <a:pt x="2071" y="47"/>
                </a:cubicBezTo>
                <a:cubicBezTo>
                  <a:pt x="2078" y="54"/>
                  <a:pt x="2085" y="62"/>
                  <a:pt x="2091" y="71"/>
                </a:cubicBezTo>
                <a:cubicBezTo>
                  <a:pt x="2097" y="80"/>
                  <a:pt x="2101" y="89"/>
                  <a:pt x="2105" y="98"/>
                </a:cubicBezTo>
                <a:cubicBezTo>
                  <a:pt x="2109" y="108"/>
                  <a:pt x="2112" y="118"/>
                  <a:pt x="2114" y="128"/>
                </a:cubicBezTo>
                <a:cubicBezTo>
                  <a:pt x="2116" y="138"/>
                  <a:pt x="2117" y="149"/>
                  <a:pt x="2117" y="159"/>
                </a:cubicBezTo>
                <a:lnTo>
                  <a:pt x="2117" y="583"/>
                </a:lnTo>
                <a:cubicBezTo>
                  <a:pt x="2117" y="594"/>
                  <a:pt x="2116" y="604"/>
                  <a:pt x="2114" y="614"/>
                </a:cubicBezTo>
                <a:cubicBezTo>
                  <a:pt x="2112" y="625"/>
                  <a:pt x="2109" y="635"/>
                  <a:pt x="2105" y="644"/>
                </a:cubicBezTo>
                <a:cubicBezTo>
                  <a:pt x="2101" y="654"/>
                  <a:pt x="2097" y="663"/>
                  <a:pt x="2091" y="672"/>
                </a:cubicBezTo>
                <a:cubicBezTo>
                  <a:pt x="2085" y="680"/>
                  <a:pt x="2078" y="688"/>
                  <a:pt x="2071" y="696"/>
                </a:cubicBezTo>
                <a:cubicBezTo>
                  <a:pt x="2064" y="703"/>
                  <a:pt x="2056" y="710"/>
                  <a:pt x="2047" y="715"/>
                </a:cubicBezTo>
                <a:cubicBezTo>
                  <a:pt x="2038" y="721"/>
                  <a:pt x="2029" y="726"/>
                  <a:pt x="2019" y="730"/>
                </a:cubicBezTo>
                <a:cubicBezTo>
                  <a:pt x="2010" y="734"/>
                  <a:pt x="2000" y="737"/>
                  <a:pt x="1990" y="739"/>
                </a:cubicBezTo>
                <a:cubicBezTo>
                  <a:pt x="1979" y="741"/>
                  <a:pt x="1969" y="742"/>
                  <a:pt x="1959" y="742"/>
                </a:cubicBezTo>
                <a:lnTo>
                  <a:pt x="159" y="742"/>
                </a:lnTo>
                <a:cubicBezTo>
                  <a:pt x="148" y="742"/>
                  <a:pt x="138" y="741"/>
                  <a:pt x="128" y="739"/>
                </a:cubicBezTo>
                <a:cubicBezTo>
                  <a:pt x="117" y="737"/>
                  <a:pt x="107" y="734"/>
                  <a:pt x="98" y="730"/>
                </a:cubicBezTo>
                <a:cubicBezTo>
                  <a:pt x="88" y="726"/>
                  <a:pt x="79" y="721"/>
                  <a:pt x="70" y="715"/>
                </a:cubicBezTo>
                <a:cubicBezTo>
                  <a:pt x="62" y="710"/>
                  <a:pt x="54" y="703"/>
                  <a:pt x="46" y="696"/>
                </a:cubicBezTo>
                <a:cubicBezTo>
                  <a:pt x="39" y="688"/>
                  <a:pt x="32" y="680"/>
                  <a:pt x="27" y="672"/>
                </a:cubicBezTo>
                <a:cubicBezTo>
                  <a:pt x="21" y="663"/>
                  <a:pt x="16" y="654"/>
                  <a:pt x="12" y="644"/>
                </a:cubicBezTo>
                <a:cubicBezTo>
                  <a:pt x="8" y="635"/>
                  <a:pt x="5" y="625"/>
                  <a:pt x="3" y="614"/>
                </a:cubicBezTo>
                <a:cubicBezTo>
                  <a:pt x="1" y="604"/>
                  <a:pt x="0" y="594"/>
                  <a:pt x="0" y="58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3" name=""/>
          <p:cNvSpPr txBox="1"/>
          <p:nvPr/>
        </p:nvSpPr>
        <p:spPr>
          <a:xfrm>
            <a:off x="4510440" y="2889720"/>
            <a:ext cx="11232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 times, not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4" name=""/>
          <p:cNvSpPr txBox="1"/>
          <p:nvPr/>
        </p:nvSpPr>
        <p:spPr>
          <a:xfrm>
            <a:off x="5704560" y="2922120"/>
            <a:ext cx="62280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true_k</a:t>
            </a:r>
            <a:endParaRPr b="0" lang="en-US" sz="13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5" name=""/>
          <p:cNvSpPr/>
          <p:nvPr/>
        </p:nvSpPr>
        <p:spPr>
          <a:xfrm>
            <a:off x="1171440" y="3190680"/>
            <a:ext cx="867240" cy="267120"/>
          </a:xfrm>
          <a:custGeom>
            <a:avLst/>
            <a:gdLst/>
            <a:ahLst/>
            <a:rect l="0" t="0" r="r" b="b"/>
            <a:pathLst>
              <a:path w="2409" h="742">
                <a:moveTo>
                  <a:pt x="0" y="583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2250" y="0"/>
                </a:lnTo>
                <a:cubicBezTo>
                  <a:pt x="2260" y="0"/>
                  <a:pt x="2271" y="1"/>
                  <a:pt x="2281" y="3"/>
                </a:cubicBezTo>
                <a:cubicBezTo>
                  <a:pt x="2291" y="5"/>
                  <a:pt x="2301" y="8"/>
                  <a:pt x="2311" y="12"/>
                </a:cubicBezTo>
                <a:cubicBezTo>
                  <a:pt x="2320" y="16"/>
                  <a:pt x="2329" y="21"/>
                  <a:pt x="2338" y="27"/>
                </a:cubicBezTo>
                <a:cubicBezTo>
                  <a:pt x="2347" y="33"/>
                  <a:pt x="2355" y="39"/>
                  <a:pt x="2362" y="47"/>
                </a:cubicBezTo>
                <a:cubicBezTo>
                  <a:pt x="2369" y="54"/>
                  <a:pt x="2376" y="62"/>
                  <a:pt x="2382" y="71"/>
                </a:cubicBezTo>
                <a:cubicBezTo>
                  <a:pt x="2388" y="79"/>
                  <a:pt x="2393" y="88"/>
                  <a:pt x="2396" y="98"/>
                </a:cubicBezTo>
                <a:cubicBezTo>
                  <a:pt x="2400" y="108"/>
                  <a:pt x="2403" y="118"/>
                  <a:pt x="2406" y="128"/>
                </a:cubicBezTo>
                <a:cubicBezTo>
                  <a:pt x="2408" y="138"/>
                  <a:pt x="2409" y="148"/>
                  <a:pt x="2409" y="159"/>
                </a:cubicBezTo>
                <a:lnTo>
                  <a:pt x="2409" y="583"/>
                </a:lnTo>
                <a:cubicBezTo>
                  <a:pt x="2409" y="594"/>
                  <a:pt x="2408" y="604"/>
                  <a:pt x="2406" y="614"/>
                </a:cubicBezTo>
                <a:cubicBezTo>
                  <a:pt x="2403" y="624"/>
                  <a:pt x="2400" y="634"/>
                  <a:pt x="2396" y="644"/>
                </a:cubicBezTo>
                <a:cubicBezTo>
                  <a:pt x="2393" y="654"/>
                  <a:pt x="2388" y="663"/>
                  <a:pt x="2382" y="671"/>
                </a:cubicBezTo>
                <a:cubicBezTo>
                  <a:pt x="2376" y="680"/>
                  <a:pt x="2369" y="688"/>
                  <a:pt x="2362" y="695"/>
                </a:cubicBezTo>
                <a:cubicBezTo>
                  <a:pt x="2355" y="703"/>
                  <a:pt x="2347" y="709"/>
                  <a:pt x="2338" y="715"/>
                </a:cubicBezTo>
                <a:cubicBezTo>
                  <a:pt x="2329" y="721"/>
                  <a:pt x="2320" y="726"/>
                  <a:pt x="2311" y="730"/>
                </a:cubicBezTo>
                <a:cubicBezTo>
                  <a:pt x="2301" y="734"/>
                  <a:pt x="2291" y="737"/>
                  <a:pt x="2281" y="739"/>
                </a:cubicBezTo>
                <a:cubicBezTo>
                  <a:pt x="2271" y="741"/>
                  <a:pt x="2260" y="742"/>
                  <a:pt x="2250" y="742"/>
                </a:cubicBezTo>
                <a:lnTo>
                  <a:pt x="159" y="742"/>
                </a:lnTo>
                <a:cubicBezTo>
                  <a:pt x="148" y="742"/>
                  <a:pt x="138" y="741"/>
                  <a:pt x="128" y="739"/>
                </a:cubicBezTo>
                <a:cubicBezTo>
                  <a:pt x="117" y="737"/>
                  <a:pt x="108" y="734"/>
                  <a:pt x="98" y="730"/>
                </a:cubicBezTo>
                <a:cubicBezTo>
                  <a:pt x="88" y="726"/>
                  <a:pt x="79" y="721"/>
                  <a:pt x="70" y="715"/>
                </a:cubicBezTo>
                <a:cubicBezTo>
                  <a:pt x="62" y="709"/>
                  <a:pt x="54" y="703"/>
                  <a:pt x="46" y="695"/>
                </a:cubicBezTo>
                <a:cubicBezTo>
                  <a:pt x="39" y="688"/>
                  <a:pt x="32" y="680"/>
                  <a:pt x="27" y="671"/>
                </a:cubicBezTo>
                <a:cubicBezTo>
                  <a:pt x="21" y="663"/>
                  <a:pt x="16" y="654"/>
                  <a:pt x="12" y="644"/>
                </a:cubicBezTo>
                <a:cubicBezTo>
                  <a:pt x="8" y="634"/>
                  <a:pt x="5" y="624"/>
                  <a:pt x="3" y="614"/>
                </a:cubicBezTo>
                <a:cubicBezTo>
                  <a:pt x="1" y="604"/>
                  <a:pt x="0" y="594"/>
                  <a:pt x="0" y="58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6" name=""/>
          <p:cNvSpPr txBox="1"/>
          <p:nvPr/>
        </p:nvSpPr>
        <p:spPr>
          <a:xfrm>
            <a:off x="6397560" y="2889720"/>
            <a:ext cx="48765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 — one "step" is already accounted for by starting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7" name=""/>
          <p:cNvSpPr txBox="1"/>
          <p:nvPr/>
        </p:nvSpPr>
        <p:spPr>
          <a:xfrm>
            <a:off x="1237320" y="3227040"/>
            <a:ext cx="72648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current</a:t>
            </a:r>
            <a:endParaRPr b="0" lang="en-US" sz="13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8" name=""/>
          <p:cNvSpPr/>
          <p:nvPr/>
        </p:nvSpPr>
        <p:spPr>
          <a:xfrm>
            <a:off x="2352600" y="3190680"/>
            <a:ext cx="552600" cy="267120"/>
          </a:xfrm>
          <a:custGeom>
            <a:avLst/>
            <a:gdLst/>
            <a:ahLst/>
            <a:rect l="0" t="0" r="r" b="b"/>
            <a:pathLst>
              <a:path w="1535" h="742">
                <a:moveTo>
                  <a:pt x="0" y="583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1377" y="0"/>
                </a:lnTo>
                <a:cubicBezTo>
                  <a:pt x="1387" y="0"/>
                  <a:pt x="1397" y="1"/>
                  <a:pt x="1408" y="3"/>
                </a:cubicBezTo>
                <a:cubicBezTo>
                  <a:pt x="1418" y="5"/>
                  <a:pt x="1428" y="8"/>
                  <a:pt x="1437" y="12"/>
                </a:cubicBezTo>
                <a:cubicBezTo>
                  <a:pt x="1447" y="16"/>
                  <a:pt x="1456" y="21"/>
                  <a:pt x="1465" y="27"/>
                </a:cubicBezTo>
                <a:cubicBezTo>
                  <a:pt x="1473" y="33"/>
                  <a:pt x="1481" y="39"/>
                  <a:pt x="1489" y="47"/>
                </a:cubicBezTo>
                <a:cubicBezTo>
                  <a:pt x="1496" y="54"/>
                  <a:pt x="1503" y="62"/>
                  <a:pt x="1509" y="71"/>
                </a:cubicBezTo>
                <a:cubicBezTo>
                  <a:pt x="1514" y="79"/>
                  <a:pt x="1519" y="88"/>
                  <a:pt x="1523" y="98"/>
                </a:cubicBezTo>
                <a:cubicBezTo>
                  <a:pt x="1527" y="108"/>
                  <a:pt x="1530" y="118"/>
                  <a:pt x="1532" y="128"/>
                </a:cubicBezTo>
                <a:cubicBezTo>
                  <a:pt x="1534" y="138"/>
                  <a:pt x="1535" y="148"/>
                  <a:pt x="1535" y="159"/>
                </a:cubicBezTo>
                <a:lnTo>
                  <a:pt x="1535" y="583"/>
                </a:lnTo>
                <a:cubicBezTo>
                  <a:pt x="1535" y="594"/>
                  <a:pt x="1534" y="604"/>
                  <a:pt x="1532" y="614"/>
                </a:cubicBezTo>
                <a:cubicBezTo>
                  <a:pt x="1530" y="624"/>
                  <a:pt x="1527" y="634"/>
                  <a:pt x="1523" y="644"/>
                </a:cubicBezTo>
                <a:cubicBezTo>
                  <a:pt x="1519" y="654"/>
                  <a:pt x="1514" y="663"/>
                  <a:pt x="1509" y="671"/>
                </a:cubicBezTo>
                <a:cubicBezTo>
                  <a:pt x="1503" y="680"/>
                  <a:pt x="1496" y="688"/>
                  <a:pt x="1489" y="695"/>
                </a:cubicBezTo>
                <a:cubicBezTo>
                  <a:pt x="1481" y="703"/>
                  <a:pt x="1473" y="709"/>
                  <a:pt x="1465" y="715"/>
                </a:cubicBezTo>
                <a:cubicBezTo>
                  <a:pt x="1456" y="721"/>
                  <a:pt x="1447" y="726"/>
                  <a:pt x="1437" y="730"/>
                </a:cubicBezTo>
                <a:cubicBezTo>
                  <a:pt x="1428" y="734"/>
                  <a:pt x="1418" y="737"/>
                  <a:pt x="1408" y="739"/>
                </a:cubicBezTo>
                <a:cubicBezTo>
                  <a:pt x="1397" y="741"/>
                  <a:pt x="1387" y="742"/>
                  <a:pt x="1377" y="742"/>
                </a:cubicBezTo>
                <a:lnTo>
                  <a:pt x="158" y="742"/>
                </a:lnTo>
                <a:cubicBezTo>
                  <a:pt x="148" y="742"/>
                  <a:pt x="138" y="741"/>
                  <a:pt x="127" y="739"/>
                </a:cubicBezTo>
                <a:cubicBezTo>
                  <a:pt x="117" y="737"/>
                  <a:pt x="107" y="734"/>
                  <a:pt x="98" y="730"/>
                </a:cubicBezTo>
                <a:cubicBezTo>
                  <a:pt x="88" y="726"/>
                  <a:pt x="79" y="721"/>
                  <a:pt x="70" y="715"/>
                </a:cubicBezTo>
                <a:cubicBezTo>
                  <a:pt x="62" y="709"/>
                  <a:pt x="54" y="703"/>
                  <a:pt x="46" y="695"/>
                </a:cubicBezTo>
                <a:cubicBezTo>
                  <a:pt x="39" y="688"/>
                  <a:pt x="32" y="680"/>
                  <a:pt x="26" y="671"/>
                </a:cubicBezTo>
                <a:cubicBezTo>
                  <a:pt x="21" y="663"/>
                  <a:pt x="16" y="654"/>
                  <a:pt x="12" y="644"/>
                </a:cubicBezTo>
                <a:cubicBezTo>
                  <a:pt x="8" y="634"/>
                  <a:pt x="5" y="624"/>
                  <a:pt x="3" y="614"/>
                </a:cubicBezTo>
                <a:cubicBezTo>
                  <a:pt x="1" y="604"/>
                  <a:pt x="0" y="594"/>
                  <a:pt x="0" y="58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9" name=""/>
          <p:cNvSpPr txBox="1"/>
          <p:nvPr/>
        </p:nvSpPr>
        <p:spPr>
          <a:xfrm>
            <a:off x="2034360" y="3194280"/>
            <a:ext cx="3168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 at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2419920" y="3227040"/>
            <a:ext cx="41544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60" strike="noStrike" u="none">
                <a:solidFill>
                  <a:srgbClr val="1f2328"/>
                </a:solidFill>
                <a:effectLst/>
                <a:uFillTx/>
                <a:latin typeface="Menlo"/>
                <a:ea typeface="Menlo"/>
              </a:rPr>
              <a:t>head</a:t>
            </a:r>
            <a:endParaRPr b="0" lang="en-US" sz="13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1" name=""/>
          <p:cNvSpPr txBox="1"/>
          <p:nvPr/>
        </p:nvSpPr>
        <p:spPr>
          <a:xfrm>
            <a:off x="2905200" y="3194280"/>
            <a:ext cx="2026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2" name=""/>
          <p:cNvSpPr txBox="1"/>
          <p:nvPr/>
        </p:nvSpPr>
        <p:spPr>
          <a:xfrm>
            <a:off x="762120" y="3621240"/>
            <a:ext cx="2533320" cy="30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08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Step 5 - Lock it up</a:t>
            </a:r>
            <a:endParaRPr b="0" lang="en-US" sz="20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661057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4" name=""/>
          <p:cNvSpPr txBox="1"/>
          <p:nvPr/>
        </p:nvSpPr>
        <p:spPr>
          <a:xfrm>
            <a:off x="762120" y="-8280"/>
            <a:ext cx="1011024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Bugs Found by Tracing Through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5" name=""/>
          <p:cNvSpPr/>
          <p:nvPr/>
        </p:nvSpPr>
        <p:spPr>
          <a:xfrm>
            <a:off x="766440" y="4147920"/>
            <a:ext cx="10658880" cy="1543320"/>
          </a:xfrm>
          <a:custGeom>
            <a:avLst/>
            <a:gdLst/>
            <a:ahLst/>
            <a:rect l="0" t="0" r="r" b="b"/>
            <a:pathLst>
              <a:path w="29608" h="4287">
                <a:moveTo>
                  <a:pt x="0" y="4142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5"/>
                  <a:pt x="29510" y="8"/>
                  <a:pt x="29518" y="11"/>
                </a:cubicBezTo>
                <a:cubicBezTo>
                  <a:pt x="29527" y="15"/>
                  <a:pt x="29536" y="19"/>
                  <a:pt x="29544" y="25"/>
                </a:cubicBezTo>
                <a:cubicBezTo>
                  <a:pt x="29552" y="30"/>
                  <a:pt x="29559" y="36"/>
                  <a:pt x="29566" y="43"/>
                </a:cubicBezTo>
                <a:cubicBezTo>
                  <a:pt x="29572" y="49"/>
                  <a:pt x="29578" y="57"/>
                  <a:pt x="29584" y="65"/>
                </a:cubicBezTo>
                <a:cubicBezTo>
                  <a:pt x="29589" y="73"/>
                  <a:pt x="29594" y="81"/>
                  <a:pt x="29597" y="90"/>
                </a:cubicBezTo>
                <a:cubicBezTo>
                  <a:pt x="29601" y="99"/>
                  <a:pt x="29604" y="108"/>
                  <a:pt x="29605" y="117"/>
                </a:cubicBezTo>
                <a:cubicBezTo>
                  <a:pt x="29607" y="127"/>
                  <a:pt x="29608" y="136"/>
                  <a:pt x="29608" y="146"/>
                </a:cubicBezTo>
                <a:lnTo>
                  <a:pt x="29608" y="4142"/>
                </a:lnTo>
                <a:cubicBezTo>
                  <a:pt x="29608" y="4151"/>
                  <a:pt x="29607" y="4161"/>
                  <a:pt x="29605" y="4170"/>
                </a:cubicBezTo>
                <a:cubicBezTo>
                  <a:pt x="29604" y="4180"/>
                  <a:pt x="29601" y="4189"/>
                  <a:pt x="29597" y="4198"/>
                </a:cubicBezTo>
                <a:cubicBezTo>
                  <a:pt x="29594" y="4206"/>
                  <a:pt x="29589" y="4215"/>
                  <a:pt x="29584" y="4223"/>
                </a:cubicBezTo>
                <a:cubicBezTo>
                  <a:pt x="29578" y="4231"/>
                  <a:pt x="29572" y="4238"/>
                  <a:pt x="29566" y="4245"/>
                </a:cubicBezTo>
                <a:cubicBezTo>
                  <a:pt x="29559" y="4251"/>
                  <a:pt x="29552" y="4258"/>
                  <a:pt x="29544" y="4263"/>
                </a:cubicBezTo>
                <a:cubicBezTo>
                  <a:pt x="29536" y="4268"/>
                  <a:pt x="29527" y="4273"/>
                  <a:pt x="29518" y="4276"/>
                </a:cubicBezTo>
                <a:cubicBezTo>
                  <a:pt x="29510" y="4280"/>
                  <a:pt x="29501" y="4283"/>
                  <a:pt x="29491" y="4285"/>
                </a:cubicBezTo>
                <a:cubicBezTo>
                  <a:pt x="29482" y="4286"/>
                  <a:pt x="29472" y="4287"/>
                  <a:pt x="29463" y="4287"/>
                </a:cubicBezTo>
                <a:lnTo>
                  <a:pt x="146" y="4287"/>
                </a:lnTo>
                <a:cubicBezTo>
                  <a:pt x="136" y="4287"/>
                  <a:pt x="127" y="4286"/>
                  <a:pt x="118" y="4285"/>
                </a:cubicBezTo>
                <a:cubicBezTo>
                  <a:pt x="108" y="4283"/>
                  <a:pt x="99" y="4280"/>
                  <a:pt x="90" y="4276"/>
                </a:cubicBezTo>
                <a:cubicBezTo>
                  <a:pt x="81" y="4273"/>
                  <a:pt x="73" y="4268"/>
                  <a:pt x="65" y="4263"/>
                </a:cubicBezTo>
                <a:cubicBezTo>
                  <a:pt x="57" y="4258"/>
                  <a:pt x="50" y="4251"/>
                  <a:pt x="43" y="4245"/>
                </a:cubicBezTo>
                <a:cubicBezTo>
                  <a:pt x="36" y="4238"/>
                  <a:pt x="30" y="4231"/>
                  <a:pt x="25" y="4223"/>
                </a:cubicBezTo>
                <a:cubicBezTo>
                  <a:pt x="20" y="4215"/>
                  <a:pt x="15" y="4206"/>
                  <a:pt x="11" y="4198"/>
                </a:cubicBezTo>
                <a:cubicBezTo>
                  <a:pt x="8" y="4189"/>
                  <a:pt x="5" y="4180"/>
                  <a:pt x="3" y="4170"/>
                </a:cubicBezTo>
                <a:cubicBezTo>
                  <a:pt x="1" y="4161"/>
                  <a:pt x="0" y="4151"/>
                  <a:pt x="0" y="4142"/>
                </a:cubicBezTo>
                <a:close/>
              </a:path>
            </a:pathLst>
          </a:custGeom>
          <a:solidFill>
            <a:srgbClr val="e8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6" name=""/>
          <p:cNvSpPr/>
          <p:nvPr/>
        </p:nvSpPr>
        <p:spPr>
          <a:xfrm>
            <a:off x="766440" y="4147920"/>
            <a:ext cx="10658880" cy="1543320"/>
          </a:xfrm>
          <a:custGeom>
            <a:avLst/>
            <a:gdLst/>
            <a:ahLst/>
            <a:rect l="0" t="0" r="r" b="b"/>
            <a:pathLst>
              <a:path fill="none" w="29608" h="4287">
                <a:moveTo>
                  <a:pt x="0" y="4142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5"/>
                  <a:pt x="29510" y="8"/>
                  <a:pt x="29518" y="11"/>
                </a:cubicBezTo>
                <a:cubicBezTo>
                  <a:pt x="29527" y="15"/>
                  <a:pt x="29536" y="19"/>
                  <a:pt x="29544" y="25"/>
                </a:cubicBezTo>
                <a:cubicBezTo>
                  <a:pt x="29552" y="30"/>
                  <a:pt x="29559" y="36"/>
                  <a:pt x="29566" y="43"/>
                </a:cubicBezTo>
                <a:cubicBezTo>
                  <a:pt x="29572" y="49"/>
                  <a:pt x="29578" y="57"/>
                  <a:pt x="29584" y="65"/>
                </a:cubicBezTo>
                <a:cubicBezTo>
                  <a:pt x="29589" y="73"/>
                  <a:pt x="29594" y="81"/>
                  <a:pt x="29597" y="90"/>
                </a:cubicBezTo>
                <a:cubicBezTo>
                  <a:pt x="29601" y="99"/>
                  <a:pt x="29604" y="108"/>
                  <a:pt x="29605" y="117"/>
                </a:cubicBezTo>
                <a:cubicBezTo>
                  <a:pt x="29607" y="127"/>
                  <a:pt x="29608" y="136"/>
                  <a:pt x="29608" y="146"/>
                </a:cubicBezTo>
                <a:lnTo>
                  <a:pt x="29608" y="4142"/>
                </a:lnTo>
                <a:cubicBezTo>
                  <a:pt x="29608" y="4151"/>
                  <a:pt x="29607" y="4161"/>
                  <a:pt x="29605" y="4170"/>
                </a:cubicBezTo>
                <a:cubicBezTo>
                  <a:pt x="29604" y="4180"/>
                  <a:pt x="29601" y="4189"/>
                  <a:pt x="29597" y="4198"/>
                </a:cubicBezTo>
                <a:cubicBezTo>
                  <a:pt x="29594" y="4206"/>
                  <a:pt x="29589" y="4215"/>
                  <a:pt x="29584" y="4223"/>
                </a:cubicBezTo>
                <a:cubicBezTo>
                  <a:pt x="29578" y="4231"/>
                  <a:pt x="29572" y="4238"/>
                  <a:pt x="29566" y="4245"/>
                </a:cubicBezTo>
                <a:cubicBezTo>
                  <a:pt x="29559" y="4251"/>
                  <a:pt x="29552" y="4258"/>
                  <a:pt x="29544" y="4263"/>
                </a:cubicBezTo>
                <a:cubicBezTo>
                  <a:pt x="29536" y="4268"/>
                  <a:pt x="29527" y="4273"/>
                  <a:pt x="29518" y="4276"/>
                </a:cubicBezTo>
                <a:cubicBezTo>
                  <a:pt x="29510" y="4280"/>
                  <a:pt x="29501" y="4283"/>
                  <a:pt x="29491" y="4285"/>
                </a:cubicBezTo>
                <a:cubicBezTo>
                  <a:pt x="29482" y="4286"/>
                  <a:pt x="29472" y="4287"/>
                  <a:pt x="29463" y="4287"/>
                </a:cubicBezTo>
                <a:lnTo>
                  <a:pt x="146" y="4287"/>
                </a:lnTo>
                <a:cubicBezTo>
                  <a:pt x="136" y="4287"/>
                  <a:pt x="127" y="4286"/>
                  <a:pt x="118" y="4285"/>
                </a:cubicBezTo>
                <a:cubicBezTo>
                  <a:pt x="108" y="4283"/>
                  <a:pt x="99" y="4280"/>
                  <a:pt x="90" y="4276"/>
                </a:cubicBezTo>
                <a:cubicBezTo>
                  <a:pt x="81" y="4273"/>
                  <a:pt x="73" y="4268"/>
                  <a:pt x="65" y="4263"/>
                </a:cubicBezTo>
                <a:cubicBezTo>
                  <a:pt x="57" y="4258"/>
                  <a:pt x="50" y="4251"/>
                  <a:pt x="43" y="4245"/>
                </a:cubicBezTo>
                <a:cubicBezTo>
                  <a:pt x="36" y="4238"/>
                  <a:pt x="30" y="4231"/>
                  <a:pt x="25" y="4223"/>
                </a:cubicBezTo>
                <a:cubicBezTo>
                  <a:pt x="20" y="4215"/>
                  <a:pt x="15" y="4206"/>
                  <a:pt x="11" y="4198"/>
                </a:cubicBezTo>
                <a:cubicBezTo>
                  <a:pt x="8" y="4189"/>
                  <a:pt x="5" y="4180"/>
                  <a:pt x="3" y="4170"/>
                </a:cubicBezTo>
                <a:cubicBezTo>
                  <a:pt x="1" y="4161"/>
                  <a:pt x="0" y="4151"/>
                  <a:pt x="0" y="4142"/>
                </a:cubicBezTo>
              </a:path>
            </a:pathLst>
          </a:custGeom>
          <a:ln w="9360">
            <a:solidFill>
              <a:srgbClr val="baf7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7" name=""/>
          <p:cNvSpPr txBox="1"/>
          <p:nvPr/>
        </p:nvSpPr>
        <p:spPr>
          <a:xfrm>
            <a:off x="762120" y="753480"/>
            <a:ext cx="259920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by Hand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8" name=""/>
          <p:cNvSpPr txBox="1"/>
          <p:nvPr/>
        </p:nvSpPr>
        <p:spPr>
          <a:xfrm>
            <a:off x="923760" y="4747680"/>
            <a:ext cx="96584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This mirrors the Universal Process exactly: understand (clarifying questions) → devise a strategy (whiteboard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9" name=""/>
          <p:cNvSpPr txBox="1"/>
          <p:nvPr/>
        </p:nvSpPr>
        <p:spPr>
          <a:xfrm>
            <a:off x="923760" y="5023800"/>
            <a:ext cx="103186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reasoning) → carry it out (implementation) → check (manually tracing before running). Manually tracing code before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0" name=""/>
          <p:cNvSpPr/>
          <p:nvPr/>
        </p:nvSpPr>
        <p:spPr>
          <a:xfrm>
            <a:off x="971280" y="4371840"/>
            <a:ext cx="133920" cy="181440"/>
          </a:xfrm>
          <a:custGeom>
            <a:avLst/>
            <a:gdLst/>
            <a:ahLst/>
            <a:rect l="0" t="0" r="r" b="b"/>
            <a:pathLst>
              <a:path fill="none" w="372" h="504">
                <a:moveTo>
                  <a:pt x="94" y="305"/>
                </a:moveTo>
                <a:cubicBezTo>
                  <a:pt x="103" y="305"/>
                  <a:pt x="111" y="303"/>
                  <a:pt x="119" y="300"/>
                </a:cubicBezTo>
                <a:cubicBezTo>
                  <a:pt x="127" y="297"/>
                  <a:pt x="134" y="292"/>
                  <a:pt x="141" y="286"/>
                </a:cubicBezTo>
                <a:cubicBezTo>
                  <a:pt x="147" y="280"/>
                  <a:pt x="152" y="272"/>
                  <a:pt x="155" y="264"/>
                </a:cubicBezTo>
                <a:cubicBezTo>
                  <a:pt x="158" y="256"/>
                  <a:pt x="160" y="248"/>
                  <a:pt x="160" y="239"/>
                </a:cubicBezTo>
                <a:cubicBezTo>
                  <a:pt x="160" y="202"/>
                  <a:pt x="147" y="186"/>
                  <a:pt x="134" y="160"/>
                </a:cubicBezTo>
                <a:cubicBezTo>
                  <a:pt x="105" y="102"/>
                  <a:pt x="128" y="51"/>
                  <a:pt x="186" y="0"/>
                </a:cubicBezTo>
                <a:cubicBezTo>
                  <a:pt x="200" y="66"/>
                  <a:pt x="239" y="130"/>
                  <a:pt x="292" y="173"/>
                </a:cubicBezTo>
                <a:cubicBezTo>
                  <a:pt x="345" y="215"/>
                  <a:pt x="372" y="265"/>
                  <a:pt x="372" y="318"/>
                </a:cubicBezTo>
                <a:cubicBezTo>
                  <a:pt x="372" y="331"/>
                  <a:pt x="370" y="343"/>
                  <a:pt x="368" y="355"/>
                </a:cubicBezTo>
                <a:cubicBezTo>
                  <a:pt x="366" y="366"/>
                  <a:pt x="362" y="378"/>
                  <a:pt x="358" y="389"/>
                </a:cubicBezTo>
                <a:cubicBezTo>
                  <a:pt x="353" y="400"/>
                  <a:pt x="347" y="411"/>
                  <a:pt x="340" y="421"/>
                </a:cubicBezTo>
                <a:cubicBezTo>
                  <a:pt x="334" y="431"/>
                  <a:pt x="326" y="441"/>
                  <a:pt x="317" y="449"/>
                </a:cubicBezTo>
                <a:cubicBezTo>
                  <a:pt x="309" y="458"/>
                  <a:pt x="299" y="466"/>
                  <a:pt x="289" y="472"/>
                </a:cubicBezTo>
                <a:cubicBezTo>
                  <a:pt x="279" y="479"/>
                  <a:pt x="269" y="485"/>
                  <a:pt x="257" y="489"/>
                </a:cubicBezTo>
                <a:cubicBezTo>
                  <a:pt x="246" y="494"/>
                  <a:pt x="235" y="498"/>
                  <a:pt x="223" y="500"/>
                </a:cubicBezTo>
                <a:cubicBezTo>
                  <a:pt x="211" y="502"/>
                  <a:pt x="199" y="504"/>
                  <a:pt x="186" y="504"/>
                </a:cubicBezTo>
                <a:cubicBezTo>
                  <a:pt x="174" y="504"/>
                  <a:pt x="162" y="502"/>
                  <a:pt x="150" y="500"/>
                </a:cubicBezTo>
                <a:cubicBezTo>
                  <a:pt x="138" y="498"/>
                  <a:pt x="127" y="494"/>
                  <a:pt x="116" y="489"/>
                </a:cubicBezTo>
                <a:cubicBezTo>
                  <a:pt x="104" y="485"/>
                  <a:pt x="94" y="479"/>
                  <a:pt x="84" y="472"/>
                </a:cubicBezTo>
                <a:cubicBezTo>
                  <a:pt x="72" y="466"/>
                  <a:pt x="63" y="458"/>
                  <a:pt x="54" y="449"/>
                </a:cubicBezTo>
                <a:cubicBezTo>
                  <a:pt x="46" y="441"/>
                  <a:pt x="38" y="431"/>
                  <a:pt x="31" y="421"/>
                </a:cubicBezTo>
                <a:cubicBezTo>
                  <a:pt x="25" y="411"/>
                  <a:pt x="19" y="400"/>
                  <a:pt x="14" y="389"/>
                </a:cubicBezTo>
                <a:cubicBezTo>
                  <a:pt x="10" y="378"/>
                  <a:pt x="6" y="366"/>
                  <a:pt x="4" y="355"/>
                </a:cubicBezTo>
                <a:cubicBezTo>
                  <a:pt x="1" y="343"/>
                  <a:pt x="0" y="331"/>
                  <a:pt x="0" y="318"/>
                </a:cubicBezTo>
                <a:cubicBezTo>
                  <a:pt x="0" y="288"/>
                  <a:pt x="12" y="258"/>
                  <a:pt x="27" y="239"/>
                </a:cubicBezTo>
                <a:cubicBezTo>
                  <a:pt x="27" y="248"/>
                  <a:pt x="28" y="256"/>
                  <a:pt x="32" y="264"/>
                </a:cubicBezTo>
                <a:cubicBezTo>
                  <a:pt x="35" y="272"/>
                  <a:pt x="40" y="280"/>
                  <a:pt x="46" y="286"/>
                </a:cubicBezTo>
                <a:cubicBezTo>
                  <a:pt x="52" y="292"/>
                  <a:pt x="59" y="297"/>
                  <a:pt x="68" y="300"/>
                </a:cubicBezTo>
                <a:cubicBezTo>
                  <a:pt x="76" y="303"/>
                  <a:pt x="85" y="305"/>
                  <a:pt x="94" y="305"/>
                </a:cubicBezTo>
              </a:path>
            </a:pathLst>
          </a:custGeom>
          <a:ln cap="rnd" w="18720">
            <a:solidFill>
              <a:srgbClr val="16c4c2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1" name=""/>
          <p:cNvSpPr txBox="1"/>
          <p:nvPr/>
        </p:nvSpPr>
        <p:spPr>
          <a:xfrm>
            <a:off x="923760" y="5299920"/>
            <a:ext cx="51559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running it is a habit worth keeping outside interviews too.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1203120" y="4350960"/>
            <a:ext cx="11707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16c4c2"/>
                </a:solidFill>
                <a:effectLst/>
                <a:uFillTx/>
                <a:latin typeface="LucidaGrande"/>
                <a:ea typeface="LucidaGrande"/>
              </a:rPr>
              <a:t>Takeaway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3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1238400" y="6569280"/>
            <a:ext cx="31820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0020e35 | © 08.10.2026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5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13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59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0" name=""/>
          <p:cNvSpPr txBox="1"/>
          <p:nvPr/>
        </p:nvSpPr>
        <p:spPr>
          <a:xfrm>
            <a:off x="762120" y="1984680"/>
            <a:ext cx="105346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Most of the methods just covered are </a:t>
            </a:r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unsystematic idea-generating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: free association, free of judgement,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1" name=""/>
          <p:cNvSpPr txBox="1"/>
          <p:nvPr/>
        </p:nvSpPr>
        <p:spPr>
          <a:xfrm>
            <a:off x="762120" y="2289600"/>
            <a:ext cx="69901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triggering imagination. They feel creative — but the evidence is mixed.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2" name=""/>
          <p:cNvSpPr txBox="1"/>
          <p:nvPr/>
        </p:nvSpPr>
        <p:spPr>
          <a:xfrm>
            <a:off x="762120" y="4413600"/>
            <a:ext cx="99748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 creative solution doesn't require a large number of ideas. </a:t>
            </a:r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Focused thinking and early judgement,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762120" y="4718520"/>
            <a:ext cx="86277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against well-deﬁned criteria, can out-perform free-association.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That's the case for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4" name=""/>
          <p:cNvSpPr txBox="1"/>
          <p:nvPr/>
        </p:nvSpPr>
        <p:spPr>
          <a:xfrm>
            <a:off x="9456120" y="4718520"/>
            <a:ext cx="107280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5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systematic</a:t>
            </a:r>
            <a:endParaRPr b="0" lang="en-US" sz="16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5" name=""/>
          <p:cNvSpPr txBox="1"/>
          <p:nvPr/>
        </p:nvSpPr>
        <p:spPr>
          <a:xfrm>
            <a:off x="10450080" y="4718520"/>
            <a:ext cx="9450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 inventive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762120" y="5023080"/>
            <a:ext cx="8802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thinking.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7" name=""/>
          <p:cNvSpPr txBox="1"/>
          <p:nvPr/>
        </p:nvSpPr>
        <p:spPr>
          <a:xfrm>
            <a:off x="851400" y="5463720"/>
            <a:ext cx="76266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6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1. </a:t>
            </a:r>
            <a:r>
              <a:rPr b="0" lang="en-US" sz="96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Barak, M. (2004). Systematic Approaches for Inventive Thinking and Problem-Solving: Implications for Engineering Education. </a:t>
            </a:r>
            <a:endParaRPr b="0" lang="en-US" sz="9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8507160" y="5463720"/>
            <a:ext cx="962280" cy="14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89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Int. J. Engng Ed.</a:t>
            </a:r>
            <a:endParaRPr b="0" lang="en-US" sz="989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9" name=""/>
          <p:cNvSpPr txBox="1"/>
          <p:nvPr/>
        </p:nvSpPr>
        <p:spPr>
          <a:xfrm>
            <a:off x="9415800" y="5463720"/>
            <a:ext cx="12582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6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, 20(4), pp. 612–618.</a:t>
            </a:r>
            <a:endParaRPr b="0" lang="en-US" sz="9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661057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1" name=""/>
          <p:cNvSpPr/>
          <p:nvPr/>
        </p:nvSpPr>
        <p:spPr>
          <a:xfrm>
            <a:off x="766440" y="2719080"/>
            <a:ext cx="10658880" cy="1543680"/>
          </a:xfrm>
          <a:custGeom>
            <a:avLst/>
            <a:gdLst/>
            <a:ahLst/>
            <a:rect l="0" t="0" r="r" b="b"/>
            <a:pathLst>
              <a:path w="29608" h="4288">
                <a:moveTo>
                  <a:pt x="0" y="4142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5"/>
                  <a:pt x="29510" y="8"/>
                  <a:pt x="29518" y="11"/>
                </a:cubicBezTo>
                <a:cubicBezTo>
                  <a:pt x="29527" y="15"/>
                  <a:pt x="29536" y="20"/>
                  <a:pt x="29544" y="25"/>
                </a:cubicBezTo>
                <a:cubicBezTo>
                  <a:pt x="29552" y="30"/>
                  <a:pt x="29559" y="36"/>
                  <a:pt x="29566" y="43"/>
                </a:cubicBezTo>
                <a:cubicBezTo>
                  <a:pt x="29572" y="50"/>
                  <a:pt x="29578" y="57"/>
                  <a:pt x="29584" y="65"/>
                </a:cubicBezTo>
                <a:cubicBezTo>
                  <a:pt x="29589" y="73"/>
                  <a:pt x="29594" y="81"/>
                  <a:pt x="29597" y="90"/>
                </a:cubicBezTo>
                <a:cubicBezTo>
                  <a:pt x="29601" y="99"/>
                  <a:pt x="29604" y="108"/>
                  <a:pt x="29605" y="117"/>
                </a:cubicBezTo>
                <a:cubicBezTo>
                  <a:pt x="29607" y="127"/>
                  <a:pt x="29608" y="136"/>
                  <a:pt x="29608" y="146"/>
                </a:cubicBezTo>
                <a:lnTo>
                  <a:pt x="29608" y="4142"/>
                </a:lnTo>
                <a:cubicBezTo>
                  <a:pt x="29608" y="4152"/>
                  <a:pt x="29607" y="4161"/>
                  <a:pt x="29605" y="4170"/>
                </a:cubicBezTo>
                <a:cubicBezTo>
                  <a:pt x="29604" y="4180"/>
                  <a:pt x="29601" y="4189"/>
                  <a:pt x="29597" y="4198"/>
                </a:cubicBezTo>
                <a:cubicBezTo>
                  <a:pt x="29594" y="4207"/>
                  <a:pt x="29589" y="4215"/>
                  <a:pt x="29584" y="4223"/>
                </a:cubicBezTo>
                <a:cubicBezTo>
                  <a:pt x="29578" y="4231"/>
                  <a:pt x="29572" y="4238"/>
                  <a:pt x="29566" y="4245"/>
                </a:cubicBezTo>
                <a:cubicBezTo>
                  <a:pt x="29559" y="4252"/>
                  <a:pt x="29552" y="4258"/>
                  <a:pt x="29544" y="4263"/>
                </a:cubicBezTo>
                <a:cubicBezTo>
                  <a:pt x="29536" y="4268"/>
                  <a:pt x="29527" y="4273"/>
                  <a:pt x="29518" y="4277"/>
                </a:cubicBezTo>
                <a:cubicBezTo>
                  <a:pt x="29510" y="4280"/>
                  <a:pt x="29501" y="4283"/>
                  <a:pt x="29491" y="4285"/>
                </a:cubicBezTo>
                <a:cubicBezTo>
                  <a:pt x="29482" y="4287"/>
                  <a:pt x="29472" y="4288"/>
                  <a:pt x="29463" y="4288"/>
                </a:cubicBezTo>
                <a:lnTo>
                  <a:pt x="146" y="4288"/>
                </a:lnTo>
                <a:cubicBezTo>
                  <a:pt x="136" y="4288"/>
                  <a:pt x="127" y="4287"/>
                  <a:pt x="118" y="4285"/>
                </a:cubicBezTo>
                <a:cubicBezTo>
                  <a:pt x="108" y="4283"/>
                  <a:pt x="99" y="4280"/>
                  <a:pt x="90" y="4277"/>
                </a:cubicBezTo>
                <a:cubicBezTo>
                  <a:pt x="81" y="4273"/>
                  <a:pt x="73" y="4268"/>
                  <a:pt x="65" y="4263"/>
                </a:cubicBezTo>
                <a:cubicBezTo>
                  <a:pt x="57" y="4258"/>
                  <a:pt x="50" y="4252"/>
                  <a:pt x="43" y="4245"/>
                </a:cubicBezTo>
                <a:cubicBezTo>
                  <a:pt x="36" y="4238"/>
                  <a:pt x="30" y="4231"/>
                  <a:pt x="25" y="4223"/>
                </a:cubicBezTo>
                <a:cubicBezTo>
                  <a:pt x="20" y="4215"/>
                  <a:pt x="15" y="4207"/>
                  <a:pt x="11" y="4198"/>
                </a:cubicBezTo>
                <a:cubicBezTo>
                  <a:pt x="8" y="4189"/>
                  <a:pt x="5" y="4180"/>
                  <a:pt x="3" y="4170"/>
                </a:cubicBezTo>
                <a:cubicBezTo>
                  <a:pt x="1" y="4161"/>
                  <a:pt x="0" y="4152"/>
                  <a:pt x="0" y="4142"/>
                </a:cubicBezTo>
                <a:close/>
              </a:path>
            </a:pathLst>
          </a:custGeom>
          <a:solidFill>
            <a:srgbClr val="fcf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2" name=""/>
          <p:cNvSpPr/>
          <p:nvPr/>
        </p:nvSpPr>
        <p:spPr>
          <a:xfrm>
            <a:off x="766440" y="2719080"/>
            <a:ext cx="10658880" cy="1543680"/>
          </a:xfrm>
          <a:custGeom>
            <a:avLst/>
            <a:gdLst/>
            <a:ahLst/>
            <a:rect l="0" t="0" r="r" b="b"/>
            <a:pathLst>
              <a:path fill="none" w="29608" h="4288">
                <a:moveTo>
                  <a:pt x="0" y="4142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5"/>
                  <a:pt x="29510" y="8"/>
                  <a:pt x="29518" y="11"/>
                </a:cubicBezTo>
                <a:cubicBezTo>
                  <a:pt x="29527" y="15"/>
                  <a:pt x="29536" y="20"/>
                  <a:pt x="29544" y="25"/>
                </a:cubicBezTo>
                <a:cubicBezTo>
                  <a:pt x="29552" y="30"/>
                  <a:pt x="29559" y="36"/>
                  <a:pt x="29566" y="43"/>
                </a:cubicBezTo>
                <a:cubicBezTo>
                  <a:pt x="29572" y="50"/>
                  <a:pt x="29578" y="57"/>
                  <a:pt x="29584" y="65"/>
                </a:cubicBezTo>
                <a:cubicBezTo>
                  <a:pt x="29589" y="73"/>
                  <a:pt x="29594" y="81"/>
                  <a:pt x="29597" y="90"/>
                </a:cubicBezTo>
                <a:cubicBezTo>
                  <a:pt x="29601" y="99"/>
                  <a:pt x="29604" y="108"/>
                  <a:pt x="29605" y="117"/>
                </a:cubicBezTo>
                <a:cubicBezTo>
                  <a:pt x="29607" y="127"/>
                  <a:pt x="29608" y="136"/>
                  <a:pt x="29608" y="146"/>
                </a:cubicBezTo>
                <a:lnTo>
                  <a:pt x="29608" y="4142"/>
                </a:lnTo>
                <a:cubicBezTo>
                  <a:pt x="29608" y="4152"/>
                  <a:pt x="29607" y="4161"/>
                  <a:pt x="29605" y="4170"/>
                </a:cubicBezTo>
                <a:cubicBezTo>
                  <a:pt x="29604" y="4180"/>
                  <a:pt x="29601" y="4189"/>
                  <a:pt x="29597" y="4198"/>
                </a:cubicBezTo>
                <a:cubicBezTo>
                  <a:pt x="29594" y="4207"/>
                  <a:pt x="29589" y="4215"/>
                  <a:pt x="29584" y="4223"/>
                </a:cubicBezTo>
                <a:cubicBezTo>
                  <a:pt x="29578" y="4231"/>
                  <a:pt x="29572" y="4238"/>
                  <a:pt x="29566" y="4245"/>
                </a:cubicBezTo>
                <a:cubicBezTo>
                  <a:pt x="29559" y="4252"/>
                  <a:pt x="29552" y="4258"/>
                  <a:pt x="29544" y="4263"/>
                </a:cubicBezTo>
                <a:cubicBezTo>
                  <a:pt x="29536" y="4268"/>
                  <a:pt x="29527" y="4273"/>
                  <a:pt x="29518" y="4277"/>
                </a:cubicBezTo>
                <a:cubicBezTo>
                  <a:pt x="29510" y="4280"/>
                  <a:pt x="29501" y="4283"/>
                  <a:pt x="29491" y="4285"/>
                </a:cubicBezTo>
                <a:cubicBezTo>
                  <a:pt x="29482" y="4287"/>
                  <a:pt x="29472" y="4288"/>
                  <a:pt x="29463" y="4288"/>
                </a:cubicBezTo>
                <a:lnTo>
                  <a:pt x="146" y="4288"/>
                </a:lnTo>
                <a:cubicBezTo>
                  <a:pt x="136" y="4288"/>
                  <a:pt x="127" y="4287"/>
                  <a:pt x="118" y="4285"/>
                </a:cubicBezTo>
                <a:cubicBezTo>
                  <a:pt x="108" y="4283"/>
                  <a:pt x="99" y="4280"/>
                  <a:pt x="90" y="4277"/>
                </a:cubicBezTo>
                <a:cubicBezTo>
                  <a:pt x="81" y="4273"/>
                  <a:pt x="73" y="4268"/>
                  <a:pt x="65" y="4263"/>
                </a:cubicBezTo>
                <a:cubicBezTo>
                  <a:pt x="57" y="4258"/>
                  <a:pt x="50" y="4252"/>
                  <a:pt x="43" y="4245"/>
                </a:cubicBezTo>
                <a:cubicBezTo>
                  <a:pt x="36" y="4238"/>
                  <a:pt x="30" y="4231"/>
                  <a:pt x="25" y="4223"/>
                </a:cubicBezTo>
                <a:cubicBezTo>
                  <a:pt x="20" y="4215"/>
                  <a:pt x="15" y="4207"/>
                  <a:pt x="11" y="4198"/>
                </a:cubicBezTo>
                <a:cubicBezTo>
                  <a:pt x="8" y="4189"/>
                  <a:pt x="5" y="4180"/>
                  <a:pt x="3" y="4170"/>
                </a:cubicBezTo>
                <a:cubicBezTo>
                  <a:pt x="1" y="4161"/>
                  <a:pt x="0" y="4152"/>
                  <a:pt x="0" y="4142"/>
                </a:cubicBezTo>
              </a:path>
            </a:pathLst>
          </a:custGeom>
          <a:ln w="9360">
            <a:solidFill>
              <a:srgbClr val="f7e9b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3" name=""/>
          <p:cNvSpPr txBox="1"/>
          <p:nvPr/>
        </p:nvSpPr>
        <p:spPr>
          <a:xfrm>
            <a:off x="762120" y="372600"/>
            <a:ext cx="484200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From IPS to SPS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923760" y="3328200"/>
            <a:ext cx="102312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"Research indicates that most brainstorming groups did not generate more ideas than control groups... The quality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5" name=""/>
          <p:cNvSpPr txBox="1"/>
          <p:nvPr/>
        </p:nvSpPr>
        <p:spPr>
          <a:xfrm>
            <a:off x="923760" y="3604680"/>
            <a:ext cx="98946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of the ideas themselves and their level of originality were inferior to the ideas generated by individuals working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6" name=""/>
          <p:cNvSpPr/>
          <p:nvPr/>
        </p:nvSpPr>
        <p:spPr>
          <a:xfrm>
            <a:off x="942840" y="2933640"/>
            <a:ext cx="190800" cy="190800"/>
          </a:xfrm>
          <a:custGeom>
            <a:avLst/>
            <a:gdLst/>
            <a:ahLst/>
            <a:rect l="0" t="0" r="r" b="b"/>
            <a:pathLst>
              <a:path fill="none" w="530" h="530">
                <a:moveTo>
                  <a:pt x="530" y="265"/>
                </a:moveTo>
                <a:cubicBezTo>
                  <a:pt x="530" y="283"/>
                  <a:pt x="528" y="300"/>
                  <a:pt x="525" y="317"/>
                </a:cubicBezTo>
                <a:cubicBezTo>
                  <a:pt x="522" y="334"/>
                  <a:pt x="517" y="350"/>
                  <a:pt x="510" y="367"/>
                </a:cubicBezTo>
                <a:cubicBezTo>
                  <a:pt x="503" y="383"/>
                  <a:pt x="495" y="398"/>
                  <a:pt x="485" y="412"/>
                </a:cubicBezTo>
                <a:cubicBezTo>
                  <a:pt x="476" y="427"/>
                  <a:pt x="465" y="440"/>
                  <a:pt x="453" y="452"/>
                </a:cubicBezTo>
                <a:cubicBezTo>
                  <a:pt x="440" y="465"/>
                  <a:pt x="427" y="476"/>
                  <a:pt x="412" y="485"/>
                </a:cubicBezTo>
                <a:cubicBezTo>
                  <a:pt x="398" y="495"/>
                  <a:pt x="383" y="503"/>
                  <a:pt x="367" y="510"/>
                </a:cubicBezTo>
                <a:cubicBezTo>
                  <a:pt x="351" y="516"/>
                  <a:pt x="334" y="521"/>
                  <a:pt x="317" y="525"/>
                </a:cubicBezTo>
                <a:cubicBezTo>
                  <a:pt x="300" y="528"/>
                  <a:pt x="282" y="530"/>
                  <a:pt x="264" y="530"/>
                </a:cubicBezTo>
                <a:cubicBezTo>
                  <a:pt x="247" y="530"/>
                  <a:pt x="230" y="528"/>
                  <a:pt x="213" y="525"/>
                </a:cubicBezTo>
                <a:cubicBezTo>
                  <a:pt x="196" y="521"/>
                  <a:pt x="179" y="516"/>
                  <a:pt x="163" y="510"/>
                </a:cubicBezTo>
                <a:cubicBezTo>
                  <a:pt x="147" y="503"/>
                  <a:pt x="132" y="495"/>
                  <a:pt x="117" y="485"/>
                </a:cubicBezTo>
                <a:cubicBezTo>
                  <a:pt x="103" y="476"/>
                  <a:pt x="90" y="465"/>
                  <a:pt x="77" y="452"/>
                </a:cubicBezTo>
                <a:cubicBezTo>
                  <a:pt x="65" y="440"/>
                  <a:pt x="54" y="427"/>
                  <a:pt x="44" y="412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3" y="350"/>
                  <a:pt x="8" y="334"/>
                  <a:pt x="5" y="317"/>
                </a:cubicBezTo>
                <a:cubicBezTo>
                  <a:pt x="2" y="300"/>
                  <a:pt x="0" y="283"/>
                  <a:pt x="0" y="265"/>
                </a:cubicBezTo>
                <a:cubicBezTo>
                  <a:pt x="0" y="248"/>
                  <a:pt x="2" y="231"/>
                  <a:pt x="5" y="214"/>
                </a:cubicBezTo>
                <a:cubicBezTo>
                  <a:pt x="8" y="197"/>
                  <a:pt x="13" y="180"/>
                  <a:pt x="20" y="164"/>
                </a:cubicBezTo>
                <a:cubicBezTo>
                  <a:pt x="27" y="148"/>
                  <a:pt x="35" y="133"/>
                  <a:pt x="44" y="118"/>
                </a:cubicBezTo>
                <a:cubicBezTo>
                  <a:pt x="54" y="104"/>
                  <a:pt x="65" y="90"/>
                  <a:pt x="77" y="78"/>
                </a:cubicBezTo>
                <a:cubicBezTo>
                  <a:pt x="90" y="66"/>
                  <a:pt x="103" y="55"/>
                  <a:pt x="117" y="44"/>
                </a:cubicBezTo>
                <a:cubicBezTo>
                  <a:pt x="132" y="35"/>
                  <a:pt x="147" y="26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1"/>
                  <a:pt x="247" y="0"/>
                  <a:pt x="264" y="0"/>
                </a:cubicBezTo>
                <a:cubicBezTo>
                  <a:pt x="282" y="0"/>
                  <a:pt x="300" y="1"/>
                  <a:pt x="317" y="5"/>
                </a:cubicBezTo>
                <a:cubicBezTo>
                  <a:pt x="334" y="8"/>
                  <a:pt x="351" y="13"/>
                  <a:pt x="367" y="20"/>
                </a:cubicBezTo>
                <a:cubicBezTo>
                  <a:pt x="383" y="26"/>
                  <a:pt x="398" y="35"/>
                  <a:pt x="412" y="44"/>
                </a:cubicBezTo>
                <a:cubicBezTo>
                  <a:pt x="427" y="55"/>
                  <a:pt x="440" y="66"/>
                  <a:pt x="453" y="78"/>
                </a:cubicBezTo>
                <a:cubicBezTo>
                  <a:pt x="465" y="90"/>
                  <a:pt x="476" y="104"/>
                  <a:pt x="485" y="118"/>
                </a:cubicBezTo>
                <a:cubicBezTo>
                  <a:pt x="495" y="133"/>
                  <a:pt x="503" y="148"/>
                  <a:pt x="510" y="164"/>
                </a:cubicBezTo>
                <a:cubicBezTo>
                  <a:pt x="517" y="180"/>
                  <a:pt x="522" y="197"/>
                  <a:pt x="525" y="214"/>
                </a:cubicBezTo>
                <a:cubicBezTo>
                  <a:pt x="528" y="231"/>
                  <a:pt x="530" y="248"/>
                  <a:pt x="530" y="265"/>
                </a:cubicBezTo>
              </a:path>
            </a:pathLst>
          </a:custGeom>
          <a:ln cap="rnd" w="18720">
            <a:solidFill>
              <a:srgbClr val="e5b92a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7" name=""/>
          <p:cNvSpPr/>
          <p:nvPr/>
        </p:nvSpPr>
        <p:spPr>
          <a:xfrm>
            <a:off x="1010160" y="2981160"/>
            <a:ext cx="56160" cy="96120"/>
          </a:xfrm>
          <a:custGeom>
            <a:avLst/>
            <a:gdLst/>
            <a:ahLst/>
            <a:rect l="0" t="0" r="r" b="b"/>
            <a:pathLst>
              <a:path fill="none" w="156" h="267">
                <a:moveTo>
                  <a:pt x="0" y="55"/>
                </a:moveTo>
                <a:cubicBezTo>
                  <a:pt x="4" y="46"/>
                  <a:pt x="8" y="38"/>
                  <a:pt x="14" y="30"/>
                </a:cubicBezTo>
                <a:cubicBezTo>
                  <a:pt x="20" y="23"/>
                  <a:pt x="27" y="17"/>
                  <a:pt x="35" y="12"/>
                </a:cubicBezTo>
                <a:cubicBezTo>
                  <a:pt x="44" y="7"/>
                  <a:pt x="53" y="4"/>
                  <a:pt x="62" y="2"/>
                </a:cubicBezTo>
                <a:cubicBezTo>
                  <a:pt x="71" y="0"/>
                  <a:pt x="81" y="0"/>
                  <a:pt x="90" y="2"/>
                </a:cubicBezTo>
                <a:cubicBezTo>
                  <a:pt x="99" y="4"/>
                  <a:pt x="108" y="7"/>
                  <a:pt x="116" y="11"/>
                </a:cubicBezTo>
                <a:cubicBezTo>
                  <a:pt x="124" y="16"/>
                  <a:pt x="131" y="22"/>
                  <a:pt x="137" y="29"/>
                </a:cubicBezTo>
                <a:cubicBezTo>
                  <a:pt x="143" y="37"/>
                  <a:pt x="148" y="45"/>
                  <a:pt x="151" y="54"/>
                </a:cubicBezTo>
                <a:cubicBezTo>
                  <a:pt x="154" y="63"/>
                  <a:pt x="156" y="72"/>
                  <a:pt x="156" y="81"/>
                </a:cubicBezTo>
                <a:cubicBezTo>
                  <a:pt x="156" y="134"/>
                  <a:pt x="76" y="161"/>
                  <a:pt x="76" y="161"/>
                </a:cubicBezTo>
                <a:moveTo>
                  <a:pt x="78" y="267"/>
                </a:moveTo>
                <a:lnTo>
                  <a:pt x="79" y="267"/>
                </a:lnTo>
              </a:path>
            </a:pathLst>
          </a:custGeom>
          <a:ln cap="rnd" w="18720">
            <a:solidFill>
              <a:srgbClr val="e5b92a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8" name=""/>
          <p:cNvSpPr txBox="1"/>
          <p:nvPr/>
        </p:nvSpPr>
        <p:spPr>
          <a:xfrm>
            <a:off x="923760" y="3880800"/>
            <a:ext cx="47278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without any group eﬀect." — Goldenberg &amp; Mazursky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9" name=""/>
          <p:cNvSpPr txBox="1"/>
          <p:nvPr/>
        </p:nvSpPr>
        <p:spPr>
          <a:xfrm>
            <a:off x="1203120" y="2922120"/>
            <a:ext cx="415656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e5b92a"/>
                </a:solidFill>
                <a:effectLst/>
                <a:uFillTx/>
                <a:latin typeface="LucidaGrande"/>
                <a:ea typeface="LucidaGrande"/>
              </a:rPr>
              <a:t>Does Brainstorming Actually Work?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0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1" name=""/>
          <p:cNvSpPr txBox="1"/>
          <p:nvPr/>
        </p:nvSpPr>
        <p:spPr>
          <a:xfrm>
            <a:off x="1238400" y="6569280"/>
            <a:ext cx="31820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0020e35 | © 08.10.2026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14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86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7" name=""/>
          <p:cNvSpPr txBox="1"/>
          <p:nvPr/>
        </p:nvSpPr>
        <p:spPr>
          <a:xfrm>
            <a:off x="762120" y="2708640"/>
            <a:ext cx="95324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Developed by Altshuller from a study of over a million patents, TRIZ is based on three principles: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8" name=""/>
          <p:cNvSpPr txBox="1"/>
          <p:nvPr/>
        </p:nvSpPr>
        <p:spPr>
          <a:xfrm>
            <a:off x="911160" y="3165840"/>
            <a:ext cx="48974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Resolving technical and physical contradictions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9" name=""/>
          <p:cNvSpPr txBox="1"/>
          <p:nvPr/>
        </p:nvSpPr>
        <p:spPr>
          <a:xfrm>
            <a:off x="911160" y="3527640"/>
            <a:ext cx="27205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The evolution of systems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911160" y="3880080"/>
            <a:ext cx="49798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3.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Reference to the ideal system and ideal solution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762120" y="4337280"/>
            <a:ext cx="100000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These generate </a:t>
            </a:r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40 "</a:t>
            </a:r>
            <a:r>
              <a:rPr b="1" lang="en-US" sz="1600" strike="noStrike" u="none">
                <a:solidFill>
                  <a:srgbClr val="0969da"/>
                </a:solidFill>
                <a:effectLst/>
                <a:uFillTx/>
                <a:latin typeface="LucidaGrande"/>
                <a:ea typeface="LucidaGrande"/>
              </a:rPr>
              <a:t>Techniques for Overcoming System Conﬂicts</a:t>
            </a:r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"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(e.g. Segmentation, Asymmetry,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2" name=""/>
          <p:cNvSpPr txBox="1"/>
          <p:nvPr/>
        </p:nvSpPr>
        <p:spPr>
          <a:xfrm>
            <a:off x="762120" y="4642200"/>
            <a:ext cx="80802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Universality, Nesting). Used at Motorola, Xerox, Kodak, Ford, GE, and Rolls-Royce.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3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661057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762120" y="-8280"/>
            <a:ext cx="857808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TRIZ — Theory of Inventive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5" name=""/>
          <p:cNvSpPr txBox="1"/>
          <p:nvPr/>
        </p:nvSpPr>
        <p:spPr>
          <a:xfrm>
            <a:off x="762120" y="753480"/>
            <a:ext cx="509076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Problem Solving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6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1238400" y="6569280"/>
            <a:ext cx="31820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0020e35 | © 08.10.2026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8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15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602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3" name=""/>
          <p:cNvSpPr/>
          <p:nvPr/>
        </p:nvSpPr>
        <p:spPr>
          <a:xfrm>
            <a:off x="771480" y="2895480"/>
            <a:ext cx="2276640" cy="428760"/>
          </a:xfrm>
          <a:custGeom>
            <a:avLst/>
            <a:gdLst/>
            <a:ahLst/>
            <a:rect l="0" t="0" r="r" b="b"/>
            <a:pathLst>
              <a:path w="6324" h="1191">
                <a:moveTo>
                  <a:pt x="0" y="0"/>
                </a:moveTo>
                <a:lnTo>
                  <a:pt x="6324" y="0"/>
                </a:lnTo>
                <a:lnTo>
                  <a:pt x="6324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4" name=""/>
          <p:cNvSpPr/>
          <p:nvPr/>
        </p:nvSpPr>
        <p:spPr>
          <a:xfrm>
            <a:off x="3047760" y="2895480"/>
            <a:ext cx="5067720" cy="428760"/>
          </a:xfrm>
          <a:custGeom>
            <a:avLst/>
            <a:gdLst/>
            <a:ahLst/>
            <a:rect l="0" t="0" r="r" b="b"/>
            <a:pathLst>
              <a:path w="14077" h="1191">
                <a:moveTo>
                  <a:pt x="0" y="0"/>
                </a:moveTo>
                <a:lnTo>
                  <a:pt x="14077" y="0"/>
                </a:lnTo>
                <a:lnTo>
                  <a:pt x="14077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5" name=""/>
          <p:cNvSpPr/>
          <p:nvPr/>
        </p:nvSpPr>
        <p:spPr>
          <a:xfrm>
            <a:off x="771480" y="3323880"/>
            <a:ext cx="2276640" cy="429120"/>
          </a:xfrm>
          <a:custGeom>
            <a:avLst/>
            <a:gdLst/>
            <a:ahLst/>
            <a:rect l="0" t="0" r="r" b="b"/>
            <a:pathLst>
              <a:path w="6324" h="1192">
                <a:moveTo>
                  <a:pt x="0" y="0"/>
                </a:moveTo>
                <a:lnTo>
                  <a:pt x="6324" y="0"/>
                </a:lnTo>
                <a:lnTo>
                  <a:pt x="6324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6" name=""/>
          <p:cNvSpPr/>
          <p:nvPr/>
        </p:nvSpPr>
        <p:spPr>
          <a:xfrm>
            <a:off x="3047760" y="3323880"/>
            <a:ext cx="5067720" cy="429120"/>
          </a:xfrm>
          <a:custGeom>
            <a:avLst/>
            <a:gdLst/>
            <a:ahLst/>
            <a:rect l="0" t="0" r="r" b="b"/>
            <a:pathLst>
              <a:path w="14077" h="1192">
                <a:moveTo>
                  <a:pt x="0" y="0"/>
                </a:moveTo>
                <a:lnTo>
                  <a:pt x="14077" y="0"/>
                </a:lnTo>
                <a:lnTo>
                  <a:pt x="1407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7" name=""/>
          <p:cNvSpPr/>
          <p:nvPr/>
        </p:nvSpPr>
        <p:spPr>
          <a:xfrm>
            <a:off x="771480" y="3752640"/>
            <a:ext cx="2276640" cy="419400"/>
          </a:xfrm>
          <a:custGeom>
            <a:avLst/>
            <a:gdLst/>
            <a:ahLst/>
            <a:rect l="0" t="0" r="r" b="b"/>
            <a:pathLst>
              <a:path w="6324" h="1165">
                <a:moveTo>
                  <a:pt x="0" y="0"/>
                </a:moveTo>
                <a:lnTo>
                  <a:pt x="6324" y="0"/>
                </a:lnTo>
                <a:lnTo>
                  <a:pt x="6324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8" name=""/>
          <p:cNvSpPr/>
          <p:nvPr/>
        </p:nvSpPr>
        <p:spPr>
          <a:xfrm>
            <a:off x="3047760" y="3752640"/>
            <a:ext cx="5067720" cy="419400"/>
          </a:xfrm>
          <a:custGeom>
            <a:avLst/>
            <a:gdLst/>
            <a:ahLst/>
            <a:rect l="0" t="0" r="r" b="b"/>
            <a:pathLst>
              <a:path w="14077" h="1165">
                <a:moveTo>
                  <a:pt x="0" y="0"/>
                </a:moveTo>
                <a:lnTo>
                  <a:pt x="14077" y="0"/>
                </a:lnTo>
                <a:lnTo>
                  <a:pt x="14077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9" name=""/>
          <p:cNvSpPr/>
          <p:nvPr/>
        </p:nvSpPr>
        <p:spPr>
          <a:xfrm>
            <a:off x="771480" y="4171680"/>
            <a:ext cx="2276640" cy="429120"/>
          </a:xfrm>
          <a:custGeom>
            <a:avLst/>
            <a:gdLst/>
            <a:ahLst/>
            <a:rect l="0" t="0" r="r" b="b"/>
            <a:pathLst>
              <a:path w="6324" h="1192">
                <a:moveTo>
                  <a:pt x="0" y="0"/>
                </a:moveTo>
                <a:lnTo>
                  <a:pt x="6324" y="0"/>
                </a:lnTo>
                <a:lnTo>
                  <a:pt x="6324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0" name=""/>
          <p:cNvSpPr/>
          <p:nvPr/>
        </p:nvSpPr>
        <p:spPr>
          <a:xfrm>
            <a:off x="3047760" y="4171680"/>
            <a:ext cx="5067720" cy="429120"/>
          </a:xfrm>
          <a:custGeom>
            <a:avLst/>
            <a:gdLst/>
            <a:ahLst/>
            <a:rect l="0" t="0" r="r" b="b"/>
            <a:pathLst>
              <a:path w="14077" h="1192">
                <a:moveTo>
                  <a:pt x="0" y="0"/>
                </a:moveTo>
                <a:lnTo>
                  <a:pt x="14077" y="0"/>
                </a:lnTo>
                <a:lnTo>
                  <a:pt x="1407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1" name=""/>
          <p:cNvSpPr/>
          <p:nvPr/>
        </p:nvSpPr>
        <p:spPr>
          <a:xfrm>
            <a:off x="771480" y="4600440"/>
            <a:ext cx="2276640" cy="428760"/>
          </a:xfrm>
          <a:custGeom>
            <a:avLst/>
            <a:gdLst/>
            <a:ahLst/>
            <a:rect l="0" t="0" r="r" b="b"/>
            <a:pathLst>
              <a:path w="6324" h="1191">
                <a:moveTo>
                  <a:pt x="0" y="0"/>
                </a:moveTo>
                <a:lnTo>
                  <a:pt x="6324" y="0"/>
                </a:lnTo>
                <a:lnTo>
                  <a:pt x="6324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2" name=""/>
          <p:cNvSpPr/>
          <p:nvPr/>
        </p:nvSpPr>
        <p:spPr>
          <a:xfrm>
            <a:off x="3047760" y="4600440"/>
            <a:ext cx="5067720" cy="428760"/>
          </a:xfrm>
          <a:custGeom>
            <a:avLst/>
            <a:gdLst/>
            <a:ahLst/>
            <a:rect l="0" t="0" r="r" b="b"/>
            <a:pathLst>
              <a:path w="14077" h="1191">
                <a:moveTo>
                  <a:pt x="0" y="0"/>
                </a:moveTo>
                <a:lnTo>
                  <a:pt x="14077" y="0"/>
                </a:lnTo>
                <a:lnTo>
                  <a:pt x="14077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3" name=""/>
          <p:cNvSpPr/>
          <p:nvPr/>
        </p:nvSpPr>
        <p:spPr>
          <a:xfrm>
            <a:off x="771480" y="5028840"/>
            <a:ext cx="2276640" cy="429120"/>
          </a:xfrm>
          <a:custGeom>
            <a:avLst/>
            <a:gdLst/>
            <a:ahLst/>
            <a:rect l="0" t="0" r="r" b="b"/>
            <a:pathLst>
              <a:path w="6324" h="1192">
                <a:moveTo>
                  <a:pt x="0" y="0"/>
                </a:moveTo>
                <a:lnTo>
                  <a:pt x="6324" y="0"/>
                </a:lnTo>
                <a:lnTo>
                  <a:pt x="6324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4" name=""/>
          <p:cNvSpPr/>
          <p:nvPr/>
        </p:nvSpPr>
        <p:spPr>
          <a:xfrm>
            <a:off x="3047760" y="5028840"/>
            <a:ext cx="5067720" cy="429120"/>
          </a:xfrm>
          <a:custGeom>
            <a:avLst/>
            <a:gdLst/>
            <a:ahLst/>
            <a:rect l="0" t="0" r="r" b="b"/>
            <a:pathLst>
              <a:path w="14077" h="1192">
                <a:moveTo>
                  <a:pt x="0" y="0"/>
                </a:moveTo>
                <a:lnTo>
                  <a:pt x="14077" y="0"/>
                </a:lnTo>
                <a:lnTo>
                  <a:pt x="1407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5" name=""/>
          <p:cNvSpPr/>
          <p:nvPr/>
        </p:nvSpPr>
        <p:spPr>
          <a:xfrm>
            <a:off x="761760" y="288576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6" name=""/>
          <p:cNvSpPr/>
          <p:nvPr/>
        </p:nvSpPr>
        <p:spPr>
          <a:xfrm>
            <a:off x="761760" y="2885760"/>
            <a:ext cx="2296080" cy="10080"/>
          </a:xfrm>
          <a:custGeom>
            <a:avLst/>
            <a:gdLst/>
            <a:ahLst/>
            <a:rect l="0" t="0" r="r" b="b"/>
            <a:pathLst>
              <a:path w="6378" h="28">
                <a:moveTo>
                  <a:pt x="0" y="0"/>
                </a:moveTo>
                <a:lnTo>
                  <a:pt x="6378" y="0"/>
                </a:lnTo>
                <a:lnTo>
                  <a:pt x="637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7" name=""/>
          <p:cNvSpPr/>
          <p:nvPr/>
        </p:nvSpPr>
        <p:spPr>
          <a:xfrm>
            <a:off x="3047760" y="288576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8" name=""/>
          <p:cNvSpPr/>
          <p:nvPr/>
        </p:nvSpPr>
        <p:spPr>
          <a:xfrm>
            <a:off x="3057480" y="2885760"/>
            <a:ext cx="5058000" cy="10080"/>
          </a:xfrm>
          <a:custGeom>
            <a:avLst/>
            <a:gdLst/>
            <a:ahLst/>
            <a:rect l="0" t="0" r="r" b="b"/>
            <a:pathLst>
              <a:path w="14050" h="28">
                <a:moveTo>
                  <a:pt x="0" y="0"/>
                </a:moveTo>
                <a:lnTo>
                  <a:pt x="14050" y="0"/>
                </a:lnTo>
                <a:lnTo>
                  <a:pt x="140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9" name=""/>
          <p:cNvSpPr/>
          <p:nvPr/>
        </p:nvSpPr>
        <p:spPr>
          <a:xfrm>
            <a:off x="8105760" y="28857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0" name=""/>
          <p:cNvSpPr/>
          <p:nvPr/>
        </p:nvSpPr>
        <p:spPr>
          <a:xfrm>
            <a:off x="761760" y="3314520"/>
            <a:ext cx="2296080" cy="9720"/>
          </a:xfrm>
          <a:custGeom>
            <a:avLst/>
            <a:gdLst/>
            <a:ahLst/>
            <a:rect l="0" t="0" r="r" b="b"/>
            <a:pathLst>
              <a:path w="6378" h="27">
                <a:moveTo>
                  <a:pt x="0" y="0"/>
                </a:moveTo>
                <a:lnTo>
                  <a:pt x="6378" y="0"/>
                </a:lnTo>
                <a:lnTo>
                  <a:pt x="637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1" name=""/>
          <p:cNvSpPr/>
          <p:nvPr/>
        </p:nvSpPr>
        <p:spPr>
          <a:xfrm>
            <a:off x="3057480" y="3314520"/>
            <a:ext cx="5058000" cy="9720"/>
          </a:xfrm>
          <a:custGeom>
            <a:avLst/>
            <a:gdLst/>
            <a:ahLst/>
            <a:rect l="0" t="0" r="r" b="b"/>
            <a:pathLst>
              <a:path w="14050" h="27">
                <a:moveTo>
                  <a:pt x="0" y="0"/>
                </a:moveTo>
                <a:lnTo>
                  <a:pt x="14050" y="0"/>
                </a:lnTo>
                <a:lnTo>
                  <a:pt x="140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2" name=""/>
          <p:cNvSpPr/>
          <p:nvPr/>
        </p:nvSpPr>
        <p:spPr>
          <a:xfrm>
            <a:off x="761760" y="332388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28" y="0"/>
                </a:lnTo>
                <a:lnTo>
                  <a:pt x="2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3" name=""/>
          <p:cNvSpPr/>
          <p:nvPr/>
        </p:nvSpPr>
        <p:spPr>
          <a:xfrm>
            <a:off x="3047760" y="332388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28" y="0"/>
                </a:lnTo>
                <a:lnTo>
                  <a:pt x="2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4" name=""/>
          <p:cNvSpPr/>
          <p:nvPr/>
        </p:nvSpPr>
        <p:spPr>
          <a:xfrm>
            <a:off x="8105760" y="332388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0"/>
                </a:moveTo>
                <a:lnTo>
                  <a:pt x="27" y="0"/>
                </a:lnTo>
                <a:lnTo>
                  <a:pt x="2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5" name=""/>
          <p:cNvSpPr/>
          <p:nvPr/>
        </p:nvSpPr>
        <p:spPr>
          <a:xfrm>
            <a:off x="761760" y="375264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28" y="0"/>
                </a:lnTo>
                <a:lnTo>
                  <a:pt x="2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6" name=""/>
          <p:cNvSpPr/>
          <p:nvPr/>
        </p:nvSpPr>
        <p:spPr>
          <a:xfrm>
            <a:off x="761760" y="3743280"/>
            <a:ext cx="2296080" cy="9720"/>
          </a:xfrm>
          <a:custGeom>
            <a:avLst/>
            <a:gdLst/>
            <a:ahLst/>
            <a:rect l="0" t="0" r="r" b="b"/>
            <a:pathLst>
              <a:path w="6378" h="27">
                <a:moveTo>
                  <a:pt x="0" y="0"/>
                </a:moveTo>
                <a:lnTo>
                  <a:pt x="6378" y="0"/>
                </a:lnTo>
                <a:lnTo>
                  <a:pt x="637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7" name=""/>
          <p:cNvSpPr/>
          <p:nvPr/>
        </p:nvSpPr>
        <p:spPr>
          <a:xfrm>
            <a:off x="3047760" y="375264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28" y="0"/>
                </a:lnTo>
                <a:lnTo>
                  <a:pt x="2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8" name=""/>
          <p:cNvSpPr/>
          <p:nvPr/>
        </p:nvSpPr>
        <p:spPr>
          <a:xfrm>
            <a:off x="3057480" y="3743280"/>
            <a:ext cx="5058000" cy="9720"/>
          </a:xfrm>
          <a:custGeom>
            <a:avLst/>
            <a:gdLst/>
            <a:ahLst/>
            <a:rect l="0" t="0" r="r" b="b"/>
            <a:pathLst>
              <a:path w="14050" h="27">
                <a:moveTo>
                  <a:pt x="0" y="0"/>
                </a:moveTo>
                <a:lnTo>
                  <a:pt x="14050" y="0"/>
                </a:lnTo>
                <a:lnTo>
                  <a:pt x="140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9" name=""/>
          <p:cNvSpPr/>
          <p:nvPr/>
        </p:nvSpPr>
        <p:spPr>
          <a:xfrm>
            <a:off x="8105760" y="375264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0"/>
                </a:moveTo>
                <a:lnTo>
                  <a:pt x="27" y="0"/>
                </a:lnTo>
                <a:lnTo>
                  <a:pt x="2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0" name=""/>
          <p:cNvSpPr/>
          <p:nvPr/>
        </p:nvSpPr>
        <p:spPr>
          <a:xfrm>
            <a:off x="761760" y="4181400"/>
            <a:ext cx="10080" cy="428760"/>
          </a:xfrm>
          <a:custGeom>
            <a:avLst/>
            <a:gdLst/>
            <a:ahLst/>
            <a:rect l="0" t="0" r="r" b="b"/>
            <a:pathLst>
              <a:path w="28" h="1191">
                <a:moveTo>
                  <a:pt x="0" y="0"/>
                </a:moveTo>
                <a:lnTo>
                  <a:pt x="28" y="0"/>
                </a:lnTo>
                <a:lnTo>
                  <a:pt x="28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1" name=""/>
          <p:cNvSpPr/>
          <p:nvPr/>
        </p:nvSpPr>
        <p:spPr>
          <a:xfrm>
            <a:off x="761760" y="4171680"/>
            <a:ext cx="2296080" cy="10080"/>
          </a:xfrm>
          <a:custGeom>
            <a:avLst/>
            <a:gdLst/>
            <a:ahLst/>
            <a:rect l="0" t="0" r="r" b="b"/>
            <a:pathLst>
              <a:path w="6378" h="28">
                <a:moveTo>
                  <a:pt x="0" y="0"/>
                </a:moveTo>
                <a:lnTo>
                  <a:pt x="6378" y="0"/>
                </a:lnTo>
                <a:lnTo>
                  <a:pt x="637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2" name=""/>
          <p:cNvSpPr/>
          <p:nvPr/>
        </p:nvSpPr>
        <p:spPr>
          <a:xfrm>
            <a:off x="3047760" y="4181400"/>
            <a:ext cx="10080" cy="428760"/>
          </a:xfrm>
          <a:custGeom>
            <a:avLst/>
            <a:gdLst/>
            <a:ahLst/>
            <a:rect l="0" t="0" r="r" b="b"/>
            <a:pathLst>
              <a:path w="28" h="1191">
                <a:moveTo>
                  <a:pt x="0" y="0"/>
                </a:moveTo>
                <a:lnTo>
                  <a:pt x="28" y="0"/>
                </a:lnTo>
                <a:lnTo>
                  <a:pt x="28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3" name=""/>
          <p:cNvSpPr/>
          <p:nvPr/>
        </p:nvSpPr>
        <p:spPr>
          <a:xfrm>
            <a:off x="3057480" y="4171680"/>
            <a:ext cx="5058000" cy="10080"/>
          </a:xfrm>
          <a:custGeom>
            <a:avLst/>
            <a:gdLst/>
            <a:ahLst/>
            <a:rect l="0" t="0" r="r" b="b"/>
            <a:pathLst>
              <a:path w="14050" h="28">
                <a:moveTo>
                  <a:pt x="0" y="0"/>
                </a:moveTo>
                <a:lnTo>
                  <a:pt x="14050" y="0"/>
                </a:lnTo>
                <a:lnTo>
                  <a:pt x="140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4" name=""/>
          <p:cNvSpPr/>
          <p:nvPr/>
        </p:nvSpPr>
        <p:spPr>
          <a:xfrm>
            <a:off x="8105760" y="4181400"/>
            <a:ext cx="9720" cy="428760"/>
          </a:xfrm>
          <a:custGeom>
            <a:avLst/>
            <a:gdLst/>
            <a:ahLst/>
            <a:rect l="0" t="0" r="r" b="b"/>
            <a:pathLst>
              <a:path w="27" h="1191">
                <a:moveTo>
                  <a:pt x="0" y="0"/>
                </a:moveTo>
                <a:lnTo>
                  <a:pt x="27" y="0"/>
                </a:lnTo>
                <a:lnTo>
                  <a:pt x="27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5" name=""/>
          <p:cNvSpPr/>
          <p:nvPr/>
        </p:nvSpPr>
        <p:spPr>
          <a:xfrm>
            <a:off x="761760" y="460980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28" y="0"/>
                </a:lnTo>
                <a:lnTo>
                  <a:pt x="2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6" name=""/>
          <p:cNvSpPr/>
          <p:nvPr/>
        </p:nvSpPr>
        <p:spPr>
          <a:xfrm>
            <a:off x="761760" y="4600440"/>
            <a:ext cx="2296080" cy="9720"/>
          </a:xfrm>
          <a:custGeom>
            <a:avLst/>
            <a:gdLst/>
            <a:ahLst/>
            <a:rect l="0" t="0" r="r" b="b"/>
            <a:pathLst>
              <a:path w="6378" h="27">
                <a:moveTo>
                  <a:pt x="0" y="0"/>
                </a:moveTo>
                <a:lnTo>
                  <a:pt x="6378" y="0"/>
                </a:lnTo>
                <a:lnTo>
                  <a:pt x="637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7" name=""/>
          <p:cNvSpPr/>
          <p:nvPr/>
        </p:nvSpPr>
        <p:spPr>
          <a:xfrm>
            <a:off x="3047760" y="460980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28" y="0"/>
                </a:lnTo>
                <a:lnTo>
                  <a:pt x="2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8" name=""/>
          <p:cNvSpPr/>
          <p:nvPr/>
        </p:nvSpPr>
        <p:spPr>
          <a:xfrm>
            <a:off x="3057480" y="4600440"/>
            <a:ext cx="5058000" cy="9720"/>
          </a:xfrm>
          <a:custGeom>
            <a:avLst/>
            <a:gdLst/>
            <a:ahLst/>
            <a:rect l="0" t="0" r="r" b="b"/>
            <a:pathLst>
              <a:path w="14050" h="27">
                <a:moveTo>
                  <a:pt x="0" y="0"/>
                </a:moveTo>
                <a:lnTo>
                  <a:pt x="14050" y="0"/>
                </a:lnTo>
                <a:lnTo>
                  <a:pt x="140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9" name=""/>
          <p:cNvSpPr/>
          <p:nvPr/>
        </p:nvSpPr>
        <p:spPr>
          <a:xfrm>
            <a:off x="8105760" y="460980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0"/>
                </a:moveTo>
                <a:lnTo>
                  <a:pt x="27" y="0"/>
                </a:lnTo>
                <a:lnTo>
                  <a:pt x="2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0" name=""/>
          <p:cNvSpPr/>
          <p:nvPr/>
        </p:nvSpPr>
        <p:spPr>
          <a:xfrm>
            <a:off x="761760" y="503856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28" y="0"/>
                </a:lnTo>
                <a:lnTo>
                  <a:pt x="2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1" name=""/>
          <p:cNvSpPr/>
          <p:nvPr/>
        </p:nvSpPr>
        <p:spPr>
          <a:xfrm>
            <a:off x="761760" y="5028840"/>
            <a:ext cx="2296080" cy="10080"/>
          </a:xfrm>
          <a:custGeom>
            <a:avLst/>
            <a:gdLst/>
            <a:ahLst/>
            <a:rect l="0" t="0" r="r" b="b"/>
            <a:pathLst>
              <a:path w="6378" h="28">
                <a:moveTo>
                  <a:pt x="0" y="0"/>
                </a:moveTo>
                <a:lnTo>
                  <a:pt x="6378" y="0"/>
                </a:lnTo>
                <a:lnTo>
                  <a:pt x="637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2" name=""/>
          <p:cNvSpPr/>
          <p:nvPr/>
        </p:nvSpPr>
        <p:spPr>
          <a:xfrm>
            <a:off x="3047760" y="503856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28" y="0"/>
                </a:lnTo>
                <a:lnTo>
                  <a:pt x="2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3" name=""/>
          <p:cNvSpPr/>
          <p:nvPr/>
        </p:nvSpPr>
        <p:spPr>
          <a:xfrm>
            <a:off x="3057480" y="5028840"/>
            <a:ext cx="5058000" cy="10080"/>
          </a:xfrm>
          <a:custGeom>
            <a:avLst/>
            <a:gdLst/>
            <a:ahLst/>
            <a:rect l="0" t="0" r="r" b="b"/>
            <a:pathLst>
              <a:path w="14050" h="28">
                <a:moveTo>
                  <a:pt x="0" y="0"/>
                </a:moveTo>
                <a:lnTo>
                  <a:pt x="14050" y="0"/>
                </a:lnTo>
                <a:lnTo>
                  <a:pt x="140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4" name=""/>
          <p:cNvSpPr/>
          <p:nvPr/>
        </p:nvSpPr>
        <p:spPr>
          <a:xfrm>
            <a:off x="8105760" y="503856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0"/>
                </a:moveTo>
                <a:lnTo>
                  <a:pt x="27" y="0"/>
                </a:lnTo>
                <a:lnTo>
                  <a:pt x="2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5" name=""/>
          <p:cNvSpPr/>
          <p:nvPr/>
        </p:nvSpPr>
        <p:spPr>
          <a:xfrm>
            <a:off x="761760" y="5457600"/>
            <a:ext cx="2296080" cy="10080"/>
          </a:xfrm>
          <a:custGeom>
            <a:avLst/>
            <a:gdLst/>
            <a:ahLst/>
            <a:rect l="0" t="0" r="r" b="b"/>
            <a:pathLst>
              <a:path w="6378" h="28">
                <a:moveTo>
                  <a:pt x="0" y="0"/>
                </a:moveTo>
                <a:lnTo>
                  <a:pt x="6378" y="0"/>
                </a:lnTo>
                <a:lnTo>
                  <a:pt x="637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6" name=""/>
          <p:cNvSpPr/>
          <p:nvPr/>
        </p:nvSpPr>
        <p:spPr>
          <a:xfrm>
            <a:off x="3057480" y="5457600"/>
            <a:ext cx="5058000" cy="10080"/>
          </a:xfrm>
          <a:custGeom>
            <a:avLst/>
            <a:gdLst/>
            <a:ahLst/>
            <a:rect l="0" t="0" r="r" b="b"/>
            <a:pathLst>
              <a:path w="14050" h="28">
                <a:moveTo>
                  <a:pt x="0" y="0"/>
                </a:moveTo>
                <a:lnTo>
                  <a:pt x="14050" y="0"/>
                </a:lnTo>
                <a:lnTo>
                  <a:pt x="140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7" name=""/>
          <p:cNvSpPr txBox="1"/>
          <p:nvPr/>
        </p:nvSpPr>
        <p:spPr>
          <a:xfrm>
            <a:off x="762120" y="2156040"/>
            <a:ext cx="98287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 simpliﬁcation of TRIZ, governed by the </a:t>
            </a:r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Closed World (CW) principle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: a creative solution relies 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8" name=""/>
          <p:cNvSpPr txBox="1"/>
          <p:nvPr/>
        </p:nvSpPr>
        <p:spPr>
          <a:xfrm>
            <a:off x="762120" y="2460960"/>
            <a:ext cx="12780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components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9" name=""/>
          <p:cNvSpPr txBox="1"/>
          <p:nvPr/>
        </p:nvSpPr>
        <p:spPr>
          <a:xfrm>
            <a:off x="2091600" y="2460960"/>
            <a:ext cx="215748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5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already in the system</a:t>
            </a:r>
            <a:endParaRPr b="0" lang="en-US" sz="16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0" name=""/>
          <p:cNvSpPr txBox="1"/>
          <p:nvPr/>
        </p:nvSpPr>
        <p:spPr>
          <a:xfrm>
            <a:off x="4141080" y="2460960"/>
            <a:ext cx="56887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 — adding new elements usually isn't considered creative.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1" name=""/>
          <p:cNvSpPr txBox="1"/>
          <p:nvPr/>
        </p:nvSpPr>
        <p:spPr>
          <a:xfrm>
            <a:off x="1676520" y="2984760"/>
            <a:ext cx="4654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Tool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2" name=""/>
          <p:cNvSpPr txBox="1"/>
          <p:nvPr/>
        </p:nvSpPr>
        <p:spPr>
          <a:xfrm>
            <a:off x="4933080" y="2984760"/>
            <a:ext cx="12970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What it does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3" name=""/>
          <p:cNvSpPr txBox="1"/>
          <p:nvPr/>
        </p:nvSpPr>
        <p:spPr>
          <a:xfrm>
            <a:off x="895320" y="3413520"/>
            <a:ext cx="11239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Uniﬁcation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4" name=""/>
          <p:cNvSpPr txBox="1"/>
          <p:nvPr/>
        </p:nvSpPr>
        <p:spPr>
          <a:xfrm>
            <a:off x="3181320" y="3413520"/>
            <a:ext cx="47620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Assign a new function to an existing component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5" name=""/>
          <p:cNvSpPr txBox="1"/>
          <p:nvPr/>
        </p:nvSpPr>
        <p:spPr>
          <a:xfrm>
            <a:off x="895320" y="3842280"/>
            <a:ext cx="14356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Multiplication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6" name=""/>
          <p:cNvSpPr txBox="1"/>
          <p:nvPr/>
        </p:nvSpPr>
        <p:spPr>
          <a:xfrm>
            <a:off x="3181320" y="3842280"/>
            <a:ext cx="47926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Introduce a (modiﬁed) copy of an existing object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7" name=""/>
          <p:cNvSpPr txBox="1"/>
          <p:nvPr/>
        </p:nvSpPr>
        <p:spPr>
          <a:xfrm>
            <a:off x="895320" y="4270680"/>
            <a:ext cx="8564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Division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8" name=""/>
          <p:cNvSpPr txBox="1"/>
          <p:nvPr/>
        </p:nvSpPr>
        <p:spPr>
          <a:xfrm>
            <a:off x="3181320" y="4270680"/>
            <a:ext cx="40773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Divide an object and reconﬁgure its parts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9" name=""/>
          <p:cNvSpPr txBox="1"/>
          <p:nvPr/>
        </p:nvSpPr>
        <p:spPr>
          <a:xfrm>
            <a:off x="895320" y="4699440"/>
            <a:ext cx="16347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Object Removal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0" name=""/>
          <p:cNvSpPr txBox="1"/>
          <p:nvPr/>
        </p:nvSpPr>
        <p:spPr>
          <a:xfrm>
            <a:off x="3181320" y="4699440"/>
            <a:ext cx="34142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Remove an object from the system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1" name=""/>
          <p:cNvSpPr txBox="1"/>
          <p:nvPr/>
        </p:nvSpPr>
        <p:spPr>
          <a:xfrm>
            <a:off x="895320" y="5127840"/>
            <a:ext cx="20246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Breaking Symmetry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2" name=""/>
          <p:cNvSpPr txBox="1"/>
          <p:nvPr/>
        </p:nvSpPr>
        <p:spPr>
          <a:xfrm>
            <a:off x="3181320" y="5127840"/>
            <a:ext cx="47444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Change symmetrical/asymmetrical relationships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3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661057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4" name=""/>
          <p:cNvSpPr txBox="1"/>
          <p:nvPr/>
        </p:nvSpPr>
        <p:spPr>
          <a:xfrm>
            <a:off x="762120" y="372600"/>
            <a:ext cx="1036656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SIT / ASIT — Five Thinking Tools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5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6" name=""/>
          <p:cNvSpPr txBox="1"/>
          <p:nvPr/>
        </p:nvSpPr>
        <p:spPr>
          <a:xfrm>
            <a:off x="1238400" y="6569280"/>
            <a:ext cx="31820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0020e35 | © 08.10.2026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7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16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671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2" name=""/>
          <p:cNvSpPr txBox="1"/>
          <p:nvPr/>
        </p:nvSpPr>
        <p:spPr>
          <a:xfrm>
            <a:off x="762120" y="3527640"/>
            <a:ext cx="104076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The Closed World Principle states that when solving a problem or innovating, you must use only elements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3" name=""/>
          <p:cNvSpPr txBox="1"/>
          <p:nvPr/>
        </p:nvSpPr>
        <p:spPr>
          <a:xfrm>
            <a:off x="762120" y="3832560"/>
            <a:ext cx="79912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and resources that already exist within the system or its immediate environment.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4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661057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5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6" name=""/>
          <p:cNvSpPr txBox="1"/>
          <p:nvPr/>
        </p:nvSpPr>
        <p:spPr>
          <a:xfrm>
            <a:off x="1238400" y="6569280"/>
            <a:ext cx="31820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0020e35 | © 08.10.2026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7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17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681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2" name=""/>
          <p:cNvSpPr txBox="1"/>
          <p:nvPr/>
        </p:nvSpPr>
        <p:spPr>
          <a:xfrm>
            <a:off x="762120" y="2022840"/>
            <a:ext cx="105462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 corn-processing plant's curved pipe erodes where an airstream propels grains around the elbow. List the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3" name=""/>
          <p:cNvSpPr txBox="1"/>
          <p:nvPr/>
        </p:nvSpPr>
        <p:spPr>
          <a:xfrm>
            <a:off x="762120" y="2327760"/>
            <a:ext cx="31003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Closed World: </a:t>
            </a:r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pipe, grains, air.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762120" y="2784960"/>
            <a:ext cx="35557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Formulate the Uniﬁcation sentence: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5" name=""/>
          <p:cNvSpPr txBox="1"/>
          <p:nvPr/>
        </p:nvSpPr>
        <p:spPr>
          <a:xfrm>
            <a:off x="4374360" y="2784960"/>
            <a:ext cx="72309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5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"A XXX component from the CW will be used to prevent the grains from</a:t>
            </a:r>
            <a:endParaRPr b="0" lang="en-US" sz="16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6" name=""/>
          <p:cNvSpPr txBox="1"/>
          <p:nvPr/>
        </p:nvSpPr>
        <p:spPr>
          <a:xfrm>
            <a:off x="811080" y="3089520"/>
            <a:ext cx="18219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5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eroding the pipe."</a:t>
            </a:r>
            <a:endParaRPr b="0" lang="en-US" sz="16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7" name=""/>
          <p:cNvSpPr/>
          <p:nvPr/>
        </p:nvSpPr>
        <p:spPr>
          <a:xfrm>
            <a:off x="971280" y="36385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4"/>
                  <a:pt x="184" y="116"/>
                  <a:pt x="179" y="128"/>
                </a:cubicBezTo>
                <a:cubicBezTo>
                  <a:pt x="175" y="139"/>
                  <a:pt x="167" y="149"/>
                  <a:pt x="158" y="158"/>
                </a:cubicBezTo>
                <a:cubicBezTo>
                  <a:pt x="150" y="167"/>
                  <a:pt x="140" y="174"/>
                  <a:pt x="128" y="179"/>
                </a:cubicBezTo>
                <a:cubicBezTo>
                  <a:pt x="117" y="183"/>
                  <a:pt x="105" y="186"/>
                  <a:pt x="93" y="186"/>
                </a:cubicBezTo>
                <a:cubicBezTo>
                  <a:pt x="81" y="186"/>
                  <a:pt x="69" y="183"/>
                  <a:pt x="57" y="179"/>
                </a:cubicBezTo>
                <a:cubicBezTo>
                  <a:pt x="46" y="174"/>
                  <a:pt x="36" y="167"/>
                  <a:pt x="27" y="158"/>
                </a:cubicBezTo>
                <a:cubicBezTo>
                  <a:pt x="19" y="149"/>
                  <a:pt x="12" y="139"/>
                  <a:pt x="7" y="128"/>
                </a:cubicBezTo>
                <a:cubicBezTo>
                  <a:pt x="3" y="116"/>
                  <a:pt x="0" y="104"/>
                  <a:pt x="0" y="92"/>
                </a:cubicBezTo>
                <a:cubicBezTo>
                  <a:pt x="0" y="80"/>
                  <a:pt x="3" y="68"/>
                  <a:pt x="7" y="57"/>
                </a:cubicBezTo>
                <a:cubicBezTo>
                  <a:pt x="12" y="45"/>
                  <a:pt x="19" y="35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1"/>
                  <a:pt x="150" y="18"/>
                  <a:pt x="158" y="27"/>
                </a:cubicBezTo>
                <a:cubicBezTo>
                  <a:pt x="167" y="35"/>
                  <a:pt x="175" y="45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2534400" y="3089520"/>
            <a:ext cx="39808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 Substitute each CW component for XXX: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9" name=""/>
          <p:cNvSpPr/>
          <p:nvPr/>
        </p:nvSpPr>
        <p:spPr>
          <a:xfrm>
            <a:off x="971280" y="39909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4"/>
                  <a:pt x="184" y="117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7"/>
                  <a:pt x="140" y="174"/>
                  <a:pt x="128" y="179"/>
                </a:cubicBezTo>
                <a:cubicBezTo>
                  <a:pt x="117" y="183"/>
                  <a:pt x="105" y="186"/>
                  <a:pt x="93" y="186"/>
                </a:cubicBezTo>
                <a:cubicBezTo>
                  <a:pt x="81" y="186"/>
                  <a:pt x="69" y="183"/>
                  <a:pt x="57" y="179"/>
                </a:cubicBezTo>
                <a:cubicBezTo>
                  <a:pt x="46" y="174"/>
                  <a:pt x="36" y="167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7"/>
                  <a:pt x="0" y="104"/>
                  <a:pt x="0" y="92"/>
                </a:cubicBezTo>
                <a:cubicBezTo>
                  <a:pt x="0" y="80"/>
                  <a:pt x="3" y="68"/>
                  <a:pt x="7" y="57"/>
                </a:cubicBezTo>
                <a:cubicBezTo>
                  <a:pt x="12" y="45"/>
                  <a:pt x="19" y="35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1"/>
                  <a:pt x="150" y="18"/>
                  <a:pt x="158" y="27"/>
                </a:cubicBezTo>
                <a:cubicBezTo>
                  <a:pt x="167" y="35"/>
                  <a:pt x="175" y="45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1168200" y="3546720"/>
            <a:ext cx="98715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 </a:t>
            </a:r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pipe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will prevent the grains from eroding the pipe — the conventional answer (reinforce the pipe).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1168200" y="3899160"/>
            <a:ext cx="59065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The </a:t>
            </a:r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grains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will prevent the grains from eroding the pipe —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7134480" y="3899160"/>
            <a:ext cx="50760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5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how?</a:t>
            </a:r>
            <a:endParaRPr b="0" lang="en-US" sz="16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661057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762120" y="-8280"/>
            <a:ext cx="813492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Example: The Curved Pipe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5" name=""/>
          <p:cNvSpPr/>
          <p:nvPr/>
        </p:nvSpPr>
        <p:spPr>
          <a:xfrm>
            <a:off x="766440" y="4329000"/>
            <a:ext cx="10658880" cy="1267200"/>
          </a:xfrm>
          <a:custGeom>
            <a:avLst/>
            <a:gdLst/>
            <a:ahLst/>
            <a:rect l="0" t="0" r="r" b="b"/>
            <a:pathLst>
              <a:path w="29608" h="3520">
                <a:moveTo>
                  <a:pt x="0" y="337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4"/>
                  <a:pt x="29510" y="7"/>
                  <a:pt x="29518" y="11"/>
                </a:cubicBezTo>
                <a:cubicBezTo>
                  <a:pt x="29527" y="15"/>
                  <a:pt x="29536" y="19"/>
                  <a:pt x="29544" y="24"/>
                </a:cubicBezTo>
                <a:cubicBezTo>
                  <a:pt x="29552" y="30"/>
                  <a:pt x="29559" y="36"/>
                  <a:pt x="29566" y="42"/>
                </a:cubicBezTo>
                <a:cubicBezTo>
                  <a:pt x="29572" y="49"/>
                  <a:pt x="29578" y="57"/>
                  <a:pt x="29584" y="64"/>
                </a:cubicBezTo>
                <a:cubicBezTo>
                  <a:pt x="29589" y="72"/>
                  <a:pt x="29594" y="81"/>
                  <a:pt x="29597" y="90"/>
                </a:cubicBezTo>
                <a:cubicBezTo>
                  <a:pt x="29601" y="98"/>
                  <a:pt x="29604" y="108"/>
                  <a:pt x="29605" y="117"/>
                </a:cubicBezTo>
                <a:cubicBezTo>
                  <a:pt x="29607" y="126"/>
                  <a:pt x="29608" y="136"/>
                  <a:pt x="29608" y="145"/>
                </a:cubicBezTo>
                <a:lnTo>
                  <a:pt x="29608" y="3374"/>
                </a:lnTo>
                <a:cubicBezTo>
                  <a:pt x="29608" y="3384"/>
                  <a:pt x="29607" y="3393"/>
                  <a:pt x="29605" y="3403"/>
                </a:cubicBezTo>
                <a:cubicBezTo>
                  <a:pt x="29604" y="3412"/>
                  <a:pt x="29601" y="3421"/>
                  <a:pt x="29597" y="3430"/>
                </a:cubicBezTo>
                <a:cubicBezTo>
                  <a:pt x="29594" y="3439"/>
                  <a:pt x="29589" y="3447"/>
                  <a:pt x="29584" y="3455"/>
                </a:cubicBezTo>
                <a:cubicBezTo>
                  <a:pt x="29578" y="3463"/>
                  <a:pt x="29572" y="3470"/>
                  <a:pt x="29566" y="3477"/>
                </a:cubicBezTo>
                <a:cubicBezTo>
                  <a:pt x="29559" y="3484"/>
                  <a:pt x="29552" y="3490"/>
                  <a:pt x="29544" y="3495"/>
                </a:cubicBezTo>
                <a:cubicBezTo>
                  <a:pt x="29536" y="3501"/>
                  <a:pt x="29527" y="3505"/>
                  <a:pt x="29518" y="3509"/>
                </a:cubicBezTo>
                <a:cubicBezTo>
                  <a:pt x="29510" y="3512"/>
                  <a:pt x="29501" y="3515"/>
                  <a:pt x="29491" y="3517"/>
                </a:cubicBezTo>
                <a:cubicBezTo>
                  <a:pt x="29482" y="3519"/>
                  <a:pt x="29472" y="3520"/>
                  <a:pt x="29463" y="3520"/>
                </a:cubicBezTo>
                <a:lnTo>
                  <a:pt x="146" y="3520"/>
                </a:lnTo>
                <a:cubicBezTo>
                  <a:pt x="136" y="3520"/>
                  <a:pt x="127" y="3519"/>
                  <a:pt x="118" y="3517"/>
                </a:cubicBezTo>
                <a:cubicBezTo>
                  <a:pt x="108" y="3515"/>
                  <a:pt x="99" y="3512"/>
                  <a:pt x="90" y="3509"/>
                </a:cubicBezTo>
                <a:cubicBezTo>
                  <a:pt x="81" y="3505"/>
                  <a:pt x="73" y="3501"/>
                  <a:pt x="65" y="3495"/>
                </a:cubicBezTo>
                <a:cubicBezTo>
                  <a:pt x="57" y="3490"/>
                  <a:pt x="50" y="3484"/>
                  <a:pt x="43" y="3477"/>
                </a:cubicBezTo>
                <a:cubicBezTo>
                  <a:pt x="36" y="3470"/>
                  <a:pt x="30" y="3463"/>
                  <a:pt x="25" y="3455"/>
                </a:cubicBezTo>
                <a:cubicBezTo>
                  <a:pt x="20" y="3447"/>
                  <a:pt x="15" y="3439"/>
                  <a:pt x="11" y="3430"/>
                </a:cubicBezTo>
                <a:cubicBezTo>
                  <a:pt x="8" y="3421"/>
                  <a:pt x="5" y="3412"/>
                  <a:pt x="3" y="3403"/>
                </a:cubicBezTo>
                <a:cubicBezTo>
                  <a:pt x="1" y="3393"/>
                  <a:pt x="0" y="3384"/>
                  <a:pt x="0" y="3374"/>
                </a:cubicBezTo>
                <a:close/>
              </a:path>
            </a:pathLst>
          </a:custGeom>
          <a:solidFill>
            <a:srgbClr val="e9fb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6" name=""/>
          <p:cNvSpPr/>
          <p:nvPr/>
        </p:nvSpPr>
        <p:spPr>
          <a:xfrm>
            <a:off x="766440" y="4329000"/>
            <a:ext cx="10658880" cy="1267200"/>
          </a:xfrm>
          <a:custGeom>
            <a:avLst/>
            <a:gdLst/>
            <a:ahLst/>
            <a:rect l="0" t="0" r="r" b="b"/>
            <a:pathLst>
              <a:path fill="none" w="29608" h="3520">
                <a:moveTo>
                  <a:pt x="0" y="337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4"/>
                  <a:pt x="29510" y="7"/>
                  <a:pt x="29518" y="11"/>
                </a:cubicBezTo>
                <a:cubicBezTo>
                  <a:pt x="29527" y="15"/>
                  <a:pt x="29536" y="19"/>
                  <a:pt x="29544" y="24"/>
                </a:cubicBezTo>
                <a:cubicBezTo>
                  <a:pt x="29552" y="30"/>
                  <a:pt x="29559" y="36"/>
                  <a:pt x="29566" y="42"/>
                </a:cubicBezTo>
                <a:cubicBezTo>
                  <a:pt x="29572" y="49"/>
                  <a:pt x="29578" y="57"/>
                  <a:pt x="29584" y="64"/>
                </a:cubicBezTo>
                <a:cubicBezTo>
                  <a:pt x="29589" y="72"/>
                  <a:pt x="29594" y="81"/>
                  <a:pt x="29597" y="90"/>
                </a:cubicBezTo>
                <a:cubicBezTo>
                  <a:pt x="29601" y="98"/>
                  <a:pt x="29604" y="108"/>
                  <a:pt x="29605" y="117"/>
                </a:cubicBezTo>
                <a:cubicBezTo>
                  <a:pt x="29607" y="126"/>
                  <a:pt x="29608" y="136"/>
                  <a:pt x="29608" y="145"/>
                </a:cubicBezTo>
                <a:lnTo>
                  <a:pt x="29608" y="3374"/>
                </a:lnTo>
                <a:cubicBezTo>
                  <a:pt x="29608" y="3384"/>
                  <a:pt x="29607" y="3393"/>
                  <a:pt x="29605" y="3403"/>
                </a:cubicBezTo>
                <a:cubicBezTo>
                  <a:pt x="29604" y="3412"/>
                  <a:pt x="29601" y="3421"/>
                  <a:pt x="29597" y="3430"/>
                </a:cubicBezTo>
                <a:cubicBezTo>
                  <a:pt x="29594" y="3439"/>
                  <a:pt x="29589" y="3447"/>
                  <a:pt x="29584" y="3455"/>
                </a:cubicBezTo>
                <a:cubicBezTo>
                  <a:pt x="29578" y="3463"/>
                  <a:pt x="29572" y="3470"/>
                  <a:pt x="29566" y="3477"/>
                </a:cubicBezTo>
                <a:cubicBezTo>
                  <a:pt x="29559" y="3484"/>
                  <a:pt x="29552" y="3490"/>
                  <a:pt x="29544" y="3495"/>
                </a:cubicBezTo>
                <a:cubicBezTo>
                  <a:pt x="29536" y="3501"/>
                  <a:pt x="29527" y="3505"/>
                  <a:pt x="29518" y="3509"/>
                </a:cubicBezTo>
                <a:cubicBezTo>
                  <a:pt x="29510" y="3512"/>
                  <a:pt x="29501" y="3515"/>
                  <a:pt x="29491" y="3517"/>
                </a:cubicBezTo>
                <a:cubicBezTo>
                  <a:pt x="29482" y="3519"/>
                  <a:pt x="29472" y="3520"/>
                  <a:pt x="29463" y="3520"/>
                </a:cubicBezTo>
                <a:lnTo>
                  <a:pt x="146" y="3520"/>
                </a:lnTo>
                <a:cubicBezTo>
                  <a:pt x="136" y="3520"/>
                  <a:pt x="127" y="3519"/>
                  <a:pt x="118" y="3517"/>
                </a:cubicBezTo>
                <a:cubicBezTo>
                  <a:pt x="108" y="3515"/>
                  <a:pt x="99" y="3512"/>
                  <a:pt x="90" y="3509"/>
                </a:cubicBezTo>
                <a:cubicBezTo>
                  <a:pt x="81" y="3505"/>
                  <a:pt x="73" y="3501"/>
                  <a:pt x="65" y="3495"/>
                </a:cubicBezTo>
                <a:cubicBezTo>
                  <a:pt x="57" y="3490"/>
                  <a:pt x="50" y="3484"/>
                  <a:pt x="43" y="3477"/>
                </a:cubicBezTo>
                <a:cubicBezTo>
                  <a:pt x="36" y="3470"/>
                  <a:pt x="30" y="3463"/>
                  <a:pt x="25" y="3455"/>
                </a:cubicBezTo>
                <a:cubicBezTo>
                  <a:pt x="20" y="3447"/>
                  <a:pt x="15" y="3439"/>
                  <a:pt x="11" y="3430"/>
                </a:cubicBezTo>
                <a:cubicBezTo>
                  <a:pt x="8" y="3421"/>
                  <a:pt x="5" y="3412"/>
                  <a:pt x="3" y="3403"/>
                </a:cubicBezTo>
                <a:cubicBezTo>
                  <a:pt x="1" y="3393"/>
                  <a:pt x="0" y="3384"/>
                  <a:pt x="0" y="3374"/>
                </a:cubicBezTo>
              </a:path>
            </a:pathLst>
          </a:custGeom>
          <a:ln w="9360">
            <a:solidFill>
              <a:srgbClr val="bef4d3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7" name=""/>
          <p:cNvSpPr txBox="1"/>
          <p:nvPr/>
        </p:nvSpPr>
        <p:spPr>
          <a:xfrm>
            <a:off x="762120" y="753480"/>
            <a:ext cx="383112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(Uniﬁcation)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8" name=""/>
          <p:cNvSpPr txBox="1"/>
          <p:nvPr/>
        </p:nvSpPr>
        <p:spPr>
          <a:xfrm>
            <a:off x="923760" y="4938120"/>
            <a:ext cx="98301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Reshape the pipe so trapped grains themselves form a protective lining — the grains protect the pipe from the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9" name=""/>
          <p:cNvSpPr/>
          <p:nvPr/>
        </p:nvSpPr>
        <p:spPr>
          <a:xfrm>
            <a:off x="961920" y="4581360"/>
            <a:ext cx="152640" cy="105120"/>
          </a:xfrm>
          <a:custGeom>
            <a:avLst/>
            <a:gdLst/>
            <a:ahLst/>
            <a:rect l="0" t="0" r="r" b="b"/>
            <a:pathLst>
              <a:path fill="none" w="424" h="292">
                <a:moveTo>
                  <a:pt x="424" y="0"/>
                </a:moveTo>
                <a:lnTo>
                  <a:pt x="133" y="292"/>
                </a:lnTo>
                <a:lnTo>
                  <a:pt x="0" y="159"/>
                </a:lnTo>
              </a:path>
            </a:pathLst>
          </a:custGeom>
          <a:ln cap="rnd" w="18720">
            <a:solidFill>
              <a:srgbClr val="22c061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923760" y="5204880"/>
            <a:ext cx="6080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grains.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1203120" y="4532040"/>
            <a:ext cx="27403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22c061"/>
                </a:solidFill>
                <a:effectLst/>
                <a:uFillTx/>
                <a:latin typeface="LucidaGrande"/>
                <a:ea typeface="LucidaGrande"/>
              </a:rPr>
              <a:t>The Systematic Answer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2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1238400" y="6569280"/>
            <a:ext cx="31820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0020e35 | © 08.10.2026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4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18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708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9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661057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0" name=""/>
          <p:cNvSpPr/>
          <p:nvPr/>
        </p:nvSpPr>
        <p:spPr>
          <a:xfrm>
            <a:off x="766440" y="3052440"/>
            <a:ext cx="10658880" cy="1600560"/>
          </a:xfrm>
          <a:custGeom>
            <a:avLst/>
            <a:gdLst/>
            <a:ahLst/>
            <a:rect l="0" t="0" r="r" b="b"/>
            <a:pathLst>
              <a:path w="29608" h="4446">
                <a:moveTo>
                  <a:pt x="0" y="4301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5"/>
                  <a:pt x="29510" y="8"/>
                  <a:pt x="29518" y="11"/>
                </a:cubicBezTo>
                <a:cubicBezTo>
                  <a:pt x="29527" y="15"/>
                  <a:pt x="29536" y="20"/>
                  <a:pt x="29544" y="25"/>
                </a:cubicBezTo>
                <a:cubicBezTo>
                  <a:pt x="29552" y="30"/>
                  <a:pt x="29559" y="36"/>
                  <a:pt x="29566" y="43"/>
                </a:cubicBezTo>
                <a:cubicBezTo>
                  <a:pt x="29572" y="50"/>
                  <a:pt x="29578" y="57"/>
                  <a:pt x="29584" y="65"/>
                </a:cubicBezTo>
                <a:cubicBezTo>
                  <a:pt x="29589" y="73"/>
                  <a:pt x="29594" y="81"/>
                  <a:pt x="29597" y="90"/>
                </a:cubicBezTo>
                <a:cubicBezTo>
                  <a:pt x="29601" y="99"/>
                  <a:pt x="29604" y="108"/>
                  <a:pt x="29605" y="118"/>
                </a:cubicBezTo>
                <a:cubicBezTo>
                  <a:pt x="29607" y="127"/>
                  <a:pt x="29608" y="136"/>
                  <a:pt x="29608" y="146"/>
                </a:cubicBezTo>
                <a:lnTo>
                  <a:pt x="29608" y="4301"/>
                </a:lnTo>
                <a:cubicBezTo>
                  <a:pt x="29608" y="4310"/>
                  <a:pt x="29607" y="4320"/>
                  <a:pt x="29605" y="4329"/>
                </a:cubicBezTo>
                <a:cubicBezTo>
                  <a:pt x="29604" y="4339"/>
                  <a:pt x="29601" y="4348"/>
                  <a:pt x="29597" y="4357"/>
                </a:cubicBezTo>
                <a:cubicBezTo>
                  <a:pt x="29594" y="4365"/>
                  <a:pt x="29589" y="4374"/>
                  <a:pt x="29584" y="4382"/>
                </a:cubicBezTo>
                <a:cubicBezTo>
                  <a:pt x="29578" y="4390"/>
                  <a:pt x="29572" y="4397"/>
                  <a:pt x="29566" y="4404"/>
                </a:cubicBezTo>
                <a:cubicBezTo>
                  <a:pt x="29559" y="4411"/>
                  <a:pt x="29552" y="4417"/>
                  <a:pt x="29544" y="4422"/>
                </a:cubicBezTo>
                <a:cubicBezTo>
                  <a:pt x="29536" y="4427"/>
                  <a:pt x="29527" y="4432"/>
                  <a:pt x="29518" y="4435"/>
                </a:cubicBezTo>
                <a:cubicBezTo>
                  <a:pt x="29510" y="4439"/>
                  <a:pt x="29501" y="4442"/>
                  <a:pt x="29491" y="4444"/>
                </a:cubicBezTo>
                <a:cubicBezTo>
                  <a:pt x="29482" y="4445"/>
                  <a:pt x="29472" y="4446"/>
                  <a:pt x="29463" y="4446"/>
                </a:cubicBezTo>
                <a:lnTo>
                  <a:pt x="146" y="4446"/>
                </a:lnTo>
                <a:cubicBezTo>
                  <a:pt x="136" y="4446"/>
                  <a:pt x="127" y="4445"/>
                  <a:pt x="118" y="4444"/>
                </a:cubicBezTo>
                <a:cubicBezTo>
                  <a:pt x="108" y="4442"/>
                  <a:pt x="99" y="4439"/>
                  <a:pt x="90" y="4435"/>
                </a:cubicBezTo>
                <a:cubicBezTo>
                  <a:pt x="81" y="4432"/>
                  <a:pt x="73" y="4427"/>
                  <a:pt x="65" y="4422"/>
                </a:cubicBezTo>
                <a:cubicBezTo>
                  <a:pt x="57" y="4417"/>
                  <a:pt x="50" y="4411"/>
                  <a:pt x="43" y="4404"/>
                </a:cubicBezTo>
                <a:cubicBezTo>
                  <a:pt x="36" y="4397"/>
                  <a:pt x="30" y="4390"/>
                  <a:pt x="25" y="4382"/>
                </a:cubicBezTo>
                <a:cubicBezTo>
                  <a:pt x="20" y="4374"/>
                  <a:pt x="15" y="4365"/>
                  <a:pt x="11" y="4357"/>
                </a:cubicBezTo>
                <a:cubicBezTo>
                  <a:pt x="8" y="4348"/>
                  <a:pt x="5" y="4339"/>
                  <a:pt x="3" y="4329"/>
                </a:cubicBezTo>
                <a:cubicBezTo>
                  <a:pt x="1" y="4320"/>
                  <a:pt x="0" y="4310"/>
                  <a:pt x="0" y="4301"/>
                </a:cubicBezTo>
                <a:close/>
              </a:path>
            </a:pathLst>
          </a:custGeom>
          <a:solidFill>
            <a:srgbClr val="ede8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1" name=""/>
          <p:cNvSpPr/>
          <p:nvPr/>
        </p:nvSpPr>
        <p:spPr>
          <a:xfrm>
            <a:off x="766440" y="3052440"/>
            <a:ext cx="10658880" cy="1600560"/>
          </a:xfrm>
          <a:custGeom>
            <a:avLst/>
            <a:gdLst/>
            <a:ahLst/>
            <a:rect l="0" t="0" r="r" b="b"/>
            <a:pathLst>
              <a:path fill="none" w="29608" h="4446">
                <a:moveTo>
                  <a:pt x="0" y="4301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5"/>
                  <a:pt x="29510" y="8"/>
                  <a:pt x="29518" y="11"/>
                </a:cubicBezTo>
                <a:cubicBezTo>
                  <a:pt x="29527" y="15"/>
                  <a:pt x="29536" y="20"/>
                  <a:pt x="29544" y="25"/>
                </a:cubicBezTo>
                <a:cubicBezTo>
                  <a:pt x="29552" y="30"/>
                  <a:pt x="29559" y="36"/>
                  <a:pt x="29566" y="43"/>
                </a:cubicBezTo>
                <a:cubicBezTo>
                  <a:pt x="29572" y="50"/>
                  <a:pt x="29578" y="57"/>
                  <a:pt x="29584" y="65"/>
                </a:cubicBezTo>
                <a:cubicBezTo>
                  <a:pt x="29589" y="73"/>
                  <a:pt x="29594" y="81"/>
                  <a:pt x="29597" y="90"/>
                </a:cubicBezTo>
                <a:cubicBezTo>
                  <a:pt x="29601" y="99"/>
                  <a:pt x="29604" y="108"/>
                  <a:pt x="29605" y="118"/>
                </a:cubicBezTo>
                <a:cubicBezTo>
                  <a:pt x="29607" y="127"/>
                  <a:pt x="29608" y="136"/>
                  <a:pt x="29608" y="146"/>
                </a:cubicBezTo>
                <a:lnTo>
                  <a:pt x="29608" y="4301"/>
                </a:lnTo>
                <a:cubicBezTo>
                  <a:pt x="29608" y="4310"/>
                  <a:pt x="29607" y="4320"/>
                  <a:pt x="29605" y="4329"/>
                </a:cubicBezTo>
                <a:cubicBezTo>
                  <a:pt x="29604" y="4339"/>
                  <a:pt x="29601" y="4348"/>
                  <a:pt x="29597" y="4357"/>
                </a:cubicBezTo>
                <a:cubicBezTo>
                  <a:pt x="29594" y="4365"/>
                  <a:pt x="29589" y="4374"/>
                  <a:pt x="29584" y="4382"/>
                </a:cubicBezTo>
                <a:cubicBezTo>
                  <a:pt x="29578" y="4390"/>
                  <a:pt x="29572" y="4397"/>
                  <a:pt x="29566" y="4404"/>
                </a:cubicBezTo>
                <a:cubicBezTo>
                  <a:pt x="29559" y="4411"/>
                  <a:pt x="29552" y="4417"/>
                  <a:pt x="29544" y="4422"/>
                </a:cubicBezTo>
                <a:cubicBezTo>
                  <a:pt x="29536" y="4427"/>
                  <a:pt x="29527" y="4432"/>
                  <a:pt x="29518" y="4435"/>
                </a:cubicBezTo>
                <a:cubicBezTo>
                  <a:pt x="29510" y="4439"/>
                  <a:pt x="29501" y="4442"/>
                  <a:pt x="29491" y="4444"/>
                </a:cubicBezTo>
                <a:cubicBezTo>
                  <a:pt x="29482" y="4445"/>
                  <a:pt x="29472" y="4446"/>
                  <a:pt x="29463" y="4446"/>
                </a:cubicBezTo>
                <a:lnTo>
                  <a:pt x="146" y="4446"/>
                </a:lnTo>
                <a:cubicBezTo>
                  <a:pt x="136" y="4446"/>
                  <a:pt x="127" y="4445"/>
                  <a:pt x="118" y="4444"/>
                </a:cubicBezTo>
                <a:cubicBezTo>
                  <a:pt x="108" y="4442"/>
                  <a:pt x="99" y="4439"/>
                  <a:pt x="90" y="4435"/>
                </a:cubicBezTo>
                <a:cubicBezTo>
                  <a:pt x="81" y="4432"/>
                  <a:pt x="73" y="4427"/>
                  <a:pt x="65" y="4422"/>
                </a:cubicBezTo>
                <a:cubicBezTo>
                  <a:pt x="57" y="4417"/>
                  <a:pt x="50" y="4411"/>
                  <a:pt x="43" y="4404"/>
                </a:cubicBezTo>
                <a:cubicBezTo>
                  <a:pt x="36" y="4397"/>
                  <a:pt x="30" y="4390"/>
                  <a:pt x="25" y="4382"/>
                </a:cubicBezTo>
                <a:cubicBezTo>
                  <a:pt x="20" y="4374"/>
                  <a:pt x="15" y="4365"/>
                  <a:pt x="11" y="4357"/>
                </a:cubicBezTo>
                <a:cubicBezTo>
                  <a:pt x="8" y="4348"/>
                  <a:pt x="5" y="4339"/>
                  <a:pt x="3" y="4329"/>
                </a:cubicBezTo>
                <a:cubicBezTo>
                  <a:pt x="1" y="4320"/>
                  <a:pt x="0" y="4310"/>
                  <a:pt x="0" y="4301"/>
                </a:cubicBezTo>
              </a:path>
            </a:pathLst>
          </a:custGeom>
          <a:ln w="9360">
            <a:solidFill>
              <a:srgbClr val="c9b9f8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762120" y="372600"/>
            <a:ext cx="749592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Vevox: The Five Glasses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3" name=""/>
          <p:cNvSpPr txBox="1"/>
          <p:nvPr/>
        </p:nvSpPr>
        <p:spPr>
          <a:xfrm>
            <a:off x="923760" y="3661560"/>
            <a:ext cx="92689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Six glasses stand in a row; the three on the left are full. Moving only </a:t>
            </a:r>
            <a:r>
              <a:rPr b="1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one </a:t>
            </a:r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glass, alternate full and empty.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923760" y="3985560"/>
            <a:ext cx="101739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Now solve the </a:t>
            </a:r>
            <a:r>
              <a:rPr b="1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ﬁve</a:t>
            </a:r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-glasses version yourself: rearrange them to alternate empty/full, moving only one glass. Which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5" name=""/>
          <p:cNvSpPr/>
          <p:nvPr/>
        </p:nvSpPr>
        <p:spPr>
          <a:xfrm>
            <a:off x="952200" y="3305160"/>
            <a:ext cx="172080" cy="114480"/>
          </a:xfrm>
          <a:custGeom>
            <a:avLst/>
            <a:gdLst/>
            <a:ahLst/>
            <a:rect l="0" t="0" r="r" b="b"/>
            <a:pathLst>
              <a:path fill="none" w="478" h="318">
                <a:moveTo>
                  <a:pt x="133" y="0"/>
                </a:moveTo>
                <a:lnTo>
                  <a:pt x="478" y="0"/>
                </a:lnTo>
                <a:moveTo>
                  <a:pt x="133" y="158"/>
                </a:moveTo>
                <a:lnTo>
                  <a:pt x="478" y="158"/>
                </a:lnTo>
                <a:moveTo>
                  <a:pt x="133" y="318"/>
                </a:moveTo>
                <a:lnTo>
                  <a:pt x="478" y="318"/>
                </a:lnTo>
                <a:moveTo>
                  <a:pt x="0" y="0"/>
                </a:moveTo>
                <a:lnTo>
                  <a:pt x="1" y="0"/>
                </a:lnTo>
                <a:moveTo>
                  <a:pt x="0" y="158"/>
                </a:moveTo>
                <a:lnTo>
                  <a:pt x="1" y="158"/>
                </a:lnTo>
                <a:moveTo>
                  <a:pt x="0" y="318"/>
                </a:moveTo>
                <a:lnTo>
                  <a:pt x="1" y="318"/>
                </a:lnTo>
              </a:path>
            </a:pathLst>
          </a:custGeom>
          <a:ln cap="rnd" w="18720">
            <a:solidFill>
              <a:srgbClr val="7852ee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923760" y="4261680"/>
            <a:ext cx="15105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tool did you use?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1203120" y="3255480"/>
            <a:ext cx="54140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7852ee"/>
                </a:solidFill>
                <a:effectLst/>
                <a:uFillTx/>
                <a:latin typeface="LucidaGrande"/>
                <a:ea typeface="LucidaGrande"/>
              </a:rPr>
              <a:t>Try It — Using One of the Five Thinking Tools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8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9" name=""/>
          <p:cNvSpPr txBox="1"/>
          <p:nvPr/>
        </p:nvSpPr>
        <p:spPr>
          <a:xfrm>
            <a:off x="1238400" y="6569280"/>
            <a:ext cx="31820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0020e35 | © 08.10.2026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19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724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5" name=""/>
          <p:cNvSpPr/>
          <p:nvPr/>
        </p:nvSpPr>
        <p:spPr>
          <a:xfrm>
            <a:off x="571320" y="761760"/>
            <a:ext cx="11049480" cy="5410440"/>
          </a:xfrm>
          <a:custGeom>
            <a:avLst/>
            <a:gdLst/>
            <a:ahLst/>
            <a:rect l="0" t="0" r="r" b="b"/>
            <a:pathLst>
              <a:path w="30693" h="15029">
                <a:moveTo>
                  <a:pt x="0" y="0"/>
                </a:moveTo>
                <a:lnTo>
                  <a:pt x="30693" y="0"/>
                </a:lnTo>
                <a:lnTo>
                  <a:pt x="30693" y="15029"/>
                </a:lnTo>
                <a:lnTo>
                  <a:pt x="0" y="150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726" name="" descr=""/>
          <p:cNvPicPr/>
          <p:nvPr/>
        </p:nvPicPr>
        <p:blipFill>
          <a:blip r:embed="rId2"/>
          <a:stretch/>
        </p:blipFill>
        <p:spPr>
          <a:xfrm>
            <a:off x="5753160" y="2962440"/>
            <a:ext cx="685440" cy="68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7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661057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8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9" name=""/>
          <p:cNvSpPr txBox="1"/>
          <p:nvPr/>
        </p:nvSpPr>
        <p:spPr>
          <a:xfrm>
            <a:off x="1238400" y="6569280"/>
            <a:ext cx="31820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0020e35 | © 08.10.2026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0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20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734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5" name=""/>
          <p:cNvSpPr txBox="1"/>
          <p:nvPr/>
        </p:nvSpPr>
        <p:spPr>
          <a:xfrm>
            <a:off x="762120" y="2918160"/>
            <a:ext cx="100875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An earlier, broader checklist of prompts (Osborn; acronym by Eberle) for reworking an existing idea or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6" name=""/>
          <p:cNvSpPr txBox="1"/>
          <p:nvPr/>
        </p:nvSpPr>
        <p:spPr>
          <a:xfrm>
            <a:off x="762120" y="3223080"/>
            <a:ext cx="6710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object: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7" name=""/>
          <p:cNvSpPr txBox="1"/>
          <p:nvPr/>
        </p:nvSpPr>
        <p:spPr>
          <a:xfrm>
            <a:off x="762120" y="3680280"/>
            <a:ext cx="97088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ubstitute · </a:t>
            </a:r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ombine · </a:t>
            </a:r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dapt · </a:t>
            </a:r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agnify · </a:t>
            </a:r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odify · </a:t>
            </a:r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ut to other uses · </a:t>
            </a:r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liminate (or divide) · </a:t>
            </a:r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everse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8" name=""/>
          <p:cNvSpPr txBox="1"/>
          <p:nvPr/>
        </p:nvSpPr>
        <p:spPr>
          <a:xfrm>
            <a:off x="762120" y="4127760"/>
            <a:ext cx="102445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Kaplan (reporting Horowitz) summarises the relationship simply: </a:t>
            </a:r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ASIT ≈ SCAMPER + the Closed World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9" name=""/>
          <p:cNvSpPr txBox="1"/>
          <p:nvPr/>
        </p:nvSpPr>
        <p:spPr>
          <a:xfrm>
            <a:off x="762120" y="4432680"/>
            <a:ext cx="10321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condition.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0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661057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1" name=""/>
          <p:cNvSpPr txBox="1"/>
          <p:nvPr/>
        </p:nvSpPr>
        <p:spPr>
          <a:xfrm>
            <a:off x="762120" y="372600"/>
            <a:ext cx="294588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SCAMPER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2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3" name=""/>
          <p:cNvSpPr txBox="1"/>
          <p:nvPr/>
        </p:nvSpPr>
        <p:spPr>
          <a:xfrm>
            <a:off x="1238400" y="6569280"/>
            <a:ext cx="31820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0020e35 | © 08.10.2026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4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21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748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9" name=""/>
          <p:cNvSpPr txBox="1"/>
          <p:nvPr/>
        </p:nvSpPr>
        <p:spPr>
          <a:xfrm>
            <a:off x="762120" y="2489760"/>
            <a:ext cx="100695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Raviv's framework, taught at Florida Atlantic University through hands-on puzzles, games, and design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0" name=""/>
          <p:cNvSpPr txBox="1"/>
          <p:nvPr/>
        </p:nvSpPr>
        <p:spPr>
          <a:xfrm>
            <a:off x="762120" y="2794320"/>
            <a:ext cx="8575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projects: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1" name=""/>
          <p:cNvSpPr txBox="1"/>
          <p:nvPr/>
        </p:nvSpPr>
        <p:spPr>
          <a:xfrm>
            <a:off x="762120" y="4251600"/>
            <a:ext cx="44143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Each dimension is a question you can ask of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2" name=""/>
          <p:cNvSpPr txBox="1"/>
          <p:nvPr/>
        </p:nvSpPr>
        <p:spPr>
          <a:xfrm>
            <a:off x="5235120" y="4251600"/>
            <a:ext cx="35460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5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any</a:t>
            </a:r>
            <a:endParaRPr b="0" lang="en-US" sz="16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3" name=""/>
          <p:cNvSpPr txBox="1"/>
          <p:nvPr/>
        </p:nvSpPr>
        <p:spPr>
          <a:xfrm>
            <a:off x="5530680" y="4251600"/>
            <a:ext cx="52052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 problem — e.g. "Could this be done from a diﬀerent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4" name=""/>
          <p:cNvSpPr txBox="1"/>
          <p:nvPr/>
        </p:nvSpPr>
        <p:spPr>
          <a:xfrm>
            <a:off x="762120" y="4556520"/>
            <a:ext cx="87904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direction?" (Directionality) or "What if we experimented/simulated instead of calculating?"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5" name=""/>
          <p:cNvSpPr txBox="1"/>
          <p:nvPr/>
        </p:nvSpPr>
        <p:spPr>
          <a:xfrm>
            <a:off x="762120" y="4861440"/>
            <a:ext cx="18133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(Experimentation).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6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661057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7" name=""/>
          <p:cNvSpPr txBox="1"/>
          <p:nvPr/>
        </p:nvSpPr>
        <p:spPr>
          <a:xfrm>
            <a:off x="762120" y="-8280"/>
            <a:ext cx="730260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The Eight-Dimensional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8" name=""/>
          <p:cNvSpPr/>
          <p:nvPr/>
        </p:nvSpPr>
        <p:spPr>
          <a:xfrm>
            <a:off x="766440" y="3338280"/>
            <a:ext cx="5277240" cy="762480"/>
          </a:xfrm>
          <a:custGeom>
            <a:avLst/>
            <a:gdLst/>
            <a:ahLst/>
            <a:rect l="0" t="0" r="r" b="b"/>
            <a:pathLst>
              <a:path w="14659" h="2118">
                <a:moveTo>
                  <a:pt x="0" y="1972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3"/>
                </a:cubicBezTo>
                <a:cubicBezTo>
                  <a:pt x="14552" y="5"/>
                  <a:pt x="14561" y="8"/>
                  <a:pt x="14569" y="11"/>
                </a:cubicBezTo>
                <a:cubicBezTo>
                  <a:pt x="14578" y="15"/>
                  <a:pt x="14587" y="19"/>
                  <a:pt x="14595" y="25"/>
                </a:cubicBezTo>
                <a:cubicBezTo>
                  <a:pt x="14603" y="30"/>
                  <a:pt x="14610" y="36"/>
                  <a:pt x="14617" y="43"/>
                </a:cubicBezTo>
                <a:cubicBezTo>
                  <a:pt x="14623" y="50"/>
                  <a:pt x="14629" y="57"/>
                  <a:pt x="14635" y="65"/>
                </a:cubicBezTo>
                <a:cubicBezTo>
                  <a:pt x="14640" y="73"/>
                  <a:pt x="14645" y="81"/>
                  <a:pt x="14648" y="90"/>
                </a:cubicBezTo>
                <a:cubicBezTo>
                  <a:pt x="14652" y="99"/>
                  <a:pt x="14655" y="108"/>
                  <a:pt x="14657" y="117"/>
                </a:cubicBezTo>
                <a:cubicBezTo>
                  <a:pt x="14658" y="127"/>
                  <a:pt x="14659" y="136"/>
                  <a:pt x="14659" y="146"/>
                </a:cubicBezTo>
                <a:lnTo>
                  <a:pt x="14659" y="1972"/>
                </a:lnTo>
                <a:cubicBezTo>
                  <a:pt x="14659" y="1982"/>
                  <a:pt x="14658" y="1991"/>
                  <a:pt x="14657" y="2001"/>
                </a:cubicBezTo>
                <a:cubicBezTo>
                  <a:pt x="14655" y="2010"/>
                  <a:pt x="14652" y="2019"/>
                  <a:pt x="14648" y="2028"/>
                </a:cubicBezTo>
                <a:cubicBezTo>
                  <a:pt x="14645" y="2037"/>
                  <a:pt x="14640" y="2045"/>
                  <a:pt x="14635" y="2053"/>
                </a:cubicBezTo>
                <a:cubicBezTo>
                  <a:pt x="14629" y="2061"/>
                  <a:pt x="14623" y="2068"/>
                  <a:pt x="14617" y="2075"/>
                </a:cubicBezTo>
                <a:cubicBezTo>
                  <a:pt x="14610" y="2082"/>
                  <a:pt x="14603" y="2088"/>
                  <a:pt x="14595" y="2093"/>
                </a:cubicBezTo>
                <a:cubicBezTo>
                  <a:pt x="14587" y="2099"/>
                  <a:pt x="14578" y="2103"/>
                  <a:pt x="14569" y="2107"/>
                </a:cubicBezTo>
                <a:cubicBezTo>
                  <a:pt x="14561" y="2110"/>
                  <a:pt x="14552" y="2113"/>
                  <a:pt x="14542" y="2115"/>
                </a:cubicBezTo>
                <a:cubicBezTo>
                  <a:pt x="14533" y="2117"/>
                  <a:pt x="14523" y="2118"/>
                  <a:pt x="14514" y="2118"/>
                </a:cubicBezTo>
                <a:lnTo>
                  <a:pt x="146" y="2118"/>
                </a:lnTo>
                <a:cubicBezTo>
                  <a:pt x="136" y="2118"/>
                  <a:pt x="127" y="2117"/>
                  <a:pt x="118" y="2115"/>
                </a:cubicBezTo>
                <a:cubicBezTo>
                  <a:pt x="108" y="2113"/>
                  <a:pt x="99" y="2110"/>
                  <a:pt x="90" y="2107"/>
                </a:cubicBezTo>
                <a:cubicBezTo>
                  <a:pt x="81" y="2103"/>
                  <a:pt x="73" y="2099"/>
                  <a:pt x="65" y="2093"/>
                </a:cubicBezTo>
                <a:cubicBezTo>
                  <a:pt x="57" y="2088"/>
                  <a:pt x="50" y="2082"/>
                  <a:pt x="43" y="2075"/>
                </a:cubicBezTo>
                <a:cubicBezTo>
                  <a:pt x="36" y="2068"/>
                  <a:pt x="30" y="2061"/>
                  <a:pt x="25" y="2053"/>
                </a:cubicBezTo>
                <a:cubicBezTo>
                  <a:pt x="20" y="2045"/>
                  <a:pt x="15" y="2037"/>
                  <a:pt x="11" y="2028"/>
                </a:cubicBezTo>
                <a:cubicBezTo>
                  <a:pt x="8" y="2019"/>
                  <a:pt x="5" y="2010"/>
                  <a:pt x="3" y="2001"/>
                </a:cubicBezTo>
                <a:cubicBezTo>
                  <a:pt x="1" y="1991"/>
                  <a:pt x="0" y="1982"/>
                  <a:pt x="0" y="1972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9" name=""/>
          <p:cNvSpPr/>
          <p:nvPr/>
        </p:nvSpPr>
        <p:spPr>
          <a:xfrm>
            <a:off x="766440" y="3338280"/>
            <a:ext cx="5277240" cy="762480"/>
          </a:xfrm>
          <a:custGeom>
            <a:avLst/>
            <a:gdLst/>
            <a:ahLst/>
            <a:rect l="0" t="0" r="r" b="b"/>
            <a:pathLst>
              <a:path fill="none" w="14659" h="2118">
                <a:moveTo>
                  <a:pt x="0" y="1972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3"/>
                </a:cubicBezTo>
                <a:cubicBezTo>
                  <a:pt x="14552" y="5"/>
                  <a:pt x="14561" y="8"/>
                  <a:pt x="14569" y="11"/>
                </a:cubicBezTo>
                <a:cubicBezTo>
                  <a:pt x="14578" y="15"/>
                  <a:pt x="14587" y="19"/>
                  <a:pt x="14595" y="25"/>
                </a:cubicBezTo>
                <a:cubicBezTo>
                  <a:pt x="14603" y="30"/>
                  <a:pt x="14610" y="36"/>
                  <a:pt x="14617" y="43"/>
                </a:cubicBezTo>
                <a:cubicBezTo>
                  <a:pt x="14623" y="50"/>
                  <a:pt x="14629" y="57"/>
                  <a:pt x="14635" y="65"/>
                </a:cubicBezTo>
                <a:cubicBezTo>
                  <a:pt x="14640" y="73"/>
                  <a:pt x="14645" y="81"/>
                  <a:pt x="14648" y="90"/>
                </a:cubicBezTo>
                <a:cubicBezTo>
                  <a:pt x="14652" y="99"/>
                  <a:pt x="14655" y="108"/>
                  <a:pt x="14657" y="117"/>
                </a:cubicBezTo>
                <a:cubicBezTo>
                  <a:pt x="14658" y="127"/>
                  <a:pt x="14659" y="136"/>
                  <a:pt x="14659" y="146"/>
                </a:cubicBezTo>
                <a:lnTo>
                  <a:pt x="14659" y="1972"/>
                </a:lnTo>
                <a:cubicBezTo>
                  <a:pt x="14659" y="1982"/>
                  <a:pt x="14658" y="1991"/>
                  <a:pt x="14657" y="2001"/>
                </a:cubicBezTo>
                <a:cubicBezTo>
                  <a:pt x="14655" y="2010"/>
                  <a:pt x="14652" y="2019"/>
                  <a:pt x="14648" y="2028"/>
                </a:cubicBezTo>
                <a:cubicBezTo>
                  <a:pt x="14645" y="2037"/>
                  <a:pt x="14640" y="2045"/>
                  <a:pt x="14635" y="2053"/>
                </a:cubicBezTo>
                <a:cubicBezTo>
                  <a:pt x="14629" y="2061"/>
                  <a:pt x="14623" y="2068"/>
                  <a:pt x="14617" y="2075"/>
                </a:cubicBezTo>
                <a:cubicBezTo>
                  <a:pt x="14610" y="2082"/>
                  <a:pt x="14603" y="2088"/>
                  <a:pt x="14595" y="2093"/>
                </a:cubicBezTo>
                <a:cubicBezTo>
                  <a:pt x="14587" y="2099"/>
                  <a:pt x="14578" y="2103"/>
                  <a:pt x="14569" y="2107"/>
                </a:cubicBezTo>
                <a:cubicBezTo>
                  <a:pt x="14561" y="2110"/>
                  <a:pt x="14552" y="2113"/>
                  <a:pt x="14542" y="2115"/>
                </a:cubicBezTo>
                <a:cubicBezTo>
                  <a:pt x="14533" y="2117"/>
                  <a:pt x="14523" y="2118"/>
                  <a:pt x="14514" y="2118"/>
                </a:cubicBezTo>
                <a:lnTo>
                  <a:pt x="146" y="2118"/>
                </a:lnTo>
                <a:cubicBezTo>
                  <a:pt x="136" y="2118"/>
                  <a:pt x="127" y="2117"/>
                  <a:pt x="118" y="2115"/>
                </a:cubicBezTo>
                <a:cubicBezTo>
                  <a:pt x="108" y="2113"/>
                  <a:pt x="99" y="2110"/>
                  <a:pt x="90" y="2107"/>
                </a:cubicBezTo>
                <a:cubicBezTo>
                  <a:pt x="81" y="2103"/>
                  <a:pt x="73" y="2099"/>
                  <a:pt x="65" y="2093"/>
                </a:cubicBezTo>
                <a:cubicBezTo>
                  <a:pt x="57" y="2088"/>
                  <a:pt x="50" y="2082"/>
                  <a:pt x="43" y="2075"/>
                </a:cubicBezTo>
                <a:cubicBezTo>
                  <a:pt x="36" y="2068"/>
                  <a:pt x="30" y="2061"/>
                  <a:pt x="25" y="2053"/>
                </a:cubicBezTo>
                <a:cubicBezTo>
                  <a:pt x="20" y="2045"/>
                  <a:pt x="15" y="2037"/>
                  <a:pt x="11" y="2028"/>
                </a:cubicBezTo>
                <a:cubicBezTo>
                  <a:pt x="8" y="2019"/>
                  <a:pt x="5" y="2010"/>
                  <a:pt x="3" y="2001"/>
                </a:cubicBezTo>
                <a:cubicBezTo>
                  <a:pt x="1" y="1991"/>
                  <a:pt x="0" y="1982"/>
                  <a:pt x="0" y="1972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0" name=""/>
          <p:cNvSpPr txBox="1"/>
          <p:nvPr/>
        </p:nvSpPr>
        <p:spPr>
          <a:xfrm>
            <a:off x="762120" y="753480"/>
            <a:ext cx="408636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Methodology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1" name=""/>
          <p:cNvSpPr txBox="1"/>
          <p:nvPr/>
        </p:nvSpPr>
        <p:spPr>
          <a:xfrm>
            <a:off x="923760" y="3442680"/>
            <a:ext cx="39855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Uniqueness · Dimensionality · Directionality ·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2" name=""/>
          <p:cNvSpPr/>
          <p:nvPr/>
        </p:nvSpPr>
        <p:spPr>
          <a:xfrm>
            <a:off x="6148080" y="3338280"/>
            <a:ext cx="5277240" cy="762480"/>
          </a:xfrm>
          <a:custGeom>
            <a:avLst/>
            <a:gdLst/>
            <a:ahLst/>
            <a:rect l="0" t="0" r="r" b="b"/>
            <a:pathLst>
              <a:path w="14659" h="2118">
                <a:moveTo>
                  <a:pt x="0" y="1972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3"/>
                </a:cubicBezTo>
                <a:cubicBezTo>
                  <a:pt x="14552" y="5"/>
                  <a:pt x="14561" y="8"/>
                  <a:pt x="14569" y="11"/>
                </a:cubicBezTo>
                <a:cubicBezTo>
                  <a:pt x="14578" y="15"/>
                  <a:pt x="14587" y="19"/>
                  <a:pt x="14595" y="25"/>
                </a:cubicBezTo>
                <a:cubicBezTo>
                  <a:pt x="14603" y="30"/>
                  <a:pt x="14610" y="36"/>
                  <a:pt x="14617" y="43"/>
                </a:cubicBezTo>
                <a:cubicBezTo>
                  <a:pt x="14623" y="50"/>
                  <a:pt x="14629" y="57"/>
                  <a:pt x="14635" y="65"/>
                </a:cubicBezTo>
                <a:cubicBezTo>
                  <a:pt x="14640" y="73"/>
                  <a:pt x="14645" y="81"/>
                  <a:pt x="14648" y="90"/>
                </a:cubicBezTo>
                <a:cubicBezTo>
                  <a:pt x="14652" y="99"/>
                  <a:pt x="14655" y="108"/>
                  <a:pt x="14656" y="117"/>
                </a:cubicBezTo>
                <a:cubicBezTo>
                  <a:pt x="14658" y="127"/>
                  <a:pt x="14659" y="136"/>
                  <a:pt x="14659" y="146"/>
                </a:cubicBezTo>
                <a:lnTo>
                  <a:pt x="14659" y="1972"/>
                </a:lnTo>
                <a:cubicBezTo>
                  <a:pt x="14659" y="1982"/>
                  <a:pt x="14658" y="1991"/>
                  <a:pt x="14656" y="2001"/>
                </a:cubicBezTo>
                <a:cubicBezTo>
                  <a:pt x="14655" y="2010"/>
                  <a:pt x="14652" y="2019"/>
                  <a:pt x="14648" y="2028"/>
                </a:cubicBezTo>
                <a:cubicBezTo>
                  <a:pt x="14645" y="2037"/>
                  <a:pt x="14640" y="2045"/>
                  <a:pt x="14635" y="2053"/>
                </a:cubicBezTo>
                <a:cubicBezTo>
                  <a:pt x="14629" y="2061"/>
                  <a:pt x="14623" y="2068"/>
                  <a:pt x="14617" y="2075"/>
                </a:cubicBezTo>
                <a:cubicBezTo>
                  <a:pt x="14610" y="2082"/>
                  <a:pt x="14603" y="2088"/>
                  <a:pt x="14595" y="2093"/>
                </a:cubicBezTo>
                <a:cubicBezTo>
                  <a:pt x="14587" y="2099"/>
                  <a:pt x="14578" y="2103"/>
                  <a:pt x="14569" y="2107"/>
                </a:cubicBezTo>
                <a:cubicBezTo>
                  <a:pt x="14561" y="2110"/>
                  <a:pt x="14552" y="2113"/>
                  <a:pt x="14542" y="2115"/>
                </a:cubicBezTo>
                <a:cubicBezTo>
                  <a:pt x="14533" y="2117"/>
                  <a:pt x="14523" y="2118"/>
                  <a:pt x="14514" y="2118"/>
                </a:cubicBezTo>
                <a:lnTo>
                  <a:pt x="146" y="2118"/>
                </a:lnTo>
                <a:cubicBezTo>
                  <a:pt x="136" y="2118"/>
                  <a:pt x="127" y="2117"/>
                  <a:pt x="117" y="2115"/>
                </a:cubicBezTo>
                <a:cubicBezTo>
                  <a:pt x="108" y="2113"/>
                  <a:pt x="99" y="2110"/>
                  <a:pt x="90" y="2107"/>
                </a:cubicBezTo>
                <a:cubicBezTo>
                  <a:pt x="81" y="2103"/>
                  <a:pt x="73" y="2099"/>
                  <a:pt x="65" y="2093"/>
                </a:cubicBezTo>
                <a:cubicBezTo>
                  <a:pt x="57" y="2088"/>
                  <a:pt x="50" y="2082"/>
                  <a:pt x="43" y="2075"/>
                </a:cubicBezTo>
                <a:cubicBezTo>
                  <a:pt x="36" y="2068"/>
                  <a:pt x="30" y="2061"/>
                  <a:pt x="25" y="2053"/>
                </a:cubicBezTo>
                <a:cubicBezTo>
                  <a:pt x="20" y="2045"/>
                  <a:pt x="15" y="2037"/>
                  <a:pt x="11" y="2028"/>
                </a:cubicBezTo>
                <a:cubicBezTo>
                  <a:pt x="8" y="2019"/>
                  <a:pt x="5" y="2010"/>
                  <a:pt x="3" y="2001"/>
                </a:cubicBezTo>
                <a:cubicBezTo>
                  <a:pt x="1" y="1991"/>
                  <a:pt x="0" y="1982"/>
                  <a:pt x="0" y="1972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3" name=""/>
          <p:cNvSpPr/>
          <p:nvPr/>
        </p:nvSpPr>
        <p:spPr>
          <a:xfrm>
            <a:off x="6148080" y="3338280"/>
            <a:ext cx="5277240" cy="762480"/>
          </a:xfrm>
          <a:custGeom>
            <a:avLst/>
            <a:gdLst/>
            <a:ahLst/>
            <a:rect l="0" t="0" r="r" b="b"/>
            <a:pathLst>
              <a:path fill="none" w="14659" h="2118">
                <a:moveTo>
                  <a:pt x="0" y="1972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3"/>
                </a:cubicBezTo>
                <a:cubicBezTo>
                  <a:pt x="14552" y="5"/>
                  <a:pt x="14561" y="8"/>
                  <a:pt x="14569" y="11"/>
                </a:cubicBezTo>
                <a:cubicBezTo>
                  <a:pt x="14578" y="15"/>
                  <a:pt x="14587" y="19"/>
                  <a:pt x="14595" y="25"/>
                </a:cubicBezTo>
                <a:cubicBezTo>
                  <a:pt x="14603" y="30"/>
                  <a:pt x="14610" y="36"/>
                  <a:pt x="14617" y="43"/>
                </a:cubicBezTo>
                <a:cubicBezTo>
                  <a:pt x="14623" y="50"/>
                  <a:pt x="14629" y="57"/>
                  <a:pt x="14635" y="65"/>
                </a:cubicBezTo>
                <a:cubicBezTo>
                  <a:pt x="14640" y="73"/>
                  <a:pt x="14645" y="81"/>
                  <a:pt x="14648" y="90"/>
                </a:cubicBezTo>
                <a:cubicBezTo>
                  <a:pt x="14652" y="99"/>
                  <a:pt x="14655" y="108"/>
                  <a:pt x="14656" y="117"/>
                </a:cubicBezTo>
                <a:cubicBezTo>
                  <a:pt x="14658" y="127"/>
                  <a:pt x="14659" y="136"/>
                  <a:pt x="14659" y="146"/>
                </a:cubicBezTo>
                <a:lnTo>
                  <a:pt x="14659" y="1972"/>
                </a:lnTo>
                <a:cubicBezTo>
                  <a:pt x="14659" y="1982"/>
                  <a:pt x="14658" y="1991"/>
                  <a:pt x="14656" y="2001"/>
                </a:cubicBezTo>
                <a:cubicBezTo>
                  <a:pt x="14655" y="2010"/>
                  <a:pt x="14652" y="2019"/>
                  <a:pt x="14648" y="2028"/>
                </a:cubicBezTo>
                <a:cubicBezTo>
                  <a:pt x="14645" y="2037"/>
                  <a:pt x="14640" y="2045"/>
                  <a:pt x="14635" y="2053"/>
                </a:cubicBezTo>
                <a:cubicBezTo>
                  <a:pt x="14629" y="2061"/>
                  <a:pt x="14623" y="2068"/>
                  <a:pt x="14617" y="2075"/>
                </a:cubicBezTo>
                <a:cubicBezTo>
                  <a:pt x="14610" y="2082"/>
                  <a:pt x="14603" y="2088"/>
                  <a:pt x="14595" y="2093"/>
                </a:cubicBezTo>
                <a:cubicBezTo>
                  <a:pt x="14587" y="2099"/>
                  <a:pt x="14578" y="2103"/>
                  <a:pt x="14569" y="2107"/>
                </a:cubicBezTo>
                <a:cubicBezTo>
                  <a:pt x="14561" y="2110"/>
                  <a:pt x="14552" y="2113"/>
                  <a:pt x="14542" y="2115"/>
                </a:cubicBezTo>
                <a:cubicBezTo>
                  <a:pt x="14533" y="2117"/>
                  <a:pt x="14523" y="2118"/>
                  <a:pt x="14514" y="2118"/>
                </a:cubicBezTo>
                <a:lnTo>
                  <a:pt x="146" y="2118"/>
                </a:lnTo>
                <a:cubicBezTo>
                  <a:pt x="136" y="2118"/>
                  <a:pt x="127" y="2117"/>
                  <a:pt x="117" y="2115"/>
                </a:cubicBezTo>
                <a:cubicBezTo>
                  <a:pt x="108" y="2113"/>
                  <a:pt x="99" y="2110"/>
                  <a:pt x="90" y="2107"/>
                </a:cubicBezTo>
                <a:cubicBezTo>
                  <a:pt x="81" y="2103"/>
                  <a:pt x="73" y="2099"/>
                  <a:pt x="65" y="2093"/>
                </a:cubicBezTo>
                <a:cubicBezTo>
                  <a:pt x="57" y="2088"/>
                  <a:pt x="50" y="2082"/>
                  <a:pt x="43" y="2075"/>
                </a:cubicBezTo>
                <a:cubicBezTo>
                  <a:pt x="36" y="2068"/>
                  <a:pt x="30" y="2061"/>
                  <a:pt x="25" y="2053"/>
                </a:cubicBezTo>
                <a:cubicBezTo>
                  <a:pt x="20" y="2045"/>
                  <a:pt x="15" y="2037"/>
                  <a:pt x="11" y="2028"/>
                </a:cubicBezTo>
                <a:cubicBezTo>
                  <a:pt x="8" y="2019"/>
                  <a:pt x="5" y="2010"/>
                  <a:pt x="3" y="2001"/>
                </a:cubicBezTo>
                <a:cubicBezTo>
                  <a:pt x="1" y="1991"/>
                  <a:pt x="0" y="1982"/>
                  <a:pt x="0" y="1972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4" name=""/>
          <p:cNvSpPr txBox="1"/>
          <p:nvPr/>
        </p:nvSpPr>
        <p:spPr>
          <a:xfrm>
            <a:off x="923760" y="3718800"/>
            <a:ext cx="12276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Consolidation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5" name=""/>
          <p:cNvSpPr txBox="1"/>
          <p:nvPr/>
        </p:nvSpPr>
        <p:spPr>
          <a:xfrm>
            <a:off x="6305400" y="3442680"/>
            <a:ext cx="35985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Segmentation · Modiﬁcation · Similarity ·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6" name=""/>
          <p:cNvSpPr txBox="1"/>
          <p:nvPr/>
        </p:nvSpPr>
        <p:spPr>
          <a:xfrm>
            <a:off x="6305400" y="3718800"/>
            <a:ext cx="14594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Experimentation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7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8" name=""/>
          <p:cNvSpPr txBox="1"/>
          <p:nvPr/>
        </p:nvSpPr>
        <p:spPr>
          <a:xfrm>
            <a:off x="1238400" y="6569280"/>
            <a:ext cx="31820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0020e35 | © 08.10.2026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9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22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773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4" name=""/>
          <p:cNvSpPr/>
          <p:nvPr/>
        </p:nvSpPr>
        <p:spPr>
          <a:xfrm>
            <a:off x="1295280" y="2552400"/>
            <a:ext cx="3276720" cy="352800"/>
          </a:xfrm>
          <a:custGeom>
            <a:avLst/>
            <a:gdLst/>
            <a:ahLst/>
            <a:rect l="0" t="0" r="r" b="b"/>
            <a:pathLst>
              <a:path w="9102" h="980">
                <a:moveTo>
                  <a:pt x="0" y="0"/>
                </a:moveTo>
                <a:lnTo>
                  <a:pt x="9102" y="0"/>
                </a:lnTo>
                <a:lnTo>
                  <a:pt x="9102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5" name=""/>
          <p:cNvSpPr/>
          <p:nvPr/>
        </p:nvSpPr>
        <p:spPr>
          <a:xfrm>
            <a:off x="4571640" y="2552400"/>
            <a:ext cx="6325200" cy="352800"/>
          </a:xfrm>
          <a:custGeom>
            <a:avLst/>
            <a:gdLst/>
            <a:ahLst/>
            <a:rect l="0" t="0" r="r" b="b"/>
            <a:pathLst>
              <a:path w="17570" h="980">
                <a:moveTo>
                  <a:pt x="0" y="0"/>
                </a:moveTo>
                <a:lnTo>
                  <a:pt x="17570" y="0"/>
                </a:lnTo>
                <a:lnTo>
                  <a:pt x="17570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6" name=""/>
          <p:cNvSpPr/>
          <p:nvPr/>
        </p:nvSpPr>
        <p:spPr>
          <a:xfrm>
            <a:off x="1295280" y="2904840"/>
            <a:ext cx="3276720" cy="352800"/>
          </a:xfrm>
          <a:custGeom>
            <a:avLst/>
            <a:gdLst/>
            <a:ahLst/>
            <a:rect l="0" t="0" r="r" b="b"/>
            <a:pathLst>
              <a:path w="9102" h="980">
                <a:moveTo>
                  <a:pt x="0" y="0"/>
                </a:moveTo>
                <a:lnTo>
                  <a:pt x="9102" y="0"/>
                </a:lnTo>
                <a:lnTo>
                  <a:pt x="9102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7" name=""/>
          <p:cNvSpPr/>
          <p:nvPr/>
        </p:nvSpPr>
        <p:spPr>
          <a:xfrm>
            <a:off x="4571640" y="2904840"/>
            <a:ext cx="6325200" cy="352800"/>
          </a:xfrm>
          <a:custGeom>
            <a:avLst/>
            <a:gdLst/>
            <a:ahLst/>
            <a:rect l="0" t="0" r="r" b="b"/>
            <a:pathLst>
              <a:path w="17570" h="980">
                <a:moveTo>
                  <a:pt x="0" y="0"/>
                </a:moveTo>
                <a:lnTo>
                  <a:pt x="17570" y="0"/>
                </a:lnTo>
                <a:lnTo>
                  <a:pt x="17570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8" name=""/>
          <p:cNvSpPr/>
          <p:nvPr/>
        </p:nvSpPr>
        <p:spPr>
          <a:xfrm>
            <a:off x="1295280" y="3257280"/>
            <a:ext cx="3276720" cy="352800"/>
          </a:xfrm>
          <a:custGeom>
            <a:avLst/>
            <a:gdLst/>
            <a:ahLst/>
            <a:rect l="0" t="0" r="r" b="b"/>
            <a:pathLst>
              <a:path w="9102" h="980">
                <a:moveTo>
                  <a:pt x="0" y="0"/>
                </a:moveTo>
                <a:lnTo>
                  <a:pt x="9102" y="0"/>
                </a:lnTo>
                <a:lnTo>
                  <a:pt x="9102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9" name=""/>
          <p:cNvSpPr/>
          <p:nvPr/>
        </p:nvSpPr>
        <p:spPr>
          <a:xfrm>
            <a:off x="4571640" y="3257280"/>
            <a:ext cx="6325200" cy="352800"/>
          </a:xfrm>
          <a:custGeom>
            <a:avLst/>
            <a:gdLst/>
            <a:ahLst/>
            <a:rect l="0" t="0" r="r" b="b"/>
            <a:pathLst>
              <a:path w="17570" h="980">
                <a:moveTo>
                  <a:pt x="0" y="0"/>
                </a:moveTo>
                <a:lnTo>
                  <a:pt x="17570" y="0"/>
                </a:lnTo>
                <a:lnTo>
                  <a:pt x="17570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0" name=""/>
          <p:cNvSpPr/>
          <p:nvPr/>
        </p:nvSpPr>
        <p:spPr>
          <a:xfrm>
            <a:off x="1295280" y="3609720"/>
            <a:ext cx="3276720" cy="352800"/>
          </a:xfrm>
          <a:custGeom>
            <a:avLst/>
            <a:gdLst/>
            <a:ahLst/>
            <a:rect l="0" t="0" r="r" b="b"/>
            <a:pathLst>
              <a:path w="9102" h="980">
                <a:moveTo>
                  <a:pt x="0" y="0"/>
                </a:moveTo>
                <a:lnTo>
                  <a:pt x="9102" y="0"/>
                </a:lnTo>
                <a:lnTo>
                  <a:pt x="9102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1" name=""/>
          <p:cNvSpPr/>
          <p:nvPr/>
        </p:nvSpPr>
        <p:spPr>
          <a:xfrm>
            <a:off x="4571640" y="3609720"/>
            <a:ext cx="6325200" cy="352800"/>
          </a:xfrm>
          <a:custGeom>
            <a:avLst/>
            <a:gdLst/>
            <a:ahLst/>
            <a:rect l="0" t="0" r="r" b="b"/>
            <a:pathLst>
              <a:path w="17570" h="980">
                <a:moveTo>
                  <a:pt x="0" y="0"/>
                </a:moveTo>
                <a:lnTo>
                  <a:pt x="17570" y="0"/>
                </a:lnTo>
                <a:lnTo>
                  <a:pt x="17570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2" name=""/>
          <p:cNvSpPr/>
          <p:nvPr/>
        </p:nvSpPr>
        <p:spPr>
          <a:xfrm>
            <a:off x="1295280" y="3962160"/>
            <a:ext cx="3276720" cy="352800"/>
          </a:xfrm>
          <a:custGeom>
            <a:avLst/>
            <a:gdLst/>
            <a:ahLst/>
            <a:rect l="0" t="0" r="r" b="b"/>
            <a:pathLst>
              <a:path w="9102" h="980">
                <a:moveTo>
                  <a:pt x="0" y="0"/>
                </a:moveTo>
                <a:lnTo>
                  <a:pt x="9102" y="0"/>
                </a:lnTo>
                <a:lnTo>
                  <a:pt x="9102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3" name=""/>
          <p:cNvSpPr/>
          <p:nvPr/>
        </p:nvSpPr>
        <p:spPr>
          <a:xfrm>
            <a:off x="4571640" y="3962160"/>
            <a:ext cx="6325200" cy="352800"/>
          </a:xfrm>
          <a:custGeom>
            <a:avLst/>
            <a:gdLst/>
            <a:ahLst/>
            <a:rect l="0" t="0" r="r" b="b"/>
            <a:pathLst>
              <a:path w="17570" h="980">
                <a:moveTo>
                  <a:pt x="0" y="0"/>
                </a:moveTo>
                <a:lnTo>
                  <a:pt x="17570" y="0"/>
                </a:lnTo>
                <a:lnTo>
                  <a:pt x="17570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4" name=""/>
          <p:cNvSpPr/>
          <p:nvPr/>
        </p:nvSpPr>
        <p:spPr>
          <a:xfrm>
            <a:off x="1295280" y="4314600"/>
            <a:ext cx="3276720" cy="352800"/>
          </a:xfrm>
          <a:custGeom>
            <a:avLst/>
            <a:gdLst/>
            <a:ahLst/>
            <a:rect l="0" t="0" r="r" b="b"/>
            <a:pathLst>
              <a:path w="9102" h="980">
                <a:moveTo>
                  <a:pt x="0" y="0"/>
                </a:moveTo>
                <a:lnTo>
                  <a:pt x="9102" y="0"/>
                </a:lnTo>
                <a:lnTo>
                  <a:pt x="9102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5" name=""/>
          <p:cNvSpPr/>
          <p:nvPr/>
        </p:nvSpPr>
        <p:spPr>
          <a:xfrm>
            <a:off x="4571640" y="4314600"/>
            <a:ext cx="6325200" cy="352800"/>
          </a:xfrm>
          <a:custGeom>
            <a:avLst/>
            <a:gdLst/>
            <a:ahLst/>
            <a:rect l="0" t="0" r="r" b="b"/>
            <a:pathLst>
              <a:path w="17570" h="980">
                <a:moveTo>
                  <a:pt x="0" y="0"/>
                </a:moveTo>
                <a:lnTo>
                  <a:pt x="17570" y="0"/>
                </a:lnTo>
                <a:lnTo>
                  <a:pt x="17570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6" name=""/>
          <p:cNvSpPr/>
          <p:nvPr/>
        </p:nvSpPr>
        <p:spPr>
          <a:xfrm>
            <a:off x="1295280" y="4667040"/>
            <a:ext cx="3276720" cy="352800"/>
          </a:xfrm>
          <a:custGeom>
            <a:avLst/>
            <a:gdLst/>
            <a:ahLst/>
            <a:rect l="0" t="0" r="r" b="b"/>
            <a:pathLst>
              <a:path w="9102" h="980">
                <a:moveTo>
                  <a:pt x="0" y="0"/>
                </a:moveTo>
                <a:lnTo>
                  <a:pt x="9102" y="0"/>
                </a:lnTo>
                <a:lnTo>
                  <a:pt x="9102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7" name=""/>
          <p:cNvSpPr/>
          <p:nvPr/>
        </p:nvSpPr>
        <p:spPr>
          <a:xfrm>
            <a:off x="4571640" y="4667040"/>
            <a:ext cx="6325200" cy="352800"/>
          </a:xfrm>
          <a:custGeom>
            <a:avLst/>
            <a:gdLst/>
            <a:ahLst/>
            <a:rect l="0" t="0" r="r" b="b"/>
            <a:pathLst>
              <a:path w="17570" h="980">
                <a:moveTo>
                  <a:pt x="0" y="0"/>
                </a:moveTo>
                <a:lnTo>
                  <a:pt x="17570" y="0"/>
                </a:lnTo>
                <a:lnTo>
                  <a:pt x="17570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8" name=""/>
          <p:cNvSpPr/>
          <p:nvPr/>
        </p:nvSpPr>
        <p:spPr>
          <a:xfrm>
            <a:off x="1295280" y="5019480"/>
            <a:ext cx="3276720" cy="352800"/>
          </a:xfrm>
          <a:custGeom>
            <a:avLst/>
            <a:gdLst/>
            <a:ahLst/>
            <a:rect l="0" t="0" r="r" b="b"/>
            <a:pathLst>
              <a:path w="9102" h="980">
                <a:moveTo>
                  <a:pt x="0" y="0"/>
                </a:moveTo>
                <a:lnTo>
                  <a:pt x="9102" y="0"/>
                </a:lnTo>
                <a:lnTo>
                  <a:pt x="9102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9" name=""/>
          <p:cNvSpPr/>
          <p:nvPr/>
        </p:nvSpPr>
        <p:spPr>
          <a:xfrm>
            <a:off x="4571640" y="5019480"/>
            <a:ext cx="6325200" cy="352800"/>
          </a:xfrm>
          <a:custGeom>
            <a:avLst/>
            <a:gdLst/>
            <a:ahLst/>
            <a:rect l="0" t="0" r="r" b="b"/>
            <a:pathLst>
              <a:path w="17570" h="980">
                <a:moveTo>
                  <a:pt x="0" y="0"/>
                </a:moveTo>
                <a:lnTo>
                  <a:pt x="17570" y="0"/>
                </a:lnTo>
                <a:lnTo>
                  <a:pt x="17570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0" name=""/>
          <p:cNvSpPr/>
          <p:nvPr/>
        </p:nvSpPr>
        <p:spPr>
          <a:xfrm>
            <a:off x="1295280" y="2543040"/>
            <a:ext cx="9720" cy="362160"/>
          </a:xfrm>
          <a:custGeom>
            <a:avLst/>
            <a:gdLst/>
            <a:ahLst/>
            <a:rect l="0" t="0" r="r" b="b"/>
            <a:pathLst>
              <a:path w="27" h="1006">
                <a:moveTo>
                  <a:pt x="0" y="0"/>
                </a:moveTo>
                <a:lnTo>
                  <a:pt x="27" y="0"/>
                </a:lnTo>
                <a:lnTo>
                  <a:pt x="27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1" name=""/>
          <p:cNvSpPr/>
          <p:nvPr/>
        </p:nvSpPr>
        <p:spPr>
          <a:xfrm>
            <a:off x="1295280" y="2543040"/>
            <a:ext cx="3286440" cy="9720"/>
          </a:xfrm>
          <a:custGeom>
            <a:avLst/>
            <a:gdLst/>
            <a:ahLst/>
            <a:rect l="0" t="0" r="r" b="b"/>
            <a:pathLst>
              <a:path w="9129" h="27">
                <a:moveTo>
                  <a:pt x="0" y="0"/>
                </a:moveTo>
                <a:lnTo>
                  <a:pt x="9129" y="0"/>
                </a:lnTo>
                <a:lnTo>
                  <a:pt x="91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2" name=""/>
          <p:cNvSpPr/>
          <p:nvPr/>
        </p:nvSpPr>
        <p:spPr>
          <a:xfrm>
            <a:off x="4571640" y="2543040"/>
            <a:ext cx="10080" cy="362160"/>
          </a:xfrm>
          <a:custGeom>
            <a:avLst/>
            <a:gdLst/>
            <a:ahLst/>
            <a:rect l="0" t="0" r="r" b="b"/>
            <a:pathLst>
              <a:path w="28" h="1006">
                <a:moveTo>
                  <a:pt x="0" y="0"/>
                </a:moveTo>
                <a:lnTo>
                  <a:pt x="28" y="0"/>
                </a:lnTo>
                <a:lnTo>
                  <a:pt x="28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3" name=""/>
          <p:cNvSpPr/>
          <p:nvPr/>
        </p:nvSpPr>
        <p:spPr>
          <a:xfrm>
            <a:off x="4581360" y="2543040"/>
            <a:ext cx="6315480" cy="9720"/>
          </a:xfrm>
          <a:custGeom>
            <a:avLst/>
            <a:gdLst/>
            <a:ahLst/>
            <a:rect l="0" t="0" r="r" b="b"/>
            <a:pathLst>
              <a:path w="17543" h="27">
                <a:moveTo>
                  <a:pt x="0" y="0"/>
                </a:moveTo>
                <a:lnTo>
                  <a:pt x="17543" y="0"/>
                </a:lnTo>
                <a:lnTo>
                  <a:pt x="175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4" name=""/>
          <p:cNvSpPr/>
          <p:nvPr/>
        </p:nvSpPr>
        <p:spPr>
          <a:xfrm>
            <a:off x="10886760" y="2543040"/>
            <a:ext cx="10080" cy="362160"/>
          </a:xfrm>
          <a:custGeom>
            <a:avLst/>
            <a:gdLst/>
            <a:ahLst/>
            <a:rect l="0" t="0" r="r" b="b"/>
            <a:pathLst>
              <a:path w="28" h="1006">
                <a:moveTo>
                  <a:pt x="0" y="0"/>
                </a:moveTo>
                <a:lnTo>
                  <a:pt x="28" y="0"/>
                </a:lnTo>
                <a:lnTo>
                  <a:pt x="28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5" name=""/>
          <p:cNvSpPr/>
          <p:nvPr/>
        </p:nvSpPr>
        <p:spPr>
          <a:xfrm>
            <a:off x="1295280" y="2895480"/>
            <a:ext cx="3286440" cy="9720"/>
          </a:xfrm>
          <a:custGeom>
            <a:avLst/>
            <a:gdLst/>
            <a:ahLst/>
            <a:rect l="0" t="0" r="r" b="b"/>
            <a:pathLst>
              <a:path w="9129" h="27">
                <a:moveTo>
                  <a:pt x="0" y="0"/>
                </a:moveTo>
                <a:lnTo>
                  <a:pt x="9129" y="0"/>
                </a:lnTo>
                <a:lnTo>
                  <a:pt x="91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6" name=""/>
          <p:cNvSpPr/>
          <p:nvPr/>
        </p:nvSpPr>
        <p:spPr>
          <a:xfrm>
            <a:off x="4581360" y="2895480"/>
            <a:ext cx="6315480" cy="9720"/>
          </a:xfrm>
          <a:custGeom>
            <a:avLst/>
            <a:gdLst/>
            <a:ahLst/>
            <a:rect l="0" t="0" r="r" b="b"/>
            <a:pathLst>
              <a:path w="17543" h="27">
                <a:moveTo>
                  <a:pt x="0" y="0"/>
                </a:moveTo>
                <a:lnTo>
                  <a:pt x="17543" y="0"/>
                </a:lnTo>
                <a:lnTo>
                  <a:pt x="175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7" name=""/>
          <p:cNvSpPr/>
          <p:nvPr/>
        </p:nvSpPr>
        <p:spPr>
          <a:xfrm>
            <a:off x="1295280" y="290484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8" name=""/>
          <p:cNvSpPr/>
          <p:nvPr/>
        </p:nvSpPr>
        <p:spPr>
          <a:xfrm>
            <a:off x="4571640" y="2904840"/>
            <a:ext cx="10080" cy="352800"/>
          </a:xfrm>
          <a:custGeom>
            <a:avLst/>
            <a:gdLst/>
            <a:ahLst/>
            <a:rect l="0" t="0" r="r" b="b"/>
            <a:pathLst>
              <a:path w="28" h="980">
                <a:moveTo>
                  <a:pt x="0" y="0"/>
                </a:moveTo>
                <a:lnTo>
                  <a:pt x="28" y="0"/>
                </a:lnTo>
                <a:lnTo>
                  <a:pt x="2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9" name=""/>
          <p:cNvSpPr/>
          <p:nvPr/>
        </p:nvSpPr>
        <p:spPr>
          <a:xfrm>
            <a:off x="10886760" y="2904840"/>
            <a:ext cx="10080" cy="352800"/>
          </a:xfrm>
          <a:custGeom>
            <a:avLst/>
            <a:gdLst/>
            <a:ahLst/>
            <a:rect l="0" t="0" r="r" b="b"/>
            <a:pathLst>
              <a:path w="28" h="980">
                <a:moveTo>
                  <a:pt x="0" y="0"/>
                </a:moveTo>
                <a:lnTo>
                  <a:pt x="28" y="0"/>
                </a:lnTo>
                <a:lnTo>
                  <a:pt x="2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0" name=""/>
          <p:cNvSpPr/>
          <p:nvPr/>
        </p:nvSpPr>
        <p:spPr>
          <a:xfrm>
            <a:off x="1295280" y="325728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1" name=""/>
          <p:cNvSpPr/>
          <p:nvPr/>
        </p:nvSpPr>
        <p:spPr>
          <a:xfrm>
            <a:off x="1295280" y="3247920"/>
            <a:ext cx="3286440" cy="9720"/>
          </a:xfrm>
          <a:custGeom>
            <a:avLst/>
            <a:gdLst/>
            <a:ahLst/>
            <a:rect l="0" t="0" r="r" b="b"/>
            <a:pathLst>
              <a:path w="9129" h="27">
                <a:moveTo>
                  <a:pt x="0" y="0"/>
                </a:moveTo>
                <a:lnTo>
                  <a:pt x="9129" y="0"/>
                </a:lnTo>
                <a:lnTo>
                  <a:pt x="91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2" name=""/>
          <p:cNvSpPr/>
          <p:nvPr/>
        </p:nvSpPr>
        <p:spPr>
          <a:xfrm>
            <a:off x="4571640" y="3257280"/>
            <a:ext cx="10080" cy="352800"/>
          </a:xfrm>
          <a:custGeom>
            <a:avLst/>
            <a:gdLst/>
            <a:ahLst/>
            <a:rect l="0" t="0" r="r" b="b"/>
            <a:pathLst>
              <a:path w="28" h="980">
                <a:moveTo>
                  <a:pt x="0" y="0"/>
                </a:moveTo>
                <a:lnTo>
                  <a:pt x="28" y="0"/>
                </a:lnTo>
                <a:lnTo>
                  <a:pt x="2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3" name=""/>
          <p:cNvSpPr/>
          <p:nvPr/>
        </p:nvSpPr>
        <p:spPr>
          <a:xfrm>
            <a:off x="4581360" y="3247920"/>
            <a:ext cx="6315480" cy="9720"/>
          </a:xfrm>
          <a:custGeom>
            <a:avLst/>
            <a:gdLst/>
            <a:ahLst/>
            <a:rect l="0" t="0" r="r" b="b"/>
            <a:pathLst>
              <a:path w="17543" h="27">
                <a:moveTo>
                  <a:pt x="0" y="0"/>
                </a:moveTo>
                <a:lnTo>
                  <a:pt x="17543" y="0"/>
                </a:lnTo>
                <a:lnTo>
                  <a:pt x="175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4" name=""/>
          <p:cNvSpPr/>
          <p:nvPr/>
        </p:nvSpPr>
        <p:spPr>
          <a:xfrm>
            <a:off x="10886760" y="3257280"/>
            <a:ext cx="10080" cy="352800"/>
          </a:xfrm>
          <a:custGeom>
            <a:avLst/>
            <a:gdLst/>
            <a:ahLst/>
            <a:rect l="0" t="0" r="r" b="b"/>
            <a:pathLst>
              <a:path w="28" h="980">
                <a:moveTo>
                  <a:pt x="0" y="0"/>
                </a:moveTo>
                <a:lnTo>
                  <a:pt x="28" y="0"/>
                </a:lnTo>
                <a:lnTo>
                  <a:pt x="2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5" name=""/>
          <p:cNvSpPr/>
          <p:nvPr/>
        </p:nvSpPr>
        <p:spPr>
          <a:xfrm>
            <a:off x="1295280" y="360972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6" name=""/>
          <p:cNvSpPr/>
          <p:nvPr/>
        </p:nvSpPr>
        <p:spPr>
          <a:xfrm>
            <a:off x="1295280" y="3600360"/>
            <a:ext cx="3286440" cy="9720"/>
          </a:xfrm>
          <a:custGeom>
            <a:avLst/>
            <a:gdLst/>
            <a:ahLst/>
            <a:rect l="0" t="0" r="r" b="b"/>
            <a:pathLst>
              <a:path w="9129" h="27">
                <a:moveTo>
                  <a:pt x="0" y="0"/>
                </a:moveTo>
                <a:lnTo>
                  <a:pt x="9129" y="0"/>
                </a:lnTo>
                <a:lnTo>
                  <a:pt x="91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7" name=""/>
          <p:cNvSpPr/>
          <p:nvPr/>
        </p:nvSpPr>
        <p:spPr>
          <a:xfrm>
            <a:off x="4571640" y="3609720"/>
            <a:ext cx="10080" cy="352800"/>
          </a:xfrm>
          <a:custGeom>
            <a:avLst/>
            <a:gdLst/>
            <a:ahLst/>
            <a:rect l="0" t="0" r="r" b="b"/>
            <a:pathLst>
              <a:path w="28" h="980">
                <a:moveTo>
                  <a:pt x="0" y="0"/>
                </a:moveTo>
                <a:lnTo>
                  <a:pt x="28" y="0"/>
                </a:lnTo>
                <a:lnTo>
                  <a:pt x="2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8" name=""/>
          <p:cNvSpPr/>
          <p:nvPr/>
        </p:nvSpPr>
        <p:spPr>
          <a:xfrm>
            <a:off x="4581360" y="3600360"/>
            <a:ext cx="6315480" cy="9720"/>
          </a:xfrm>
          <a:custGeom>
            <a:avLst/>
            <a:gdLst/>
            <a:ahLst/>
            <a:rect l="0" t="0" r="r" b="b"/>
            <a:pathLst>
              <a:path w="17543" h="27">
                <a:moveTo>
                  <a:pt x="0" y="0"/>
                </a:moveTo>
                <a:lnTo>
                  <a:pt x="17543" y="0"/>
                </a:lnTo>
                <a:lnTo>
                  <a:pt x="175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9" name=""/>
          <p:cNvSpPr/>
          <p:nvPr/>
        </p:nvSpPr>
        <p:spPr>
          <a:xfrm>
            <a:off x="10886760" y="3609720"/>
            <a:ext cx="10080" cy="352800"/>
          </a:xfrm>
          <a:custGeom>
            <a:avLst/>
            <a:gdLst/>
            <a:ahLst/>
            <a:rect l="0" t="0" r="r" b="b"/>
            <a:pathLst>
              <a:path w="28" h="980">
                <a:moveTo>
                  <a:pt x="0" y="0"/>
                </a:moveTo>
                <a:lnTo>
                  <a:pt x="28" y="0"/>
                </a:lnTo>
                <a:lnTo>
                  <a:pt x="2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0" name=""/>
          <p:cNvSpPr/>
          <p:nvPr/>
        </p:nvSpPr>
        <p:spPr>
          <a:xfrm>
            <a:off x="1295280" y="396216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1" name=""/>
          <p:cNvSpPr/>
          <p:nvPr/>
        </p:nvSpPr>
        <p:spPr>
          <a:xfrm>
            <a:off x="1295280" y="3952800"/>
            <a:ext cx="3286440" cy="9720"/>
          </a:xfrm>
          <a:custGeom>
            <a:avLst/>
            <a:gdLst/>
            <a:ahLst/>
            <a:rect l="0" t="0" r="r" b="b"/>
            <a:pathLst>
              <a:path w="9129" h="27">
                <a:moveTo>
                  <a:pt x="0" y="0"/>
                </a:moveTo>
                <a:lnTo>
                  <a:pt x="9129" y="0"/>
                </a:lnTo>
                <a:lnTo>
                  <a:pt x="91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2" name=""/>
          <p:cNvSpPr/>
          <p:nvPr/>
        </p:nvSpPr>
        <p:spPr>
          <a:xfrm>
            <a:off x="4571640" y="3962160"/>
            <a:ext cx="10080" cy="352800"/>
          </a:xfrm>
          <a:custGeom>
            <a:avLst/>
            <a:gdLst/>
            <a:ahLst/>
            <a:rect l="0" t="0" r="r" b="b"/>
            <a:pathLst>
              <a:path w="28" h="980">
                <a:moveTo>
                  <a:pt x="0" y="0"/>
                </a:moveTo>
                <a:lnTo>
                  <a:pt x="28" y="0"/>
                </a:lnTo>
                <a:lnTo>
                  <a:pt x="2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3" name=""/>
          <p:cNvSpPr/>
          <p:nvPr/>
        </p:nvSpPr>
        <p:spPr>
          <a:xfrm>
            <a:off x="4581360" y="3952800"/>
            <a:ext cx="6315480" cy="9720"/>
          </a:xfrm>
          <a:custGeom>
            <a:avLst/>
            <a:gdLst/>
            <a:ahLst/>
            <a:rect l="0" t="0" r="r" b="b"/>
            <a:pathLst>
              <a:path w="17543" h="27">
                <a:moveTo>
                  <a:pt x="0" y="0"/>
                </a:moveTo>
                <a:lnTo>
                  <a:pt x="17543" y="0"/>
                </a:lnTo>
                <a:lnTo>
                  <a:pt x="175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4" name=""/>
          <p:cNvSpPr/>
          <p:nvPr/>
        </p:nvSpPr>
        <p:spPr>
          <a:xfrm>
            <a:off x="10886760" y="3962160"/>
            <a:ext cx="10080" cy="352800"/>
          </a:xfrm>
          <a:custGeom>
            <a:avLst/>
            <a:gdLst/>
            <a:ahLst/>
            <a:rect l="0" t="0" r="r" b="b"/>
            <a:pathLst>
              <a:path w="28" h="980">
                <a:moveTo>
                  <a:pt x="0" y="0"/>
                </a:moveTo>
                <a:lnTo>
                  <a:pt x="28" y="0"/>
                </a:lnTo>
                <a:lnTo>
                  <a:pt x="2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5" name=""/>
          <p:cNvSpPr/>
          <p:nvPr/>
        </p:nvSpPr>
        <p:spPr>
          <a:xfrm>
            <a:off x="1295280" y="431460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6" name=""/>
          <p:cNvSpPr/>
          <p:nvPr/>
        </p:nvSpPr>
        <p:spPr>
          <a:xfrm>
            <a:off x="1295280" y="4305240"/>
            <a:ext cx="3286440" cy="9720"/>
          </a:xfrm>
          <a:custGeom>
            <a:avLst/>
            <a:gdLst/>
            <a:ahLst/>
            <a:rect l="0" t="0" r="r" b="b"/>
            <a:pathLst>
              <a:path w="9129" h="27">
                <a:moveTo>
                  <a:pt x="0" y="0"/>
                </a:moveTo>
                <a:lnTo>
                  <a:pt x="9129" y="0"/>
                </a:lnTo>
                <a:lnTo>
                  <a:pt x="91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7" name=""/>
          <p:cNvSpPr/>
          <p:nvPr/>
        </p:nvSpPr>
        <p:spPr>
          <a:xfrm>
            <a:off x="4571640" y="4314600"/>
            <a:ext cx="10080" cy="352800"/>
          </a:xfrm>
          <a:custGeom>
            <a:avLst/>
            <a:gdLst/>
            <a:ahLst/>
            <a:rect l="0" t="0" r="r" b="b"/>
            <a:pathLst>
              <a:path w="28" h="980">
                <a:moveTo>
                  <a:pt x="0" y="0"/>
                </a:moveTo>
                <a:lnTo>
                  <a:pt x="28" y="0"/>
                </a:lnTo>
                <a:lnTo>
                  <a:pt x="2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8" name=""/>
          <p:cNvSpPr/>
          <p:nvPr/>
        </p:nvSpPr>
        <p:spPr>
          <a:xfrm>
            <a:off x="4581360" y="4305240"/>
            <a:ext cx="6315480" cy="9720"/>
          </a:xfrm>
          <a:custGeom>
            <a:avLst/>
            <a:gdLst/>
            <a:ahLst/>
            <a:rect l="0" t="0" r="r" b="b"/>
            <a:pathLst>
              <a:path w="17543" h="27">
                <a:moveTo>
                  <a:pt x="0" y="0"/>
                </a:moveTo>
                <a:lnTo>
                  <a:pt x="17543" y="0"/>
                </a:lnTo>
                <a:lnTo>
                  <a:pt x="175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9" name=""/>
          <p:cNvSpPr/>
          <p:nvPr/>
        </p:nvSpPr>
        <p:spPr>
          <a:xfrm>
            <a:off x="10886760" y="4314600"/>
            <a:ext cx="10080" cy="352800"/>
          </a:xfrm>
          <a:custGeom>
            <a:avLst/>
            <a:gdLst/>
            <a:ahLst/>
            <a:rect l="0" t="0" r="r" b="b"/>
            <a:pathLst>
              <a:path w="28" h="980">
                <a:moveTo>
                  <a:pt x="0" y="0"/>
                </a:moveTo>
                <a:lnTo>
                  <a:pt x="28" y="0"/>
                </a:lnTo>
                <a:lnTo>
                  <a:pt x="2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0" name=""/>
          <p:cNvSpPr/>
          <p:nvPr/>
        </p:nvSpPr>
        <p:spPr>
          <a:xfrm>
            <a:off x="1295280" y="466704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1" name=""/>
          <p:cNvSpPr/>
          <p:nvPr/>
        </p:nvSpPr>
        <p:spPr>
          <a:xfrm>
            <a:off x="1295280" y="4657680"/>
            <a:ext cx="3286440" cy="9720"/>
          </a:xfrm>
          <a:custGeom>
            <a:avLst/>
            <a:gdLst/>
            <a:ahLst/>
            <a:rect l="0" t="0" r="r" b="b"/>
            <a:pathLst>
              <a:path w="9129" h="27">
                <a:moveTo>
                  <a:pt x="0" y="0"/>
                </a:moveTo>
                <a:lnTo>
                  <a:pt x="9129" y="0"/>
                </a:lnTo>
                <a:lnTo>
                  <a:pt x="91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2" name=""/>
          <p:cNvSpPr/>
          <p:nvPr/>
        </p:nvSpPr>
        <p:spPr>
          <a:xfrm>
            <a:off x="4571640" y="4667040"/>
            <a:ext cx="10080" cy="352800"/>
          </a:xfrm>
          <a:custGeom>
            <a:avLst/>
            <a:gdLst/>
            <a:ahLst/>
            <a:rect l="0" t="0" r="r" b="b"/>
            <a:pathLst>
              <a:path w="28" h="980">
                <a:moveTo>
                  <a:pt x="0" y="0"/>
                </a:moveTo>
                <a:lnTo>
                  <a:pt x="28" y="0"/>
                </a:lnTo>
                <a:lnTo>
                  <a:pt x="2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3" name=""/>
          <p:cNvSpPr/>
          <p:nvPr/>
        </p:nvSpPr>
        <p:spPr>
          <a:xfrm>
            <a:off x="4581360" y="4657680"/>
            <a:ext cx="6315480" cy="9720"/>
          </a:xfrm>
          <a:custGeom>
            <a:avLst/>
            <a:gdLst/>
            <a:ahLst/>
            <a:rect l="0" t="0" r="r" b="b"/>
            <a:pathLst>
              <a:path w="17543" h="27">
                <a:moveTo>
                  <a:pt x="0" y="0"/>
                </a:moveTo>
                <a:lnTo>
                  <a:pt x="17543" y="0"/>
                </a:lnTo>
                <a:lnTo>
                  <a:pt x="175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4" name=""/>
          <p:cNvSpPr/>
          <p:nvPr/>
        </p:nvSpPr>
        <p:spPr>
          <a:xfrm>
            <a:off x="10886760" y="4667040"/>
            <a:ext cx="10080" cy="352800"/>
          </a:xfrm>
          <a:custGeom>
            <a:avLst/>
            <a:gdLst/>
            <a:ahLst/>
            <a:rect l="0" t="0" r="r" b="b"/>
            <a:pathLst>
              <a:path w="28" h="980">
                <a:moveTo>
                  <a:pt x="0" y="0"/>
                </a:moveTo>
                <a:lnTo>
                  <a:pt x="28" y="0"/>
                </a:lnTo>
                <a:lnTo>
                  <a:pt x="2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5" name=""/>
          <p:cNvSpPr/>
          <p:nvPr/>
        </p:nvSpPr>
        <p:spPr>
          <a:xfrm>
            <a:off x="1295280" y="501948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6" name=""/>
          <p:cNvSpPr/>
          <p:nvPr/>
        </p:nvSpPr>
        <p:spPr>
          <a:xfrm>
            <a:off x="1295280" y="5010120"/>
            <a:ext cx="3286440" cy="9720"/>
          </a:xfrm>
          <a:custGeom>
            <a:avLst/>
            <a:gdLst/>
            <a:ahLst/>
            <a:rect l="0" t="0" r="r" b="b"/>
            <a:pathLst>
              <a:path w="9129" h="27">
                <a:moveTo>
                  <a:pt x="0" y="0"/>
                </a:moveTo>
                <a:lnTo>
                  <a:pt x="9129" y="0"/>
                </a:lnTo>
                <a:lnTo>
                  <a:pt x="91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7" name=""/>
          <p:cNvSpPr/>
          <p:nvPr/>
        </p:nvSpPr>
        <p:spPr>
          <a:xfrm>
            <a:off x="4571640" y="5019480"/>
            <a:ext cx="10080" cy="352800"/>
          </a:xfrm>
          <a:custGeom>
            <a:avLst/>
            <a:gdLst/>
            <a:ahLst/>
            <a:rect l="0" t="0" r="r" b="b"/>
            <a:pathLst>
              <a:path w="28" h="980">
                <a:moveTo>
                  <a:pt x="0" y="0"/>
                </a:moveTo>
                <a:lnTo>
                  <a:pt x="28" y="0"/>
                </a:lnTo>
                <a:lnTo>
                  <a:pt x="2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8" name=""/>
          <p:cNvSpPr/>
          <p:nvPr/>
        </p:nvSpPr>
        <p:spPr>
          <a:xfrm>
            <a:off x="4581360" y="5010120"/>
            <a:ext cx="6315480" cy="9720"/>
          </a:xfrm>
          <a:custGeom>
            <a:avLst/>
            <a:gdLst/>
            <a:ahLst/>
            <a:rect l="0" t="0" r="r" b="b"/>
            <a:pathLst>
              <a:path w="17543" h="27">
                <a:moveTo>
                  <a:pt x="0" y="0"/>
                </a:moveTo>
                <a:lnTo>
                  <a:pt x="17543" y="0"/>
                </a:lnTo>
                <a:lnTo>
                  <a:pt x="175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9" name=""/>
          <p:cNvSpPr/>
          <p:nvPr/>
        </p:nvSpPr>
        <p:spPr>
          <a:xfrm>
            <a:off x="10886760" y="5019480"/>
            <a:ext cx="10080" cy="352800"/>
          </a:xfrm>
          <a:custGeom>
            <a:avLst/>
            <a:gdLst/>
            <a:ahLst/>
            <a:rect l="0" t="0" r="r" b="b"/>
            <a:pathLst>
              <a:path w="28" h="980">
                <a:moveTo>
                  <a:pt x="0" y="0"/>
                </a:moveTo>
                <a:lnTo>
                  <a:pt x="28" y="0"/>
                </a:lnTo>
                <a:lnTo>
                  <a:pt x="2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0" name=""/>
          <p:cNvSpPr/>
          <p:nvPr/>
        </p:nvSpPr>
        <p:spPr>
          <a:xfrm>
            <a:off x="1295280" y="5362560"/>
            <a:ext cx="3286440" cy="9720"/>
          </a:xfrm>
          <a:custGeom>
            <a:avLst/>
            <a:gdLst/>
            <a:ahLst/>
            <a:rect l="0" t="0" r="r" b="b"/>
            <a:pathLst>
              <a:path w="9129" h="27">
                <a:moveTo>
                  <a:pt x="0" y="0"/>
                </a:moveTo>
                <a:lnTo>
                  <a:pt x="9129" y="0"/>
                </a:lnTo>
                <a:lnTo>
                  <a:pt x="91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1" name=""/>
          <p:cNvSpPr/>
          <p:nvPr/>
        </p:nvSpPr>
        <p:spPr>
          <a:xfrm>
            <a:off x="4581360" y="5362560"/>
            <a:ext cx="6315480" cy="9720"/>
          </a:xfrm>
          <a:custGeom>
            <a:avLst/>
            <a:gdLst/>
            <a:ahLst/>
            <a:rect l="0" t="0" r="r" b="b"/>
            <a:pathLst>
              <a:path w="17543" h="27">
                <a:moveTo>
                  <a:pt x="0" y="0"/>
                </a:moveTo>
                <a:lnTo>
                  <a:pt x="17543" y="0"/>
                </a:lnTo>
                <a:lnTo>
                  <a:pt x="175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2" name=""/>
          <p:cNvSpPr txBox="1"/>
          <p:nvPr/>
        </p:nvSpPr>
        <p:spPr>
          <a:xfrm>
            <a:off x="762120" y="2070360"/>
            <a:ext cx="98406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 systematic literature review (93 papers, via co-citation analysis) identiﬁes seven recurring factors: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3" name=""/>
          <p:cNvSpPr txBox="1"/>
          <p:nvPr/>
        </p:nvSpPr>
        <p:spPr>
          <a:xfrm>
            <a:off x="2693520" y="2633760"/>
            <a:ext cx="48744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Factor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4" name=""/>
          <p:cNvSpPr txBox="1"/>
          <p:nvPr/>
        </p:nvSpPr>
        <p:spPr>
          <a:xfrm>
            <a:off x="7094880" y="2633760"/>
            <a:ext cx="127980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What it captures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5" name=""/>
          <p:cNvSpPr txBox="1"/>
          <p:nvPr/>
        </p:nvSpPr>
        <p:spPr>
          <a:xfrm>
            <a:off x="1436400" y="2986200"/>
            <a:ext cx="174528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Nature of the problem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6" name=""/>
          <p:cNvSpPr txBox="1"/>
          <p:nvPr/>
        </p:nvSpPr>
        <p:spPr>
          <a:xfrm>
            <a:off x="4713840" y="2986200"/>
            <a:ext cx="496188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Well-structured problems tolerate IPS; ill-structured ones need SPS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7" name=""/>
          <p:cNvSpPr txBox="1"/>
          <p:nvPr/>
        </p:nvSpPr>
        <p:spPr>
          <a:xfrm>
            <a:off x="1436400" y="3338640"/>
            <a:ext cx="130140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Time availability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8" name=""/>
          <p:cNvSpPr txBox="1"/>
          <p:nvPr/>
        </p:nvSpPr>
        <p:spPr>
          <a:xfrm>
            <a:off x="4713840" y="3338640"/>
            <a:ext cx="532836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SPS pays oﬀ with a delay — urgency pushes people back to ﬁre-ﬁghting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9" name=""/>
          <p:cNvSpPr txBox="1"/>
          <p:nvPr/>
        </p:nvSpPr>
        <p:spPr>
          <a:xfrm>
            <a:off x="1436400" y="3691080"/>
            <a:ext cx="183600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Information availability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0" name=""/>
          <p:cNvSpPr txBox="1"/>
          <p:nvPr/>
        </p:nvSpPr>
        <p:spPr>
          <a:xfrm>
            <a:off x="4713840" y="3691080"/>
            <a:ext cx="604260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Rich data on the problem's context enables SPS; "insist on data, not assumptions"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1" name=""/>
          <p:cNvSpPr txBox="1"/>
          <p:nvPr/>
        </p:nvSpPr>
        <p:spPr>
          <a:xfrm>
            <a:off x="1436400" y="4043520"/>
            <a:ext cx="164484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Collaborative culture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2" name=""/>
          <p:cNvSpPr txBox="1"/>
          <p:nvPr/>
        </p:nvSpPr>
        <p:spPr>
          <a:xfrm>
            <a:off x="4713840" y="4043520"/>
            <a:ext cx="346140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Information sharing across units facilitates SPS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3" name=""/>
          <p:cNvSpPr txBox="1"/>
          <p:nvPr/>
        </p:nvSpPr>
        <p:spPr>
          <a:xfrm>
            <a:off x="1436400" y="4395960"/>
            <a:ext cx="224100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Transformational leadership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4" name=""/>
          <p:cNvSpPr txBox="1"/>
          <p:nvPr/>
        </p:nvSpPr>
        <p:spPr>
          <a:xfrm>
            <a:off x="4713840" y="4395960"/>
            <a:ext cx="505584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Leaders who tolerate the short-term cost of SPS sustain its adoption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5" name=""/>
          <p:cNvSpPr txBox="1"/>
          <p:nvPr/>
        </p:nvSpPr>
        <p:spPr>
          <a:xfrm>
            <a:off x="1436400" y="4748400"/>
            <a:ext cx="300168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Organizational learning infrastructure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6" name=""/>
          <p:cNvSpPr txBox="1"/>
          <p:nvPr/>
        </p:nvSpPr>
        <p:spPr>
          <a:xfrm>
            <a:off x="4713840" y="4748400"/>
            <a:ext cx="381744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Mechanisms to capture and reuse what was learned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7" name=""/>
          <p:cNvSpPr txBox="1"/>
          <p:nvPr/>
        </p:nvSpPr>
        <p:spPr>
          <a:xfrm>
            <a:off x="1436400" y="5100840"/>
            <a:ext cx="199800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Environmental dynamism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8" name=""/>
          <p:cNvSpPr txBox="1"/>
          <p:nvPr/>
        </p:nvSpPr>
        <p:spPr>
          <a:xfrm>
            <a:off x="4713840" y="5100840"/>
            <a:ext cx="507816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Stable environments support SPS; volatile ones push back toward IPS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9" name=""/>
          <p:cNvSpPr txBox="1"/>
          <p:nvPr/>
        </p:nvSpPr>
        <p:spPr>
          <a:xfrm>
            <a:off x="851400" y="5387400"/>
            <a:ext cx="61740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6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1. </a:t>
            </a:r>
            <a:r>
              <a:rPr b="0" lang="en-US" sz="96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Mohaghegh &amp; Furlan (2020), synthesising 93 co-cited articles into these seven second-order themes.</a:t>
            </a:r>
            <a:endParaRPr b="0" lang="en-US" sz="9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0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661057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1" name=""/>
          <p:cNvSpPr txBox="1"/>
          <p:nvPr/>
        </p:nvSpPr>
        <p:spPr>
          <a:xfrm>
            <a:off x="762120" y="-8280"/>
            <a:ext cx="988668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Seven Factors That Support SPS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2" name=""/>
          <p:cNvSpPr txBox="1"/>
          <p:nvPr/>
        </p:nvSpPr>
        <p:spPr>
          <a:xfrm>
            <a:off x="762120" y="753480"/>
            <a:ext cx="288180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Adoption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3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4" name=""/>
          <p:cNvSpPr txBox="1"/>
          <p:nvPr/>
        </p:nvSpPr>
        <p:spPr>
          <a:xfrm>
            <a:off x="1238400" y="6569280"/>
            <a:ext cx="31820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0020e35 | © 08.10.2026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5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23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859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0" name=""/>
          <p:cNvSpPr txBox="1"/>
          <p:nvPr/>
        </p:nvSpPr>
        <p:spPr>
          <a:xfrm>
            <a:off x="762120" y="2289600"/>
            <a:ext cx="50446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Uncertainty is the core mechanism.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Ill-structured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1" name=""/>
          <p:cNvSpPr txBox="1"/>
          <p:nvPr/>
        </p:nvSpPr>
        <p:spPr>
          <a:xfrm>
            <a:off x="762120" y="2594520"/>
            <a:ext cx="15433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problems carry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2" name=""/>
          <p:cNvSpPr txBox="1"/>
          <p:nvPr/>
        </p:nvSpPr>
        <p:spPr>
          <a:xfrm>
            <a:off x="2357280" y="2594520"/>
            <a:ext cx="77580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5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internal</a:t>
            </a:r>
            <a:endParaRPr b="0" lang="en-US" sz="16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3" name=""/>
          <p:cNvSpPr txBox="1"/>
          <p:nvPr/>
        </p:nvSpPr>
        <p:spPr>
          <a:xfrm>
            <a:off x="3062520" y="2594520"/>
            <a:ext cx="26517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 uncertainty (the problem's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762120" y="2899080"/>
            <a:ext cx="43545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own complexity); volatile environments add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5175360" y="2899080"/>
            <a:ext cx="8301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5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external</a:t>
            </a:r>
            <a:endParaRPr b="0" lang="en-US" sz="16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6" name=""/>
          <p:cNvSpPr txBox="1"/>
          <p:nvPr/>
        </p:nvSpPr>
        <p:spPr>
          <a:xfrm>
            <a:off x="762120" y="3204000"/>
            <a:ext cx="11700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uncertainty.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7" name=""/>
          <p:cNvSpPr txBox="1"/>
          <p:nvPr/>
        </p:nvSpPr>
        <p:spPr>
          <a:xfrm>
            <a:off x="6197400" y="2289600"/>
            <a:ext cx="46011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SPS adoption requires organisations to actively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8" name=""/>
          <p:cNvSpPr txBox="1"/>
          <p:nvPr/>
        </p:nvSpPr>
        <p:spPr>
          <a:xfrm>
            <a:off x="6197400" y="2594520"/>
            <a:ext cx="45478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reduce both kinds of uncertainty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— through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9" name=""/>
          <p:cNvSpPr txBox="1"/>
          <p:nvPr/>
        </p:nvSpPr>
        <p:spPr>
          <a:xfrm>
            <a:off x="6197400" y="2899080"/>
            <a:ext cx="49726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information, collaboration, learning infrastructure,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0" name=""/>
          <p:cNvSpPr txBox="1"/>
          <p:nvPr/>
        </p:nvSpPr>
        <p:spPr>
          <a:xfrm>
            <a:off x="6197400" y="3204000"/>
            <a:ext cx="50583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and leadership that can absorb the short-term cost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6197400" y="3508920"/>
            <a:ext cx="23623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of not just ﬁre-ﬁghting.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2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661057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3" name=""/>
          <p:cNvSpPr/>
          <p:nvPr/>
        </p:nvSpPr>
        <p:spPr>
          <a:xfrm>
            <a:off x="766440" y="4052880"/>
            <a:ext cx="10658880" cy="1276560"/>
          </a:xfrm>
          <a:custGeom>
            <a:avLst/>
            <a:gdLst/>
            <a:ahLst/>
            <a:rect l="0" t="0" r="r" b="b"/>
            <a:pathLst>
              <a:path w="29608" h="3546">
                <a:moveTo>
                  <a:pt x="0" y="3400"/>
                </a:moveTo>
                <a:lnTo>
                  <a:pt x="0" y="145"/>
                </a:lnTo>
                <a:cubicBezTo>
                  <a:pt x="0" y="135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0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0"/>
                  <a:pt x="29491" y="2"/>
                </a:cubicBezTo>
                <a:cubicBezTo>
                  <a:pt x="29501" y="4"/>
                  <a:pt x="29510" y="7"/>
                  <a:pt x="29518" y="11"/>
                </a:cubicBezTo>
                <a:cubicBezTo>
                  <a:pt x="29527" y="14"/>
                  <a:pt x="29536" y="19"/>
                  <a:pt x="29544" y="24"/>
                </a:cubicBezTo>
                <a:cubicBezTo>
                  <a:pt x="29552" y="29"/>
                  <a:pt x="29559" y="35"/>
                  <a:pt x="29566" y="42"/>
                </a:cubicBezTo>
                <a:cubicBezTo>
                  <a:pt x="29572" y="49"/>
                  <a:pt x="29578" y="56"/>
                  <a:pt x="29584" y="64"/>
                </a:cubicBezTo>
                <a:cubicBezTo>
                  <a:pt x="29589" y="72"/>
                  <a:pt x="29594" y="81"/>
                  <a:pt x="29597" y="89"/>
                </a:cubicBezTo>
                <a:cubicBezTo>
                  <a:pt x="29601" y="98"/>
                  <a:pt x="29604" y="107"/>
                  <a:pt x="29605" y="117"/>
                </a:cubicBezTo>
                <a:cubicBezTo>
                  <a:pt x="29607" y="126"/>
                  <a:pt x="29608" y="135"/>
                  <a:pt x="29608" y="145"/>
                </a:cubicBezTo>
                <a:lnTo>
                  <a:pt x="29608" y="3400"/>
                </a:lnTo>
                <a:cubicBezTo>
                  <a:pt x="29608" y="3410"/>
                  <a:pt x="29607" y="3419"/>
                  <a:pt x="29605" y="3429"/>
                </a:cubicBezTo>
                <a:cubicBezTo>
                  <a:pt x="29604" y="3438"/>
                  <a:pt x="29601" y="3447"/>
                  <a:pt x="29597" y="3456"/>
                </a:cubicBezTo>
                <a:cubicBezTo>
                  <a:pt x="29594" y="3465"/>
                  <a:pt x="29589" y="3473"/>
                  <a:pt x="29584" y="3481"/>
                </a:cubicBezTo>
                <a:cubicBezTo>
                  <a:pt x="29578" y="3489"/>
                  <a:pt x="29572" y="3497"/>
                  <a:pt x="29566" y="3503"/>
                </a:cubicBezTo>
                <a:cubicBezTo>
                  <a:pt x="29559" y="3510"/>
                  <a:pt x="29552" y="3516"/>
                  <a:pt x="29544" y="3521"/>
                </a:cubicBezTo>
                <a:cubicBezTo>
                  <a:pt x="29536" y="3527"/>
                  <a:pt x="29527" y="3531"/>
                  <a:pt x="29518" y="3535"/>
                </a:cubicBezTo>
                <a:cubicBezTo>
                  <a:pt x="29510" y="3539"/>
                  <a:pt x="29501" y="3541"/>
                  <a:pt x="29491" y="3543"/>
                </a:cubicBezTo>
                <a:cubicBezTo>
                  <a:pt x="29482" y="3545"/>
                  <a:pt x="29472" y="3546"/>
                  <a:pt x="29463" y="3546"/>
                </a:cubicBezTo>
                <a:lnTo>
                  <a:pt x="146" y="3546"/>
                </a:lnTo>
                <a:cubicBezTo>
                  <a:pt x="136" y="3546"/>
                  <a:pt x="127" y="3545"/>
                  <a:pt x="118" y="3543"/>
                </a:cubicBezTo>
                <a:cubicBezTo>
                  <a:pt x="108" y="3541"/>
                  <a:pt x="99" y="3539"/>
                  <a:pt x="90" y="3535"/>
                </a:cubicBezTo>
                <a:cubicBezTo>
                  <a:pt x="81" y="3531"/>
                  <a:pt x="73" y="3527"/>
                  <a:pt x="65" y="3521"/>
                </a:cubicBezTo>
                <a:cubicBezTo>
                  <a:pt x="57" y="3516"/>
                  <a:pt x="50" y="3510"/>
                  <a:pt x="43" y="3503"/>
                </a:cubicBezTo>
                <a:cubicBezTo>
                  <a:pt x="36" y="3497"/>
                  <a:pt x="30" y="3489"/>
                  <a:pt x="25" y="3481"/>
                </a:cubicBezTo>
                <a:cubicBezTo>
                  <a:pt x="20" y="3473"/>
                  <a:pt x="15" y="3465"/>
                  <a:pt x="11" y="3456"/>
                </a:cubicBezTo>
                <a:cubicBezTo>
                  <a:pt x="8" y="3447"/>
                  <a:pt x="5" y="3438"/>
                  <a:pt x="3" y="3429"/>
                </a:cubicBezTo>
                <a:cubicBezTo>
                  <a:pt x="1" y="3419"/>
                  <a:pt x="0" y="3410"/>
                  <a:pt x="0" y="3400"/>
                </a:cubicBezTo>
                <a:close/>
              </a:path>
            </a:pathLst>
          </a:custGeom>
          <a:solidFill>
            <a:srgbClr val="e6f1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4" name=""/>
          <p:cNvSpPr/>
          <p:nvPr/>
        </p:nvSpPr>
        <p:spPr>
          <a:xfrm>
            <a:off x="766440" y="4052880"/>
            <a:ext cx="10658880" cy="1276560"/>
          </a:xfrm>
          <a:custGeom>
            <a:avLst/>
            <a:gdLst/>
            <a:ahLst/>
            <a:rect l="0" t="0" r="r" b="b"/>
            <a:pathLst>
              <a:path fill="none" w="29608" h="3546">
                <a:moveTo>
                  <a:pt x="0" y="3400"/>
                </a:moveTo>
                <a:lnTo>
                  <a:pt x="0" y="145"/>
                </a:lnTo>
                <a:cubicBezTo>
                  <a:pt x="0" y="135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0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0"/>
                  <a:pt x="29491" y="2"/>
                </a:cubicBezTo>
                <a:cubicBezTo>
                  <a:pt x="29501" y="4"/>
                  <a:pt x="29510" y="7"/>
                  <a:pt x="29518" y="11"/>
                </a:cubicBezTo>
                <a:cubicBezTo>
                  <a:pt x="29527" y="14"/>
                  <a:pt x="29536" y="19"/>
                  <a:pt x="29544" y="24"/>
                </a:cubicBezTo>
                <a:cubicBezTo>
                  <a:pt x="29552" y="29"/>
                  <a:pt x="29559" y="35"/>
                  <a:pt x="29566" y="42"/>
                </a:cubicBezTo>
                <a:cubicBezTo>
                  <a:pt x="29572" y="49"/>
                  <a:pt x="29578" y="56"/>
                  <a:pt x="29584" y="64"/>
                </a:cubicBezTo>
                <a:cubicBezTo>
                  <a:pt x="29589" y="72"/>
                  <a:pt x="29594" y="81"/>
                  <a:pt x="29597" y="89"/>
                </a:cubicBezTo>
                <a:cubicBezTo>
                  <a:pt x="29601" y="98"/>
                  <a:pt x="29604" y="107"/>
                  <a:pt x="29605" y="117"/>
                </a:cubicBezTo>
                <a:cubicBezTo>
                  <a:pt x="29607" y="126"/>
                  <a:pt x="29608" y="135"/>
                  <a:pt x="29608" y="145"/>
                </a:cubicBezTo>
                <a:lnTo>
                  <a:pt x="29608" y="3400"/>
                </a:lnTo>
                <a:cubicBezTo>
                  <a:pt x="29608" y="3410"/>
                  <a:pt x="29607" y="3419"/>
                  <a:pt x="29605" y="3429"/>
                </a:cubicBezTo>
                <a:cubicBezTo>
                  <a:pt x="29604" y="3438"/>
                  <a:pt x="29601" y="3447"/>
                  <a:pt x="29597" y="3456"/>
                </a:cubicBezTo>
                <a:cubicBezTo>
                  <a:pt x="29594" y="3465"/>
                  <a:pt x="29589" y="3473"/>
                  <a:pt x="29584" y="3481"/>
                </a:cubicBezTo>
                <a:cubicBezTo>
                  <a:pt x="29578" y="3489"/>
                  <a:pt x="29572" y="3497"/>
                  <a:pt x="29566" y="3503"/>
                </a:cubicBezTo>
                <a:cubicBezTo>
                  <a:pt x="29559" y="3510"/>
                  <a:pt x="29552" y="3516"/>
                  <a:pt x="29544" y="3521"/>
                </a:cubicBezTo>
                <a:cubicBezTo>
                  <a:pt x="29536" y="3527"/>
                  <a:pt x="29527" y="3531"/>
                  <a:pt x="29518" y="3535"/>
                </a:cubicBezTo>
                <a:cubicBezTo>
                  <a:pt x="29510" y="3539"/>
                  <a:pt x="29501" y="3541"/>
                  <a:pt x="29491" y="3543"/>
                </a:cubicBezTo>
                <a:cubicBezTo>
                  <a:pt x="29482" y="3545"/>
                  <a:pt x="29472" y="3546"/>
                  <a:pt x="29463" y="3546"/>
                </a:cubicBezTo>
                <a:lnTo>
                  <a:pt x="146" y="3546"/>
                </a:lnTo>
                <a:cubicBezTo>
                  <a:pt x="136" y="3546"/>
                  <a:pt x="127" y="3545"/>
                  <a:pt x="118" y="3543"/>
                </a:cubicBezTo>
                <a:cubicBezTo>
                  <a:pt x="108" y="3541"/>
                  <a:pt x="99" y="3539"/>
                  <a:pt x="90" y="3535"/>
                </a:cubicBezTo>
                <a:cubicBezTo>
                  <a:pt x="81" y="3531"/>
                  <a:pt x="73" y="3527"/>
                  <a:pt x="65" y="3521"/>
                </a:cubicBezTo>
                <a:cubicBezTo>
                  <a:pt x="57" y="3516"/>
                  <a:pt x="50" y="3510"/>
                  <a:pt x="43" y="3503"/>
                </a:cubicBezTo>
                <a:cubicBezTo>
                  <a:pt x="36" y="3497"/>
                  <a:pt x="30" y="3489"/>
                  <a:pt x="25" y="3481"/>
                </a:cubicBezTo>
                <a:cubicBezTo>
                  <a:pt x="20" y="3473"/>
                  <a:pt x="15" y="3465"/>
                  <a:pt x="11" y="3456"/>
                </a:cubicBezTo>
                <a:cubicBezTo>
                  <a:pt x="8" y="3447"/>
                  <a:pt x="5" y="3438"/>
                  <a:pt x="3" y="3429"/>
                </a:cubicBezTo>
                <a:cubicBezTo>
                  <a:pt x="1" y="3419"/>
                  <a:pt x="0" y="3410"/>
                  <a:pt x="0" y="3400"/>
                </a:cubicBezTo>
              </a:path>
            </a:pathLst>
          </a:custGeom>
          <a:ln w="9360">
            <a:solidFill>
              <a:srgbClr val="b5d6fc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5" name=""/>
          <p:cNvSpPr txBox="1"/>
          <p:nvPr/>
        </p:nvSpPr>
        <p:spPr>
          <a:xfrm>
            <a:off x="762120" y="372600"/>
            <a:ext cx="939276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Towards an Integrative Model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6" name=""/>
          <p:cNvSpPr txBox="1"/>
          <p:nvPr/>
        </p:nvSpPr>
        <p:spPr>
          <a:xfrm>
            <a:off x="923760" y="4662000"/>
            <a:ext cx="103626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This is why the seven factors matter: they're not a checklist, they're the conditions under which deliberate, System-2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7" name=""/>
          <p:cNvSpPr/>
          <p:nvPr/>
        </p:nvSpPr>
        <p:spPr>
          <a:xfrm>
            <a:off x="942840" y="4267080"/>
            <a:ext cx="190800" cy="190800"/>
          </a:xfrm>
          <a:custGeom>
            <a:avLst/>
            <a:gdLst/>
            <a:ahLst/>
            <a:rect l="0" t="0" r="r" b="b"/>
            <a:pathLst>
              <a:path fill="none" w="530" h="530">
                <a:moveTo>
                  <a:pt x="424" y="0"/>
                </a:moveTo>
                <a:lnTo>
                  <a:pt x="530" y="107"/>
                </a:lnTo>
                <a:moveTo>
                  <a:pt x="145" y="490"/>
                </a:moveTo>
                <a:lnTo>
                  <a:pt x="451" y="186"/>
                </a:lnTo>
                <a:lnTo>
                  <a:pt x="345" y="80"/>
                </a:lnTo>
                <a:lnTo>
                  <a:pt x="40" y="384"/>
                </a:lnTo>
                <a:lnTo>
                  <a:pt x="0" y="530"/>
                </a:lnTo>
                <a:lnTo>
                  <a:pt x="145" y="490"/>
                </a:lnTo>
              </a:path>
            </a:pathLst>
          </a:custGeom>
          <a:ln cap="rnd" w="18720">
            <a:solidFill>
              <a:srgbClr val="086ddd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8" name=""/>
          <p:cNvSpPr txBox="1"/>
          <p:nvPr/>
        </p:nvSpPr>
        <p:spPr>
          <a:xfrm>
            <a:off x="923760" y="4938120"/>
            <a:ext cx="65646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analysis can actually out-compete the fast, heuristic defaults of System 1.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1203120" y="4255560"/>
            <a:ext cx="23767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086ddd"/>
                </a:solidFill>
                <a:effectLst/>
                <a:uFillTx/>
                <a:latin typeface="LucidaGrande"/>
                <a:ea typeface="LucidaGrande"/>
              </a:rPr>
              <a:t>Cognitive Debiasing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0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1" name=""/>
          <p:cNvSpPr txBox="1"/>
          <p:nvPr/>
        </p:nvSpPr>
        <p:spPr>
          <a:xfrm>
            <a:off x="1238400" y="6569280"/>
            <a:ext cx="31820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0020e35 | © 08.10.2026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2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24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886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87" name=""/>
          <p:cNvSpPr/>
          <p:nvPr/>
        </p:nvSpPr>
        <p:spPr>
          <a:xfrm>
            <a:off x="971280" y="21430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7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7"/>
                  <a:pt x="140" y="174"/>
                  <a:pt x="128" y="179"/>
                </a:cubicBezTo>
                <a:cubicBezTo>
                  <a:pt x="117" y="183"/>
                  <a:pt x="105" y="186"/>
                  <a:pt x="93" y="186"/>
                </a:cubicBezTo>
                <a:cubicBezTo>
                  <a:pt x="81" y="186"/>
                  <a:pt x="69" y="183"/>
                  <a:pt x="57" y="179"/>
                </a:cubicBezTo>
                <a:cubicBezTo>
                  <a:pt x="46" y="174"/>
                  <a:pt x="36" y="167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7"/>
                  <a:pt x="0" y="106"/>
                  <a:pt x="0" y="93"/>
                </a:cubicBezTo>
                <a:cubicBezTo>
                  <a:pt x="0" y="81"/>
                  <a:pt x="3" y="69"/>
                  <a:pt x="7" y="57"/>
                </a:cubicBezTo>
                <a:cubicBezTo>
                  <a:pt x="12" y="45"/>
                  <a:pt x="19" y="35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1"/>
                  <a:pt x="150" y="18"/>
                  <a:pt x="158" y="27"/>
                </a:cubicBezTo>
                <a:cubicBezTo>
                  <a:pt x="167" y="35"/>
                  <a:pt x="175" y="45"/>
                  <a:pt x="179" y="57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1168200" y="2051280"/>
            <a:ext cx="101466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Systematic problem-solving (SPS) consistently out-performs intuitive ﬁre-ﬁghting (IPS) — but IPS is the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9" name=""/>
          <p:cNvSpPr/>
          <p:nvPr/>
        </p:nvSpPr>
        <p:spPr>
          <a:xfrm>
            <a:off x="971280" y="28000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1"/>
                  <a:pt x="167" y="151"/>
                  <a:pt x="158" y="159"/>
                </a:cubicBezTo>
                <a:cubicBezTo>
                  <a:pt x="150" y="168"/>
                  <a:pt x="140" y="175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1"/>
                  <a:pt x="3" y="69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7"/>
                </a:cubicBezTo>
                <a:cubicBezTo>
                  <a:pt x="140" y="12"/>
                  <a:pt x="150" y="19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9"/>
                  <a:pt x="186" y="81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1168200" y="2356200"/>
            <a:ext cx="34236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default organisations drift back to.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1" name=""/>
          <p:cNvSpPr txBox="1"/>
          <p:nvPr/>
        </p:nvSpPr>
        <p:spPr>
          <a:xfrm>
            <a:off x="1168200" y="2708640"/>
            <a:ext cx="97275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The same four/ﬁve-step process — understand, strategize, execute, check, lock in — holds across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2" name=""/>
          <p:cNvSpPr/>
          <p:nvPr/>
        </p:nvSpPr>
        <p:spPr>
          <a:xfrm>
            <a:off x="971280" y="346680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1"/>
                  <a:pt x="167" y="151"/>
                  <a:pt x="158" y="159"/>
                </a:cubicBezTo>
                <a:cubicBezTo>
                  <a:pt x="150" y="168"/>
                  <a:pt x="140" y="175"/>
                  <a:pt x="128" y="179"/>
                </a:cubicBezTo>
                <a:cubicBezTo>
                  <a:pt x="117" y="184"/>
                  <a:pt x="105" y="187"/>
                  <a:pt x="93" y="187"/>
                </a:cubicBezTo>
                <a:cubicBezTo>
                  <a:pt x="81" y="187"/>
                  <a:pt x="69" y="184"/>
                  <a:pt x="57" y="179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1"/>
                  <a:pt x="3" y="69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7"/>
                </a:cubicBezTo>
                <a:cubicBezTo>
                  <a:pt x="140" y="12"/>
                  <a:pt x="150" y="19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9"/>
                  <a:pt x="186" y="81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93" name=""/>
          <p:cNvSpPr txBox="1"/>
          <p:nvPr/>
        </p:nvSpPr>
        <p:spPr>
          <a:xfrm>
            <a:off x="1168200" y="3013560"/>
            <a:ext cx="48787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software, physics/engineering, and management.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4" name=""/>
          <p:cNvSpPr txBox="1"/>
          <p:nvPr/>
        </p:nvSpPr>
        <p:spPr>
          <a:xfrm>
            <a:off x="1168200" y="3375360"/>
            <a:ext cx="11113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Systematic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2330640" y="3375360"/>
            <a:ext cx="9075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5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inventive</a:t>
            </a:r>
            <a:endParaRPr b="0" lang="en-US" sz="16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6" name=""/>
          <p:cNvSpPr txBox="1"/>
          <p:nvPr/>
        </p:nvSpPr>
        <p:spPr>
          <a:xfrm>
            <a:off x="3164040" y="3375360"/>
            <a:ext cx="82461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 thinking (TRIZ, SIT/ASIT, SCAMPER, Eight-Dimensional) out-performs unsystematic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7" name=""/>
          <p:cNvSpPr txBox="1"/>
          <p:nvPr/>
        </p:nvSpPr>
        <p:spPr>
          <a:xfrm>
            <a:off x="1168200" y="3680280"/>
            <a:ext cx="97981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idea-generating (brainstorming) precisely because it focuses and judges early rather than deferring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8" name=""/>
          <p:cNvSpPr/>
          <p:nvPr/>
        </p:nvSpPr>
        <p:spPr>
          <a:xfrm>
            <a:off x="971280" y="44290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6"/>
                  <a:pt x="179" y="128"/>
                </a:cubicBezTo>
                <a:cubicBezTo>
                  <a:pt x="175" y="139"/>
                  <a:pt x="167" y="149"/>
                  <a:pt x="158" y="158"/>
                </a:cubicBezTo>
                <a:cubicBezTo>
                  <a:pt x="150" y="166"/>
                  <a:pt x="140" y="173"/>
                  <a:pt x="128" y="178"/>
                </a:cubicBezTo>
                <a:cubicBezTo>
                  <a:pt x="117" y="182"/>
                  <a:pt x="105" y="186"/>
                  <a:pt x="93" y="186"/>
                </a:cubicBezTo>
                <a:cubicBezTo>
                  <a:pt x="81" y="186"/>
                  <a:pt x="69" y="182"/>
                  <a:pt x="57" y="178"/>
                </a:cubicBezTo>
                <a:cubicBezTo>
                  <a:pt x="46" y="173"/>
                  <a:pt x="36" y="166"/>
                  <a:pt x="27" y="158"/>
                </a:cubicBezTo>
                <a:cubicBezTo>
                  <a:pt x="19" y="149"/>
                  <a:pt x="12" y="139"/>
                  <a:pt x="7" y="128"/>
                </a:cubicBezTo>
                <a:cubicBezTo>
                  <a:pt x="3" y="116"/>
                  <a:pt x="0" y="105"/>
                  <a:pt x="0" y="92"/>
                </a:cubicBezTo>
                <a:cubicBezTo>
                  <a:pt x="0" y="80"/>
                  <a:pt x="3" y="68"/>
                  <a:pt x="7" y="57"/>
                </a:cubicBezTo>
                <a:cubicBezTo>
                  <a:pt x="12" y="45"/>
                  <a:pt x="19" y="35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1"/>
                  <a:pt x="150" y="18"/>
                  <a:pt x="158" y="27"/>
                </a:cubicBezTo>
                <a:cubicBezTo>
                  <a:pt x="167" y="35"/>
                  <a:pt x="175" y="45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99" name=""/>
          <p:cNvSpPr txBox="1"/>
          <p:nvPr/>
        </p:nvSpPr>
        <p:spPr>
          <a:xfrm>
            <a:off x="1168200" y="3975480"/>
            <a:ext cx="11228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judgement.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0" name=""/>
          <p:cNvSpPr txBox="1"/>
          <p:nvPr/>
        </p:nvSpPr>
        <p:spPr>
          <a:xfrm>
            <a:off x="1168200" y="4337280"/>
            <a:ext cx="23115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Whether SPS is actually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3533760" y="4337280"/>
            <a:ext cx="231480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5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adopted and sustained</a:t>
            </a:r>
            <a:endParaRPr b="0" lang="en-US" sz="16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2" name=""/>
          <p:cNvSpPr txBox="1"/>
          <p:nvPr/>
        </p:nvSpPr>
        <p:spPr>
          <a:xfrm>
            <a:off x="5736600" y="4337280"/>
            <a:ext cx="45849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 depends on organisational and environmental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3" name=""/>
          <p:cNvSpPr/>
          <p:nvPr/>
        </p:nvSpPr>
        <p:spPr>
          <a:xfrm>
            <a:off x="971280" y="50860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1"/>
                  <a:pt x="167" y="151"/>
                  <a:pt x="158" y="159"/>
                </a:cubicBezTo>
                <a:cubicBezTo>
                  <a:pt x="150" y="168"/>
                  <a:pt x="140" y="175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2"/>
                  <a:pt x="3" y="70"/>
                  <a:pt x="7" y="58"/>
                </a:cubicBezTo>
                <a:cubicBezTo>
                  <a:pt x="12" y="47"/>
                  <a:pt x="19" y="37"/>
                  <a:pt x="27" y="28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7"/>
                </a:cubicBezTo>
                <a:cubicBezTo>
                  <a:pt x="140" y="12"/>
                  <a:pt x="150" y="19"/>
                  <a:pt x="158" y="28"/>
                </a:cubicBezTo>
                <a:cubicBezTo>
                  <a:pt x="167" y="37"/>
                  <a:pt x="175" y="47"/>
                  <a:pt x="179" y="58"/>
                </a:cubicBezTo>
                <a:cubicBezTo>
                  <a:pt x="184" y="70"/>
                  <a:pt x="186" y="82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1168200" y="4642200"/>
            <a:ext cx="46105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conditions, not just knowing the right method.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5" name=""/>
          <p:cNvSpPr txBox="1"/>
          <p:nvPr/>
        </p:nvSpPr>
        <p:spPr>
          <a:xfrm>
            <a:off x="1168200" y="4994640"/>
            <a:ext cx="99442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This mirrors L3.1's systemic-vs-systematic distinction: a method alone doesn't guarantee systematic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6" name=""/>
          <p:cNvSpPr txBox="1"/>
          <p:nvPr/>
        </p:nvSpPr>
        <p:spPr>
          <a:xfrm>
            <a:off x="1168200" y="5299560"/>
            <a:ext cx="52156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practice — the surrounding system has to support it.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661057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8" name=""/>
          <p:cNvSpPr txBox="1"/>
          <p:nvPr/>
        </p:nvSpPr>
        <p:spPr>
          <a:xfrm>
            <a:off x="762120" y="372600"/>
            <a:ext cx="348048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Conclusion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9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0" name=""/>
          <p:cNvSpPr txBox="1"/>
          <p:nvPr/>
        </p:nvSpPr>
        <p:spPr>
          <a:xfrm>
            <a:off x="1238400" y="6569280"/>
            <a:ext cx="31820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0020e35 | © 08.10.2026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1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25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69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915" name="" descr=""/>
          <p:cNvPicPr/>
          <p:nvPr/>
        </p:nvPicPr>
        <p:blipFill>
          <a:blip r:embed="rId1"/>
          <a:stretch/>
        </p:blipFill>
        <p:spPr>
          <a:xfrm>
            <a:off x="6324480" y="2695680"/>
            <a:ext cx="5714640" cy="32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6" name=""/>
          <p:cNvSpPr txBox="1"/>
          <p:nvPr/>
        </p:nvSpPr>
        <p:spPr>
          <a:xfrm>
            <a:off x="857160" y="2437920"/>
            <a:ext cx="20178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Dr Nawfal Al Hashimy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7" name=""/>
          <p:cNvSpPr txBox="1"/>
          <p:nvPr/>
        </p:nvSpPr>
        <p:spPr>
          <a:xfrm>
            <a:off x="857160" y="2704680"/>
            <a:ext cx="296604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Lecturer in Cyber Physical Security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8" name=""/>
          <p:cNvSpPr txBox="1"/>
          <p:nvPr/>
        </p:nvSpPr>
        <p:spPr>
          <a:xfrm>
            <a:off x="857160" y="3123720"/>
            <a:ext cx="568332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University of Southampton </a:t>
            </a:r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| Faculty of Engineering and Physical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857160" y="3390480"/>
            <a:ext cx="73116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Sciences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0" name=""/>
          <p:cNvSpPr txBox="1"/>
          <p:nvPr/>
        </p:nvSpPr>
        <p:spPr>
          <a:xfrm>
            <a:off x="857160" y="3657240"/>
            <a:ext cx="34272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Cyber Physical Systems Research Group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857160" y="4087440"/>
            <a:ext cx="1789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HiraginoSans-W3"/>
                <a:ea typeface="HiraginoSans-W3"/>
              </a:rPr>
              <a:t>☎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2" name=""/>
          <p:cNvSpPr txBox="1"/>
          <p:nvPr/>
        </p:nvSpPr>
        <p:spPr>
          <a:xfrm>
            <a:off x="1035000" y="4076280"/>
            <a:ext cx="20062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 +44 (0) 23 8059 6659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3" name=""/>
          <p:cNvSpPr txBox="1"/>
          <p:nvPr/>
        </p:nvSpPr>
        <p:spPr>
          <a:xfrm>
            <a:off x="857160" y="4495320"/>
            <a:ext cx="19512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@ Nawfal@soton.ac.uk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857160" y="4914360"/>
            <a:ext cx="375696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Highﬁeld Campus, Building 53, Room 4049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5" name=""/>
          <p:cNvSpPr txBox="1"/>
          <p:nvPr/>
        </p:nvSpPr>
        <p:spPr>
          <a:xfrm>
            <a:off x="857160" y="5181120"/>
            <a:ext cx="363564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Burgess Road, Southampton SO17 1BJ, UK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6" name=""/>
          <p:cNvSpPr txBox="1"/>
          <p:nvPr/>
        </p:nvSpPr>
        <p:spPr>
          <a:xfrm>
            <a:off x="857160" y="634680"/>
            <a:ext cx="4140000" cy="89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60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Thank you</a:t>
            </a:r>
            <a:endParaRPr b="0" lang="en-US" sz="6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LibreOffice/25.2.5.2$MacOSX_AARCH64 LibreOffice_project/03d19516eb2e1dd5d4ccd751a0d6f35f35e08022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