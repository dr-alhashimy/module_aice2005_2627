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media/image1.png" ContentType="image/png"/>
  <Override PartName="/ppt/media/image2.png" ContentType="image/png"/>
  <Override PartName="/ppt/slides/_rels/slide27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"/>
          <p:cNvSpPr txBox="1"/>
          <p:nvPr/>
        </p:nvSpPr>
        <p:spPr>
          <a:xfrm>
            <a:off x="762120" y="5183640"/>
            <a:ext cx="190548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000" strike="noStrike" u="none">
                <a:solidFill>
                  <a:srgbClr val="3a3a3a"/>
                </a:solidFill>
                <a:effectLst/>
                <a:uFillTx/>
                <a:latin typeface="LucidaGrande"/>
                <a:ea typeface="LucidaGrande"/>
              </a:rPr>
              <a:t>SEAtS | 661057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62120" y="1558800"/>
            <a:ext cx="881208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Problem Solving: From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62120" y="2454120"/>
            <a:ext cx="626040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Fire-Fighting to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62120" y="3349440"/>
            <a:ext cx="754272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Systematic Practice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"/>
          <p:cNvSpPr/>
          <p:nvPr/>
        </p:nvSpPr>
        <p:spPr>
          <a:xfrm>
            <a:off x="4305240" y="15048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39"/>
                  <a:pt x="167" y="149"/>
                  <a:pt x="158" y="158"/>
                </a:cubicBezTo>
                <a:cubicBezTo>
                  <a:pt x="149" y="167"/>
                  <a:pt x="139" y="174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5" y="174"/>
                  <a:pt x="35" y="167"/>
                  <a:pt x="27" y="158"/>
                </a:cubicBezTo>
                <a:cubicBezTo>
                  <a:pt x="18" y="149"/>
                  <a:pt x="11" y="139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8"/>
                  <a:pt x="45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2"/>
                  <a:pt x="149" y="18"/>
                  <a:pt x="158" y="27"/>
                </a:cubicBezTo>
                <a:cubicBezTo>
                  <a:pt x="167" y="36"/>
                  <a:pt x="174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4095720" y="956160"/>
            <a:ext cx="4448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By the end of this lecture, you will be able to: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4502160" y="1413360"/>
            <a:ext cx="6731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Distinguish intuitive (ﬁre-ﬁghting) problem-solving from systematic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4502160" y="1717920"/>
            <a:ext cx="6164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problem-solving, and explain why organisations default to the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4305240" y="247644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4" y="140"/>
                  <a:pt x="167" y="150"/>
                  <a:pt x="158" y="159"/>
                </a:cubicBezTo>
                <a:cubicBezTo>
                  <a:pt x="149" y="167"/>
                  <a:pt x="139" y="174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5" y="174"/>
                  <a:pt x="35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6"/>
                  <a:pt x="0" y="93"/>
                </a:cubicBezTo>
                <a:cubicBezTo>
                  <a:pt x="0" y="81"/>
                  <a:pt x="2" y="69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5" y="18"/>
                  <a:pt x="45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1"/>
                  <a:pt x="149" y="18"/>
                  <a:pt x="158" y="27"/>
                </a:cubicBezTo>
                <a:cubicBezTo>
                  <a:pt x="167" y="35"/>
                  <a:pt x="174" y="45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4502160" y="2022840"/>
            <a:ext cx="731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former.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4502160" y="2384640"/>
            <a:ext cx="6734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Apply a general-purpose problem-solving process that holds across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4502160" y="2689560"/>
            <a:ext cx="6047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software engineering, physics/engineering, and management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4305240" y="34383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8"/>
                </a:cubicBezTo>
                <a:cubicBezTo>
                  <a:pt x="174" y="139"/>
                  <a:pt x="167" y="149"/>
                  <a:pt x="158" y="158"/>
                </a:cubicBezTo>
                <a:cubicBezTo>
                  <a:pt x="149" y="168"/>
                  <a:pt x="139" y="174"/>
                  <a:pt x="128" y="179"/>
                </a:cubicBezTo>
                <a:cubicBezTo>
                  <a:pt x="116" y="184"/>
                  <a:pt x="105" y="186"/>
                  <a:pt x="92" y="186"/>
                </a:cubicBezTo>
                <a:cubicBezTo>
                  <a:pt x="80" y="186"/>
                  <a:pt x="68" y="184"/>
                  <a:pt x="57" y="179"/>
                </a:cubicBezTo>
                <a:cubicBezTo>
                  <a:pt x="45" y="174"/>
                  <a:pt x="35" y="168"/>
                  <a:pt x="27" y="158"/>
                </a:cubicBezTo>
                <a:cubicBezTo>
                  <a:pt x="18" y="149"/>
                  <a:pt x="11" y="139"/>
                  <a:pt x="7" y="128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8"/>
                  <a:pt x="45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cubicBezTo>
                  <a:pt x="105" y="0"/>
                  <a:pt x="116" y="2"/>
                  <a:pt x="128" y="7"/>
                </a:cubicBezTo>
                <a:cubicBezTo>
                  <a:pt x="139" y="12"/>
                  <a:pt x="149" y="18"/>
                  <a:pt x="158" y="27"/>
                </a:cubicBezTo>
                <a:cubicBezTo>
                  <a:pt x="167" y="36"/>
                  <a:pt x="174" y="46"/>
                  <a:pt x="179" y="57"/>
                </a:cubicBezTo>
                <a:cubicBezTo>
                  <a:pt x="184" y="68"/>
                  <a:pt x="186" y="80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4502160" y="2994480"/>
            <a:ext cx="911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contexts.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4502160" y="3346920"/>
            <a:ext cx="6867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Select an appropriate problem-solving method — general-purpose or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4305240" y="40957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5"/>
                  <a:pt x="184" y="117"/>
                  <a:pt x="179" y="129"/>
                </a:cubicBezTo>
                <a:cubicBezTo>
                  <a:pt x="174" y="140"/>
                  <a:pt x="167" y="150"/>
                  <a:pt x="158" y="159"/>
                </a:cubicBezTo>
                <a:cubicBezTo>
                  <a:pt x="149" y="167"/>
                  <a:pt x="139" y="174"/>
                  <a:pt x="128" y="179"/>
                </a:cubicBezTo>
                <a:cubicBezTo>
                  <a:pt x="116" y="183"/>
                  <a:pt x="105" y="186"/>
                  <a:pt x="92" y="186"/>
                </a:cubicBezTo>
                <a:cubicBezTo>
                  <a:pt x="80" y="186"/>
                  <a:pt x="68" y="183"/>
                  <a:pt x="57" y="179"/>
                </a:cubicBezTo>
                <a:cubicBezTo>
                  <a:pt x="45" y="174"/>
                  <a:pt x="35" y="167"/>
                  <a:pt x="27" y="159"/>
                </a:cubicBezTo>
                <a:cubicBezTo>
                  <a:pt x="18" y="150"/>
                  <a:pt x="11" y="140"/>
                  <a:pt x="7" y="129"/>
                </a:cubicBezTo>
                <a:cubicBezTo>
                  <a:pt x="2" y="117"/>
                  <a:pt x="0" y="105"/>
                  <a:pt x="0" y="93"/>
                </a:cubicBez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5" y="19"/>
                  <a:pt x="45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8"/>
                </a:cubicBezTo>
                <a:cubicBezTo>
                  <a:pt x="139" y="12"/>
                  <a:pt x="149" y="19"/>
                  <a:pt x="158" y="28"/>
                </a:cubicBezTo>
                <a:cubicBezTo>
                  <a:pt x="167" y="36"/>
                  <a:pt x="174" y="46"/>
                  <a:pt x="179" y="58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4502160" y="3651480"/>
            <a:ext cx="512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systematic-inventive — for a given type of problem.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4502160" y="4003920"/>
            <a:ext cx="5532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Compare unsystematic idea-generating techniques (e.g.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4502160" y="4308840"/>
            <a:ext cx="6477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brainstorming) with systematic inventive-thinking methods (TRIZ,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4305240" y="506700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4" y="141"/>
                  <a:pt x="167" y="151"/>
                  <a:pt x="158" y="159"/>
                </a:cubicBezTo>
                <a:cubicBezTo>
                  <a:pt x="149" y="168"/>
                  <a:pt x="139" y="175"/>
                  <a:pt x="128" y="179"/>
                </a:cubicBezTo>
                <a:cubicBezTo>
                  <a:pt x="116" y="184"/>
                  <a:pt x="105" y="187"/>
                  <a:pt x="92" y="187"/>
                </a:cubicBezTo>
                <a:cubicBezTo>
                  <a:pt x="80" y="187"/>
                  <a:pt x="68" y="184"/>
                  <a:pt x="57" y="179"/>
                </a:cubicBezTo>
                <a:cubicBezTo>
                  <a:pt x="45" y="175"/>
                  <a:pt x="35" y="168"/>
                  <a:pt x="27" y="159"/>
                </a:cubicBezTo>
                <a:cubicBezTo>
                  <a:pt x="18" y="151"/>
                  <a:pt x="11" y="141"/>
                  <a:pt x="7" y="129"/>
                </a:cubicBezTo>
                <a:cubicBezTo>
                  <a:pt x="2" y="118"/>
                  <a:pt x="0" y="106"/>
                  <a:pt x="0" y="94"/>
                </a:cubicBezTo>
                <a:cubicBezTo>
                  <a:pt x="0" y="82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9"/>
                  <a:pt x="45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cubicBezTo>
                  <a:pt x="105" y="0"/>
                  <a:pt x="116" y="3"/>
                  <a:pt x="128" y="7"/>
                </a:cubicBezTo>
                <a:cubicBezTo>
                  <a:pt x="139" y="12"/>
                  <a:pt x="149" y="19"/>
                  <a:pt x="158" y="27"/>
                </a:cubicBezTo>
                <a:cubicBezTo>
                  <a:pt x="167" y="36"/>
                  <a:pt x="174" y="46"/>
                  <a:pt x="179" y="57"/>
                </a:cubicBezTo>
                <a:cubicBezTo>
                  <a:pt x="184" y="69"/>
                  <a:pt x="186" y="82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4502160" y="4613760"/>
            <a:ext cx="2010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SIT/ASIT, SCAMPER).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4502160" y="4975560"/>
            <a:ext cx="6032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Identify the organisational and environmental conditions that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502160" y="5280480"/>
            <a:ext cx="6195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determine whether systematic problem-solving is adopted and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0" y="0"/>
            <a:ext cx="4067280" cy="6191280"/>
          </a:xfrm>
          <a:custGeom>
            <a:avLst/>
            <a:gdLst/>
            <a:ahLst/>
            <a:rect l="0" t="0" r="r" b="b"/>
            <a:pathLst>
              <a:path w="11298" h="17198">
                <a:moveTo>
                  <a:pt x="0" y="0"/>
                </a:moveTo>
                <a:lnTo>
                  <a:pt x="11298" y="0"/>
                </a:lnTo>
                <a:lnTo>
                  <a:pt x="11298" y="17198"/>
                </a:lnTo>
                <a:lnTo>
                  <a:pt x="0" y="17198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4502160" y="5585040"/>
            <a:ext cx="1009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sustained.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646920" y="381960"/>
            <a:ext cx="27727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Intended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658800" y="1296360"/>
            <a:ext cx="27489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Learning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455040" y="2210760"/>
            <a:ext cx="31568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Outcomes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661057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"/>
          <p:cNvSpPr/>
          <p:nvPr/>
        </p:nvSpPr>
        <p:spPr>
          <a:xfrm>
            <a:off x="4448160" y="126648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1"/>
                  <a:pt x="239" y="215"/>
                  <a:pt x="226" y="227"/>
                </a:cubicBezTo>
                <a:cubicBezTo>
                  <a:pt x="214" y="240"/>
                  <a:pt x="200" y="249"/>
                  <a:pt x="182" y="256"/>
                </a:cubicBezTo>
                <a:cubicBezTo>
                  <a:pt x="166" y="263"/>
                  <a:pt x="149" y="266"/>
                  <a:pt x="132" y="266"/>
                </a:cubicBezTo>
                <a:cubicBezTo>
                  <a:pt x="114" y="266"/>
                  <a:pt x="97" y="263"/>
                  <a:pt x="81" y="256"/>
                </a:cubicBezTo>
                <a:cubicBezTo>
                  <a:pt x="65" y="249"/>
                  <a:pt x="51" y="240"/>
                  <a:pt x="38" y="227"/>
                </a:cubicBezTo>
                <a:cubicBezTo>
                  <a:pt x="26" y="215"/>
                  <a:pt x="16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6" y="67"/>
                  <a:pt x="26" y="53"/>
                  <a:pt x="38" y="39"/>
                </a:cubicBezTo>
                <a:cubicBezTo>
                  <a:pt x="51" y="27"/>
                  <a:pt x="65" y="17"/>
                  <a:pt x="81" y="11"/>
                </a:cubicBezTo>
                <a:cubicBezTo>
                  <a:pt x="97" y="4"/>
                  <a:pt x="114" y="0"/>
                  <a:pt x="132" y="0"/>
                </a:cubicBezTo>
                <a:cubicBezTo>
                  <a:pt x="149" y="0"/>
                  <a:pt x="166" y="4"/>
                  <a:pt x="182" y="11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3"/>
                  <a:pt x="248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4448160" y="180000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5"/>
                  <a:pt x="226" y="227"/>
                </a:cubicBezTo>
                <a:cubicBezTo>
                  <a:pt x="214" y="239"/>
                  <a:pt x="200" y="249"/>
                  <a:pt x="182" y="256"/>
                </a:cubicBezTo>
                <a:cubicBezTo>
                  <a:pt x="166" y="262"/>
                  <a:pt x="149" y="266"/>
                  <a:pt x="132" y="266"/>
                </a:cubicBezTo>
                <a:cubicBezTo>
                  <a:pt x="114" y="266"/>
                  <a:pt x="97" y="262"/>
                  <a:pt x="81" y="256"/>
                </a:cubicBezTo>
                <a:cubicBezTo>
                  <a:pt x="65" y="249"/>
                  <a:pt x="51" y="239"/>
                  <a:pt x="38" y="227"/>
                </a:cubicBezTo>
                <a:cubicBezTo>
                  <a:pt x="26" y="215"/>
                  <a:pt x="16" y="200"/>
                  <a:pt x="10" y="184"/>
                </a:cubicBezTo>
                <a:cubicBezTo>
                  <a:pt x="3" y="168"/>
                  <a:pt x="0" y="151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6" y="66"/>
                  <a:pt x="26" y="51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4705200" y="1114920"/>
            <a:ext cx="462672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Two Modes of Problem-Solving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4448160" y="23335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199"/>
                  <a:pt x="239" y="213"/>
                  <a:pt x="226" y="226"/>
                </a:cubicBezTo>
                <a:cubicBezTo>
                  <a:pt x="214" y="238"/>
                  <a:pt x="200" y="248"/>
                  <a:pt x="182" y="255"/>
                </a:cubicBezTo>
                <a:cubicBezTo>
                  <a:pt x="166" y="262"/>
                  <a:pt x="149" y="265"/>
                  <a:pt x="132" y="265"/>
                </a:cubicBezTo>
                <a:cubicBezTo>
                  <a:pt x="114" y="265"/>
                  <a:pt x="97" y="262"/>
                  <a:pt x="81" y="255"/>
                </a:cubicBezTo>
                <a:cubicBezTo>
                  <a:pt x="65" y="248"/>
                  <a:pt x="51" y="238"/>
                  <a:pt x="38" y="226"/>
                </a:cubicBezTo>
                <a:cubicBezTo>
                  <a:pt x="26" y="213"/>
                  <a:pt x="16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6" y="65"/>
                  <a:pt x="26" y="51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4705200" y="1648440"/>
            <a:ext cx="321480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The Universal Process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4448160" y="286668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1"/>
                  <a:pt x="239" y="215"/>
                  <a:pt x="226" y="227"/>
                </a:cubicBezTo>
                <a:cubicBezTo>
                  <a:pt x="214" y="240"/>
                  <a:pt x="200" y="249"/>
                  <a:pt x="182" y="256"/>
                </a:cubicBezTo>
                <a:cubicBezTo>
                  <a:pt x="166" y="263"/>
                  <a:pt x="149" y="266"/>
                  <a:pt x="132" y="266"/>
                </a:cubicBezTo>
                <a:cubicBezTo>
                  <a:pt x="114" y="266"/>
                  <a:pt x="97" y="263"/>
                  <a:pt x="81" y="256"/>
                </a:cubicBezTo>
                <a:cubicBezTo>
                  <a:pt x="65" y="249"/>
                  <a:pt x="51" y="240"/>
                  <a:pt x="38" y="227"/>
                </a:cubicBezTo>
                <a:cubicBezTo>
                  <a:pt x="26" y="215"/>
                  <a:pt x="16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2"/>
                </a:cubicBezTo>
                <a:cubicBezTo>
                  <a:pt x="16" y="66"/>
                  <a:pt x="26" y="52"/>
                  <a:pt x="38" y="39"/>
                </a:cubicBezTo>
                <a:cubicBezTo>
                  <a:pt x="51" y="27"/>
                  <a:pt x="65" y="17"/>
                  <a:pt x="81" y="11"/>
                </a:cubicBezTo>
                <a:cubicBezTo>
                  <a:pt x="97" y="4"/>
                  <a:pt x="114" y="0"/>
                  <a:pt x="132" y="0"/>
                </a:cubicBezTo>
                <a:cubicBezTo>
                  <a:pt x="149" y="0"/>
                  <a:pt x="166" y="4"/>
                  <a:pt x="182" y="11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2"/>
                  <a:pt x="248" y="66"/>
                  <a:pt x="255" y="82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705200" y="2181600"/>
            <a:ext cx="450828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Ten General-Purpose Methods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4448160" y="340020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200"/>
                  <a:pt x="239" y="215"/>
                  <a:pt x="226" y="227"/>
                </a:cubicBezTo>
                <a:cubicBezTo>
                  <a:pt x="214" y="239"/>
                  <a:pt x="200" y="249"/>
                  <a:pt x="182" y="256"/>
                </a:cubicBezTo>
                <a:cubicBezTo>
                  <a:pt x="166" y="262"/>
                  <a:pt x="149" y="266"/>
                  <a:pt x="132" y="266"/>
                </a:cubicBezTo>
                <a:cubicBezTo>
                  <a:pt x="114" y="266"/>
                  <a:pt x="97" y="262"/>
                  <a:pt x="81" y="256"/>
                </a:cubicBezTo>
                <a:cubicBezTo>
                  <a:pt x="65" y="249"/>
                  <a:pt x="51" y="239"/>
                  <a:pt x="38" y="227"/>
                </a:cubicBezTo>
                <a:cubicBezTo>
                  <a:pt x="26" y="215"/>
                  <a:pt x="16" y="200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6" y="66"/>
                  <a:pt x="26" y="51"/>
                  <a:pt x="38" y="39"/>
                </a:cubicBezTo>
                <a:cubicBezTo>
                  <a:pt x="51" y="26"/>
                  <a:pt x="65" y="17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4705200" y="2715120"/>
            <a:ext cx="408744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From Brainstorming to TRIZ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4448160" y="39337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2" y="255"/>
                </a:cubicBezTo>
                <a:cubicBezTo>
                  <a:pt x="166" y="262"/>
                  <a:pt x="149" y="265"/>
                  <a:pt x="132" y="265"/>
                </a:cubicBezTo>
                <a:cubicBezTo>
                  <a:pt x="114" y="265"/>
                  <a:pt x="97" y="262"/>
                  <a:pt x="81" y="255"/>
                </a:cubicBezTo>
                <a:cubicBezTo>
                  <a:pt x="65" y="249"/>
                  <a:pt x="51" y="239"/>
                  <a:pt x="38" y="227"/>
                </a:cubicBezTo>
                <a:cubicBezTo>
                  <a:pt x="26" y="214"/>
                  <a:pt x="16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2"/>
                </a:cubicBezTo>
                <a:cubicBezTo>
                  <a:pt x="16" y="66"/>
                  <a:pt x="26" y="52"/>
                  <a:pt x="38" y="40"/>
                </a:cubicBezTo>
                <a:cubicBezTo>
                  <a:pt x="51" y="26"/>
                  <a:pt x="65" y="17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7"/>
                  <a:pt x="214" y="26"/>
                  <a:pt x="226" y="40"/>
                </a:cubicBezTo>
                <a:cubicBezTo>
                  <a:pt x="239" y="52"/>
                  <a:pt x="248" y="66"/>
                  <a:pt x="255" y="82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4705200" y="3248640"/>
            <a:ext cx="421992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Worked Example: Rotate List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4448160" y="446688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1"/>
                  <a:pt x="239" y="215"/>
                  <a:pt x="226" y="227"/>
                </a:cubicBezTo>
                <a:cubicBezTo>
                  <a:pt x="214" y="240"/>
                  <a:pt x="200" y="249"/>
                  <a:pt x="182" y="256"/>
                </a:cubicBezTo>
                <a:cubicBezTo>
                  <a:pt x="166" y="263"/>
                  <a:pt x="149" y="266"/>
                  <a:pt x="132" y="266"/>
                </a:cubicBezTo>
                <a:cubicBezTo>
                  <a:pt x="114" y="266"/>
                  <a:pt x="97" y="263"/>
                  <a:pt x="81" y="256"/>
                </a:cubicBezTo>
                <a:cubicBezTo>
                  <a:pt x="65" y="249"/>
                  <a:pt x="51" y="240"/>
                  <a:pt x="38" y="227"/>
                </a:cubicBezTo>
                <a:cubicBezTo>
                  <a:pt x="26" y="215"/>
                  <a:pt x="16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5"/>
                  <a:pt x="3" y="98"/>
                  <a:pt x="10" y="82"/>
                </a:cubicBezTo>
                <a:cubicBezTo>
                  <a:pt x="16" y="66"/>
                  <a:pt x="26" y="52"/>
                  <a:pt x="38" y="39"/>
                </a:cubicBezTo>
                <a:cubicBezTo>
                  <a:pt x="51" y="27"/>
                  <a:pt x="65" y="17"/>
                  <a:pt x="81" y="11"/>
                </a:cubicBezTo>
                <a:cubicBezTo>
                  <a:pt x="97" y="4"/>
                  <a:pt x="114" y="0"/>
                  <a:pt x="132" y="0"/>
                </a:cubicBezTo>
                <a:cubicBezTo>
                  <a:pt x="149" y="0"/>
                  <a:pt x="166" y="4"/>
                  <a:pt x="182" y="11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2"/>
                  <a:pt x="248" y="66"/>
                  <a:pt x="255" y="82"/>
                </a:cubicBezTo>
                <a:cubicBezTo>
                  <a:pt x="262" y="98"/>
                  <a:pt x="265" y="115"/>
                  <a:pt x="265" y="13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705200" y="3781800"/>
            <a:ext cx="299628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Engineering Practice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4705200" y="4315320"/>
            <a:ext cx="604224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Why Systematic Problem-Solving Doesn't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4448160" y="545760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5"/>
                  <a:pt x="226" y="227"/>
                </a:cubicBezTo>
                <a:cubicBezTo>
                  <a:pt x="214" y="239"/>
                  <a:pt x="200" y="249"/>
                  <a:pt x="182" y="256"/>
                </a:cubicBezTo>
                <a:cubicBezTo>
                  <a:pt x="166" y="262"/>
                  <a:pt x="149" y="266"/>
                  <a:pt x="132" y="266"/>
                </a:cubicBezTo>
                <a:cubicBezTo>
                  <a:pt x="114" y="266"/>
                  <a:pt x="97" y="262"/>
                  <a:pt x="81" y="256"/>
                </a:cubicBezTo>
                <a:cubicBezTo>
                  <a:pt x="65" y="249"/>
                  <a:pt x="51" y="239"/>
                  <a:pt x="38" y="227"/>
                </a:cubicBezTo>
                <a:cubicBezTo>
                  <a:pt x="26" y="215"/>
                  <a:pt x="16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6" y="67"/>
                  <a:pt x="26" y="52"/>
                  <a:pt x="38" y="40"/>
                </a:cubicBezTo>
                <a:cubicBezTo>
                  <a:pt x="51" y="27"/>
                  <a:pt x="65" y="17"/>
                  <a:pt x="81" y="10"/>
                </a:cubicBezTo>
                <a:cubicBezTo>
                  <a:pt x="97" y="3"/>
                  <a:pt x="114" y="0"/>
                  <a:pt x="132" y="0"/>
                </a:cubicBezTo>
                <a:cubicBezTo>
                  <a:pt x="149" y="0"/>
                  <a:pt x="166" y="3"/>
                  <a:pt x="182" y="10"/>
                </a:cubicBezTo>
                <a:cubicBezTo>
                  <a:pt x="200" y="17"/>
                  <a:pt x="214" y="27"/>
                  <a:pt x="226" y="40"/>
                </a:cubicBezTo>
                <a:cubicBezTo>
                  <a:pt x="239" y="52"/>
                  <a:pt x="248" y="67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705200" y="4772520"/>
            <a:ext cx="70128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Stick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0" y="0"/>
            <a:ext cx="4067280" cy="6191280"/>
          </a:xfrm>
          <a:custGeom>
            <a:avLst/>
            <a:gdLst/>
            <a:ahLst/>
            <a:rect l="0" t="0" r="r" b="b"/>
            <a:pathLst>
              <a:path w="11298" h="17198">
                <a:moveTo>
                  <a:pt x="0" y="0"/>
                </a:moveTo>
                <a:lnTo>
                  <a:pt x="11298" y="0"/>
                </a:lnTo>
                <a:lnTo>
                  <a:pt x="11298" y="17198"/>
                </a:lnTo>
                <a:lnTo>
                  <a:pt x="0" y="171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4705200" y="5306040"/>
            <a:ext cx="1641240" cy="358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Conclusion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847440" y="381960"/>
            <a:ext cx="23716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Agenda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661057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285480" y="3695400"/>
            <a:ext cx="1905480" cy="76680"/>
          </a:xfrm>
          <a:custGeom>
            <a:avLst/>
            <a:gdLst/>
            <a:ahLst/>
            <a:rect l="0" t="0" r="r" b="b"/>
            <a:pathLst>
              <a:path w="5293" h="213">
                <a:moveTo>
                  <a:pt x="0" y="0"/>
                </a:moveTo>
                <a:lnTo>
                  <a:pt x="5293" y="0"/>
                </a:lnTo>
                <a:lnTo>
                  <a:pt x="5293" y="213"/>
                </a:lnTo>
                <a:lnTo>
                  <a:pt x="0" y="2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62120" y="2624040"/>
            <a:ext cx="221184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Part I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762120" y="3788640"/>
            <a:ext cx="1007136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Two Modes of Problem-Solving &amp; The Universal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762120" y="4302720"/>
            <a:ext cx="161028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Process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"/>
          <p:cNvSpPr txBox="1"/>
          <p:nvPr/>
        </p:nvSpPr>
        <p:spPr>
          <a:xfrm>
            <a:off x="762120" y="4528080"/>
            <a:ext cx="10416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Despite near-universal agreement that SPS is superior, organisations repeatedly default to IPS — the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ﬁre-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762120" y="4832640"/>
            <a:ext cx="4694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ﬁghting syndrome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. Part IV comes back to why.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851400" y="5273280"/>
            <a:ext cx="70639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6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r>
              <a:rPr b="0" lang="en-US" sz="96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Mohaghegh, M. and Furlan, A. (2020). Systematic problem-solving and its antecedents: a synthesis of the literature. 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7944480" y="5273280"/>
            <a:ext cx="182016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89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Management Research Review</a:t>
            </a:r>
            <a:endParaRPr b="0" lang="en-US" sz="98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9690120" y="5273280"/>
            <a:ext cx="1412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6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, 43(9), pp. 1033–1062.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661057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766440" y="2271600"/>
            <a:ext cx="5277240" cy="2105280"/>
          </a:xfrm>
          <a:custGeom>
            <a:avLst/>
            <a:gdLst/>
            <a:ahLst/>
            <a:rect l="0" t="0" r="r" b="b"/>
            <a:pathLst>
              <a:path w="14659" h="5848">
                <a:moveTo>
                  <a:pt x="0" y="570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5"/>
                  <a:pt x="14587" y="19"/>
                  <a:pt x="14595" y="24"/>
                </a:cubicBezTo>
                <a:cubicBezTo>
                  <a:pt x="14603" y="30"/>
                  <a:pt x="14610" y="36"/>
                  <a:pt x="14617" y="42"/>
                </a:cubicBezTo>
                <a:cubicBezTo>
                  <a:pt x="14623" y="49"/>
                  <a:pt x="14629" y="57"/>
                  <a:pt x="14635" y="64"/>
                </a:cubicBezTo>
                <a:cubicBezTo>
                  <a:pt x="14640" y="72"/>
                  <a:pt x="14645" y="81"/>
                  <a:pt x="14648" y="90"/>
                </a:cubicBezTo>
                <a:cubicBezTo>
                  <a:pt x="14652" y="98"/>
                  <a:pt x="14655" y="108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5703"/>
                </a:lnTo>
                <a:cubicBezTo>
                  <a:pt x="14659" y="5712"/>
                  <a:pt x="14658" y="5722"/>
                  <a:pt x="14657" y="5731"/>
                </a:cubicBezTo>
                <a:cubicBezTo>
                  <a:pt x="14655" y="5740"/>
                  <a:pt x="14652" y="5749"/>
                  <a:pt x="14648" y="5758"/>
                </a:cubicBezTo>
                <a:cubicBezTo>
                  <a:pt x="14645" y="5767"/>
                  <a:pt x="14640" y="5775"/>
                  <a:pt x="14635" y="5783"/>
                </a:cubicBezTo>
                <a:cubicBezTo>
                  <a:pt x="14629" y="5791"/>
                  <a:pt x="14623" y="5799"/>
                  <a:pt x="14617" y="5805"/>
                </a:cubicBezTo>
                <a:cubicBezTo>
                  <a:pt x="14610" y="5812"/>
                  <a:pt x="14603" y="5818"/>
                  <a:pt x="14595" y="5824"/>
                </a:cubicBezTo>
                <a:cubicBezTo>
                  <a:pt x="14587" y="5829"/>
                  <a:pt x="14578" y="5833"/>
                  <a:pt x="14569" y="5837"/>
                </a:cubicBezTo>
                <a:cubicBezTo>
                  <a:pt x="14561" y="5841"/>
                  <a:pt x="14552" y="5843"/>
                  <a:pt x="14542" y="5845"/>
                </a:cubicBezTo>
                <a:cubicBezTo>
                  <a:pt x="14533" y="5847"/>
                  <a:pt x="14523" y="5848"/>
                  <a:pt x="14514" y="5848"/>
                </a:cubicBezTo>
                <a:lnTo>
                  <a:pt x="146" y="5848"/>
                </a:lnTo>
                <a:cubicBezTo>
                  <a:pt x="136" y="5848"/>
                  <a:pt x="127" y="5847"/>
                  <a:pt x="118" y="5845"/>
                </a:cubicBezTo>
                <a:cubicBezTo>
                  <a:pt x="108" y="5843"/>
                  <a:pt x="99" y="5841"/>
                  <a:pt x="90" y="5837"/>
                </a:cubicBezTo>
                <a:cubicBezTo>
                  <a:pt x="81" y="5833"/>
                  <a:pt x="73" y="5829"/>
                  <a:pt x="65" y="5824"/>
                </a:cubicBezTo>
                <a:cubicBezTo>
                  <a:pt x="57" y="5818"/>
                  <a:pt x="50" y="5812"/>
                  <a:pt x="43" y="5805"/>
                </a:cubicBezTo>
                <a:cubicBezTo>
                  <a:pt x="36" y="5799"/>
                  <a:pt x="30" y="5791"/>
                  <a:pt x="25" y="5783"/>
                </a:cubicBezTo>
                <a:cubicBezTo>
                  <a:pt x="20" y="5775"/>
                  <a:pt x="15" y="5767"/>
                  <a:pt x="11" y="5758"/>
                </a:cubicBezTo>
                <a:cubicBezTo>
                  <a:pt x="8" y="5749"/>
                  <a:pt x="5" y="5740"/>
                  <a:pt x="3" y="5731"/>
                </a:cubicBezTo>
                <a:cubicBezTo>
                  <a:pt x="1" y="5722"/>
                  <a:pt x="0" y="5712"/>
                  <a:pt x="0" y="5703"/>
                </a:cubicBezTo>
                <a:close/>
              </a:path>
            </a:pathLst>
          </a:custGeom>
          <a:solidFill>
            <a:srgbClr val="fde8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766440" y="2271600"/>
            <a:ext cx="5277240" cy="2105280"/>
          </a:xfrm>
          <a:custGeom>
            <a:avLst/>
            <a:gdLst/>
            <a:ahLst/>
            <a:rect l="0" t="0" r="r" b="b"/>
            <a:pathLst>
              <a:path fill="none" w="14659" h="5848">
                <a:moveTo>
                  <a:pt x="0" y="570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5"/>
                  <a:pt x="14587" y="19"/>
                  <a:pt x="14595" y="24"/>
                </a:cubicBezTo>
                <a:cubicBezTo>
                  <a:pt x="14603" y="30"/>
                  <a:pt x="14610" y="36"/>
                  <a:pt x="14617" y="42"/>
                </a:cubicBezTo>
                <a:cubicBezTo>
                  <a:pt x="14623" y="49"/>
                  <a:pt x="14629" y="57"/>
                  <a:pt x="14635" y="64"/>
                </a:cubicBezTo>
                <a:cubicBezTo>
                  <a:pt x="14640" y="72"/>
                  <a:pt x="14645" y="81"/>
                  <a:pt x="14648" y="90"/>
                </a:cubicBezTo>
                <a:cubicBezTo>
                  <a:pt x="14652" y="98"/>
                  <a:pt x="14655" y="108"/>
                  <a:pt x="14657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5703"/>
                </a:lnTo>
                <a:cubicBezTo>
                  <a:pt x="14659" y="5712"/>
                  <a:pt x="14658" y="5722"/>
                  <a:pt x="14657" y="5731"/>
                </a:cubicBezTo>
                <a:cubicBezTo>
                  <a:pt x="14655" y="5740"/>
                  <a:pt x="14652" y="5749"/>
                  <a:pt x="14648" y="5758"/>
                </a:cubicBezTo>
                <a:cubicBezTo>
                  <a:pt x="14645" y="5767"/>
                  <a:pt x="14640" y="5775"/>
                  <a:pt x="14635" y="5783"/>
                </a:cubicBezTo>
                <a:cubicBezTo>
                  <a:pt x="14629" y="5791"/>
                  <a:pt x="14623" y="5799"/>
                  <a:pt x="14617" y="5805"/>
                </a:cubicBezTo>
                <a:cubicBezTo>
                  <a:pt x="14610" y="5812"/>
                  <a:pt x="14603" y="5818"/>
                  <a:pt x="14595" y="5824"/>
                </a:cubicBezTo>
                <a:cubicBezTo>
                  <a:pt x="14587" y="5829"/>
                  <a:pt x="14578" y="5833"/>
                  <a:pt x="14569" y="5837"/>
                </a:cubicBezTo>
                <a:cubicBezTo>
                  <a:pt x="14561" y="5841"/>
                  <a:pt x="14552" y="5843"/>
                  <a:pt x="14542" y="5845"/>
                </a:cubicBezTo>
                <a:cubicBezTo>
                  <a:pt x="14533" y="5847"/>
                  <a:pt x="14523" y="5848"/>
                  <a:pt x="14514" y="5848"/>
                </a:cubicBezTo>
                <a:lnTo>
                  <a:pt x="146" y="5848"/>
                </a:lnTo>
                <a:cubicBezTo>
                  <a:pt x="136" y="5848"/>
                  <a:pt x="127" y="5847"/>
                  <a:pt x="118" y="5845"/>
                </a:cubicBezTo>
                <a:cubicBezTo>
                  <a:pt x="108" y="5843"/>
                  <a:pt x="99" y="5841"/>
                  <a:pt x="90" y="5837"/>
                </a:cubicBezTo>
                <a:cubicBezTo>
                  <a:pt x="81" y="5833"/>
                  <a:pt x="73" y="5829"/>
                  <a:pt x="65" y="5824"/>
                </a:cubicBezTo>
                <a:cubicBezTo>
                  <a:pt x="57" y="5818"/>
                  <a:pt x="50" y="5812"/>
                  <a:pt x="43" y="5805"/>
                </a:cubicBezTo>
                <a:cubicBezTo>
                  <a:pt x="36" y="5799"/>
                  <a:pt x="30" y="5791"/>
                  <a:pt x="25" y="5783"/>
                </a:cubicBezTo>
                <a:cubicBezTo>
                  <a:pt x="20" y="5775"/>
                  <a:pt x="15" y="5767"/>
                  <a:pt x="11" y="5758"/>
                </a:cubicBezTo>
                <a:cubicBezTo>
                  <a:pt x="8" y="5749"/>
                  <a:pt x="5" y="5740"/>
                  <a:pt x="3" y="5731"/>
                </a:cubicBezTo>
                <a:cubicBezTo>
                  <a:pt x="1" y="5722"/>
                  <a:pt x="0" y="5712"/>
                  <a:pt x="0" y="5703"/>
                </a:cubicBezTo>
              </a:path>
            </a:pathLst>
          </a:custGeom>
          <a:ln w="9360">
            <a:solidFill>
              <a:srgbClr val="f8ba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762120" y="372600"/>
            <a:ext cx="99082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Two Modes of Problem-Solving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923760" y="3166560"/>
            <a:ext cx="4458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"System 1" — minimal cognitive eﬀort, short-term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923760" y="3432960"/>
            <a:ext cx="4233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remedies and heuristics that temporarily ﬁx the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968040" y="3709440"/>
            <a:ext cx="8542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9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symptom</a:t>
            </a:r>
            <a:endParaRPr b="0" lang="en-US" sz="14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749960" y="3709440"/>
            <a:ext cx="37292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. Fast, but leads to "severe and systematic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981000" y="2666880"/>
            <a:ext cx="114480" cy="114480"/>
          </a:xfrm>
          <a:custGeom>
            <a:avLst/>
            <a:gdLst/>
            <a:ahLst/>
            <a:rect l="0" t="0" r="r" b="b"/>
            <a:pathLst>
              <a:path fill="none" w="318" h="318">
                <a:moveTo>
                  <a:pt x="318" y="0"/>
                </a:moveTo>
                <a:lnTo>
                  <a:pt x="0" y="318"/>
                </a:lnTo>
                <a:moveTo>
                  <a:pt x="0" y="0"/>
                </a:moveTo>
                <a:lnTo>
                  <a:pt x="318" y="318"/>
                </a:lnTo>
              </a:path>
            </a:pathLst>
          </a:custGeom>
          <a:ln cap="rnd" w="18720">
            <a:solidFill>
              <a:srgbClr val="e93147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923760" y="3985560"/>
            <a:ext cx="3440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errors" and fails to prevent recurrence.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203120" y="2474640"/>
            <a:ext cx="3035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93147"/>
                </a:solidFill>
                <a:effectLst/>
                <a:uFillTx/>
                <a:latin typeface="LucidaGrande"/>
                <a:ea typeface="LucidaGrande"/>
              </a:rPr>
              <a:t>Intuitive Problem-Solving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6148080" y="2271600"/>
            <a:ext cx="5277240" cy="2105280"/>
          </a:xfrm>
          <a:custGeom>
            <a:avLst/>
            <a:gdLst/>
            <a:ahLst/>
            <a:rect l="0" t="0" r="r" b="b"/>
            <a:pathLst>
              <a:path w="14659" h="5848">
                <a:moveTo>
                  <a:pt x="0" y="570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5"/>
                  <a:pt x="14587" y="19"/>
                  <a:pt x="14595" y="24"/>
                </a:cubicBezTo>
                <a:cubicBezTo>
                  <a:pt x="14603" y="30"/>
                  <a:pt x="14610" y="36"/>
                  <a:pt x="14617" y="42"/>
                </a:cubicBezTo>
                <a:cubicBezTo>
                  <a:pt x="14623" y="49"/>
                  <a:pt x="14629" y="57"/>
                  <a:pt x="14635" y="64"/>
                </a:cubicBezTo>
                <a:cubicBezTo>
                  <a:pt x="14640" y="72"/>
                  <a:pt x="14645" y="81"/>
                  <a:pt x="14648" y="90"/>
                </a:cubicBezTo>
                <a:cubicBezTo>
                  <a:pt x="14652" y="98"/>
                  <a:pt x="14655" y="108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5703"/>
                </a:lnTo>
                <a:cubicBezTo>
                  <a:pt x="14659" y="5712"/>
                  <a:pt x="14658" y="5722"/>
                  <a:pt x="14656" y="5731"/>
                </a:cubicBezTo>
                <a:cubicBezTo>
                  <a:pt x="14655" y="5740"/>
                  <a:pt x="14652" y="5749"/>
                  <a:pt x="14648" y="5758"/>
                </a:cubicBezTo>
                <a:cubicBezTo>
                  <a:pt x="14645" y="5767"/>
                  <a:pt x="14640" y="5775"/>
                  <a:pt x="14635" y="5783"/>
                </a:cubicBezTo>
                <a:cubicBezTo>
                  <a:pt x="14629" y="5791"/>
                  <a:pt x="14623" y="5799"/>
                  <a:pt x="14617" y="5805"/>
                </a:cubicBezTo>
                <a:cubicBezTo>
                  <a:pt x="14610" y="5812"/>
                  <a:pt x="14603" y="5818"/>
                  <a:pt x="14595" y="5824"/>
                </a:cubicBezTo>
                <a:cubicBezTo>
                  <a:pt x="14587" y="5829"/>
                  <a:pt x="14578" y="5833"/>
                  <a:pt x="14569" y="5837"/>
                </a:cubicBezTo>
                <a:cubicBezTo>
                  <a:pt x="14561" y="5841"/>
                  <a:pt x="14552" y="5843"/>
                  <a:pt x="14542" y="5845"/>
                </a:cubicBezTo>
                <a:cubicBezTo>
                  <a:pt x="14533" y="5847"/>
                  <a:pt x="14523" y="5848"/>
                  <a:pt x="14514" y="5848"/>
                </a:cubicBezTo>
                <a:lnTo>
                  <a:pt x="146" y="5848"/>
                </a:lnTo>
                <a:cubicBezTo>
                  <a:pt x="136" y="5848"/>
                  <a:pt x="127" y="5847"/>
                  <a:pt x="117" y="5845"/>
                </a:cubicBezTo>
                <a:cubicBezTo>
                  <a:pt x="108" y="5843"/>
                  <a:pt x="99" y="5841"/>
                  <a:pt x="90" y="5837"/>
                </a:cubicBezTo>
                <a:cubicBezTo>
                  <a:pt x="81" y="5833"/>
                  <a:pt x="73" y="5829"/>
                  <a:pt x="65" y="5824"/>
                </a:cubicBezTo>
                <a:cubicBezTo>
                  <a:pt x="57" y="5818"/>
                  <a:pt x="50" y="5812"/>
                  <a:pt x="43" y="5805"/>
                </a:cubicBezTo>
                <a:cubicBezTo>
                  <a:pt x="36" y="5799"/>
                  <a:pt x="30" y="5791"/>
                  <a:pt x="25" y="5783"/>
                </a:cubicBezTo>
                <a:cubicBezTo>
                  <a:pt x="20" y="5775"/>
                  <a:pt x="15" y="5767"/>
                  <a:pt x="11" y="5758"/>
                </a:cubicBezTo>
                <a:cubicBezTo>
                  <a:pt x="8" y="5749"/>
                  <a:pt x="5" y="5740"/>
                  <a:pt x="3" y="5731"/>
                </a:cubicBezTo>
                <a:cubicBezTo>
                  <a:pt x="1" y="5722"/>
                  <a:pt x="0" y="5712"/>
                  <a:pt x="0" y="5703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6148080" y="2271600"/>
            <a:ext cx="5277240" cy="2105280"/>
          </a:xfrm>
          <a:custGeom>
            <a:avLst/>
            <a:gdLst/>
            <a:ahLst/>
            <a:rect l="0" t="0" r="r" b="b"/>
            <a:pathLst>
              <a:path fill="none" w="14659" h="5848">
                <a:moveTo>
                  <a:pt x="0" y="570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4"/>
                  <a:pt x="14561" y="7"/>
                  <a:pt x="14569" y="11"/>
                </a:cubicBezTo>
                <a:cubicBezTo>
                  <a:pt x="14578" y="15"/>
                  <a:pt x="14587" y="19"/>
                  <a:pt x="14595" y="24"/>
                </a:cubicBezTo>
                <a:cubicBezTo>
                  <a:pt x="14603" y="30"/>
                  <a:pt x="14610" y="36"/>
                  <a:pt x="14617" y="42"/>
                </a:cubicBezTo>
                <a:cubicBezTo>
                  <a:pt x="14623" y="49"/>
                  <a:pt x="14629" y="57"/>
                  <a:pt x="14635" y="64"/>
                </a:cubicBezTo>
                <a:cubicBezTo>
                  <a:pt x="14640" y="72"/>
                  <a:pt x="14645" y="81"/>
                  <a:pt x="14648" y="90"/>
                </a:cubicBezTo>
                <a:cubicBezTo>
                  <a:pt x="14652" y="98"/>
                  <a:pt x="14655" y="108"/>
                  <a:pt x="14656" y="117"/>
                </a:cubicBezTo>
                <a:cubicBezTo>
                  <a:pt x="14658" y="126"/>
                  <a:pt x="14659" y="136"/>
                  <a:pt x="14659" y="145"/>
                </a:cubicBezTo>
                <a:lnTo>
                  <a:pt x="14659" y="5703"/>
                </a:lnTo>
                <a:cubicBezTo>
                  <a:pt x="14659" y="5712"/>
                  <a:pt x="14658" y="5722"/>
                  <a:pt x="14656" y="5731"/>
                </a:cubicBezTo>
                <a:cubicBezTo>
                  <a:pt x="14655" y="5740"/>
                  <a:pt x="14652" y="5749"/>
                  <a:pt x="14648" y="5758"/>
                </a:cubicBezTo>
                <a:cubicBezTo>
                  <a:pt x="14645" y="5767"/>
                  <a:pt x="14640" y="5775"/>
                  <a:pt x="14635" y="5783"/>
                </a:cubicBezTo>
                <a:cubicBezTo>
                  <a:pt x="14629" y="5791"/>
                  <a:pt x="14623" y="5799"/>
                  <a:pt x="14617" y="5805"/>
                </a:cubicBezTo>
                <a:cubicBezTo>
                  <a:pt x="14610" y="5812"/>
                  <a:pt x="14603" y="5818"/>
                  <a:pt x="14595" y="5824"/>
                </a:cubicBezTo>
                <a:cubicBezTo>
                  <a:pt x="14587" y="5829"/>
                  <a:pt x="14578" y="5833"/>
                  <a:pt x="14569" y="5837"/>
                </a:cubicBezTo>
                <a:cubicBezTo>
                  <a:pt x="14561" y="5841"/>
                  <a:pt x="14552" y="5843"/>
                  <a:pt x="14542" y="5845"/>
                </a:cubicBezTo>
                <a:cubicBezTo>
                  <a:pt x="14533" y="5847"/>
                  <a:pt x="14523" y="5848"/>
                  <a:pt x="14514" y="5848"/>
                </a:cubicBezTo>
                <a:lnTo>
                  <a:pt x="146" y="5848"/>
                </a:lnTo>
                <a:cubicBezTo>
                  <a:pt x="136" y="5848"/>
                  <a:pt x="127" y="5847"/>
                  <a:pt x="117" y="5845"/>
                </a:cubicBezTo>
                <a:cubicBezTo>
                  <a:pt x="108" y="5843"/>
                  <a:pt x="99" y="5841"/>
                  <a:pt x="90" y="5837"/>
                </a:cubicBezTo>
                <a:cubicBezTo>
                  <a:pt x="81" y="5833"/>
                  <a:pt x="73" y="5829"/>
                  <a:pt x="65" y="5824"/>
                </a:cubicBezTo>
                <a:cubicBezTo>
                  <a:pt x="57" y="5818"/>
                  <a:pt x="50" y="5812"/>
                  <a:pt x="43" y="5805"/>
                </a:cubicBezTo>
                <a:cubicBezTo>
                  <a:pt x="36" y="5799"/>
                  <a:pt x="30" y="5791"/>
                  <a:pt x="25" y="5783"/>
                </a:cubicBezTo>
                <a:cubicBezTo>
                  <a:pt x="20" y="5775"/>
                  <a:pt x="15" y="5767"/>
                  <a:pt x="11" y="5758"/>
                </a:cubicBezTo>
                <a:cubicBezTo>
                  <a:pt x="8" y="5749"/>
                  <a:pt x="5" y="5740"/>
                  <a:pt x="3" y="5731"/>
                </a:cubicBezTo>
                <a:cubicBezTo>
                  <a:pt x="1" y="5722"/>
                  <a:pt x="0" y="5712"/>
                  <a:pt x="0" y="5703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203120" y="2760120"/>
            <a:ext cx="516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93147"/>
                </a:solidFill>
                <a:effectLst/>
                <a:uFillTx/>
                <a:latin typeface="LucidaGrande"/>
                <a:ea typeface="LucidaGrande"/>
              </a:rPr>
              <a:t>(IPS)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6305400" y="3166560"/>
            <a:ext cx="4172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"System 2" — deliberative, analytical eﬀort that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6305400" y="3432960"/>
            <a:ext cx="2234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diagnoses and alters the 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8583840" y="3432960"/>
            <a:ext cx="15598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9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underlying cause</a:t>
            </a:r>
            <a:endParaRPr b="0" lang="en-US" sz="14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10048680" y="3432960"/>
            <a:ext cx="1085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. Slower and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6305400" y="3709440"/>
            <a:ext cx="4669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more resource-intensive, but produces robust, non-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6343560" y="266688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2" y="292"/>
                </a:lnTo>
                <a:lnTo>
                  <a:pt x="0" y="160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6305400" y="3985560"/>
            <a:ext cx="1742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recurring solutions.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6584760" y="2474640"/>
            <a:ext cx="2458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Systematic Problem-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6584760" y="2760120"/>
            <a:ext cx="1508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Solving (SPS)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"/>
          <p:cNvSpPr/>
          <p:nvPr/>
        </p:nvSpPr>
        <p:spPr>
          <a:xfrm>
            <a:off x="771480" y="2143080"/>
            <a:ext cx="1657440" cy="428760"/>
          </a:xfrm>
          <a:custGeom>
            <a:avLst/>
            <a:gdLst/>
            <a:ahLst/>
            <a:rect l="0" t="0" r="r" b="b"/>
            <a:pathLst>
              <a:path w="4604" h="1191">
                <a:moveTo>
                  <a:pt x="0" y="0"/>
                </a:moveTo>
                <a:lnTo>
                  <a:pt x="4604" y="0"/>
                </a:lnTo>
                <a:lnTo>
                  <a:pt x="4604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2428560" y="2143080"/>
            <a:ext cx="3039120" cy="428760"/>
          </a:xfrm>
          <a:custGeom>
            <a:avLst/>
            <a:gdLst/>
            <a:ahLst/>
            <a:rect l="0" t="0" r="r" b="b"/>
            <a:pathLst>
              <a:path w="8442" h="1191">
                <a:moveTo>
                  <a:pt x="0" y="0"/>
                </a:moveTo>
                <a:lnTo>
                  <a:pt x="8442" y="0"/>
                </a:lnTo>
                <a:lnTo>
                  <a:pt x="8442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5467320" y="2143080"/>
            <a:ext cx="2686320" cy="428760"/>
          </a:xfrm>
          <a:custGeom>
            <a:avLst/>
            <a:gdLst/>
            <a:ahLst/>
            <a:rect l="0" t="0" r="r" b="b"/>
            <a:pathLst>
              <a:path w="7462" h="1191">
                <a:moveTo>
                  <a:pt x="0" y="0"/>
                </a:moveTo>
                <a:lnTo>
                  <a:pt x="7462" y="0"/>
                </a:lnTo>
                <a:lnTo>
                  <a:pt x="7462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8153280" y="2143080"/>
            <a:ext cx="3276720" cy="428760"/>
          </a:xfrm>
          <a:custGeom>
            <a:avLst/>
            <a:gdLst/>
            <a:ahLst/>
            <a:rect l="0" t="0" r="r" b="b"/>
            <a:pathLst>
              <a:path w="9102" h="1191">
                <a:moveTo>
                  <a:pt x="0" y="0"/>
                </a:moveTo>
                <a:lnTo>
                  <a:pt x="9102" y="0"/>
                </a:lnTo>
                <a:lnTo>
                  <a:pt x="9102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771480" y="2571480"/>
            <a:ext cx="1657440" cy="1038600"/>
          </a:xfrm>
          <a:custGeom>
            <a:avLst/>
            <a:gdLst/>
            <a:ahLst/>
            <a:rect l="0" t="0" r="r" b="b"/>
            <a:pathLst>
              <a:path w="4604" h="2885">
                <a:moveTo>
                  <a:pt x="0" y="0"/>
                </a:moveTo>
                <a:lnTo>
                  <a:pt x="4604" y="0"/>
                </a:lnTo>
                <a:lnTo>
                  <a:pt x="4604" y="2885"/>
                </a:lnTo>
                <a:lnTo>
                  <a:pt x="0" y="28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2428560" y="2571480"/>
            <a:ext cx="3039120" cy="1038600"/>
          </a:xfrm>
          <a:custGeom>
            <a:avLst/>
            <a:gdLst/>
            <a:ahLst/>
            <a:rect l="0" t="0" r="r" b="b"/>
            <a:pathLst>
              <a:path w="8442" h="2885">
                <a:moveTo>
                  <a:pt x="0" y="0"/>
                </a:moveTo>
                <a:lnTo>
                  <a:pt x="8442" y="0"/>
                </a:lnTo>
                <a:lnTo>
                  <a:pt x="8442" y="2885"/>
                </a:lnTo>
                <a:lnTo>
                  <a:pt x="0" y="28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5467320" y="2571480"/>
            <a:ext cx="2686320" cy="1038600"/>
          </a:xfrm>
          <a:custGeom>
            <a:avLst/>
            <a:gdLst/>
            <a:ahLst/>
            <a:rect l="0" t="0" r="r" b="b"/>
            <a:pathLst>
              <a:path w="7462" h="2885">
                <a:moveTo>
                  <a:pt x="0" y="0"/>
                </a:moveTo>
                <a:lnTo>
                  <a:pt x="7462" y="0"/>
                </a:lnTo>
                <a:lnTo>
                  <a:pt x="7462" y="2885"/>
                </a:lnTo>
                <a:lnTo>
                  <a:pt x="0" y="28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8153280" y="2571480"/>
            <a:ext cx="3276720" cy="1038600"/>
          </a:xfrm>
          <a:custGeom>
            <a:avLst/>
            <a:gdLst/>
            <a:ahLst/>
            <a:rect l="0" t="0" r="r" b="b"/>
            <a:pathLst>
              <a:path w="9102" h="2885">
                <a:moveTo>
                  <a:pt x="0" y="0"/>
                </a:moveTo>
                <a:lnTo>
                  <a:pt x="9102" y="0"/>
                </a:lnTo>
                <a:lnTo>
                  <a:pt x="9102" y="2885"/>
                </a:lnTo>
                <a:lnTo>
                  <a:pt x="0" y="28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771480" y="3609720"/>
            <a:ext cx="1657440" cy="733680"/>
          </a:xfrm>
          <a:custGeom>
            <a:avLst/>
            <a:gdLst/>
            <a:ahLst/>
            <a:rect l="0" t="0" r="r" b="b"/>
            <a:pathLst>
              <a:path w="4604" h="2038">
                <a:moveTo>
                  <a:pt x="0" y="0"/>
                </a:moveTo>
                <a:lnTo>
                  <a:pt x="4604" y="0"/>
                </a:lnTo>
                <a:lnTo>
                  <a:pt x="4604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2428560" y="3609720"/>
            <a:ext cx="3039120" cy="733680"/>
          </a:xfrm>
          <a:custGeom>
            <a:avLst/>
            <a:gdLst/>
            <a:ahLst/>
            <a:rect l="0" t="0" r="r" b="b"/>
            <a:pathLst>
              <a:path w="8442" h="2038">
                <a:moveTo>
                  <a:pt x="0" y="0"/>
                </a:moveTo>
                <a:lnTo>
                  <a:pt x="8442" y="0"/>
                </a:lnTo>
                <a:lnTo>
                  <a:pt x="8442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5467320" y="3609720"/>
            <a:ext cx="2686320" cy="733680"/>
          </a:xfrm>
          <a:custGeom>
            <a:avLst/>
            <a:gdLst/>
            <a:ahLst/>
            <a:rect l="0" t="0" r="r" b="b"/>
            <a:pathLst>
              <a:path w="7462" h="2038">
                <a:moveTo>
                  <a:pt x="0" y="0"/>
                </a:moveTo>
                <a:lnTo>
                  <a:pt x="7462" y="0"/>
                </a:lnTo>
                <a:lnTo>
                  <a:pt x="7462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8153280" y="3609720"/>
            <a:ext cx="3276720" cy="733680"/>
          </a:xfrm>
          <a:custGeom>
            <a:avLst/>
            <a:gdLst/>
            <a:ahLst/>
            <a:rect l="0" t="0" r="r" b="b"/>
            <a:pathLst>
              <a:path w="9102" h="2038">
                <a:moveTo>
                  <a:pt x="0" y="0"/>
                </a:moveTo>
                <a:lnTo>
                  <a:pt x="9102" y="0"/>
                </a:lnTo>
                <a:lnTo>
                  <a:pt x="9102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771480" y="4343040"/>
            <a:ext cx="1657440" cy="734040"/>
          </a:xfrm>
          <a:custGeom>
            <a:avLst/>
            <a:gdLst/>
            <a:ahLst/>
            <a:rect l="0" t="0" r="r" b="b"/>
            <a:pathLst>
              <a:path w="4604" h="2039">
                <a:moveTo>
                  <a:pt x="0" y="0"/>
                </a:moveTo>
                <a:lnTo>
                  <a:pt x="4604" y="0"/>
                </a:lnTo>
                <a:lnTo>
                  <a:pt x="4604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2428560" y="4343040"/>
            <a:ext cx="3039120" cy="734040"/>
          </a:xfrm>
          <a:custGeom>
            <a:avLst/>
            <a:gdLst/>
            <a:ahLst/>
            <a:rect l="0" t="0" r="r" b="b"/>
            <a:pathLst>
              <a:path w="8442" h="2039">
                <a:moveTo>
                  <a:pt x="0" y="0"/>
                </a:moveTo>
                <a:lnTo>
                  <a:pt x="8442" y="0"/>
                </a:lnTo>
                <a:lnTo>
                  <a:pt x="8442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5467320" y="4343040"/>
            <a:ext cx="2686320" cy="734040"/>
          </a:xfrm>
          <a:custGeom>
            <a:avLst/>
            <a:gdLst/>
            <a:ahLst/>
            <a:rect l="0" t="0" r="r" b="b"/>
            <a:pathLst>
              <a:path w="7462" h="2039">
                <a:moveTo>
                  <a:pt x="0" y="0"/>
                </a:moveTo>
                <a:lnTo>
                  <a:pt x="7462" y="0"/>
                </a:lnTo>
                <a:lnTo>
                  <a:pt x="7462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8153280" y="4343040"/>
            <a:ext cx="3276720" cy="734040"/>
          </a:xfrm>
          <a:custGeom>
            <a:avLst/>
            <a:gdLst/>
            <a:ahLst/>
            <a:rect l="0" t="0" r="r" b="b"/>
            <a:pathLst>
              <a:path w="9102" h="2039">
                <a:moveTo>
                  <a:pt x="0" y="0"/>
                </a:moveTo>
                <a:lnTo>
                  <a:pt x="9102" y="0"/>
                </a:lnTo>
                <a:lnTo>
                  <a:pt x="9102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771480" y="5076720"/>
            <a:ext cx="1657440" cy="733680"/>
          </a:xfrm>
          <a:custGeom>
            <a:avLst/>
            <a:gdLst/>
            <a:ahLst/>
            <a:rect l="0" t="0" r="r" b="b"/>
            <a:pathLst>
              <a:path w="4604" h="2038">
                <a:moveTo>
                  <a:pt x="0" y="0"/>
                </a:moveTo>
                <a:lnTo>
                  <a:pt x="4604" y="0"/>
                </a:lnTo>
                <a:lnTo>
                  <a:pt x="4604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2428560" y="5076720"/>
            <a:ext cx="3039120" cy="733680"/>
          </a:xfrm>
          <a:custGeom>
            <a:avLst/>
            <a:gdLst/>
            <a:ahLst/>
            <a:rect l="0" t="0" r="r" b="b"/>
            <a:pathLst>
              <a:path w="8442" h="2038">
                <a:moveTo>
                  <a:pt x="0" y="0"/>
                </a:moveTo>
                <a:lnTo>
                  <a:pt x="8442" y="0"/>
                </a:lnTo>
                <a:lnTo>
                  <a:pt x="8442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5467320" y="5076720"/>
            <a:ext cx="2686320" cy="733680"/>
          </a:xfrm>
          <a:custGeom>
            <a:avLst/>
            <a:gdLst/>
            <a:ahLst/>
            <a:rect l="0" t="0" r="r" b="b"/>
            <a:pathLst>
              <a:path w="7462" h="2038">
                <a:moveTo>
                  <a:pt x="0" y="0"/>
                </a:moveTo>
                <a:lnTo>
                  <a:pt x="7462" y="0"/>
                </a:lnTo>
                <a:lnTo>
                  <a:pt x="7462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8153280" y="5076720"/>
            <a:ext cx="3276720" cy="733680"/>
          </a:xfrm>
          <a:custGeom>
            <a:avLst/>
            <a:gdLst/>
            <a:ahLst/>
            <a:rect l="0" t="0" r="r" b="b"/>
            <a:pathLst>
              <a:path w="9102" h="2038">
                <a:moveTo>
                  <a:pt x="0" y="0"/>
                </a:moveTo>
                <a:lnTo>
                  <a:pt x="9102" y="0"/>
                </a:lnTo>
                <a:lnTo>
                  <a:pt x="9102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771480" y="5810040"/>
            <a:ext cx="1657440" cy="1038600"/>
          </a:xfrm>
          <a:custGeom>
            <a:avLst/>
            <a:gdLst/>
            <a:ahLst/>
            <a:rect l="0" t="0" r="r" b="b"/>
            <a:pathLst>
              <a:path w="4604" h="2885">
                <a:moveTo>
                  <a:pt x="0" y="0"/>
                </a:moveTo>
                <a:lnTo>
                  <a:pt x="4604" y="0"/>
                </a:lnTo>
                <a:lnTo>
                  <a:pt x="4604" y="2885"/>
                </a:lnTo>
                <a:lnTo>
                  <a:pt x="0" y="28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2428560" y="5810040"/>
            <a:ext cx="3039120" cy="1038600"/>
          </a:xfrm>
          <a:custGeom>
            <a:avLst/>
            <a:gdLst/>
            <a:ahLst/>
            <a:rect l="0" t="0" r="r" b="b"/>
            <a:pathLst>
              <a:path w="8442" h="2885">
                <a:moveTo>
                  <a:pt x="0" y="0"/>
                </a:moveTo>
                <a:lnTo>
                  <a:pt x="8442" y="0"/>
                </a:lnTo>
                <a:lnTo>
                  <a:pt x="8442" y="2885"/>
                </a:lnTo>
                <a:lnTo>
                  <a:pt x="0" y="28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5467320" y="5810040"/>
            <a:ext cx="2686320" cy="1038600"/>
          </a:xfrm>
          <a:custGeom>
            <a:avLst/>
            <a:gdLst/>
            <a:ahLst/>
            <a:rect l="0" t="0" r="r" b="b"/>
            <a:pathLst>
              <a:path w="7462" h="2885">
                <a:moveTo>
                  <a:pt x="0" y="0"/>
                </a:moveTo>
                <a:lnTo>
                  <a:pt x="7462" y="0"/>
                </a:lnTo>
                <a:lnTo>
                  <a:pt x="7462" y="2885"/>
                </a:lnTo>
                <a:lnTo>
                  <a:pt x="0" y="28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8153280" y="5810040"/>
            <a:ext cx="3276720" cy="1038600"/>
          </a:xfrm>
          <a:custGeom>
            <a:avLst/>
            <a:gdLst/>
            <a:ahLst/>
            <a:rect l="0" t="0" r="r" b="b"/>
            <a:pathLst>
              <a:path w="9102" h="2885">
                <a:moveTo>
                  <a:pt x="0" y="0"/>
                </a:moveTo>
                <a:lnTo>
                  <a:pt x="9102" y="0"/>
                </a:lnTo>
                <a:lnTo>
                  <a:pt x="9102" y="2885"/>
                </a:lnTo>
                <a:lnTo>
                  <a:pt x="0" y="28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761760" y="214308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761760" y="2143080"/>
            <a:ext cx="1676880" cy="9720"/>
          </a:xfrm>
          <a:custGeom>
            <a:avLst/>
            <a:gdLst/>
            <a:ahLst/>
            <a:rect l="0" t="0" r="r" b="b"/>
            <a:pathLst>
              <a:path w="4658" h="27">
                <a:moveTo>
                  <a:pt x="0" y="0"/>
                </a:moveTo>
                <a:lnTo>
                  <a:pt x="4658" y="0"/>
                </a:lnTo>
                <a:lnTo>
                  <a:pt x="46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2428560" y="2143080"/>
            <a:ext cx="10440" cy="438480"/>
          </a:xfrm>
          <a:custGeom>
            <a:avLst/>
            <a:gdLst/>
            <a:ahLst/>
            <a:rect l="0" t="0" r="r" b="b"/>
            <a:pathLst>
              <a:path w="29" h="1218">
                <a:moveTo>
                  <a:pt x="0" y="0"/>
                </a:moveTo>
                <a:lnTo>
                  <a:pt x="29" y="0"/>
                </a:lnTo>
                <a:lnTo>
                  <a:pt x="29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2438280" y="2143080"/>
            <a:ext cx="3029400" cy="9720"/>
          </a:xfrm>
          <a:custGeom>
            <a:avLst/>
            <a:gdLst/>
            <a:ahLst/>
            <a:rect l="0" t="0" r="r" b="b"/>
            <a:pathLst>
              <a:path w="8415" h="27">
                <a:moveTo>
                  <a:pt x="0" y="0"/>
                </a:moveTo>
                <a:lnTo>
                  <a:pt x="8415" y="0"/>
                </a:lnTo>
                <a:lnTo>
                  <a:pt x="84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5457600" y="214308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5467320" y="2143080"/>
            <a:ext cx="2686320" cy="9720"/>
          </a:xfrm>
          <a:custGeom>
            <a:avLst/>
            <a:gdLst/>
            <a:ahLst/>
            <a:rect l="0" t="0" r="r" b="b"/>
            <a:pathLst>
              <a:path w="7462" h="27">
                <a:moveTo>
                  <a:pt x="0" y="0"/>
                </a:moveTo>
                <a:lnTo>
                  <a:pt x="7462" y="0"/>
                </a:lnTo>
                <a:lnTo>
                  <a:pt x="74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8143560" y="214308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8153280" y="2143080"/>
            <a:ext cx="3276720" cy="9720"/>
          </a:xfrm>
          <a:custGeom>
            <a:avLst/>
            <a:gdLst/>
            <a:ahLst/>
            <a:rect l="0" t="0" r="r" b="b"/>
            <a:pathLst>
              <a:path w="9102" h="27">
                <a:moveTo>
                  <a:pt x="0" y="0"/>
                </a:moveTo>
                <a:lnTo>
                  <a:pt x="9102" y="0"/>
                </a:lnTo>
                <a:lnTo>
                  <a:pt x="91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11420280" y="214308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761760" y="2571480"/>
            <a:ext cx="1676880" cy="10080"/>
          </a:xfrm>
          <a:custGeom>
            <a:avLst/>
            <a:gdLst/>
            <a:ahLst/>
            <a:rect l="0" t="0" r="r" b="b"/>
            <a:pathLst>
              <a:path w="4658" h="28">
                <a:moveTo>
                  <a:pt x="0" y="0"/>
                </a:moveTo>
                <a:lnTo>
                  <a:pt x="4658" y="0"/>
                </a:lnTo>
                <a:lnTo>
                  <a:pt x="46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2438280" y="2571480"/>
            <a:ext cx="3029400" cy="10080"/>
          </a:xfrm>
          <a:custGeom>
            <a:avLst/>
            <a:gdLst/>
            <a:ahLst/>
            <a:rect l="0" t="0" r="r" b="b"/>
            <a:pathLst>
              <a:path w="8415" h="28">
                <a:moveTo>
                  <a:pt x="0" y="0"/>
                </a:moveTo>
                <a:lnTo>
                  <a:pt x="8415" y="0"/>
                </a:lnTo>
                <a:lnTo>
                  <a:pt x="84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5467320" y="2571480"/>
            <a:ext cx="2686320" cy="10080"/>
          </a:xfrm>
          <a:custGeom>
            <a:avLst/>
            <a:gdLst/>
            <a:ahLst/>
            <a:rect l="0" t="0" r="r" b="b"/>
            <a:pathLst>
              <a:path w="7462" h="28">
                <a:moveTo>
                  <a:pt x="0" y="0"/>
                </a:moveTo>
                <a:lnTo>
                  <a:pt x="7462" y="0"/>
                </a:lnTo>
                <a:lnTo>
                  <a:pt x="74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8153280" y="2571480"/>
            <a:ext cx="3276720" cy="10080"/>
          </a:xfrm>
          <a:custGeom>
            <a:avLst/>
            <a:gdLst/>
            <a:ahLst/>
            <a:rect l="0" t="0" r="r" b="b"/>
            <a:pathLst>
              <a:path w="9102" h="28">
                <a:moveTo>
                  <a:pt x="0" y="0"/>
                </a:moveTo>
                <a:lnTo>
                  <a:pt x="9102" y="0"/>
                </a:lnTo>
                <a:lnTo>
                  <a:pt x="910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761760" y="2581200"/>
            <a:ext cx="10080" cy="1038600"/>
          </a:xfrm>
          <a:custGeom>
            <a:avLst/>
            <a:gdLst/>
            <a:ahLst/>
            <a:rect l="0" t="0" r="r" b="b"/>
            <a:pathLst>
              <a:path w="28" h="2885">
                <a:moveTo>
                  <a:pt x="0" y="0"/>
                </a:moveTo>
                <a:lnTo>
                  <a:pt x="28" y="0"/>
                </a:lnTo>
                <a:lnTo>
                  <a:pt x="28" y="2885"/>
                </a:lnTo>
                <a:lnTo>
                  <a:pt x="0" y="28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2428560" y="2581200"/>
            <a:ext cx="10440" cy="1038600"/>
          </a:xfrm>
          <a:custGeom>
            <a:avLst/>
            <a:gdLst/>
            <a:ahLst/>
            <a:rect l="0" t="0" r="r" b="b"/>
            <a:pathLst>
              <a:path w="29" h="2885">
                <a:moveTo>
                  <a:pt x="0" y="0"/>
                </a:moveTo>
                <a:lnTo>
                  <a:pt x="29" y="0"/>
                </a:lnTo>
                <a:lnTo>
                  <a:pt x="29" y="2885"/>
                </a:lnTo>
                <a:lnTo>
                  <a:pt x="0" y="28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5457600" y="2581200"/>
            <a:ext cx="10080" cy="1038600"/>
          </a:xfrm>
          <a:custGeom>
            <a:avLst/>
            <a:gdLst/>
            <a:ahLst/>
            <a:rect l="0" t="0" r="r" b="b"/>
            <a:pathLst>
              <a:path w="28" h="2885">
                <a:moveTo>
                  <a:pt x="0" y="0"/>
                </a:moveTo>
                <a:lnTo>
                  <a:pt x="28" y="0"/>
                </a:lnTo>
                <a:lnTo>
                  <a:pt x="28" y="2885"/>
                </a:lnTo>
                <a:lnTo>
                  <a:pt x="0" y="28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8143560" y="2581200"/>
            <a:ext cx="10080" cy="1038600"/>
          </a:xfrm>
          <a:custGeom>
            <a:avLst/>
            <a:gdLst/>
            <a:ahLst/>
            <a:rect l="0" t="0" r="r" b="b"/>
            <a:pathLst>
              <a:path w="28" h="2885">
                <a:moveTo>
                  <a:pt x="0" y="0"/>
                </a:moveTo>
                <a:lnTo>
                  <a:pt x="28" y="0"/>
                </a:lnTo>
                <a:lnTo>
                  <a:pt x="28" y="2885"/>
                </a:lnTo>
                <a:lnTo>
                  <a:pt x="0" y="28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11420280" y="2581200"/>
            <a:ext cx="9720" cy="1038600"/>
          </a:xfrm>
          <a:custGeom>
            <a:avLst/>
            <a:gdLst/>
            <a:ahLst/>
            <a:rect l="0" t="0" r="r" b="b"/>
            <a:pathLst>
              <a:path w="27" h="2885">
                <a:moveTo>
                  <a:pt x="0" y="0"/>
                </a:moveTo>
                <a:lnTo>
                  <a:pt x="27" y="0"/>
                </a:lnTo>
                <a:lnTo>
                  <a:pt x="27" y="2885"/>
                </a:lnTo>
                <a:lnTo>
                  <a:pt x="0" y="288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761760" y="361944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761760" y="3609720"/>
            <a:ext cx="1676880" cy="10080"/>
          </a:xfrm>
          <a:custGeom>
            <a:avLst/>
            <a:gdLst/>
            <a:ahLst/>
            <a:rect l="0" t="0" r="r" b="b"/>
            <a:pathLst>
              <a:path w="4658" h="28">
                <a:moveTo>
                  <a:pt x="0" y="0"/>
                </a:moveTo>
                <a:lnTo>
                  <a:pt x="4658" y="0"/>
                </a:lnTo>
                <a:lnTo>
                  <a:pt x="46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2428560" y="3619440"/>
            <a:ext cx="10440" cy="733680"/>
          </a:xfrm>
          <a:custGeom>
            <a:avLst/>
            <a:gdLst/>
            <a:ahLst/>
            <a:rect l="0" t="0" r="r" b="b"/>
            <a:pathLst>
              <a:path w="29" h="2038">
                <a:moveTo>
                  <a:pt x="0" y="0"/>
                </a:moveTo>
                <a:lnTo>
                  <a:pt x="29" y="0"/>
                </a:lnTo>
                <a:lnTo>
                  <a:pt x="29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2438280" y="3609720"/>
            <a:ext cx="3029400" cy="10080"/>
          </a:xfrm>
          <a:custGeom>
            <a:avLst/>
            <a:gdLst/>
            <a:ahLst/>
            <a:rect l="0" t="0" r="r" b="b"/>
            <a:pathLst>
              <a:path w="8415" h="28">
                <a:moveTo>
                  <a:pt x="0" y="0"/>
                </a:moveTo>
                <a:lnTo>
                  <a:pt x="8415" y="0"/>
                </a:lnTo>
                <a:lnTo>
                  <a:pt x="84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5457600" y="361944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5467320" y="3609720"/>
            <a:ext cx="2686320" cy="10080"/>
          </a:xfrm>
          <a:custGeom>
            <a:avLst/>
            <a:gdLst/>
            <a:ahLst/>
            <a:rect l="0" t="0" r="r" b="b"/>
            <a:pathLst>
              <a:path w="7462" h="28">
                <a:moveTo>
                  <a:pt x="0" y="0"/>
                </a:moveTo>
                <a:lnTo>
                  <a:pt x="7462" y="0"/>
                </a:lnTo>
                <a:lnTo>
                  <a:pt x="74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8143560" y="361944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8153280" y="3609720"/>
            <a:ext cx="3276720" cy="10080"/>
          </a:xfrm>
          <a:custGeom>
            <a:avLst/>
            <a:gdLst/>
            <a:ahLst/>
            <a:rect l="0" t="0" r="r" b="b"/>
            <a:pathLst>
              <a:path w="9102" h="28">
                <a:moveTo>
                  <a:pt x="0" y="0"/>
                </a:moveTo>
                <a:lnTo>
                  <a:pt x="9102" y="0"/>
                </a:lnTo>
                <a:lnTo>
                  <a:pt x="910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11420280" y="361944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761760" y="435276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761760" y="4343040"/>
            <a:ext cx="1676880" cy="10080"/>
          </a:xfrm>
          <a:custGeom>
            <a:avLst/>
            <a:gdLst/>
            <a:ahLst/>
            <a:rect l="0" t="0" r="r" b="b"/>
            <a:pathLst>
              <a:path w="4658" h="28">
                <a:moveTo>
                  <a:pt x="0" y="0"/>
                </a:moveTo>
                <a:lnTo>
                  <a:pt x="4658" y="0"/>
                </a:lnTo>
                <a:lnTo>
                  <a:pt x="46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2428560" y="4352760"/>
            <a:ext cx="10440" cy="733680"/>
          </a:xfrm>
          <a:custGeom>
            <a:avLst/>
            <a:gdLst/>
            <a:ahLst/>
            <a:rect l="0" t="0" r="r" b="b"/>
            <a:pathLst>
              <a:path w="29" h="2038">
                <a:moveTo>
                  <a:pt x="0" y="0"/>
                </a:moveTo>
                <a:lnTo>
                  <a:pt x="29" y="0"/>
                </a:lnTo>
                <a:lnTo>
                  <a:pt x="29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2438280" y="4343040"/>
            <a:ext cx="3029400" cy="10080"/>
          </a:xfrm>
          <a:custGeom>
            <a:avLst/>
            <a:gdLst/>
            <a:ahLst/>
            <a:rect l="0" t="0" r="r" b="b"/>
            <a:pathLst>
              <a:path w="8415" h="28">
                <a:moveTo>
                  <a:pt x="0" y="0"/>
                </a:moveTo>
                <a:lnTo>
                  <a:pt x="8415" y="0"/>
                </a:lnTo>
                <a:lnTo>
                  <a:pt x="84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5457600" y="435276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5467320" y="4343040"/>
            <a:ext cx="2686320" cy="10080"/>
          </a:xfrm>
          <a:custGeom>
            <a:avLst/>
            <a:gdLst/>
            <a:ahLst/>
            <a:rect l="0" t="0" r="r" b="b"/>
            <a:pathLst>
              <a:path w="7462" h="28">
                <a:moveTo>
                  <a:pt x="0" y="0"/>
                </a:moveTo>
                <a:lnTo>
                  <a:pt x="7462" y="0"/>
                </a:lnTo>
                <a:lnTo>
                  <a:pt x="74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8143560" y="435276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8153280" y="4343040"/>
            <a:ext cx="3276720" cy="10080"/>
          </a:xfrm>
          <a:custGeom>
            <a:avLst/>
            <a:gdLst/>
            <a:ahLst/>
            <a:rect l="0" t="0" r="r" b="b"/>
            <a:pathLst>
              <a:path w="9102" h="28">
                <a:moveTo>
                  <a:pt x="0" y="0"/>
                </a:moveTo>
                <a:lnTo>
                  <a:pt x="9102" y="0"/>
                </a:lnTo>
                <a:lnTo>
                  <a:pt x="910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11420280" y="435276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761760" y="5086080"/>
            <a:ext cx="10080" cy="734040"/>
          </a:xfrm>
          <a:custGeom>
            <a:avLst/>
            <a:gdLst/>
            <a:ahLst/>
            <a:rect l="0" t="0" r="r" b="b"/>
            <a:pathLst>
              <a:path w="28" h="2039">
                <a:moveTo>
                  <a:pt x="0" y="0"/>
                </a:moveTo>
                <a:lnTo>
                  <a:pt x="28" y="0"/>
                </a:lnTo>
                <a:lnTo>
                  <a:pt x="28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761760" y="5076720"/>
            <a:ext cx="1676880" cy="9720"/>
          </a:xfrm>
          <a:custGeom>
            <a:avLst/>
            <a:gdLst/>
            <a:ahLst/>
            <a:rect l="0" t="0" r="r" b="b"/>
            <a:pathLst>
              <a:path w="4658" h="27">
                <a:moveTo>
                  <a:pt x="0" y="0"/>
                </a:moveTo>
                <a:lnTo>
                  <a:pt x="4658" y="0"/>
                </a:lnTo>
                <a:lnTo>
                  <a:pt x="46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2428560" y="5086080"/>
            <a:ext cx="10440" cy="734040"/>
          </a:xfrm>
          <a:custGeom>
            <a:avLst/>
            <a:gdLst/>
            <a:ahLst/>
            <a:rect l="0" t="0" r="r" b="b"/>
            <a:pathLst>
              <a:path w="29" h="2039">
                <a:moveTo>
                  <a:pt x="0" y="0"/>
                </a:moveTo>
                <a:lnTo>
                  <a:pt x="29" y="0"/>
                </a:lnTo>
                <a:lnTo>
                  <a:pt x="29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2438280" y="5076720"/>
            <a:ext cx="3029400" cy="9720"/>
          </a:xfrm>
          <a:custGeom>
            <a:avLst/>
            <a:gdLst/>
            <a:ahLst/>
            <a:rect l="0" t="0" r="r" b="b"/>
            <a:pathLst>
              <a:path w="8415" h="27">
                <a:moveTo>
                  <a:pt x="0" y="0"/>
                </a:moveTo>
                <a:lnTo>
                  <a:pt x="8415" y="0"/>
                </a:lnTo>
                <a:lnTo>
                  <a:pt x="84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5457600" y="5086080"/>
            <a:ext cx="10080" cy="734040"/>
          </a:xfrm>
          <a:custGeom>
            <a:avLst/>
            <a:gdLst/>
            <a:ahLst/>
            <a:rect l="0" t="0" r="r" b="b"/>
            <a:pathLst>
              <a:path w="28" h="2039">
                <a:moveTo>
                  <a:pt x="0" y="0"/>
                </a:moveTo>
                <a:lnTo>
                  <a:pt x="28" y="0"/>
                </a:lnTo>
                <a:lnTo>
                  <a:pt x="28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5467320" y="5076720"/>
            <a:ext cx="2686320" cy="9720"/>
          </a:xfrm>
          <a:custGeom>
            <a:avLst/>
            <a:gdLst/>
            <a:ahLst/>
            <a:rect l="0" t="0" r="r" b="b"/>
            <a:pathLst>
              <a:path w="7462" h="27">
                <a:moveTo>
                  <a:pt x="0" y="0"/>
                </a:moveTo>
                <a:lnTo>
                  <a:pt x="7462" y="0"/>
                </a:lnTo>
                <a:lnTo>
                  <a:pt x="74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8143560" y="5086080"/>
            <a:ext cx="10080" cy="734040"/>
          </a:xfrm>
          <a:custGeom>
            <a:avLst/>
            <a:gdLst/>
            <a:ahLst/>
            <a:rect l="0" t="0" r="r" b="b"/>
            <a:pathLst>
              <a:path w="28" h="2039">
                <a:moveTo>
                  <a:pt x="0" y="0"/>
                </a:moveTo>
                <a:lnTo>
                  <a:pt x="28" y="0"/>
                </a:lnTo>
                <a:lnTo>
                  <a:pt x="28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8153280" y="5076720"/>
            <a:ext cx="3276720" cy="9720"/>
          </a:xfrm>
          <a:custGeom>
            <a:avLst/>
            <a:gdLst/>
            <a:ahLst/>
            <a:rect l="0" t="0" r="r" b="b"/>
            <a:pathLst>
              <a:path w="9102" h="27">
                <a:moveTo>
                  <a:pt x="0" y="0"/>
                </a:moveTo>
                <a:lnTo>
                  <a:pt x="9102" y="0"/>
                </a:lnTo>
                <a:lnTo>
                  <a:pt x="91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11420280" y="5086080"/>
            <a:ext cx="9720" cy="734040"/>
          </a:xfrm>
          <a:custGeom>
            <a:avLst/>
            <a:gdLst/>
            <a:ahLst/>
            <a:rect l="0" t="0" r="r" b="b"/>
            <a:pathLst>
              <a:path w="27" h="2039">
                <a:moveTo>
                  <a:pt x="0" y="0"/>
                </a:moveTo>
                <a:lnTo>
                  <a:pt x="27" y="0"/>
                </a:lnTo>
                <a:lnTo>
                  <a:pt x="27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761760" y="5819760"/>
            <a:ext cx="10080" cy="1038240"/>
          </a:xfrm>
          <a:custGeom>
            <a:avLst/>
            <a:gdLst/>
            <a:ahLst/>
            <a:rect l="0" t="0" r="r" b="b"/>
            <a:pathLst>
              <a:path w="28" h="2884">
                <a:moveTo>
                  <a:pt x="0" y="0"/>
                </a:moveTo>
                <a:lnTo>
                  <a:pt x="28" y="0"/>
                </a:lnTo>
                <a:lnTo>
                  <a:pt x="28" y="2884"/>
                </a:lnTo>
                <a:lnTo>
                  <a:pt x="0" y="288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761760" y="5810040"/>
            <a:ext cx="1676880" cy="10080"/>
          </a:xfrm>
          <a:custGeom>
            <a:avLst/>
            <a:gdLst/>
            <a:ahLst/>
            <a:rect l="0" t="0" r="r" b="b"/>
            <a:pathLst>
              <a:path w="4658" h="28">
                <a:moveTo>
                  <a:pt x="0" y="0"/>
                </a:moveTo>
                <a:lnTo>
                  <a:pt x="4658" y="0"/>
                </a:lnTo>
                <a:lnTo>
                  <a:pt x="46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2428560" y="5819760"/>
            <a:ext cx="10440" cy="1038240"/>
          </a:xfrm>
          <a:custGeom>
            <a:avLst/>
            <a:gdLst/>
            <a:ahLst/>
            <a:rect l="0" t="0" r="r" b="b"/>
            <a:pathLst>
              <a:path w="29" h="2884">
                <a:moveTo>
                  <a:pt x="0" y="0"/>
                </a:moveTo>
                <a:lnTo>
                  <a:pt x="29" y="0"/>
                </a:lnTo>
                <a:lnTo>
                  <a:pt x="29" y="2884"/>
                </a:lnTo>
                <a:lnTo>
                  <a:pt x="0" y="288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2438280" y="5810040"/>
            <a:ext cx="3029400" cy="10080"/>
          </a:xfrm>
          <a:custGeom>
            <a:avLst/>
            <a:gdLst/>
            <a:ahLst/>
            <a:rect l="0" t="0" r="r" b="b"/>
            <a:pathLst>
              <a:path w="8415" h="28">
                <a:moveTo>
                  <a:pt x="0" y="0"/>
                </a:moveTo>
                <a:lnTo>
                  <a:pt x="8415" y="0"/>
                </a:lnTo>
                <a:lnTo>
                  <a:pt x="84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5457600" y="5819760"/>
            <a:ext cx="10080" cy="1038240"/>
          </a:xfrm>
          <a:custGeom>
            <a:avLst/>
            <a:gdLst/>
            <a:ahLst/>
            <a:rect l="0" t="0" r="r" b="b"/>
            <a:pathLst>
              <a:path w="28" h="2884">
                <a:moveTo>
                  <a:pt x="0" y="0"/>
                </a:moveTo>
                <a:lnTo>
                  <a:pt x="28" y="0"/>
                </a:lnTo>
                <a:lnTo>
                  <a:pt x="28" y="2884"/>
                </a:lnTo>
                <a:lnTo>
                  <a:pt x="0" y="288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5467320" y="5810040"/>
            <a:ext cx="2686320" cy="10080"/>
          </a:xfrm>
          <a:custGeom>
            <a:avLst/>
            <a:gdLst/>
            <a:ahLst/>
            <a:rect l="0" t="0" r="r" b="b"/>
            <a:pathLst>
              <a:path w="7462" h="28">
                <a:moveTo>
                  <a:pt x="0" y="0"/>
                </a:moveTo>
                <a:lnTo>
                  <a:pt x="7462" y="0"/>
                </a:lnTo>
                <a:lnTo>
                  <a:pt x="74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8143560" y="5819760"/>
            <a:ext cx="10080" cy="1038240"/>
          </a:xfrm>
          <a:custGeom>
            <a:avLst/>
            <a:gdLst/>
            <a:ahLst/>
            <a:rect l="0" t="0" r="r" b="b"/>
            <a:pathLst>
              <a:path w="28" h="2884">
                <a:moveTo>
                  <a:pt x="0" y="0"/>
                </a:moveTo>
                <a:lnTo>
                  <a:pt x="28" y="0"/>
                </a:lnTo>
                <a:lnTo>
                  <a:pt x="28" y="2884"/>
                </a:lnTo>
                <a:lnTo>
                  <a:pt x="0" y="288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8153280" y="5810040"/>
            <a:ext cx="3276720" cy="10080"/>
          </a:xfrm>
          <a:custGeom>
            <a:avLst/>
            <a:gdLst/>
            <a:ahLst/>
            <a:rect l="0" t="0" r="r" b="b"/>
            <a:pathLst>
              <a:path w="9102" h="28">
                <a:moveTo>
                  <a:pt x="0" y="0"/>
                </a:moveTo>
                <a:lnTo>
                  <a:pt x="9102" y="0"/>
                </a:lnTo>
                <a:lnTo>
                  <a:pt x="910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11420280" y="5819760"/>
            <a:ext cx="9720" cy="1038240"/>
          </a:xfrm>
          <a:custGeom>
            <a:avLst/>
            <a:gdLst/>
            <a:ahLst/>
            <a:rect l="0" t="0" r="r" b="b"/>
            <a:pathLst>
              <a:path w="27" h="2884">
                <a:moveTo>
                  <a:pt x="0" y="0"/>
                </a:moveTo>
                <a:lnTo>
                  <a:pt x="27" y="0"/>
                </a:lnTo>
                <a:lnTo>
                  <a:pt x="27" y="2884"/>
                </a:lnTo>
                <a:lnTo>
                  <a:pt x="0" y="288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761760" y="6848280"/>
            <a:ext cx="1676880" cy="9720"/>
          </a:xfrm>
          <a:custGeom>
            <a:avLst/>
            <a:gdLst/>
            <a:ahLst/>
            <a:rect l="0" t="0" r="r" b="b"/>
            <a:pathLst>
              <a:path w="4658" h="27">
                <a:moveTo>
                  <a:pt x="0" y="0"/>
                </a:moveTo>
                <a:lnTo>
                  <a:pt x="4658" y="0"/>
                </a:lnTo>
                <a:lnTo>
                  <a:pt x="46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2438280" y="6848280"/>
            <a:ext cx="3029400" cy="9720"/>
          </a:xfrm>
          <a:custGeom>
            <a:avLst/>
            <a:gdLst/>
            <a:ahLst/>
            <a:rect l="0" t="0" r="r" b="b"/>
            <a:pathLst>
              <a:path w="8415" h="27">
                <a:moveTo>
                  <a:pt x="0" y="0"/>
                </a:moveTo>
                <a:lnTo>
                  <a:pt x="8415" y="0"/>
                </a:lnTo>
                <a:lnTo>
                  <a:pt x="84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5467320" y="6848280"/>
            <a:ext cx="2686320" cy="9720"/>
          </a:xfrm>
          <a:custGeom>
            <a:avLst/>
            <a:gdLst/>
            <a:ahLst/>
            <a:rect l="0" t="0" r="r" b="b"/>
            <a:pathLst>
              <a:path w="7462" h="27">
                <a:moveTo>
                  <a:pt x="0" y="0"/>
                </a:moveTo>
                <a:lnTo>
                  <a:pt x="7462" y="0"/>
                </a:lnTo>
                <a:lnTo>
                  <a:pt x="74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8153280" y="6848280"/>
            <a:ext cx="3276720" cy="9720"/>
          </a:xfrm>
          <a:custGeom>
            <a:avLst/>
            <a:gdLst/>
            <a:ahLst/>
            <a:rect l="0" t="0" r="r" b="b"/>
            <a:pathLst>
              <a:path w="9102" h="27">
                <a:moveTo>
                  <a:pt x="0" y="0"/>
                </a:moveTo>
                <a:lnTo>
                  <a:pt x="9102" y="0"/>
                </a:lnTo>
                <a:lnTo>
                  <a:pt x="910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762120" y="1413360"/>
            <a:ext cx="1051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same loop reappears whether you're writing code, solving a physics problem, or running a business —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762120" y="1717920"/>
            <a:ext cx="2854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only the vocabulary changes.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372680" y="2242080"/>
            <a:ext cx="451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Step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2829600" y="2242080"/>
            <a:ext cx="2233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Software Engineering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5668200" y="2242080"/>
            <a:ext cx="227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Physics / Engineering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8830440" y="2242080"/>
            <a:ext cx="1912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Management (SPS)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895320" y="2975400"/>
            <a:ext cx="1211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Understand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2559240" y="2823120"/>
            <a:ext cx="2710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Write down what you know;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2559240" y="3127680"/>
            <a:ext cx="2510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ask about inputs/outputs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5644440" y="2670480"/>
            <a:ext cx="894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Thinking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6465240" y="2670480"/>
            <a:ext cx="1527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: read carefully,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5595480" y="2975400"/>
            <a:ext cx="1669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identify given vs.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5595480" y="3280320"/>
            <a:ext cx="720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needed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8280360" y="2975400"/>
            <a:ext cx="1812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Problem deﬁnition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895320" y="3708720"/>
            <a:ext cx="885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Devise 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895320" y="4013640"/>
            <a:ext cx="861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strategy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2559240" y="3708720"/>
            <a:ext cx="2578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Divide and conquer; reuse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2559240" y="4013640"/>
            <a:ext cx="177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known algorithms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5644440" y="3708720"/>
            <a:ext cx="89424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Thinking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6465240" y="3708720"/>
            <a:ext cx="1147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: sketch the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5595480" y="4013640"/>
            <a:ext cx="1796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system, strategize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8280360" y="3861360"/>
            <a:ext cx="2877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Problem analysis (root cause)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895320" y="4594680"/>
            <a:ext cx="1193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Carry it out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2559240" y="4594680"/>
            <a:ext cx="2318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Combine sub-solutions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5644440" y="4442040"/>
            <a:ext cx="6055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Doing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6184080" y="4442040"/>
            <a:ext cx="1385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: carry out the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5595480" y="4746960"/>
            <a:ext cx="2152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strategy with symbols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8280360" y="4594680"/>
            <a:ext cx="2802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Solution design &amp; evaluation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895320" y="5328000"/>
            <a:ext cx="633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Check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2559240" y="5175720"/>
            <a:ext cx="2039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Due diligence — test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2559240" y="5480280"/>
            <a:ext cx="1819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edge/corner cases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5644440" y="5175720"/>
            <a:ext cx="6055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Doing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6184080" y="5175720"/>
            <a:ext cx="1829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: check the answer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5595480" y="5480280"/>
            <a:ext cx="1258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makes sense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8280360" y="5328000"/>
            <a:ext cx="1743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Solution selection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895320" y="6213960"/>
            <a:ext cx="964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Lock it in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2559240" y="6061320"/>
            <a:ext cx="2216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Optimize using known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2559240" y="6366240"/>
            <a:ext cx="2648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algorithms/data structures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5595480" y="6213960"/>
            <a:ext cx="203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8280360" y="5909040"/>
            <a:ext cx="2527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Standardise (PDCA "Act" /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8280360" y="6213960"/>
            <a:ext cx="2856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DMAIC "Control") — prevents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8280360" y="6518520"/>
            <a:ext cx="1047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recurrence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661057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762120" y="372600"/>
            <a:ext cx="69368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Universal Process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285480" y="3695400"/>
            <a:ext cx="1905480" cy="76680"/>
          </a:xfrm>
          <a:custGeom>
            <a:avLst/>
            <a:gdLst/>
            <a:ahLst/>
            <a:rect l="0" t="0" r="r" b="b"/>
            <a:pathLst>
              <a:path w="5293" h="213">
                <a:moveTo>
                  <a:pt x="0" y="0"/>
                </a:moveTo>
                <a:lnTo>
                  <a:pt x="5293" y="0"/>
                </a:lnTo>
                <a:lnTo>
                  <a:pt x="5293" y="213"/>
                </a:lnTo>
                <a:lnTo>
                  <a:pt x="0" y="2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762120" y="2624040"/>
            <a:ext cx="248112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Part II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762120" y="3788640"/>
            <a:ext cx="533772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A Toolkit for Strategizing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661057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766440" y="2462040"/>
            <a:ext cx="2048400" cy="2667240"/>
          </a:xfrm>
          <a:custGeom>
            <a:avLst/>
            <a:gdLst/>
            <a:ahLst/>
            <a:rect l="0" t="0" r="r" b="b"/>
            <a:pathLst>
              <a:path w="5690" h="7409">
                <a:moveTo>
                  <a:pt x="0" y="726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5544" y="0"/>
                </a:lnTo>
                <a:cubicBezTo>
                  <a:pt x="5554" y="0"/>
                  <a:pt x="5563" y="1"/>
                  <a:pt x="5573" y="3"/>
                </a:cubicBezTo>
                <a:cubicBezTo>
                  <a:pt x="5582" y="5"/>
                  <a:pt x="5591" y="7"/>
                  <a:pt x="5600" y="11"/>
                </a:cubicBezTo>
                <a:cubicBezTo>
                  <a:pt x="5609" y="15"/>
                  <a:pt x="5617" y="19"/>
                  <a:pt x="5625" y="25"/>
                </a:cubicBezTo>
                <a:cubicBezTo>
                  <a:pt x="5633" y="30"/>
                  <a:pt x="5641" y="36"/>
                  <a:pt x="5647" y="43"/>
                </a:cubicBezTo>
                <a:cubicBezTo>
                  <a:pt x="5654" y="49"/>
                  <a:pt x="5660" y="57"/>
                  <a:pt x="5665" y="65"/>
                </a:cubicBezTo>
                <a:cubicBezTo>
                  <a:pt x="5671" y="73"/>
                  <a:pt x="5675" y="81"/>
                  <a:pt x="5679" y="90"/>
                </a:cubicBezTo>
                <a:cubicBezTo>
                  <a:pt x="5683" y="99"/>
                  <a:pt x="5685" y="108"/>
                  <a:pt x="5687" y="117"/>
                </a:cubicBezTo>
                <a:cubicBezTo>
                  <a:pt x="5689" y="126"/>
                  <a:pt x="5690" y="136"/>
                  <a:pt x="5690" y="145"/>
                </a:cubicBezTo>
                <a:lnTo>
                  <a:pt x="5690" y="7264"/>
                </a:lnTo>
                <a:cubicBezTo>
                  <a:pt x="5690" y="7273"/>
                  <a:pt x="5689" y="7283"/>
                  <a:pt x="5687" y="7292"/>
                </a:cubicBezTo>
                <a:cubicBezTo>
                  <a:pt x="5685" y="7302"/>
                  <a:pt x="5683" y="7311"/>
                  <a:pt x="5679" y="7319"/>
                </a:cubicBezTo>
                <a:cubicBezTo>
                  <a:pt x="5675" y="7328"/>
                  <a:pt x="5671" y="7337"/>
                  <a:pt x="5665" y="7345"/>
                </a:cubicBezTo>
                <a:cubicBezTo>
                  <a:pt x="5660" y="7353"/>
                  <a:pt x="5654" y="7360"/>
                  <a:pt x="5647" y="7367"/>
                </a:cubicBezTo>
                <a:cubicBezTo>
                  <a:pt x="5641" y="7373"/>
                  <a:pt x="5633" y="7379"/>
                  <a:pt x="5625" y="7385"/>
                </a:cubicBezTo>
                <a:cubicBezTo>
                  <a:pt x="5617" y="7390"/>
                  <a:pt x="5609" y="7395"/>
                  <a:pt x="5600" y="7398"/>
                </a:cubicBezTo>
                <a:cubicBezTo>
                  <a:pt x="5591" y="7402"/>
                  <a:pt x="5582" y="7405"/>
                  <a:pt x="5573" y="7407"/>
                </a:cubicBezTo>
                <a:cubicBezTo>
                  <a:pt x="5563" y="7408"/>
                  <a:pt x="5554" y="7409"/>
                  <a:pt x="5544" y="7409"/>
                </a:cubicBezTo>
                <a:lnTo>
                  <a:pt x="146" y="7409"/>
                </a:lnTo>
                <a:cubicBezTo>
                  <a:pt x="136" y="7409"/>
                  <a:pt x="127" y="7408"/>
                  <a:pt x="118" y="7407"/>
                </a:cubicBezTo>
                <a:cubicBezTo>
                  <a:pt x="108" y="7405"/>
                  <a:pt x="99" y="7402"/>
                  <a:pt x="90" y="7398"/>
                </a:cubicBezTo>
                <a:cubicBezTo>
                  <a:pt x="81" y="7395"/>
                  <a:pt x="73" y="7390"/>
                  <a:pt x="65" y="7385"/>
                </a:cubicBezTo>
                <a:cubicBezTo>
                  <a:pt x="57" y="7379"/>
                  <a:pt x="50" y="7373"/>
                  <a:pt x="43" y="7367"/>
                </a:cubicBezTo>
                <a:cubicBezTo>
                  <a:pt x="36" y="7360"/>
                  <a:pt x="30" y="7353"/>
                  <a:pt x="25" y="7345"/>
                </a:cubicBezTo>
                <a:cubicBezTo>
                  <a:pt x="20" y="7337"/>
                  <a:pt x="15" y="7328"/>
                  <a:pt x="11" y="7319"/>
                </a:cubicBezTo>
                <a:cubicBezTo>
                  <a:pt x="8" y="7311"/>
                  <a:pt x="5" y="7302"/>
                  <a:pt x="3" y="7292"/>
                </a:cubicBezTo>
                <a:cubicBezTo>
                  <a:pt x="1" y="7283"/>
                  <a:pt x="0" y="7273"/>
                  <a:pt x="0" y="7264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766440" y="2462040"/>
            <a:ext cx="2048400" cy="2667240"/>
          </a:xfrm>
          <a:custGeom>
            <a:avLst/>
            <a:gdLst/>
            <a:ahLst/>
            <a:rect l="0" t="0" r="r" b="b"/>
            <a:pathLst>
              <a:path fill="none" w="5690" h="7409">
                <a:moveTo>
                  <a:pt x="0" y="726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5544" y="0"/>
                </a:lnTo>
                <a:cubicBezTo>
                  <a:pt x="5554" y="0"/>
                  <a:pt x="5563" y="1"/>
                  <a:pt x="5573" y="3"/>
                </a:cubicBezTo>
                <a:cubicBezTo>
                  <a:pt x="5582" y="5"/>
                  <a:pt x="5591" y="7"/>
                  <a:pt x="5600" y="11"/>
                </a:cubicBezTo>
                <a:cubicBezTo>
                  <a:pt x="5609" y="15"/>
                  <a:pt x="5617" y="19"/>
                  <a:pt x="5625" y="25"/>
                </a:cubicBezTo>
                <a:cubicBezTo>
                  <a:pt x="5633" y="30"/>
                  <a:pt x="5641" y="36"/>
                  <a:pt x="5647" y="43"/>
                </a:cubicBezTo>
                <a:cubicBezTo>
                  <a:pt x="5654" y="49"/>
                  <a:pt x="5660" y="57"/>
                  <a:pt x="5665" y="65"/>
                </a:cubicBezTo>
                <a:cubicBezTo>
                  <a:pt x="5671" y="73"/>
                  <a:pt x="5675" y="81"/>
                  <a:pt x="5679" y="90"/>
                </a:cubicBezTo>
                <a:cubicBezTo>
                  <a:pt x="5683" y="99"/>
                  <a:pt x="5685" y="108"/>
                  <a:pt x="5687" y="117"/>
                </a:cubicBezTo>
                <a:cubicBezTo>
                  <a:pt x="5689" y="126"/>
                  <a:pt x="5690" y="136"/>
                  <a:pt x="5690" y="145"/>
                </a:cubicBezTo>
                <a:lnTo>
                  <a:pt x="5690" y="7264"/>
                </a:lnTo>
                <a:cubicBezTo>
                  <a:pt x="5690" y="7273"/>
                  <a:pt x="5689" y="7283"/>
                  <a:pt x="5687" y="7292"/>
                </a:cubicBezTo>
                <a:cubicBezTo>
                  <a:pt x="5685" y="7302"/>
                  <a:pt x="5683" y="7311"/>
                  <a:pt x="5679" y="7319"/>
                </a:cubicBezTo>
                <a:cubicBezTo>
                  <a:pt x="5675" y="7328"/>
                  <a:pt x="5671" y="7337"/>
                  <a:pt x="5665" y="7345"/>
                </a:cubicBezTo>
                <a:cubicBezTo>
                  <a:pt x="5660" y="7353"/>
                  <a:pt x="5654" y="7360"/>
                  <a:pt x="5647" y="7367"/>
                </a:cubicBezTo>
                <a:cubicBezTo>
                  <a:pt x="5641" y="7373"/>
                  <a:pt x="5633" y="7379"/>
                  <a:pt x="5625" y="7385"/>
                </a:cubicBezTo>
                <a:cubicBezTo>
                  <a:pt x="5617" y="7390"/>
                  <a:pt x="5609" y="7395"/>
                  <a:pt x="5600" y="7398"/>
                </a:cubicBezTo>
                <a:cubicBezTo>
                  <a:pt x="5591" y="7402"/>
                  <a:pt x="5582" y="7405"/>
                  <a:pt x="5573" y="7407"/>
                </a:cubicBezTo>
                <a:cubicBezTo>
                  <a:pt x="5563" y="7408"/>
                  <a:pt x="5554" y="7409"/>
                  <a:pt x="5544" y="7409"/>
                </a:cubicBezTo>
                <a:lnTo>
                  <a:pt x="146" y="7409"/>
                </a:lnTo>
                <a:cubicBezTo>
                  <a:pt x="136" y="7409"/>
                  <a:pt x="127" y="7408"/>
                  <a:pt x="118" y="7407"/>
                </a:cubicBezTo>
                <a:cubicBezTo>
                  <a:pt x="108" y="7405"/>
                  <a:pt x="99" y="7402"/>
                  <a:pt x="90" y="7398"/>
                </a:cubicBezTo>
                <a:cubicBezTo>
                  <a:pt x="81" y="7395"/>
                  <a:pt x="73" y="7390"/>
                  <a:pt x="65" y="7385"/>
                </a:cubicBezTo>
                <a:cubicBezTo>
                  <a:pt x="57" y="7379"/>
                  <a:pt x="50" y="7373"/>
                  <a:pt x="43" y="7367"/>
                </a:cubicBezTo>
                <a:cubicBezTo>
                  <a:pt x="36" y="7360"/>
                  <a:pt x="30" y="7353"/>
                  <a:pt x="25" y="7345"/>
                </a:cubicBezTo>
                <a:cubicBezTo>
                  <a:pt x="20" y="7337"/>
                  <a:pt x="15" y="7328"/>
                  <a:pt x="11" y="7319"/>
                </a:cubicBezTo>
                <a:cubicBezTo>
                  <a:pt x="8" y="7311"/>
                  <a:pt x="5" y="7302"/>
                  <a:pt x="3" y="7292"/>
                </a:cubicBezTo>
                <a:cubicBezTo>
                  <a:pt x="1" y="7283"/>
                  <a:pt x="0" y="7273"/>
                  <a:pt x="0" y="7264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762120" y="372600"/>
            <a:ext cx="96152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Ten General-Purpose Methods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923760" y="3642840"/>
            <a:ext cx="1568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Keep testing until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923760" y="3918960"/>
            <a:ext cx="1767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something works —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923760" y="4185720"/>
            <a:ext cx="16927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good for hands-on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923760" y="4461840"/>
            <a:ext cx="1554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problems with no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942840" y="296208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2"/>
                  <a:pt x="528" y="299"/>
                  <a:pt x="525" y="316"/>
                </a:cubicBezTo>
                <a:cubicBezTo>
                  <a:pt x="522" y="333"/>
                  <a:pt x="517" y="350"/>
                  <a:pt x="510" y="366"/>
                </a:cubicBezTo>
                <a:cubicBezTo>
                  <a:pt x="503" y="382"/>
                  <a:pt x="495" y="397"/>
                  <a:pt x="485" y="412"/>
                </a:cubicBezTo>
                <a:cubicBezTo>
                  <a:pt x="476" y="426"/>
                  <a:pt x="465" y="439"/>
                  <a:pt x="453" y="452"/>
                </a:cubicBezTo>
                <a:cubicBezTo>
                  <a:pt x="440" y="464"/>
                  <a:pt x="427" y="475"/>
                  <a:pt x="412" y="485"/>
                </a:cubicBezTo>
                <a:cubicBezTo>
                  <a:pt x="398" y="494"/>
                  <a:pt x="383" y="503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9"/>
                  <a:pt x="282" y="530"/>
                  <a:pt x="264" y="530"/>
                </a:cubicBezTo>
                <a:cubicBezTo>
                  <a:pt x="247" y="530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3"/>
                  <a:pt x="132" y="494"/>
                  <a:pt x="117" y="485"/>
                </a:cubicBezTo>
                <a:cubicBezTo>
                  <a:pt x="103" y="475"/>
                  <a:pt x="90" y="464"/>
                  <a:pt x="77" y="452"/>
                </a:cubicBezTo>
                <a:cubicBezTo>
                  <a:pt x="65" y="439"/>
                  <a:pt x="54" y="426"/>
                  <a:pt x="44" y="412"/>
                </a:cubicBezTo>
                <a:cubicBezTo>
                  <a:pt x="35" y="397"/>
                  <a:pt x="27" y="382"/>
                  <a:pt x="20" y="366"/>
                </a:cubicBezTo>
                <a:cubicBezTo>
                  <a:pt x="13" y="350"/>
                  <a:pt x="8" y="333"/>
                  <a:pt x="5" y="316"/>
                </a:cubicBezTo>
                <a:cubicBezTo>
                  <a:pt x="2" y="299"/>
                  <a:pt x="0" y="282"/>
                  <a:pt x="0" y="265"/>
                </a:cubicBezTo>
                <a:cubicBezTo>
                  <a:pt x="0" y="247"/>
                  <a:pt x="2" y="230"/>
                  <a:pt x="5" y="213"/>
                </a:cubicBezTo>
                <a:cubicBezTo>
                  <a:pt x="8" y="196"/>
                  <a:pt x="13" y="179"/>
                  <a:pt x="20" y="163"/>
                </a:cubicBezTo>
                <a:cubicBezTo>
                  <a:pt x="27" y="147"/>
                  <a:pt x="35" y="132"/>
                  <a:pt x="44" y="118"/>
                </a:cubicBezTo>
                <a:cubicBezTo>
                  <a:pt x="54" y="103"/>
                  <a:pt x="65" y="90"/>
                  <a:pt x="77" y="78"/>
                </a:cubicBezTo>
                <a:cubicBezTo>
                  <a:pt x="90" y="65"/>
                  <a:pt x="103" y="54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4"/>
                  <a:pt x="196" y="9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5"/>
                </a:cubicBezTo>
                <a:cubicBezTo>
                  <a:pt x="334" y="9"/>
                  <a:pt x="351" y="14"/>
                  <a:pt x="367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4"/>
                  <a:pt x="440" y="65"/>
                  <a:pt x="453" y="78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2"/>
                  <a:pt x="503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8" y="230"/>
                  <a:pt x="530" y="247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1037880" y="3019320"/>
            <a:ext cx="360" cy="75960"/>
          </a:xfrm>
          <a:custGeom>
            <a:avLst/>
            <a:gdLst/>
            <a:ahLst/>
            <a:rect l="0" t="0" r="r" b="b"/>
            <a:pathLst>
              <a:path fill="none" w="1" h="211">
                <a:moveTo>
                  <a:pt x="0" y="211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923760" y="4737960"/>
            <a:ext cx="1751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single right answer.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1203120" y="2665080"/>
            <a:ext cx="545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Trial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1203120" y="2950920"/>
            <a:ext cx="436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and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2919240" y="2462040"/>
            <a:ext cx="2048400" cy="2667240"/>
          </a:xfrm>
          <a:custGeom>
            <a:avLst/>
            <a:gdLst/>
            <a:ahLst/>
            <a:rect l="0" t="0" r="r" b="b"/>
            <a:pathLst>
              <a:path w="5690" h="7409">
                <a:moveTo>
                  <a:pt x="0" y="726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5544" y="0"/>
                </a:lnTo>
                <a:cubicBezTo>
                  <a:pt x="5554" y="0"/>
                  <a:pt x="5563" y="1"/>
                  <a:pt x="5572" y="3"/>
                </a:cubicBezTo>
                <a:cubicBezTo>
                  <a:pt x="5582" y="5"/>
                  <a:pt x="5591" y="7"/>
                  <a:pt x="5600" y="11"/>
                </a:cubicBezTo>
                <a:cubicBezTo>
                  <a:pt x="5609" y="15"/>
                  <a:pt x="5617" y="19"/>
                  <a:pt x="5625" y="25"/>
                </a:cubicBezTo>
                <a:cubicBezTo>
                  <a:pt x="5633" y="30"/>
                  <a:pt x="5640" y="36"/>
                  <a:pt x="5647" y="43"/>
                </a:cubicBezTo>
                <a:cubicBezTo>
                  <a:pt x="5654" y="49"/>
                  <a:pt x="5660" y="57"/>
                  <a:pt x="5665" y="65"/>
                </a:cubicBezTo>
                <a:cubicBezTo>
                  <a:pt x="5670" y="73"/>
                  <a:pt x="5675" y="81"/>
                  <a:pt x="5678" y="90"/>
                </a:cubicBezTo>
                <a:cubicBezTo>
                  <a:pt x="5682" y="99"/>
                  <a:pt x="5685" y="108"/>
                  <a:pt x="5687" y="117"/>
                </a:cubicBezTo>
                <a:cubicBezTo>
                  <a:pt x="5689" y="126"/>
                  <a:pt x="5690" y="136"/>
                  <a:pt x="5690" y="145"/>
                </a:cubicBezTo>
                <a:lnTo>
                  <a:pt x="5690" y="7264"/>
                </a:lnTo>
                <a:cubicBezTo>
                  <a:pt x="5690" y="7273"/>
                  <a:pt x="5689" y="7283"/>
                  <a:pt x="5687" y="7292"/>
                </a:cubicBezTo>
                <a:cubicBezTo>
                  <a:pt x="5685" y="7302"/>
                  <a:pt x="5682" y="7311"/>
                  <a:pt x="5678" y="7319"/>
                </a:cubicBezTo>
                <a:cubicBezTo>
                  <a:pt x="5675" y="7328"/>
                  <a:pt x="5670" y="7337"/>
                  <a:pt x="5665" y="7345"/>
                </a:cubicBezTo>
                <a:cubicBezTo>
                  <a:pt x="5660" y="7353"/>
                  <a:pt x="5654" y="7360"/>
                  <a:pt x="5647" y="7367"/>
                </a:cubicBezTo>
                <a:cubicBezTo>
                  <a:pt x="5640" y="7373"/>
                  <a:pt x="5633" y="7379"/>
                  <a:pt x="5625" y="7385"/>
                </a:cubicBezTo>
                <a:cubicBezTo>
                  <a:pt x="5617" y="7390"/>
                  <a:pt x="5609" y="7395"/>
                  <a:pt x="5600" y="7398"/>
                </a:cubicBezTo>
                <a:cubicBezTo>
                  <a:pt x="5591" y="7402"/>
                  <a:pt x="5582" y="7405"/>
                  <a:pt x="5572" y="7407"/>
                </a:cubicBezTo>
                <a:cubicBezTo>
                  <a:pt x="5563" y="7408"/>
                  <a:pt x="5554" y="7409"/>
                  <a:pt x="5544" y="7409"/>
                </a:cubicBezTo>
                <a:lnTo>
                  <a:pt x="145" y="7409"/>
                </a:lnTo>
                <a:cubicBezTo>
                  <a:pt x="136" y="7409"/>
                  <a:pt x="126" y="7408"/>
                  <a:pt x="117" y="7407"/>
                </a:cubicBezTo>
                <a:cubicBezTo>
                  <a:pt x="108" y="7405"/>
                  <a:pt x="99" y="7402"/>
                  <a:pt x="90" y="7398"/>
                </a:cubicBezTo>
                <a:cubicBezTo>
                  <a:pt x="81" y="7395"/>
                  <a:pt x="73" y="7390"/>
                  <a:pt x="65" y="7385"/>
                </a:cubicBezTo>
                <a:cubicBezTo>
                  <a:pt x="57" y="7379"/>
                  <a:pt x="49" y="7373"/>
                  <a:pt x="43" y="7367"/>
                </a:cubicBezTo>
                <a:cubicBezTo>
                  <a:pt x="36" y="7360"/>
                  <a:pt x="30" y="7353"/>
                  <a:pt x="25" y="7345"/>
                </a:cubicBezTo>
                <a:cubicBezTo>
                  <a:pt x="19" y="7337"/>
                  <a:pt x="15" y="7328"/>
                  <a:pt x="11" y="7319"/>
                </a:cubicBezTo>
                <a:cubicBezTo>
                  <a:pt x="7" y="7311"/>
                  <a:pt x="5" y="7302"/>
                  <a:pt x="3" y="7292"/>
                </a:cubicBezTo>
                <a:cubicBezTo>
                  <a:pt x="1" y="7283"/>
                  <a:pt x="0" y="7273"/>
                  <a:pt x="0" y="7264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2919240" y="2462040"/>
            <a:ext cx="2048400" cy="2667240"/>
          </a:xfrm>
          <a:custGeom>
            <a:avLst/>
            <a:gdLst/>
            <a:ahLst/>
            <a:rect l="0" t="0" r="r" b="b"/>
            <a:pathLst>
              <a:path fill="none" w="5690" h="7409">
                <a:moveTo>
                  <a:pt x="0" y="726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5544" y="0"/>
                </a:lnTo>
                <a:cubicBezTo>
                  <a:pt x="5554" y="0"/>
                  <a:pt x="5563" y="1"/>
                  <a:pt x="5572" y="3"/>
                </a:cubicBezTo>
                <a:cubicBezTo>
                  <a:pt x="5582" y="5"/>
                  <a:pt x="5591" y="7"/>
                  <a:pt x="5600" y="11"/>
                </a:cubicBezTo>
                <a:cubicBezTo>
                  <a:pt x="5609" y="15"/>
                  <a:pt x="5617" y="19"/>
                  <a:pt x="5625" y="25"/>
                </a:cubicBezTo>
                <a:cubicBezTo>
                  <a:pt x="5633" y="30"/>
                  <a:pt x="5640" y="36"/>
                  <a:pt x="5647" y="43"/>
                </a:cubicBezTo>
                <a:cubicBezTo>
                  <a:pt x="5654" y="49"/>
                  <a:pt x="5660" y="57"/>
                  <a:pt x="5665" y="65"/>
                </a:cubicBezTo>
                <a:cubicBezTo>
                  <a:pt x="5670" y="73"/>
                  <a:pt x="5675" y="81"/>
                  <a:pt x="5678" y="90"/>
                </a:cubicBezTo>
                <a:cubicBezTo>
                  <a:pt x="5682" y="99"/>
                  <a:pt x="5685" y="108"/>
                  <a:pt x="5687" y="117"/>
                </a:cubicBezTo>
                <a:cubicBezTo>
                  <a:pt x="5689" y="126"/>
                  <a:pt x="5690" y="136"/>
                  <a:pt x="5690" y="145"/>
                </a:cubicBezTo>
                <a:lnTo>
                  <a:pt x="5690" y="7264"/>
                </a:lnTo>
                <a:cubicBezTo>
                  <a:pt x="5690" y="7273"/>
                  <a:pt x="5689" y="7283"/>
                  <a:pt x="5687" y="7292"/>
                </a:cubicBezTo>
                <a:cubicBezTo>
                  <a:pt x="5685" y="7302"/>
                  <a:pt x="5682" y="7311"/>
                  <a:pt x="5678" y="7319"/>
                </a:cubicBezTo>
                <a:cubicBezTo>
                  <a:pt x="5675" y="7328"/>
                  <a:pt x="5670" y="7337"/>
                  <a:pt x="5665" y="7345"/>
                </a:cubicBezTo>
                <a:cubicBezTo>
                  <a:pt x="5660" y="7353"/>
                  <a:pt x="5654" y="7360"/>
                  <a:pt x="5647" y="7367"/>
                </a:cubicBezTo>
                <a:cubicBezTo>
                  <a:pt x="5640" y="7373"/>
                  <a:pt x="5633" y="7379"/>
                  <a:pt x="5625" y="7385"/>
                </a:cubicBezTo>
                <a:cubicBezTo>
                  <a:pt x="5617" y="7390"/>
                  <a:pt x="5609" y="7395"/>
                  <a:pt x="5600" y="7398"/>
                </a:cubicBezTo>
                <a:cubicBezTo>
                  <a:pt x="5591" y="7402"/>
                  <a:pt x="5582" y="7405"/>
                  <a:pt x="5572" y="7407"/>
                </a:cubicBezTo>
                <a:cubicBezTo>
                  <a:pt x="5563" y="7408"/>
                  <a:pt x="5554" y="7409"/>
                  <a:pt x="5544" y="7409"/>
                </a:cubicBezTo>
                <a:lnTo>
                  <a:pt x="145" y="7409"/>
                </a:lnTo>
                <a:cubicBezTo>
                  <a:pt x="136" y="7409"/>
                  <a:pt x="126" y="7408"/>
                  <a:pt x="117" y="7407"/>
                </a:cubicBezTo>
                <a:cubicBezTo>
                  <a:pt x="108" y="7405"/>
                  <a:pt x="99" y="7402"/>
                  <a:pt x="90" y="7398"/>
                </a:cubicBezTo>
                <a:cubicBezTo>
                  <a:pt x="81" y="7395"/>
                  <a:pt x="73" y="7390"/>
                  <a:pt x="65" y="7385"/>
                </a:cubicBezTo>
                <a:cubicBezTo>
                  <a:pt x="57" y="7379"/>
                  <a:pt x="49" y="7373"/>
                  <a:pt x="43" y="7367"/>
                </a:cubicBezTo>
                <a:cubicBezTo>
                  <a:pt x="36" y="7360"/>
                  <a:pt x="30" y="7353"/>
                  <a:pt x="25" y="7345"/>
                </a:cubicBezTo>
                <a:cubicBezTo>
                  <a:pt x="19" y="7337"/>
                  <a:pt x="15" y="7328"/>
                  <a:pt x="11" y="7319"/>
                </a:cubicBezTo>
                <a:cubicBezTo>
                  <a:pt x="7" y="7311"/>
                  <a:pt x="5" y="7302"/>
                  <a:pt x="3" y="7292"/>
                </a:cubicBezTo>
                <a:cubicBezTo>
                  <a:pt x="1" y="7283"/>
                  <a:pt x="0" y="7273"/>
                  <a:pt x="0" y="7264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1203120" y="3236400"/>
            <a:ext cx="595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Error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3076560" y="3357000"/>
            <a:ext cx="17528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Split a problem into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3076560" y="3633120"/>
            <a:ext cx="17636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smaller parts so the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3095280" y="2819160"/>
            <a:ext cx="191160" cy="190800"/>
          </a:xfrm>
          <a:custGeom>
            <a:avLst/>
            <a:gdLst/>
            <a:ahLst/>
            <a:rect l="0" t="0" r="r" b="b"/>
            <a:pathLst>
              <a:path fill="none" w="531" h="530">
                <a:moveTo>
                  <a:pt x="531" y="265"/>
                </a:moveTo>
                <a:cubicBezTo>
                  <a:pt x="531" y="282"/>
                  <a:pt x="529" y="299"/>
                  <a:pt x="526" y="316"/>
                </a:cubicBezTo>
                <a:cubicBezTo>
                  <a:pt x="522" y="333"/>
                  <a:pt x="517" y="350"/>
                  <a:pt x="510" y="366"/>
                </a:cubicBezTo>
                <a:cubicBezTo>
                  <a:pt x="504" y="383"/>
                  <a:pt x="496" y="398"/>
                  <a:pt x="486" y="413"/>
                </a:cubicBezTo>
                <a:cubicBezTo>
                  <a:pt x="476" y="427"/>
                  <a:pt x="465" y="441"/>
                  <a:pt x="453" y="453"/>
                </a:cubicBezTo>
                <a:cubicBezTo>
                  <a:pt x="441" y="465"/>
                  <a:pt x="427" y="476"/>
                  <a:pt x="413" y="486"/>
                </a:cubicBezTo>
                <a:cubicBezTo>
                  <a:pt x="399" y="495"/>
                  <a:pt x="383" y="504"/>
                  <a:pt x="367" y="510"/>
                </a:cubicBezTo>
                <a:cubicBezTo>
                  <a:pt x="351" y="517"/>
                  <a:pt x="335" y="522"/>
                  <a:pt x="318" y="525"/>
                </a:cubicBezTo>
                <a:cubicBezTo>
                  <a:pt x="301" y="529"/>
                  <a:pt x="283" y="530"/>
                  <a:pt x="266" y="530"/>
                </a:cubicBezTo>
                <a:cubicBezTo>
                  <a:pt x="249" y="530"/>
                  <a:pt x="231" y="529"/>
                  <a:pt x="214" y="525"/>
                </a:cubicBezTo>
                <a:cubicBezTo>
                  <a:pt x="197" y="522"/>
                  <a:pt x="181" y="517"/>
                  <a:pt x="165" y="510"/>
                </a:cubicBezTo>
                <a:cubicBezTo>
                  <a:pt x="149" y="504"/>
                  <a:pt x="133" y="495"/>
                  <a:pt x="118" y="486"/>
                </a:cubicBezTo>
                <a:cubicBezTo>
                  <a:pt x="104" y="476"/>
                  <a:pt x="90" y="465"/>
                  <a:pt x="78" y="453"/>
                </a:cubicBezTo>
                <a:cubicBezTo>
                  <a:pt x="66" y="441"/>
                  <a:pt x="55" y="427"/>
                  <a:pt x="45" y="413"/>
                </a:cubicBezTo>
                <a:cubicBezTo>
                  <a:pt x="35" y="398"/>
                  <a:pt x="27" y="383"/>
                  <a:pt x="21" y="366"/>
                </a:cubicBezTo>
                <a:cubicBezTo>
                  <a:pt x="14" y="350"/>
                  <a:pt x="9" y="333"/>
                  <a:pt x="6" y="316"/>
                </a:cubicBezTo>
                <a:cubicBezTo>
                  <a:pt x="2" y="299"/>
                  <a:pt x="0" y="282"/>
                  <a:pt x="0" y="265"/>
                </a:cubicBezTo>
                <a:cubicBezTo>
                  <a:pt x="0" y="247"/>
                  <a:pt x="2" y="230"/>
                  <a:pt x="6" y="213"/>
                </a:cubicBezTo>
                <a:cubicBezTo>
                  <a:pt x="9" y="196"/>
                  <a:pt x="14" y="180"/>
                  <a:pt x="21" y="163"/>
                </a:cubicBezTo>
                <a:cubicBezTo>
                  <a:pt x="27" y="147"/>
                  <a:pt x="35" y="132"/>
                  <a:pt x="45" y="118"/>
                </a:cubicBezTo>
                <a:cubicBezTo>
                  <a:pt x="55" y="103"/>
                  <a:pt x="66" y="90"/>
                  <a:pt x="78" y="78"/>
                </a:cubicBezTo>
                <a:cubicBezTo>
                  <a:pt x="90" y="65"/>
                  <a:pt x="104" y="54"/>
                  <a:pt x="118" y="45"/>
                </a:cubicBezTo>
                <a:cubicBezTo>
                  <a:pt x="133" y="35"/>
                  <a:pt x="149" y="27"/>
                  <a:pt x="165" y="20"/>
                </a:cubicBezTo>
                <a:cubicBezTo>
                  <a:pt x="181" y="14"/>
                  <a:pt x="197" y="9"/>
                  <a:pt x="214" y="5"/>
                </a:cubicBezTo>
                <a:cubicBezTo>
                  <a:pt x="231" y="2"/>
                  <a:pt x="249" y="0"/>
                  <a:pt x="266" y="0"/>
                </a:cubicBezTo>
                <a:cubicBezTo>
                  <a:pt x="283" y="0"/>
                  <a:pt x="301" y="2"/>
                  <a:pt x="318" y="5"/>
                </a:cubicBezTo>
                <a:cubicBezTo>
                  <a:pt x="335" y="9"/>
                  <a:pt x="351" y="14"/>
                  <a:pt x="367" y="20"/>
                </a:cubicBezTo>
                <a:cubicBezTo>
                  <a:pt x="383" y="27"/>
                  <a:pt x="399" y="35"/>
                  <a:pt x="413" y="45"/>
                </a:cubicBezTo>
                <a:cubicBezTo>
                  <a:pt x="427" y="54"/>
                  <a:pt x="441" y="65"/>
                  <a:pt x="453" y="78"/>
                </a:cubicBezTo>
                <a:cubicBezTo>
                  <a:pt x="465" y="90"/>
                  <a:pt x="476" y="103"/>
                  <a:pt x="486" y="118"/>
                </a:cubicBezTo>
                <a:cubicBezTo>
                  <a:pt x="496" y="132"/>
                  <a:pt x="504" y="147"/>
                  <a:pt x="510" y="163"/>
                </a:cubicBezTo>
                <a:cubicBezTo>
                  <a:pt x="517" y="180"/>
                  <a:pt x="522" y="196"/>
                  <a:pt x="526" y="213"/>
                </a:cubicBezTo>
                <a:cubicBezTo>
                  <a:pt x="529" y="230"/>
                  <a:pt x="531" y="247"/>
                  <a:pt x="531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3190680" y="2876400"/>
            <a:ext cx="0" cy="76320"/>
          </a:xfrm>
          <a:custGeom>
            <a:avLst/>
            <a:gdLst/>
            <a:ahLst/>
            <a:rect l="0" t="0" r="r" b="b"/>
            <a:pathLst>
              <a:path fill="none" w="0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3076560" y="3899880"/>
            <a:ext cx="1711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whole feels doable.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3355920" y="2665080"/>
            <a:ext cx="1036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Breaking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5072040" y="2462040"/>
            <a:ext cx="2048040" cy="2667240"/>
          </a:xfrm>
          <a:custGeom>
            <a:avLst/>
            <a:gdLst/>
            <a:ahLst/>
            <a:rect l="0" t="0" r="r" b="b"/>
            <a:pathLst>
              <a:path w="5689" h="7409">
                <a:moveTo>
                  <a:pt x="0" y="7264"/>
                </a:moveTo>
                <a:lnTo>
                  <a:pt x="0" y="145"/>
                </a:lnTo>
                <a:cubicBezTo>
                  <a:pt x="0" y="136"/>
                  <a:pt x="0" y="126"/>
                  <a:pt x="2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29" y="57"/>
                  <a:pt x="35" y="49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7"/>
                  <a:pt x="107" y="5"/>
                  <a:pt x="117" y="3"/>
                </a:cubicBezTo>
                <a:cubicBezTo>
                  <a:pt x="126" y="1"/>
                  <a:pt x="137" y="0"/>
                  <a:pt x="146" y="0"/>
                </a:cubicBezTo>
                <a:lnTo>
                  <a:pt x="5544" y="0"/>
                </a:lnTo>
                <a:cubicBezTo>
                  <a:pt x="5553" y="0"/>
                  <a:pt x="5563" y="1"/>
                  <a:pt x="5572" y="3"/>
                </a:cubicBezTo>
                <a:cubicBezTo>
                  <a:pt x="5581" y="5"/>
                  <a:pt x="5590" y="7"/>
                  <a:pt x="5599" y="11"/>
                </a:cubicBezTo>
                <a:cubicBezTo>
                  <a:pt x="5608" y="15"/>
                  <a:pt x="5616" y="19"/>
                  <a:pt x="5624" y="25"/>
                </a:cubicBezTo>
                <a:cubicBezTo>
                  <a:pt x="5632" y="30"/>
                  <a:pt x="5640" y="36"/>
                  <a:pt x="5646" y="43"/>
                </a:cubicBezTo>
                <a:cubicBezTo>
                  <a:pt x="5653" y="49"/>
                  <a:pt x="5659" y="57"/>
                  <a:pt x="5665" y="65"/>
                </a:cubicBezTo>
                <a:cubicBezTo>
                  <a:pt x="5670" y="73"/>
                  <a:pt x="5674" y="81"/>
                  <a:pt x="5678" y="90"/>
                </a:cubicBezTo>
                <a:cubicBezTo>
                  <a:pt x="5682" y="99"/>
                  <a:pt x="5684" y="108"/>
                  <a:pt x="5686" y="117"/>
                </a:cubicBezTo>
                <a:cubicBezTo>
                  <a:pt x="5688" y="126"/>
                  <a:pt x="5689" y="136"/>
                  <a:pt x="5689" y="145"/>
                </a:cubicBezTo>
                <a:lnTo>
                  <a:pt x="5689" y="7264"/>
                </a:lnTo>
                <a:cubicBezTo>
                  <a:pt x="5689" y="7273"/>
                  <a:pt x="5688" y="7283"/>
                  <a:pt x="5686" y="7292"/>
                </a:cubicBezTo>
                <a:cubicBezTo>
                  <a:pt x="5684" y="7302"/>
                  <a:pt x="5682" y="7311"/>
                  <a:pt x="5678" y="7319"/>
                </a:cubicBezTo>
                <a:cubicBezTo>
                  <a:pt x="5674" y="7328"/>
                  <a:pt x="5670" y="7337"/>
                  <a:pt x="5665" y="7345"/>
                </a:cubicBezTo>
                <a:cubicBezTo>
                  <a:pt x="5659" y="7353"/>
                  <a:pt x="5653" y="7360"/>
                  <a:pt x="5646" y="7367"/>
                </a:cubicBezTo>
                <a:cubicBezTo>
                  <a:pt x="5640" y="7373"/>
                  <a:pt x="5632" y="7379"/>
                  <a:pt x="5624" y="7385"/>
                </a:cubicBezTo>
                <a:cubicBezTo>
                  <a:pt x="5616" y="7390"/>
                  <a:pt x="5608" y="7395"/>
                  <a:pt x="5599" y="7398"/>
                </a:cubicBezTo>
                <a:cubicBezTo>
                  <a:pt x="5590" y="7402"/>
                  <a:pt x="5581" y="7405"/>
                  <a:pt x="5572" y="7407"/>
                </a:cubicBezTo>
                <a:cubicBezTo>
                  <a:pt x="5563" y="7408"/>
                  <a:pt x="5553" y="7409"/>
                  <a:pt x="5544" y="7409"/>
                </a:cubicBezTo>
                <a:lnTo>
                  <a:pt x="146" y="7409"/>
                </a:lnTo>
                <a:cubicBezTo>
                  <a:pt x="137" y="7409"/>
                  <a:pt x="126" y="7408"/>
                  <a:pt x="117" y="7407"/>
                </a:cubicBezTo>
                <a:cubicBezTo>
                  <a:pt x="107" y="7405"/>
                  <a:pt x="98" y="7402"/>
                  <a:pt x="89" y="7398"/>
                </a:cubicBezTo>
                <a:cubicBezTo>
                  <a:pt x="81" y="7395"/>
                  <a:pt x="72" y="7390"/>
                  <a:pt x="64" y="7385"/>
                </a:cubicBezTo>
                <a:cubicBezTo>
                  <a:pt x="56" y="7379"/>
                  <a:pt x="49" y="7373"/>
                  <a:pt x="42" y="7367"/>
                </a:cubicBezTo>
                <a:cubicBezTo>
                  <a:pt x="35" y="7360"/>
                  <a:pt x="29" y="7353"/>
                  <a:pt x="24" y="7345"/>
                </a:cubicBezTo>
                <a:cubicBezTo>
                  <a:pt x="19" y="7337"/>
                  <a:pt x="14" y="7328"/>
                  <a:pt x="11" y="7319"/>
                </a:cubicBezTo>
                <a:cubicBezTo>
                  <a:pt x="7" y="7311"/>
                  <a:pt x="4" y="7302"/>
                  <a:pt x="2" y="7292"/>
                </a:cubicBezTo>
                <a:cubicBezTo>
                  <a:pt x="0" y="7283"/>
                  <a:pt x="0" y="7273"/>
                  <a:pt x="0" y="7264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5072040" y="2462040"/>
            <a:ext cx="2048040" cy="2667240"/>
          </a:xfrm>
          <a:custGeom>
            <a:avLst/>
            <a:gdLst/>
            <a:ahLst/>
            <a:rect l="0" t="0" r="r" b="b"/>
            <a:pathLst>
              <a:path fill="none" w="5689" h="7409">
                <a:moveTo>
                  <a:pt x="0" y="7264"/>
                </a:moveTo>
                <a:lnTo>
                  <a:pt x="0" y="145"/>
                </a:lnTo>
                <a:cubicBezTo>
                  <a:pt x="0" y="136"/>
                  <a:pt x="0" y="126"/>
                  <a:pt x="2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29" y="57"/>
                  <a:pt x="35" y="49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7"/>
                  <a:pt x="107" y="5"/>
                  <a:pt x="117" y="3"/>
                </a:cubicBezTo>
                <a:cubicBezTo>
                  <a:pt x="126" y="1"/>
                  <a:pt x="137" y="0"/>
                  <a:pt x="146" y="0"/>
                </a:cubicBezTo>
                <a:lnTo>
                  <a:pt x="5544" y="0"/>
                </a:lnTo>
                <a:cubicBezTo>
                  <a:pt x="5553" y="0"/>
                  <a:pt x="5563" y="1"/>
                  <a:pt x="5572" y="3"/>
                </a:cubicBezTo>
                <a:cubicBezTo>
                  <a:pt x="5581" y="5"/>
                  <a:pt x="5590" y="7"/>
                  <a:pt x="5599" y="11"/>
                </a:cubicBezTo>
                <a:cubicBezTo>
                  <a:pt x="5608" y="15"/>
                  <a:pt x="5616" y="19"/>
                  <a:pt x="5624" y="25"/>
                </a:cubicBezTo>
                <a:cubicBezTo>
                  <a:pt x="5632" y="30"/>
                  <a:pt x="5640" y="36"/>
                  <a:pt x="5646" y="43"/>
                </a:cubicBezTo>
                <a:cubicBezTo>
                  <a:pt x="5653" y="49"/>
                  <a:pt x="5659" y="57"/>
                  <a:pt x="5665" y="65"/>
                </a:cubicBezTo>
                <a:cubicBezTo>
                  <a:pt x="5670" y="73"/>
                  <a:pt x="5674" y="81"/>
                  <a:pt x="5678" y="90"/>
                </a:cubicBezTo>
                <a:cubicBezTo>
                  <a:pt x="5682" y="99"/>
                  <a:pt x="5684" y="108"/>
                  <a:pt x="5686" y="117"/>
                </a:cubicBezTo>
                <a:cubicBezTo>
                  <a:pt x="5688" y="126"/>
                  <a:pt x="5689" y="136"/>
                  <a:pt x="5689" y="145"/>
                </a:cubicBezTo>
                <a:lnTo>
                  <a:pt x="5689" y="7264"/>
                </a:lnTo>
                <a:cubicBezTo>
                  <a:pt x="5689" y="7273"/>
                  <a:pt x="5688" y="7283"/>
                  <a:pt x="5686" y="7292"/>
                </a:cubicBezTo>
                <a:cubicBezTo>
                  <a:pt x="5684" y="7302"/>
                  <a:pt x="5682" y="7311"/>
                  <a:pt x="5678" y="7319"/>
                </a:cubicBezTo>
                <a:cubicBezTo>
                  <a:pt x="5674" y="7328"/>
                  <a:pt x="5670" y="7337"/>
                  <a:pt x="5665" y="7345"/>
                </a:cubicBezTo>
                <a:cubicBezTo>
                  <a:pt x="5659" y="7353"/>
                  <a:pt x="5653" y="7360"/>
                  <a:pt x="5646" y="7367"/>
                </a:cubicBezTo>
                <a:cubicBezTo>
                  <a:pt x="5640" y="7373"/>
                  <a:pt x="5632" y="7379"/>
                  <a:pt x="5624" y="7385"/>
                </a:cubicBezTo>
                <a:cubicBezTo>
                  <a:pt x="5616" y="7390"/>
                  <a:pt x="5608" y="7395"/>
                  <a:pt x="5599" y="7398"/>
                </a:cubicBezTo>
                <a:cubicBezTo>
                  <a:pt x="5590" y="7402"/>
                  <a:pt x="5581" y="7405"/>
                  <a:pt x="5572" y="7407"/>
                </a:cubicBezTo>
                <a:cubicBezTo>
                  <a:pt x="5563" y="7408"/>
                  <a:pt x="5553" y="7409"/>
                  <a:pt x="5544" y="7409"/>
                </a:cubicBezTo>
                <a:lnTo>
                  <a:pt x="146" y="7409"/>
                </a:lnTo>
                <a:cubicBezTo>
                  <a:pt x="137" y="7409"/>
                  <a:pt x="126" y="7408"/>
                  <a:pt x="117" y="7407"/>
                </a:cubicBezTo>
                <a:cubicBezTo>
                  <a:pt x="107" y="7405"/>
                  <a:pt x="98" y="7402"/>
                  <a:pt x="89" y="7398"/>
                </a:cubicBezTo>
                <a:cubicBezTo>
                  <a:pt x="81" y="7395"/>
                  <a:pt x="72" y="7390"/>
                  <a:pt x="64" y="7385"/>
                </a:cubicBezTo>
                <a:cubicBezTo>
                  <a:pt x="56" y="7379"/>
                  <a:pt x="49" y="7373"/>
                  <a:pt x="42" y="7367"/>
                </a:cubicBezTo>
                <a:cubicBezTo>
                  <a:pt x="35" y="7360"/>
                  <a:pt x="29" y="7353"/>
                  <a:pt x="24" y="7345"/>
                </a:cubicBezTo>
                <a:cubicBezTo>
                  <a:pt x="19" y="7337"/>
                  <a:pt x="14" y="7328"/>
                  <a:pt x="11" y="7319"/>
                </a:cubicBezTo>
                <a:cubicBezTo>
                  <a:pt x="7" y="7311"/>
                  <a:pt x="4" y="7302"/>
                  <a:pt x="2" y="7292"/>
                </a:cubicBezTo>
                <a:cubicBezTo>
                  <a:pt x="0" y="7283"/>
                  <a:pt x="0" y="7273"/>
                  <a:pt x="0" y="7264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3355920" y="2950920"/>
            <a:ext cx="919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It Down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5229360" y="3642840"/>
            <a:ext cx="1622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Keep asking "why"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5229360" y="3918960"/>
            <a:ext cx="1665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until you reach the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5229360" y="4185720"/>
            <a:ext cx="1730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real source, not the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5248080" y="296208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2"/>
                  <a:pt x="529" y="299"/>
                  <a:pt x="525" y="316"/>
                </a:cubicBezTo>
                <a:cubicBezTo>
                  <a:pt x="522" y="333"/>
                  <a:pt x="517" y="350"/>
                  <a:pt x="510" y="366"/>
                </a:cubicBezTo>
                <a:cubicBezTo>
                  <a:pt x="503" y="382"/>
                  <a:pt x="494" y="397"/>
                  <a:pt x="485" y="412"/>
                </a:cubicBezTo>
                <a:cubicBezTo>
                  <a:pt x="475" y="426"/>
                  <a:pt x="464" y="439"/>
                  <a:pt x="452" y="452"/>
                </a:cubicBezTo>
                <a:cubicBezTo>
                  <a:pt x="439" y="464"/>
                  <a:pt x="426" y="475"/>
                  <a:pt x="412" y="485"/>
                </a:cubicBezTo>
                <a:cubicBezTo>
                  <a:pt x="397" y="494"/>
                  <a:pt x="382" y="503"/>
                  <a:pt x="366" y="510"/>
                </a:cubicBezTo>
                <a:cubicBezTo>
                  <a:pt x="350" y="517"/>
                  <a:pt x="333" y="522"/>
                  <a:pt x="316" y="525"/>
                </a:cubicBezTo>
                <a:cubicBezTo>
                  <a:pt x="299" y="529"/>
                  <a:pt x="282" y="530"/>
                  <a:pt x="265" y="530"/>
                </a:cubicBezTo>
                <a:cubicBezTo>
                  <a:pt x="247" y="530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3"/>
                  <a:pt x="132" y="494"/>
                  <a:pt x="118" y="485"/>
                </a:cubicBezTo>
                <a:cubicBezTo>
                  <a:pt x="103" y="475"/>
                  <a:pt x="90" y="464"/>
                  <a:pt x="78" y="452"/>
                </a:cubicBezTo>
                <a:cubicBezTo>
                  <a:pt x="65" y="439"/>
                  <a:pt x="54" y="426"/>
                  <a:pt x="45" y="412"/>
                </a:cubicBezTo>
                <a:cubicBezTo>
                  <a:pt x="35" y="397"/>
                  <a:pt x="27" y="382"/>
                  <a:pt x="20" y="366"/>
                </a:cubicBezTo>
                <a:cubicBezTo>
                  <a:pt x="14" y="350"/>
                  <a:pt x="9" y="333"/>
                  <a:pt x="5" y="316"/>
                </a:cubicBezTo>
                <a:cubicBezTo>
                  <a:pt x="2" y="299"/>
                  <a:pt x="0" y="282"/>
                  <a:pt x="0" y="265"/>
                </a:cubicBezTo>
                <a:cubicBezTo>
                  <a:pt x="0" y="247"/>
                  <a:pt x="2" y="230"/>
                  <a:pt x="5" y="213"/>
                </a:cubicBezTo>
                <a:cubicBezTo>
                  <a:pt x="9" y="196"/>
                  <a:pt x="14" y="179"/>
                  <a:pt x="20" y="163"/>
                </a:cubicBezTo>
                <a:cubicBezTo>
                  <a:pt x="27" y="147"/>
                  <a:pt x="35" y="132"/>
                  <a:pt x="45" y="118"/>
                </a:cubicBezTo>
                <a:cubicBezTo>
                  <a:pt x="54" y="103"/>
                  <a:pt x="65" y="90"/>
                  <a:pt x="78" y="78"/>
                </a:cubicBezTo>
                <a:cubicBezTo>
                  <a:pt x="90" y="65"/>
                  <a:pt x="103" y="54"/>
                  <a:pt x="118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4"/>
                  <a:pt x="196" y="9"/>
                  <a:pt x="213" y="5"/>
                </a:cubicBezTo>
                <a:cubicBezTo>
                  <a:pt x="230" y="2"/>
                  <a:pt x="247" y="0"/>
                  <a:pt x="265" y="0"/>
                </a:cubicBezTo>
                <a:cubicBezTo>
                  <a:pt x="282" y="0"/>
                  <a:pt x="299" y="2"/>
                  <a:pt x="316" y="5"/>
                </a:cubicBezTo>
                <a:cubicBezTo>
                  <a:pt x="333" y="9"/>
                  <a:pt x="350" y="14"/>
                  <a:pt x="366" y="20"/>
                </a:cubicBezTo>
                <a:cubicBezTo>
                  <a:pt x="382" y="27"/>
                  <a:pt x="397" y="35"/>
                  <a:pt x="412" y="45"/>
                </a:cubicBezTo>
                <a:cubicBezTo>
                  <a:pt x="426" y="54"/>
                  <a:pt x="439" y="65"/>
                  <a:pt x="452" y="78"/>
                </a:cubicBezTo>
                <a:cubicBezTo>
                  <a:pt x="464" y="90"/>
                  <a:pt x="475" y="103"/>
                  <a:pt x="485" y="118"/>
                </a:cubicBezTo>
                <a:cubicBezTo>
                  <a:pt x="494" y="132"/>
                  <a:pt x="503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9" y="230"/>
                  <a:pt x="530" y="247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5343480" y="3019320"/>
            <a:ext cx="0" cy="75960"/>
          </a:xfrm>
          <a:custGeom>
            <a:avLst/>
            <a:gdLst/>
            <a:ahLst/>
            <a:rect l="0" t="0" r="r" b="b"/>
            <a:pathLst>
              <a:path fill="none" w="0" h="211">
                <a:moveTo>
                  <a:pt x="0" y="211"/>
                </a:moveTo>
                <a:lnTo>
                  <a:pt x="0" y="106"/>
                </a:lnTo>
                <a:moveTo>
                  <a:pt x="0" y="0"/>
                </a:move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5229360" y="4461840"/>
            <a:ext cx="884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symptom.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5508720" y="2665080"/>
            <a:ext cx="543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Root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5508720" y="2950920"/>
            <a:ext cx="711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Cause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7224480" y="2462040"/>
            <a:ext cx="2048400" cy="2667240"/>
          </a:xfrm>
          <a:custGeom>
            <a:avLst/>
            <a:gdLst/>
            <a:ahLst/>
            <a:rect l="0" t="0" r="r" b="b"/>
            <a:pathLst>
              <a:path w="5690" h="7409">
                <a:moveTo>
                  <a:pt x="0" y="726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5544" y="0"/>
                </a:lnTo>
                <a:cubicBezTo>
                  <a:pt x="5554" y="0"/>
                  <a:pt x="5563" y="1"/>
                  <a:pt x="5573" y="3"/>
                </a:cubicBezTo>
                <a:cubicBezTo>
                  <a:pt x="5582" y="5"/>
                  <a:pt x="5591" y="7"/>
                  <a:pt x="5600" y="11"/>
                </a:cubicBezTo>
                <a:cubicBezTo>
                  <a:pt x="5609" y="15"/>
                  <a:pt x="5617" y="19"/>
                  <a:pt x="5625" y="25"/>
                </a:cubicBezTo>
                <a:cubicBezTo>
                  <a:pt x="5633" y="30"/>
                  <a:pt x="5640" y="36"/>
                  <a:pt x="5647" y="43"/>
                </a:cubicBezTo>
                <a:cubicBezTo>
                  <a:pt x="5654" y="49"/>
                  <a:pt x="5660" y="57"/>
                  <a:pt x="5665" y="65"/>
                </a:cubicBezTo>
                <a:cubicBezTo>
                  <a:pt x="5670" y="73"/>
                  <a:pt x="5675" y="81"/>
                  <a:pt x="5679" y="90"/>
                </a:cubicBezTo>
                <a:cubicBezTo>
                  <a:pt x="5682" y="99"/>
                  <a:pt x="5685" y="108"/>
                  <a:pt x="5687" y="117"/>
                </a:cubicBezTo>
                <a:cubicBezTo>
                  <a:pt x="5689" y="126"/>
                  <a:pt x="5690" y="136"/>
                  <a:pt x="5690" y="145"/>
                </a:cubicBezTo>
                <a:lnTo>
                  <a:pt x="5690" y="7264"/>
                </a:lnTo>
                <a:cubicBezTo>
                  <a:pt x="5690" y="7273"/>
                  <a:pt x="5689" y="7283"/>
                  <a:pt x="5687" y="7292"/>
                </a:cubicBezTo>
                <a:cubicBezTo>
                  <a:pt x="5685" y="7302"/>
                  <a:pt x="5682" y="7311"/>
                  <a:pt x="5679" y="7319"/>
                </a:cubicBezTo>
                <a:cubicBezTo>
                  <a:pt x="5675" y="7328"/>
                  <a:pt x="5670" y="7337"/>
                  <a:pt x="5665" y="7345"/>
                </a:cubicBezTo>
                <a:cubicBezTo>
                  <a:pt x="5660" y="7353"/>
                  <a:pt x="5654" y="7360"/>
                  <a:pt x="5647" y="7367"/>
                </a:cubicBezTo>
                <a:cubicBezTo>
                  <a:pt x="5640" y="7373"/>
                  <a:pt x="5633" y="7379"/>
                  <a:pt x="5625" y="7385"/>
                </a:cubicBezTo>
                <a:cubicBezTo>
                  <a:pt x="5617" y="7390"/>
                  <a:pt x="5609" y="7395"/>
                  <a:pt x="5600" y="7398"/>
                </a:cubicBezTo>
                <a:cubicBezTo>
                  <a:pt x="5591" y="7402"/>
                  <a:pt x="5582" y="7405"/>
                  <a:pt x="5573" y="7407"/>
                </a:cubicBezTo>
                <a:cubicBezTo>
                  <a:pt x="5563" y="7408"/>
                  <a:pt x="5554" y="7409"/>
                  <a:pt x="5544" y="7409"/>
                </a:cubicBezTo>
                <a:lnTo>
                  <a:pt x="146" y="7409"/>
                </a:lnTo>
                <a:cubicBezTo>
                  <a:pt x="136" y="7409"/>
                  <a:pt x="127" y="7408"/>
                  <a:pt x="117" y="7407"/>
                </a:cubicBezTo>
                <a:cubicBezTo>
                  <a:pt x="108" y="7405"/>
                  <a:pt x="99" y="7402"/>
                  <a:pt x="90" y="7398"/>
                </a:cubicBezTo>
                <a:cubicBezTo>
                  <a:pt x="81" y="7395"/>
                  <a:pt x="73" y="7390"/>
                  <a:pt x="65" y="7385"/>
                </a:cubicBezTo>
                <a:cubicBezTo>
                  <a:pt x="57" y="7379"/>
                  <a:pt x="50" y="7373"/>
                  <a:pt x="43" y="7367"/>
                </a:cubicBezTo>
                <a:cubicBezTo>
                  <a:pt x="36" y="7360"/>
                  <a:pt x="30" y="7353"/>
                  <a:pt x="25" y="7345"/>
                </a:cubicBezTo>
                <a:cubicBezTo>
                  <a:pt x="19" y="7337"/>
                  <a:pt x="15" y="7328"/>
                  <a:pt x="11" y="7319"/>
                </a:cubicBezTo>
                <a:cubicBezTo>
                  <a:pt x="8" y="7311"/>
                  <a:pt x="5" y="7302"/>
                  <a:pt x="3" y="7292"/>
                </a:cubicBezTo>
                <a:cubicBezTo>
                  <a:pt x="1" y="7283"/>
                  <a:pt x="0" y="7273"/>
                  <a:pt x="0" y="7264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7224480" y="2462040"/>
            <a:ext cx="2048400" cy="2667240"/>
          </a:xfrm>
          <a:custGeom>
            <a:avLst/>
            <a:gdLst/>
            <a:ahLst/>
            <a:rect l="0" t="0" r="r" b="b"/>
            <a:pathLst>
              <a:path fill="none" w="5690" h="7409">
                <a:moveTo>
                  <a:pt x="0" y="726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5544" y="0"/>
                </a:lnTo>
                <a:cubicBezTo>
                  <a:pt x="5554" y="0"/>
                  <a:pt x="5563" y="1"/>
                  <a:pt x="5573" y="3"/>
                </a:cubicBezTo>
                <a:cubicBezTo>
                  <a:pt x="5582" y="5"/>
                  <a:pt x="5591" y="7"/>
                  <a:pt x="5600" y="11"/>
                </a:cubicBezTo>
                <a:cubicBezTo>
                  <a:pt x="5609" y="15"/>
                  <a:pt x="5617" y="19"/>
                  <a:pt x="5625" y="25"/>
                </a:cubicBezTo>
                <a:cubicBezTo>
                  <a:pt x="5633" y="30"/>
                  <a:pt x="5640" y="36"/>
                  <a:pt x="5647" y="43"/>
                </a:cubicBezTo>
                <a:cubicBezTo>
                  <a:pt x="5654" y="49"/>
                  <a:pt x="5660" y="57"/>
                  <a:pt x="5665" y="65"/>
                </a:cubicBezTo>
                <a:cubicBezTo>
                  <a:pt x="5670" y="73"/>
                  <a:pt x="5675" y="81"/>
                  <a:pt x="5679" y="90"/>
                </a:cubicBezTo>
                <a:cubicBezTo>
                  <a:pt x="5682" y="99"/>
                  <a:pt x="5685" y="108"/>
                  <a:pt x="5687" y="117"/>
                </a:cubicBezTo>
                <a:cubicBezTo>
                  <a:pt x="5689" y="126"/>
                  <a:pt x="5690" y="136"/>
                  <a:pt x="5690" y="145"/>
                </a:cubicBezTo>
                <a:lnTo>
                  <a:pt x="5690" y="7264"/>
                </a:lnTo>
                <a:cubicBezTo>
                  <a:pt x="5690" y="7273"/>
                  <a:pt x="5689" y="7283"/>
                  <a:pt x="5687" y="7292"/>
                </a:cubicBezTo>
                <a:cubicBezTo>
                  <a:pt x="5685" y="7302"/>
                  <a:pt x="5682" y="7311"/>
                  <a:pt x="5679" y="7319"/>
                </a:cubicBezTo>
                <a:cubicBezTo>
                  <a:pt x="5675" y="7328"/>
                  <a:pt x="5670" y="7337"/>
                  <a:pt x="5665" y="7345"/>
                </a:cubicBezTo>
                <a:cubicBezTo>
                  <a:pt x="5660" y="7353"/>
                  <a:pt x="5654" y="7360"/>
                  <a:pt x="5647" y="7367"/>
                </a:cubicBezTo>
                <a:cubicBezTo>
                  <a:pt x="5640" y="7373"/>
                  <a:pt x="5633" y="7379"/>
                  <a:pt x="5625" y="7385"/>
                </a:cubicBezTo>
                <a:cubicBezTo>
                  <a:pt x="5617" y="7390"/>
                  <a:pt x="5609" y="7395"/>
                  <a:pt x="5600" y="7398"/>
                </a:cubicBezTo>
                <a:cubicBezTo>
                  <a:pt x="5591" y="7402"/>
                  <a:pt x="5582" y="7405"/>
                  <a:pt x="5573" y="7407"/>
                </a:cubicBezTo>
                <a:cubicBezTo>
                  <a:pt x="5563" y="7408"/>
                  <a:pt x="5554" y="7409"/>
                  <a:pt x="5544" y="7409"/>
                </a:cubicBezTo>
                <a:lnTo>
                  <a:pt x="146" y="7409"/>
                </a:lnTo>
                <a:cubicBezTo>
                  <a:pt x="136" y="7409"/>
                  <a:pt x="127" y="7408"/>
                  <a:pt x="117" y="7407"/>
                </a:cubicBezTo>
                <a:cubicBezTo>
                  <a:pt x="108" y="7405"/>
                  <a:pt x="99" y="7402"/>
                  <a:pt x="90" y="7398"/>
                </a:cubicBezTo>
                <a:cubicBezTo>
                  <a:pt x="81" y="7395"/>
                  <a:pt x="73" y="7390"/>
                  <a:pt x="65" y="7385"/>
                </a:cubicBezTo>
                <a:cubicBezTo>
                  <a:pt x="57" y="7379"/>
                  <a:pt x="50" y="7373"/>
                  <a:pt x="43" y="7367"/>
                </a:cubicBezTo>
                <a:cubicBezTo>
                  <a:pt x="36" y="7360"/>
                  <a:pt x="30" y="7353"/>
                  <a:pt x="25" y="7345"/>
                </a:cubicBezTo>
                <a:cubicBezTo>
                  <a:pt x="19" y="7337"/>
                  <a:pt x="15" y="7328"/>
                  <a:pt x="11" y="7319"/>
                </a:cubicBezTo>
                <a:cubicBezTo>
                  <a:pt x="8" y="7311"/>
                  <a:pt x="5" y="7302"/>
                  <a:pt x="3" y="7292"/>
                </a:cubicBezTo>
                <a:cubicBezTo>
                  <a:pt x="1" y="7283"/>
                  <a:pt x="0" y="7273"/>
                  <a:pt x="0" y="7264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5508720" y="3236400"/>
            <a:ext cx="993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Analysis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7381800" y="3071160"/>
            <a:ext cx="1318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Generate ideas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7381800" y="3347280"/>
            <a:ext cx="1280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freely, without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7381800" y="3614040"/>
            <a:ext cx="1523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ﬁltering — works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7381800" y="3890160"/>
            <a:ext cx="1654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best in groups, for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7400880" y="267624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6"/>
                </a:moveTo>
                <a:cubicBezTo>
                  <a:pt x="530" y="283"/>
                  <a:pt x="528" y="300"/>
                  <a:pt x="525" y="317"/>
                </a:cubicBezTo>
                <a:cubicBezTo>
                  <a:pt x="521" y="335"/>
                  <a:pt x="516" y="351"/>
                  <a:pt x="510" y="367"/>
                </a:cubicBezTo>
                <a:cubicBezTo>
                  <a:pt x="503" y="383"/>
                  <a:pt x="495" y="398"/>
                  <a:pt x="485" y="413"/>
                </a:cubicBezTo>
                <a:cubicBezTo>
                  <a:pt x="476" y="427"/>
                  <a:pt x="465" y="441"/>
                  <a:pt x="452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6"/>
                  <a:pt x="383" y="504"/>
                  <a:pt x="366" y="510"/>
                </a:cubicBezTo>
                <a:cubicBezTo>
                  <a:pt x="350" y="517"/>
                  <a:pt x="333" y="522"/>
                  <a:pt x="316" y="525"/>
                </a:cubicBezTo>
                <a:cubicBezTo>
                  <a:pt x="299" y="529"/>
                  <a:pt x="282" y="530"/>
                  <a:pt x="264" y="530"/>
                </a:cubicBezTo>
                <a:cubicBezTo>
                  <a:pt x="247" y="530"/>
                  <a:pt x="230" y="529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4"/>
                  <a:pt x="132" y="496"/>
                  <a:pt x="117" y="486"/>
                </a:cubicBezTo>
                <a:cubicBezTo>
                  <a:pt x="103" y="476"/>
                  <a:pt x="89" y="465"/>
                  <a:pt x="77" y="453"/>
                </a:cubicBezTo>
                <a:cubicBezTo>
                  <a:pt x="65" y="441"/>
                  <a:pt x="54" y="427"/>
                  <a:pt x="44" y="413"/>
                </a:cubicBezTo>
                <a:cubicBezTo>
                  <a:pt x="35" y="398"/>
                  <a:pt x="26" y="383"/>
                  <a:pt x="20" y="367"/>
                </a:cubicBezTo>
                <a:cubicBezTo>
                  <a:pt x="13" y="351"/>
                  <a:pt x="8" y="335"/>
                  <a:pt x="5" y="317"/>
                </a:cubicBezTo>
                <a:cubicBezTo>
                  <a:pt x="1" y="300"/>
                  <a:pt x="0" y="283"/>
                  <a:pt x="0" y="266"/>
                </a:cubicBezTo>
                <a:cubicBezTo>
                  <a:pt x="0" y="249"/>
                  <a:pt x="1" y="230"/>
                  <a:pt x="5" y="213"/>
                </a:cubicBezTo>
                <a:cubicBezTo>
                  <a:pt x="8" y="196"/>
                  <a:pt x="13" y="180"/>
                  <a:pt x="20" y="164"/>
                </a:cubicBezTo>
                <a:cubicBezTo>
                  <a:pt x="26" y="148"/>
                  <a:pt x="35" y="132"/>
                  <a:pt x="44" y="118"/>
                </a:cubicBezTo>
                <a:cubicBezTo>
                  <a:pt x="54" y="103"/>
                  <a:pt x="65" y="90"/>
                  <a:pt x="77" y="78"/>
                </a:cubicBezTo>
                <a:cubicBezTo>
                  <a:pt x="89" y="66"/>
                  <a:pt x="103" y="55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4"/>
                  <a:pt x="196" y="9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299" y="2"/>
                  <a:pt x="316" y="5"/>
                </a:cubicBezTo>
                <a:cubicBezTo>
                  <a:pt x="333" y="9"/>
                  <a:pt x="350" y="14"/>
                  <a:pt x="366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5"/>
                  <a:pt x="440" y="66"/>
                  <a:pt x="452" y="78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2"/>
                  <a:pt x="503" y="148"/>
                  <a:pt x="510" y="164"/>
                </a:cubicBezTo>
                <a:cubicBezTo>
                  <a:pt x="516" y="180"/>
                  <a:pt x="521" y="196"/>
                  <a:pt x="525" y="213"/>
                </a:cubicBezTo>
                <a:cubicBezTo>
                  <a:pt x="528" y="230"/>
                  <a:pt x="530" y="249"/>
                  <a:pt x="530" y="266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7495920" y="2733480"/>
            <a:ext cx="0" cy="76320"/>
          </a:xfrm>
          <a:custGeom>
            <a:avLst/>
            <a:gdLst/>
            <a:ahLst/>
            <a:rect l="0" t="0" r="r" b="b"/>
            <a:pathLst>
              <a:path fill="none" w="0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7381800" y="4166640"/>
            <a:ext cx="1641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creative problems.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9377280" y="2462040"/>
            <a:ext cx="2048040" cy="2667240"/>
          </a:xfrm>
          <a:custGeom>
            <a:avLst/>
            <a:gdLst/>
            <a:ahLst/>
            <a:rect l="0" t="0" r="r" b="b"/>
            <a:pathLst>
              <a:path w="5689" h="7409">
                <a:moveTo>
                  <a:pt x="0" y="726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30" y="57"/>
                  <a:pt x="36" y="49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19"/>
                  <a:pt x="81" y="15"/>
                  <a:pt x="90" y="11"/>
                </a:cubicBezTo>
                <a:cubicBezTo>
                  <a:pt x="98" y="7"/>
                  <a:pt x="107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5544" y="0"/>
                </a:lnTo>
                <a:cubicBezTo>
                  <a:pt x="5553" y="0"/>
                  <a:pt x="5563" y="1"/>
                  <a:pt x="5572" y="3"/>
                </a:cubicBezTo>
                <a:cubicBezTo>
                  <a:pt x="5582" y="5"/>
                  <a:pt x="5591" y="7"/>
                  <a:pt x="5599" y="11"/>
                </a:cubicBezTo>
                <a:cubicBezTo>
                  <a:pt x="5608" y="15"/>
                  <a:pt x="5617" y="19"/>
                  <a:pt x="5625" y="25"/>
                </a:cubicBezTo>
                <a:cubicBezTo>
                  <a:pt x="5633" y="30"/>
                  <a:pt x="5640" y="36"/>
                  <a:pt x="5647" y="43"/>
                </a:cubicBezTo>
                <a:cubicBezTo>
                  <a:pt x="5653" y="49"/>
                  <a:pt x="5659" y="57"/>
                  <a:pt x="5665" y="65"/>
                </a:cubicBezTo>
                <a:cubicBezTo>
                  <a:pt x="5670" y="73"/>
                  <a:pt x="5675" y="81"/>
                  <a:pt x="5678" y="90"/>
                </a:cubicBezTo>
                <a:cubicBezTo>
                  <a:pt x="5682" y="99"/>
                  <a:pt x="5685" y="108"/>
                  <a:pt x="5686" y="117"/>
                </a:cubicBezTo>
                <a:cubicBezTo>
                  <a:pt x="5688" y="126"/>
                  <a:pt x="5689" y="136"/>
                  <a:pt x="5689" y="145"/>
                </a:cubicBezTo>
                <a:lnTo>
                  <a:pt x="5689" y="7264"/>
                </a:lnTo>
                <a:cubicBezTo>
                  <a:pt x="5689" y="7273"/>
                  <a:pt x="5688" y="7283"/>
                  <a:pt x="5686" y="7292"/>
                </a:cubicBezTo>
                <a:cubicBezTo>
                  <a:pt x="5685" y="7302"/>
                  <a:pt x="5682" y="7311"/>
                  <a:pt x="5678" y="7319"/>
                </a:cubicBezTo>
                <a:cubicBezTo>
                  <a:pt x="5675" y="7328"/>
                  <a:pt x="5670" y="7337"/>
                  <a:pt x="5665" y="7345"/>
                </a:cubicBezTo>
                <a:cubicBezTo>
                  <a:pt x="5659" y="7353"/>
                  <a:pt x="5653" y="7360"/>
                  <a:pt x="5647" y="7367"/>
                </a:cubicBezTo>
                <a:cubicBezTo>
                  <a:pt x="5640" y="7373"/>
                  <a:pt x="5633" y="7379"/>
                  <a:pt x="5625" y="7385"/>
                </a:cubicBezTo>
                <a:cubicBezTo>
                  <a:pt x="5617" y="7390"/>
                  <a:pt x="5608" y="7395"/>
                  <a:pt x="5599" y="7398"/>
                </a:cubicBezTo>
                <a:cubicBezTo>
                  <a:pt x="5591" y="7402"/>
                  <a:pt x="5582" y="7405"/>
                  <a:pt x="5572" y="7407"/>
                </a:cubicBezTo>
                <a:cubicBezTo>
                  <a:pt x="5563" y="7408"/>
                  <a:pt x="5553" y="7409"/>
                  <a:pt x="5544" y="7409"/>
                </a:cubicBezTo>
                <a:lnTo>
                  <a:pt x="145" y="7409"/>
                </a:lnTo>
                <a:cubicBezTo>
                  <a:pt x="136" y="7409"/>
                  <a:pt x="126" y="7408"/>
                  <a:pt x="117" y="7407"/>
                </a:cubicBezTo>
                <a:cubicBezTo>
                  <a:pt x="107" y="7405"/>
                  <a:pt x="98" y="7402"/>
                  <a:pt x="90" y="7398"/>
                </a:cubicBezTo>
                <a:cubicBezTo>
                  <a:pt x="81" y="7395"/>
                  <a:pt x="72" y="7390"/>
                  <a:pt x="64" y="7385"/>
                </a:cubicBezTo>
                <a:cubicBezTo>
                  <a:pt x="56" y="7379"/>
                  <a:pt x="49" y="7373"/>
                  <a:pt x="42" y="7367"/>
                </a:cubicBezTo>
                <a:cubicBezTo>
                  <a:pt x="36" y="7360"/>
                  <a:pt x="30" y="7353"/>
                  <a:pt x="24" y="7345"/>
                </a:cubicBezTo>
                <a:cubicBezTo>
                  <a:pt x="19" y="7337"/>
                  <a:pt x="14" y="7328"/>
                  <a:pt x="11" y="7319"/>
                </a:cubicBezTo>
                <a:cubicBezTo>
                  <a:pt x="7" y="7311"/>
                  <a:pt x="4" y="7302"/>
                  <a:pt x="3" y="7292"/>
                </a:cubicBezTo>
                <a:cubicBezTo>
                  <a:pt x="1" y="7283"/>
                  <a:pt x="0" y="7273"/>
                  <a:pt x="0" y="7264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9377280" y="2462040"/>
            <a:ext cx="2048040" cy="2667240"/>
          </a:xfrm>
          <a:custGeom>
            <a:avLst/>
            <a:gdLst/>
            <a:ahLst/>
            <a:rect l="0" t="0" r="r" b="b"/>
            <a:pathLst>
              <a:path fill="none" w="5689" h="7409">
                <a:moveTo>
                  <a:pt x="0" y="726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30" y="57"/>
                  <a:pt x="36" y="49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19"/>
                  <a:pt x="81" y="15"/>
                  <a:pt x="90" y="11"/>
                </a:cubicBezTo>
                <a:cubicBezTo>
                  <a:pt x="98" y="7"/>
                  <a:pt x="107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5544" y="0"/>
                </a:lnTo>
                <a:cubicBezTo>
                  <a:pt x="5553" y="0"/>
                  <a:pt x="5563" y="1"/>
                  <a:pt x="5572" y="3"/>
                </a:cubicBezTo>
                <a:cubicBezTo>
                  <a:pt x="5582" y="5"/>
                  <a:pt x="5591" y="7"/>
                  <a:pt x="5599" y="11"/>
                </a:cubicBezTo>
                <a:cubicBezTo>
                  <a:pt x="5608" y="15"/>
                  <a:pt x="5617" y="19"/>
                  <a:pt x="5625" y="25"/>
                </a:cubicBezTo>
                <a:cubicBezTo>
                  <a:pt x="5633" y="30"/>
                  <a:pt x="5640" y="36"/>
                  <a:pt x="5647" y="43"/>
                </a:cubicBezTo>
                <a:cubicBezTo>
                  <a:pt x="5653" y="49"/>
                  <a:pt x="5659" y="57"/>
                  <a:pt x="5665" y="65"/>
                </a:cubicBezTo>
                <a:cubicBezTo>
                  <a:pt x="5670" y="73"/>
                  <a:pt x="5675" y="81"/>
                  <a:pt x="5678" y="90"/>
                </a:cubicBezTo>
                <a:cubicBezTo>
                  <a:pt x="5682" y="99"/>
                  <a:pt x="5685" y="108"/>
                  <a:pt x="5686" y="117"/>
                </a:cubicBezTo>
                <a:cubicBezTo>
                  <a:pt x="5688" y="126"/>
                  <a:pt x="5689" y="136"/>
                  <a:pt x="5689" y="145"/>
                </a:cubicBezTo>
                <a:lnTo>
                  <a:pt x="5689" y="7264"/>
                </a:lnTo>
                <a:cubicBezTo>
                  <a:pt x="5689" y="7273"/>
                  <a:pt x="5688" y="7283"/>
                  <a:pt x="5686" y="7292"/>
                </a:cubicBezTo>
                <a:cubicBezTo>
                  <a:pt x="5685" y="7302"/>
                  <a:pt x="5682" y="7311"/>
                  <a:pt x="5678" y="7319"/>
                </a:cubicBezTo>
                <a:cubicBezTo>
                  <a:pt x="5675" y="7328"/>
                  <a:pt x="5670" y="7337"/>
                  <a:pt x="5665" y="7345"/>
                </a:cubicBezTo>
                <a:cubicBezTo>
                  <a:pt x="5659" y="7353"/>
                  <a:pt x="5653" y="7360"/>
                  <a:pt x="5647" y="7367"/>
                </a:cubicBezTo>
                <a:cubicBezTo>
                  <a:pt x="5640" y="7373"/>
                  <a:pt x="5633" y="7379"/>
                  <a:pt x="5625" y="7385"/>
                </a:cubicBezTo>
                <a:cubicBezTo>
                  <a:pt x="5617" y="7390"/>
                  <a:pt x="5608" y="7395"/>
                  <a:pt x="5599" y="7398"/>
                </a:cubicBezTo>
                <a:cubicBezTo>
                  <a:pt x="5591" y="7402"/>
                  <a:pt x="5582" y="7405"/>
                  <a:pt x="5572" y="7407"/>
                </a:cubicBezTo>
                <a:cubicBezTo>
                  <a:pt x="5563" y="7408"/>
                  <a:pt x="5553" y="7409"/>
                  <a:pt x="5544" y="7409"/>
                </a:cubicBezTo>
                <a:lnTo>
                  <a:pt x="145" y="7409"/>
                </a:lnTo>
                <a:cubicBezTo>
                  <a:pt x="136" y="7409"/>
                  <a:pt x="126" y="7408"/>
                  <a:pt x="117" y="7407"/>
                </a:cubicBezTo>
                <a:cubicBezTo>
                  <a:pt x="107" y="7405"/>
                  <a:pt x="98" y="7402"/>
                  <a:pt x="90" y="7398"/>
                </a:cubicBezTo>
                <a:cubicBezTo>
                  <a:pt x="81" y="7395"/>
                  <a:pt x="72" y="7390"/>
                  <a:pt x="64" y="7385"/>
                </a:cubicBezTo>
                <a:cubicBezTo>
                  <a:pt x="56" y="7379"/>
                  <a:pt x="49" y="7373"/>
                  <a:pt x="42" y="7367"/>
                </a:cubicBezTo>
                <a:cubicBezTo>
                  <a:pt x="36" y="7360"/>
                  <a:pt x="30" y="7353"/>
                  <a:pt x="24" y="7345"/>
                </a:cubicBezTo>
                <a:cubicBezTo>
                  <a:pt x="19" y="7337"/>
                  <a:pt x="14" y="7328"/>
                  <a:pt x="11" y="7319"/>
                </a:cubicBezTo>
                <a:cubicBezTo>
                  <a:pt x="7" y="7311"/>
                  <a:pt x="4" y="7302"/>
                  <a:pt x="3" y="7292"/>
                </a:cubicBezTo>
                <a:cubicBezTo>
                  <a:pt x="1" y="7283"/>
                  <a:pt x="0" y="7273"/>
                  <a:pt x="0" y="7264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7661160" y="2665080"/>
            <a:ext cx="1676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Brainstorming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9534600" y="3357000"/>
            <a:ext cx="1624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Start from the end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9534600" y="3633120"/>
            <a:ext cx="1567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result and retrace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9534600" y="3899880"/>
            <a:ext cx="17600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steps needed to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9553320" y="281916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2"/>
                  <a:pt x="529" y="299"/>
                  <a:pt x="525" y="316"/>
                </a:cubicBezTo>
                <a:cubicBezTo>
                  <a:pt x="522" y="333"/>
                  <a:pt x="517" y="350"/>
                  <a:pt x="510" y="366"/>
                </a:cubicBezTo>
                <a:cubicBezTo>
                  <a:pt x="504" y="383"/>
                  <a:pt x="495" y="398"/>
                  <a:pt x="486" y="413"/>
                </a:cubicBezTo>
                <a:cubicBezTo>
                  <a:pt x="476" y="427"/>
                  <a:pt x="465" y="441"/>
                  <a:pt x="453" y="453"/>
                </a:cubicBezTo>
                <a:cubicBezTo>
                  <a:pt x="441" y="465"/>
                  <a:pt x="427" y="476"/>
                  <a:pt x="413" y="486"/>
                </a:cubicBezTo>
                <a:cubicBezTo>
                  <a:pt x="398" y="495"/>
                  <a:pt x="383" y="504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9"/>
                  <a:pt x="283" y="530"/>
                  <a:pt x="266" y="530"/>
                </a:cubicBezTo>
                <a:cubicBezTo>
                  <a:pt x="248" y="530"/>
                  <a:pt x="231" y="529"/>
                  <a:pt x="214" y="525"/>
                </a:cubicBezTo>
                <a:cubicBezTo>
                  <a:pt x="197" y="522"/>
                  <a:pt x="181" y="517"/>
                  <a:pt x="164" y="510"/>
                </a:cubicBezTo>
                <a:cubicBezTo>
                  <a:pt x="147" y="504"/>
                  <a:pt x="132" y="495"/>
                  <a:pt x="118" y="486"/>
                </a:cubicBezTo>
                <a:cubicBezTo>
                  <a:pt x="103" y="476"/>
                  <a:pt x="90" y="465"/>
                  <a:pt x="78" y="453"/>
                </a:cubicBezTo>
                <a:cubicBezTo>
                  <a:pt x="65" y="441"/>
                  <a:pt x="54" y="427"/>
                  <a:pt x="45" y="413"/>
                </a:cubicBezTo>
                <a:cubicBezTo>
                  <a:pt x="35" y="398"/>
                  <a:pt x="27" y="383"/>
                  <a:pt x="20" y="366"/>
                </a:cubicBezTo>
                <a:cubicBezTo>
                  <a:pt x="14" y="350"/>
                  <a:pt x="9" y="333"/>
                  <a:pt x="5" y="316"/>
                </a:cubicBezTo>
                <a:cubicBezTo>
                  <a:pt x="2" y="299"/>
                  <a:pt x="0" y="282"/>
                  <a:pt x="0" y="265"/>
                </a:cubicBezTo>
                <a:cubicBezTo>
                  <a:pt x="0" y="247"/>
                  <a:pt x="2" y="230"/>
                  <a:pt x="5" y="213"/>
                </a:cubicBezTo>
                <a:cubicBezTo>
                  <a:pt x="9" y="196"/>
                  <a:pt x="14" y="180"/>
                  <a:pt x="20" y="163"/>
                </a:cubicBezTo>
                <a:cubicBezTo>
                  <a:pt x="27" y="147"/>
                  <a:pt x="35" y="132"/>
                  <a:pt x="45" y="118"/>
                </a:cubicBezTo>
                <a:cubicBezTo>
                  <a:pt x="54" y="103"/>
                  <a:pt x="65" y="90"/>
                  <a:pt x="78" y="78"/>
                </a:cubicBezTo>
                <a:cubicBezTo>
                  <a:pt x="90" y="65"/>
                  <a:pt x="103" y="54"/>
                  <a:pt x="118" y="45"/>
                </a:cubicBezTo>
                <a:cubicBezTo>
                  <a:pt x="132" y="35"/>
                  <a:pt x="147" y="27"/>
                  <a:pt x="164" y="20"/>
                </a:cubicBezTo>
                <a:cubicBezTo>
                  <a:pt x="181" y="14"/>
                  <a:pt x="197" y="9"/>
                  <a:pt x="214" y="5"/>
                </a:cubicBezTo>
                <a:cubicBezTo>
                  <a:pt x="231" y="2"/>
                  <a:pt x="248" y="0"/>
                  <a:pt x="266" y="0"/>
                </a:cubicBezTo>
                <a:cubicBezTo>
                  <a:pt x="283" y="0"/>
                  <a:pt x="300" y="2"/>
                  <a:pt x="317" y="5"/>
                </a:cubicBezTo>
                <a:cubicBezTo>
                  <a:pt x="334" y="9"/>
                  <a:pt x="351" y="14"/>
                  <a:pt x="367" y="20"/>
                </a:cubicBezTo>
                <a:cubicBezTo>
                  <a:pt x="383" y="27"/>
                  <a:pt x="398" y="35"/>
                  <a:pt x="413" y="45"/>
                </a:cubicBezTo>
                <a:cubicBezTo>
                  <a:pt x="427" y="54"/>
                  <a:pt x="441" y="65"/>
                  <a:pt x="453" y="78"/>
                </a:cubicBezTo>
                <a:cubicBezTo>
                  <a:pt x="465" y="90"/>
                  <a:pt x="476" y="103"/>
                  <a:pt x="486" y="118"/>
                </a:cubicBezTo>
                <a:cubicBezTo>
                  <a:pt x="495" y="132"/>
                  <a:pt x="504" y="147"/>
                  <a:pt x="510" y="163"/>
                </a:cubicBezTo>
                <a:cubicBezTo>
                  <a:pt x="517" y="180"/>
                  <a:pt x="522" y="196"/>
                  <a:pt x="525" y="213"/>
                </a:cubicBezTo>
                <a:cubicBezTo>
                  <a:pt x="529" y="230"/>
                  <a:pt x="530" y="247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9648720" y="2876400"/>
            <a:ext cx="0" cy="76320"/>
          </a:xfrm>
          <a:custGeom>
            <a:avLst/>
            <a:gdLst/>
            <a:ahLst/>
            <a:rect l="0" t="0" r="r" b="b"/>
            <a:pathLst>
              <a:path fill="none" w="0" h="212">
                <a:moveTo>
                  <a:pt x="0" y="212"/>
                </a:moveTo>
                <a:lnTo>
                  <a:pt x="0" y="106"/>
                </a:lnTo>
                <a:moveTo>
                  <a:pt x="0" y="0"/>
                </a:move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9534600" y="4176000"/>
            <a:ext cx="861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get there.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9813960" y="2665080"/>
            <a:ext cx="977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Working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9813960" y="2950920"/>
            <a:ext cx="1261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Backwards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6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"/>
          <p:cNvSpPr txBox="1"/>
          <p:nvPr/>
        </p:nvSpPr>
        <p:spPr>
          <a:xfrm>
            <a:off x="762120" y="4966200"/>
            <a:ext cx="10462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These aren't mutually exclusive — the best solutions often combine several (e.g. break the problem down,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762120" y="5270760"/>
            <a:ext cx="5010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then run root cause analysis on one sub-problem).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766440" y="2166840"/>
            <a:ext cx="2048400" cy="2648160"/>
          </a:xfrm>
          <a:custGeom>
            <a:avLst/>
            <a:gdLst/>
            <a:ahLst/>
            <a:rect l="0" t="0" r="r" b="b"/>
            <a:pathLst>
              <a:path w="5690" h="7356">
                <a:moveTo>
                  <a:pt x="0" y="721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5544" y="0"/>
                </a:lnTo>
                <a:cubicBezTo>
                  <a:pt x="5554" y="0"/>
                  <a:pt x="5563" y="1"/>
                  <a:pt x="5573" y="3"/>
                </a:cubicBezTo>
                <a:cubicBezTo>
                  <a:pt x="5582" y="4"/>
                  <a:pt x="5591" y="7"/>
                  <a:pt x="5600" y="11"/>
                </a:cubicBezTo>
                <a:cubicBezTo>
                  <a:pt x="5609" y="15"/>
                  <a:pt x="5617" y="19"/>
                  <a:pt x="5625" y="24"/>
                </a:cubicBezTo>
                <a:cubicBezTo>
                  <a:pt x="5633" y="30"/>
                  <a:pt x="5641" y="36"/>
                  <a:pt x="5647" y="42"/>
                </a:cubicBezTo>
                <a:cubicBezTo>
                  <a:pt x="5654" y="49"/>
                  <a:pt x="5660" y="56"/>
                  <a:pt x="5665" y="64"/>
                </a:cubicBezTo>
                <a:cubicBezTo>
                  <a:pt x="5671" y="72"/>
                  <a:pt x="5675" y="81"/>
                  <a:pt x="5679" y="90"/>
                </a:cubicBezTo>
                <a:cubicBezTo>
                  <a:pt x="5683" y="98"/>
                  <a:pt x="5685" y="108"/>
                  <a:pt x="5687" y="117"/>
                </a:cubicBezTo>
                <a:cubicBezTo>
                  <a:pt x="5689" y="126"/>
                  <a:pt x="5690" y="136"/>
                  <a:pt x="5690" y="145"/>
                </a:cubicBezTo>
                <a:lnTo>
                  <a:pt x="5690" y="7211"/>
                </a:lnTo>
                <a:cubicBezTo>
                  <a:pt x="5690" y="7220"/>
                  <a:pt x="5689" y="7230"/>
                  <a:pt x="5687" y="7239"/>
                </a:cubicBezTo>
                <a:cubicBezTo>
                  <a:pt x="5685" y="7248"/>
                  <a:pt x="5683" y="7258"/>
                  <a:pt x="5679" y="7266"/>
                </a:cubicBezTo>
                <a:cubicBezTo>
                  <a:pt x="5675" y="7275"/>
                  <a:pt x="5671" y="7284"/>
                  <a:pt x="5665" y="7292"/>
                </a:cubicBezTo>
                <a:cubicBezTo>
                  <a:pt x="5660" y="7299"/>
                  <a:pt x="5654" y="7307"/>
                  <a:pt x="5647" y="7314"/>
                </a:cubicBezTo>
                <a:cubicBezTo>
                  <a:pt x="5641" y="7320"/>
                  <a:pt x="5633" y="7326"/>
                  <a:pt x="5625" y="7332"/>
                </a:cubicBezTo>
                <a:cubicBezTo>
                  <a:pt x="5617" y="7337"/>
                  <a:pt x="5609" y="7341"/>
                  <a:pt x="5600" y="7345"/>
                </a:cubicBezTo>
                <a:cubicBezTo>
                  <a:pt x="5591" y="7349"/>
                  <a:pt x="5582" y="7352"/>
                  <a:pt x="5573" y="7353"/>
                </a:cubicBezTo>
                <a:cubicBezTo>
                  <a:pt x="5563" y="7355"/>
                  <a:pt x="5554" y="7356"/>
                  <a:pt x="5544" y="7356"/>
                </a:cubicBezTo>
                <a:lnTo>
                  <a:pt x="146" y="7356"/>
                </a:lnTo>
                <a:cubicBezTo>
                  <a:pt x="136" y="7356"/>
                  <a:pt x="127" y="7355"/>
                  <a:pt x="118" y="7353"/>
                </a:cubicBezTo>
                <a:cubicBezTo>
                  <a:pt x="108" y="7352"/>
                  <a:pt x="99" y="7349"/>
                  <a:pt x="90" y="7345"/>
                </a:cubicBezTo>
                <a:cubicBezTo>
                  <a:pt x="81" y="7341"/>
                  <a:pt x="73" y="7337"/>
                  <a:pt x="65" y="7332"/>
                </a:cubicBezTo>
                <a:cubicBezTo>
                  <a:pt x="57" y="7326"/>
                  <a:pt x="50" y="7320"/>
                  <a:pt x="43" y="7314"/>
                </a:cubicBezTo>
                <a:cubicBezTo>
                  <a:pt x="36" y="7307"/>
                  <a:pt x="30" y="7299"/>
                  <a:pt x="25" y="7292"/>
                </a:cubicBezTo>
                <a:cubicBezTo>
                  <a:pt x="20" y="7284"/>
                  <a:pt x="15" y="7275"/>
                  <a:pt x="11" y="7266"/>
                </a:cubicBezTo>
                <a:cubicBezTo>
                  <a:pt x="8" y="7258"/>
                  <a:pt x="5" y="7248"/>
                  <a:pt x="3" y="7239"/>
                </a:cubicBezTo>
                <a:cubicBezTo>
                  <a:pt x="1" y="7230"/>
                  <a:pt x="0" y="7220"/>
                  <a:pt x="0" y="7211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766440" y="2166840"/>
            <a:ext cx="2048400" cy="2648160"/>
          </a:xfrm>
          <a:custGeom>
            <a:avLst/>
            <a:gdLst/>
            <a:ahLst/>
            <a:rect l="0" t="0" r="r" b="b"/>
            <a:pathLst>
              <a:path fill="none" w="5690" h="7356">
                <a:moveTo>
                  <a:pt x="0" y="721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5544" y="0"/>
                </a:lnTo>
                <a:cubicBezTo>
                  <a:pt x="5554" y="0"/>
                  <a:pt x="5563" y="1"/>
                  <a:pt x="5573" y="3"/>
                </a:cubicBezTo>
                <a:cubicBezTo>
                  <a:pt x="5582" y="4"/>
                  <a:pt x="5591" y="7"/>
                  <a:pt x="5600" y="11"/>
                </a:cubicBezTo>
                <a:cubicBezTo>
                  <a:pt x="5609" y="15"/>
                  <a:pt x="5617" y="19"/>
                  <a:pt x="5625" y="24"/>
                </a:cubicBezTo>
                <a:cubicBezTo>
                  <a:pt x="5633" y="30"/>
                  <a:pt x="5641" y="36"/>
                  <a:pt x="5647" y="42"/>
                </a:cubicBezTo>
                <a:cubicBezTo>
                  <a:pt x="5654" y="49"/>
                  <a:pt x="5660" y="56"/>
                  <a:pt x="5665" y="64"/>
                </a:cubicBezTo>
                <a:cubicBezTo>
                  <a:pt x="5671" y="72"/>
                  <a:pt x="5675" y="81"/>
                  <a:pt x="5679" y="90"/>
                </a:cubicBezTo>
                <a:cubicBezTo>
                  <a:pt x="5683" y="98"/>
                  <a:pt x="5685" y="108"/>
                  <a:pt x="5687" y="117"/>
                </a:cubicBezTo>
                <a:cubicBezTo>
                  <a:pt x="5689" y="126"/>
                  <a:pt x="5690" y="136"/>
                  <a:pt x="5690" y="145"/>
                </a:cubicBezTo>
                <a:lnTo>
                  <a:pt x="5690" y="7211"/>
                </a:lnTo>
                <a:cubicBezTo>
                  <a:pt x="5690" y="7220"/>
                  <a:pt x="5689" y="7230"/>
                  <a:pt x="5687" y="7239"/>
                </a:cubicBezTo>
                <a:cubicBezTo>
                  <a:pt x="5685" y="7248"/>
                  <a:pt x="5683" y="7258"/>
                  <a:pt x="5679" y="7266"/>
                </a:cubicBezTo>
                <a:cubicBezTo>
                  <a:pt x="5675" y="7275"/>
                  <a:pt x="5671" y="7284"/>
                  <a:pt x="5665" y="7292"/>
                </a:cubicBezTo>
                <a:cubicBezTo>
                  <a:pt x="5660" y="7299"/>
                  <a:pt x="5654" y="7307"/>
                  <a:pt x="5647" y="7314"/>
                </a:cubicBezTo>
                <a:cubicBezTo>
                  <a:pt x="5641" y="7320"/>
                  <a:pt x="5633" y="7326"/>
                  <a:pt x="5625" y="7332"/>
                </a:cubicBezTo>
                <a:cubicBezTo>
                  <a:pt x="5617" y="7337"/>
                  <a:pt x="5609" y="7341"/>
                  <a:pt x="5600" y="7345"/>
                </a:cubicBezTo>
                <a:cubicBezTo>
                  <a:pt x="5591" y="7349"/>
                  <a:pt x="5582" y="7352"/>
                  <a:pt x="5573" y="7353"/>
                </a:cubicBezTo>
                <a:cubicBezTo>
                  <a:pt x="5563" y="7355"/>
                  <a:pt x="5554" y="7356"/>
                  <a:pt x="5544" y="7356"/>
                </a:cubicBezTo>
                <a:lnTo>
                  <a:pt x="146" y="7356"/>
                </a:lnTo>
                <a:cubicBezTo>
                  <a:pt x="136" y="7356"/>
                  <a:pt x="127" y="7355"/>
                  <a:pt x="118" y="7353"/>
                </a:cubicBezTo>
                <a:cubicBezTo>
                  <a:pt x="108" y="7352"/>
                  <a:pt x="99" y="7349"/>
                  <a:pt x="90" y="7345"/>
                </a:cubicBezTo>
                <a:cubicBezTo>
                  <a:pt x="81" y="7341"/>
                  <a:pt x="73" y="7337"/>
                  <a:pt x="65" y="7332"/>
                </a:cubicBezTo>
                <a:cubicBezTo>
                  <a:pt x="57" y="7326"/>
                  <a:pt x="50" y="7320"/>
                  <a:pt x="43" y="7314"/>
                </a:cubicBezTo>
                <a:cubicBezTo>
                  <a:pt x="36" y="7307"/>
                  <a:pt x="30" y="7299"/>
                  <a:pt x="25" y="7292"/>
                </a:cubicBezTo>
                <a:cubicBezTo>
                  <a:pt x="20" y="7284"/>
                  <a:pt x="15" y="7275"/>
                  <a:pt x="11" y="7266"/>
                </a:cubicBezTo>
                <a:cubicBezTo>
                  <a:pt x="8" y="7258"/>
                  <a:pt x="5" y="7248"/>
                  <a:pt x="3" y="7239"/>
                </a:cubicBezTo>
                <a:cubicBezTo>
                  <a:pt x="1" y="7230"/>
                  <a:pt x="0" y="7220"/>
                  <a:pt x="0" y="7211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661057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923760" y="3052080"/>
            <a:ext cx="11390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Abandon the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923760" y="3328200"/>
            <a:ext cx="1208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obvious path;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923760" y="3604680"/>
            <a:ext cx="1582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approach from an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923760" y="3880800"/>
            <a:ext cx="1358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unconventional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942840" y="252396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6"/>
                </a:moveTo>
                <a:cubicBezTo>
                  <a:pt x="530" y="283"/>
                  <a:pt x="528" y="300"/>
                  <a:pt x="525" y="317"/>
                </a:cubicBezTo>
                <a:cubicBezTo>
                  <a:pt x="522" y="334"/>
                  <a:pt x="517" y="351"/>
                  <a:pt x="510" y="367"/>
                </a:cubicBezTo>
                <a:cubicBezTo>
                  <a:pt x="503" y="383"/>
                  <a:pt x="495" y="398"/>
                  <a:pt x="485" y="413"/>
                </a:cubicBezTo>
                <a:cubicBezTo>
                  <a:pt x="476" y="427"/>
                  <a:pt x="465" y="440"/>
                  <a:pt x="453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5"/>
                  <a:pt x="383" y="503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8"/>
                  <a:pt x="282" y="530"/>
                  <a:pt x="264" y="530"/>
                </a:cubicBezTo>
                <a:cubicBezTo>
                  <a:pt x="247" y="530"/>
                  <a:pt x="230" y="528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3"/>
                  <a:pt x="132" y="495"/>
                  <a:pt x="117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0"/>
                  <a:pt x="54" y="427"/>
                  <a:pt x="44" y="413"/>
                </a:cubicBezTo>
                <a:cubicBezTo>
                  <a:pt x="35" y="398"/>
                  <a:pt x="27" y="383"/>
                  <a:pt x="20" y="367"/>
                </a:cubicBezTo>
                <a:cubicBezTo>
                  <a:pt x="13" y="351"/>
                  <a:pt x="8" y="334"/>
                  <a:pt x="5" y="317"/>
                </a:cubicBezTo>
                <a:cubicBezTo>
                  <a:pt x="2" y="300"/>
                  <a:pt x="0" y="283"/>
                  <a:pt x="0" y="266"/>
                </a:cubicBezTo>
                <a:cubicBezTo>
                  <a:pt x="0" y="248"/>
                  <a:pt x="2" y="231"/>
                  <a:pt x="5" y="214"/>
                </a:cubicBezTo>
                <a:cubicBezTo>
                  <a:pt x="8" y="197"/>
                  <a:pt x="13" y="180"/>
                  <a:pt x="20" y="164"/>
                </a:cubicBezTo>
                <a:cubicBezTo>
                  <a:pt x="27" y="148"/>
                  <a:pt x="35" y="133"/>
                  <a:pt x="44" y="118"/>
                </a:cubicBezTo>
                <a:cubicBezTo>
                  <a:pt x="54" y="103"/>
                  <a:pt x="65" y="90"/>
                  <a:pt x="77" y="77"/>
                </a:cubicBezTo>
                <a:cubicBezTo>
                  <a:pt x="90" y="65"/>
                  <a:pt x="103" y="54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300" y="2"/>
                  <a:pt x="317" y="5"/>
                </a:cubicBezTo>
                <a:cubicBezTo>
                  <a:pt x="334" y="8"/>
                  <a:pt x="351" y="13"/>
                  <a:pt x="367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4"/>
                  <a:pt x="440" y="65"/>
                  <a:pt x="453" y="77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3"/>
                  <a:pt x="503" y="148"/>
                  <a:pt x="510" y="164"/>
                </a:cubicBezTo>
                <a:cubicBezTo>
                  <a:pt x="517" y="180"/>
                  <a:pt x="522" y="197"/>
                  <a:pt x="525" y="214"/>
                </a:cubicBezTo>
                <a:cubicBezTo>
                  <a:pt x="528" y="231"/>
                  <a:pt x="530" y="248"/>
                  <a:pt x="530" y="266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1037880" y="2581200"/>
            <a:ext cx="360" cy="75960"/>
          </a:xfrm>
          <a:custGeom>
            <a:avLst/>
            <a:gdLst/>
            <a:ahLst/>
            <a:rect l="0" t="0" r="r" b="b"/>
            <a:pathLst>
              <a:path fill="none" w="1" h="211">
                <a:moveTo>
                  <a:pt x="0" y="211"/>
                </a:moveTo>
                <a:lnTo>
                  <a:pt x="0" y="106"/>
                </a:lnTo>
                <a:moveTo>
                  <a:pt x="0" y="0"/>
                </a:moveTo>
                <a:lnTo>
                  <a:pt x="1" y="0"/>
                </a:ln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923760" y="4156920"/>
            <a:ext cx="541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angle.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1203120" y="2369880"/>
            <a:ext cx="807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Lateral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2919240" y="2166840"/>
            <a:ext cx="2048400" cy="2648160"/>
          </a:xfrm>
          <a:custGeom>
            <a:avLst/>
            <a:gdLst/>
            <a:ahLst/>
            <a:rect l="0" t="0" r="r" b="b"/>
            <a:pathLst>
              <a:path w="5690" h="7356">
                <a:moveTo>
                  <a:pt x="0" y="721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5544" y="0"/>
                </a:lnTo>
                <a:cubicBezTo>
                  <a:pt x="5554" y="0"/>
                  <a:pt x="5563" y="1"/>
                  <a:pt x="5572" y="3"/>
                </a:cubicBezTo>
                <a:cubicBezTo>
                  <a:pt x="5582" y="4"/>
                  <a:pt x="5591" y="7"/>
                  <a:pt x="5600" y="11"/>
                </a:cubicBezTo>
                <a:cubicBezTo>
                  <a:pt x="5609" y="15"/>
                  <a:pt x="5617" y="19"/>
                  <a:pt x="5625" y="24"/>
                </a:cubicBezTo>
                <a:cubicBezTo>
                  <a:pt x="5633" y="30"/>
                  <a:pt x="5640" y="36"/>
                  <a:pt x="5647" y="42"/>
                </a:cubicBezTo>
                <a:cubicBezTo>
                  <a:pt x="5654" y="49"/>
                  <a:pt x="5660" y="56"/>
                  <a:pt x="5665" y="64"/>
                </a:cubicBezTo>
                <a:cubicBezTo>
                  <a:pt x="5670" y="72"/>
                  <a:pt x="5675" y="81"/>
                  <a:pt x="5678" y="90"/>
                </a:cubicBezTo>
                <a:cubicBezTo>
                  <a:pt x="5682" y="98"/>
                  <a:pt x="5685" y="108"/>
                  <a:pt x="5687" y="117"/>
                </a:cubicBezTo>
                <a:cubicBezTo>
                  <a:pt x="5689" y="126"/>
                  <a:pt x="5690" y="136"/>
                  <a:pt x="5690" y="145"/>
                </a:cubicBezTo>
                <a:lnTo>
                  <a:pt x="5690" y="7211"/>
                </a:lnTo>
                <a:cubicBezTo>
                  <a:pt x="5690" y="7220"/>
                  <a:pt x="5689" y="7230"/>
                  <a:pt x="5687" y="7239"/>
                </a:cubicBezTo>
                <a:cubicBezTo>
                  <a:pt x="5685" y="7248"/>
                  <a:pt x="5682" y="7258"/>
                  <a:pt x="5678" y="7266"/>
                </a:cubicBezTo>
                <a:cubicBezTo>
                  <a:pt x="5675" y="7275"/>
                  <a:pt x="5670" y="7284"/>
                  <a:pt x="5665" y="7292"/>
                </a:cubicBezTo>
                <a:cubicBezTo>
                  <a:pt x="5660" y="7299"/>
                  <a:pt x="5654" y="7307"/>
                  <a:pt x="5647" y="7314"/>
                </a:cubicBezTo>
                <a:cubicBezTo>
                  <a:pt x="5640" y="7320"/>
                  <a:pt x="5633" y="7326"/>
                  <a:pt x="5625" y="7332"/>
                </a:cubicBezTo>
                <a:cubicBezTo>
                  <a:pt x="5617" y="7337"/>
                  <a:pt x="5609" y="7341"/>
                  <a:pt x="5600" y="7345"/>
                </a:cubicBezTo>
                <a:cubicBezTo>
                  <a:pt x="5591" y="7349"/>
                  <a:pt x="5582" y="7352"/>
                  <a:pt x="5572" y="7353"/>
                </a:cubicBezTo>
                <a:cubicBezTo>
                  <a:pt x="5563" y="7355"/>
                  <a:pt x="5554" y="7356"/>
                  <a:pt x="5544" y="7356"/>
                </a:cubicBezTo>
                <a:lnTo>
                  <a:pt x="145" y="7356"/>
                </a:lnTo>
                <a:cubicBezTo>
                  <a:pt x="136" y="7356"/>
                  <a:pt x="126" y="7355"/>
                  <a:pt x="117" y="7353"/>
                </a:cubicBezTo>
                <a:cubicBezTo>
                  <a:pt x="108" y="7352"/>
                  <a:pt x="99" y="7349"/>
                  <a:pt x="90" y="7345"/>
                </a:cubicBezTo>
                <a:cubicBezTo>
                  <a:pt x="81" y="7341"/>
                  <a:pt x="73" y="7337"/>
                  <a:pt x="65" y="7332"/>
                </a:cubicBezTo>
                <a:cubicBezTo>
                  <a:pt x="57" y="7326"/>
                  <a:pt x="49" y="7320"/>
                  <a:pt x="43" y="7314"/>
                </a:cubicBezTo>
                <a:cubicBezTo>
                  <a:pt x="36" y="7307"/>
                  <a:pt x="30" y="7299"/>
                  <a:pt x="25" y="7292"/>
                </a:cubicBezTo>
                <a:cubicBezTo>
                  <a:pt x="19" y="7284"/>
                  <a:pt x="15" y="7275"/>
                  <a:pt x="11" y="7266"/>
                </a:cubicBezTo>
                <a:cubicBezTo>
                  <a:pt x="7" y="7258"/>
                  <a:pt x="5" y="7248"/>
                  <a:pt x="3" y="7239"/>
                </a:cubicBezTo>
                <a:cubicBezTo>
                  <a:pt x="1" y="7230"/>
                  <a:pt x="0" y="7220"/>
                  <a:pt x="0" y="7211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2919240" y="2166840"/>
            <a:ext cx="2048400" cy="2648160"/>
          </a:xfrm>
          <a:custGeom>
            <a:avLst/>
            <a:gdLst/>
            <a:ahLst/>
            <a:rect l="0" t="0" r="r" b="b"/>
            <a:pathLst>
              <a:path fill="none" w="5690" h="7356">
                <a:moveTo>
                  <a:pt x="0" y="721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5544" y="0"/>
                </a:lnTo>
                <a:cubicBezTo>
                  <a:pt x="5554" y="0"/>
                  <a:pt x="5563" y="1"/>
                  <a:pt x="5572" y="3"/>
                </a:cubicBezTo>
                <a:cubicBezTo>
                  <a:pt x="5582" y="4"/>
                  <a:pt x="5591" y="7"/>
                  <a:pt x="5600" y="11"/>
                </a:cubicBezTo>
                <a:cubicBezTo>
                  <a:pt x="5609" y="15"/>
                  <a:pt x="5617" y="19"/>
                  <a:pt x="5625" y="24"/>
                </a:cubicBezTo>
                <a:cubicBezTo>
                  <a:pt x="5633" y="30"/>
                  <a:pt x="5640" y="36"/>
                  <a:pt x="5647" y="42"/>
                </a:cubicBezTo>
                <a:cubicBezTo>
                  <a:pt x="5654" y="49"/>
                  <a:pt x="5660" y="56"/>
                  <a:pt x="5665" y="64"/>
                </a:cubicBezTo>
                <a:cubicBezTo>
                  <a:pt x="5670" y="72"/>
                  <a:pt x="5675" y="81"/>
                  <a:pt x="5678" y="90"/>
                </a:cubicBezTo>
                <a:cubicBezTo>
                  <a:pt x="5682" y="98"/>
                  <a:pt x="5685" y="108"/>
                  <a:pt x="5687" y="117"/>
                </a:cubicBezTo>
                <a:cubicBezTo>
                  <a:pt x="5689" y="126"/>
                  <a:pt x="5690" y="136"/>
                  <a:pt x="5690" y="145"/>
                </a:cubicBezTo>
                <a:lnTo>
                  <a:pt x="5690" y="7211"/>
                </a:lnTo>
                <a:cubicBezTo>
                  <a:pt x="5690" y="7220"/>
                  <a:pt x="5689" y="7230"/>
                  <a:pt x="5687" y="7239"/>
                </a:cubicBezTo>
                <a:cubicBezTo>
                  <a:pt x="5685" y="7248"/>
                  <a:pt x="5682" y="7258"/>
                  <a:pt x="5678" y="7266"/>
                </a:cubicBezTo>
                <a:cubicBezTo>
                  <a:pt x="5675" y="7275"/>
                  <a:pt x="5670" y="7284"/>
                  <a:pt x="5665" y="7292"/>
                </a:cubicBezTo>
                <a:cubicBezTo>
                  <a:pt x="5660" y="7299"/>
                  <a:pt x="5654" y="7307"/>
                  <a:pt x="5647" y="7314"/>
                </a:cubicBezTo>
                <a:cubicBezTo>
                  <a:pt x="5640" y="7320"/>
                  <a:pt x="5633" y="7326"/>
                  <a:pt x="5625" y="7332"/>
                </a:cubicBezTo>
                <a:cubicBezTo>
                  <a:pt x="5617" y="7337"/>
                  <a:pt x="5609" y="7341"/>
                  <a:pt x="5600" y="7345"/>
                </a:cubicBezTo>
                <a:cubicBezTo>
                  <a:pt x="5591" y="7349"/>
                  <a:pt x="5582" y="7352"/>
                  <a:pt x="5572" y="7353"/>
                </a:cubicBezTo>
                <a:cubicBezTo>
                  <a:pt x="5563" y="7355"/>
                  <a:pt x="5554" y="7356"/>
                  <a:pt x="5544" y="7356"/>
                </a:cubicBezTo>
                <a:lnTo>
                  <a:pt x="145" y="7356"/>
                </a:lnTo>
                <a:cubicBezTo>
                  <a:pt x="136" y="7356"/>
                  <a:pt x="126" y="7355"/>
                  <a:pt x="117" y="7353"/>
                </a:cubicBezTo>
                <a:cubicBezTo>
                  <a:pt x="108" y="7352"/>
                  <a:pt x="99" y="7349"/>
                  <a:pt x="90" y="7345"/>
                </a:cubicBezTo>
                <a:cubicBezTo>
                  <a:pt x="81" y="7341"/>
                  <a:pt x="73" y="7337"/>
                  <a:pt x="65" y="7332"/>
                </a:cubicBezTo>
                <a:cubicBezTo>
                  <a:pt x="57" y="7326"/>
                  <a:pt x="49" y="7320"/>
                  <a:pt x="43" y="7314"/>
                </a:cubicBezTo>
                <a:cubicBezTo>
                  <a:pt x="36" y="7307"/>
                  <a:pt x="30" y="7299"/>
                  <a:pt x="25" y="7292"/>
                </a:cubicBezTo>
                <a:cubicBezTo>
                  <a:pt x="19" y="7284"/>
                  <a:pt x="15" y="7275"/>
                  <a:pt x="11" y="7266"/>
                </a:cubicBezTo>
                <a:cubicBezTo>
                  <a:pt x="7" y="7258"/>
                  <a:pt x="5" y="7248"/>
                  <a:pt x="3" y="7239"/>
                </a:cubicBezTo>
                <a:cubicBezTo>
                  <a:pt x="1" y="7230"/>
                  <a:pt x="0" y="7220"/>
                  <a:pt x="0" y="7211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1203120" y="2655360"/>
            <a:ext cx="1053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Thinking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3076560" y="3052080"/>
            <a:ext cx="904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Strengths,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3076560" y="3328200"/>
            <a:ext cx="1121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Weaknesses,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3076560" y="3604680"/>
            <a:ext cx="1282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Opportunities,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3076560" y="3880800"/>
            <a:ext cx="1600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Threats — a four-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3076560" y="4156920"/>
            <a:ext cx="1277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angle decision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3095280" y="2523960"/>
            <a:ext cx="191160" cy="190800"/>
          </a:xfrm>
          <a:custGeom>
            <a:avLst/>
            <a:gdLst/>
            <a:ahLst/>
            <a:rect l="0" t="0" r="r" b="b"/>
            <a:pathLst>
              <a:path fill="none" w="531" h="530">
                <a:moveTo>
                  <a:pt x="531" y="266"/>
                </a:moveTo>
                <a:cubicBezTo>
                  <a:pt x="531" y="283"/>
                  <a:pt x="529" y="300"/>
                  <a:pt x="526" y="317"/>
                </a:cubicBezTo>
                <a:cubicBezTo>
                  <a:pt x="522" y="334"/>
                  <a:pt x="517" y="351"/>
                  <a:pt x="510" y="367"/>
                </a:cubicBezTo>
                <a:cubicBezTo>
                  <a:pt x="504" y="383"/>
                  <a:pt x="496" y="398"/>
                  <a:pt x="486" y="413"/>
                </a:cubicBezTo>
                <a:cubicBezTo>
                  <a:pt x="476" y="427"/>
                  <a:pt x="465" y="440"/>
                  <a:pt x="453" y="453"/>
                </a:cubicBezTo>
                <a:cubicBezTo>
                  <a:pt x="441" y="465"/>
                  <a:pt x="427" y="476"/>
                  <a:pt x="413" y="486"/>
                </a:cubicBezTo>
                <a:cubicBezTo>
                  <a:pt x="399" y="495"/>
                  <a:pt x="383" y="503"/>
                  <a:pt x="367" y="510"/>
                </a:cubicBezTo>
                <a:cubicBezTo>
                  <a:pt x="351" y="517"/>
                  <a:pt x="335" y="522"/>
                  <a:pt x="318" y="525"/>
                </a:cubicBezTo>
                <a:cubicBezTo>
                  <a:pt x="301" y="528"/>
                  <a:pt x="283" y="530"/>
                  <a:pt x="266" y="530"/>
                </a:cubicBezTo>
                <a:cubicBezTo>
                  <a:pt x="249" y="530"/>
                  <a:pt x="231" y="528"/>
                  <a:pt x="214" y="525"/>
                </a:cubicBezTo>
                <a:cubicBezTo>
                  <a:pt x="197" y="522"/>
                  <a:pt x="181" y="517"/>
                  <a:pt x="165" y="510"/>
                </a:cubicBezTo>
                <a:cubicBezTo>
                  <a:pt x="149" y="503"/>
                  <a:pt x="133" y="495"/>
                  <a:pt x="118" y="486"/>
                </a:cubicBezTo>
                <a:cubicBezTo>
                  <a:pt x="104" y="476"/>
                  <a:pt x="90" y="465"/>
                  <a:pt x="78" y="453"/>
                </a:cubicBezTo>
                <a:cubicBezTo>
                  <a:pt x="66" y="440"/>
                  <a:pt x="55" y="427"/>
                  <a:pt x="45" y="413"/>
                </a:cubicBezTo>
                <a:cubicBezTo>
                  <a:pt x="35" y="398"/>
                  <a:pt x="27" y="383"/>
                  <a:pt x="21" y="367"/>
                </a:cubicBezTo>
                <a:cubicBezTo>
                  <a:pt x="14" y="351"/>
                  <a:pt x="9" y="334"/>
                  <a:pt x="6" y="317"/>
                </a:cubicBezTo>
                <a:cubicBezTo>
                  <a:pt x="2" y="300"/>
                  <a:pt x="0" y="283"/>
                  <a:pt x="0" y="266"/>
                </a:cubicBezTo>
                <a:cubicBezTo>
                  <a:pt x="0" y="248"/>
                  <a:pt x="2" y="231"/>
                  <a:pt x="6" y="214"/>
                </a:cubicBezTo>
                <a:cubicBezTo>
                  <a:pt x="9" y="197"/>
                  <a:pt x="14" y="180"/>
                  <a:pt x="21" y="164"/>
                </a:cubicBezTo>
                <a:cubicBezTo>
                  <a:pt x="27" y="148"/>
                  <a:pt x="35" y="133"/>
                  <a:pt x="45" y="118"/>
                </a:cubicBezTo>
                <a:cubicBezTo>
                  <a:pt x="55" y="103"/>
                  <a:pt x="66" y="90"/>
                  <a:pt x="78" y="77"/>
                </a:cubicBezTo>
                <a:cubicBezTo>
                  <a:pt x="90" y="65"/>
                  <a:pt x="104" y="54"/>
                  <a:pt x="118" y="45"/>
                </a:cubicBezTo>
                <a:cubicBezTo>
                  <a:pt x="133" y="35"/>
                  <a:pt x="149" y="27"/>
                  <a:pt x="165" y="20"/>
                </a:cubicBezTo>
                <a:cubicBezTo>
                  <a:pt x="181" y="13"/>
                  <a:pt x="197" y="8"/>
                  <a:pt x="214" y="5"/>
                </a:cubicBezTo>
                <a:cubicBezTo>
                  <a:pt x="231" y="2"/>
                  <a:pt x="249" y="0"/>
                  <a:pt x="266" y="0"/>
                </a:cubicBezTo>
                <a:cubicBezTo>
                  <a:pt x="283" y="0"/>
                  <a:pt x="301" y="2"/>
                  <a:pt x="318" y="5"/>
                </a:cubicBezTo>
                <a:cubicBezTo>
                  <a:pt x="335" y="8"/>
                  <a:pt x="351" y="13"/>
                  <a:pt x="367" y="20"/>
                </a:cubicBezTo>
                <a:cubicBezTo>
                  <a:pt x="383" y="27"/>
                  <a:pt x="399" y="35"/>
                  <a:pt x="413" y="45"/>
                </a:cubicBezTo>
                <a:cubicBezTo>
                  <a:pt x="427" y="54"/>
                  <a:pt x="441" y="65"/>
                  <a:pt x="453" y="77"/>
                </a:cubicBezTo>
                <a:cubicBezTo>
                  <a:pt x="465" y="90"/>
                  <a:pt x="476" y="103"/>
                  <a:pt x="486" y="118"/>
                </a:cubicBezTo>
                <a:cubicBezTo>
                  <a:pt x="496" y="133"/>
                  <a:pt x="504" y="148"/>
                  <a:pt x="510" y="164"/>
                </a:cubicBezTo>
                <a:cubicBezTo>
                  <a:pt x="517" y="180"/>
                  <a:pt x="522" y="197"/>
                  <a:pt x="526" y="214"/>
                </a:cubicBezTo>
                <a:cubicBezTo>
                  <a:pt x="529" y="231"/>
                  <a:pt x="531" y="248"/>
                  <a:pt x="531" y="266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3190680" y="2581200"/>
            <a:ext cx="0" cy="75960"/>
          </a:xfrm>
          <a:custGeom>
            <a:avLst/>
            <a:gdLst/>
            <a:ahLst/>
            <a:rect l="0" t="0" r="r" b="b"/>
            <a:pathLst>
              <a:path fill="none" w="0" h="211">
                <a:moveTo>
                  <a:pt x="0" y="211"/>
                </a:moveTo>
                <a:lnTo>
                  <a:pt x="0" y="106"/>
                </a:lnTo>
                <a:moveTo>
                  <a:pt x="0" y="0"/>
                </a:move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3076560" y="4423680"/>
            <a:ext cx="1009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framework.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3355920" y="2369880"/>
            <a:ext cx="684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SWOT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5072040" y="2166840"/>
            <a:ext cx="2048040" cy="2648160"/>
          </a:xfrm>
          <a:custGeom>
            <a:avLst/>
            <a:gdLst/>
            <a:ahLst/>
            <a:rect l="0" t="0" r="r" b="b"/>
            <a:pathLst>
              <a:path w="5689" h="7356">
                <a:moveTo>
                  <a:pt x="0" y="7211"/>
                </a:moveTo>
                <a:lnTo>
                  <a:pt x="0" y="145"/>
                </a:lnTo>
                <a:cubicBezTo>
                  <a:pt x="0" y="136"/>
                  <a:pt x="0" y="126"/>
                  <a:pt x="2" y="117"/>
                </a:cubicBezTo>
                <a:cubicBezTo>
                  <a:pt x="4" y="108"/>
                  <a:pt x="7" y="98"/>
                  <a:pt x="11" y="90"/>
                </a:cubicBezTo>
                <a:cubicBezTo>
                  <a:pt x="14" y="81"/>
                  <a:pt x="19" y="72"/>
                  <a:pt x="24" y="64"/>
                </a:cubicBezTo>
                <a:cubicBezTo>
                  <a:pt x="29" y="56"/>
                  <a:pt x="35" y="49"/>
                  <a:pt x="42" y="42"/>
                </a:cubicBezTo>
                <a:cubicBezTo>
                  <a:pt x="49" y="36"/>
                  <a:pt x="56" y="30"/>
                  <a:pt x="64" y="24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7"/>
                  <a:pt x="107" y="4"/>
                  <a:pt x="117" y="3"/>
                </a:cubicBezTo>
                <a:cubicBezTo>
                  <a:pt x="126" y="1"/>
                  <a:pt x="137" y="0"/>
                  <a:pt x="146" y="0"/>
                </a:cubicBezTo>
                <a:lnTo>
                  <a:pt x="5544" y="0"/>
                </a:lnTo>
                <a:cubicBezTo>
                  <a:pt x="5553" y="0"/>
                  <a:pt x="5563" y="1"/>
                  <a:pt x="5572" y="3"/>
                </a:cubicBezTo>
                <a:cubicBezTo>
                  <a:pt x="5581" y="4"/>
                  <a:pt x="5590" y="7"/>
                  <a:pt x="5599" y="11"/>
                </a:cubicBezTo>
                <a:cubicBezTo>
                  <a:pt x="5608" y="15"/>
                  <a:pt x="5616" y="19"/>
                  <a:pt x="5624" y="24"/>
                </a:cubicBezTo>
                <a:cubicBezTo>
                  <a:pt x="5632" y="30"/>
                  <a:pt x="5640" y="36"/>
                  <a:pt x="5646" y="42"/>
                </a:cubicBezTo>
                <a:cubicBezTo>
                  <a:pt x="5653" y="49"/>
                  <a:pt x="5659" y="56"/>
                  <a:pt x="5665" y="64"/>
                </a:cubicBezTo>
                <a:cubicBezTo>
                  <a:pt x="5670" y="72"/>
                  <a:pt x="5674" y="81"/>
                  <a:pt x="5678" y="90"/>
                </a:cubicBezTo>
                <a:cubicBezTo>
                  <a:pt x="5682" y="98"/>
                  <a:pt x="5684" y="108"/>
                  <a:pt x="5686" y="117"/>
                </a:cubicBezTo>
                <a:cubicBezTo>
                  <a:pt x="5688" y="126"/>
                  <a:pt x="5689" y="136"/>
                  <a:pt x="5689" y="145"/>
                </a:cubicBezTo>
                <a:lnTo>
                  <a:pt x="5689" y="7211"/>
                </a:lnTo>
                <a:cubicBezTo>
                  <a:pt x="5689" y="7220"/>
                  <a:pt x="5688" y="7230"/>
                  <a:pt x="5686" y="7239"/>
                </a:cubicBezTo>
                <a:cubicBezTo>
                  <a:pt x="5684" y="7248"/>
                  <a:pt x="5682" y="7258"/>
                  <a:pt x="5678" y="7266"/>
                </a:cubicBezTo>
                <a:cubicBezTo>
                  <a:pt x="5674" y="7275"/>
                  <a:pt x="5670" y="7284"/>
                  <a:pt x="5665" y="7292"/>
                </a:cubicBezTo>
                <a:cubicBezTo>
                  <a:pt x="5659" y="7299"/>
                  <a:pt x="5653" y="7307"/>
                  <a:pt x="5646" y="7314"/>
                </a:cubicBezTo>
                <a:cubicBezTo>
                  <a:pt x="5640" y="7320"/>
                  <a:pt x="5632" y="7326"/>
                  <a:pt x="5624" y="7332"/>
                </a:cubicBezTo>
                <a:cubicBezTo>
                  <a:pt x="5616" y="7337"/>
                  <a:pt x="5608" y="7341"/>
                  <a:pt x="5599" y="7345"/>
                </a:cubicBezTo>
                <a:cubicBezTo>
                  <a:pt x="5590" y="7349"/>
                  <a:pt x="5581" y="7352"/>
                  <a:pt x="5572" y="7353"/>
                </a:cubicBezTo>
                <a:cubicBezTo>
                  <a:pt x="5563" y="7355"/>
                  <a:pt x="5553" y="7356"/>
                  <a:pt x="5544" y="7356"/>
                </a:cubicBezTo>
                <a:lnTo>
                  <a:pt x="146" y="7356"/>
                </a:lnTo>
                <a:cubicBezTo>
                  <a:pt x="137" y="7356"/>
                  <a:pt x="126" y="7355"/>
                  <a:pt x="117" y="7353"/>
                </a:cubicBezTo>
                <a:cubicBezTo>
                  <a:pt x="107" y="7352"/>
                  <a:pt x="98" y="7349"/>
                  <a:pt x="89" y="7345"/>
                </a:cubicBezTo>
                <a:cubicBezTo>
                  <a:pt x="81" y="7341"/>
                  <a:pt x="72" y="7337"/>
                  <a:pt x="64" y="7332"/>
                </a:cubicBezTo>
                <a:cubicBezTo>
                  <a:pt x="56" y="7326"/>
                  <a:pt x="49" y="7320"/>
                  <a:pt x="42" y="7314"/>
                </a:cubicBezTo>
                <a:cubicBezTo>
                  <a:pt x="35" y="7307"/>
                  <a:pt x="29" y="7299"/>
                  <a:pt x="24" y="7292"/>
                </a:cubicBezTo>
                <a:cubicBezTo>
                  <a:pt x="19" y="7284"/>
                  <a:pt x="14" y="7275"/>
                  <a:pt x="11" y="7266"/>
                </a:cubicBezTo>
                <a:cubicBezTo>
                  <a:pt x="7" y="7258"/>
                  <a:pt x="4" y="7248"/>
                  <a:pt x="2" y="7239"/>
                </a:cubicBezTo>
                <a:cubicBezTo>
                  <a:pt x="0" y="7230"/>
                  <a:pt x="0" y="7220"/>
                  <a:pt x="0" y="7211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5072040" y="2166840"/>
            <a:ext cx="2048040" cy="2648160"/>
          </a:xfrm>
          <a:custGeom>
            <a:avLst/>
            <a:gdLst/>
            <a:ahLst/>
            <a:rect l="0" t="0" r="r" b="b"/>
            <a:pathLst>
              <a:path fill="none" w="5689" h="7356">
                <a:moveTo>
                  <a:pt x="0" y="7211"/>
                </a:moveTo>
                <a:lnTo>
                  <a:pt x="0" y="145"/>
                </a:lnTo>
                <a:cubicBezTo>
                  <a:pt x="0" y="136"/>
                  <a:pt x="0" y="126"/>
                  <a:pt x="2" y="117"/>
                </a:cubicBezTo>
                <a:cubicBezTo>
                  <a:pt x="4" y="108"/>
                  <a:pt x="7" y="98"/>
                  <a:pt x="11" y="90"/>
                </a:cubicBezTo>
                <a:cubicBezTo>
                  <a:pt x="14" y="81"/>
                  <a:pt x="19" y="72"/>
                  <a:pt x="24" y="64"/>
                </a:cubicBezTo>
                <a:cubicBezTo>
                  <a:pt x="29" y="56"/>
                  <a:pt x="35" y="49"/>
                  <a:pt x="42" y="42"/>
                </a:cubicBezTo>
                <a:cubicBezTo>
                  <a:pt x="49" y="36"/>
                  <a:pt x="56" y="30"/>
                  <a:pt x="64" y="24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7"/>
                  <a:pt x="107" y="4"/>
                  <a:pt x="117" y="3"/>
                </a:cubicBezTo>
                <a:cubicBezTo>
                  <a:pt x="126" y="1"/>
                  <a:pt x="137" y="0"/>
                  <a:pt x="146" y="0"/>
                </a:cubicBezTo>
                <a:lnTo>
                  <a:pt x="5544" y="0"/>
                </a:lnTo>
                <a:cubicBezTo>
                  <a:pt x="5553" y="0"/>
                  <a:pt x="5563" y="1"/>
                  <a:pt x="5572" y="3"/>
                </a:cubicBezTo>
                <a:cubicBezTo>
                  <a:pt x="5581" y="4"/>
                  <a:pt x="5590" y="7"/>
                  <a:pt x="5599" y="11"/>
                </a:cubicBezTo>
                <a:cubicBezTo>
                  <a:pt x="5608" y="15"/>
                  <a:pt x="5616" y="19"/>
                  <a:pt x="5624" y="24"/>
                </a:cubicBezTo>
                <a:cubicBezTo>
                  <a:pt x="5632" y="30"/>
                  <a:pt x="5640" y="36"/>
                  <a:pt x="5646" y="42"/>
                </a:cubicBezTo>
                <a:cubicBezTo>
                  <a:pt x="5653" y="49"/>
                  <a:pt x="5659" y="56"/>
                  <a:pt x="5665" y="64"/>
                </a:cubicBezTo>
                <a:cubicBezTo>
                  <a:pt x="5670" y="72"/>
                  <a:pt x="5674" y="81"/>
                  <a:pt x="5678" y="90"/>
                </a:cubicBezTo>
                <a:cubicBezTo>
                  <a:pt x="5682" y="98"/>
                  <a:pt x="5684" y="108"/>
                  <a:pt x="5686" y="117"/>
                </a:cubicBezTo>
                <a:cubicBezTo>
                  <a:pt x="5688" y="126"/>
                  <a:pt x="5689" y="136"/>
                  <a:pt x="5689" y="145"/>
                </a:cubicBezTo>
                <a:lnTo>
                  <a:pt x="5689" y="7211"/>
                </a:lnTo>
                <a:cubicBezTo>
                  <a:pt x="5689" y="7220"/>
                  <a:pt x="5688" y="7230"/>
                  <a:pt x="5686" y="7239"/>
                </a:cubicBezTo>
                <a:cubicBezTo>
                  <a:pt x="5684" y="7248"/>
                  <a:pt x="5682" y="7258"/>
                  <a:pt x="5678" y="7266"/>
                </a:cubicBezTo>
                <a:cubicBezTo>
                  <a:pt x="5674" y="7275"/>
                  <a:pt x="5670" y="7284"/>
                  <a:pt x="5665" y="7292"/>
                </a:cubicBezTo>
                <a:cubicBezTo>
                  <a:pt x="5659" y="7299"/>
                  <a:pt x="5653" y="7307"/>
                  <a:pt x="5646" y="7314"/>
                </a:cubicBezTo>
                <a:cubicBezTo>
                  <a:pt x="5640" y="7320"/>
                  <a:pt x="5632" y="7326"/>
                  <a:pt x="5624" y="7332"/>
                </a:cubicBezTo>
                <a:cubicBezTo>
                  <a:pt x="5616" y="7337"/>
                  <a:pt x="5608" y="7341"/>
                  <a:pt x="5599" y="7345"/>
                </a:cubicBezTo>
                <a:cubicBezTo>
                  <a:pt x="5590" y="7349"/>
                  <a:pt x="5581" y="7352"/>
                  <a:pt x="5572" y="7353"/>
                </a:cubicBezTo>
                <a:cubicBezTo>
                  <a:pt x="5563" y="7355"/>
                  <a:pt x="5553" y="7356"/>
                  <a:pt x="5544" y="7356"/>
                </a:cubicBezTo>
                <a:lnTo>
                  <a:pt x="146" y="7356"/>
                </a:lnTo>
                <a:cubicBezTo>
                  <a:pt x="137" y="7356"/>
                  <a:pt x="126" y="7355"/>
                  <a:pt x="117" y="7353"/>
                </a:cubicBezTo>
                <a:cubicBezTo>
                  <a:pt x="107" y="7352"/>
                  <a:pt x="98" y="7349"/>
                  <a:pt x="89" y="7345"/>
                </a:cubicBezTo>
                <a:cubicBezTo>
                  <a:pt x="81" y="7341"/>
                  <a:pt x="72" y="7337"/>
                  <a:pt x="64" y="7332"/>
                </a:cubicBezTo>
                <a:cubicBezTo>
                  <a:pt x="56" y="7326"/>
                  <a:pt x="49" y="7320"/>
                  <a:pt x="42" y="7314"/>
                </a:cubicBezTo>
                <a:cubicBezTo>
                  <a:pt x="35" y="7307"/>
                  <a:pt x="29" y="7299"/>
                  <a:pt x="24" y="7292"/>
                </a:cubicBezTo>
                <a:cubicBezTo>
                  <a:pt x="19" y="7284"/>
                  <a:pt x="14" y="7275"/>
                  <a:pt x="11" y="7266"/>
                </a:cubicBezTo>
                <a:cubicBezTo>
                  <a:pt x="7" y="7258"/>
                  <a:pt x="4" y="7248"/>
                  <a:pt x="2" y="7239"/>
                </a:cubicBezTo>
                <a:cubicBezTo>
                  <a:pt x="0" y="7230"/>
                  <a:pt x="0" y="7220"/>
                  <a:pt x="0" y="7211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3355920" y="2655360"/>
            <a:ext cx="993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Analysis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5229360" y="3052080"/>
            <a:ext cx="1620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Visual map from a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5229360" y="3328200"/>
            <a:ext cx="1093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central idea,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5229360" y="3604680"/>
            <a:ext cx="1297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branching into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5229360" y="3880800"/>
            <a:ext cx="1409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topics and sub-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5248080" y="252396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6"/>
                </a:moveTo>
                <a:cubicBezTo>
                  <a:pt x="530" y="283"/>
                  <a:pt x="529" y="300"/>
                  <a:pt x="525" y="317"/>
                </a:cubicBezTo>
                <a:cubicBezTo>
                  <a:pt x="522" y="334"/>
                  <a:pt x="517" y="351"/>
                  <a:pt x="510" y="367"/>
                </a:cubicBezTo>
                <a:cubicBezTo>
                  <a:pt x="503" y="383"/>
                  <a:pt x="494" y="398"/>
                  <a:pt x="485" y="413"/>
                </a:cubicBezTo>
                <a:cubicBezTo>
                  <a:pt x="475" y="427"/>
                  <a:pt x="464" y="440"/>
                  <a:pt x="452" y="453"/>
                </a:cubicBezTo>
                <a:cubicBezTo>
                  <a:pt x="439" y="465"/>
                  <a:pt x="426" y="476"/>
                  <a:pt x="412" y="486"/>
                </a:cubicBezTo>
                <a:cubicBezTo>
                  <a:pt x="397" y="495"/>
                  <a:pt x="382" y="503"/>
                  <a:pt x="366" y="510"/>
                </a:cubicBezTo>
                <a:cubicBezTo>
                  <a:pt x="350" y="517"/>
                  <a:pt x="333" y="522"/>
                  <a:pt x="316" y="525"/>
                </a:cubicBezTo>
                <a:cubicBezTo>
                  <a:pt x="299" y="528"/>
                  <a:pt x="282" y="530"/>
                  <a:pt x="265" y="530"/>
                </a:cubicBezTo>
                <a:cubicBezTo>
                  <a:pt x="247" y="530"/>
                  <a:pt x="230" y="528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3"/>
                  <a:pt x="132" y="495"/>
                  <a:pt x="118" y="486"/>
                </a:cubicBezTo>
                <a:cubicBezTo>
                  <a:pt x="103" y="476"/>
                  <a:pt x="90" y="465"/>
                  <a:pt x="78" y="453"/>
                </a:cubicBezTo>
                <a:cubicBezTo>
                  <a:pt x="65" y="440"/>
                  <a:pt x="54" y="427"/>
                  <a:pt x="45" y="413"/>
                </a:cubicBezTo>
                <a:cubicBezTo>
                  <a:pt x="35" y="398"/>
                  <a:pt x="27" y="383"/>
                  <a:pt x="20" y="367"/>
                </a:cubicBezTo>
                <a:cubicBezTo>
                  <a:pt x="14" y="351"/>
                  <a:pt x="9" y="334"/>
                  <a:pt x="5" y="317"/>
                </a:cubicBezTo>
                <a:cubicBezTo>
                  <a:pt x="2" y="300"/>
                  <a:pt x="0" y="283"/>
                  <a:pt x="0" y="266"/>
                </a:cubicBezTo>
                <a:cubicBezTo>
                  <a:pt x="0" y="248"/>
                  <a:pt x="2" y="231"/>
                  <a:pt x="5" y="214"/>
                </a:cubicBezTo>
                <a:cubicBezTo>
                  <a:pt x="9" y="197"/>
                  <a:pt x="14" y="180"/>
                  <a:pt x="20" y="164"/>
                </a:cubicBezTo>
                <a:cubicBezTo>
                  <a:pt x="27" y="148"/>
                  <a:pt x="35" y="133"/>
                  <a:pt x="45" y="118"/>
                </a:cubicBezTo>
                <a:cubicBezTo>
                  <a:pt x="54" y="103"/>
                  <a:pt x="65" y="90"/>
                  <a:pt x="78" y="77"/>
                </a:cubicBezTo>
                <a:cubicBezTo>
                  <a:pt x="90" y="65"/>
                  <a:pt x="103" y="54"/>
                  <a:pt x="118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2"/>
                  <a:pt x="247" y="0"/>
                  <a:pt x="265" y="0"/>
                </a:cubicBezTo>
                <a:cubicBezTo>
                  <a:pt x="282" y="0"/>
                  <a:pt x="299" y="2"/>
                  <a:pt x="316" y="5"/>
                </a:cubicBezTo>
                <a:cubicBezTo>
                  <a:pt x="333" y="8"/>
                  <a:pt x="350" y="13"/>
                  <a:pt x="366" y="20"/>
                </a:cubicBezTo>
                <a:cubicBezTo>
                  <a:pt x="382" y="27"/>
                  <a:pt x="397" y="35"/>
                  <a:pt x="412" y="45"/>
                </a:cubicBezTo>
                <a:cubicBezTo>
                  <a:pt x="426" y="54"/>
                  <a:pt x="439" y="65"/>
                  <a:pt x="452" y="77"/>
                </a:cubicBezTo>
                <a:cubicBezTo>
                  <a:pt x="464" y="90"/>
                  <a:pt x="475" y="103"/>
                  <a:pt x="485" y="118"/>
                </a:cubicBezTo>
                <a:cubicBezTo>
                  <a:pt x="494" y="133"/>
                  <a:pt x="503" y="148"/>
                  <a:pt x="510" y="164"/>
                </a:cubicBezTo>
                <a:cubicBezTo>
                  <a:pt x="517" y="180"/>
                  <a:pt x="522" y="197"/>
                  <a:pt x="525" y="214"/>
                </a:cubicBezTo>
                <a:cubicBezTo>
                  <a:pt x="529" y="231"/>
                  <a:pt x="530" y="248"/>
                  <a:pt x="530" y="266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5343480" y="2581200"/>
            <a:ext cx="0" cy="75960"/>
          </a:xfrm>
          <a:custGeom>
            <a:avLst/>
            <a:gdLst/>
            <a:ahLst/>
            <a:rect l="0" t="0" r="r" b="b"/>
            <a:pathLst>
              <a:path fill="none" w="0" h="211">
                <a:moveTo>
                  <a:pt x="0" y="211"/>
                </a:moveTo>
                <a:lnTo>
                  <a:pt x="0" y="106"/>
                </a:lnTo>
                <a:moveTo>
                  <a:pt x="0" y="0"/>
                </a:move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5229360" y="4156920"/>
            <a:ext cx="594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topics.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5508720" y="2369880"/>
            <a:ext cx="584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Mind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7224480" y="2166840"/>
            <a:ext cx="2048400" cy="2648160"/>
          </a:xfrm>
          <a:custGeom>
            <a:avLst/>
            <a:gdLst/>
            <a:ahLst/>
            <a:rect l="0" t="0" r="r" b="b"/>
            <a:pathLst>
              <a:path w="5690" h="7356">
                <a:moveTo>
                  <a:pt x="0" y="721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5544" y="0"/>
                </a:lnTo>
                <a:cubicBezTo>
                  <a:pt x="5554" y="0"/>
                  <a:pt x="5563" y="1"/>
                  <a:pt x="5573" y="3"/>
                </a:cubicBezTo>
                <a:cubicBezTo>
                  <a:pt x="5582" y="4"/>
                  <a:pt x="5591" y="7"/>
                  <a:pt x="5600" y="11"/>
                </a:cubicBezTo>
                <a:cubicBezTo>
                  <a:pt x="5609" y="15"/>
                  <a:pt x="5617" y="19"/>
                  <a:pt x="5625" y="24"/>
                </a:cubicBezTo>
                <a:cubicBezTo>
                  <a:pt x="5633" y="30"/>
                  <a:pt x="5640" y="36"/>
                  <a:pt x="5647" y="42"/>
                </a:cubicBezTo>
                <a:cubicBezTo>
                  <a:pt x="5654" y="49"/>
                  <a:pt x="5660" y="56"/>
                  <a:pt x="5665" y="64"/>
                </a:cubicBezTo>
                <a:cubicBezTo>
                  <a:pt x="5670" y="72"/>
                  <a:pt x="5675" y="81"/>
                  <a:pt x="5679" y="90"/>
                </a:cubicBezTo>
                <a:cubicBezTo>
                  <a:pt x="5682" y="98"/>
                  <a:pt x="5685" y="108"/>
                  <a:pt x="5687" y="117"/>
                </a:cubicBezTo>
                <a:cubicBezTo>
                  <a:pt x="5689" y="126"/>
                  <a:pt x="5690" y="136"/>
                  <a:pt x="5690" y="145"/>
                </a:cubicBezTo>
                <a:lnTo>
                  <a:pt x="5690" y="7211"/>
                </a:lnTo>
                <a:cubicBezTo>
                  <a:pt x="5690" y="7220"/>
                  <a:pt x="5689" y="7230"/>
                  <a:pt x="5687" y="7239"/>
                </a:cubicBezTo>
                <a:cubicBezTo>
                  <a:pt x="5685" y="7248"/>
                  <a:pt x="5682" y="7258"/>
                  <a:pt x="5679" y="7266"/>
                </a:cubicBezTo>
                <a:cubicBezTo>
                  <a:pt x="5675" y="7275"/>
                  <a:pt x="5670" y="7284"/>
                  <a:pt x="5665" y="7292"/>
                </a:cubicBezTo>
                <a:cubicBezTo>
                  <a:pt x="5660" y="7299"/>
                  <a:pt x="5654" y="7307"/>
                  <a:pt x="5647" y="7314"/>
                </a:cubicBezTo>
                <a:cubicBezTo>
                  <a:pt x="5640" y="7320"/>
                  <a:pt x="5633" y="7326"/>
                  <a:pt x="5625" y="7332"/>
                </a:cubicBezTo>
                <a:cubicBezTo>
                  <a:pt x="5617" y="7337"/>
                  <a:pt x="5609" y="7341"/>
                  <a:pt x="5600" y="7345"/>
                </a:cubicBezTo>
                <a:cubicBezTo>
                  <a:pt x="5591" y="7349"/>
                  <a:pt x="5582" y="7352"/>
                  <a:pt x="5573" y="7353"/>
                </a:cubicBezTo>
                <a:cubicBezTo>
                  <a:pt x="5563" y="7355"/>
                  <a:pt x="5554" y="7356"/>
                  <a:pt x="5544" y="7356"/>
                </a:cubicBezTo>
                <a:lnTo>
                  <a:pt x="146" y="7356"/>
                </a:lnTo>
                <a:cubicBezTo>
                  <a:pt x="136" y="7356"/>
                  <a:pt x="127" y="7355"/>
                  <a:pt x="117" y="7353"/>
                </a:cubicBezTo>
                <a:cubicBezTo>
                  <a:pt x="108" y="7352"/>
                  <a:pt x="99" y="7349"/>
                  <a:pt x="90" y="7345"/>
                </a:cubicBezTo>
                <a:cubicBezTo>
                  <a:pt x="81" y="7341"/>
                  <a:pt x="73" y="7337"/>
                  <a:pt x="65" y="7332"/>
                </a:cubicBezTo>
                <a:cubicBezTo>
                  <a:pt x="57" y="7326"/>
                  <a:pt x="50" y="7320"/>
                  <a:pt x="43" y="7314"/>
                </a:cubicBezTo>
                <a:cubicBezTo>
                  <a:pt x="36" y="7307"/>
                  <a:pt x="30" y="7299"/>
                  <a:pt x="25" y="7292"/>
                </a:cubicBezTo>
                <a:cubicBezTo>
                  <a:pt x="19" y="7284"/>
                  <a:pt x="15" y="7275"/>
                  <a:pt x="11" y="7266"/>
                </a:cubicBezTo>
                <a:cubicBezTo>
                  <a:pt x="8" y="7258"/>
                  <a:pt x="5" y="7248"/>
                  <a:pt x="3" y="7239"/>
                </a:cubicBezTo>
                <a:cubicBezTo>
                  <a:pt x="1" y="7230"/>
                  <a:pt x="0" y="7220"/>
                  <a:pt x="0" y="7211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7224480" y="2166840"/>
            <a:ext cx="2048400" cy="2648160"/>
          </a:xfrm>
          <a:custGeom>
            <a:avLst/>
            <a:gdLst/>
            <a:ahLst/>
            <a:rect l="0" t="0" r="r" b="b"/>
            <a:pathLst>
              <a:path fill="none" w="5690" h="7356">
                <a:moveTo>
                  <a:pt x="0" y="721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5544" y="0"/>
                </a:lnTo>
                <a:cubicBezTo>
                  <a:pt x="5554" y="0"/>
                  <a:pt x="5563" y="1"/>
                  <a:pt x="5573" y="3"/>
                </a:cubicBezTo>
                <a:cubicBezTo>
                  <a:pt x="5582" y="4"/>
                  <a:pt x="5591" y="7"/>
                  <a:pt x="5600" y="11"/>
                </a:cubicBezTo>
                <a:cubicBezTo>
                  <a:pt x="5609" y="15"/>
                  <a:pt x="5617" y="19"/>
                  <a:pt x="5625" y="24"/>
                </a:cubicBezTo>
                <a:cubicBezTo>
                  <a:pt x="5633" y="30"/>
                  <a:pt x="5640" y="36"/>
                  <a:pt x="5647" y="42"/>
                </a:cubicBezTo>
                <a:cubicBezTo>
                  <a:pt x="5654" y="49"/>
                  <a:pt x="5660" y="56"/>
                  <a:pt x="5665" y="64"/>
                </a:cubicBezTo>
                <a:cubicBezTo>
                  <a:pt x="5670" y="72"/>
                  <a:pt x="5675" y="81"/>
                  <a:pt x="5679" y="90"/>
                </a:cubicBezTo>
                <a:cubicBezTo>
                  <a:pt x="5682" y="98"/>
                  <a:pt x="5685" y="108"/>
                  <a:pt x="5687" y="117"/>
                </a:cubicBezTo>
                <a:cubicBezTo>
                  <a:pt x="5689" y="126"/>
                  <a:pt x="5690" y="136"/>
                  <a:pt x="5690" y="145"/>
                </a:cubicBezTo>
                <a:lnTo>
                  <a:pt x="5690" y="7211"/>
                </a:lnTo>
                <a:cubicBezTo>
                  <a:pt x="5690" y="7220"/>
                  <a:pt x="5689" y="7230"/>
                  <a:pt x="5687" y="7239"/>
                </a:cubicBezTo>
                <a:cubicBezTo>
                  <a:pt x="5685" y="7248"/>
                  <a:pt x="5682" y="7258"/>
                  <a:pt x="5679" y="7266"/>
                </a:cubicBezTo>
                <a:cubicBezTo>
                  <a:pt x="5675" y="7275"/>
                  <a:pt x="5670" y="7284"/>
                  <a:pt x="5665" y="7292"/>
                </a:cubicBezTo>
                <a:cubicBezTo>
                  <a:pt x="5660" y="7299"/>
                  <a:pt x="5654" y="7307"/>
                  <a:pt x="5647" y="7314"/>
                </a:cubicBezTo>
                <a:cubicBezTo>
                  <a:pt x="5640" y="7320"/>
                  <a:pt x="5633" y="7326"/>
                  <a:pt x="5625" y="7332"/>
                </a:cubicBezTo>
                <a:cubicBezTo>
                  <a:pt x="5617" y="7337"/>
                  <a:pt x="5609" y="7341"/>
                  <a:pt x="5600" y="7345"/>
                </a:cubicBezTo>
                <a:cubicBezTo>
                  <a:pt x="5591" y="7349"/>
                  <a:pt x="5582" y="7352"/>
                  <a:pt x="5573" y="7353"/>
                </a:cubicBezTo>
                <a:cubicBezTo>
                  <a:pt x="5563" y="7355"/>
                  <a:pt x="5554" y="7356"/>
                  <a:pt x="5544" y="7356"/>
                </a:cubicBezTo>
                <a:lnTo>
                  <a:pt x="146" y="7356"/>
                </a:lnTo>
                <a:cubicBezTo>
                  <a:pt x="136" y="7356"/>
                  <a:pt x="127" y="7355"/>
                  <a:pt x="117" y="7353"/>
                </a:cubicBezTo>
                <a:cubicBezTo>
                  <a:pt x="108" y="7352"/>
                  <a:pt x="99" y="7349"/>
                  <a:pt x="90" y="7345"/>
                </a:cubicBezTo>
                <a:cubicBezTo>
                  <a:pt x="81" y="7341"/>
                  <a:pt x="73" y="7337"/>
                  <a:pt x="65" y="7332"/>
                </a:cubicBezTo>
                <a:cubicBezTo>
                  <a:pt x="57" y="7326"/>
                  <a:pt x="50" y="7320"/>
                  <a:pt x="43" y="7314"/>
                </a:cubicBezTo>
                <a:cubicBezTo>
                  <a:pt x="36" y="7307"/>
                  <a:pt x="30" y="7299"/>
                  <a:pt x="25" y="7292"/>
                </a:cubicBezTo>
                <a:cubicBezTo>
                  <a:pt x="19" y="7284"/>
                  <a:pt x="15" y="7275"/>
                  <a:pt x="11" y="7266"/>
                </a:cubicBezTo>
                <a:cubicBezTo>
                  <a:pt x="8" y="7258"/>
                  <a:pt x="5" y="7248"/>
                  <a:pt x="3" y="7239"/>
                </a:cubicBezTo>
                <a:cubicBezTo>
                  <a:pt x="1" y="7230"/>
                  <a:pt x="0" y="7220"/>
                  <a:pt x="0" y="7211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5508720" y="2655360"/>
            <a:ext cx="1020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Mapping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7381800" y="3052080"/>
            <a:ext cx="1147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Quick, "good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7381800" y="3328200"/>
            <a:ext cx="16077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enough" solutions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7381800" y="3604680"/>
            <a:ext cx="1453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from experience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7400880" y="252396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6"/>
                </a:moveTo>
                <a:cubicBezTo>
                  <a:pt x="530" y="283"/>
                  <a:pt x="528" y="300"/>
                  <a:pt x="525" y="317"/>
                </a:cubicBezTo>
                <a:cubicBezTo>
                  <a:pt x="521" y="334"/>
                  <a:pt x="516" y="351"/>
                  <a:pt x="510" y="367"/>
                </a:cubicBezTo>
                <a:cubicBezTo>
                  <a:pt x="503" y="383"/>
                  <a:pt x="495" y="398"/>
                  <a:pt x="485" y="413"/>
                </a:cubicBezTo>
                <a:cubicBezTo>
                  <a:pt x="476" y="427"/>
                  <a:pt x="465" y="440"/>
                  <a:pt x="452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5"/>
                  <a:pt x="383" y="503"/>
                  <a:pt x="366" y="510"/>
                </a:cubicBezTo>
                <a:cubicBezTo>
                  <a:pt x="350" y="517"/>
                  <a:pt x="333" y="522"/>
                  <a:pt x="316" y="525"/>
                </a:cubicBezTo>
                <a:cubicBezTo>
                  <a:pt x="299" y="528"/>
                  <a:pt x="282" y="530"/>
                  <a:pt x="264" y="530"/>
                </a:cubicBezTo>
                <a:cubicBezTo>
                  <a:pt x="247" y="530"/>
                  <a:pt x="230" y="528"/>
                  <a:pt x="213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3"/>
                  <a:pt x="132" y="495"/>
                  <a:pt x="117" y="486"/>
                </a:cubicBezTo>
                <a:cubicBezTo>
                  <a:pt x="103" y="476"/>
                  <a:pt x="89" y="465"/>
                  <a:pt x="77" y="453"/>
                </a:cubicBezTo>
                <a:cubicBezTo>
                  <a:pt x="65" y="440"/>
                  <a:pt x="54" y="427"/>
                  <a:pt x="44" y="413"/>
                </a:cubicBezTo>
                <a:cubicBezTo>
                  <a:pt x="35" y="398"/>
                  <a:pt x="26" y="383"/>
                  <a:pt x="20" y="367"/>
                </a:cubicBezTo>
                <a:cubicBezTo>
                  <a:pt x="13" y="351"/>
                  <a:pt x="8" y="334"/>
                  <a:pt x="5" y="317"/>
                </a:cubicBezTo>
                <a:cubicBezTo>
                  <a:pt x="1" y="300"/>
                  <a:pt x="0" y="283"/>
                  <a:pt x="0" y="266"/>
                </a:cubicBezTo>
                <a:cubicBezTo>
                  <a:pt x="0" y="248"/>
                  <a:pt x="1" y="231"/>
                  <a:pt x="5" y="214"/>
                </a:cubicBezTo>
                <a:cubicBezTo>
                  <a:pt x="8" y="197"/>
                  <a:pt x="13" y="180"/>
                  <a:pt x="20" y="164"/>
                </a:cubicBezTo>
                <a:cubicBezTo>
                  <a:pt x="26" y="148"/>
                  <a:pt x="35" y="133"/>
                  <a:pt x="44" y="118"/>
                </a:cubicBezTo>
                <a:cubicBezTo>
                  <a:pt x="54" y="103"/>
                  <a:pt x="65" y="90"/>
                  <a:pt x="77" y="77"/>
                </a:cubicBezTo>
                <a:cubicBezTo>
                  <a:pt x="89" y="65"/>
                  <a:pt x="103" y="54"/>
                  <a:pt x="117" y="45"/>
                </a:cubicBezTo>
                <a:cubicBezTo>
                  <a:pt x="132" y="35"/>
                  <a:pt x="147" y="27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2"/>
                  <a:pt x="247" y="0"/>
                  <a:pt x="264" y="0"/>
                </a:cubicBezTo>
                <a:cubicBezTo>
                  <a:pt x="282" y="0"/>
                  <a:pt x="299" y="2"/>
                  <a:pt x="316" y="5"/>
                </a:cubicBezTo>
                <a:cubicBezTo>
                  <a:pt x="333" y="8"/>
                  <a:pt x="350" y="13"/>
                  <a:pt x="366" y="20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4"/>
                  <a:pt x="440" y="65"/>
                  <a:pt x="452" y="77"/>
                </a:cubicBezTo>
                <a:cubicBezTo>
                  <a:pt x="465" y="90"/>
                  <a:pt x="476" y="103"/>
                  <a:pt x="485" y="118"/>
                </a:cubicBezTo>
                <a:cubicBezTo>
                  <a:pt x="495" y="133"/>
                  <a:pt x="503" y="148"/>
                  <a:pt x="510" y="164"/>
                </a:cubicBezTo>
                <a:cubicBezTo>
                  <a:pt x="516" y="180"/>
                  <a:pt x="521" y="197"/>
                  <a:pt x="525" y="214"/>
                </a:cubicBezTo>
                <a:cubicBezTo>
                  <a:pt x="528" y="231"/>
                  <a:pt x="530" y="248"/>
                  <a:pt x="530" y="266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7495920" y="2581200"/>
            <a:ext cx="0" cy="75960"/>
          </a:xfrm>
          <a:custGeom>
            <a:avLst/>
            <a:gdLst/>
            <a:ahLst/>
            <a:rect l="0" t="0" r="r" b="b"/>
            <a:pathLst>
              <a:path fill="none" w="0" h="211">
                <a:moveTo>
                  <a:pt x="0" y="211"/>
                </a:moveTo>
                <a:lnTo>
                  <a:pt x="0" y="106"/>
                </a:lnTo>
                <a:moveTo>
                  <a:pt x="0" y="0"/>
                </a:move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7381800" y="3880800"/>
            <a:ext cx="1758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and rules of thumb.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7661160" y="2369880"/>
            <a:ext cx="1059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Heuristic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9377280" y="2166840"/>
            <a:ext cx="2048040" cy="2648160"/>
          </a:xfrm>
          <a:custGeom>
            <a:avLst/>
            <a:gdLst/>
            <a:ahLst/>
            <a:rect l="0" t="0" r="r" b="b"/>
            <a:pathLst>
              <a:path w="5689" h="7356">
                <a:moveTo>
                  <a:pt x="0" y="721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4" y="108"/>
                  <a:pt x="7" y="98"/>
                  <a:pt x="11" y="90"/>
                </a:cubicBezTo>
                <a:cubicBezTo>
                  <a:pt x="14" y="81"/>
                  <a:pt x="19" y="72"/>
                  <a:pt x="24" y="64"/>
                </a:cubicBezTo>
                <a:cubicBezTo>
                  <a:pt x="30" y="56"/>
                  <a:pt x="36" y="49"/>
                  <a:pt x="42" y="42"/>
                </a:cubicBezTo>
                <a:cubicBezTo>
                  <a:pt x="49" y="36"/>
                  <a:pt x="56" y="30"/>
                  <a:pt x="64" y="24"/>
                </a:cubicBezTo>
                <a:cubicBezTo>
                  <a:pt x="72" y="19"/>
                  <a:pt x="81" y="15"/>
                  <a:pt x="90" y="11"/>
                </a:cubicBezTo>
                <a:cubicBezTo>
                  <a:pt x="98" y="7"/>
                  <a:pt x="107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5544" y="0"/>
                </a:lnTo>
                <a:cubicBezTo>
                  <a:pt x="5553" y="0"/>
                  <a:pt x="5563" y="1"/>
                  <a:pt x="5572" y="3"/>
                </a:cubicBezTo>
                <a:cubicBezTo>
                  <a:pt x="5582" y="4"/>
                  <a:pt x="5591" y="7"/>
                  <a:pt x="5599" y="11"/>
                </a:cubicBezTo>
                <a:cubicBezTo>
                  <a:pt x="5608" y="15"/>
                  <a:pt x="5617" y="19"/>
                  <a:pt x="5625" y="24"/>
                </a:cubicBezTo>
                <a:cubicBezTo>
                  <a:pt x="5633" y="30"/>
                  <a:pt x="5640" y="36"/>
                  <a:pt x="5647" y="42"/>
                </a:cubicBezTo>
                <a:cubicBezTo>
                  <a:pt x="5653" y="49"/>
                  <a:pt x="5659" y="56"/>
                  <a:pt x="5665" y="64"/>
                </a:cubicBezTo>
                <a:cubicBezTo>
                  <a:pt x="5670" y="72"/>
                  <a:pt x="5675" y="81"/>
                  <a:pt x="5678" y="90"/>
                </a:cubicBezTo>
                <a:cubicBezTo>
                  <a:pt x="5682" y="98"/>
                  <a:pt x="5685" y="108"/>
                  <a:pt x="5686" y="117"/>
                </a:cubicBezTo>
                <a:cubicBezTo>
                  <a:pt x="5688" y="126"/>
                  <a:pt x="5689" y="136"/>
                  <a:pt x="5689" y="145"/>
                </a:cubicBezTo>
                <a:lnTo>
                  <a:pt x="5689" y="7211"/>
                </a:lnTo>
                <a:cubicBezTo>
                  <a:pt x="5689" y="7220"/>
                  <a:pt x="5688" y="7230"/>
                  <a:pt x="5686" y="7239"/>
                </a:cubicBezTo>
                <a:cubicBezTo>
                  <a:pt x="5685" y="7248"/>
                  <a:pt x="5682" y="7258"/>
                  <a:pt x="5678" y="7266"/>
                </a:cubicBezTo>
                <a:cubicBezTo>
                  <a:pt x="5675" y="7275"/>
                  <a:pt x="5670" y="7284"/>
                  <a:pt x="5665" y="7292"/>
                </a:cubicBezTo>
                <a:cubicBezTo>
                  <a:pt x="5659" y="7299"/>
                  <a:pt x="5653" y="7307"/>
                  <a:pt x="5647" y="7314"/>
                </a:cubicBezTo>
                <a:cubicBezTo>
                  <a:pt x="5640" y="7320"/>
                  <a:pt x="5633" y="7326"/>
                  <a:pt x="5625" y="7332"/>
                </a:cubicBezTo>
                <a:cubicBezTo>
                  <a:pt x="5617" y="7337"/>
                  <a:pt x="5608" y="7341"/>
                  <a:pt x="5599" y="7345"/>
                </a:cubicBezTo>
                <a:cubicBezTo>
                  <a:pt x="5591" y="7349"/>
                  <a:pt x="5582" y="7352"/>
                  <a:pt x="5572" y="7353"/>
                </a:cubicBezTo>
                <a:cubicBezTo>
                  <a:pt x="5563" y="7355"/>
                  <a:pt x="5553" y="7356"/>
                  <a:pt x="5544" y="7356"/>
                </a:cubicBezTo>
                <a:lnTo>
                  <a:pt x="145" y="7356"/>
                </a:lnTo>
                <a:cubicBezTo>
                  <a:pt x="136" y="7356"/>
                  <a:pt x="126" y="7355"/>
                  <a:pt x="117" y="7353"/>
                </a:cubicBezTo>
                <a:cubicBezTo>
                  <a:pt x="107" y="7352"/>
                  <a:pt x="98" y="7349"/>
                  <a:pt x="90" y="7345"/>
                </a:cubicBezTo>
                <a:cubicBezTo>
                  <a:pt x="81" y="7341"/>
                  <a:pt x="72" y="7337"/>
                  <a:pt x="64" y="7332"/>
                </a:cubicBezTo>
                <a:cubicBezTo>
                  <a:pt x="56" y="7326"/>
                  <a:pt x="49" y="7320"/>
                  <a:pt x="42" y="7314"/>
                </a:cubicBezTo>
                <a:cubicBezTo>
                  <a:pt x="36" y="7307"/>
                  <a:pt x="30" y="7299"/>
                  <a:pt x="24" y="7292"/>
                </a:cubicBezTo>
                <a:cubicBezTo>
                  <a:pt x="19" y="7284"/>
                  <a:pt x="14" y="7275"/>
                  <a:pt x="11" y="7266"/>
                </a:cubicBezTo>
                <a:cubicBezTo>
                  <a:pt x="7" y="7258"/>
                  <a:pt x="4" y="7248"/>
                  <a:pt x="3" y="7239"/>
                </a:cubicBezTo>
                <a:cubicBezTo>
                  <a:pt x="1" y="7230"/>
                  <a:pt x="0" y="7220"/>
                  <a:pt x="0" y="7211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9377280" y="2166840"/>
            <a:ext cx="2048040" cy="2648160"/>
          </a:xfrm>
          <a:custGeom>
            <a:avLst/>
            <a:gdLst/>
            <a:ahLst/>
            <a:rect l="0" t="0" r="r" b="b"/>
            <a:pathLst>
              <a:path fill="none" w="5689" h="7356">
                <a:moveTo>
                  <a:pt x="0" y="721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4" y="108"/>
                  <a:pt x="7" y="98"/>
                  <a:pt x="11" y="90"/>
                </a:cubicBezTo>
                <a:cubicBezTo>
                  <a:pt x="14" y="81"/>
                  <a:pt x="19" y="72"/>
                  <a:pt x="24" y="64"/>
                </a:cubicBezTo>
                <a:cubicBezTo>
                  <a:pt x="30" y="56"/>
                  <a:pt x="36" y="49"/>
                  <a:pt x="42" y="42"/>
                </a:cubicBezTo>
                <a:cubicBezTo>
                  <a:pt x="49" y="36"/>
                  <a:pt x="56" y="30"/>
                  <a:pt x="64" y="24"/>
                </a:cubicBezTo>
                <a:cubicBezTo>
                  <a:pt x="72" y="19"/>
                  <a:pt x="81" y="15"/>
                  <a:pt x="90" y="11"/>
                </a:cubicBezTo>
                <a:cubicBezTo>
                  <a:pt x="98" y="7"/>
                  <a:pt x="107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5544" y="0"/>
                </a:lnTo>
                <a:cubicBezTo>
                  <a:pt x="5553" y="0"/>
                  <a:pt x="5563" y="1"/>
                  <a:pt x="5572" y="3"/>
                </a:cubicBezTo>
                <a:cubicBezTo>
                  <a:pt x="5582" y="4"/>
                  <a:pt x="5591" y="7"/>
                  <a:pt x="5599" y="11"/>
                </a:cubicBezTo>
                <a:cubicBezTo>
                  <a:pt x="5608" y="15"/>
                  <a:pt x="5617" y="19"/>
                  <a:pt x="5625" y="24"/>
                </a:cubicBezTo>
                <a:cubicBezTo>
                  <a:pt x="5633" y="30"/>
                  <a:pt x="5640" y="36"/>
                  <a:pt x="5647" y="42"/>
                </a:cubicBezTo>
                <a:cubicBezTo>
                  <a:pt x="5653" y="49"/>
                  <a:pt x="5659" y="56"/>
                  <a:pt x="5665" y="64"/>
                </a:cubicBezTo>
                <a:cubicBezTo>
                  <a:pt x="5670" y="72"/>
                  <a:pt x="5675" y="81"/>
                  <a:pt x="5678" y="90"/>
                </a:cubicBezTo>
                <a:cubicBezTo>
                  <a:pt x="5682" y="98"/>
                  <a:pt x="5685" y="108"/>
                  <a:pt x="5686" y="117"/>
                </a:cubicBezTo>
                <a:cubicBezTo>
                  <a:pt x="5688" y="126"/>
                  <a:pt x="5689" y="136"/>
                  <a:pt x="5689" y="145"/>
                </a:cubicBezTo>
                <a:lnTo>
                  <a:pt x="5689" y="7211"/>
                </a:lnTo>
                <a:cubicBezTo>
                  <a:pt x="5689" y="7220"/>
                  <a:pt x="5688" y="7230"/>
                  <a:pt x="5686" y="7239"/>
                </a:cubicBezTo>
                <a:cubicBezTo>
                  <a:pt x="5685" y="7248"/>
                  <a:pt x="5682" y="7258"/>
                  <a:pt x="5678" y="7266"/>
                </a:cubicBezTo>
                <a:cubicBezTo>
                  <a:pt x="5675" y="7275"/>
                  <a:pt x="5670" y="7284"/>
                  <a:pt x="5665" y="7292"/>
                </a:cubicBezTo>
                <a:cubicBezTo>
                  <a:pt x="5659" y="7299"/>
                  <a:pt x="5653" y="7307"/>
                  <a:pt x="5647" y="7314"/>
                </a:cubicBezTo>
                <a:cubicBezTo>
                  <a:pt x="5640" y="7320"/>
                  <a:pt x="5633" y="7326"/>
                  <a:pt x="5625" y="7332"/>
                </a:cubicBezTo>
                <a:cubicBezTo>
                  <a:pt x="5617" y="7337"/>
                  <a:pt x="5608" y="7341"/>
                  <a:pt x="5599" y="7345"/>
                </a:cubicBezTo>
                <a:cubicBezTo>
                  <a:pt x="5591" y="7349"/>
                  <a:pt x="5582" y="7352"/>
                  <a:pt x="5572" y="7353"/>
                </a:cubicBezTo>
                <a:cubicBezTo>
                  <a:pt x="5563" y="7355"/>
                  <a:pt x="5553" y="7356"/>
                  <a:pt x="5544" y="7356"/>
                </a:cubicBezTo>
                <a:lnTo>
                  <a:pt x="145" y="7356"/>
                </a:lnTo>
                <a:cubicBezTo>
                  <a:pt x="136" y="7356"/>
                  <a:pt x="126" y="7355"/>
                  <a:pt x="117" y="7353"/>
                </a:cubicBezTo>
                <a:cubicBezTo>
                  <a:pt x="107" y="7352"/>
                  <a:pt x="98" y="7349"/>
                  <a:pt x="90" y="7345"/>
                </a:cubicBezTo>
                <a:cubicBezTo>
                  <a:pt x="81" y="7341"/>
                  <a:pt x="72" y="7337"/>
                  <a:pt x="64" y="7332"/>
                </a:cubicBezTo>
                <a:cubicBezTo>
                  <a:pt x="56" y="7326"/>
                  <a:pt x="49" y="7320"/>
                  <a:pt x="42" y="7314"/>
                </a:cubicBezTo>
                <a:cubicBezTo>
                  <a:pt x="36" y="7307"/>
                  <a:pt x="30" y="7299"/>
                  <a:pt x="24" y="7292"/>
                </a:cubicBezTo>
                <a:cubicBezTo>
                  <a:pt x="19" y="7284"/>
                  <a:pt x="14" y="7275"/>
                  <a:pt x="11" y="7266"/>
                </a:cubicBezTo>
                <a:cubicBezTo>
                  <a:pt x="7" y="7258"/>
                  <a:pt x="4" y="7248"/>
                  <a:pt x="3" y="7239"/>
                </a:cubicBezTo>
                <a:cubicBezTo>
                  <a:pt x="1" y="7230"/>
                  <a:pt x="0" y="7220"/>
                  <a:pt x="0" y="7211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7661160" y="2655360"/>
            <a:ext cx="882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Method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9534600" y="2766240"/>
            <a:ext cx="1565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Mentally rehearse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9534600" y="3042720"/>
            <a:ext cx="1776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solving the problem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9553320" y="238104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2"/>
                  <a:pt x="529" y="299"/>
                  <a:pt x="525" y="316"/>
                </a:cubicBezTo>
                <a:cubicBezTo>
                  <a:pt x="522" y="333"/>
                  <a:pt x="517" y="350"/>
                  <a:pt x="510" y="366"/>
                </a:cubicBezTo>
                <a:cubicBezTo>
                  <a:pt x="504" y="382"/>
                  <a:pt x="495" y="397"/>
                  <a:pt x="486" y="412"/>
                </a:cubicBezTo>
                <a:cubicBezTo>
                  <a:pt x="476" y="426"/>
                  <a:pt x="465" y="439"/>
                  <a:pt x="453" y="452"/>
                </a:cubicBezTo>
                <a:cubicBezTo>
                  <a:pt x="441" y="464"/>
                  <a:pt x="427" y="475"/>
                  <a:pt x="413" y="485"/>
                </a:cubicBezTo>
                <a:cubicBezTo>
                  <a:pt x="398" y="494"/>
                  <a:pt x="383" y="502"/>
                  <a:pt x="367" y="509"/>
                </a:cubicBezTo>
                <a:cubicBezTo>
                  <a:pt x="351" y="516"/>
                  <a:pt x="334" y="521"/>
                  <a:pt x="317" y="524"/>
                </a:cubicBezTo>
                <a:cubicBezTo>
                  <a:pt x="300" y="529"/>
                  <a:pt x="283" y="530"/>
                  <a:pt x="266" y="530"/>
                </a:cubicBezTo>
                <a:cubicBezTo>
                  <a:pt x="248" y="530"/>
                  <a:pt x="231" y="529"/>
                  <a:pt x="214" y="524"/>
                </a:cubicBezTo>
                <a:cubicBezTo>
                  <a:pt x="197" y="521"/>
                  <a:pt x="181" y="516"/>
                  <a:pt x="164" y="509"/>
                </a:cubicBezTo>
                <a:cubicBezTo>
                  <a:pt x="147" y="502"/>
                  <a:pt x="132" y="494"/>
                  <a:pt x="118" y="485"/>
                </a:cubicBezTo>
                <a:cubicBezTo>
                  <a:pt x="103" y="475"/>
                  <a:pt x="90" y="464"/>
                  <a:pt x="78" y="452"/>
                </a:cubicBezTo>
                <a:cubicBezTo>
                  <a:pt x="65" y="439"/>
                  <a:pt x="54" y="426"/>
                  <a:pt x="45" y="412"/>
                </a:cubicBezTo>
                <a:cubicBezTo>
                  <a:pt x="35" y="397"/>
                  <a:pt x="27" y="382"/>
                  <a:pt x="20" y="366"/>
                </a:cubicBezTo>
                <a:cubicBezTo>
                  <a:pt x="14" y="350"/>
                  <a:pt x="9" y="333"/>
                  <a:pt x="5" y="316"/>
                </a:cubicBezTo>
                <a:cubicBezTo>
                  <a:pt x="2" y="299"/>
                  <a:pt x="0" y="282"/>
                  <a:pt x="0" y="265"/>
                </a:cubicBezTo>
                <a:cubicBezTo>
                  <a:pt x="0" y="247"/>
                  <a:pt x="2" y="230"/>
                  <a:pt x="5" y="213"/>
                </a:cubicBezTo>
                <a:cubicBezTo>
                  <a:pt x="9" y="196"/>
                  <a:pt x="14" y="179"/>
                  <a:pt x="20" y="163"/>
                </a:cubicBezTo>
                <a:cubicBezTo>
                  <a:pt x="27" y="147"/>
                  <a:pt x="35" y="132"/>
                  <a:pt x="45" y="118"/>
                </a:cubicBezTo>
                <a:cubicBezTo>
                  <a:pt x="54" y="103"/>
                  <a:pt x="65" y="90"/>
                  <a:pt x="78" y="78"/>
                </a:cubicBezTo>
                <a:cubicBezTo>
                  <a:pt x="90" y="65"/>
                  <a:pt x="103" y="54"/>
                  <a:pt x="118" y="45"/>
                </a:cubicBezTo>
                <a:cubicBezTo>
                  <a:pt x="132" y="35"/>
                  <a:pt x="147" y="27"/>
                  <a:pt x="164" y="20"/>
                </a:cubicBezTo>
                <a:cubicBezTo>
                  <a:pt x="181" y="14"/>
                  <a:pt x="197" y="9"/>
                  <a:pt x="214" y="5"/>
                </a:cubicBezTo>
                <a:cubicBezTo>
                  <a:pt x="231" y="2"/>
                  <a:pt x="248" y="0"/>
                  <a:pt x="266" y="0"/>
                </a:cubicBezTo>
                <a:cubicBezTo>
                  <a:pt x="283" y="0"/>
                  <a:pt x="300" y="2"/>
                  <a:pt x="317" y="5"/>
                </a:cubicBezTo>
                <a:cubicBezTo>
                  <a:pt x="334" y="9"/>
                  <a:pt x="351" y="14"/>
                  <a:pt x="367" y="20"/>
                </a:cubicBezTo>
                <a:cubicBezTo>
                  <a:pt x="383" y="27"/>
                  <a:pt x="398" y="35"/>
                  <a:pt x="413" y="45"/>
                </a:cubicBezTo>
                <a:cubicBezTo>
                  <a:pt x="427" y="54"/>
                  <a:pt x="441" y="65"/>
                  <a:pt x="453" y="78"/>
                </a:cubicBezTo>
                <a:cubicBezTo>
                  <a:pt x="465" y="90"/>
                  <a:pt x="476" y="103"/>
                  <a:pt x="486" y="118"/>
                </a:cubicBezTo>
                <a:cubicBezTo>
                  <a:pt x="495" y="132"/>
                  <a:pt x="504" y="147"/>
                  <a:pt x="510" y="163"/>
                </a:cubicBezTo>
                <a:cubicBezTo>
                  <a:pt x="517" y="179"/>
                  <a:pt x="522" y="196"/>
                  <a:pt x="525" y="213"/>
                </a:cubicBezTo>
                <a:cubicBezTo>
                  <a:pt x="529" y="230"/>
                  <a:pt x="530" y="247"/>
                  <a:pt x="530" y="265"/>
                </a:cubicBez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9648720" y="2438280"/>
            <a:ext cx="0" cy="75960"/>
          </a:xfrm>
          <a:custGeom>
            <a:avLst/>
            <a:gdLst/>
            <a:ahLst/>
            <a:rect l="0" t="0" r="r" b="b"/>
            <a:pathLst>
              <a:path fill="none" w="0" h="211">
                <a:moveTo>
                  <a:pt x="0" y="211"/>
                </a:moveTo>
                <a:lnTo>
                  <a:pt x="0" y="106"/>
                </a:lnTo>
                <a:moveTo>
                  <a:pt x="0" y="0"/>
                </a:moveTo>
              </a:path>
            </a:pathLst>
          </a:custGeom>
          <a:ln cap="rnd" w="18720">
            <a:solidFill>
              <a:srgbClr val="69a7eb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9534600" y="3318840"/>
            <a:ext cx="12333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before acting.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9813960" y="2369880"/>
            <a:ext cx="1529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4b96e7"/>
                </a:solidFill>
                <a:effectLst/>
                <a:uFillTx/>
                <a:latin typeface="LucidaGrande"/>
                <a:ea typeface="LucidaGrande"/>
              </a:rPr>
              <a:t>Visualization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685440" y="6343560"/>
            <a:ext cx="267120" cy="304920"/>
          </a:xfrm>
          <a:custGeom>
            <a:avLst/>
            <a:gdLst/>
            <a:ahLst/>
            <a:rect l="0" t="0" r="r" b="b"/>
            <a:pathLst>
              <a:path w="742" h="847">
                <a:moveTo>
                  <a:pt x="0" y="476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2" y="274"/>
                  <a:pt x="19" y="251"/>
                  <a:pt x="29" y="228"/>
                </a:cubicBezTo>
                <a:cubicBezTo>
                  <a:pt x="38" y="206"/>
                  <a:pt x="49" y="185"/>
                  <a:pt x="63" y="164"/>
                </a:cubicBezTo>
                <a:cubicBezTo>
                  <a:pt x="76" y="144"/>
                  <a:pt x="92" y="125"/>
                  <a:pt x="109" y="108"/>
                </a:cubicBezTo>
                <a:cubicBezTo>
                  <a:pt x="126" y="91"/>
                  <a:pt x="145" y="76"/>
                  <a:pt x="165" y="62"/>
                </a:cubicBezTo>
                <a:cubicBezTo>
                  <a:pt x="185" y="49"/>
                  <a:pt x="207" y="37"/>
                  <a:pt x="229" y="28"/>
                </a:cubicBezTo>
                <a:cubicBezTo>
                  <a:pt x="252" y="19"/>
                  <a:pt x="275" y="12"/>
                  <a:pt x="299" y="7"/>
                </a:cubicBezTo>
                <a:cubicBezTo>
                  <a:pt x="323" y="2"/>
                  <a:pt x="347" y="0"/>
                  <a:pt x="371" y="0"/>
                </a:cubicBezTo>
                <a:cubicBezTo>
                  <a:pt x="395" y="0"/>
                  <a:pt x="419" y="2"/>
                  <a:pt x="443" y="7"/>
                </a:cubicBezTo>
                <a:cubicBezTo>
                  <a:pt x="467" y="12"/>
                  <a:pt x="490" y="19"/>
                  <a:pt x="513" y="28"/>
                </a:cubicBezTo>
                <a:cubicBezTo>
                  <a:pt x="535" y="37"/>
                  <a:pt x="556" y="49"/>
                  <a:pt x="577" y="62"/>
                </a:cubicBezTo>
                <a:cubicBezTo>
                  <a:pt x="597" y="76"/>
                  <a:pt x="616" y="91"/>
                  <a:pt x="633" y="108"/>
                </a:cubicBezTo>
                <a:cubicBezTo>
                  <a:pt x="650" y="125"/>
                  <a:pt x="665" y="144"/>
                  <a:pt x="679" y="164"/>
                </a:cubicBezTo>
                <a:cubicBezTo>
                  <a:pt x="693" y="185"/>
                  <a:pt x="705" y="206"/>
                  <a:pt x="714" y="228"/>
                </a:cubicBezTo>
                <a:cubicBezTo>
                  <a:pt x="723" y="251"/>
                  <a:pt x="730" y="274"/>
                  <a:pt x="735" y="298"/>
                </a:cubicBezTo>
                <a:cubicBezTo>
                  <a:pt x="740" y="322"/>
                  <a:pt x="742" y="346"/>
                  <a:pt x="742" y="370"/>
                </a:cubicBezTo>
                <a:lnTo>
                  <a:pt x="742" y="476"/>
                </a:lnTo>
                <a:cubicBezTo>
                  <a:pt x="742" y="500"/>
                  <a:pt x="740" y="524"/>
                  <a:pt x="735" y="548"/>
                </a:cubicBezTo>
                <a:cubicBezTo>
                  <a:pt x="730" y="573"/>
                  <a:pt x="723" y="596"/>
                  <a:pt x="714" y="619"/>
                </a:cubicBezTo>
                <a:cubicBezTo>
                  <a:pt x="705" y="641"/>
                  <a:pt x="693" y="663"/>
                  <a:pt x="679" y="683"/>
                </a:cubicBezTo>
                <a:cubicBezTo>
                  <a:pt x="665" y="703"/>
                  <a:pt x="650" y="722"/>
                  <a:pt x="633" y="739"/>
                </a:cubicBezTo>
                <a:cubicBezTo>
                  <a:pt x="616" y="756"/>
                  <a:pt x="597" y="771"/>
                  <a:pt x="577" y="785"/>
                </a:cubicBezTo>
                <a:cubicBezTo>
                  <a:pt x="556" y="798"/>
                  <a:pt x="535" y="810"/>
                  <a:pt x="513" y="819"/>
                </a:cubicBezTo>
                <a:cubicBezTo>
                  <a:pt x="490" y="829"/>
                  <a:pt x="467" y="836"/>
                  <a:pt x="443" y="840"/>
                </a:cubicBezTo>
                <a:cubicBezTo>
                  <a:pt x="419" y="845"/>
                  <a:pt x="395" y="847"/>
                  <a:pt x="371" y="847"/>
                </a:cubicBezTo>
                <a:cubicBezTo>
                  <a:pt x="347" y="847"/>
                  <a:pt x="323" y="845"/>
                  <a:pt x="299" y="840"/>
                </a:cubicBezTo>
                <a:cubicBezTo>
                  <a:pt x="275" y="836"/>
                  <a:pt x="252" y="829"/>
                  <a:pt x="229" y="819"/>
                </a:cubicBezTo>
                <a:cubicBezTo>
                  <a:pt x="207" y="810"/>
                  <a:pt x="185" y="798"/>
                  <a:pt x="165" y="785"/>
                </a:cubicBezTo>
                <a:cubicBezTo>
                  <a:pt x="145" y="771"/>
                  <a:pt x="126" y="756"/>
                  <a:pt x="109" y="739"/>
                </a:cubicBezTo>
                <a:cubicBezTo>
                  <a:pt x="92" y="722"/>
                  <a:pt x="76" y="703"/>
                  <a:pt x="63" y="683"/>
                </a:cubicBezTo>
                <a:cubicBezTo>
                  <a:pt x="49" y="663"/>
                  <a:pt x="38" y="641"/>
                  <a:pt x="29" y="619"/>
                </a:cubicBezTo>
                <a:cubicBezTo>
                  <a:pt x="19" y="596"/>
                  <a:pt x="12" y="573"/>
                  <a:pt x="8" y="548"/>
                </a:cubicBezTo>
                <a:cubicBezTo>
                  <a:pt x="3" y="524"/>
                  <a:pt x="0" y="500"/>
                  <a:pt x="0" y="476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762120" y="6390720"/>
            <a:ext cx="177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9" name=""/>
          <p:cNvSpPr txBox="1"/>
          <p:nvPr/>
        </p:nvSpPr>
        <p:spPr>
          <a:xfrm>
            <a:off x="762120" y="1984680"/>
            <a:ext cx="10534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Most of the methods just covered are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unsystematic idea-generating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: free association, free of judgement,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762120" y="2289600"/>
            <a:ext cx="6990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triggering imagination. They feel creative — but the evidence is mixed.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762120" y="4413600"/>
            <a:ext cx="9974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creative solution doesn't require a large number of ideas.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Focused thinking and early judgement,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762120" y="4718520"/>
            <a:ext cx="8627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against well-deﬁned criteria, can out-perform free-association.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That's the case for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9456120" y="4718520"/>
            <a:ext cx="107280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systematic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10450080" y="4718520"/>
            <a:ext cx="945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inventive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762120" y="5023080"/>
            <a:ext cx="880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thinking.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851400" y="5463720"/>
            <a:ext cx="76266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6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r>
              <a:rPr b="0" lang="en-US" sz="96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Barak, M. (2004). Systematic Approaches for Inventive Thinking and Problem-Solving: Implications for Engineering Education. 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8507160" y="5463720"/>
            <a:ext cx="96228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89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Int. J. Engng Ed.</a:t>
            </a:r>
            <a:endParaRPr b="0" lang="en-US" sz="98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9415800" y="5463720"/>
            <a:ext cx="12582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6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, 20(4), pp. 612–618.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661057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766440" y="2719080"/>
            <a:ext cx="10658880" cy="1543680"/>
          </a:xfrm>
          <a:custGeom>
            <a:avLst/>
            <a:gdLst/>
            <a:ahLst/>
            <a:rect l="0" t="0" r="r" b="b"/>
            <a:pathLst>
              <a:path w="29608" h="4288">
                <a:moveTo>
                  <a:pt x="0" y="414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142"/>
                </a:lnTo>
                <a:cubicBezTo>
                  <a:pt x="29608" y="4152"/>
                  <a:pt x="29607" y="4161"/>
                  <a:pt x="29605" y="4170"/>
                </a:cubicBezTo>
                <a:cubicBezTo>
                  <a:pt x="29604" y="4180"/>
                  <a:pt x="29601" y="4189"/>
                  <a:pt x="29597" y="4198"/>
                </a:cubicBezTo>
                <a:cubicBezTo>
                  <a:pt x="29594" y="4207"/>
                  <a:pt x="29589" y="4215"/>
                  <a:pt x="29584" y="4223"/>
                </a:cubicBezTo>
                <a:cubicBezTo>
                  <a:pt x="29578" y="4231"/>
                  <a:pt x="29572" y="4238"/>
                  <a:pt x="29566" y="4245"/>
                </a:cubicBezTo>
                <a:cubicBezTo>
                  <a:pt x="29559" y="4252"/>
                  <a:pt x="29552" y="4258"/>
                  <a:pt x="29544" y="4263"/>
                </a:cubicBezTo>
                <a:cubicBezTo>
                  <a:pt x="29536" y="4268"/>
                  <a:pt x="29527" y="4273"/>
                  <a:pt x="29518" y="4277"/>
                </a:cubicBezTo>
                <a:cubicBezTo>
                  <a:pt x="29510" y="4280"/>
                  <a:pt x="29501" y="4283"/>
                  <a:pt x="29491" y="4285"/>
                </a:cubicBezTo>
                <a:cubicBezTo>
                  <a:pt x="29482" y="4287"/>
                  <a:pt x="29472" y="4288"/>
                  <a:pt x="29463" y="4288"/>
                </a:cubicBezTo>
                <a:lnTo>
                  <a:pt x="146" y="4288"/>
                </a:lnTo>
                <a:cubicBezTo>
                  <a:pt x="136" y="4288"/>
                  <a:pt x="127" y="4287"/>
                  <a:pt x="118" y="4285"/>
                </a:cubicBezTo>
                <a:cubicBezTo>
                  <a:pt x="108" y="4283"/>
                  <a:pt x="99" y="4280"/>
                  <a:pt x="90" y="4277"/>
                </a:cubicBezTo>
                <a:cubicBezTo>
                  <a:pt x="81" y="4273"/>
                  <a:pt x="73" y="4268"/>
                  <a:pt x="65" y="4263"/>
                </a:cubicBezTo>
                <a:cubicBezTo>
                  <a:pt x="57" y="4258"/>
                  <a:pt x="50" y="4252"/>
                  <a:pt x="43" y="4245"/>
                </a:cubicBezTo>
                <a:cubicBezTo>
                  <a:pt x="36" y="4238"/>
                  <a:pt x="30" y="4231"/>
                  <a:pt x="25" y="4223"/>
                </a:cubicBezTo>
                <a:cubicBezTo>
                  <a:pt x="20" y="4215"/>
                  <a:pt x="15" y="4207"/>
                  <a:pt x="11" y="4198"/>
                </a:cubicBezTo>
                <a:cubicBezTo>
                  <a:pt x="8" y="4189"/>
                  <a:pt x="5" y="4180"/>
                  <a:pt x="3" y="4170"/>
                </a:cubicBezTo>
                <a:cubicBezTo>
                  <a:pt x="1" y="4161"/>
                  <a:pt x="0" y="4152"/>
                  <a:pt x="0" y="4142"/>
                </a:cubicBezTo>
                <a:close/>
              </a:path>
            </a:pathLst>
          </a:custGeom>
          <a:solidFill>
            <a:srgbClr val="fcf8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766440" y="2719080"/>
            <a:ext cx="10658880" cy="1543680"/>
          </a:xfrm>
          <a:custGeom>
            <a:avLst/>
            <a:gdLst/>
            <a:ahLst/>
            <a:rect l="0" t="0" r="r" b="b"/>
            <a:pathLst>
              <a:path fill="none" w="29608" h="4288">
                <a:moveTo>
                  <a:pt x="0" y="414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20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142"/>
                </a:lnTo>
                <a:cubicBezTo>
                  <a:pt x="29608" y="4152"/>
                  <a:pt x="29607" y="4161"/>
                  <a:pt x="29605" y="4170"/>
                </a:cubicBezTo>
                <a:cubicBezTo>
                  <a:pt x="29604" y="4180"/>
                  <a:pt x="29601" y="4189"/>
                  <a:pt x="29597" y="4198"/>
                </a:cubicBezTo>
                <a:cubicBezTo>
                  <a:pt x="29594" y="4207"/>
                  <a:pt x="29589" y="4215"/>
                  <a:pt x="29584" y="4223"/>
                </a:cubicBezTo>
                <a:cubicBezTo>
                  <a:pt x="29578" y="4231"/>
                  <a:pt x="29572" y="4238"/>
                  <a:pt x="29566" y="4245"/>
                </a:cubicBezTo>
                <a:cubicBezTo>
                  <a:pt x="29559" y="4252"/>
                  <a:pt x="29552" y="4258"/>
                  <a:pt x="29544" y="4263"/>
                </a:cubicBezTo>
                <a:cubicBezTo>
                  <a:pt x="29536" y="4268"/>
                  <a:pt x="29527" y="4273"/>
                  <a:pt x="29518" y="4277"/>
                </a:cubicBezTo>
                <a:cubicBezTo>
                  <a:pt x="29510" y="4280"/>
                  <a:pt x="29501" y="4283"/>
                  <a:pt x="29491" y="4285"/>
                </a:cubicBezTo>
                <a:cubicBezTo>
                  <a:pt x="29482" y="4287"/>
                  <a:pt x="29472" y="4288"/>
                  <a:pt x="29463" y="4288"/>
                </a:cubicBezTo>
                <a:lnTo>
                  <a:pt x="146" y="4288"/>
                </a:lnTo>
                <a:cubicBezTo>
                  <a:pt x="136" y="4288"/>
                  <a:pt x="127" y="4287"/>
                  <a:pt x="118" y="4285"/>
                </a:cubicBezTo>
                <a:cubicBezTo>
                  <a:pt x="108" y="4283"/>
                  <a:pt x="99" y="4280"/>
                  <a:pt x="90" y="4277"/>
                </a:cubicBezTo>
                <a:cubicBezTo>
                  <a:pt x="81" y="4273"/>
                  <a:pt x="73" y="4268"/>
                  <a:pt x="65" y="4263"/>
                </a:cubicBezTo>
                <a:cubicBezTo>
                  <a:pt x="57" y="4258"/>
                  <a:pt x="50" y="4252"/>
                  <a:pt x="43" y="4245"/>
                </a:cubicBezTo>
                <a:cubicBezTo>
                  <a:pt x="36" y="4238"/>
                  <a:pt x="30" y="4231"/>
                  <a:pt x="25" y="4223"/>
                </a:cubicBezTo>
                <a:cubicBezTo>
                  <a:pt x="20" y="4215"/>
                  <a:pt x="15" y="4207"/>
                  <a:pt x="11" y="4198"/>
                </a:cubicBezTo>
                <a:cubicBezTo>
                  <a:pt x="8" y="4189"/>
                  <a:pt x="5" y="4180"/>
                  <a:pt x="3" y="4170"/>
                </a:cubicBezTo>
                <a:cubicBezTo>
                  <a:pt x="1" y="4161"/>
                  <a:pt x="0" y="4152"/>
                  <a:pt x="0" y="4142"/>
                </a:cubicBezTo>
              </a:path>
            </a:pathLst>
          </a:custGeom>
          <a:ln w="9360">
            <a:solidFill>
              <a:srgbClr val="f7e9b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762120" y="372600"/>
            <a:ext cx="87519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From Brainstorming to TRIZ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923760" y="3328200"/>
            <a:ext cx="102312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"Research indicates that most brainstorming groups did not generate more ideas than control groups... The quality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923760" y="3604680"/>
            <a:ext cx="9894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of the ideas themselves and their level of originality were inferior to the ideas generated by individuals working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942840" y="293364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530" y="265"/>
                </a:moveTo>
                <a:cubicBezTo>
                  <a:pt x="530" y="283"/>
                  <a:pt x="528" y="300"/>
                  <a:pt x="525" y="317"/>
                </a:cubicBezTo>
                <a:cubicBezTo>
                  <a:pt x="522" y="334"/>
                  <a:pt x="517" y="350"/>
                  <a:pt x="510" y="367"/>
                </a:cubicBezTo>
                <a:cubicBezTo>
                  <a:pt x="503" y="383"/>
                  <a:pt x="495" y="398"/>
                  <a:pt x="485" y="412"/>
                </a:cubicBezTo>
                <a:cubicBezTo>
                  <a:pt x="476" y="427"/>
                  <a:pt x="465" y="440"/>
                  <a:pt x="453" y="452"/>
                </a:cubicBezTo>
                <a:cubicBezTo>
                  <a:pt x="440" y="465"/>
                  <a:pt x="427" y="476"/>
                  <a:pt x="412" y="485"/>
                </a:cubicBezTo>
                <a:cubicBezTo>
                  <a:pt x="398" y="495"/>
                  <a:pt x="383" y="503"/>
                  <a:pt x="367" y="510"/>
                </a:cubicBezTo>
                <a:cubicBezTo>
                  <a:pt x="351" y="516"/>
                  <a:pt x="334" y="521"/>
                  <a:pt x="317" y="525"/>
                </a:cubicBezTo>
                <a:cubicBezTo>
                  <a:pt x="300" y="528"/>
                  <a:pt x="282" y="530"/>
                  <a:pt x="264" y="530"/>
                </a:cubicBezTo>
                <a:cubicBezTo>
                  <a:pt x="247" y="530"/>
                  <a:pt x="230" y="528"/>
                  <a:pt x="213" y="525"/>
                </a:cubicBezTo>
                <a:cubicBezTo>
                  <a:pt x="196" y="521"/>
                  <a:pt x="179" y="516"/>
                  <a:pt x="163" y="510"/>
                </a:cubicBezTo>
                <a:cubicBezTo>
                  <a:pt x="147" y="503"/>
                  <a:pt x="132" y="495"/>
                  <a:pt x="117" y="485"/>
                </a:cubicBezTo>
                <a:cubicBezTo>
                  <a:pt x="103" y="476"/>
                  <a:pt x="90" y="465"/>
                  <a:pt x="77" y="452"/>
                </a:cubicBezTo>
                <a:cubicBezTo>
                  <a:pt x="65" y="440"/>
                  <a:pt x="54" y="427"/>
                  <a:pt x="44" y="412"/>
                </a:cubicBezTo>
                <a:cubicBezTo>
                  <a:pt x="35" y="398"/>
                  <a:pt x="27" y="383"/>
                  <a:pt x="20" y="367"/>
                </a:cubicBezTo>
                <a:cubicBezTo>
                  <a:pt x="13" y="350"/>
                  <a:pt x="8" y="334"/>
                  <a:pt x="5" y="317"/>
                </a:cubicBezTo>
                <a:cubicBezTo>
                  <a:pt x="2" y="300"/>
                  <a:pt x="0" y="283"/>
                  <a:pt x="0" y="265"/>
                </a:cubicBezTo>
                <a:cubicBezTo>
                  <a:pt x="0" y="248"/>
                  <a:pt x="2" y="231"/>
                  <a:pt x="5" y="214"/>
                </a:cubicBezTo>
                <a:cubicBezTo>
                  <a:pt x="8" y="197"/>
                  <a:pt x="13" y="180"/>
                  <a:pt x="20" y="164"/>
                </a:cubicBezTo>
                <a:cubicBezTo>
                  <a:pt x="27" y="148"/>
                  <a:pt x="35" y="133"/>
                  <a:pt x="44" y="118"/>
                </a:cubicBezTo>
                <a:cubicBezTo>
                  <a:pt x="54" y="104"/>
                  <a:pt x="65" y="90"/>
                  <a:pt x="77" y="78"/>
                </a:cubicBezTo>
                <a:cubicBezTo>
                  <a:pt x="90" y="66"/>
                  <a:pt x="103" y="55"/>
                  <a:pt x="117" y="44"/>
                </a:cubicBezTo>
                <a:cubicBezTo>
                  <a:pt x="132" y="35"/>
                  <a:pt x="147" y="26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1"/>
                  <a:pt x="247" y="0"/>
                  <a:pt x="264" y="0"/>
                </a:cubicBezTo>
                <a:cubicBezTo>
                  <a:pt x="282" y="0"/>
                  <a:pt x="300" y="1"/>
                  <a:pt x="317" y="5"/>
                </a:cubicBezTo>
                <a:cubicBezTo>
                  <a:pt x="334" y="8"/>
                  <a:pt x="351" y="13"/>
                  <a:pt x="367" y="20"/>
                </a:cubicBezTo>
                <a:cubicBezTo>
                  <a:pt x="383" y="26"/>
                  <a:pt x="398" y="35"/>
                  <a:pt x="412" y="44"/>
                </a:cubicBezTo>
                <a:cubicBezTo>
                  <a:pt x="427" y="55"/>
                  <a:pt x="440" y="66"/>
                  <a:pt x="453" y="78"/>
                </a:cubicBezTo>
                <a:cubicBezTo>
                  <a:pt x="465" y="90"/>
                  <a:pt x="476" y="104"/>
                  <a:pt x="485" y="118"/>
                </a:cubicBezTo>
                <a:cubicBezTo>
                  <a:pt x="495" y="133"/>
                  <a:pt x="503" y="148"/>
                  <a:pt x="510" y="164"/>
                </a:cubicBezTo>
                <a:cubicBezTo>
                  <a:pt x="517" y="180"/>
                  <a:pt x="522" y="197"/>
                  <a:pt x="525" y="214"/>
                </a:cubicBezTo>
                <a:cubicBezTo>
                  <a:pt x="528" y="231"/>
                  <a:pt x="530" y="248"/>
                  <a:pt x="530" y="265"/>
                </a:cubicBezTo>
              </a:path>
            </a:pathLst>
          </a:custGeom>
          <a:ln cap="rnd" w="18720">
            <a:solidFill>
              <a:srgbClr val="e5b92a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1010160" y="2981160"/>
            <a:ext cx="56160" cy="96120"/>
          </a:xfrm>
          <a:custGeom>
            <a:avLst/>
            <a:gdLst/>
            <a:ahLst/>
            <a:rect l="0" t="0" r="r" b="b"/>
            <a:pathLst>
              <a:path fill="none" w="156" h="267">
                <a:moveTo>
                  <a:pt x="0" y="55"/>
                </a:moveTo>
                <a:cubicBezTo>
                  <a:pt x="4" y="46"/>
                  <a:pt x="8" y="38"/>
                  <a:pt x="14" y="30"/>
                </a:cubicBezTo>
                <a:cubicBezTo>
                  <a:pt x="20" y="23"/>
                  <a:pt x="27" y="17"/>
                  <a:pt x="35" y="12"/>
                </a:cubicBezTo>
                <a:cubicBezTo>
                  <a:pt x="44" y="7"/>
                  <a:pt x="53" y="4"/>
                  <a:pt x="62" y="2"/>
                </a:cubicBezTo>
                <a:cubicBezTo>
                  <a:pt x="71" y="0"/>
                  <a:pt x="81" y="0"/>
                  <a:pt x="90" y="2"/>
                </a:cubicBezTo>
                <a:cubicBezTo>
                  <a:pt x="99" y="4"/>
                  <a:pt x="108" y="7"/>
                  <a:pt x="116" y="11"/>
                </a:cubicBezTo>
                <a:cubicBezTo>
                  <a:pt x="124" y="16"/>
                  <a:pt x="131" y="22"/>
                  <a:pt x="137" y="29"/>
                </a:cubicBezTo>
                <a:cubicBezTo>
                  <a:pt x="143" y="37"/>
                  <a:pt x="148" y="45"/>
                  <a:pt x="151" y="54"/>
                </a:cubicBezTo>
                <a:cubicBezTo>
                  <a:pt x="154" y="63"/>
                  <a:pt x="156" y="72"/>
                  <a:pt x="156" y="81"/>
                </a:cubicBezTo>
                <a:cubicBezTo>
                  <a:pt x="156" y="134"/>
                  <a:pt x="76" y="161"/>
                  <a:pt x="76" y="161"/>
                </a:cubicBezTo>
                <a:moveTo>
                  <a:pt x="78" y="267"/>
                </a:moveTo>
                <a:lnTo>
                  <a:pt x="79" y="267"/>
                </a:lnTo>
              </a:path>
            </a:pathLst>
          </a:custGeom>
          <a:ln cap="rnd" w="18720">
            <a:solidFill>
              <a:srgbClr val="e5b92a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923760" y="3880800"/>
            <a:ext cx="47278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without any group eﬀect." — Goldenberg &amp; Mazursky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1203120" y="2922120"/>
            <a:ext cx="4156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5b92a"/>
                </a:solidFill>
                <a:effectLst/>
                <a:uFillTx/>
                <a:latin typeface="LucidaGrande"/>
                <a:ea typeface="LucidaGrande"/>
              </a:rPr>
              <a:t>Does Brainstorming Actually Work?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0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6" name=""/>
          <p:cNvSpPr txBox="1"/>
          <p:nvPr/>
        </p:nvSpPr>
        <p:spPr>
          <a:xfrm>
            <a:off x="762120" y="2708640"/>
            <a:ext cx="9532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Developed by Altshuller from a study of over a million patents, TRIZ is based on three principles: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911160" y="3165840"/>
            <a:ext cx="4897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Resolving technical and physical contradictions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911160" y="3527640"/>
            <a:ext cx="272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evolution of systems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911160" y="3880080"/>
            <a:ext cx="4979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Reference to the ideal system and ideal solution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762120" y="4337280"/>
            <a:ext cx="9999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These generate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40 "Techniques for Overcoming System Conﬂicts"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(e.g. Segmentation, Asymmetry,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762120" y="4642200"/>
            <a:ext cx="8080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Universality, Nesting). Used at Motorola, Xerox, Kodak, Ford, GE, and Rolls-Royce.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661057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762120" y="-8280"/>
            <a:ext cx="85780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TRIZ — Theory of Inventive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762120" y="753480"/>
            <a:ext cx="50907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Problem Solving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1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2" name=""/>
          <p:cNvSpPr/>
          <p:nvPr/>
        </p:nvSpPr>
        <p:spPr>
          <a:xfrm>
            <a:off x="771480" y="2895480"/>
            <a:ext cx="2276640" cy="428760"/>
          </a:xfrm>
          <a:custGeom>
            <a:avLst/>
            <a:gdLst/>
            <a:ahLst/>
            <a:rect l="0" t="0" r="r" b="b"/>
            <a:pathLst>
              <a:path w="6324" h="1191">
                <a:moveTo>
                  <a:pt x="0" y="0"/>
                </a:moveTo>
                <a:lnTo>
                  <a:pt x="6324" y="0"/>
                </a:lnTo>
                <a:lnTo>
                  <a:pt x="6324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3047760" y="2895480"/>
            <a:ext cx="5067720" cy="428760"/>
          </a:xfrm>
          <a:custGeom>
            <a:avLst/>
            <a:gdLst/>
            <a:ahLst/>
            <a:rect l="0" t="0" r="r" b="b"/>
            <a:pathLst>
              <a:path w="14077" h="1191">
                <a:moveTo>
                  <a:pt x="0" y="0"/>
                </a:moveTo>
                <a:lnTo>
                  <a:pt x="14077" y="0"/>
                </a:lnTo>
                <a:lnTo>
                  <a:pt x="1407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771480" y="3323880"/>
            <a:ext cx="2276640" cy="429120"/>
          </a:xfrm>
          <a:custGeom>
            <a:avLst/>
            <a:gdLst/>
            <a:ahLst/>
            <a:rect l="0" t="0" r="r" b="b"/>
            <a:pathLst>
              <a:path w="6324" h="1192">
                <a:moveTo>
                  <a:pt x="0" y="0"/>
                </a:moveTo>
                <a:lnTo>
                  <a:pt x="6324" y="0"/>
                </a:lnTo>
                <a:lnTo>
                  <a:pt x="6324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3047760" y="3323880"/>
            <a:ext cx="5067720" cy="429120"/>
          </a:xfrm>
          <a:custGeom>
            <a:avLst/>
            <a:gdLst/>
            <a:ahLst/>
            <a:rect l="0" t="0" r="r" b="b"/>
            <a:pathLst>
              <a:path w="14077" h="1192">
                <a:moveTo>
                  <a:pt x="0" y="0"/>
                </a:moveTo>
                <a:lnTo>
                  <a:pt x="14077" y="0"/>
                </a:lnTo>
                <a:lnTo>
                  <a:pt x="1407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771480" y="3752640"/>
            <a:ext cx="2276640" cy="419400"/>
          </a:xfrm>
          <a:custGeom>
            <a:avLst/>
            <a:gdLst/>
            <a:ahLst/>
            <a:rect l="0" t="0" r="r" b="b"/>
            <a:pathLst>
              <a:path w="6324" h="1165">
                <a:moveTo>
                  <a:pt x="0" y="0"/>
                </a:moveTo>
                <a:lnTo>
                  <a:pt x="6324" y="0"/>
                </a:lnTo>
                <a:lnTo>
                  <a:pt x="632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3047760" y="3752640"/>
            <a:ext cx="5067720" cy="419400"/>
          </a:xfrm>
          <a:custGeom>
            <a:avLst/>
            <a:gdLst/>
            <a:ahLst/>
            <a:rect l="0" t="0" r="r" b="b"/>
            <a:pathLst>
              <a:path w="14077" h="1165">
                <a:moveTo>
                  <a:pt x="0" y="0"/>
                </a:moveTo>
                <a:lnTo>
                  <a:pt x="14077" y="0"/>
                </a:lnTo>
                <a:lnTo>
                  <a:pt x="1407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771480" y="4171680"/>
            <a:ext cx="2276640" cy="429120"/>
          </a:xfrm>
          <a:custGeom>
            <a:avLst/>
            <a:gdLst/>
            <a:ahLst/>
            <a:rect l="0" t="0" r="r" b="b"/>
            <a:pathLst>
              <a:path w="6324" h="1192">
                <a:moveTo>
                  <a:pt x="0" y="0"/>
                </a:moveTo>
                <a:lnTo>
                  <a:pt x="6324" y="0"/>
                </a:lnTo>
                <a:lnTo>
                  <a:pt x="6324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3047760" y="4171680"/>
            <a:ext cx="5067720" cy="429120"/>
          </a:xfrm>
          <a:custGeom>
            <a:avLst/>
            <a:gdLst/>
            <a:ahLst/>
            <a:rect l="0" t="0" r="r" b="b"/>
            <a:pathLst>
              <a:path w="14077" h="1192">
                <a:moveTo>
                  <a:pt x="0" y="0"/>
                </a:moveTo>
                <a:lnTo>
                  <a:pt x="14077" y="0"/>
                </a:lnTo>
                <a:lnTo>
                  <a:pt x="1407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771480" y="4600440"/>
            <a:ext cx="2276640" cy="428760"/>
          </a:xfrm>
          <a:custGeom>
            <a:avLst/>
            <a:gdLst/>
            <a:ahLst/>
            <a:rect l="0" t="0" r="r" b="b"/>
            <a:pathLst>
              <a:path w="6324" h="1191">
                <a:moveTo>
                  <a:pt x="0" y="0"/>
                </a:moveTo>
                <a:lnTo>
                  <a:pt x="6324" y="0"/>
                </a:lnTo>
                <a:lnTo>
                  <a:pt x="6324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3047760" y="4600440"/>
            <a:ext cx="5067720" cy="428760"/>
          </a:xfrm>
          <a:custGeom>
            <a:avLst/>
            <a:gdLst/>
            <a:ahLst/>
            <a:rect l="0" t="0" r="r" b="b"/>
            <a:pathLst>
              <a:path w="14077" h="1191">
                <a:moveTo>
                  <a:pt x="0" y="0"/>
                </a:moveTo>
                <a:lnTo>
                  <a:pt x="14077" y="0"/>
                </a:lnTo>
                <a:lnTo>
                  <a:pt x="1407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771480" y="5028840"/>
            <a:ext cx="2276640" cy="429120"/>
          </a:xfrm>
          <a:custGeom>
            <a:avLst/>
            <a:gdLst/>
            <a:ahLst/>
            <a:rect l="0" t="0" r="r" b="b"/>
            <a:pathLst>
              <a:path w="6324" h="1192">
                <a:moveTo>
                  <a:pt x="0" y="0"/>
                </a:moveTo>
                <a:lnTo>
                  <a:pt x="6324" y="0"/>
                </a:lnTo>
                <a:lnTo>
                  <a:pt x="6324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3047760" y="5028840"/>
            <a:ext cx="5067720" cy="429120"/>
          </a:xfrm>
          <a:custGeom>
            <a:avLst/>
            <a:gdLst/>
            <a:ahLst/>
            <a:rect l="0" t="0" r="r" b="b"/>
            <a:pathLst>
              <a:path w="14077" h="1192">
                <a:moveTo>
                  <a:pt x="0" y="0"/>
                </a:moveTo>
                <a:lnTo>
                  <a:pt x="14077" y="0"/>
                </a:lnTo>
                <a:lnTo>
                  <a:pt x="1407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761760" y="288576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761760" y="2885760"/>
            <a:ext cx="2296080" cy="10080"/>
          </a:xfrm>
          <a:custGeom>
            <a:avLst/>
            <a:gdLst/>
            <a:ahLst/>
            <a:rect l="0" t="0" r="r" b="b"/>
            <a:pathLst>
              <a:path w="6378" h="28">
                <a:moveTo>
                  <a:pt x="0" y="0"/>
                </a:moveTo>
                <a:lnTo>
                  <a:pt x="6378" y="0"/>
                </a:lnTo>
                <a:lnTo>
                  <a:pt x="63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3047760" y="288576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3057480" y="2885760"/>
            <a:ext cx="5058000" cy="10080"/>
          </a:xfrm>
          <a:custGeom>
            <a:avLst/>
            <a:gdLst/>
            <a:ahLst/>
            <a:rect l="0" t="0" r="r" b="b"/>
            <a:pathLst>
              <a:path w="14050" h="28">
                <a:moveTo>
                  <a:pt x="0" y="0"/>
                </a:moveTo>
                <a:lnTo>
                  <a:pt x="14050" y="0"/>
                </a:lnTo>
                <a:lnTo>
                  <a:pt x="140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8105760" y="28857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761760" y="3314520"/>
            <a:ext cx="2296080" cy="9720"/>
          </a:xfrm>
          <a:custGeom>
            <a:avLst/>
            <a:gdLst/>
            <a:ahLst/>
            <a:rect l="0" t="0" r="r" b="b"/>
            <a:pathLst>
              <a:path w="6378" h="27">
                <a:moveTo>
                  <a:pt x="0" y="0"/>
                </a:moveTo>
                <a:lnTo>
                  <a:pt x="6378" y="0"/>
                </a:lnTo>
                <a:lnTo>
                  <a:pt x="63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3057480" y="3314520"/>
            <a:ext cx="5058000" cy="9720"/>
          </a:xfrm>
          <a:custGeom>
            <a:avLst/>
            <a:gdLst/>
            <a:ahLst/>
            <a:rect l="0" t="0" r="r" b="b"/>
            <a:pathLst>
              <a:path w="14050" h="27">
                <a:moveTo>
                  <a:pt x="0" y="0"/>
                </a:moveTo>
                <a:lnTo>
                  <a:pt x="14050" y="0"/>
                </a:lnTo>
                <a:lnTo>
                  <a:pt x="140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761760" y="332388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3047760" y="332388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8105760" y="33238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761760" y="375264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761760" y="3743280"/>
            <a:ext cx="2296080" cy="9720"/>
          </a:xfrm>
          <a:custGeom>
            <a:avLst/>
            <a:gdLst/>
            <a:ahLst/>
            <a:rect l="0" t="0" r="r" b="b"/>
            <a:pathLst>
              <a:path w="6378" h="27">
                <a:moveTo>
                  <a:pt x="0" y="0"/>
                </a:moveTo>
                <a:lnTo>
                  <a:pt x="6378" y="0"/>
                </a:lnTo>
                <a:lnTo>
                  <a:pt x="63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3047760" y="375264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3057480" y="3743280"/>
            <a:ext cx="5058000" cy="9720"/>
          </a:xfrm>
          <a:custGeom>
            <a:avLst/>
            <a:gdLst/>
            <a:ahLst/>
            <a:rect l="0" t="0" r="r" b="b"/>
            <a:pathLst>
              <a:path w="14050" h="27">
                <a:moveTo>
                  <a:pt x="0" y="0"/>
                </a:moveTo>
                <a:lnTo>
                  <a:pt x="14050" y="0"/>
                </a:lnTo>
                <a:lnTo>
                  <a:pt x="140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8105760" y="375264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761760" y="418140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761760" y="4171680"/>
            <a:ext cx="2296080" cy="10080"/>
          </a:xfrm>
          <a:custGeom>
            <a:avLst/>
            <a:gdLst/>
            <a:ahLst/>
            <a:rect l="0" t="0" r="r" b="b"/>
            <a:pathLst>
              <a:path w="6378" h="28">
                <a:moveTo>
                  <a:pt x="0" y="0"/>
                </a:moveTo>
                <a:lnTo>
                  <a:pt x="6378" y="0"/>
                </a:lnTo>
                <a:lnTo>
                  <a:pt x="63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3047760" y="418140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3057480" y="4171680"/>
            <a:ext cx="5058000" cy="10080"/>
          </a:xfrm>
          <a:custGeom>
            <a:avLst/>
            <a:gdLst/>
            <a:ahLst/>
            <a:rect l="0" t="0" r="r" b="b"/>
            <a:pathLst>
              <a:path w="14050" h="28">
                <a:moveTo>
                  <a:pt x="0" y="0"/>
                </a:moveTo>
                <a:lnTo>
                  <a:pt x="14050" y="0"/>
                </a:lnTo>
                <a:lnTo>
                  <a:pt x="140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8105760" y="418140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761760" y="460980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761760" y="4600440"/>
            <a:ext cx="2296080" cy="9720"/>
          </a:xfrm>
          <a:custGeom>
            <a:avLst/>
            <a:gdLst/>
            <a:ahLst/>
            <a:rect l="0" t="0" r="r" b="b"/>
            <a:pathLst>
              <a:path w="6378" h="27">
                <a:moveTo>
                  <a:pt x="0" y="0"/>
                </a:moveTo>
                <a:lnTo>
                  <a:pt x="6378" y="0"/>
                </a:lnTo>
                <a:lnTo>
                  <a:pt x="63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3047760" y="460980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3057480" y="4600440"/>
            <a:ext cx="5058000" cy="9720"/>
          </a:xfrm>
          <a:custGeom>
            <a:avLst/>
            <a:gdLst/>
            <a:ahLst/>
            <a:rect l="0" t="0" r="r" b="b"/>
            <a:pathLst>
              <a:path w="14050" h="27">
                <a:moveTo>
                  <a:pt x="0" y="0"/>
                </a:moveTo>
                <a:lnTo>
                  <a:pt x="14050" y="0"/>
                </a:lnTo>
                <a:lnTo>
                  <a:pt x="1405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8105760" y="460980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761760" y="503856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761760" y="5028840"/>
            <a:ext cx="2296080" cy="10080"/>
          </a:xfrm>
          <a:custGeom>
            <a:avLst/>
            <a:gdLst/>
            <a:ahLst/>
            <a:rect l="0" t="0" r="r" b="b"/>
            <a:pathLst>
              <a:path w="6378" h="28">
                <a:moveTo>
                  <a:pt x="0" y="0"/>
                </a:moveTo>
                <a:lnTo>
                  <a:pt x="6378" y="0"/>
                </a:lnTo>
                <a:lnTo>
                  <a:pt x="63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3047760" y="503856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3057480" y="5028840"/>
            <a:ext cx="5058000" cy="10080"/>
          </a:xfrm>
          <a:custGeom>
            <a:avLst/>
            <a:gdLst/>
            <a:ahLst/>
            <a:rect l="0" t="0" r="r" b="b"/>
            <a:pathLst>
              <a:path w="14050" h="28">
                <a:moveTo>
                  <a:pt x="0" y="0"/>
                </a:moveTo>
                <a:lnTo>
                  <a:pt x="14050" y="0"/>
                </a:lnTo>
                <a:lnTo>
                  <a:pt x="140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8105760" y="50385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761760" y="5457600"/>
            <a:ext cx="2296080" cy="10080"/>
          </a:xfrm>
          <a:custGeom>
            <a:avLst/>
            <a:gdLst/>
            <a:ahLst/>
            <a:rect l="0" t="0" r="r" b="b"/>
            <a:pathLst>
              <a:path w="6378" h="28">
                <a:moveTo>
                  <a:pt x="0" y="0"/>
                </a:moveTo>
                <a:lnTo>
                  <a:pt x="6378" y="0"/>
                </a:lnTo>
                <a:lnTo>
                  <a:pt x="63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3057480" y="5457600"/>
            <a:ext cx="5058000" cy="10080"/>
          </a:xfrm>
          <a:custGeom>
            <a:avLst/>
            <a:gdLst/>
            <a:ahLst/>
            <a:rect l="0" t="0" r="r" b="b"/>
            <a:pathLst>
              <a:path w="14050" h="28">
                <a:moveTo>
                  <a:pt x="0" y="0"/>
                </a:moveTo>
                <a:lnTo>
                  <a:pt x="14050" y="0"/>
                </a:lnTo>
                <a:lnTo>
                  <a:pt x="1405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762120" y="2156040"/>
            <a:ext cx="9828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simpliﬁcation of TRIZ, governed by the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Closed World (CW) principle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: a creative solution relies 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762120" y="2460960"/>
            <a:ext cx="127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components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2091600" y="2460960"/>
            <a:ext cx="215748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already in the system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4141080" y="2460960"/>
            <a:ext cx="5688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— adding new elements usually isn't considered creative.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1676520" y="2984760"/>
            <a:ext cx="465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Tool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4933080" y="2984760"/>
            <a:ext cx="1297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What it does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895320" y="3413520"/>
            <a:ext cx="1123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Uniﬁcation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3181320" y="3413520"/>
            <a:ext cx="4762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Assign a new function to an existing component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895320" y="3842280"/>
            <a:ext cx="1435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Multiplication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3181320" y="3842280"/>
            <a:ext cx="4792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Introduce a (modiﬁed) copy of an existing object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895320" y="4270680"/>
            <a:ext cx="856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Division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3181320" y="4270680"/>
            <a:ext cx="4077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Divide an object and reconﬁgure its parts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895320" y="4699440"/>
            <a:ext cx="1634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Object Removal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3181320" y="4699440"/>
            <a:ext cx="3414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Remove an object from the system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895320" y="5127840"/>
            <a:ext cx="2024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Breaking Symmetry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3181320" y="5127840"/>
            <a:ext cx="4744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Change symmetrical/asymmetrical relationships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661057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762120" y="372600"/>
            <a:ext cx="103665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SIT / ASIT — Five Thinking Tools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90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1" name=""/>
          <p:cNvSpPr txBox="1"/>
          <p:nvPr/>
        </p:nvSpPr>
        <p:spPr>
          <a:xfrm>
            <a:off x="762120" y="2022840"/>
            <a:ext cx="10546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corn-processing plant's curved pipe erodes where an airstream propels grains around the elbow. List the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762120" y="2327760"/>
            <a:ext cx="3100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Closed World: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pipe, grains, air.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762120" y="2784960"/>
            <a:ext cx="3555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Formulate the Uniﬁcation sentence: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4374360" y="2784960"/>
            <a:ext cx="72309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"A XXX component from the CW will be used to prevent the grains from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811080" y="3089520"/>
            <a:ext cx="18219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eroding the pipe."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971280" y="363852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4"/>
                  <a:pt x="184" y="116"/>
                  <a:pt x="179" y="128"/>
                </a:cubicBezTo>
                <a:cubicBezTo>
                  <a:pt x="175" y="139"/>
                  <a:pt x="167" y="149"/>
                  <a:pt x="158" y="158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6"/>
                  <a:pt x="0" y="104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2534400" y="3089520"/>
            <a:ext cx="3980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Substitute each CW component for XXX: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971280" y="399096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4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4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1168200" y="3546720"/>
            <a:ext cx="9871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pipe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will prevent the grains from eroding the pipe — the conventional answer (reinforce the pipe).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1168200" y="3899160"/>
            <a:ext cx="5906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grains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will prevent the grains from eroding the pipe —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7134480" y="3899160"/>
            <a:ext cx="50760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how?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661057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762120" y="-8280"/>
            <a:ext cx="916632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Worked Example: The Curved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766440" y="4329000"/>
            <a:ext cx="10658880" cy="1267200"/>
          </a:xfrm>
          <a:custGeom>
            <a:avLst/>
            <a:gdLst/>
            <a:ahLst/>
            <a:rect l="0" t="0" r="r" b="b"/>
            <a:pathLst>
              <a:path w="29608" h="3520">
                <a:moveTo>
                  <a:pt x="0" y="33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374"/>
                </a:lnTo>
                <a:cubicBezTo>
                  <a:pt x="29608" y="3384"/>
                  <a:pt x="29607" y="3393"/>
                  <a:pt x="29605" y="3403"/>
                </a:cubicBezTo>
                <a:cubicBezTo>
                  <a:pt x="29604" y="3412"/>
                  <a:pt x="29601" y="3421"/>
                  <a:pt x="29597" y="3430"/>
                </a:cubicBezTo>
                <a:cubicBezTo>
                  <a:pt x="29594" y="3439"/>
                  <a:pt x="29589" y="3447"/>
                  <a:pt x="29584" y="3455"/>
                </a:cubicBezTo>
                <a:cubicBezTo>
                  <a:pt x="29578" y="3463"/>
                  <a:pt x="29572" y="3470"/>
                  <a:pt x="29566" y="3477"/>
                </a:cubicBezTo>
                <a:cubicBezTo>
                  <a:pt x="29559" y="3484"/>
                  <a:pt x="29552" y="3490"/>
                  <a:pt x="29544" y="3495"/>
                </a:cubicBezTo>
                <a:cubicBezTo>
                  <a:pt x="29536" y="3501"/>
                  <a:pt x="29527" y="3505"/>
                  <a:pt x="29518" y="3509"/>
                </a:cubicBezTo>
                <a:cubicBezTo>
                  <a:pt x="29510" y="3512"/>
                  <a:pt x="29501" y="3515"/>
                  <a:pt x="29491" y="3517"/>
                </a:cubicBezTo>
                <a:cubicBezTo>
                  <a:pt x="29482" y="3519"/>
                  <a:pt x="29472" y="3520"/>
                  <a:pt x="29463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2"/>
                  <a:pt x="90" y="3509"/>
                </a:cubicBezTo>
                <a:cubicBezTo>
                  <a:pt x="81" y="3505"/>
                  <a:pt x="73" y="3501"/>
                  <a:pt x="65" y="3495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0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3"/>
                </a:cubicBezTo>
                <a:cubicBezTo>
                  <a:pt x="1" y="3393"/>
                  <a:pt x="0" y="3384"/>
                  <a:pt x="0" y="3374"/>
                </a:cubicBezTo>
                <a:close/>
              </a:path>
            </a:pathLst>
          </a:custGeom>
          <a:solidFill>
            <a:srgbClr val="e9fb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766440" y="4329000"/>
            <a:ext cx="10658880" cy="1267200"/>
          </a:xfrm>
          <a:custGeom>
            <a:avLst/>
            <a:gdLst/>
            <a:ahLst/>
            <a:rect l="0" t="0" r="r" b="b"/>
            <a:pathLst>
              <a:path fill="none" w="29608" h="3520">
                <a:moveTo>
                  <a:pt x="0" y="337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5"/>
                  <a:pt x="29536" y="19"/>
                  <a:pt x="29544" y="24"/>
                </a:cubicBezTo>
                <a:cubicBezTo>
                  <a:pt x="29552" y="30"/>
                  <a:pt x="29559" y="36"/>
                  <a:pt x="29566" y="42"/>
                </a:cubicBezTo>
                <a:cubicBezTo>
                  <a:pt x="29572" y="49"/>
                  <a:pt x="29578" y="57"/>
                  <a:pt x="29584" y="64"/>
                </a:cubicBezTo>
                <a:cubicBezTo>
                  <a:pt x="29589" y="72"/>
                  <a:pt x="29594" y="81"/>
                  <a:pt x="29597" y="90"/>
                </a:cubicBezTo>
                <a:cubicBezTo>
                  <a:pt x="29601" y="98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3374"/>
                </a:lnTo>
                <a:cubicBezTo>
                  <a:pt x="29608" y="3384"/>
                  <a:pt x="29607" y="3393"/>
                  <a:pt x="29605" y="3403"/>
                </a:cubicBezTo>
                <a:cubicBezTo>
                  <a:pt x="29604" y="3412"/>
                  <a:pt x="29601" y="3421"/>
                  <a:pt x="29597" y="3430"/>
                </a:cubicBezTo>
                <a:cubicBezTo>
                  <a:pt x="29594" y="3439"/>
                  <a:pt x="29589" y="3447"/>
                  <a:pt x="29584" y="3455"/>
                </a:cubicBezTo>
                <a:cubicBezTo>
                  <a:pt x="29578" y="3463"/>
                  <a:pt x="29572" y="3470"/>
                  <a:pt x="29566" y="3477"/>
                </a:cubicBezTo>
                <a:cubicBezTo>
                  <a:pt x="29559" y="3484"/>
                  <a:pt x="29552" y="3490"/>
                  <a:pt x="29544" y="3495"/>
                </a:cubicBezTo>
                <a:cubicBezTo>
                  <a:pt x="29536" y="3501"/>
                  <a:pt x="29527" y="3505"/>
                  <a:pt x="29518" y="3509"/>
                </a:cubicBezTo>
                <a:cubicBezTo>
                  <a:pt x="29510" y="3512"/>
                  <a:pt x="29501" y="3515"/>
                  <a:pt x="29491" y="3517"/>
                </a:cubicBezTo>
                <a:cubicBezTo>
                  <a:pt x="29482" y="3519"/>
                  <a:pt x="29472" y="3520"/>
                  <a:pt x="29463" y="3520"/>
                </a:cubicBezTo>
                <a:lnTo>
                  <a:pt x="146" y="3520"/>
                </a:lnTo>
                <a:cubicBezTo>
                  <a:pt x="136" y="3520"/>
                  <a:pt x="127" y="3519"/>
                  <a:pt x="118" y="3517"/>
                </a:cubicBezTo>
                <a:cubicBezTo>
                  <a:pt x="108" y="3515"/>
                  <a:pt x="99" y="3512"/>
                  <a:pt x="90" y="3509"/>
                </a:cubicBezTo>
                <a:cubicBezTo>
                  <a:pt x="81" y="3505"/>
                  <a:pt x="73" y="3501"/>
                  <a:pt x="65" y="3495"/>
                </a:cubicBezTo>
                <a:cubicBezTo>
                  <a:pt x="57" y="3490"/>
                  <a:pt x="50" y="3484"/>
                  <a:pt x="43" y="3477"/>
                </a:cubicBezTo>
                <a:cubicBezTo>
                  <a:pt x="36" y="3470"/>
                  <a:pt x="30" y="3463"/>
                  <a:pt x="25" y="3455"/>
                </a:cubicBezTo>
                <a:cubicBezTo>
                  <a:pt x="20" y="3447"/>
                  <a:pt x="15" y="3439"/>
                  <a:pt x="11" y="3430"/>
                </a:cubicBezTo>
                <a:cubicBezTo>
                  <a:pt x="8" y="3421"/>
                  <a:pt x="5" y="3412"/>
                  <a:pt x="3" y="3403"/>
                </a:cubicBezTo>
                <a:cubicBezTo>
                  <a:pt x="1" y="3393"/>
                  <a:pt x="0" y="3384"/>
                  <a:pt x="0" y="3374"/>
                </a:cubicBezTo>
              </a:path>
            </a:pathLst>
          </a:custGeom>
          <a:ln w="9360">
            <a:solidFill>
              <a:srgbClr val="bef4d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762120" y="753480"/>
            <a:ext cx="53650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Pipe (Uniﬁcation)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923760" y="4938120"/>
            <a:ext cx="9830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Reshape the pipe so trapped grains themselves form a protective lining — the grains protect the pipe from the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961920" y="4581360"/>
            <a:ext cx="152640" cy="105120"/>
          </a:xfrm>
          <a:custGeom>
            <a:avLst/>
            <a:gdLst/>
            <a:ahLst/>
            <a:rect l="0" t="0" r="r" b="b"/>
            <a:pathLst>
              <a:path fill="none" w="424" h="292">
                <a:moveTo>
                  <a:pt x="424" y="0"/>
                </a:moveTo>
                <a:lnTo>
                  <a:pt x="133" y="292"/>
                </a:lnTo>
                <a:lnTo>
                  <a:pt x="0" y="159"/>
                </a:lnTo>
              </a:path>
            </a:pathLst>
          </a:custGeom>
          <a:ln cap="rnd" w="18720">
            <a:solidFill>
              <a:srgbClr val="22c061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923760" y="5204880"/>
            <a:ext cx="6080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grains.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1203120" y="4532040"/>
            <a:ext cx="2740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22c061"/>
                </a:solidFill>
                <a:effectLst/>
                <a:uFillTx/>
                <a:latin typeface="LucidaGrande"/>
                <a:ea typeface="LucidaGrande"/>
              </a:rPr>
              <a:t>The Systematic Answer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7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8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661057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766440" y="2919240"/>
            <a:ext cx="10658880" cy="1867320"/>
          </a:xfrm>
          <a:custGeom>
            <a:avLst/>
            <a:gdLst/>
            <a:ahLst/>
            <a:rect l="0" t="0" r="r" b="b"/>
            <a:pathLst>
              <a:path w="29608" h="5187">
                <a:moveTo>
                  <a:pt x="0" y="50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5041"/>
                </a:lnTo>
                <a:cubicBezTo>
                  <a:pt x="29608" y="5051"/>
                  <a:pt x="29607" y="5060"/>
                  <a:pt x="29605" y="5070"/>
                </a:cubicBezTo>
                <a:cubicBezTo>
                  <a:pt x="29604" y="5079"/>
                  <a:pt x="29601" y="5088"/>
                  <a:pt x="29597" y="5097"/>
                </a:cubicBezTo>
                <a:cubicBezTo>
                  <a:pt x="29594" y="5106"/>
                  <a:pt x="29589" y="5114"/>
                  <a:pt x="29584" y="5122"/>
                </a:cubicBezTo>
                <a:cubicBezTo>
                  <a:pt x="29578" y="5130"/>
                  <a:pt x="29572" y="5137"/>
                  <a:pt x="29566" y="5144"/>
                </a:cubicBezTo>
                <a:cubicBezTo>
                  <a:pt x="29559" y="5151"/>
                  <a:pt x="29552" y="5157"/>
                  <a:pt x="29544" y="5162"/>
                </a:cubicBezTo>
                <a:cubicBezTo>
                  <a:pt x="29536" y="5168"/>
                  <a:pt x="29527" y="5172"/>
                  <a:pt x="29518" y="5176"/>
                </a:cubicBezTo>
                <a:cubicBezTo>
                  <a:pt x="29510" y="5179"/>
                  <a:pt x="29501" y="5182"/>
                  <a:pt x="29491" y="5184"/>
                </a:cubicBezTo>
                <a:cubicBezTo>
                  <a:pt x="29482" y="5186"/>
                  <a:pt x="29472" y="5187"/>
                  <a:pt x="29463" y="5187"/>
                </a:cubicBezTo>
                <a:lnTo>
                  <a:pt x="146" y="5187"/>
                </a:lnTo>
                <a:cubicBezTo>
                  <a:pt x="136" y="5187"/>
                  <a:pt x="127" y="5186"/>
                  <a:pt x="118" y="5184"/>
                </a:cubicBezTo>
                <a:cubicBezTo>
                  <a:pt x="108" y="5182"/>
                  <a:pt x="99" y="5179"/>
                  <a:pt x="90" y="5176"/>
                </a:cubicBezTo>
                <a:cubicBezTo>
                  <a:pt x="81" y="5172"/>
                  <a:pt x="73" y="5168"/>
                  <a:pt x="65" y="5162"/>
                </a:cubicBezTo>
                <a:cubicBezTo>
                  <a:pt x="57" y="5157"/>
                  <a:pt x="50" y="5151"/>
                  <a:pt x="43" y="5144"/>
                </a:cubicBezTo>
                <a:cubicBezTo>
                  <a:pt x="36" y="5137"/>
                  <a:pt x="30" y="5130"/>
                  <a:pt x="25" y="5122"/>
                </a:cubicBezTo>
                <a:cubicBezTo>
                  <a:pt x="20" y="5114"/>
                  <a:pt x="15" y="5106"/>
                  <a:pt x="11" y="5097"/>
                </a:cubicBezTo>
                <a:cubicBezTo>
                  <a:pt x="8" y="5088"/>
                  <a:pt x="5" y="5079"/>
                  <a:pt x="3" y="5070"/>
                </a:cubicBezTo>
                <a:cubicBezTo>
                  <a:pt x="1" y="5060"/>
                  <a:pt x="0" y="5051"/>
                  <a:pt x="0" y="5041"/>
                </a:cubicBezTo>
                <a:close/>
              </a:path>
            </a:pathLst>
          </a:custGeom>
          <a:solidFill>
            <a:srgbClr val="ede8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766440" y="2919240"/>
            <a:ext cx="10658880" cy="1867320"/>
          </a:xfrm>
          <a:custGeom>
            <a:avLst/>
            <a:gdLst/>
            <a:ahLst/>
            <a:rect l="0" t="0" r="r" b="b"/>
            <a:pathLst>
              <a:path fill="none" w="29608" h="5187">
                <a:moveTo>
                  <a:pt x="0" y="50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5041"/>
                </a:lnTo>
                <a:cubicBezTo>
                  <a:pt x="29608" y="5051"/>
                  <a:pt x="29607" y="5060"/>
                  <a:pt x="29605" y="5070"/>
                </a:cubicBezTo>
                <a:cubicBezTo>
                  <a:pt x="29604" y="5079"/>
                  <a:pt x="29601" y="5088"/>
                  <a:pt x="29597" y="5097"/>
                </a:cubicBezTo>
                <a:cubicBezTo>
                  <a:pt x="29594" y="5106"/>
                  <a:pt x="29589" y="5114"/>
                  <a:pt x="29584" y="5122"/>
                </a:cubicBezTo>
                <a:cubicBezTo>
                  <a:pt x="29578" y="5130"/>
                  <a:pt x="29572" y="5137"/>
                  <a:pt x="29566" y="5144"/>
                </a:cubicBezTo>
                <a:cubicBezTo>
                  <a:pt x="29559" y="5151"/>
                  <a:pt x="29552" y="5157"/>
                  <a:pt x="29544" y="5162"/>
                </a:cubicBezTo>
                <a:cubicBezTo>
                  <a:pt x="29536" y="5168"/>
                  <a:pt x="29527" y="5172"/>
                  <a:pt x="29518" y="5176"/>
                </a:cubicBezTo>
                <a:cubicBezTo>
                  <a:pt x="29510" y="5179"/>
                  <a:pt x="29501" y="5182"/>
                  <a:pt x="29491" y="5184"/>
                </a:cubicBezTo>
                <a:cubicBezTo>
                  <a:pt x="29482" y="5186"/>
                  <a:pt x="29472" y="5187"/>
                  <a:pt x="29463" y="5187"/>
                </a:cubicBezTo>
                <a:lnTo>
                  <a:pt x="146" y="5187"/>
                </a:lnTo>
                <a:cubicBezTo>
                  <a:pt x="136" y="5187"/>
                  <a:pt x="127" y="5186"/>
                  <a:pt x="118" y="5184"/>
                </a:cubicBezTo>
                <a:cubicBezTo>
                  <a:pt x="108" y="5182"/>
                  <a:pt x="99" y="5179"/>
                  <a:pt x="90" y="5176"/>
                </a:cubicBezTo>
                <a:cubicBezTo>
                  <a:pt x="81" y="5172"/>
                  <a:pt x="73" y="5168"/>
                  <a:pt x="65" y="5162"/>
                </a:cubicBezTo>
                <a:cubicBezTo>
                  <a:pt x="57" y="5157"/>
                  <a:pt x="50" y="5151"/>
                  <a:pt x="43" y="5144"/>
                </a:cubicBezTo>
                <a:cubicBezTo>
                  <a:pt x="36" y="5137"/>
                  <a:pt x="30" y="5130"/>
                  <a:pt x="25" y="5122"/>
                </a:cubicBezTo>
                <a:cubicBezTo>
                  <a:pt x="20" y="5114"/>
                  <a:pt x="15" y="5106"/>
                  <a:pt x="11" y="5097"/>
                </a:cubicBezTo>
                <a:cubicBezTo>
                  <a:pt x="8" y="5088"/>
                  <a:pt x="5" y="5079"/>
                  <a:pt x="3" y="5070"/>
                </a:cubicBezTo>
                <a:cubicBezTo>
                  <a:pt x="1" y="5060"/>
                  <a:pt x="0" y="5051"/>
                  <a:pt x="0" y="5041"/>
                </a:cubicBezTo>
              </a:path>
            </a:pathLst>
          </a:custGeom>
          <a:ln w="9360">
            <a:solidFill>
              <a:srgbClr val="c9b9f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762120" y="372600"/>
            <a:ext cx="105246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In-Class Puzzle: The Five Glasses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923760" y="3519000"/>
            <a:ext cx="102564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Six glasses stand in a row; the three on the left are full. Moving only </a:t>
            </a:r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one 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glass, alternate full and empty (pour glass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923760" y="3795120"/>
            <a:ext cx="28411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2 into glass 5 — separating the 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3808440" y="3795120"/>
            <a:ext cx="51984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9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liquid</a:t>
            </a:r>
            <a:endParaRPr b="0" lang="en-US" sz="14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4266720" y="3795120"/>
            <a:ext cx="883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from the 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5193360" y="3795120"/>
            <a:ext cx="47016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9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glass</a:t>
            </a:r>
            <a:endParaRPr b="0" lang="en-US" sz="14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5603400" y="3795120"/>
            <a:ext cx="182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).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923760" y="4128480"/>
            <a:ext cx="101739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Now solve the </a:t>
            </a:r>
            <a:r>
              <a:rPr b="1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ﬁve</a:t>
            </a:r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-glasses version yourself: rearrange them to alternate empty/full, moving only one glass. Which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952200" y="3171600"/>
            <a:ext cx="172080" cy="114840"/>
          </a:xfrm>
          <a:custGeom>
            <a:avLst/>
            <a:gdLst/>
            <a:ahLst/>
            <a:rect l="0" t="0" r="r" b="b"/>
            <a:pathLst>
              <a:path fill="none" w="478" h="319">
                <a:moveTo>
                  <a:pt x="133" y="0"/>
                </a:moveTo>
                <a:lnTo>
                  <a:pt x="478" y="0"/>
                </a:lnTo>
                <a:moveTo>
                  <a:pt x="133" y="159"/>
                </a:moveTo>
                <a:lnTo>
                  <a:pt x="478" y="159"/>
                </a:lnTo>
                <a:moveTo>
                  <a:pt x="133" y="319"/>
                </a:moveTo>
                <a:lnTo>
                  <a:pt x="478" y="319"/>
                </a:lnTo>
                <a:moveTo>
                  <a:pt x="0" y="0"/>
                </a:moveTo>
                <a:lnTo>
                  <a:pt x="1" y="0"/>
                </a:lnTo>
                <a:moveTo>
                  <a:pt x="0" y="159"/>
                </a:moveTo>
                <a:lnTo>
                  <a:pt x="1" y="159"/>
                </a:lnTo>
                <a:moveTo>
                  <a:pt x="0" y="319"/>
                </a:moveTo>
                <a:lnTo>
                  <a:pt x="1" y="319"/>
                </a:lnTo>
              </a:path>
            </a:pathLst>
          </a:custGeom>
          <a:ln cap="rnd" w="18720">
            <a:solidFill>
              <a:srgbClr val="7852ee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923760" y="4404600"/>
            <a:ext cx="1510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tool did you use?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1203120" y="3122280"/>
            <a:ext cx="5414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7852ee"/>
                </a:solidFill>
                <a:effectLst/>
                <a:uFillTx/>
                <a:latin typeface="LucidaGrande"/>
                <a:ea typeface="LucidaGrande"/>
              </a:rPr>
              <a:t>Try It — Using One of the Five Thinking Tools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38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9" name=""/>
          <p:cNvSpPr txBox="1"/>
          <p:nvPr/>
        </p:nvSpPr>
        <p:spPr>
          <a:xfrm>
            <a:off x="762120" y="2918160"/>
            <a:ext cx="10087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 earlier, broader checklist of prompts (Osborn; acronym by Eberle) for reworking an existing idea or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762120" y="3223080"/>
            <a:ext cx="671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object: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762120" y="3680280"/>
            <a:ext cx="9708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ubstitute ·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ombine ·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dapt ·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agnify ·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odify ·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ut to other uses ·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liminate (or divide) ·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everse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762120" y="4127760"/>
            <a:ext cx="10244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Kaplan (reporting Horowitz) summarises the relationship simply: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ASIT ≈ SCAMPER + the Closed World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762120" y="4432680"/>
            <a:ext cx="1032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condition.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661057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762120" y="372600"/>
            <a:ext cx="29458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SCAMPER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52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3" name=""/>
          <p:cNvSpPr txBox="1"/>
          <p:nvPr/>
        </p:nvSpPr>
        <p:spPr>
          <a:xfrm>
            <a:off x="762120" y="2489760"/>
            <a:ext cx="10069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Raviv's framework, taught at Florida Atlantic University through hands-on puzzles, games, and design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762120" y="2794320"/>
            <a:ext cx="857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projects: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762120" y="4251600"/>
            <a:ext cx="4414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Each dimension is a question you can ask of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5235120" y="4251600"/>
            <a:ext cx="35460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any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5530680" y="4251600"/>
            <a:ext cx="5205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problem — e.g. "Could this be done from a diﬀerent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762120" y="4556520"/>
            <a:ext cx="8790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direction?" (Directionality) or "What if we experimented/simulated instead of calculating?"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762120" y="4861440"/>
            <a:ext cx="1813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(Experimentation).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661057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762120" y="-8280"/>
            <a:ext cx="73026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The Eight-Dimensional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766440" y="3338280"/>
            <a:ext cx="5277240" cy="762480"/>
          </a:xfrm>
          <a:custGeom>
            <a:avLst/>
            <a:gdLst/>
            <a:ahLst/>
            <a:rect l="0" t="0" r="r" b="b"/>
            <a:pathLst>
              <a:path w="14659" h="2118">
                <a:moveTo>
                  <a:pt x="0" y="197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1972"/>
                </a:lnTo>
                <a:cubicBezTo>
                  <a:pt x="14659" y="1982"/>
                  <a:pt x="14658" y="1991"/>
                  <a:pt x="14657" y="2001"/>
                </a:cubicBezTo>
                <a:cubicBezTo>
                  <a:pt x="14655" y="2010"/>
                  <a:pt x="14652" y="2019"/>
                  <a:pt x="14648" y="2028"/>
                </a:cubicBezTo>
                <a:cubicBezTo>
                  <a:pt x="14645" y="2037"/>
                  <a:pt x="14640" y="2045"/>
                  <a:pt x="14635" y="2053"/>
                </a:cubicBezTo>
                <a:cubicBezTo>
                  <a:pt x="14629" y="2061"/>
                  <a:pt x="14623" y="2068"/>
                  <a:pt x="14617" y="2075"/>
                </a:cubicBezTo>
                <a:cubicBezTo>
                  <a:pt x="14610" y="2082"/>
                  <a:pt x="14603" y="2088"/>
                  <a:pt x="14595" y="2093"/>
                </a:cubicBezTo>
                <a:cubicBezTo>
                  <a:pt x="14587" y="2099"/>
                  <a:pt x="14578" y="2103"/>
                  <a:pt x="14569" y="2107"/>
                </a:cubicBezTo>
                <a:cubicBezTo>
                  <a:pt x="14561" y="2110"/>
                  <a:pt x="14552" y="2113"/>
                  <a:pt x="14542" y="2115"/>
                </a:cubicBezTo>
                <a:cubicBezTo>
                  <a:pt x="14533" y="2117"/>
                  <a:pt x="14523" y="2118"/>
                  <a:pt x="14514" y="2118"/>
                </a:cubicBezTo>
                <a:lnTo>
                  <a:pt x="146" y="2118"/>
                </a:lnTo>
                <a:cubicBezTo>
                  <a:pt x="136" y="2118"/>
                  <a:pt x="127" y="2117"/>
                  <a:pt x="118" y="2115"/>
                </a:cubicBezTo>
                <a:cubicBezTo>
                  <a:pt x="108" y="2113"/>
                  <a:pt x="99" y="2110"/>
                  <a:pt x="90" y="2107"/>
                </a:cubicBezTo>
                <a:cubicBezTo>
                  <a:pt x="81" y="2103"/>
                  <a:pt x="73" y="2099"/>
                  <a:pt x="65" y="2093"/>
                </a:cubicBezTo>
                <a:cubicBezTo>
                  <a:pt x="57" y="2088"/>
                  <a:pt x="50" y="2082"/>
                  <a:pt x="43" y="2075"/>
                </a:cubicBezTo>
                <a:cubicBezTo>
                  <a:pt x="36" y="2068"/>
                  <a:pt x="30" y="2061"/>
                  <a:pt x="25" y="2053"/>
                </a:cubicBezTo>
                <a:cubicBezTo>
                  <a:pt x="20" y="2045"/>
                  <a:pt x="15" y="2037"/>
                  <a:pt x="11" y="2028"/>
                </a:cubicBezTo>
                <a:cubicBezTo>
                  <a:pt x="8" y="2019"/>
                  <a:pt x="5" y="2010"/>
                  <a:pt x="3" y="2001"/>
                </a:cubicBezTo>
                <a:cubicBezTo>
                  <a:pt x="1" y="1991"/>
                  <a:pt x="0" y="1982"/>
                  <a:pt x="0" y="1972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766440" y="3338280"/>
            <a:ext cx="5277240" cy="762480"/>
          </a:xfrm>
          <a:custGeom>
            <a:avLst/>
            <a:gdLst/>
            <a:ahLst/>
            <a:rect l="0" t="0" r="r" b="b"/>
            <a:pathLst>
              <a:path fill="none" w="14659" h="2118">
                <a:moveTo>
                  <a:pt x="0" y="197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7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1972"/>
                </a:lnTo>
                <a:cubicBezTo>
                  <a:pt x="14659" y="1982"/>
                  <a:pt x="14658" y="1991"/>
                  <a:pt x="14657" y="2001"/>
                </a:cubicBezTo>
                <a:cubicBezTo>
                  <a:pt x="14655" y="2010"/>
                  <a:pt x="14652" y="2019"/>
                  <a:pt x="14648" y="2028"/>
                </a:cubicBezTo>
                <a:cubicBezTo>
                  <a:pt x="14645" y="2037"/>
                  <a:pt x="14640" y="2045"/>
                  <a:pt x="14635" y="2053"/>
                </a:cubicBezTo>
                <a:cubicBezTo>
                  <a:pt x="14629" y="2061"/>
                  <a:pt x="14623" y="2068"/>
                  <a:pt x="14617" y="2075"/>
                </a:cubicBezTo>
                <a:cubicBezTo>
                  <a:pt x="14610" y="2082"/>
                  <a:pt x="14603" y="2088"/>
                  <a:pt x="14595" y="2093"/>
                </a:cubicBezTo>
                <a:cubicBezTo>
                  <a:pt x="14587" y="2099"/>
                  <a:pt x="14578" y="2103"/>
                  <a:pt x="14569" y="2107"/>
                </a:cubicBezTo>
                <a:cubicBezTo>
                  <a:pt x="14561" y="2110"/>
                  <a:pt x="14552" y="2113"/>
                  <a:pt x="14542" y="2115"/>
                </a:cubicBezTo>
                <a:cubicBezTo>
                  <a:pt x="14533" y="2117"/>
                  <a:pt x="14523" y="2118"/>
                  <a:pt x="14514" y="2118"/>
                </a:cubicBezTo>
                <a:lnTo>
                  <a:pt x="146" y="2118"/>
                </a:lnTo>
                <a:cubicBezTo>
                  <a:pt x="136" y="2118"/>
                  <a:pt x="127" y="2117"/>
                  <a:pt x="118" y="2115"/>
                </a:cubicBezTo>
                <a:cubicBezTo>
                  <a:pt x="108" y="2113"/>
                  <a:pt x="99" y="2110"/>
                  <a:pt x="90" y="2107"/>
                </a:cubicBezTo>
                <a:cubicBezTo>
                  <a:pt x="81" y="2103"/>
                  <a:pt x="73" y="2099"/>
                  <a:pt x="65" y="2093"/>
                </a:cubicBezTo>
                <a:cubicBezTo>
                  <a:pt x="57" y="2088"/>
                  <a:pt x="50" y="2082"/>
                  <a:pt x="43" y="2075"/>
                </a:cubicBezTo>
                <a:cubicBezTo>
                  <a:pt x="36" y="2068"/>
                  <a:pt x="30" y="2061"/>
                  <a:pt x="25" y="2053"/>
                </a:cubicBezTo>
                <a:cubicBezTo>
                  <a:pt x="20" y="2045"/>
                  <a:pt x="15" y="2037"/>
                  <a:pt x="11" y="2028"/>
                </a:cubicBezTo>
                <a:cubicBezTo>
                  <a:pt x="8" y="2019"/>
                  <a:pt x="5" y="2010"/>
                  <a:pt x="3" y="2001"/>
                </a:cubicBezTo>
                <a:cubicBezTo>
                  <a:pt x="1" y="1991"/>
                  <a:pt x="0" y="1982"/>
                  <a:pt x="0" y="1972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762120" y="753480"/>
            <a:ext cx="40863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Methodology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923760" y="3442680"/>
            <a:ext cx="3985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Uniqueness · Dimensionality · Directionality ·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6148080" y="3338280"/>
            <a:ext cx="5277240" cy="762480"/>
          </a:xfrm>
          <a:custGeom>
            <a:avLst/>
            <a:gdLst/>
            <a:ahLst/>
            <a:rect l="0" t="0" r="r" b="b"/>
            <a:pathLst>
              <a:path w="14659" h="2118">
                <a:moveTo>
                  <a:pt x="0" y="197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1972"/>
                </a:lnTo>
                <a:cubicBezTo>
                  <a:pt x="14659" y="1982"/>
                  <a:pt x="14658" y="1991"/>
                  <a:pt x="14656" y="2001"/>
                </a:cubicBezTo>
                <a:cubicBezTo>
                  <a:pt x="14655" y="2010"/>
                  <a:pt x="14652" y="2019"/>
                  <a:pt x="14648" y="2028"/>
                </a:cubicBezTo>
                <a:cubicBezTo>
                  <a:pt x="14645" y="2037"/>
                  <a:pt x="14640" y="2045"/>
                  <a:pt x="14635" y="2053"/>
                </a:cubicBezTo>
                <a:cubicBezTo>
                  <a:pt x="14629" y="2061"/>
                  <a:pt x="14623" y="2068"/>
                  <a:pt x="14617" y="2075"/>
                </a:cubicBezTo>
                <a:cubicBezTo>
                  <a:pt x="14610" y="2082"/>
                  <a:pt x="14603" y="2088"/>
                  <a:pt x="14595" y="2093"/>
                </a:cubicBezTo>
                <a:cubicBezTo>
                  <a:pt x="14587" y="2099"/>
                  <a:pt x="14578" y="2103"/>
                  <a:pt x="14569" y="2107"/>
                </a:cubicBezTo>
                <a:cubicBezTo>
                  <a:pt x="14561" y="2110"/>
                  <a:pt x="14552" y="2113"/>
                  <a:pt x="14542" y="2115"/>
                </a:cubicBezTo>
                <a:cubicBezTo>
                  <a:pt x="14533" y="2117"/>
                  <a:pt x="14523" y="2118"/>
                  <a:pt x="14514" y="2118"/>
                </a:cubicBezTo>
                <a:lnTo>
                  <a:pt x="146" y="2118"/>
                </a:lnTo>
                <a:cubicBezTo>
                  <a:pt x="136" y="2118"/>
                  <a:pt x="127" y="2117"/>
                  <a:pt x="117" y="2115"/>
                </a:cubicBezTo>
                <a:cubicBezTo>
                  <a:pt x="108" y="2113"/>
                  <a:pt x="99" y="2110"/>
                  <a:pt x="90" y="2107"/>
                </a:cubicBezTo>
                <a:cubicBezTo>
                  <a:pt x="81" y="2103"/>
                  <a:pt x="73" y="2099"/>
                  <a:pt x="65" y="2093"/>
                </a:cubicBezTo>
                <a:cubicBezTo>
                  <a:pt x="57" y="2088"/>
                  <a:pt x="50" y="2082"/>
                  <a:pt x="43" y="2075"/>
                </a:cubicBezTo>
                <a:cubicBezTo>
                  <a:pt x="36" y="2068"/>
                  <a:pt x="30" y="2061"/>
                  <a:pt x="25" y="2053"/>
                </a:cubicBezTo>
                <a:cubicBezTo>
                  <a:pt x="20" y="2045"/>
                  <a:pt x="15" y="2037"/>
                  <a:pt x="11" y="2028"/>
                </a:cubicBezTo>
                <a:cubicBezTo>
                  <a:pt x="8" y="2019"/>
                  <a:pt x="5" y="2010"/>
                  <a:pt x="3" y="2001"/>
                </a:cubicBezTo>
                <a:cubicBezTo>
                  <a:pt x="1" y="1991"/>
                  <a:pt x="0" y="1982"/>
                  <a:pt x="0" y="1972"/>
                </a:cubicBezTo>
                <a:close/>
              </a:path>
            </a:pathLst>
          </a:custGeom>
          <a:solidFill>
            <a:srgbClr val="e9f2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6148080" y="3338280"/>
            <a:ext cx="5277240" cy="762480"/>
          </a:xfrm>
          <a:custGeom>
            <a:avLst/>
            <a:gdLst/>
            <a:ahLst/>
            <a:rect l="0" t="0" r="r" b="b"/>
            <a:pathLst>
              <a:path fill="none" w="14659" h="2118">
                <a:moveTo>
                  <a:pt x="0" y="197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14514" y="0"/>
                </a:lnTo>
                <a:cubicBezTo>
                  <a:pt x="14523" y="0"/>
                  <a:pt x="14533" y="1"/>
                  <a:pt x="14542" y="3"/>
                </a:cubicBezTo>
                <a:cubicBezTo>
                  <a:pt x="14552" y="5"/>
                  <a:pt x="14561" y="8"/>
                  <a:pt x="14569" y="11"/>
                </a:cubicBezTo>
                <a:cubicBezTo>
                  <a:pt x="14578" y="15"/>
                  <a:pt x="14587" y="19"/>
                  <a:pt x="14595" y="25"/>
                </a:cubicBezTo>
                <a:cubicBezTo>
                  <a:pt x="14603" y="30"/>
                  <a:pt x="14610" y="36"/>
                  <a:pt x="14617" y="43"/>
                </a:cubicBezTo>
                <a:cubicBezTo>
                  <a:pt x="14623" y="50"/>
                  <a:pt x="14629" y="57"/>
                  <a:pt x="14635" y="65"/>
                </a:cubicBezTo>
                <a:cubicBezTo>
                  <a:pt x="14640" y="73"/>
                  <a:pt x="14645" y="81"/>
                  <a:pt x="14648" y="90"/>
                </a:cubicBezTo>
                <a:cubicBezTo>
                  <a:pt x="14652" y="99"/>
                  <a:pt x="14655" y="108"/>
                  <a:pt x="14656" y="117"/>
                </a:cubicBezTo>
                <a:cubicBezTo>
                  <a:pt x="14658" y="127"/>
                  <a:pt x="14659" y="136"/>
                  <a:pt x="14659" y="146"/>
                </a:cubicBezTo>
                <a:lnTo>
                  <a:pt x="14659" y="1972"/>
                </a:lnTo>
                <a:cubicBezTo>
                  <a:pt x="14659" y="1982"/>
                  <a:pt x="14658" y="1991"/>
                  <a:pt x="14656" y="2001"/>
                </a:cubicBezTo>
                <a:cubicBezTo>
                  <a:pt x="14655" y="2010"/>
                  <a:pt x="14652" y="2019"/>
                  <a:pt x="14648" y="2028"/>
                </a:cubicBezTo>
                <a:cubicBezTo>
                  <a:pt x="14645" y="2037"/>
                  <a:pt x="14640" y="2045"/>
                  <a:pt x="14635" y="2053"/>
                </a:cubicBezTo>
                <a:cubicBezTo>
                  <a:pt x="14629" y="2061"/>
                  <a:pt x="14623" y="2068"/>
                  <a:pt x="14617" y="2075"/>
                </a:cubicBezTo>
                <a:cubicBezTo>
                  <a:pt x="14610" y="2082"/>
                  <a:pt x="14603" y="2088"/>
                  <a:pt x="14595" y="2093"/>
                </a:cubicBezTo>
                <a:cubicBezTo>
                  <a:pt x="14587" y="2099"/>
                  <a:pt x="14578" y="2103"/>
                  <a:pt x="14569" y="2107"/>
                </a:cubicBezTo>
                <a:cubicBezTo>
                  <a:pt x="14561" y="2110"/>
                  <a:pt x="14552" y="2113"/>
                  <a:pt x="14542" y="2115"/>
                </a:cubicBezTo>
                <a:cubicBezTo>
                  <a:pt x="14533" y="2117"/>
                  <a:pt x="14523" y="2118"/>
                  <a:pt x="14514" y="2118"/>
                </a:cubicBezTo>
                <a:lnTo>
                  <a:pt x="146" y="2118"/>
                </a:lnTo>
                <a:cubicBezTo>
                  <a:pt x="136" y="2118"/>
                  <a:pt x="127" y="2117"/>
                  <a:pt x="117" y="2115"/>
                </a:cubicBezTo>
                <a:cubicBezTo>
                  <a:pt x="108" y="2113"/>
                  <a:pt x="99" y="2110"/>
                  <a:pt x="90" y="2107"/>
                </a:cubicBezTo>
                <a:cubicBezTo>
                  <a:pt x="81" y="2103"/>
                  <a:pt x="73" y="2099"/>
                  <a:pt x="65" y="2093"/>
                </a:cubicBezTo>
                <a:cubicBezTo>
                  <a:pt x="57" y="2088"/>
                  <a:pt x="50" y="2082"/>
                  <a:pt x="43" y="2075"/>
                </a:cubicBezTo>
                <a:cubicBezTo>
                  <a:pt x="36" y="2068"/>
                  <a:pt x="30" y="2061"/>
                  <a:pt x="25" y="2053"/>
                </a:cubicBezTo>
                <a:cubicBezTo>
                  <a:pt x="20" y="2045"/>
                  <a:pt x="15" y="2037"/>
                  <a:pt x="11" y="2028"/>
                </a:cubicBezTo>
                <a:cubicBezTo>
                  <a:pt x="8" y="2019"/>
                  <a:pt x="5" y="2010"/>
                  <a:pt x="3" y="2001"/>
                </a:cubicBezTo>
                <a:cubicBezTo>
                  <a:pt x="1" y="1991"/>
                  <a:pt x="0" y="1982"/>
                  <a:pt x="0" y="1972"/>
                </a:cubicBezTo>
              </a:path>
            </a:pathLst>
          </a:custGeom>
          <a:ln w="9360">
            <a:solidFill>
              <a:srgbClr val="bcd8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923760" y="3718800"/>
            <a:ext cx="1227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Consolidation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6305400" y="3442680"/>
            <a:ext cx="3598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Segmentation · Modiﬁcation · Similarity ·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6305400" y="3718800"/>
            <a:ext cx="1459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Experimentation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285480" y="3695400"/>
            <a:ext cx="1905480" cy="76680"/>
          </a:xfrm>
          <a:custGeom>
            <a:avLst/>
            <a:gdLst/>
            <a:ahLst/>
            <a:rect l="0" t="0" r="r" b="b"/>
            <a:pathLst>
              <a:path w="5293" h="213">
                <a:moveTo>
                  <a:pt x="0" y="0"/>
                </a:moveTo>
                <a:lnTo>
                  <a:pt x="5293" y="0"/>
                </a:lnTo>
                <a:lnTo>
                  <a:pt x="5293" y="213"/>
                </a:lnTo>
                <a:lnTo>
                  <a:pt x="0" y="2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762120" y="2624040"/>
            <a:ext cx="275040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Part III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762120" y="3788640"/>
            <a:ext cx="335556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Worked Practice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83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4" name=""/>
          <p:cNvSpPr/>
          <p:nvPr/>
        </p:nvSpPr>
        <p:spPr>
          <a:xfrm>
            <a:off x="761760" y="2304720"/>
            <a:ext cx="47880" cy="305280"/>
          </a:xfrm>
          <a:custGeom>
            <a:avLst/>
            <a:gdLst/>
            <a:ahLst/>
            <a:rect l="0" t="0" r="r" b="b"/>
            <a:pathLst>
              <a:path w="133" h="848">
                <a:moveTo>
                  <a:pt x="0" y="0"/>
                </a:moveTo>
                <a:lnTo>
                  <a:pt x="133" y="0"/>
                </a:lnTo>
                <a:lnTo>
                  <a:pt x="133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6953040" y="2333520"/>
            <a:ext cx="238680" cy="267120"/>
          </a:xfrm>
          <a:custGeom>
            <a:avLst/>
            <a:gdLst/>
            <a:ahLst/>
            <a:rect l="0" t="0" r="r" b="b"/>
            <a:pathLst>
              <a:path w="663" h="742">
                <a:moveTo>
                  <a:pt x="0" y="583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04" y="0"/>
                </a:lnTo>
                <a:cubicBezTo>
                  <a:pt x="514" y="0"/>
                  <a:pt x="525" y="1"/>
                  <a:pt x="535" y="3"/>
                </a:cubicBezTo>
                <a:cubicBezTo>
                  <a:pt x="545" y="5"/>
                  <a:pt x="555" y="8"/>
                  <a:pt x="565" y="12"/>
                </a:cubicBezTo>
                <a:cubicBezTo>
                  <a:pt x="574" y="16"/>
                  <a:pt x="583" y="21"/>
                  <a:pt x="592" y="27"/>
                </a:cubicBezTo>
                <a:cubicBezTo>
                  <a:pt x="601" y="32"/>
                  <a:pt x="609" y="39"/>
                  <a:pt x="616" y="46"/>
                </a:cubicBezTo>
                <a:cubicBezTo>
                  <a:pt x="623" y="54"/>
                  <a:pt x="630" y="62"/>
                  <a:pt x="636" y="70"/>
                </a:cubicBezTo>
                <a:cubicBezTo>
                  <a:pt x="642" y="79"/>
                  <a:pt x="646" y="88"/>
                  <a:pt x="650" y="98"/>
                </a:cubicBezTo>
                <a:cubicBezTo>
                  <a:pt x="654" y="107"/>
                  <a:pt x="657" y="117"/>
                  <a:pt x="659" y="128"/>
                </a:cubicBezTo>
                <a:cubicBezTo>
                  <a:pt x="662" y="138"/>
                  <a:pt x="663" y="148"/>
                  <a:pt x="663" y="159"/>
                </a:cubicBezTo>
                <a:lnTo>
                  <a:pt x="663" y="583"/>
                </a:lnTo>
                <a:cubicBezTo>
                  <a:pt x="663" y="593"/>
                  <a:pt x="662" y="604"/>
                  <a:pt x="659" y="614"/>
                </a:cubicBezTo>
                <a:cubicBezTo>
                  <a:pt x="657" y="624"/>
                  <a:pt x="654" y="634"/>
                  <a:pt x="650" y="644"/>
                </a:cubicBezTo>
                <a:cubicBezTo>
                  <a:pt x="646" y="653"/>
                  <a:pt x="642" y="662"/>
                  <a:pt x="636" y="671"/>
                </a:cubicBezTo>
                <a:cubicBezTo>
                  <a:pt x="630" y="680"/>
                  <a:pt x="623" y="688"/>
                  <a:pt x="616" y="695"/>
                </a:cubicBezTo>
                <a:cubicBezTo>
                  <a:pt x="609" y="702"/>
                  <a:pt x="601" y="709"/>
                  <a:pt x="592" y="715"/>
                </a:cubicBezTo>
                <a:cubicBezTo>
                  <a:pt x="583" y="721"/>
                  <a:pt x="574" y="726"/>
                  <a:pt x="565" y="730"/>
                </a:cubicBezTo>
                <a:cubicBezTo>
                  <a:pt x="555" y="734"/>
                  <a:pt x="545" y="737"/>
                  <a:pt x="535" y="739"/>
                </a:cubicBezTo>
                <a:cubicBezTo>
                  <a:pt x="525" y="741"/>
                  <a:pt x="514" y="742"/>
                  <a:pt x="504" y="742"/>
                </a:cubicBezTo>
                <a:lnTo>
                  <a:pt x="159" y="742"/>
                </a:lnTo>
                <a:cubicBezTo>
                  <a:pt x="148" y="742"/>
                  <a:pt x="138" y="741"/>
                  <a:pt x="128" y="739"/>
                </a:cubicBezTo>
                <a:cubicBezTo>
                  <a:pt x="118" y="737"/>
                  <a:pt x="108" y="734"/>
                  <a:pt x="98" y="730"/>
                </a:cubicBezTo>
                <a:cubicBezTo>
                  <a:pt x="88" y="726"/>
                  <a:pt x="79" y="721"/>
                  <a:pt x="71" y="715"/>
                </a:cubicBezTo>
                <a:cubicBezTo>
                  <a:pt x="62" y="709"/>
                  <a:pt x="54" y="702"/>
                  <a:pt x="47" y="695"/>
                </a:cubicBezTo>
                <a:cubicBezTo>
                  <a:pt x="39" y="688"/>
                  <a:pt x="33" y="680"/>
                  <a:pt x="27" y="671"/>
                </a:cubicBezTo>
                <a:cubicBezTo>
                  <a:pt x="21" y="662"/>
                  <a:pt x="16" y="653"/>
                  <a:pt x="12" y="644"/>
                </a:cubicBezTo>
                <a:cubicBezTo>
                  <a:pt x="8" y="634"/>
                  <a:pt x="5" y="624"/>
                  <a:pt x="3" y="614"/>
                </a:cubicBezTo>
                <a:cubicBezTo>
                  <a:pt x="1" y="604"/>
                  <a:pt x="0" y="593"/>
                  <a:pt x="0" y="58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1012680" y="2337120"/>
            <a:ext cx="5925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59636e"/>
                </a:solidFill>
                <a:effectLst/>
                <a:uFillTx/>
                <a:latin typeface="LucidaGrande"/>
                <a:ea typeface="LucidaGrande"/>
              </a:rPr>
              <a:t>Given the head of a linked list, rotate the list to the right by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7021080" y="2369880"/>
            <a:ext cx="1724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k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7194240" y="2337120"/>
            <a:ext cx="747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59636e"/>
                </a:solidFill>
                <a:effectLst/>
                <a:uFillTx/>
                <a:latin typeface="LucidaGrande"/>
                <a:ea typeface="LucidaGrande"/>
              </a:rPr>
              <a:t> places.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762120" y="2794320"/>
            <a:ext cx="10491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Clarifying questions, as in a real interview: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Is there a maximum length? Could the list be empty, or have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2571480" y="3095280"/>
            <a:ext cx="248040" cy="267120"/>
          </a:xfrm>
          <a:custGeom>
            <a:avLst/>
            <a:gdLst/>
            <a:ahLst/>
            <a:rect l="0" t="0" r="r" b="b"/>
            <a:pathLst>
              <a:path w="689" h="742">
                <a:moveTo>
                  <a:pt x="0" y="583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2" y="27"/>
                </a:cubicBezTo>
                <a:cubicBezTo>
                  <a:pt x="80" y="21"/>
                  <a:pt x="90" y="17"/>
                  <a:pt x="99" y="13"/>
                </a:cubicBezTo>
                <a:cubicBezTo>
                  <a:pt x="109" y="9"/>
                  <a:pt x="119" y="6"/>
                  <a:pt x="129" y="4"/>
                </a:cubicBezTo>
                <a:cubicBezTo>
                  <a:pt x="139" y="1"/>
                  <a:pt x="150" y="0"/>
                  <a:pt x="160" y="0"/>
                </a:cubicBezTo>
                <a:lnTo>
                  <a:pt x="530" y="0"/>
                </a:lnTo>
                <a:cubicBezTo>
                  <a:pt x="541" y="0"/>
                  <a:pt x="551" y="1"/>
                  <a:pt x="561" y="4"/>
                </a:cubicBezTo>
                <a:cubicBezTo>
                  <a:pt x="572" y="6"/>
                  <a:pt x="582" y="9"/>
                  <a:pt x="591" y="13"/>
                </a:cubicBezTo>
                <a:cubicBezTo>
                  <a:pt x="601" y="17"/>
                  <a:pt x="610" y="21"/>
                  <a:pt x="619" y="27"/>
                </a:cubicBezTo>
                <a:cubicBezTo>
                  <a:pt x="627" y="33"/>
                  <a:pt x="635" y="40"/>
                  <a:pt x="643" y="47"/>
                </a:cubicBezTo>
                <a:cubicBezTo>
                  <a:pt x="650" y="54"/>
                  <a:pt x="657" y="62"/>
                  <a:pt x="662" y="71"/>
                </a:cubicBezTo>
                <a:cubicBezTo>
                  <a:pt x="668" y="80"/>
                  <a:pt x="673" y="89"/>
                  <a:pt x="677" y="98"/>
                </a:cubicBezTo>
                <a:cubicBezTo>
                  <a:pt x="681" y="108"/>
                  <a:pt x="684" y="118"/>
                  <a:pt x="686" y="128"/>
                </a:cubicBezTo>
                <a:cubicBezTo>
                  <a:pt x="688" y="138"/>
                  <a:pt x="689" y="149"/>
                  <a:pt x="689" y="159"/>
                </a:cubicBezTo>
                <a:lnTo>
                  <a:pt x="689" y="583"/>
                </a:lnTo>
                <a:cubicBezTo>
                  <a:pt x="689" y="593"/>
                  <a:pt x="688" y="603"/>
                  <a:pt x="686" y="614"/>
                </a:cubicBezTo>
                <a:cubicBezTo>
                  <a:pt x="684" y="624"/>
                  <a:pt x="681" y="634"/>
                  <a:pt x="677" y="643"/>
                </a:cubicBezTo>
                <a:cubicBezTo>
                  <a:pt x="673" y="654"/>
                  <a:pt x="668" y="663"/>
                  <a:pt x="662" y="672"/>
                </a:cubicBezTo>
                <a:cubicBezTo>
                  <a:pt x="657" y="680"/>
                  <a:pt x="650" y="688"/>
                  <a:pt x="643" y="696"/>
                </a:cubicBezTo>
                <a:cubicBezTo>
                  <a:pt x="635" y="703"/>
                  <a:pt x="627" y="710"/>
                  <a:pt x="619" y="716"/>
                </a:cubicBezTo>
                <a:cubicBezTo>
                  <a:pt x="610" y="721"/>
                  <a:pt x="601" y="726"/>
                  <a:pt x="591" y="730"/>
                </a:cubicBezTo>
                <a:cubicBezTo>
                  <a:pt x="582" y="734"/>
                  <a:pt x="572" y="737"/>
                  <a:pt x="561" y="739"/>
                </a:cubicBezTo>
                <a:cubicBezTo>
                  <a:pt x="551" y="741"/>
                  <a:pt x="541" y="742"/>
                  <a:pt x="530" y="742"/>
                </a:cubicBezTo>
                <a:lnTo>
                  <a:pt x="160" y="742"/>
                </a:lnTo>
                <a:cubicBezTo>
                  <a:pt x="150" y="742"/>
                  <a:pt x="139" y="741"/>
                  <a:pt x="129" y="739"/>
                </a:cubicBezTo>
                <a:cubicBezTo>
                  <a:pt x="119" y="737"/>
                  <a:pt x="109" y="734"/>
                  <a:pt x="99" y="730"/>
                </a:cubicBezTo>
                <a:cubicBezTo>
                  <a:pt x="90" y="726"/>
                  <a:pt x="80" y="721"/>
                  <a:pt x="72" y="716"/>
                </a:cubicBezTo>
                <a:cubicBezTo>
                  <a:pt x="62" y="710"/>
                  <a:pt x="54" y="703"/>
                  <a:pt x="47" y="696"/>
                </a:cubicBezTo>
                <a:cubicBezTo>
                  <a:pt x="39" y="688"/>
                  <a:pt x="33" y="680"/>
                  <a:pt x="27" y="672"/>
                </a:cubicBezTo>
                <a:cubicBezTo>
                  <a:pt x="21" y="663"/>
                  <a:pt x="16" y="654"/>
                  <a:pt x="12" y="643"/>
                </a:cubicBezTo>
                <a:cubicBezTo>
                  <a:pt x="8" y="634"/>
                  <a:pt x="5" y="624"/>
                  <a:pt x="3" y="614"/>
                </a:cubicBezTo>
                <a:cubicBezTo>
                  <a:pt x="1" y="603"/>
                  <a:pt x="0" y="593"/>
                  <a:pt x="0" y="58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762120" y="3099240"/>
            <a:ext cx="1807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one element? Can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2642760" y="3132000"/>
            <a:ext cx="1724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k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2815920" y="3099240"/>
            <a:ext cx="1284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be negative?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3390840" y="3552480"/>
            <a:ext cx="238320" cy="267120"/>
          </a:xfrm>
          <a:custGeom>
            <a:avLst/>
            <a:gdLst/>
            <a:ahLst/>
            <a:rect l="0" t="0" r="r" b="b"/>
            <a:pathLst>
              <a:path w="662" h="742">
                <a:moveTo>
                  <a:pt x="0" y="584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7" y="9"/>
                  <a:pt x="117" y="6"/>
                  <a:pt x="127" y="4"/>
                </a:cubicBezTo>
                <a:cubicBezTo>
                  <a:pt x="138" y="1"/>
                  <a:pt x="148" y="0"/>
                  <a:pt x="158" y="0"/>
                </a:cubicBezTo>
                <a:lnTo>
                  <a:pt x="503" y="0"/>
                </a:lnTo>
                <a:cubicBezTo>
                  <a:pt x="514" y="0"/>
                  <a:pt x="524" y="1"/>
                  <a:pt x="534" y="4"/>
                </a:cubicBezTo>
                <a:cubicBezTo>
                  <a:pt x="545" y="6"/>
                  <a:pt x="554" y="9"/>
                  <a:pt x="564" y="13"/>
                </a:cubicBezTo>
                <a:cubicBezTo>
                  <a:pt x="574" y="17"/>
                  <a:pt x="583" y="21"/>
                  <a:pt x="592" y="27"/>
                </a:cubicBezTo>
                <a:cubicBezTo>
                  <a:pt x="600" y="33"/>
                  <a:pt x="608" y="40"/>
                  <a:pt x="616" y="47"/>
                </a:cubicBezTo>
                <a:cubicBezTo>
                  <a:pt x="623" y="54"/>
                  <a:pt x="630" y="62"/>
                  <a:pt x="635" y="71"/>
                </a:cubicBezTo>
                <a:cubicBezTo>
                  <a:pt x="641" y="80"/>
                  <a:pt x="646" y="89"/>
                  <a:pt x="650" y="98"/>
                </a:cubicBezTo>
                <a:cubicBezTo>
                  <a:pt x="654" y="108"/>
                  <a:pt x="657" y="118"/>
                  <a:pt x="659" y="129"/>
                </a:cubicBezTo>
                <a:cubicBezTo>
                  <a:pt x="661" y="139"/>
                  <a:pt x="662" y="150"/>
                  <a:pt x="662" y="160"/>
                </a:cubicBezTo>
                <a:lnTo>
                  <a:pt x="662" y="584"/>
                </a:lnTo>
                <a:cubicBezTo>
                  <a:pt x="662" y="594"/>
                  <a:pt x="661" y="604"/>
                  <a:pt x="659" y="615"/>
                </a:cubicBezTo>
                <a:cubicBezTo>
                  <a:pt x="657" y="625"/>
                  <a:pt x="654" y="635"/>
                  <a:pt x="650" y="644"/>
                </a:cubicBezTo>
                <a:cubicBezTo>
                  <a:pt x="646" y="654"/>
                  <a:pt x="641" y="663"/>
                  <a:pt x="635" y="672"/>
                </a:cubicBezTo>
                <a:cubicBezTo>
                  <a:pt x="630" y="680"/>
                  <a:pt x="623" y="688"/>
                  <a:pt x="616" y="696"/>
                </a:cubicBezTo>
                <a:cubicBezTo>
                  <a:pt x="608" y="703"/>
                  <a:pt x="600" y="710"/>
                  <a:pt x="592" y="716"/>
                </a:cubicBezTo>
                <a:cubicBezTo>
                  <a:pt x="583" y="721"/>
                  <a:pt x="574" y="726"/>
                  <a:pt x="564" y="730"/>
                </a:cubicBezTo>
                <a:cubicBezTo>
                  <a:pt x="554" y="734"/>
                  <a:pt x="545" y="737"/>
                  <a:pt x="534" y="739"/>
                </a:cubicBezTo>
                <a:cubicBezTo>
                  <a:pt x="524" y="741"/>
                  <a:pt x="514" y="742"/>
                  <a:pt x="503" y="742"/>
                </a:cubicBezTo>
                <a:lnTo>
                  <a:pt x="158" y="742"/>
                </a:lnTo>
                <a:cubicBezTo>
                  <a:pt x="148" y="742"/>
                  <a:pt x="138" y="741"/>
                  <a:pt x="127" y="739"/>
                </a:cubicBezTo>
                <a:cubicBezTo>
                  <a:pt x="117" y="737"/>
                  <a:pt x="107" y="734"/>
                  <a:pt x="98" y="730"/>
                </a:cubicBezTo>
                <a:cubicBezTo>
                  <a:pt x="88" y="726"/>
                  <a:pt x="79" y="721"/>
                  <a:pt x="70" y="716"/>
                </a:cubicBezTo>
                <a:cubicBezTo>
                  <a:pt x="62" y="710"/>
                  <a:pt x="54" y="703"/>
                  <a:pt x="46" y="696"/>
                </a:cubicBezTo>
                <a:cubicBezTo>
                  <a:pt x="39" y="688"/>
                  <a:pt x="32" y="680"/>
                  <a:pt x="26" y="672"/>
                </a:cubicBezTo>
                <a:cubicBezTo>
                  <a:pt x="21" y="663"/>
                  <a:pt x="16" y="654"/>
                  <a:pt x="12" y="644"/>
                </a:cubicBezTo>
                <a:cubicBezTo>
                  <a:pt x="8" y="635"/>
                  <a:pt x="5" y="625"/>
                  <a:pt x="3" y="615"/>
                </a:cubicBezTo>
                <a:cubicBezTo>
                  <a:pt x="1" y="604"/>
                  <a:pt x="0" y="594"/>
                  <a:pt x="0" y="58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762120" y="3556440"/>
            <a:ext cx="2625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Reframe: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rotating the last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3459240" y="3589200"/>
            <a:ext cx="1724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k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3632400" y="3556440"/>
            <a:ext cx="2211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elements to the front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5848200" y="3549600"/>
            <a:ext cx="2026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Geneva"/>
                <a:ea typeface="Geneva"/>
              </a:rPr>
              <a:t>≡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7734240" y="3552480"/>
            <a:ext cx="1381320" cy="267120"/>
          </a:xfrm>
          <a:custGeom>
            <a:avLst/>
            <a:gdLst/>
            <a:ahLst/>
            <a:rect l="0" t="0" r="r" b="b"/>
            <a:pathLst>
              <a:path w="3837" h="742">
                <a:moveTo>
                  <a:pt x="0" y="584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7" y="9"/>
                  <a:pt x="117" y="6"/>
                  <a:pt x="127" y="4"/>
                </a:cubicBezTo>
                <a:cubicBezTo>
                  <a:pt x="138" y="1"/>
                  <a:pt x="148" y="0"/>
                  <a:pt x="158" y="0"/>
                </a:cubicBezTo>
                <a:lnTo>
                  <a:pt x="3678" y="0"/>
                </a:lnTo>
                <a:cubicBezTo>
                  <a:pt x="3689" y="0"/>
                  <a:pt x="3699" y="1"/>
                  <a:pt x="3709" y="4"/>
                </a:cubicBezTo>
                <a:cubicBezTo>
                  <a:pt x="3720" y="6"/>
                  <a:pt x="3729" y="9"/>
                  <a:pt x="3739" y="13"/>
                </a:cubicBezTo>
                <a:cubicBezTo>
                  <a:pt x="3749" y="17"/>
                  <a:pt x="3758" y="21"/>
                  <a:pt x="3767" y="27"/>
                </a:cubicBezTo>
                <a:cubicBezTo>
                  <a:pt x="3775" y="33"/>
                  <a:pt x="3783" y="40"/>
                  <a:pt x="3791" y="47"/>
                </a:cubicBezTo>
                <a:cubicBezTo>
                  <a:pt x="3798" y="54"/>
                  <a:pt x="3805" y="62"/>
                  <a:pt x="3810" y="71"/>
                </a:cubicBezTo>
                <a:cubicBezTo>
                  <a:pt x="3816" y="80"/>
                  <a:pt x="3821" y="89"/>
                  <a:pt x="3825" y="98"/>
                </a:cubicBezTo>
                <a:cubicBezTo>
                  <a:pt x="3829" y="108"/>
                  <a:pt x="3832" y="118"/>
                  <a:pt x="3834" y="129"/>
                </a:cubicBezTo>
                <a:cubicBezTo>
                  <a:pt x="3836" y="139"/>
                  <a:pt x="3837" y="150"/>
                  <a:pt x="3837" y="160"/>
                </a:cubicBezTo>
                <a:lnTo>
                  <a:pt x="3837" y="584"/>
                </a:lnTo>
                <a:cubicBezTo>
                  <a:pt x="3837" y="594"/>
                  <a:pt x="3836" y="604"/>
                  <a:pt x="3834" y="615"/>
                </a:cubicBezTo>
                <a:cubicBezTo>
                  <a:pt x="3832" y="625"/>
                  <a:pt x="3829" y="635"/>
                  <a:pt x="3825" y="644"/>
                </a:cubicBezTo>
                <a:cubicBezTo>
                  <a:pt x="3821" y="654"/>
                  <a:pt x="3816" y="663"/>
                  <a:pt x="3810" y="672"/>
                </a:cubicBezTo>
                <a:cubicBezTo>
                  <a:pt x="3805" y="680"/>
                  <a:pt x="3798" y="688"/>
                  <a:pt x="3791" y="696"/>
                </a:cubicBezTo>
                <a:cubicBezTo>
                  <a:pt x="3783" y="703"/>
                  <a:pt x="3775" y="710"/>
                  <a:pt x="3767" y="716"/>
                </a:cubicBezTo>
                <a:cubicBezTo>
                  <a:pt x="3758" y="721"/>
                  <a:pt x="3749" y="726"/>
                  <a:pt x="3739" y="730"/>
                </a:cubicBezTo>
                <a:cubicBezTo>
                  <a:pt x="3729" y="734"/>
                  <a:pt x="3720" y="737"/>
                  <a:pt x="3709" y="739"/>
                </a:cubicBezTo>
                <a:cubicBezTo>
                  <a:pt x="3699" y="741"/>
                  <a:pt x="3689" y="742"/>
                  <a:pt x="3678" y="742"/>
                </a:cubicBezTo>
                <a:lnTo>
                  <a:pt x="158" y="742"/>
                </a:lnTo>
                <a:cubicBezTo>
                  <a:pt x="148" y="742"/>
                  <a:pt x="138" y="741"/>
                  <a:pt x="127" y="739"/>
                </a:cubicBezTo>
                <a:cubicBezTo>
                  <a:pt x="117" y="737"/>
                  <a:pt x="107" y="734"/>
                  <a:pt x="98" y="730"/>
                </a:cubicBezTo>
                <a:cubicBezTo>
                  <a:pt x="88" y="726"/>
                  <a:pt x="79" y="721"/>
                  <a:pt x="70" y="716"/>
                </a:cubicBezTo>
                <a:cubicBezTo>
                  <a:pt x="62" y="710"/>
                  <a:pt x="54" y="703"/>
                  <a:pt x="46" y="696"/>
                </a:cubicBezTo>
                <a:cubicBezTo>
                  <a:pt x="39" y="688"/>
                  <a:pt x="32" y="680"/>
                  <a:pt x="26" y="672"/>
                </a:cubicBezTo>
                <a:cubicBezTo>
                  <a:pt x="21" y="663"/>
                  <a:pt x="16" y="654"/>
                  <a:pt x="12" y="644"/>
                </a:cubicBezTo>
                <a:cubicBezTo>
                  <a:pt x="8" y="635"/>
                  <a:pt x="5" y="625"/>
                  <a:pt x="3" y="615"/>
                </a:cubicBezTo>
                <a:cubicBezTo>
                  <a:pt x="1" y="604"/>
                  <a:pt x="0" y="594"/>
                  <a:pt x="0" y="58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5983560" y="3556440"/>
            <a:ext cx="1746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rotating the ﬁrst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7802280" y="3589200"/>
            <a:ext cx="1244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(length − k)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9119160" y="3556440"/>
            <a:ext cx="2189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elements to the back.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1828440" y="3857400"/>
            <a:ext cx="238680" cy="267120"/>
          </a:xfrm>
          <a:custGeom>
            <a:avLst/>
            <a:gdLst/>
            <a:ahLst/>
            <a:rect l="0" t="0" r="r" b="b"/>
            <a:pathLst>
              <a:path w="663" h="742">
                <a:moveTo>
                  <a:pt x="0" y="583"/>
                </a:moveTo>
                <a:lnTo>
                  <a:pt x="0" y="160"/>
                </a:lnTo>
                <a:cubicBezTo>
                  <a:pt x="0" y="149"/>
                  <a:pt x="2" y="139"/>
                  <a:pt x="4" y="129"/>
                </a:cubicBezTo>
                <a:cubicBezTo>
                  <a:pt x="6" y="119"/>
                  <a:pt x="9" y="109"/>
                  <a:pt x="13" y="99"/>
                </a:cubicBezTo>
                <a:cubicBezTo>
                  <a:pt x="17" y="89"/>
                  <a:pt x="21" y="80"/>
                  <a:pt x="27" y="72"/>
                </a:cubicBezTo>
                <a:cubicBezTo>
                  <a:pt x="33" y="63"/>
                  <a:pt x="40" y="55"/>
                  <a:pt x="47" y="48"/>
                </a:cubicBezTo>
                <a:cubicBezTo>
                  <a:pt x="54" y="40"/>
                  <a:pt x="62" y="34"/>
                  <a:pt x="71" y="28"/>
                </a:cubicBezTo>
                <a:cubicBezTo>
                  <a:pt x="80" y="22"/>
                  <a:pt x="89" y="17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503" y="0"/>
                </a:lnTo>
                <a:cubicBezTo>
                  <a:pt x="514" y="0"/>
                  <a:pt x="524" y="1"/>
                  <a:pt x="534" y="3"/>
                </a:cubicBezTo>
                <a:cubicBezTo>
                  <a:pt x="545" y="5"/>
                  <a:pt x="555" y="8"/>
                  <a:pt x="565" y="12"/>
                </a:cubicBezTo>
                <a:cubicBezTo>
                  <a:pt x="575" y="17"/>
                  <a:pt x="584" y="22"/>
                  <a:pt x="592" y="28"/>
                </a:cubicBezTo>
                <a:cubicBezTo>
                  <a:pt x="601" y="34"/>
                  <a:pt x="609" y="40"/>
                  <a:pt x="616" y="48"/>
                </a:cubicBezTo>
                <a:cubicBezTo>
                  <a:pt x="624" y="55"/>
                  <a:pt x="630" y="63"/>
                  <a:pt x="636" y="72"/>
                </a:cubicBezTo>
                <a:cubicBezTo>
                  <a:pt x="642" y="80"/>
                  <a:pt x="647" y="89"/>
                  <a:pt x="651" y="99"/>
                </a:cubicBezTo>
                <a:cubicBezTo>
                  <a:pt x="655" y="109"/>
                  <a:pt x="658" y="119"/>
                  <a:pt x="660" y="129"/>
                </a:cubicBezTo>
                <a:cubicBezTo>
                  <a:pt x="662" y="139"/>
                  <a:pt x="663" y="149"/>
                  <a:pt x="663" y="160"/>
                </a:cubicBezTo>
                <a:lnTo>
                  <a:pt x="663" y="583"/>
                </a:lnTo>
                <a:cubicBezTo>
                  <a:pt x="663" y="594"/>
                  <a:pt x="662" y="604"/>
                  <a:pt x="660" y="614"/>
                </a:cubicBezTo>
                <a:cubicBezTo>
                  <a:pt x="658" y="624"/>
                  <a:pt x="655" y="634"/>
                  <a:pt x="651" y="644"/>
                </a:cubicBezTo>
                <a:cubicBezTo>
                  <a:pt x="647" y="654"/>
                  <a:pt x="642" y="663"/>
                  <a:pt x="636" y="671"/>
                </a:cubicBezTo>
                <a:cubicBezTo>
                  <a:pt x="630" y="680"/>
                  <a:pt x="624" y="688"/>
                  <a:pt x="616" y="695"/>
                </a:cubicBezTo>
                <a:cubicBezTo>
                  <a:pt x="609" y="703"/>
                  <a:pt x="601" y="709"/>
                  <a:pt x="592" y="715"/>
                </a:cubicBezTo>
                <a:cubicBezTo>
                  <a:pt x="584" y="721"/>
                  <a:pt x="575" y="726"/>
                  <a:pt x="565" y="730"/>
                </a:cubicBezTo>
                <a:cubicBezTo>
                  <a:pt x="555" y="734"/>
                  <a:pt x="545" y="737"/>
                  <a:pt x="534" y="739"/>
                </a:cubicBezTo>
                <a:cubicBezTo>
                  <a:pt x="524" y="741"/>
                  <a:pt x="514" y="742"/>
                  <a:pt x="503" y="742"/>
                </a:cubicBezTo>
                <a:lnTo>
                  <a:pt x="159" y="742"/>
                </a:lnTo>
                <a:cubicBezTo>
                  <a:pt x="149" y="742"/>
                  <a:pt x="139" y="741"/>
                  <a:pt x="128" y="739"/>
                </a:cubicBezTo>
                <a:cubicBezTo>
                  <a:pt x="118" y="737"/>
                  <a:pt x="108" y="734"/>
                  <a:pt x="98" y="730"/>
                </a:cubicBezTo>
                <a:cubicBezTo>
                  <a:pt x="89" y="726"/>
                  <a:pt x="80" y="721"/>
                  <a:pt x="71" y="715"/>
                </a:cubicBezTo>
                <a:cubicBezTo>
                  <a:pt x="62" y="709"/>
                  <a:pt x="54" y="703"/>
                  <a:pt x="47" y="695"/>
                </a:cubicBezTo>
                <a:cubicBezTo>
                  <a:pt x="40" y="688"/>
                  <a:pt x="33" y="680"/>
                  <a:pt x="27" y="671"/>
                </a:cubicBezTo>
                <a:cubicBezTo>
                  <a:pt x="21" y="663"/>
                  <a:pt x="17" y="654"/>
                  <a:pt x="13" y="644"/>
                </a:cubicBezTo>
                <a:cubicBezTo>
                  <a:pt x="9" y="634"/>
                  <a:pt x="6" y="624"/>
                  <a:pt x="4" y="614"/>
                </a:cubicBezTo>
                <a:cubicBezTo>
                  <a:pt x="2" y="604"/>
                  <a:pt x="0" y="594"/>
                  <a:pt x="0" y="58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762120" y="3861360"/>
            <a:ext cx="1067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Reduce: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if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1897920" y="3893760"/>
            <a:ext cx="1724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k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4971960" y="3857400"/>
            <a:ext cx="1391040" cy="267120"/>
          </a:xfrm>
          <a:custGeom>
            <a:avLst/>
            <a:gdLst/>
            <a:ahLst/>
            <a:rect l="0" t="0" r="r" b="b"/>
            <a:pathLst>
              <a:path w="3864" h="742">
                <a:moveTo>
                  <a:pt x="0" y="583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7" y="72"/>
                </a:cubicBezTo>
                <a:cubicBezTo>
                  <a:pt x="32" y="63"/>
                  <a:pt x="39" y="55"/>
                  <a:pt x="46" y="48"/>
                </a:cubicBezTo>
                <a:cubicBezTo>
                  <a:pt x="54" y="40"/>
                  <a:pt x="62" y="34"/>
                  <a:pt x="70" y="28"/>
                </a:cubicBezTo>
                <a:cubicBezTo>
                  <a:pt x="79" y="22"/>
                  <a:pt x="88" y="17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3705" y="0"/>
                </a:lnTo>
                <a:cubicBezTo>
                  <a:pt x="3715" y="0"/>
                  <a:pt x="3726" y="1"/>
                  <a:pt x="3736" y="3"/>
                </a:cubicBezTo>
                <a:cubicBezTo>
                  <a:pt x="3746" y="5"/>
                  <a:pt x="3756" y="8"/>
                  <a:pt x="3766" y="12"/>
                </a:cubicBezTo>
                <a:cubicBezTo>
                  <a:pt x="3775" y="17"/>
                  <a:pt x="3784" y="22"/>
                  <a:pt x="3793" y="28"/>
                </a:cubicBezTo>
                <a:cubicBezTo>
                  <a:pt x="3802" y="34"/>
                  <a:pt x="3810" y="40"/>
                  <a:pt x="3817" y="48"/>
                </a:cubicBezTo>
                <a:cubicBezTo>
                  <a:pt x="3825" y="55"/>
                  <a:pt x="3831" y="63"/>
                  <a:pt x="3837" y="72"/>
                </a:cubicBezTo>
                <a:cubicBezTo>
                  <a:pt x="3843" y="80"/>
                  <a:pt x="3848" y="89"/>
                  <a:pt x="3852" y="99"/>
                </a:cubicBezTo>
                <a:cubicBezTo>
                  <a:pt x="3856" y="109"/>
                  <a:pt x="3859" y="119"/>
                  <a:pt x="3861" y="129"/>
                </a:cubicBezTo>
                <a:cubicBezTo>
                  <a:pt x="3863" y="139"/>
                  <a:pt x="3864" y="149"/>
                  <a:pt x="3864" y="160"/>
                </a:cubicBezTo>
                <a:lnTo>
                  <a:pt x="3864" y="583"/>
                </a:lnTo>
                <a:cubicBezTo>
                  <a:pt x="3864" y="594"/>
                  <a:pt x="3863" y="604"/>
                  <a:pt x="3861" y="614"/>
                </a:cubicBezTo>
                <a:cubicBezTo>
                  <a:pt x="3859" y="624"/>
                  <a:pt x="3856" y="634"/>
                  <a:pt x="3852" y="644"/>
                </a:cubicBezTo>
                <a:cubicBezTo>
                  <a:pt x="3848" y="654"/>
                  <a:pt x="3843" y="663"/>
                  <a:pt x="3837" y="671"/>
                </a:cubicBezTo>
                <a:cubicBezTo>
                  <a:pt x="3831" y="680"/>
                  <a:pt x="3825" y="688"/>
                  <a:pt x="3817" y="695"/>
                </a:cubicBezTo>
                <a:cubicBezTo>
                  <a:pt x="3810" y="703"/>
                  <a:pt x="3802" y="709"/>
                  <a:pt x="3793" y="715"/>
                </a:cubicBezTo>
                <a:cubicBezTo>
                  <a:pt x="3784" y="721"/>
                  <a:pt x="3775" y="726"/>
                  <a:pt x="3766" y="730"/>
                </a:cubicBezTo>
                <a:cubicBezTo>
                  <a:pt x="3756" y="734"/>
                  <a:pt x="3746" y="737"/>
                  <a:pt x="3736" y="739"/>
                </a:cubicBezTo>
                <a:cubicBezTo>
                  <a:pt x="3726" y="741"/>
                  <a:pt x="3715" y="742"/>
                  <a:pt x="3705" y="742"/>
                </a:cubicBezTo>
                <a:lnTo>
                  <a:pt x="158" y="742"/>
                </a:lnTo>
                <a:cubicBezTo>
                  <a:pt x="148" y="742"/>
                  <a:pt x="138" y="741"/>
                  <a:pt x="128" y="739"/>
                </a:cubicBezTo>
                <a:cubicBezTo>
                  <a:pt x="117" y="737"/>
                  <a:pt x="107" y="734"/>
                  <a:pt x="98" y="730"/>
                </a:cubicBezTo>
                <a:cubicBezTo>
                  <a:pt x="88" y="726"/>
                  <a:pt x="79" y="721"/>
                  <a:pt x="70" y="715"/>
                </a:cubicBezTo>
                <a:cubicBezTo>
                  <a:pt x="62" y="709"/>
                  <a:pt x="54" y="703"/>
                  <a:pt x="46" y="695"/>
                </a:cubicBezTo>
                <a:cubicBezTo>
                  <a:pt x="39" y="688"/>
                  <a:pt x="32" y="680"/>
                  <a:pt x="27" y="671"/>
                </a:cubicBezTo>
                <a:cubicBezTo>
                  <a:pt x="21" y="663"/>
                  <a:pt x="16" y="654"/>
                  <a:pt x="12" y="644"/>
                </a:cubicBezTo>
                <a:cubicBezTo>
                  <a:pt x="8" y="634"/>
                  <a:pt x="5" y="624"/>
                  <a:pt x="3" y="614"/>
                </a:cubicBezTo>
                <a:cubicBezTo>
                  <a:pt x="1" y="604"/>
                  <a:pt x="0" y="594"/>
                  <a:pt x="0" y="58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2071080" y="3861360"/>
            <a:ext cx="289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exceeds the list length, only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5044680" y="3893760"/>
            <a:ext cx="12448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k mod length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6361200" y="3861360"/>
            <a:ext cx="1725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rotations matter.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661057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766440" y="4290840"/>
            <a:ext cx="10658880" cy="991080"/>
          </a:xfrm>
          <a:custGeom>
            <a:avLst/>
            <a:gdLst/>
            <a:ahLst/>
            <a:rect l="0" t="0" r="r" b="b"/>
            <a:pathLst>
              <a:path w="29608" h="2753">
                <a:moveTo>
                  <a:pt x="0" y="260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2607"/>
                </a:lnTo>
                <a:cubicBezTo>
                  <a:pt x="29608" y="2617"/>
                  <a:pt x="29607" y="2626"/>
                  <a:pt x="29605" y="2636"/>
                </a:cubicBezTo>
                <a:cubicBezTo>
                  <a:pt x="29604" y="2645"/>
                  <a:pt x="29601" y="2654"/>
                  <a:pt x="29597" y="2663"/>
                </a:cubicBezTo>
                <a:cubicBezTo>
                  <a:pt x="29594" y="2672"/>
                  <a:pt x="29589" y="2680"/>
                  <a:pt x="29584" y="2688"/>
                </a:cubicBezTo>
                <a:cubicBezTo>
                  <a:pt x="29578" y="2696"/>
                  <a:pt x="29572" y="2703"/>
                  <a:pt x="29566" y="2710"/>
                </a:cubicBezTo>
                <a:cubicBezTo>
                  <a:pt x="29559" y="2717"/>
                  <a:pt x="29552" y="2723"/>
                  <a:pt x="29544" y="2728"/>
                </a:cubicBezTo>
                <a:cubicBezTo>
                  <a:pt x="29536" y="2733"/>
                  <a:pt x="29527" y="2738"/>
                  <a:pt x="29518" y="2742"/>
                </a:cubicBezTo>
                <a:cubicBezTo>
                  <a:pt x="29510" y="2745"/>
                  <a:pt x="29501" y="2748"/>
                  <a:pt x="29491" y="2750"/>
                </a:cubicBezTo>
                <a:cubicBezTo>
                  <a:pt x="29482" y="2752"/>
                  <a:pt x="29472" y="2753"/>
                  <a:pt x="29463" y="2753"/>
                </a:cubicBezTo>
                <a:lnTo>
                  <a:pt x="146" y="2753"/>
                </a:lnTo>
                <a:cubicBezTo>
                  <a:pt x="136" y="2753"/>
                  <a:pt x="127" y="2752"/>
                  <a:pt x="118" y="2750"/>
                </a:cubicBezTo>
                <a:cubicBezTo>
                  <a:pt x="108" y="2748"/>
                  <a:pt x="99" y="2745"/>
                  <a:pt x="90" y="2742"/>
                </a:cubicBezTo>
                <a:cubicBezTo>
                  <a:pt x="81" y="2738"/>
                  <a:pt x="73" y="2733"/>
                  <a:pt x="65" y="2728"/>
                </a:cubicBezTo>
                <a:cubicBezTo>
                  <a:pt x="57" y="2723"/>
                  <a:pt x="50" y="2717"/>
                  <a:pt x="43" y="2710"/>
                </a:cubicBezTo>
                <a:cubicBezTo>
                  <a:pt x="36" y="2703"/>
                  <a:pt x="30" y="2696"/>
                  <a:pt x="25" y="2688"/>
                </a:cubicBezTo>
                <a:cubicBezTo>
                  <a:pt x="20" y="2680"/>
                  <a:pt x="15" y="2672"/>
                  <a:pt x="11" y="2663"/>
                </a:cubicBezTo>
                <a:cubicBezTo>
                  <a:pt x="8" y="2654"/>
                  <a:pt x="5" y="2645"/>
                  <a:pt x="3" y="2636"/>
                </a:cubicBezTo>
                <a:cubicBezTo>
                  <a:pt x="1" y="2626"/>
                  <a:pt x="0" y="2617"/>
                  <a:pt x="0" y="2607"/>
                </a:cubicBezTo>
                <a:close/>
              </a:path>
            </a:pathLst>
          </a:custGeom>
          <a:solidFill>
            <a:srgbClr val="fde8e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766440" y="4290840"/>
            <a:ext cx="10658880" cy="991080"/>
          </a:xfrm>
          <a:custGeom>
            <a:avLst/>
            <a:gdLst/>
            <a:ahLst/>
            <a:rect l="0" t="0" r="r" b="b"/>
            <a:pathLst>
              <a:path fill="none" w="29608" h="2753">
                <a:moveTo>
                  <a:pt x="0" y="2607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6"/>
                  <a:pt x="29608" y="136"/>
                  <a:pt x="29608" y="145"/>
                </a:cubicBezTo>
                <a:lnTo>
                  <a:pt x="29608" y="2607"/>
                </a:lnTo>
                <a:cubicBezTo>
                  <a:pt x="29608" y="2617"/>
                  <a:pt x="29607" y="2626"/>
                  <a:pt x="29605" y="2636"/>
                </a:cubicBezTo>
                <a:cubicBezTo>
                  <a:pt x="29604" y="2645"/>
                  <a:pt x="29601" y="2654"/>
                  <a:pt x="29597" y="2663"/>
                </a:cubicBezTo>
                <a:cubicBezTo>
                  <a:pt x="29594" y="2672"/>
                  <a:pt x="29589" y="2680"/>
                  <a:pt x="29584" y="2688"/>
                </a:cubicBezTo>
                <a:cubicBezTo>
                  <a:pt x="29578" y="2696"/>
                  <a:pt x="29572" y="2703"/>
                  <a:pt x="29566" y="2710"/>
                </a:cubicBezTo>
                <a:cubicBezTo>
                  <a:pt x="29559" y="2717"/>
                  <a:pt x="29552" y="2723"/>
                  <a:pt x="29544" y="2728"/>
                </a:cubicBezTo>
                <a:cubicBezTo>
                  <a:pt x="29536" y="2733"/>
                  <a:pt x="29527" y="2738"/>
                  <a:pt x="29518" y="2742"/>
                </a:cubicBezTo>
                <a:cubicBezTo>
                  <a:pt x="29510" y="2745"/>
                  <a:pt x="29501" y="2748"/>
                  <a:pt x="29491" y="2750"/>
                </a:cubicBezTo>
                <a:cubicBezTo>
                  <a:pt x="29482" y="2752"/>
                  <a:pt x="29472" y="2753"/>
                  <a:pt x="29463" y="2753"/>
                </a:cubicBezTo>
                <a:lnTo>
                  <a:pt x="146" y="2753"/>
                </a:lnTo>
                <a:cubicBezTo>
                  <a:pt x="136" y="2753"/>
                  <a:pt x="127" y="2752"/>
                  <a:pt x="118" y="2750"/>
                </a:cubicBezTo>
                <a:cubicBezTo>
                  <a:pt x="108" y="2748"/>
                  <a:pt x="99" y="2745"/>
                  <a:pt x="90" y="2742"/>
                </a:cubicBezTo>
                <a:cubicBezTo>
                  <a:pt x="81" y="2738"/>
                  <a:pt x="73" y="2733"/>
                  <a:pt x="65" y="2728"/>
                </a:cubicBezTo>
                <a:cubicBezTo>
                  <a:pt x="57" y="2723"/>
                  <a:pt x="50" y="2717"/>
                  <a:pt x="43" y="2710"/>
                </a:cubicBezTo>
                <a:cubicBezTo>
                  <a:pt x="36" y="2703"/>
                  <a:pt x="30" y="2696"/>
                  <a:pt x="25" y="2688"/>
                </a:cubicBezTo>
                <a:cubicBezTo>
                  <a:pt x="20" y="2680"/>
                  <a:pt x="15" y="2672"/>
                  <a:pt x="11" y="2663"/>
                </a:cubicBezTo>
                <a:cubicBezTo>
                  <a:pt x="8" y="2654"/>
                  <a:pt x="5" y="2645"/>
                  <a:pt x="3" y="2636"/>
                </a:cubicBezTo>
                <a:cubicBezTo>
                  <a:pt x="1" y="2626"/>
                  <a:pt x="0" y="2617"/>
                  <a:pt x="0" y="2607"/>
                </a:cubicBezTo>
              </a:path>
            </a:pathLst>
          </a:custGeom>
          <a:ln w="9360">
            <a:solidFill>
              <a:srgbClr val="f8bac1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762120" y="372600"/>
            <a:ext cx="89175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Worked Example: Rotate List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6257880" y="4895640"/>
            <a:ext cx="495360" cy="248040"/>
          </a:xfrm>
          <a:custGeom>
            <a:avLst/>
            <a:gdLst/>
            <a:ahLst/>
            <a:rect l="0" t="0" r="r" b="b"/>
            <a:pathLst>
              <a:path w="1376" h="689">
                <a:moveTo>
                  <a:pt x="0" y="530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218" y="0"/>
                </a:lnTo>
                <a:cubicBezTo>
                  <a:pt x="1228" y="0"/>
                  <a:pt x="1238" y="1"/>
                  <a:pt x="1249" y="3"/>
                </a:cubicBezTo>
                <a:cubicBezTo>
                  <a:pt x="1259" y="5"/>
                  <a:pt x="1269" y="8"/>
                  <a:pt x="1278" y="12"/>
                </a:cubicBezTo>
                <a:cubicBezTo>
                  <a:pt x="1288" y="16"/>
                  <a:pt x="1297" y="21"/>
                  <a:pt x="1306" y="27"/>
                </a:cubicBezTo>
                <a:cubicBezTo>
                  <a:pt x="1315" y="33"/>
                  <a:pt x="1323" y="39"/>
                  <a:pt x="1330" y="47"/>
                </a:cubicBezTo>
                <a:cubicBezTo>
                  <a:pt x="1337" y="54"/>
                  <a:pt x="1344" y="62"/>
                  <a:pt x="1350" y="71"/>
                </a:cubicBezTo>
                <a:cubicBezTo>
                  <a:pt x="1355" y="79"/>
                  <a:pt x="1360" y="88"/>
                  <a:pt x="1364" y="98"/>
                </a:cubicBezTo>
                <a:cubicBezTo>
                  <a:pt x="1368" y="108"/>
                  <a:pt x="1371" y="118"/>
                  <a:pt x="1373" y="128"/>
                </a:cubicBezTo>
                <a:cubicBezTo>
                  <a:pt x="1375" y="138"/>
                  <a:pt x="1376" y="148"/>
                  <a:pt x="1376" y="159"/>
                </a:cubicBezTo>
                <a:lnTo>
                  <a:pt x="1376" y="530"/>
                </a:lnTo>
                <a:cubicBezTo>
                  <a:pt x="1376" y="541"/>
                  <a:pt x="1375" y="551"/>
                  <a:pt x="1373" y="561"/>
                </a:cubicBezTo>
                <a:cubicBezTo>
                  <a:pt x="1371" y="571"/>
                  <a:pt x="1368" y="581"/>
                  <a:pt x="1364" y="591"/>
                </a:cubicBezTo>
                <a:cubicBezTo>
                  <a:pt x="1360" y="601"/>
                  <a:pt x="1355" y="610"/>
                  <a:pt x="1350" y="618"/>
                </a:cubicBezTo>
                <a:cubicBezTo>
                  <a:pt x="1344" y="627"/>
                  <a:pt x="1337" y="635"/>
                  <a:pt x="1330" y="643"/>
                </a:cubicBezTo>
                <a:cubicBezTo>
                  <a:pt x="1323" y="650"/>
                  <a:pt x="1315" y="656"/>
                  <a:pt x="1306" y="662"/>
                </a:cubicBezTo>
                <a:cubicBezTo>
                  <a:pt x="1297" y="668"/>
                  <a:pt x="1288" y="673"/>
                  <a:pt x="1278" y="677"/>
                </a:cubicBezTo>
                <a:cubicBezTo>
                  <a:pt x="1269" y="681"/>
                  <a:pt x="1259" y="684"/>
                  <a:pt x="1249" y="686"/>
                </a:cubicBezTo>
                <a:cubicBezTo>
                  <a:pt x="1238" y="688"/>
                  <a:pt x="1228" y="689"/>
                  <a:pt x="1218" y="689"/>
                </a:cubicBezTo>
                <a:lnTo>
                  <a:pt x="158" y="689"/>
                </a:lnTo>
                <a:cubicBezTo>
                  <a:pt x="148" y="689"/>
                  <a:pt x="138" y="688"/>
                  <a:pt x="127" y="686"/>
                </a:cubicBezTo>
                <a:cubicBezTo>
                  <a:pt x="117" y="684"/>
                  <a:pt x="107" y="681"/>
                  <a:pt x="98" y="677"/>
                </a:cubicBezTo>
                <a:cubicBezTo>
                  <a:pt x="88" y="673"/>
                  <a:pt x="79" y="668"/>
                  <a:pt x="70" y="662"/>
                </a:cubicBezTo>
                <a:cubicBezTo>
                  <a:pt x="62" y="656"/>
                  <a:pt x="53" y="650"/>
                  <a:pt x="46" y="643"/>
                </a:cubicBezTo>
                <a:cubicBezTo>
                  <a:pt x="39" y="635"/>
                  <a:pt x="32" y="627"/>
                  <a:pt x="26" y="618"/>
                </a:cubicBezTo>
                <a:cubicBezTo>
                  <a:pt x="21" y="610"/>
                  <a:pt x="16" y="601"/>
                  <a:pt x="12" y="591"/>
                </a:cubicBezTo>
                <a:cubicBezTo>
                  <a:pt x="8" y="581"/>
                  <a:pt x="5" y="571"/>
                  <a:pt x="3" y="561"/>
                </a:cubicBezTo>
                <a:cubicBezTo>
                  <a:pt x="1" y="551"/>
                  <a:pt x="0" y="541"/>
                  <a:pt x="0" y="53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923760" y="4890600"/>
            <a:ext cx="5332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Move the tail to the front — but a singly linked list only has 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6317640" y="4925520"/>
            <a:ext cx="37512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2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next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8010360" y="4895640"/>
            <a:ext cx="505080" cy="248040"/>
          </a:xfrm>
          <a:custGeom>
            <a:avLst/>
            <a:gdLst/>
            <a:ahLst/>
            <a:rect l="0" t="0" r="r" b="b"/>
            <a:pathLst>
              <a:path w="1403" h="689">
                <a:moveTo>
                  <a:pt x="0" y="530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244" y="0"/>
                </a:lnTo>
                <a:cubicBezTo>
                  <a:pt x="1255" y="0"/>
                  <a:pt x="1265" y="1"/>
                  <a:pt x="1275" y="3"/>
                </a:cubicBezTo>
                <a:cubicBezTo>
                  <a:pt x="1286" y="5"/>
                  <a:pt x="1296" y="8"/>
                  <a:pt x="1305" y="12"/>
                </a:cubicBezTo>
                <a:cubicBezTo>
                  <a:pt x="1315" y="16"/>
                  <a:pt x="1324" y="21"/>
                  <a:pt x="1333" y="27"/>
                </a:cubicBezTo>
                <a:cubicBezTo>
                  <a:pt x="1341" y="33"/>
                  <a:pt x="1349" y="39"/>
                  <a:pt x="1357" y="47"/>
                </a:cubicBezTo>
                <a:cubicBezTo>
                  <a:pt x="1364" y="54"/>
                  <a:pt x="1371" y="62"/>
                  <a:pt x="1376" y="71"/>
                </a:cubicBezTo>
                <a:cubicBezTo>
                  <a:pt x="1382" y="79"/>
                  <a:pt x="1387" y="88"/>
                  <a:pt x="1391" y="98"/>
                </a:cubicBezTo>
                <a:cubicBezTo>
                  <a:pt x="1395" y="108"/>
                  <a:pt x="1398" y="118"/>
                  <a:pt x="1400" y="128"/>
                </a:cubicBezTo>
                <a:cubicBezTo>
                  <a:pt x="1402" y="138"/>
                  <a:pt x="1403" y="148"/>
                  <a:pt x="1403" y="159"/>
                </a:cubicBezTo>
                <a:lnTo>
                  <a:pt x="1403" y="530"/>
                </a:lnTo>
                <a:cubicBezTo>
                  <a:pt x="1403" y="541"/>
                  <a:pt x="1402" y="551"/>
                  <a:pt x="1400" y="561"/>
                </a:cubicBezTo>
                <a:cubicBezTo>
                  <a:pt x="1398" y="571"/>
                  <a:pt x="1395" y="581"/>
                  <a:pt x="1391" y="591"/>
                </a:cubicBezTo>
                <a:cubicBezTo>
                  <a:pt x="1387" y="601"/>
                  <a:pt x="1382" y="610"/>
                  <a:pt x="1376" y="618"/>
                </a:cubicBezTo>
                <a:cubicBezTo>
                  <a:pt x="1371" y="627"/>
                  <a:pt x="1364" y="635"/>
                  <a:pt x="1357" y="643"/>
                </a:cubicBezTo>
                <a:cubicBezTo>
                  <a:pt x="1349" y="650"/>
                  <a:pt x="1341" y="656"/>
                  <a:pt x="1333" y="662"/>
                </a:cubicBezTo>
                <a:cubicBezTo>
                  <a:pt x="1324" y="668"/>
                  <a:pt x="1315" y="673"/>
                  <a:pt x="1305" y="677"/>
                </a:cubicBezTo>
                <a:cubicBezTo>
                  <a:pt x="1296" y="681"/>
                  <a:pt x="1286" y="684"/>
                  <a:pt x="1275" y="686"/>
                </a:cubicBezTo>
                <a:cubicBezTo>
                  <a:pt x="1265" y="688"/>
                  <a:pt x="1255" y="689"/>
                  <a:pt x="1244" y="689"/>
                </a:cubicBezTo>
                <a:lnTo>
                  <a:pt x="159" y="689"/>
                </a:lnTo>
                <a:cubicBezTo>
                  <a:pt x="148" y="689"/>
                  <a:pt x="138" y="688"/>
                  <a:pt x="128" y="686"/>
                </a:cubicBezTo>
                <a:cubicBezTo>
                  <a:pt x="118" y="684"/>
                  <a:pt x="108" y="681"/>
                  <a:pt x="98" y="677"/>
                </a:cubicBezTo>
                <a:cubicBezTo>
                  <a:pt x="88" y="673"/>
                  <a:pt x="79" y="668"/>
                  <a:pt x="71" y="662"/>
                </a:cubicBezTo>
                <a:cubicBezTo>
                  <a:pt x="62" y="656"/>
                  <a:pt x="54" y="650"/>
                  <a:pt x="46" y="643"/>
                </a:cubicBezTo>
                <a:cubicBezTo>
                  <a:pt x="39" y="635"/>
                  <a:pt x="32" y="627"/>
                  <a:pt x="27" y="618"/>
                </a:cubicBezTo>
                <a:cubicBezTo>
                  <a:pt x="21" y="610"/>
                  <a:pt x="16" y="601"/>
                  <a:pt x="12" y="591"/>
                </a:cubicBezTo>
                <a:cubicBezTo>
                  <a:pt x="8" y="581"/>
                  <a:pt x="5" y="571"/>
                  <a:pt x="3" y="561"/>
                </a:cubicBezTo>
                <a:cubicBezTo>
                  <a:pt x="1" y="551"/>
                  <a:pt x="0" y="541"/>
                  <a:pt x="0" y="53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6753960" y="4890600"/>
            <a:ext cx="1258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pointers, not 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8074080" y="4925520"/>
            <a:ext cx="37512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2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prev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981000" y="4543200"/>
            <a:ext cx="114480" cy="114840"/>
          </a:xfrm>
          <a:custGeom>
            <a:avLst/>
            <a:gdLst/>
            <a:ahLst/>
            <a:rect l="0" t="0" r="r" b="b"/>
            <a:pathLst>
              <a:path fill="none" w="318" h="319">
                <a:moveTo>
                  <a:pt x="318" y="0"/>
                </a:moveTo>
                <a:lnTo>
                  <a:pt x="0" y="319"/>
                </a:lnTo>
                <a:moveTo>
                  <a:pt x="0" y="0"/>
                </a:moveTo>
                <a:lnTo>
                  <a:pt x="318" y="319"/>
                </a:lnTo>
              </a:path>
            </a:pathLst>
          </a:custGeom>
          <a:ln cap="rnd" w="18720">
            <a:solidFill>
              <a:srgbClr val="e93147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8510760" y="4890600"/>
            <a:ext cx="1825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1203120" y="4493880"/>
            <a:ext cx="2179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e93147"/>
                </a:solidFill>
                <a:effectLst/>
                <a:uFillTx/>
                <a:latin typeface="LucidaGrande"/>
                <a:ea typeface="LucidaGrande"/>
              </a:rPr>
              <a:t>First Attempt Fails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29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0" name=""/>
          <p:cNvSpPr/>
          <p:nvPr/>
        </p:nvSpPr>
        <p:spPr>
          <a:xfrm>
            <a:off x="8667720" y="2714400"/>
            <a:ext cx="552600" cy="267120"/>
          </a:xfrm>
          <a:custGeom>
            <a:avLst/>
            <a:gdLst/>
            <a:ahLst/>
            <a:rect l="0" t="0" r="r" b="b"/>
            <a:pathLst>
              <a:path w="1535" h="742">
                <a:moveTo>
                  <a:pt x="0" y="583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1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376" y="0"/>
                </a:lnTo>
                <a:cubicBezTo>
                  <a:pt x="1387" y="0"/>
                  <a:pt x="1397" y="1"/>
                  <a:pt x="1407" y="3"/>
                </a:cubicBezTo>
                <a:cubicBezTo>
                  <a:pt x="1418" y="5"/>
                  <a:pt x="1428" y="8"/>
                  <a:pt x="1437" y="12"/>
                </a:cubicBezTo>
                <a:cubicBezTo>
                  <a:pt x="1447" y="16"/>
                  <a:pt x="1456" y="21"/>
                  <a:pt x="1465" y="27"/>
                </a:cubicBezTo>
                <a:cubicBezTo>
                  <a:pt x="1473" y="33"/>
                  <a:pt x="1481" y="39"/>
                  <a:pt x="1489" y="47"/>
                </a:cubicBezTo>
                <a:cubicBezTo>
                  <a:pt x="1496" y="54"/>
                  <a:pt x="1503" y="62"/>
                  <a:pt x="1508" y="71"/>
                </a:cubicBezTo>
                <a:cubicBezTo>
                  <a:pt x="1514" y="79"/>
                  <a:pt x="1519" y="88"/>
                  <a:pt x="1523" y="98"/>
                </a:cubicBezTo>
                <a:cubicBezTo>
                  <a:pt x="1527" y="108"/>
                  <a:pt x="1530" y="118"/>
                  <a:pt x="1532" y="128"/>
                </a:cubicBezTo>
                <a:cubicBezTo>
                  <a:pt x="1534" y="138"/>
                  <a:pt x="1535" y="148"/>
                  <a:pt x="1535" y="159"/>
                </a:cubicBezTo>
                <a:lnTo>
                  <a:pt x="1535" y="583"/>
                </a:lnTo>
                <a:cubicBezTo>
                  <a:pt x="1535" y="594"/>
                  <a:pt x="1534" y="604"/>
                  <a:pt x="1532" y="614"/>
                </a:cubicBezTo>
                <a:cubicBezTo>
                  <a:pt x="1530" y="624"/>
                  <a:pt x="1527" y="634"/>
                  <a:pt x="1523" y="644"/>
                </a:cubicBezTo>
                <a:cubicBezTo>
                  <a:pt x="1519" y="654"/>
                  <a:pt x="1514" y="663"/>
                  <a:pt x="1508" y="671"/>
                </a:cubicBezTo>
                <a:cubicBezTo>
                  <a:pt x="1503" y="680"/>
                  <a:pt x="1496" y="688"/>
                  <a:pt x="1489" y="695"/>
                </a:cubicBezTo>
                <a:cubicBezTo>
                  <a:pt x="1481" y="703"/>
                  <a:pt x="1473" y="709"/>
                  <a:pt x="1465" y="715"/>
                </a:cubicBezTo>
                <a:cubicBezTo>
                  <a:pt x="1456" y="721"/>
                  <a:pt x="1447" y="726"/>
                  <a:pt x="1437" y="730"/>
                </a:cubicBezTo>
                <a:cubicBezTo>
                  <a:pt x="1428" y="734"/>
                  <a:pt x="1418" y="737"/>
                  <a:pt x="1407" y="739"/>
                </a:cubicBezTo>
                <a:cubicBezTo>
                  <a:pt x="1397" y="741"/>
                  <a:pt x="1387" y="742"/>
                  <a:pt x="1376" y="742"/>
                </a:cubicBezTo>
                <a:lnTo>
                  <a:pt x="158" y="742"/>
                </a:lnTo>
                <a:cubicBezTo>
                  <a:pt x="148" y="742"/>
                  <a:pt x="138" y="741"/>
                  <a:pt x="127" y="739"/>
                </a:cubicBezTo>
                <a:cubicBezTo>
                  <a:pt x="117" y="737"/>
                  <a:pt x="107" y="734"/>
                  <a:pt x="98" y="730"/>
                </a:cubicBezTo>
                <a:cubicBezTo>
                  <a:pt x="88" y="726"/>
                  <a:pt x="79" y="721"/>
                  <a:pt x="70" y="715"/>
                </a:cubicBezTo>
                <a:cubicBezTo>
                  <a:pt x="61" y="709"/>
                  <a:pt x="53" y="703"/>
                  <a:pt x="46" y="695"/>
                </a:cubicBezTo>
                <a:cubicBezTo>
                  <a:pt x="39" y="688"/>
                  <a:pt x="32" y="680"/>
                  <a:pt x="26" y="671"/>
                </a:cubicBezTo>
                <a:cubicBezTo>
                  <a:pt x="21" y="663"/>
                  <a:pt x="16" y="654"/>
                  <a:pt x="12" y="644"/>
                </a:cubicBezTo>
                <a:cubicBezTo>
                  <a:pt x="8" y="634"/>
                  <a:pt x="5" y="624"/>
                  <a:pt x="3" y="614"/>
                </a:cubicBezTo>
                <a:cubicBezTo>
                  <a:pt x="1" y="604"/>
                  <a:pt x="0" y="594"/>
                  <a:pt x="0" y="58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762120" y="2708640"/>
            <a:ext cx="7887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Working approach: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move front elements to the back instead — this only needs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8734320" y="2750760"/>
            <a:ext cx="4154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head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10810800" y="2714400"/>
            <a:ext cx="552600" cy="267120"/>
          </a:xfrm>
          <a:custGeom>
            <a:avLst/>
            <a:gdLst/>
            <a:ahLst/>
            <a:rect l="0" t="0" r="r" b="b"/>
            <a:pathLst>
              <a:path w="1535" h="742">
                <a:moveTo>
                  <a:pt x="0" y="583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376" y="0"/>
                </a:lnTo>
                <a:cubicBezTo>
                  <a:pt x="1386" y="0"/>
                  <a:pt x="1396" y="1"/>
                  <a:pt x="1407" y="3"/>
                </a:cubicBezTo>
                <a:cubicBezTo>
                  <a:pt x="1418" y="5"/>
                  <a:pt x="1428" y="8"/>
                  <a:pt x="1437" y="12"/>
                </a:cubicBezTo>
                <a:cubicBezTo>
                  <a:pt x="1447" y="16"/>
                  <a:pt x="1456" y="21"/>
                  <a:pt x="1465" y="27"/>
                </a:cubicBezTo>
                <a:cubicBezTo>
                  <a:pt x="1473" y="33"/>
                  <a:pt x="1481" y="39"/>
                  <a:pt x="1489" y="47"/>
                </a:cubicBezTo>
                <a:cubicBezTo>
                  <a:pt x="1496" y="54"/>
                  <a:pt x="1503" y="62"/>
                  <a:pt x="1509" y="71"/>
                </a:cubicBezTo>
                <a:cubicBezTo>
                  <a:pt x="1514" y="79"/>
                  <a:pt x="1519" y="88"/>
                  <a:pt x="1523" y="98"/>
                </a:cubicBezTo>
                <a:cubicBezTo>
                  <a:pt x="1527" y="108"/>
                  <a:pt x="1530" y="118"/>
                  <a:pt x="1532" y="128"/>
                </a:cubicBezTo>
                <a:cubicBezTo>
                  <a:pt x="1534" y="138"/>
                  <a:pt x="1535" y="148"/>
                  <a:pt x="1535" y="159"/>
                </a:cubicBezTo>
                <a:lnTo>
                  <a:pt x="1535" y="583"/>
                </a:lnTo>
                <a:cubicBezTo>
                  <a:pt x="1535" y="594"/>
                  <a:pt x="1534" y="604"/>
                  <a:pt x="1532" y="614"/>
                </a:cubicBezTo>
                <a:cubicBezTo>
                  <a:pt x="1530" y="624"/>
                  <a:pt x="1527" y="634"/>
                  <a:pt x="1523" y="644"/>
                </a:cubicBezTo>
                <a:cubicBezTo>
                  <a:pt x="1519" y="654"/>
                  <a:pt x="1514" y="663"/>
                  <a:pt x="1509" y="671"/>
                </a:cubicBezTo>
                <a:cubicBezTo>
                  <a:pt x="1503" y="680"/>
                  <a:pt x="1496" y="688"/>
                  <a:pt x="1489" y="695"/>
                </a:cubicBezTo>
                <a:cubicBezTo>
                  <a:pt x="1481" y="703"/>
                  <a:pt x="1473" y="709"/>
                  <a:pt x="1465" y="715"/>
                </a:cubicBezTo>
                <a:cubicBezTo>
                  <a:pt x="1456" y="721"/>
                  <a:pt x="1447" y="726"/>
                  <a:pt x="1437" y="730"/>
                </a:cubicBezTo>
                <a:cubicBezTo>
                  <a:pt x="1428" y="734"/>
                  <a:pt x="1418" y="737"/>
                  <a:pt x="1407" y="739"/>
                </a:cubicBezTo>
                <a:cubicBezTo>
                  <a:pt x="1396" y="741"/>
                  <a:pt x="1386" y="742"/>
                  <a:pt x="1376" y="742"/>
                </a:cubicBezTo>
                <a:lnTo>
                  <a:pt x="158" y="742"/>
                </a:lnTo>
                <a:cubicBezTo>
                  <a:pt x="148" y="742"/>
                  <a:pt x="138" y="741"/>
                  <a:pt x="127" y="739"/>
                </a:cubicBezTo>
                <a:cubicBezTo>
                  <a:pt x="117" y="737"/>
                  <a:pt x="107" y="734"/>
                  <a:pt x="98" y="730"/>
                </a:cubicBezTo>
                <a:cubicBezTo>
                  <a:pt x="88" y="726"/>
                  <a:pt x="79" y="721"/>
                  <a:pt x="70" y="715"/>
                </a:cubicBezTo>
                <a:cubicBezTo>
                  <a:pt x="62" y="709"/>
                  <a:pt x="54" y="703"/>
                  <a:pt x="46" y="695"/>
                </a:cubicBezTo>
                <a:cubicBezTo>
                  <a:pt x="39" y="688"/>
                  <a:pt x="32" y="680"/>
                  <a:pt x="26" y="671"/>
                </a:cubicBezTo>
                <a:cubicBezTo>
                  <a:pt x="21" y="663"/>
                  <a:pt x="16" y="654"/>
                  <a:pt x="12" y="644"/>
                </a:cubicBezTo>
                <a:cubicBezTo>
                  <a:pt x="8" y="634"/>
                  <a:pt x="5" y="624"/>
                  <a:pt x="3" y="614"/>
                </a:cubicBezTo>
                <a:cubicBezTo>
                  <a:pt x="1" y="604"/>
                  <a:pt x="0" y="594"/>
                  <a:pt x="0" y="58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9219240" y="2708640"/>
            <a:ext cx="1587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and the known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10879200" y="2750760"/>
            <a:ext cx="4154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tail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11364120" y="2708640"/>
            <a:ext cx="202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911160" y="3165840"/>
            <a:ext cx="5674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Find the list length (the same traversal locates the tail).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2076120" y="3524040"/>
            <a:ext cx="3467520" cy="267120"/>
          </a:xfrm>
          <a:custGeom>
            <a:avLst/>
            <a:gdLst/>
            <a:ahLst/>
            <a:rect l="0" t="0" r="r" b="b"/>
            <a:pathLst>
              <a:path w="9632" h="742">
                <a:moveTo>
                  <a:pt x="0" y="583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9473" y="0"/>
                </a:lnTo>
                <a:cubicBezTo>
                  <a:pt x="9484" y="0"/>
                  <a:pt x="9494" y="1"/>
                  <a:pt x="9504" y="3"/>
                </a:cubicBezTo>
                <a:cubicBezTo>
                  <a:pt x="9515" y="5"/>
                  <a:pt x="9525" y="8"/>
                  <a:pt x="9534" y="12"/>
                </a:cubicBezTo>
                <a:cubicBezTo>
                  <a:pt x="9544" y="16"/>
                  <a:pt x="9553" y="21"/>
                  <a:pt x="9562" y="27"/>
                </a:cubicBezTo>
                <a:cubicBezTo>
                  <a:pt x="9570" y="33"/>
                  <a:pt x="9578" y="39"/>
                  <a:pt x="9586" y="47"/>
                </a:cubicBezTo>
                <a:cubicBezTo>
                  <a:pt x="9593" y="54"/>
                  <a:pt x="9600" y="62"/>
                  <a:pt x="9605" y="71"/>
                </a:cubicBezTo>
                <a:cubicBezTo>
                  <a:pt x="9611" y="79"/>
                  <a:pt x="9616" y="88"/>
                  <a:pt x="9620" y="98"/>
                </a:cubicBezTo>
                <a:cubicBezTo>
                  <a:pt x="9624" y="108"/>
                  <a:pt x="9627" y="118"/>
                  <a:pt x="9629" y="128"/>
                </a:cubicBezTo>
                <a:cubicBezTo>
                  <a:pt x="9631" y="138"/>
                  <a:pt x="9632" y="148"/>
                  <a:pt x="9632" y="159"/>
                </a:cubicBezTo>
                <a:lnTo>
                  <a:pt x="9632" y="583"/>
                </a:lnTo>
                <a:cubicBezTo>
                  <a:pt x="9632" y="594"/>
                  <a:pt x="9631" y="604"/>
                  <a:pt x="9629" y="614"/>
                </a:cubicBezTo>
                <a:cubicBezTo>
                  <a:pt x="9627" y="624"/>
                  <a:pt x="9624" y="634"/>
                  <a:pt x="9620" y="644"/>
                </a:cubicBezTo>
                <a:cubicBezTo>
                  <a:pt x="9616" y="654"/>
                  <a:pt x="9611" y="663"/>
                  <a:pt x="9605" y="671"/>
                </a:cubicBezTo>
                <a:cubicBezTo>
                  <a:pt x="9600" y="680"/>
                  <a:pt x="9593" y="688"/>
                  <a:pt x="9586" y="695"/>
                </a:cubicBezTo>
                <a:cubicBezTo>
                  <a:pt x="9578" y="703"/>
                  <a:pt x="9570" y="709"/>
                  <a:pt x="9562" y="715"/>
                </a:cubicBezTo>
                <a:cubicBezTo>
                  <a:pt x="9553" y="721"/>
                  <a:pt x="9544" y="726"/>
                  <a:pt x="9534" y="730"/>
                </a:cubicBezTo>
                <a:cubicBezTo>
                  <a:pt x="9525" y="734"/>
                  <a:pt x="9515" y="737"/>
                  <a:pt x="9504" y="739"/>
                </a:cubicBezTo>
                <a:cubicBezTo>
                  <a:pt x="9494" y="741"/>
                  <a:pt x="9484" y="742"/>
                  <a:pt x="9473" y="742"/>
                </a:cubicBezTo>
                <a:lnTo>
                  <a:pt x="159" y="742"/>
                </a:lnTo>
                <a:cubicBezTo>
                  <a:pt x="149" y="742"/>
                  <a:pt x="138" y="741"/>
                  <a:pt x="128" y="739"/>
                </a:cubicBezTo>
                <a:cubicBezTo>
                  <a:pt x="118" y="737"/>
                  <a:pt x="108" y="734"/>
                  <a:pt x="98" y="730"/>
                </a:cubicBezTo>
                <a:cubicBezTo>
                  <a:pt x="89" y="726"/>
                  <a:pt x="80" y="721"/>
                  <a:pt x="71" y="715"/>
                </a:cubicBezTo>
                <a:cubicBezTo>
                  <a:pt x="62" y="709"/>
                  <a:pt x="54" y="703"/>
                  <a:pt x="47" y="695"/>
                </a:cubicBezTo>
                <a:cubicBezTo>
                  <a:pt x="40" y="688"/>
                  <a:pt x="33" y="680"/>
                  <a:pt x="27" y="671"/>
                </a:cubicBezTo>
                <a:cubicBezTo>
                  <a:pt x="21" y="663"/>
                  <a:pt x="16" y="654"/>
                  <a:pt x="13" y="644"/>
                </a:cubicBezTo>
                <a:cubicBezTo>
                  <a:pt x="9" y="634"/>
                  <a:pt x="6" y="624"/>
                  <a:pt x="3" y="614"/>
                </a:cubicBezTo>
                <a:cubicBezTo>
                  <a:pt x="1" y="604"/>
                  <a:pt x="0" y="594"/>
                  <a:pt x="0" y="58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911160" y="3527640"/>
            <a:ext cx="1167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Simplify: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2149920" y="3560400"/>
            <a:ext cx="33184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true_k = length − (k mod length)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5546160" y="3527640"/>
            <a:ext cx="202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2047680" y="3876480"/>
            <a:ext cx="1800720" cy="267120"/>
          </a:xfrm>
          <a:custGeom>
            <a:avLst/>
            <a:gdLst/>
            <a:ahLst/>
            <a:rect l="0" t="0" r="r" b="b"/>
            <a:pathLst>
              <a:path w="5002" h="742">
                <a:moveTo>
                  <a:pt x="0" y="582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843" y="0"/>
                </a:lnTo>
                <a:cubicBezTo>
                  <a:pt x="4853" y="0"/>
                  <a:pt x="4864" y="1"/>
                  <a:pt x="4874" y="3"/>
                </a:cubicBezTo>
                <a:cubicBezTo>
                  <a:pt x="4884" y="5"/>
                  <a:pt x="4894" y="8"/>
                  <a:pt x="4904" y="12"/>
                </a:cubicBezTo>
                <a:cubicBezTo>
                  <a:pt x="4913" y="16"/>
                  <a:pt x="4922" y="21"/>
                  <a:pt x="4931" y="27"/>
                </a:cubicBezTo>
                <a:cubicBezTo>
                  <a:pt x="4940" y="33"/>
                  <a:pt x="4948" y="39"/>
                  <a:pt x="4955" y="47"/>
                </a:cubicBezTo>
                <a:cubicBezTo>
                  <a:pt x="4963" y="54"/>
                  <a:pt x="4969" y="62"/>
                  <a:pt x="4975" y="71"/>
                </a:cubicBezTo>
                <a:cubicBezTo>
                  <a:pt x="4981" y="79"/>
                  <a:pt x="4986" y="88"/>
                  <a:pt x="4990" y="98"/>
                </a:cubicBezTo>
                <a:cubicBezTo>
                  <a:pt x="4994" y="108"/>
                  <a:pt x="4997" y="118"/>
                  <a:pt x="4999" y="128"/>
                </a:cubicBezTo>
                <a:cubicBezTo>
                  <a:pt x="5001" y="138"/>
                  <a:pt x="5002" y="148"/>
                  <a:pt x="5002" y="159"/>
                </a:cubicBezTo>
                <a:lnTo>
                  <a:pt x="5002" y="582"/>
                </a:lnTo>
                <a:cubicBezTo>
                  <a:pt x="5002" y="593"/>
                  <a:pt x="5001" y="603"/>
                  <a:pt x="4999" y="613"/>
                </a:cubicBezTo>
                <a:cubicBezTo>
                  <a:pt x="4997" y="623"/>
                  <a:pt x="4994" y="633"/>
                  <a:pt x="4990" y="643"/>
                </a:cubicBezTo>
                <a:cubicBezTo>
                  <a:pt x="4986" y="653"/>
                  <a:pt x="4981" y="662"/>
                  <a:pt x="4975" y="670"/>
                </a:cubicBezTo>
                <a:cubicBezTo>
                  <a:pt x="4969" y="679"/>
                  <a:pt x="4963" y="687"/>
                  <a:pt x="4955" y="694"/>
                </a:cubicBezTo>
                <a:cubicBezTo>
                  <a:pt x="4948" y="703"/>
                  <a:pt x="4940" y="709"/>
                  <a:pt x="4931" y="715"/>
                </a:cubicBezTo>
                <a:cubicBezTo>
                  <a:pt x="4922" y="721"/>
                  <a:pt x="4913" y="726"/>
                  <a:pt x="4904" y="730"/>
                </a:cubicBezTo>
                <a:cubicBezTo>
                  <a:pt x="4894" y="734"/>
                  <a:pt x="4884" y="737"/>
                  <a:pt x="4874" y="739"/>
                </a:cubicBezTo>
                <a:cubicBezTo>
                  <a:pt x="4864" y="741"/>
                  <a:pt x="4853" y="742"/>
                  <a:pt x="4843" y="742"/>
                </a:cubicBezTo>
                <a:lnTo>
                  <a:pt x="159" y="742"/>
                </a:lnTo>
                <a:cubicBezTo>
                  <a:pt x="148" y="742"/>
                  <a:pt x="138" y="741"/>
                  <a:pt x="128" y="739"/>
                </a:cubicBezTo>
                <a:cubicBezTo>
                  <a:pt x="118" y="737"/>
                  <a:pt x="108" y="734"/>
                  <a:pt x="98" y="730"/>
                </a:cubicBezTo>
                <a:cubicBezTo>
                  <a:pt x="88" y="726"/>
                  <a:pt x="79" y="721"/>
                  <a:pt x="71" y="715"/>
                </a:cubicBezTo>
                <a:cubicBezTo>
                  <a:pt x="62" y="709"/>
                  <a:pt x="54" y="703"/>
                  <a:pt x="47" y="694"/>
                </a:cubicBezTo>
                <a:cubicBezTo>
                  <a:pt x="39" y="687"/>
                  <a:pt x="33" y="679"/>
                  <a:pt x="27" y="670"/>
                </a:cubicBezTo>
                <a:cubicBezTo>
                  <a:pt x="21" y="662"/>
                  <a:pt x="16" y="653"/>
                  <a:pt x="12" y="643"/>
                </a:cubicBezTo>
                <a:cubicBezTo>
                  <a:pt x="8" y="633"/>
                  <a:pt x="5" y="623"/>
                  <a:pt x="3" y="613"/>
                </a:cubicBezTo>
                <a:cubicBezTo>
                  <a:pt x="1" y="603"/>
                  <a:pt x="0" y="593"/>
                  <a:pt x="0" y="58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911160" y="3880080"/>
            <a:ext cx="1130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Connect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2112480" y="3912840"/>
            <a:ext cx="16596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tail.next = head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6848280" y="3876480"/>
            <a:ext cx="762480" cy="267120"/>
          </a:xfrm>
          <a:custGeom>
            <a:avLst/>
            <a:gdLst/>
            <a:ahLst/>
            <a:rect l="0" t="0" r="r" b="b"/>
            <a:pathLst>
              <a:path w="2118" h="742">
                <a:moveTo>
                  <a:pt x="0" y="582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959" y="0"/>
                </a:lnTo>
                <a:cubicBezTo>
                  <a:pt x="1969" y="0"/>
                  <a:pt x="1980" y="1"/>
                  <a:pt x="1990" y="3"/>
                </a:cubicBezTo>
                <a:cubicBezTo>
                  <a:pt x="2000" y="5"/>
                  <a:pt x="2010" y="8"/>
                  <a:pt x="2020" y="12"/>
                </a:cubicBezTo>
                <a:cubicBezTo>
                  <a:pt x="2029" y="16"/>
                  <a:pt x="2038" y="21"/>
                  <a:pt x="2047" y="27"/>
                </a:cubicBezTo>
                <a:cubicBezTo>
                  <a:pt x="2056" y="33"/>
                  <a:pt x="2064" y="39"/>
                  <a:pt x="2071" y="47"/>
                </a:cubicBezTo>
                <a:cubicBezTo>
                  <a:pt x="2079" y="54"/>
                  <a:pt x="2085" y="62"/>
                  <a:pt x="2091" y="71"/>
                </a:cubicBezTo>
                <a:cubicBezTo>
                  <a:pt x="2097" y="79"/>
                  <a:pt x="2102" y="88"/>
                  <a:pt x="2106" y="98"/>
                </a:cubicBezTo>
                <a:cubicBezTo>
                  <a:pt x="2110" y="108"/>
                  <a:pt x="2113" y="118"/>
                  <a:pt x="2115" y="128"/>
                </a:cubicBezTo>
                <a:cubicBezTo>
                  <a:pt x="2117" y="138"/>
                  <a:pt x="2118" y="148"/>
                  <a:pt x="2118" y="159"/>
                </a:cubicBezTo>
                <a:lnTo>
                  <a:pt x="2118" y="582"/>
                </a:lnTo>
                <a:cubicBezTo>
                  <a:pt x="2118" y="593"/>
                  <a:pt x="2117" y="603"/>
                  <a:pt x="2115" y="613"/>
                </a:cubicBezTo>
                <a:cubicBezTo>
                  <a:pt x="2113" y="623"/>
                  <a:pt x="2110" y="633"/>
                  <a:pt x="2106" y="643"/>
                </a:cubicBezTo>
                <a:cubicBezTo>
                  <a:pt x="2102" y="653"/>
                  <a:pt x="2097" y="662"/>
                  <a:pt x="2091" y="670"/>
                </a:cubicBezTo>
                <a:cubicBezTo>
                  <a:pt x="2085" y="679"/>
                  <a:pt x="2079" y="687"/>
                  <a:pt x="2071" y="694"/>
                </a:cubicBezTo>
                <a:cubicBezTo>
                  <a:pt x="2064" y="703"/>
                  <a:pt x="2056" y="709"/>
                  <a:pt x="2047" y="715"/>
                </a:cubicBezTo>
                <a:cubicBezTo>
                  <a:pt x="2038" y="721"/>
                  <a:pt x="2029" y="726"/>
                  <a:pt x="2020" y="730"/>
                </a:cubicBezTo>
                <a:cubicBezTo>
                  <a:pt x="2010" y="734"/>
                  <a:pt x="2000" y="737"/>
                  <a:pt x="1990" y="739"/>
                </a:cubicBezTo>
                <a:cubicBezTo>
                  <a:pt x="1980" y="741"/>
                  <a:pt x="1969" y="742"/>
                  <a:pt x="1959" y="742"/>
                </a:cubicBezTo>
                <a:lnTo>
                  <a:pt x="159" y="742"/>
                </a:lnTo>
                <a:cubicBezTo>
                  <a:pt x="148" y="742"/>
                  <a:pt x="138" y="741"/>
                  <a:pt x="128" y="739"/>
                </a:cubicBezTo>
                <a:cubicBezTo>
                  <a:pt x="118" y="737"/>
                  <a:pt x="108" y="734"/>
                  <a:pt x="98" y="730"/>
                </a:cubicBezTo>
                <a:cubicBezTo>
                  <a:pt x="88" y="726"/>
                  <a:pt x="79" y="721"/>
                  <a:pt x="71" y="715"/>
                </a:cubicBezTo>
                <a:cubicBezTo>
                  <a:pt x="62" y="709"/>
                  <a:pt x="54" y="703"/>
                  <a:pt x="47" y="694"/>
                </a:cubicBezTo>
                <a:cubicBezTo>
                  <a:pt x="39" y="687"/>
                  <a:pt x="33" y="679"/>
                  <a:pt x="27" y="670"/>
                </a:cubicBezTo>
                <a:cubicBezTo>
                  <a:pt x="21" y="662"/>
                  <a:pt x="16" y="653"/>
                  <a:pt x="12" y="643"/>
                </a:cubicBezTo>
                <a:cubicBezTo>
                  <a:pt x="8" y="633"/>
                  <a:pt x="5" y="623"/>
                  <a:pt x="3" y="613"/>
                </a:cubicBezTo>
                <a:cubicBezTo>
                  <a:pt x="1" y="603"/>
                  <a:pt x="0" y="593"/>
                  <a:pt x="0" y="58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3845160" y="3880080"/>
            <a:ext cx="3000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(temporary circular list); walk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6921720" y="3912840"/>
            <a:ext cx="6228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true_k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8800920" y="3876480"/>
            <a:ext cx="552960" cy="267120"/>
          </a:xfrm>
          <a:custGeom>
            <a:avLst/>
            <a:gdLst/>
            <a:ahLst/>
            <a:rect l="0" t="0" r="r" b="b"/>
            <a:pathLst>
              <a:path w="1536" h="742">
                <a:moveTo>
                  <a:pt x="0" y="582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377" y="0"/>
                </a:lnTo>
                <a:cubicBezTo>
                  <a:pt x="1387" y="0"/>
                  <a:pt x="1398" y="1"/>
                  <a:pt x="1408" y="3"/>
                </a:cubicBezTo>
                <a:cubicBezTo>
                  <a:pt x="1418" y="5"/>
                  <a:pt x="1428" y="8"/>
                  <a:pt x="1438" y="12"/>
                </a:cubicBezTo>
                <a:cubicBezTo>
                  <a:pt x="1447" y="16"/>
                  <a:pt x="1456" y="21"/>
                  <a:pt x="1465" y="27"/>
                </a:cubicBezTo>
                <a:cubicBezTo>
                  <a:pt x="1474" y="33"/>
                  <a:pt x="1482" y="39"/>
                  <a:pt x="1489" y="47"/>
                </a:cubicBezTo>
                <a:cubicBezTo>
                  <a:pt x="1496" y="54"/>
                  <a:pt x="1503" y="62"/>
                  <a:pt x="1509" y="71"/>
                </a:cubicBezTo>
                <a:cubicBezTo>
                  <a:pt x="1515" y="79"/>
                  <a:pt x="1520" y="88"/>
                  <a:pt x="1523" y="98"/>
                </a:cubicBezTo>
                <a:cubicBezTo>
                  <a:pt x="1527" y="108"/>
                  <a:pt x="1530" y="118"/>
                  <a:pt x="1533" y="128"/>
                </a:cubicBezTo>
                <a:cubicBezTo>
                  <a:pt x="1535" y="138"/>
                  <a:pt x="1536" y="148"/>
                  <a:pt x="1536" y="159"/>
                </a:cubicBezTo>
                <a:lnTo>
                  <a:pt x="1536" y="582"/>
                </a:lnTo>
                <a:cubicBezTo>
                  <a:pt x="1536" y="593"/>
                  <a:pt x="1535" y="603"/>
                  <a:pt x="1533" y="613"/>
                </a:cubicBezTo>
                <a:cubicBezTo>
                  <a:pt x="1530" y="623"/>
                  <a:pt x="1527" y="633"/>
                  <a:pt x="1523" y="643"/>
                </a:cubicBezTo>
                <a:cubicBezTo>
                  <a:pt x="1520" y="653"/>
                  <a:pt x="1515" y="662"/>
                  <a:pt x="1509" y="670"/>
                </a:cubicBezTo>
                <a:cubicBezTo>
                  <a:pt x="1503" y="679"/>
                  <a:pt x="1496" y="687"/>
                  <a:pt x="1489" y="694"/>
                </a:cubicBezTo>
                <a:cubicBezTo>
                  <a:pt x="1482" y="703"/>
                  <a:pt x="1474" y="709"/>
                  <a:pt x="1465" y="715"/>
                </a:cubicBezTo>
                <a:cubicBezTo>
                  <a:pt x="1456" y="721"/>
                  <a:pt x="1447" y="726"/>
                  <a:pt x="1438" y="730"/>
                </a:cubicBezTo>
                <a:cubicBezTo>
                  <a:pt x="1428" y="734"/>
                  <a:pt x="1418" y="737"/>
                  <a:pt x="1408" y="739"/>
                </a:cubicBezTo>
                <a:cubicBezTo>
                  <a:pt x="1398" y="741"/>
                  <a:pt x="1387" y="742"/>
                  <a:pt x="1377" y="742"/>
                </a:cubicBezTo>
                <a:lnTo>
                  <a:pt x="159" y="742"/>
                </a:lnTo>
                <a:cubicBezTo>
                  <a:pt x="148" y="742"/>
                  <a:pt x="138" y="741"/>
                  <a:pt x="128" y="739"/>
                </a:cubicBezTo>
                <a:cubicBezTo>
                  <a:pt x="118" y="737"/>
                  <a:pt x="108" y="734"/>
                  <a:pt x="98" y="730"/>
                </a:cubicBezTo>
                <a:cubicBezTo>
                  <a:pt x="88" y="726"/>
                  <a:pt x="79" y="721"/>
                  <a:pt x="71" y="715"/>
                </a:cubicBezTo>
                <a:cubicBezTo>
                  <a:pt x="62" y="709"/>
                  <a:pt x="54" y="703"/>
                  <a:pt x="46" y="694"/>
                </a:cubicBezTo>
                <a:cubicBezTo>
                  <a:pt x="39" y="687"/>
                  <a:pt x="33" y="679"/>
                  <a:pt x="27" y="670"/>
                </a:cubicBezTo>
                <a:cubicBezTo>
                  <a:pt x="21" y="662"/>
                  <a:pt x="16" y="653"/>
                  <a:pt x="12" y="643"/>
                </a:cubicBezTo>
                <a:cubicBezTo>
                  <a:pt x="8" y="633"/>
                  <a:pt x="5" y="623"/>
                  <a:pt x="3" y="613"/>
                </a:cubicBezTo>
                <a:cubicBezTo>
                  <a:pt x="1" y="603"/>
                  <a:pt x="0" y="593"/>
                  <a:pt x="0" y="58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7614360" y="3880080"/>
            <a:ext cx="1187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steps from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8872920" y="3912840"/>
            <a:ext cx="4154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head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10610640" y="3876480"/>
            <a:ext cx="667080" cy="267120"/>
          </a:xfrm>
          <a:custGeom>
            <a:avLst/>
            <a:gdLst/>
            <a:ahLst/>
            <a:rect l="0" t="0" r="r" b="b"/>
            <a:pathLst>
              <a:path w="1853" h="742">
                <a:moveTo>
                  <a:pt x="0" y="582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694" y="0"/>
                </a:lnTo>
                <a:cubicBezTo>
                  <a:pt x="1705" y="0"/>
                  <a:pt x="1715" y="1"/>
                  <a:pt x="1725" y="3"/>
                </a:cubicBezTo>
                <a:cubicBezTo>
                  <a:pt x="1736" y="5"/>
                  <a:pt x="1746" y="8"/>
                  <a:pt x="1755" y="12"/>
                </a:cubicBezTo>
                <a:cubicBezTo>
                  <a:pt x="1765" y="16"/>
                  <a:pt x="1774" y="21"/>
                  <a:pt x="1783" y="27"/>
                </a:cubicBezTo>
                <a:cubicBezTo>
                  <a:pt x="1791" y="33"/>
                  <a:pt x="1799" y="39"/>
                  <a:pt x="1807" y="47"/>
                </a:cubicBezTo>
                <a:cubicBezTo>
                  <a:pt x="1814" y="54"/>
                  <a:pt x="1821" y="62"/>
                  <a:pt x="1826" y="71"/>
                </a:cubicBezTo>
                <a:cubicBezTo>
                  <a:pt x="1832" y="79"/>
                  <a:pt x="1837" y="88"/>
                  <a:pt x="1841" y="98"/>
                </a:cubicBezTo>
                <a:cubicBezTo>
                  <a:pt x="1845" y="108"/>
                  <a:pt x="1848" y="118"/>
                  <a:pt x="1850" y="128"/>
                </a:cubicBezTo>
                <a:cubicBezTo>
                  <a:pt x="1852" y="138"/>
                  <a:pt x="1853" y="148"/>
                  <a:pt x="1853" y="159"/>
                </a:cubicBezTo>
                <a:lnTo>
                  <a:pt x="1853" y="582"/>
                </a:lnTo>
                <a:cubicBezTo>
                  <a:pt x="1853" y="593"/>
                  <a:pt x="1852" y="603"/>
                  <a:pt x="1850" y="613"/>
                </a:cubicBezTo>
                <a:cubicBezTo>
                  <a:pt x="1848" y="623"/>
                  <a:pt x="1845" y="633"/>
                  <a:pt x="1841" y="643"/>
                </a:cubicBezTo>
                <a:cubicBezTo>
                  <a:pt x="1837" y="653"/>
                  <a:pt x="1832" y="662"/>
                  <a:pt x="1826" y="670"/>
                </a:cubicBezTo>
                <a:cubicBezTo>
                  <a:pt x="1821" y="679"/>
                  <a:pt x="1814" y="687"/>
                  <a:pt x="1807" y="694"/>
                </a:cubicBezTo>
                <a:cubicBezTo>
                  <a:pt x="1799" y="703"/>
                  <a:pt x="1791" y="709"/>
                  <a:pt x="1783" y="715"/>
                </a:cubicBezTo>
                <a:cubicBezTo>
                  <a:pt x="1774" y="721"/>
                  <a:pt x="1765" y="726"/>
                  <a:pt x="1755" y="730"/>
                </a:cubicBezTo>
                <a:cubicBezTo>
                  <a:pt x="1746" y="734"/>
                  <a:pt x="1736" y="737"/>
                  <a:pt x="1725" y="739"/>
                </a:cubicBezTo>
                <a:cubicBezTo>
                  <a:pt x="1715" y="741"/>
                  <a:pt x="1705" y="742"/>
                  <a:pt x="1694" y="742"/>
                </a:cubicBezTo>
                <a:lnTo>
                  <a:pt x="159" y="742"/>
                </a:lnTo>
                <a:cubicBezTo>
                  <a:pt x="148" y="742"/>
                  <a:pt x="138" y="741"/>
                  <a:pt x="128" y="739"/>
                </a:cubicBezTo>
                <a:cubicBezTo>
                  <a:pt x="118" y="737"/>
                  <a:pt x="108" y="734"/>
                  <a:pt x="98" y="730"/>
                </a:cubicBezTo>
                <a:cubicBezTo>
                  <a:pt x="88" y="726"/>
                  <a:pt x="79" y="721"/>
                  <a:pt x="71" y="715"/>
                </a:cubicBezTo>
                <a:cubicBezTo>
                  <a:pt x="62" y="709"/>
                  <a:pt x="54" y="703"/>
                  <a:pt x="47" y="694"/>
                </a:cubicBezTo>
                <a:cubicBezTo>
                  <a:pt x="39" y="687"/>
                  <a:pt x="33" y="679"/>
                  <a:pt x="27" y="670"/>
                </a:cubicBezTo>
                <a:cubicBezTo>
                  <a:pt x="21" y="662"/>
                  <a:pt x="16" y="653"/>
                  <a:pt x="12" y="643"/>
                </a:cubicBezTo>
                <a:cubicBezTo>
                  <a:pt x="8" y="633"/>
                  <a:pt x="5" y="623"/>
                  <a:pt x="3" y="613"/>
                </a:cubicBezTo>
                <a:cubicBezTo>
                  <a:pt x="1" y="603"/>
                  <a:pt x="0" y="593"/>
                  <a:pt x="0" y="58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9357840" y="3880080"/>
            <a:ext cx="1254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; disconnect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10684440" y="3912840"/>
            <a:ext cx="5191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.next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1168200" y="4185000"/>
            <a:ext cx="4405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there; return the next node as the new head.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762120" y="4642200"/>
            <a:ext cx="10539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Edge cases: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empty list → return as-is. Single-element list → return as-is (would otherwise self-reference).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661057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762120" y="372600"/>
            <a:ext cx="72378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Deriving the Algorithm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64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5" name=""/>
          <p:cNvSpPr/>
          <p:nvPr/>
        </p:nvSpPr>
        <p:spPr>
          <a:xfrm>
            <a:off x="766440" y="1385640"/>
            <a:ext cx="10658880" cy="4886640"/>
          </a:xfrm>
          <a:custGeom>
            <a:avLst/>
            <a:gdLst/>
            <a:ahLst/>
            <a:rect l="0" t="0" r="r" b="b"/>
            <a:pathLst>
              <a:path w="29608" h="13574">
                <a:moveTo>
                  <a:pt x="0" y="1342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13429"/>
                </a:lnTo>
                <a:cubicBezTo>
                  <a:pt x="29608" y="13438"/>
                  <a:pt x="29607" y="13448"/>
                  <a:pt x="29605" y="13457"/>
                </a:cubicBezTo>
                <a:cubicBezTo>
                  <a:pt x="29604" y="13467"/>
                  <a:pt x="29601" y="13476"/>
                  <a:pt x="29597" y="13484"/>
                </a:cubicBezTo>
                <a:cubicBezTo>
                  <a:pt x="29594" y="13493"/>
                  <a:pt x="29589" y="13502"/>
                  <a:pt x="29584" y="13510"/>
                </a:cubicBezTo>
                <a:cubicBezTo>
                  <a:pt x="29578" y="13518"/>
                  <a:pt x="29572" y="13525"/>
                  <a:pt x="29566" y="13532"/>
                </a:cubicBezTo>
                <a:cubicBezTo>
                  <a:pt x="29559" y="13538"/>
                  <a:pt x="29552" y="13544"/>
                  <a:pt x="29544" y="13550"/>
                </a:cubicBezTo>
                <a:cubicBezTo>
                  <a:pt x="29536" y="13555"/>
                  <a:pt x="29527" y="13560"/>
                  <a:pt x="29518" y="13563"/>
                </a:cubicBezTo>
                <a:cubicBezTo>
                  <a:pt x="29510" y="13567"/>
                  <a:pt x="29501" y="13570"/>
                  <a:pt x="29491" y="13572"/>
                </a:cubicBezTo>
                <a:cubicBezTo>
                  <a:pt x="29482" y="13573"/>
                  <a:pt x="29472" y="13574"/>
                  <a:pt x="29463" y="13574"/>
                </a:cubicBezTo>
                <a:lnTo>
                  <a:pt x="146" y="13574"/>
                </a:lnTo>
                <a:cubicBezTo>
                  <a:pt x="136" y="13574"/>
                  <a:pt x="127" y="13573"/>
                  <a:pt x="118" y="13572"/>
                </a:cubicBezTo>
                <a:cubicBezTo>
                  <a:pt x="108" y="13570"/>
                  <a:pt x="99" y="13567"/>
                  <a:pt x="90" y="13563"/>
                </a:cubicBezTo>
                <a:cubicBezTo>
                  <a:pt x="81" y="13560"/>
                  <a:pt x="73" y="13555"/>
                  <a:pt x="65" y="13550"/>
                </a:cubicBezTo>
                <a:cubicBezTo>
                  <a:pt x="57" y="13544"/>
                  <a:pt x="50" y="13538"/>
                  <a:pt x="43" y="13532"/>
                </a:cubicBezTo>
                <a:cubicBezTo>
                  <a:pt x="36" y="13525"/>
                  <a:pt x="30" y="13518"/>
                  <a:pt x="25" y="13510"/>
                </a:cubicBezTo>
                <a:cubicBezTo>
                  <a:pt x="20" y="13502"/>
                  <a:pt x="15" y="13493"/>
                  <a:pt x="11" y="13484"/>
                </a:cubicBezTo>
                <a:cubicBezTo>
                  <a:pt x="8" y="13476"/>
                  <a:pt x="5" y="13467"/>
                  <a:pt x="3" y="13457"/>
                </a:cubicBezTo>
                <a:cubicBezTo>
                  <a:pt x="1" y="13448"/>
                  <a:pt x="0" y="13438"/>
                  <a:pt x="0" y="13429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766440" y="1385640"/>
            <a:ext cx="10658880" cy="4886640"/>
          </a:xfrm>
          <a:custGeom>
            <a:avLst/>
            <a:gdLst/>
            <a:ahLst/>
            <a:rect l="0" t="0" r="r" b="b"/>
            <a:pathLst>
              <a:path fill="none" w="29608" h="13574">
                <a:moveTo>
                  <a:pt x="0" y="1342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8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50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13429"/>
                </a:lnTo>
                <a:cubicBezTo>
                  <a:pt x="29608" y="13438"/>
                  <a:pt x="29607" y="13448"/>
                  <a:pt x="29605" y="13457"/>
                </a:cubicBezTo>
                <a:cubicBezTo>
                  <a:pt x="29604" y="13467"/>
                  <a:pt x="29601" y="13476"/>
                  <a:pt x="29597" y="13484"/>
                </a:cubicBezTo>
                <a:cubicBezTo>
                  <a:pt x="29594" y="13493"/>
                  <a:pt x="29589" y="13502"/>
                  <a:pt x="29584" y="13510"/>
                </a:cubicBezTo>
                <a:cubicBezTo>
                  <a:pt x="29578" y="13518"/>
                  <a:pt x="29572" y="13525"/>
                  <a:pt x="29566" y="13532"/>
                </a:cubicBezTo>
                <a:cubicBezTo>
                  <a:pt x="29559" y="13538"/>
                  <a:pt x="29552" y="13544"/>
                  <a:pt x="29544" y="13550"/>
                </a:cubicBezTo>
                <a:cubicBezTo>
                  <a:pt x="29536" y="13555"/>
                  <a:pt x="29527" y="13560"/>
                  <a:pt x="29518" y="13563"/>
                </a:cubicBezTo>
                <a:cubicBezTo>
                  <a:pt x="29510" y="13567"/>
                  <a:pt x="29501" y="13570"/>
                  <a:pt x="29491" y="13572"/>
                </a:cubicBezTo>
                <a:cubicBezTo>
                  <a:pt x="29482" y="13573"/>
                  <a:pt x="29472" y="13574"/>
                  <a:pt x="29463" y="13574"/>
                </a:cubicBezTo>
                <a:lnTo>
                  <a:pt x="146" y="13574"/>
                </a:lnTo>
                <a:cubicBezTo>
                  <a:pt x="136" y="13574"/>
                  <a:pt x="127" y="13573"/>
                  <a:pt x="118" y="13572"/>
                </a:cubicBezTo>
                <a:cubicBezTo>
                  <a:pt x="108" y="13570"/>
                  <a:pt x="99" y="13567"/>
                  <a:pt x="90" y="13563"/>
                </a:cubicBezTo>
                <a:cubicBezTo>
                  <a:pt x="81" y="13560"/>
                  <a:pt x="73" y="13555"/>
                  <a:pt x="65" y="13550"/>
                </a:cubicBezTo>
                <a:cubicBezTo>
                  <a:pt x="57" y="13544"/>
                  <a:pt x="50" y="13538"/>
                  <a:pt x="43" y="13532"/>
                </a:cubicBezTo>
                <a:cubicBezTo>
                  <a:pt x="36" y="13525"/>
                  <a:pt x="30" y="13518"/>
                  <a:pt x="25" y="13510"/>
                </a:cubicBezTo>
                <a:cubicBezTo>
                  <a:pt x="20" y="13502"/>
                  <a:pt x="15" y="13493"/>
                  <a:pt x="11" y="13484"/>
                </a:cubicBezTo>
                <a:cubicBezTo>
                  <a:pt x="8" y="13476"/>
                  <a:pt x="5" y="13467"/>
                  <a:pt x="3" y="13457"/>
                </a:cubicBezTo>
                <a:cubicBezTo>
                  <a:pt x="1" y="13448"/>
                  <a:pt x="0" y="13438"/>
                  <a:pt x="0" y="13429"/>
                </a:cubicBezTo>
              </a:path>
            </a:pathLst>
          </a:custGeom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923760" y="1535040"/>
            <a:ext cx="25927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def</a:t>
            </a:r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b="0" lang="en-US" sz="1360" strike="noStrike" u="none">
                <a:solidFill>
                  <a:srgbClr val="6639ba"/>
                </a:solidFill>
                <a:effectLst/>
                <a:uFillTx/>
                <a:latin typeface="Menlo"/>
                <a:ea typeface="Menlo"/>
              </a:rPr>
              <a:t>rotateRight</a:t>
            </a:r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(head, k):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923760" y="1735200"/>
            <a:ext cx="2074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b="0" lang="en-US" sz="1360" strike="noStrike" u="non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if</a:t>
            </a:r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head </a:t>
            </a:r>
            <a:r>
              <a:rPr b="0" lang="en-US" sz="1360" strike="noStrike" u="non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is</a:t>
            </a:r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b="0" lang="en-US" sz="1360" strike="noStrike" u="non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None</a:t>
            </a:r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: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923760" y="1935360"/>
            <a:ext cx="19706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    </a:t>
            </a:r>
            <a:r>
              <a:rPr b="0" lang="en-US" sz="1360" strike="noStrike" u="non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return</a:t>
            </a:r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head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923760" y="2325600"/>
            <a:ext cx="14522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length = </a:t>
            </a:r>
            <a:r>
              <a:rPr b="0" lang="en-US" sz="1360" strike="noStrike" u="non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1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923760" y="2525760"/>
            <a:ext cx="18669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current = head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923760" y="2725920"/>
            <a:ext cx="36295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b="0" lang="en-US" sz="1360" strike="noStrike" u="non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while</a:t>
            </a:r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current.</a:t>
            </a:r>
            <a:r>
              <a:rPr b="0" lang="en-US" sz="1360" strike="noStrike" u="none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next</a:t>
            </a:r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b="0" lang="en-US" sz="1360" strike="noStrike" u="non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is</a:t>
            </a:r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b="0" lang="en-US" sz="1360" strike="noStrike" u="non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not</a:t>
            </a:r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b="0" lang="en-US" sz="1360" strike="noStrike" u="non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None</a:t>
            </a:r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: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923760" y="2925720"/>
            <a:ext cx="19706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    length += </a:t>
            </a:r>
            <a:r>
              <a:rPr b="0" lang="en-US" sz="1360" strike="noStrike" u="non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1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923760" y="3125880"/>
            <a:ext cx="31111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    current = current.</a:t>
            </a:r>
            <a:r>
              <a:rPr b="0" lang="en-US" sz="1360" strike="noStrike" u="none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next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923760" y="3525840"/>
            <a:ext cx="19706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b="0" lang="en-US" sz="1360" strike="noStrike" u="non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if</a:t>
            </a:r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length == </a:t>
            </a:r>
            <a:r>
              <a:rPr b="0" lang="en-US" sz="1360" strike="noStrike" u="non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1</a:t>
            </a:r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: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923760" y="3716280"/>
            <a:ext cx="19706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    </a:t>
            </a:r>
            <a:r>
              <a:rPr b="0" lang="en-US" sz="1360" strike="noStrike" u="non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return</a:t>
            </a:r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head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923760" y="4116600"/>
            <a:ext cx="35258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true_k = length - (k % length)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923760" y="4316400"/>
            <a:ext cx="60141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current.</a:t>
            </a:r>
            <a:r>
              <a:rPr b="0" lang="en-US" sz="1360" strike="noStrike" u="none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next</a:t>
            </a:r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= head          </a:t>
            </a:r>
            <a:r>
              <a:rPr b="0" lang="en-US" sz="1360" strike="noStrike" u="non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temporary circular list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923760" y="4716720"/>
            <a:ext cx="18669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current = head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923760" y="4916520"/>
            <a:ext cx="32148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b="0" lang="en-US" sz="1360" strike="noStrike" u="non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for</a:t>
            </a:r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_ </a:t>
            </a:r>
            <a:r>
              <a:rPr b="0" lang="en-US" sz="1360" strike="noStrike" u="non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in</a:t>
            </a:r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b="0" lang="en-US" sz="1360" strike="noStrike" u="none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range</a:t>
            </a:r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(true_k - </a:t>
            </a:r>
            <a:r>
              <a:rPr b="0" lang="en-US" sz="1360" strike="noStrike" u="non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1</a:t>
            </a:r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):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923760" y="5106960"/>
            <a:ext cx="31111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    current = current.</a:t>
            </a:r>
            <a:r>
              <a:rPr b="0" lang="en-US" sz="1360" strike="noStrike" u="none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next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923760" y="5507280"/>
            <a:ext cx="2800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new_head = current.</a:t>
            </a:r>
            <a:r>
              <a:rPr b="0" lang="en-US" sz="1360" strike="noStrike" u="none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next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923760" y="5707080"/>
            <a:ext cx="238536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current.</a:t>
            </a:r>
            <a:r>
              <a:rPr b="0" lang="en-US" sz="1360" strike="noStrike" u="none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next</a:t>
            </a:r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= </a:t>
            </a:r>
            <a:r>
              <a:rPr b="0" lang="en-US" sz="1360" strike="noStrike" u="non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None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923760" y="5907240"/>
            <a:ext cx="19706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b="0" lang="en-US" sz="1360" strike="noStrike" u="non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return</a:t>
            </a:r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new_head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661057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92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3" name=""/>
          <p:cNvSpPr/>
          <p:nvPr/>
        </p:nvSpPr>
        <p:spPr>
          <a:xfrm>
            <a:off x="971280" y="25812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8"/>
                </a:cubicBezTo>
                <a:cubicBezTo>
                  <a:pt x="3" y="116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1171440" y="2495520"/>
            <a:ext cx="762480" cy="266760"/>
          </a:xfrm>
          <a:custGeom>
            <a:avLst/>
            <a:gdLst/>
            <a:ahLst/>
            <a:rect l="0" t="0" r="r" b="b"/>
            <a:pathLst>
              <a:path w="2118" h="741">
                <a:moveTo>
                  <a:pt x="0" y="583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958" y="0"/>
                </a:lnTo>
                <a:cubicBezTo>
                  <a:pt x="1968" y="0"/>
                  <a:pt x="1979" y="1"/>
                  <a:pt x="1989" y="3"/>
                </a:cubicBezTo>
                <a:cubicBezTo>
                  <a:pt x="1999" y="5"/>
                  <a:pt x="2009" y="8"/>
                  <a:pt x="2019" y="12"/>
                </a:cubicBezTo>
                <a:cubicBezTo>
                  <a:pt x="2028" y="16"/>
                  <a:pt x="2038" y="21"/>
                  <a:pt x="2047" y="26"/>
                </a:cubicBezTo>
                <a:cubicBezTo>
                  <a:pt x="2056" y="32"/>
                  <a:pt x="2064" y="39"/>
                  <a:pt x="2071" y="46"/>
                </a:cubicBezTo>
                <a:cubicBezTo>
                  <a:pt x="2078" y="53"/>
                  <a:pt x="2085" y="61"/>
                  <a:pt x="2091" y="70"/>
                </a:cubicBezTo>
                <a:cubicBezTo>
                  <a:pt x="2097" y="79"/>
                  <a:pt x="2101" y="88"/>
                  <a:pt x="2105" y="99"/>
                </a:cubicBezTo>
                <a:cubicBezTo>
                  <a:pt x="2109" y="108"/>
                  <a:pt x="2112" y="118"/>
                  <a:pt x="2114" y="128"/>
                </a:cubicBezTo>
                <a:cubicBezTo>
                  <a:pt x="2117" y="139"/>
                  <a:pt x="2118" y="149"/>
                  <a:pt x="2118" y="159"/>
                </a:cubicBezTo>
                <a:lnTo>
                  <a:pt x="2118" y="583"/>
                </a:lnTo>
                <a:cubicBezTo>
                  <a:pt x="2118" y="593"/>
                  <a:pt x="2117" y="603"/>
                  <a:pt x="2114" y="614"/>
                </a:cubicBezTo>
                <a:cubicBezTo>
                  <a:pt x="2112" y="624"/>
                  <a:pt x="2109" y="634"/>
                  <a:pt x="2105" y="643"/>
                </a:cubicBezTo>
                <a:cubicBezTo>
                  <a:pt x="2101" y="653"/>
                  <a:pt x="2097" y="662"/>
                  <a:pt x="2091" y="671"/>
                </a:cubicBezTo>
                <a:cubicBezTo>
                  <a:pt x="2085" y="680"/>
                  <a:pt x="2078" y="688"/>
                  <a:pt x="2071" y="695"/>
                </a:cubicBezTo>
                <a:cubicBezTo>
                  <a:pt x="2064" y="702"/>
                  <a:pt x="2056" y="709"/>
                  <a:pt x="2047" y="715"/>
                </a:cubicBezTo>
                <a:cubicBezTo>
                  <a:pt x="2038" y="720"/>
                  <a:pt x="2028" y="725"/>
                  <a:pt x="2019" y="729"/>
                </a:cubicBezTo>
                <a:cubicBezTo>
                  <a:pt x="2009" y="733"/>
                  <a:pt x="1999" y="736"/>
                  <a:pt x="1989" y="738"/>
                </a:cubicBezTo>
                <a:cubicBezTo>
                  <a:pt x="1979" y="740"/>
                  <a:pt x="1968" y="741"/>
                  <a:pt x="1958" y="741"/>
                </a:cubicBezTo>
                <a:lnTo>
                  <a:pt x="159" y="741"/>
                </a:lnTo>
                <a:cubicBezTo>
                  <a:pt x="148" y="741"/>
                  <a:pt x="138" y="740"/>
                  <a:pt x="128" y="738"/>
                </a:cubicBezTo>
                <a:cubicBezTo>
                  <a:pt x="117" y="736"/>
                  <a:pt x="108" y="733"/>
                  <a:pt x="98" y="729"/>
                </a:cubicBezTo>
                <a:cubicBezTo>
                  <a:pt x="88" y="725"/>
                  <a:pt x="79" y="720"/>
                  <a:pt x="70" y="715"/>
                </a:cubicBezTo>
                <a:cubicBezTo>
                  <a:pt x="62" y="709"/>
                  <a:pt x="54" y="702"/>
                  <a:pt x="46" y="695"/>
                </a:cubicBezTo>
                <a:cubicBezTo>
                  <a:pt x="39" y="688"/>
                  <a:pt x="32" y="680"/>
                  <a:pt x="27" y="671"/>
                </a:cubicBezTo>
                <a:cubicBezTo>
                  <a:pt x="21" y="662"/>
                  <a:pt x="16" y="653"/>
                  <a:pt x="12" y="643"/>
                </a:cubicBezTo>
                <a:cubicBezTo>
                  <a:pt x="8" y="634"/>
                  <a:pt x="5" y="624"/>
                  <a:pt x="3" y="614"/>
                </a:cubicBezTo>
                <a:cubicBezTo>
                  <a:pt x="1" y="603"/>
                  <a:pt x="0" y="593"/>
                  <a:pt x="0" y="58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1237320" y="2531880"/>
            <a:ext cx="6228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length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3000240" y="2495520"/>
            <a:ext cx="248040" cy="266760"/>
          </a:xfrm>
          <a:custGeom>
            <a:avLst/>
            <a:gdLst/>
            <a:ahLst/>
            <a:rect l="0" t="0" r="r" b="b"/>
            <a:pathLst>
              <a:path w="689" h="741">
                <a:moveTo>
                  <a:pt x="0" y="583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30" y="0"/>
                </a:lnTo>
                <a:cubicBezTo>
                  <a:pt x="540" y="0"/>
                  <a:pt x="551" y="1"/>
                  <a:pt x="561" y="3"/>
                </a:cubicBezTo>
                <a:cubicBezTo>
                  <a:pt x="571" y="5"/>
                  <a:pt x="581" y="8"/>
                  <a:pt x="591" y="12"/>
                </a:cubicBezTo>
                <a:cubicBezTo>
                  <a:pt x="600" y="16"/>
                  <a:pt x="610" y="21"/>
                  <a:pt x="618" y="26"/>
                </a:cubicBezTo>
                <a:cubicBezTo>
                  <a:pt x="627" y="32"/>
                  <a:pt x="635" y="39"/>
                  <a:pt x="642" y="46"/>
                </a:cubicBezTo>
                <a:cubicBezTo>
                  <a:pt x="650" y="53"/>
                  <a:pt x="656" y="61"/>
                  <a:pt x="662" y="70"/>
                </a:cubicBezTo>
                <a:cubicBezTo>
                  <a:pt x="668" y="79"/>
                  <a:pt x="673" y="88"/>
                  <a:pt x="677" y="99"/>
                </a:cubicBezTo>
                <a:cubicBezTo>
                  <a:pt x="681" y="108"/>
                  <a:pt x="684" y="118"/>
                  <a:pt x="686" y="128"/>
                </a:cubicBezTo>
                <a:cubicBezTo>
                  <a:pt x="688" y="139"/>
                  <a:pt x="689" y="149"/>
                  <a:pt x="689" y="159"/>
                </a:cubicBezTo>
                <a:lnTo>
                  <a:pt x="689" y="583"/>
                </a:lnTo>
                <a:cubicBezTo>
                  <a:pt x="689" y="593"/>
                  <a:pt x="688" y="603"/>
                  <a:pt x="686" y="614"/>
                </a:cubicBezTo>
                <a:cubicBezTo>
                  <a:pt x="684" y="624"/>
                  <a:pt x="681" y="634"/>
                  <a:pt x="677" y="643"/>
                </a:cubicBezTo>
                <a:cubicBezTo>
                  <a:pt x="673" y="653"/>
                  <a:pt x="668" y="662"/>
                  <a:pt x="662" y="671"/>
                </a:cubicBezTo>
                <a:cubicBezTo>
                  <a:pt x="656" y="680"/>
                  <a:pt x="650" y="688"/>
                  <a:pt x="642" y="695"/>
                </a:cubicBezTo>
                <a:cubicBezTo>
                  <a:pt x="635" y="702"/>
                  <a:pt x="627" y="709"/>
                  <a:pt x="618" y="715"/>
                </a:cubicBezTo>
                <a:cubicBezTo>
                  <a:pt x="610" y="720"/>
                  <a:pt x="600" y="725"/>
                  <a:pt x="591" y="729"/>
                </a:cubicBezTo>
                <a:cubicBezTo>
                  <a:pt x="581" y="733"/>
                  <a:pt x="571" y="736"/>
                  <a:pt x="561" y="738"/>
                </a:cubicBezTo>
                <a:cubicBezTo>
                  <a:pt x="551" y="740"/>
                  <a:pt x="540" y="741"/>
                  <a:pt x="530" y="741"/>
                </a:cubicBezTo>
                <a:lnTo>
                  <a:pt x="159" y="741"/>
                </a:lnTo>
                <a:cubicBezTo>
                  <a:pt x="148" y="741"/>
                  <a:pt x="138" y="740"/>
                  <a:pt x="128" y="738"/>
                </a:cubicBezTo>
                <a:cubicBezTo>
                  <a:pt x="117" y="736"/>
                  <a:pt x="108" y="733"/>
                  <a:pt x="98" y="729"/>
                </a:cubicBezTo>
                <a:cubicBezTo>
                  <a:pt x="88" y="725"/>
                  <a:pt x="79" y="720"/>
                  <a:pt x="70" y="715"/>
                </a:cubicBezTo>
                <a:cubicBezTo>
                  <a:pt x="62" y="709"/>
                  <a:pt x="54" y="702"/>
                  <a:pt x="46" y="695"/>
                </a:cubicBezTo>
                <a:cubicBezTo>
                  <a:pt x="39" y="688"/>
                  <a:pt x="32" y="680"/>
                  <a:pt x="27" y="671"/>
                </a:cubicBezTo>
                <a:cubicBezTo>
                  <a:pt x="21" y="662"/>
                  <a:pt x="16" y="653"/>
                  <a:pt x="12" y="643"/>
                </a:cubicBezTo>
                <a:cubicBezTo>
                  <a:pt x="8" y="634"/>
                  <a:pt x="5" y="624"/>
                  <a:pt x="3" y="614"/>
                </a:cubicBezTo>
                <a:cubicBezTo>
                  <a:pt x="1" y="603"/>
                  <a:pt x="0" y="593"/>
                  <a:pt x="0" y="58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1930320" y="2489760"/>
            <a:ext cx="10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started at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3072240" y="2531880"/>
            <a:ext cx="1724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1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3762360" y="2495520"/>
            <a:ext cx="247680" cy="266760"/>
          </a:xfrm>
          <a:custGeom>
            <a:avLst/>
            <a:gdLst/>
            <a:ahLst/>
            <a:rect l="0" t="0" r="r" b="b"/>
            <a:pathLst>
              <a:path w="688" h="741">
                <a:moveTo>
                  <a:pt x="0" y="583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3" y="39"/>
                  <a:pt x="61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530" y="0"/>
                </a:lnTo>
                <a:cubicBezTo>
                  <a:pt x="540" y="0"/>
                  <a:pt x="550" y="1"/>
                  <a:pt x="561" y="3"/>
                </a:cubicBezTo>
                <a:cubicBezTo>
                  <a:pt x="571" y="5"/>
                  <a:pt x="581" y="8"/>
                  <a:pt x="590" y="12"/>
                </a:cubicBezTo>
                <a:cubicBezTo>
                  <a:pt x="600" y="16"/>
                  <a:pt x="609" y="21"/>
                  <a:pt x="618" y="26"/>
                </a:cubicBezTo>
                <a:cubicBezTo>
                  <a:pt x="627" y="32"/>
                  <a:pt x="635" y="39"/>
                  <a:pt x="642" y="46"/>
                </a:cubicBezTo>
                <a:cubicBezTo>
                  <a:pt x="649" y="53"/>
                  <a:pt x="656" y="61"/>
                  <a:pt x="662" y="70"/>
                </a:cubicBezTo>
                <a:cubicBezTo>
                  <a:pt x="667" y="79"/>
                  <a:pt x="672" y="88"/>
                  <a:pt x="676" y="99"/>
                </a:cubicBezTo>
                <a:cubicBezTo>
                  <a:pt x="680" y="108"/>
                  <a:pt x="683" y="118"/>
                  <a:pt x="685" y="128"/>
                </a:cubicBezTo>
                <a:cubicBezTo>
                  <a:pt x="687" y="139"/>
                  <a:pt x="688" y="149"/>
                  <a:pt x="688" y="159"/>
                </a:cubicBezTo>
                <a:lnTo>
                  <a:pt x="688" y="583"/>
                </a:lnTo>
                <a:cubicBezTo>
                  <a:pt x="688" y="593"/>
                  <a:pt x="687" y="603"/>
                  <a:pt x="685" y="614"/>
                </a:cubicBezTo>
                <a:cubicBezTo>
                  <a:pt x="683" y="624"/>
                  <a:pt x="680" y="634"/>
                  <a:pt x="676" y="643"/>
                </a:cubicBezTo>
                <a:cubicBezTo>
                  <a:pt x="672" y="653"/>
                  <a:pt x="667" y="662"/>
                  <a:pt x="662" y="671"/>
                </a:cubicBezTo>
                <a:cubicBezTo>
                  <a:pt x="656" y="680"/>
                  <a:pt x="649" y="688"/>
                  <a:pt x="642" y="695"/>
                </a:cubicBezTo>
                <a:cubicBezTo>
                  <a:pt x="635" y="702"/>
                  <a:pt x="627" y="709"/>
                  <a:pt x="618" y="715"/>
                </a:cubicBezTo>
                <a:cubicBezTo>
                  <a:pt x="609" y="720"/>
                  <a:pt x="600" y="725"/>
                  <a:pt x="590" y="729"/>
                </a:cubicBezTo>
                <a:cubicBezTo>
                  <a:pt x="581" y="733"/>
                  <a:pt x="571" y="736"/>
                  <a:pt x="561" y="738"/>
                </a:cubicBezTo>
                <a:cubicBezTo>
                  <a:pt x="550" y="740"/>
                  <a:pt x="540" y="741"/>
                  <a:pt x="530" y="741"/>
                </a:cubicBezTo>
                <a:lnTo>
                  <a:pt x="158" y="741"/>
                </a:lnTo>
                <a:cubicBezTo>
                  <a:pt x="148" y="741"/>
                  <a:pt x="138" y="740"/>
                  <a:pt x="127" y="738"/>
                </a:cubicBezTo>
                <a:cubicBezTo>
                  <a:pt x="117" y="736"/>
                  <a:pt x="107" y="733"/>
                  <a:pt x="98" y="729"/>
                </a:cubicBezTo>
                <a:cubicBezTo>
                  <a:pt x="88" y="725"/>
                  <a:pt x="79" y="720"/>
                  <a:pt x="70" y="715"/>
                </a:cubicBezTo>
                <a:cubicBezTo>
                  <a:pt x="61" y="709"/>
                  <a:pt x="53" y="702"/>
                  <a:pt x="46" y="695"/>
                </a:cubicBezTo>
                <a:cubicBezTo>
                  <a:pt x="39" y="688"/>
                  <a:pt x="32" y="680"/>
                  <a:pt x="26" y="671"/>
                </a:cubicBezTo>
                <a:cubicBezTo>
                  <a:pt x="21" y="662"/>
                  <a:pt x="16" y="653"/>
                  <a:pt x="12" y="643"/>
                </a:cubicBezTo>
                <a:cubicBezTo>
                  <a:pt x="8" y="634"/>
                  <a:pt x="5" y="624"/>
                  <a:pt x="3" y="614"/>
                </a:cubicBezTo>
                <a:cubicBezTo>
                  <a:pt x="1" y="603"/>
                  <a:pt x="0" y="593"/>
                  <a:pt x="0" y="58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3245400" y="2489760"/>
            <a:ext cx="519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, not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3834360" y="2531880"/>
            <a:ext cx="1724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0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971280" y="29430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70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70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4007520" y="2489760"/>
            <a:ext cx="5433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— the traversal loop already assumes one node exists.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3333600" y="2847960"/>
            <a:ext cx="1181520" cy="266760"/>
          </a:xfrm>
          <a:custGeom>
            <a:avLst/>
            <a:gdLst/>
            <a:ahLst/>
            <a:rect l="0" t="0" r="r" b="b"/>
            <a:pathLst>
              <a:path w="3282" h="741">
                <a:moveTo>
                  <a:pt x="0" y="582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123" y="0"/>
                </a:lnTo>
                <a:cubicBezTo>
                  <a:pt x="3133" y="0"/>
                  <a:pt x="3144" y="1"/>
                  <a:pt x="3154" y="3"/>
                </a:cubicBezTo>
                <a:cubicBezTo>
                  <a:pt x="3164" y="5"/>
                  <a:pt x="3174" y="8"/>
                  <a:pt x="3184" y="12"/>
                </a:cubicBezTo>
                <a:cubicBezTo>
                  <a:pt x="3193" y="16"/>
                  <a:pt x="3203" y="21"/>
                  <a:pt x="3211" y="26"/>
                </a:cubicBezTo>
                <a:cubicBezTo>
                  <a:pt x="3220" y="32"/>
                  <a:pt x="3228" y="39"/>
                  <a:pt x="3235" y="46"/>
                </a:cubicBezTo>
                <a:cubicBezTo>
                  <a:pt x="3243" y="53"/>
                  <a:pt x="3249" y="61"/>
                  <a:pt x="3255" y="70"/>
                </a:cubicBezTo>
                <a:cubicBezTo>
                  <a:pt x="3261" y="79"/>
                  <a:pt x="3266" y="88"/>
                  <a:pt x="3270" y="98"/>
                </a:cubicBezTo>
                <a:cubicBezTo>
                  <a:pt x="3274" y="107"/>
                  <a:pt x="3277" y="117"/>
                  <a:pt x="3279" y="127"/>
                </a:cubicBezTo>
                <a:cubicBezTo>
                  <a:pt x="3281" y="138"/>
                  <a:pt x="3282" y="148"/>
                  <a:pt x="3282" y="158"/>
                </a:cubicBezTo>
                <a:lnTo>
                  <a:pt x="3282" y="582"/>
                </a:lnTo>
                <a:cubicBezTo>
                  <a:pt x="3282" y="592"/>
                  <a:pt x="3281" y="603"/>
                  <a:pt x="3279" y="614"/>
                </a:cubicBezTo>
                <a:cubicBezTo>
                  <a:pt x="3277" y="624"/>
                  <a:pt x="3274" y="634"/>
                  <a:pt x="3270" y="643"/>
                </a:cubicBezTo>
                <a:cubicBezTo>
                  <a:pt x="3266" y="653"/>
                  <a:pt x="3261" y="662"/>
                  <a:pt x="3255" y="671"/>
                </a:cubicBezTo>
                <a:cubicBezTo>
                  <a:pt x="3249" y="679"/>
                  <a:pt x="3243" y="688"/>
                  <a:pt x="3235" y="695"/>
                </a:cubicBezTo>
                <a:cubicBezTo>
                  <a:pt x="3228" y="702"/>
                  <a:pt x="3220" y="709"/>
                  <a:pt x="3211" y="715"/>
                </a:cubicBezTo>
                <a:cubicBezTo>
                  <a:pt x="3203" y="720"/>
                  <a:pt x="3193" y="725"/>
                  <a:pt x="3184" y="729"/>
                </a:cubicBezTo>
                <a:cubicBezTo>
                  <a:pt x="3174" y="733"/>
                  <a:pt x="3164" y="736"/>
                  <a:pt x="3154" y="738"/>
                </a:cubicBezTo>
                <a:cubicBezTo>
                  <a:pt x="3144" y="740"/>
                  <a:pt x="3133" y="741"/>
                  <a:pt x="3123" y="741"/>
                </a:cubicBezTo>
                <a:lnTo>
                  <a:pt x="159" y="741"/>
                </a:lnTo>
                <a:cubicBezTo>
                  <a:pt x="148" y="741"/>
                  <a:pt x="138" y="740"/>
                  <a:pt x="128" y="738"/>
                </a:cubicBezTo>
                <a:cubicBezTo>
                  <a:pt x="117" y="736"/>
                  <a:pt x="108" y="733"/>
                  <a:pt x="98" y="729"/>
                </a:cubicBezTo>
                <a:cubicBezTo>
                  <a:pt x="88" y="725"/>
                  <a:pt x="79" y="720"/>
                  <a:pt x="70" y="715"/>
                </a:cubicBezTo>
                <a:cubicBezTo>
                  <a:pt x="62" y="709"/>
                  <a:pt x="54" y="702"/>
                  <a:pt x="46" y="695"/>
                </a:cubicBezTo>
                <a:cubicBezTo>
                  <a:pt x="39" y="688"/>
                  <a:pt x="32" y="679"/>
                  <a:pt x="27" y="671"/>
                </a:cubicBezTo>
                <a:cubicBezTo>
                  <a:pt x="21" y="662"/>
                  <a:pt x="16" y="653"/>
                  <a:pt x="12" y="643"/>
                </a:cubicBezTo>
                <a:cubicBezTo>
                  <a:pt x="8" y="634"/>
                  <a:pt x="5" y="624"/>
                  <a:pt x="3" y="614"/>
                </a:cubicBezTo>
                <a:cubicBezTo>
                  <a:pt x="1" y="603"/>
                  <a:pt x="0" y="592"/>
                  <a:pt x="0" y="58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1168200" y="2851560"/>
            <a:ext cx="2160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rotation loop ran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3401640" y="2884320"/>
            <a:ext cx="10375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true_k - 1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5638680" y="2847960"/>
            <a:ext cx="762120" cy="266760"/>
          </a:xfrm>
          <a:custGeom>
            <a:avLst/>
            <a:gdLst/>
            <a:ahLst/>
            <a:rect l="0" t="0" r="r" b="b"/>
            <a:pathLst>
              <a:path w="2117" h="741">
                <a:moveTo>
                  <a:pt x="0" y="582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959" y="0"/>
                </a:lnTo>
                <a:cubicBezTo>
                  <a:pt x="1969" y="0"/>
                  <a:pt x="1979" y="1"/>
                  <a:pt x="1990" y="3"/>
                </a:cubicBezTo>
                <a:cubicBezTo>
                  <a:pt x="2000" y="5"/>
                  <a:pt x="2010" y="8"/>
                  <a:pt x="2019" y="12"/>
                </a:cubicBezTo>
                <a:cubicBezTo>
                  <a:pt x="2029" y="16"/>
                  <a:pt x="2038" y="21"/>
                  <a:pt x="2047" y="26"/>
                </a:cubicBezTo>
                <a:cubicBezTo>
                  <a:pt x="2056" y="32"/>
                  <a:pt x="2064" y="39"/>
                  <a:pt x="2071" y="46"/>
                </a:cubicBezTo>
                <a:cubicBezTo>
                  <a:pt x="2078" y="53"/>
                  <a:pt x="2085" y="61"/>
                  <a:pt x="2091" y="70"/>
                </a:cubicBezTo>
                <a:cubicBezTo>
                  <a:pt x="2097" y="79"/>
                  <a:pt x="2101" y="88"/>
                  <a:pt x="2105" y="98"/>
                </a:cubicBezTo>
                <a:cubicBezTo>
                  <a:pt x="2109" y="107"/>
                  <a:pt x="2112" y="117"/>
                  <a:pt x="2114" y="127"/>
                </a:cubicBezTo>
                <a:cubicBezTo>
                  <a:pt x="2116" y="138"/>
                  <a:pt x="2117" y="148"/>
                  <a:pt x="2117" y="158"/>
                </a:cubicBezTo>
                <a:lnTo>
                  <a:pt x="2117" y="582"/>
                </a:lnTo>
                <a:cubicBezTo>
                  <a:pt x="2117" y="592"/>
                  <a:pt x="2116" y="603"/>
                  <a:pt x="2114" y="614"/>
                </a:cubicBezTo>
                <a:cubicBezTo>
                  <a:pt x="2112" y="624"/>
                  <a:pt x="2109" y="634"/>
                  <a:pt x="2105" y="643"/>
                </a:cubicBezTo>
                <a:cubicBezTo>
                  <a:pt x="2101" y="653"/>
                  <a:pt x="2097" y="662"/>
                  <a:pt x="2091" y="671"/>
                </a:cubicBezTo>
                <a:cubicBezTo>
                  <a:pt x="2085" y="679"/>
                  <a:pt x="2078" y="688"/>
                  <a:pt x="2071" y="695"/>
                </a:cubicBezTo>
                <a:cubicBezTo>
                  <a:pt x="2064" y="702"/>
                  <a:pt x="2056" y="709"/>
                  <a:pt x="2047" y="715"/>
                </a:cubicBezTo>
                <a:cubicBezTo>
                  <a:pt x="2038" y="720"/>
                  <a:pt x="2029" y="725"/>
                  <a:pt x="2019" y="729"/>
                </a:cubicBezTo>
                <a:cubicBezTo>
                  <a:pt x="2010" y="733"/>
                  <a:pt x="2000" y="736"/>
                  <a:pt x="1990" y="738"/>
                </a:cubicBezTo>
                <a:cubicBezTo>
                  <a:pt x="1979" y="740"/>
                  <a:pt x="1969" y="741"/>
                  <a:pt x="1959" y="741"/>
                </a:cubicBezTo>
                <a:lnTo>
                  <a:pt x="159" y="741"/>
                </a:lnTo>
                <a:cubicBezTo>
                  <a:pt x="148" y="741"/>
                  <a:pt x="138" y="740"/>
                  <a:pt x="128" y="738"/>
                </a:cubicBezTo>
                <a:cubicBezTo>
                  <a:pt x="117" y="736"/>
                  <a:pt x="107" y="733"/>
                  <a:pt x="98" y="729"/>
                </a:cubicBezTo>
                <a:cubicBezTo>
                  <a:pt x="88" y="725"/>
                  <a:pt x="79" y="720"/>
                  <a:pt x="70" y="715"/>
                </a:cubicBezTo>
                <a:cubicBezTo>
                  <a:pt x="62" y="709"/>
                  <a:pt x="54" y="702"/>
                  <a:pt x="46" y="695"/>
                </a:cubicBezTo>
                <a:cubicBezTo>
                  <a:pt x="39" y="688"/>
                  <a:pt x="32" y="679"/>
                  <a:pt x="27" y="671"/>
                </a:cubicBezTo>
                <a:cubicBezTo>
                  <a:pt x="21" y="662"/>
                  <a:pt x="16" y="653"/>
                  <a:pt x="12" y="643"/>
                </a:cubicBezTo>
                <a:cubicBezTo>
                  <a:pt x="8" y="634"/>
                  <a:pt x="5" y="624"/>
                  <a:pt x="3" y="614"/>
                </a:cubicBezTo>
                <a:cubicBezTo>
                  <a:pt x="1" y="603"/>
                  <a:pt x="0" y="592"/>
                  <a:pt x="0" y="58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4510440" y="2851560"/>
            <a:ext cx="1123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times, not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5704560" y="2884320"/>
            <a:ext cx="62280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true_k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1171440" y="3152520"/>
            <a:ext cx="867240" cy="267120"/>
          </a:xfrm>
          <a:custGeom>
            <a:avLst/>
            <a:gdLst/>
            <a:ahLst/>
            <a:rect l="0" t="0" r="r" b="b"/>
            <a:pathLst>
              <a:path w="2409" h="742">
                <a:moveTo>
                  <a:pt x="0" y="583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250" y="0"/>
                </a:lnTo>
                <a:cubicBezTo>
                  <a:pt x="2260" y="0"/>
                  <a:pt x="2271" y="1"/>
                  <a:pt x="2281" y="3"/>
                </a:cubicBezTo>
                <a:cubicBezTo>
                  <a:pt x="2291" y="5"/>
                  <a:pt x="2301" y="8"/>
                  <a:pt x="2311" y="12"/>
                </a:cubicBezTo>
                <a:cubicBezTo>
                  <a:pt x="2320" y="16"/>
                  <a:pt x="2329" y="21"/>
                  <a:pt x="2338" y="27"/>
                </a:cubicBezTo>
                <a:cubicBezTo>
                  <a:pt x="2347" y="33"/>
                  <a:pt x="2355" y="39"/>
                  <a:pt x="2362" y="47"/>
                </a:cubicBezTo>
                <a:cubicBezTo>
                  <a:pt x="2369" y="54"/>
                  <a:pt x="2376" y="62"/>
                  <a:pt x="2382" y="71"/>
                </a:cubicBezTo>
                <a:cubicBezTo>
                  <a:pt x="2388" y="79"/>
                  <a:pt x="2393" y="89"/>
                  <a:pt x="2396" y="98"/>
                </a:cubicBezTo>
                <a:cubicBezTo>
                  <a:pt x="2400" y="108"/>
                  <a:pt x="2403" y="118"/>
                  <a:pt x="2406" y="128"/>
                </a:cubicBezTo>
                <a:cubicBezTo>
                  <a:pt x="2408" y="138"/>
                  <a:pt x="2409" y="149"/>
                  <a:pt x="2409" y="159"/>
                </a:cubicBezTo>
                <a:lnTo>
                  <a:pt x="2409" y="583"/>
                </a:lnTo>
                <a:cubicBezTo>
                  <a:pt x="2409" y="594"/>
                  <a:pt x="2408" y="604"/>
                  <a:pt x="2406" y="614"/>
                </a:cubicBezTo>
                <a:cubicBezTo>
                  <a:pt x="2403" y="624"/>
                  <a:pt x="2400" y="634"/>
                  <a:pt x="2396" y="644"/>
                </a:cubicBezTo>
                <a:cubicBezTo>
                  <a:pt x="2393" y="654"/>
                  <a:pt x="2388" y="663"/>
                  <a:pt x="2382" y="671"/>
                </a:cubicBezTo>
                <a:cubicBezTo>
                  <a:pt x="2376" y="680"/>
                  <a:pt x="2369" y="688"/>
                  <a:pt x="2362" y="696"/>
                </a:cubicBezTo>
                <a:cubicBezTo>
                  <a:pt x="2355" y="703"/>
                  <a:pt x="2347" y="709"/>
                  <a:pt x="2338" y="715"/>
                </a:cubicBezTo>
                <a:cubicBezTo>
                  <a:pt x="2329" y="721"/>
                  <a:pt x="2320" y="726"/>
                  <a:pt x="2311" y="730"/>
                </a:cubicBezTo>
                <a:cubicBezTo>
                  <a:pt x="2301" y="734"/>
                  <a:pt x="2291" y="737"/>
                  <a:pt x="2281" y="739"/>
                </a:cubicBezTo>
                <a:cubicBezTo>
                  <a:pt x="2271" y="741"/>
                  <a:pt x="2260" y="742"/>
                  <a:pt x="2250" y="742"/>
                </a:cubicBezTo>
                <a:lnTo>
                  <a:pt x="159" y="742"/>
                </a:lnTo>
                <a:cubicBezTo>
                  <a:pt x="148" y="742"/>
                  <a:pt x="138" y="741"/>
                  <a:pt x="128" y="739"/>
                </a:cubicBezTo>
                <a:cubicBezTo>
                  <a:pt x="117" y="737"/>
                  <a:pt x="108" y="734"/>
                  <a:pt x="98" y="730"/>
                </a:cubicBezTo>
                <a:cubicBezTo>
                  <a:pt x="88" y="726"/>
                  <a:pt x="79" y="721"/>
                  <a:pt x="70" y="715"/>
                </a:cubicBezTo>
                <a:cubicBezTo>
                  <a:pt x="62" y="709"/>
                  <a:pt x="54" y="703"/>
                  <a:pt x="46" y="696"/>
                </a:cubicBezTo>
                <a:cubicBezTo>
                  <a:pt x="39" y="688"/>
                  <a:pt x="32" y="680"/>
                  <a:pt x="27" y="671"/>
                </a:cubicBezTo>
                <a:cubicBezTo>
                  <a:pt x="21" y="663"/>
                  <a:pt x="16" y="654"/>
                  <a:pt x="12" y="644"/>
                </a:cubicBezTo>
                <a:cubicBezTo>
                  <a:pt x="8" y="634"/>
                  <a:pt x="5" y="624"/>
                  <a:pt x="3" y="614"/>
                </a:cubicBezTo>
                <a:cubicBezTo>
                  <a:pt x="1" y="604"/>
                  <a:pt x="0" y="594"/>
                  <a:pt x="0" y="58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6397560" y="2851560"/>
            <a:ext cx="4876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— one "step" is already accounted for by starting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1237320" y="3188880"/>
            <a:ext cx="7264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current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2352600" y="3152520"/>
            <a:ext cx="552600" cy="267120"/>
          </a:xfrm>
          <a:custGeom>
            <a:avLst/>
            <a:gdLst/>
            <a:ahLst/>
            <a:rect l="0" t="0" r="r" b="b"/>
            <a:pathLst>
              <a:path w="1535" h="742">
                <a:moveTo>
                  <a:pt x="0" y="583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377" y="0"/>
                </a:lnTo>
                <a:cubicBezTo>
                  <a:pt x="1387" y="0"/>
                  <a:pt x="1397" y="1"/>
                  <a:pt x="1408" y="3"/>
                </a:cubicBezTo>
                <a:cubicBezTo>
                  <a:pt x="1418" y="5"/>
                  <a:pt x="1428" y="8"/>
                  <a:pt x="1437" y="12"/>
                </a:cubicBezTo>
                <a:cubicBezTo>
                  <a:pt x="1447" y="16"/>
                  <a:pt x="1456" y="21"/>
                  <a:pt x="1465" y="27"/>
                </a:cubicBezTo>
                <a:cubicBezTo>
                  <a:pt x="1473" y="33"/>
                  <a:pt x="1481" y="39"/>
                  <a:pt x="1489" y="47"/>
                </a:cubicBezTo>
                <a:cubicBezTo>
                  <a:pt x="1496" y="54"/>
                  <a:pt x="1503" y="62"/>
                  <a:pt x="1509" y="71"/>
                </a:cubicBezTo>
                <a:cubicBezTo>
                  <a:pt x="1514" y="79"/>
                  <a:pt x="1519" y="89"/>
                  <a:pt x="1523" y="98"/>
                </a:cubicBezTo>
                <a:cubicBezTo>
                  <a:pt x="1527" y="108"/>
                  <a:pt x="1530" y="118"/>
                  <a:pt x="1532" y="128"/>
                </a:cubicBezTo>
                <a:cubicBezTo>
                  <a:pt x="1534" y="138"/>
                  <a:pt x="1535" y="149"/>
                  <a:pt x="1535" y="159"/>
                </a:cubicBezTo>
                <a:lnTo>
                  <a:pt x="1535" y="583"/>
                </a:lnTo>
                <a:cubicBezTo>
                  <a:pt x="1535" y="594"/>
                  <a:pt x="1534" y="604"/>
                  <a:pt x="1532" y="614"/>
                </a:cubicBezTo>
                <a:cubicBezTo>
                  <a:pt x="1530" y="624"/>
                  <a:pt x="1527" y="634"/>
                  <a:pt x="1523" y="644"/>
                </a:cubicBezTo>
                <a:cubicBezTo>
                  <a:pt x="1519" y="654"/>
                  <a:pt x="1514" y="663"/>
                  <a:pt x="1509" y="671"/>
                </a:cubicBezTo>
                <a:cubicBezTo>
                  <a:pt x="1503" y="680"/>
                  <a:pt x="1496" y="688"/>
                  <a:pt x="1489" y="696"/>
                </a:cubicBezTo>
                <a:cubicBezTo>
                  <a:pt x="1481" y="703"/>
                  <a:pt x="1473" y="709"/>
                  <a:pt x="1465" y="715"/>
                </a:cubicBezTo>
                <a:cubicBezTo>
                  <a:pt x="1456" y="721"/>
                  <a:pt x="1447" y="726"/>
                  <a:pt x="1437" y="730"/>
                </a:cubicBezTo>
                <a:cubicBezTo>
                  <a:pt x="1428" y="734"/>
                  <a:pt x="1418" y="737"/>
                  <a:pt x="1408" y="739"/>
                </a:cubicBezTo>
                <a:cubicBezTo>
                  <a:pt x="1397" y="741"/>
                  <a:pt x="1387" y="742"/>
                  <a:pt x="1377" y="742"/>
                </a:cubicBezTo>
                <a:lnTo>
                  <a:pt x="158" y="742"/>
                </a:lnTo>
                <a:cubicBezTo>
                  <a:pt x="148" y="742"/>
                  <a:pt x="138" y="741"/>
                  <a:pt x="127" y="739"/>
                </a:cubicBezTo>
                <a:cubicBezTo>
                  <a:pt x="117" y="737"/>
                  <a:pt x="107" y="734"/>
                  <a:pt x="98" y="730"/>
                </a:cubicBezTo>
                <a:cubicBezTo>
                  <a:pt x="88" y="726"/>
                  <a:pt x="79" y="721"/>
                  <a:pt x="70" y="715"/>
                </a:cubicBezTo>
                <a:cubicBezTo>
                  <a:pt x="62" y="709"/>
                  <a:pt x="54" y="703"/>
                  <a:pt x="46" y="696"/>
                </a:cubicBezTo>
                <a:cubicBezTo>
                  <a:pt x="39" y="688"/>
                  <a:pt x="32" y="680"/>
                  <a:pt x="26" y="671"/>
                </a:cubicBezTo>
                <a:cubicBezTo>
                  <a:pt x="21" y="663"/>
                  <a:pt x="16" y="654"/>
                  <a:pt x="12" y="644"/>
                </a:cubicBezTo>
                <a:cubicBezTo>
                  <a:pt x="8" y="634"/>
                  <a:pt x="5" y="624"/>
                  <a:pt x="3" y="614"/>
                </a:cubicBezTo>
                <a:cubicBezTo>
                  <a:pt x="1" y="604"/>
                  <a:pt x="0" y="594"/>
                  <a:pt x="0" y="58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2034360" y="3156480"/>
            <a:ext cx="316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at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2419920" y="3188880"/>
            <a:ext cx="41544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60" strike="noStrike" u="non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head</a:t>
            </a:r>
            <a:endParaRPr b="0" lang="en-US" sz="13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2905200" y="3156480"/>
            <a:ext cx="202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661057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762120" y="-8280"/>
            <a:ext cx="1011024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Bugs Found by Tracing Through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766440" y="3585960"/>
            <a:ext cx="10658880" cy="1543320"/>
          </a:xfrm>
          <a:custGeom>
            <a:avLst/>
            <a:gdLst/>
            <a:ahLst/>
            <a:rect l="0" t="0" r="r" b="b"/>
            <a:pathLst>
              <a:path w="29608" h="4287">
                <a:moveTo>
                  <a:pt x="0" y="414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142"/>
                </a:lnTo>
                <a:cubicBezTo>
                  <a:pt x="29608" y="4151"/>
                  <a:pt x="29607" y="4161"/>
                  <a:pt x="29605" y="4170"/>
                </a:cubicBezTo>
                <a:cubicBezTo>
                  <a:pt x="29604" y="4180"/>
                  <a:pt x="29601" y="4189"/>
                  <a:pt x="29597" y="4197"/>
                </a:cubicBezTo>
                <a:cubicBezTo>
                  <a:pt x="29594" y="4206"/>
                  <a:pt x="29589" y="4215"/>
                  <a:pt x="29584" y="4223"/>
                </a:cubicBezTo>
                <a:cubicBezTo>
                  <a:pt x="29578" y="4231"/>
                  <a:pt x="29572" y="4238"/>
                  <a:pt x="29566" y="4245"/>
                </a:cubicBezTo>
                <a:cubicBezTo>
                  <a:pt x="29559" y="4251"/>
                  <a:pt x="29552" y="4257"/>
                  <a:pt x="29544" y="4263"/>
                </a:cubicBezTo>
                <a:cubicBezTo>
                  <a:pt x="29536" y="4268"/>
                  <a:pt x="29527" y="4273"/>
                  <a:pt x="29518" y="4276"/>
                </a:cubicBezTo>
                <a:cubicBezTo>
                  <a:pt x="29510" y="4280"/>
                  <a:pt x="29501" y="4283"/>
                  <a:pt x="29491" y="4285"/>
                </a:cubicBezTo>
                <a:cubicBezTo>
                  <a:pt x="29482" y="4286"/>
                  <a:pt x="29472" y="4287"/>
                  <a:pt x="29463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8" y="4285"/>
                </a:cubicBezTo>
                <a:cubicBezTo>
                  <a:pt x="108" y="4283"/>
                  <a:pt x="99" y="4280"/>
                  <a:pt x="90" y="4276"/>
                </a:cubicBezTo>
                <a:cubicBezTo>
                  <a:pt x="81" y="4273"/>
                  <a:pt x="73" y="4268"/>
                  <a:pt x="65" y="4263"/>
                </a:cubicBezTo>
                <a:cubicBezTo>
                  <a:pt x="57" y="4257"/>
                  <a:pt x="50" y="4251"/>
                  <a:pt x="43" y="4245"/>
                </a:cubicBezTo>
                <a:cubicBezTo>
                  <a:pt x="36" y="4238"/>
                  <a:pt x="30" y="4231"/>
                  <a:pt x="25" y="4223"/>
                </a:cubicBezTo>
                <a:cubicBezTo>
                  <a:pt x="20" y="4215"/>
                  <a:pt x="15" y="4206"/>
                  <a:pt x="11" y="4197"/>
                </a:cubicBezTo>
                <a:cubicBezTo>
                  <a:pt x="8" y="4189"/>
                  <a:pt x="5" y="4180"/>
                  <a:pt x="3" y="4170"/>
                </a:cubicBezTo>
                <a:cubicBezTo>
                  <a:pt x="1" y="4161"/>
                  <a:pt x="0" y="4151"/>
                  <a:pt x="0" y="4142"/>
                </a:cubicBezTo>
                <a:close/>
              </a:path>
            </a:pathLst>
          </a:custGeom>
          <a:solidFill>
            <a:srgbClr val="e8fcf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766440" y="3585960"/>
            <a:ext cx="10658880" cy="1543320"/>
          </a:xfrm>
          <a:custGeom>
            <a:avLst/>
            <a:gdLst/>
            <a:ahLst/>
            <a:rect l="0" t="0" r="r" b="b"/>
            <a:pathLst>
              <a:path fill="none" w="29608" h="4287">
                <a:moveTo>
                  <a:pt x="0" y="414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20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8" y="3"/>
                </a:cubicBezTo>
                <a:cubicBezTo>
                  <a:pt x="127" y="1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1"/>
                  <a:pt x="29491" y="3"/>
                </a:cubicBezTo>
                <a:cubicBezTo>
                  <a:pt x="29501" y="5"/>
                  <a:pt x="29510" y="7"/>
                  <a:pt x="29518" y="11"/>
                </a:cubicBezTo>
                <a:cubicBezTo>
                  <a:pt x="29527" y="15"/>
                  <a:pt x="29536" y="19"/>
                  <a:pt x="29544" y="25"/>
                </a:cubicBezTo>
                <a:cubicBezTo>
                  <a:pt x="29552" y="30"/>
                  <a:pt x="29559" y="36"/>
                  <a:pt x="29566" y="43"/>
                </a:cubicBezTo>
                <a:cubicBezTo>
                  <a:pt x="29572" y="49"/>
                  <a:pt x="29578" y="57"/>
                  <a:pt x="29584" y="65"/>
                </a:cubicBezTo>
                <a:cubicBezTo>
                  <a:pt x="29589" y="73"/>
                  <a:pt x="29594" y="81"/>
                  <a:pt x="29597" y="90"/>
                </a:cubicBezTo>
                <a:cubicBezTo>
                  <a:pt x="29601" y="99"/>
                  <a:pt x="29604" y="108"/>
                  <a:pt x="29605" y="117"/>
                </a:cubicBezTo>
                <a:cubicBezTo>
                  <a:pt x="29607" y="127"/>
                  <a:pt x="29608" y="136"/>
                  <a:pt x="29608" y="146"/>
                </a:cubicBezTo>
                <a:lnTo>
                  <a:pt x="29608" y="4142"/>
                </a:lnTo>
                <a:cubicBezTo>
                  <a:pt x="29608" y="4151"/>
                  <a:pt x="29607" y="4161"/>
                  <a:pt x="29605" y="4170"/>
                </a:cubicBezTo>
                <a:cubicBezTo>
                  <a:pt x="29604" y="4180"/>
                  <a:pt x="29601" y="4189"/>
                  <a:pt x="29597" y="4197"/>
                </a:cubicBezTo>
                <a:cubicBezTo>
                  <a:pt x="29594" y="4206"/>
                  <a:pt x="29589" y="4215"/>
                  <a:pt x="29584" y="4223"/>
                </a:cubicBezTo>
                <a:cubicBezTo>
                  <a:pt x="29578" y="4231"/>
                  <a:pt x="29572" y="4238"/>
                  <a:pt x="29566" y="4245"/>
                </a:cubicBezTo>
                <a:cubicBezTo>
                  <a:pt x="29559" y="4251"/>
                  <a:pt x="29552" y="4257"/>
                  <a:pt x="29544" y="4263"/>
                </a:cubicBezTo>
                <a:cubicBezTo>
                  <a:pt x="29536" y="4268"/>
                  <a:pt x="29527" y="4273"/>
                  <a:pt x="29518" y="4276"/>
                </a:cubicBezTo>
                <a:cubicBezTo>
                  <a:pt x="29510" y="4280"/>
                  <a:pt x="29501" y="4283"/>
                  <a:pt x="29491" y="4285"/>
                </a:cubicBezTo>
                <a:cubicBezTo>
                  <a:pt x="29482" y="4286"/>
                  <a:pt x="29472" y="4287"/>
                  <a:pt x="29463" y="4287"/>
                </a:cubicBezTo>
                <a:lnTo>
                  <a:pt x="146" y="4287"/>
                </a:lnTo>
                <a:cubicBezTo>
                  <a:pt x="136" y="4287"/>
                  <a:pt x="127" y="4286"/>
                  <a:pt x="118" y="4285"/>
                </a:cubicBezTo>
                <a:cubicBezTo>
                  <a:pt x="108" y="4283"/>
                  <a:pt x="99" y="4280"/>
                  <a:pt x="90" y="4276"/>
                </a:cubicBezTo>
                <a:cubicBezTo>
                  <a:pt x="81" y="4273"/>
                  <a:pt x="73" y="4268"/>
                  <a:pt x="65" y="4263"/>
                </a:cubicBezTo>
                <a:cubicBezTo>
                  <a:pt x="57" y="4257"/>
                  <a:pt x="50" y="4251"/>
                  <a:pt x="43" y="4245"/>
                </a:cubicBezTo>
                <a:cubicBezTo>
                  <a:pt x="36" y="4238"/>
                  <a:pt x="30" y="4231"/>
                  <a:pt x="25" y="4223"/>
                </a:cubicBezTo>
                <a:cubicBezTo>
                  <a:pt x="20" y="4215"/>
                  <a:pt x="15" y="4206"/>
                  <a:pt x="11" y="4197"/>
                </a:cubicBezTo>
                <a:cubicBezTo>
                  <a:pt x="8" y="4189"/>
                  <a:pt x="5" y="4180"/>
                  <a:pt x="3" y="4170"/>
                </a:cubicBezTo>
                <a:cubicBezTo>
                  <a:pt x="1" y="4161"/>
                  <a:pt x="0" y="4151"/>
                  <a:pt x="0" y="4142"/>
                </a:cubicBezTo>
              </a:path>
            </a:pathLst>
          </a:custGeom>
          <a:ln w="9360">
            <a:solidFill>
              <a:srgbClr val="baf7f6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762120" y="753480"/>
            <a:ext cx="25992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by Hand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923760" y="4185720"/>
            <a:ext cx="9658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This mirrors the Universal Process exactly: understand (clarifying questions) → devise a strategy (whiteboard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923760" y="4461840"/>
            <a:ext cx="10318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reasoning) → carry it out (implementation) → check (manually tracing before running). Manually tracing code before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971280" y="3809880"/>
            <a:ext cx="133920" cy="181440"/>
          </a:xfrm>
          <a:custGeom>
            <a:avLst/>
            <a:gdLst/>
            <a:ahLst/>
            <a:rect l="0" t="0" r="r" b="b"/>
            <a:pathLst>
              <a:path fill="none" w="372" h="504">
                <a:moveTo>
                  <a:pt x="94" y="305"/>
                </a:moveTo>
                <a:cubicBezTo>
                  <a:pt x="103" y="305"/>
                  <a:pt x="111" y="303"/>
                  <a:pt x="119" y="300"/>
                </a:cubicBezTo>
                <a:cubicBezTo>
                  <a:pt x="127" y="297"/>
                  <a:pt x="134" y="292"/>
                  <a:pt x="141" y="286"/>
                </a:cubicBezTo>
                <a:cubicBezTo>
                  <a:pt x="147" y="280"/>
                  <a:pt x="152" y="272"/>
                  <a:pt x="155" y="264"/>
                </a:cubicBezTo>
                <a:cubicBezTo>
                  <a:pt x="158" y="256"/>
                  <a:pt x="160" y="248"/>
                  <a:pt x="160" y="239"/>
                </a:cubicBezTo>
                <a:cubicBezTo>
                  <a:pt x="160" y="201"/>
                  <a:pt x="147" y="185"/>
                  <a:pt x="134" y="159"/>
                </a:cubicBezTo>
                <a:cubicBezTo>
                  <a:pt x="105" y="102"/>
                  <a:pt x="128" y="51"/>
                  <a:pt x="186" y="0"/>
                </a:cubicBezTo>
                <a:cubicBezTo>
                  <a:pt x="200" y="66"/>
                  <a:pt x="239" y="129"/>
                  <a:pt x="292" y="172"/>
                </a:cubicBezTo>
                <a:cubicBezTo>
                  <a:pt x="345" y="215"/>
                  <a:pt x="372" y="265"/>
                  <a:pt x="372" y="318"/>
                </a:cubicBezTo>
                <a:cubicBezTo>
                  <a:pt x="372" y="330"/>
                  <a:pt x="370" y="343"/>
                  <a:pt x="368" y="354"/>
                </a:cubicBezTo>
                <a:cubicBezTo>
                  <a:pt x="366" y="366"/>
                  <a:pt x="362" y="378"/>
                  <a:pt x="358" y="389"/>
                </a:cubicBezTo>
                <a:cubicBezTo>
                  <a:pt x="353" y="400"/>
                  <a:pt x="347" y="411"/>
                  <a:pt x="340" y="421"/>
                </a:cubicBezTo>
                <a:cubicBezTo>
                  <a:pt x="334" y="431"/>
                  <a:pt x="326" y="441"/>
                  <a:pt x="317" y="449"/>
                </a:cubicBezTo>
                <a:cubicBezTo>
                  <a:pt x="309" y="458"/>
                  <a:pt x="299" y="466"/>
                  <a:pt x="289" y="472"/>
                </a:cubicBezTo>
                <a:cubicBezTo>
                  <a:pt x="279" y="479"/>
                  <a:pt x="269" y="485"/>
                  <a:pt x="257" y="489"/>
                </a:cubicBezTo>
                <a:cubicBezTo>
                  <a:pt x="246" y="494"/>
                  <a:pt x="235" y="498"/>
                  <a:pt x="223" y="500"/>
                </a:cubicBezTo>
                <a:cubicBezTo>
                  <a:pt x="211" y="502"/>
                  <a:pt x="199" y="504"/>
                  <a:pt x="186" y="504"/>
                </a:cubicBezTo>
                <a:cubicBezTo>
                  <a:pt x="174" y="504"/>
                  <a:pt x="162" y="502"/>
                  <a:pt x="150" y="500"/>
                </a:cubicBezTo>
                <a:cubicBezTo>
                  <a:pt x="138" y="498"/>
                  <a:pt x="127" y="494"/>
                  <a:pt x="116" y="489"/>
                </a:cubicBezTo>
                <a:cubicBezTo>
                  <a:pt x="104" y="485"/>
                  <a:pt x="94" y="479"/>
                  <a:pt x="84" y="472"/>
                </a:cubicBezTo>
                <a:cubicBezTo>
                  <a:pt x="72" y="466"/>
                  <a:pt x="63" y="458"/>
                  <a:pt x="54" y="449"/>
                </a:cubicBezTo>
                <a:cubicBezTo>
                  <a:pt x="46" y="441"/>
                  <a:pt x="38" y="431"/>
                  <a:pt x="31" y="421"/>
                </a:cubicBezTo>
                <a:cubicBezTo>
                  <a:pt x="25" y="411"/>
                  <a:pt x="19" y="400"/>
                  <a:pt x="14" y="389"/>
                </a:cubicBezTo>
                <a:cubicBezTo>
                  <a:pt x="10" y="378"/>
                  <a:pt x="6" y="366"/>
                  <a:pt x="4" y="354"/>
                </a:cubicBezTo>
                <a:cubicBezTo>
                  <a:pt x="1" y="343"/>
                  <a:pt x="0" y="330"/>
                  <a:pt x="0" y="318"/>
                </a:cubicBezTo>
                <a:cubicBezTo>
                  <a:pt x="0" y="288"/>
                  <a:pt x="12" y="258"/>
                  <a:pt x="27" y="239"/>
                </a:cubicBezTo>
                <a:cubicBezTo>
                  <a:pt x="27" y="248"/>
                  <a:pt x="28" y="256"/>
                  <a:pt x="32" y="264"/>
                </a:cubicBezTo>
                <a:cubicBezTo>
                  <a:pt x="35" y="272"/>
                  <a:pt x="40" y="280"/>
                  <a:pt x="46" y="286"/>
                </a:cubicBezTo>
                <a:cubicBezTo>
                  <a:pt x="52" y="292"/>
                  <a:pt x="59" y="297"/>
                  <a:pt x="68" y="300"/>
                </a:cubicBezTo>
                <a:cubicBezTo>
                  <a:pt x="76" y="303"/>
                  <a:pt x="85" y="305"/>
                  <a:pt x="94" y="305"/>
                </a:cubicBezTo>
              </a:path>
            </a:pathLst>
          </a:custGeom>
          <a:ln cap="rnd" w="18720">
            <a:solidFill>
              <a:srgbClr val="16c4c2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923760" y="4737960"/>
            <a:ext cx="51559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running it is a habit worth keeping outside interviews too.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1203120" y="3789000"/>
            <a:ext cx="1170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16c4c2"/>
                </a:solidFill>
                <a:effectLst/>
                <a:uFillTx/>
                <a:latin typeface="LucidaGrande"/>
                <a:ea typeface="LucidaGrande"/>
              </a:rPr>
              <a:t>Takeaway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33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4" name=""/>
          <p:cNvSpPr txBox="1"/>
          <p:nvPr/>
        </p:nvSpPr>
        <p:spPr>
          <a:xfrm>
            <a:off x="762120" y="2384640"/>
            <a:ext cx="9892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companion deck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"R2 — Engineering Problem Solving Skills"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applies the same Thinking/Doing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762120" y="2689560"/>
            <a:ext cx="7875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process to physics and engineering problems, through four hands-on activities: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911160" y="3146760"/>
            <a:ext cx="948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1.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What are you looking for?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the apples riddle, a tin-opener design brief, and an x/y system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911160" y="3499200"/>
            <a:ext cx="9352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2.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Identifying what's given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the same three problems, now extracting the given information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911160" y="3851640"/>
            <a:ext cx="10346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3.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Expert knowledge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a rolling-wheel/axle problem, surfacing the implicit physical knowledge needed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911160" y="4204080"/>
            <a:ext cx="9908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4. </a:t>
            </a:r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Problem analysis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an inclined-plane friction problem, worked end to end, plus a self-reﬂection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1168200" y="4509000"/>
            <a:ext cx="582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rubric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762120" y="4966200"/>
            <a:ext cx="6148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Work through Activities 1–4 there before continuing to Part IV.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661057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762120" y="372600"/>
            <a:ext cx="64216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Engineering Practice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285480" y="3695400"/>
            <a:ext cx="1905480" cy="76680"/>
          </a:xfrm>
          <a:custGeom>
            <a:avLst/>
            <a:gdLst/>
            <a:ahLst/>
            <a:rect l="0" t="0" r="r" b="b"/>
            <a:pathLst>
              <a:path w="5293" h="213">
                <a:moveTo>
                  <a:pt x="0" y="0"/>
                </a:moveTo>
                <a:lnTo>
                  <a:pt x="5293" y="0"/>
                </a:lnTo>
                <a:lnTo>
                  <a:pt x="5293" y="213"/>
                </a:lnTo>
                <a:lnTo>
                  <a:pt x="0" y="2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762120" y="2624040"/>
            <a:ext cx="2779560" cy="955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Part IV</a:t>
            </a:r>
            <a:endParaRPr b="0" lang="en-US" sz="6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762120" y="3788640"/>
            <a:ext cx="9770760" cy="478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Why Systematic Problem-Solving Doesn't Stick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56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7" name=""/>
          <p:cNvSpPr/>
          <p:nvPr/>
        </p:nvSpPr>
        <p:spPr>
          <a:xfrm>
            <a:off x="771480" y="1838160"/>
            <a:ext cx="3781800" cy="429120"/>
          </a:xfrm>
          <a:custGeom>
            <a:avLst/>
            <a:gdLst/>
            <a:ahLst/>
            <a:rect l="0" t="0" r="r" b="b"/>
            <a:pathLst>
              <a:path w="10505" h="1192">
                <a:moveTo>
                  <a:pt x="0" y="0"/>
                </a:moveTo>
                <a:lnTo>
                  <a:pt x="10505" y="0"/>
                </a:lnTo>
                <a:lnTo>
                  <a:pt x="10505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4552920" y="1838160"/>
            <a:ext cx="6877080" cy="429120"/>
          </a:xfrm>
          <a:custGeom>
            <a:avLst/>
            <a:gdLst/>
            <a:ahLst/>
            <a:rect l="0" t="0" r="r" b="b"/>
            <a:pathLst>
              <a:path w="19103" h="1192">
                <a:moveTo>
                  <a:pt x="0" y="0"/>
                </a:moveTo>
                <a:lnTo>
                  <a:pt x="19103" y="0"/>
                </a:lnTo>
                <a:lnTo>
                  <a:pt x="19103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771480" y="2266920"/>
            <a:ext cx="3781800" cy="733680"/>
          </a:xfrm>
          <a:custGeom>
            <a:avLst/>
            <a:gdLst/>
            <a:ahLst/>
            <a:rect l="0" t="0" r="r" b="b"/>
            <a:pathLst>
              <a:path w="10505" h="2038">
                <a:moveTo>
                  <a:pt x="0" y="0"/>
                </a:moveTo>
                <a:lnTo>
                  <a:pt x="10505" y="0"/>
                </a:lnTo>
                <a:lnTo>
                  <a:pt x="10505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4552920" y="2266920"/>
            <a:ext cx="6877080" cy="733680"/>
          </a:xfrm>
          <a:custGeom>
            <a:avLst/>
            <a:gdLst/>
            <a:ahLst/>
            <a:rect l="0" t="0" r="r" b="b"/>
            <a:pathLst>
              <a:path w="19103" h="2038">
                <a:moveTo>
                  <a:pt x="0" y="0"/>
                </a:moveTo>
                <a:lnTo>
                  <a:pt x="19103" y="0"/>
                </a:lnTo>
                <a:lnTo>
                  <a:pt x="19103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771480" y="3000240"/>
            <a:ext cx="3781800" cy="733680"/>
          </a:xfrm>
          <a:custGeom>
            <a:avLst/>
            <a:gdLst/>
            <a:ahLst/>
            <a:rect l="0" t="0" r="r" b="b"/>
            <a:pathLst>
              <a:path w="10505" h="2038">
                <a:moveTo>
                  <a:pt x="0" y="0"/>
                </a:moveTo>
                <a:lnTo>
                  <a:pt x="10505" y="0"/>
                </a:lnTo>
                <a:lnTo>
                  <a:pt x="10505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4552920" y="3000240"/>
            <a:ext cx="6877080" cy="733680"/>
          </a:xfrm>
          <a:custGeom>
            <a:avLst/>
            <a:gdLst/>
            <a:ahLst/>
            <a:rect l="0" t="0" r="r" b="b"/>
            <a:pathLst>
              <a:path w="19103" h="2038">
                <a:moveTo>
                  <a:pt x="0" y="0"/>
                </a:moveTo>
                <a:lnTo>
                  <a:pt x="19103" y="0"/>
                </a:lnTo>
                <a:lnTo>
                  <a:pt x="19103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771480" y="3733560"/>
            <a:ext cx="3781800" cy="733680"/>
          </a:xfrm>
          <a:custGeom>
            <a:avLst/>
            <a:gdLst/>
            <a:ahLst/>
            <a:rect l="0" t="0" r="r" b="b"/>
            <a:pathLst>
              <a:path w="10505" h="2038">
                <a:moveTo>
                  <a:pt x="0" y="0"/>
                </a:moveTo>
                <a:lnTo>
                  <a:pt x="10505" y="0"/>
                </a:lnTo>
                <a:lnTo>
                  <a:pt x="10505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4552920" y="3733560"/>
            <a:ext cx="6877080" cy="733680"/>
          </a:xfrm>
          <a:custGeom>
            <a:avLst/>
            <a:gdLst/>
            <a:ahLst/>
            <a:rect l="0" t="0" r="r" b="b"/>
            <a:pathLst>
              <a:path w="19103" h="2038">
                <a:moveTo>
                  <a:pt x="0" y="0"/>
                </a:moveTo>
                <a:lnTo>
                  <a:pt x="19103" y="0"/>
                </a:lnTo>
                <a:lnTo>
                  <a:pt x="19103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771480" y="4466880"/>
            <a:ext cx="3781800" cy="429120"/>
          </a:xfrm>
          <a:custGeom>
            <a:avLst/>
            <a:gdLst/>
            <a:ahLst/>
            <a:rect l="0" t="0" r="r" b="b"/>
            <a:pathLst>
              <a:path w="10505" h="1192">
                <a:moveTo>
                  <a:pt x="0" y="0"/>
                </a:moveTo>
                <a:lnTo>
                  <a:pt x="10505" y="0"/>
                </a:lnTo>
                <a:lnTo>
                  <a:pt x="10505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4552920" y="4466880"/>
            <a:ext cx="6877080" cy="429120"/>
          </a:xfrm>
          <a:custGeom>
            <a:avLst/>
            <a:gdLst/>
            <a:ahLst/>
            <a:rect l="0" t="0" r="r" b="b"/>
            <a:pathLst>
              <a:path w="19103" h="1192">
                <a:moveTo>
                  <a:pt x="0" y="0"/>
                </a:moveTo>
                <a:lnTo>
                  <a:pt x="19103" y="0"/>
                </a:lnTo>
                <a:lnTo>
                  <a:pt x="19103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771480" y="4895640"/>
            <a:ext cx="3781800" cy="733680"/>
          </a:xfrm>
          <a:custGeom>
            <a:avLst/>
            <a:gdLst/>
            <a:ahLst/>
            <a:rect l="0" t="0" r="r" b="b"/>
            <a:pathLst>
              <a:path w="10505" h="2038">
                <a:moveTo>
                  <a:pt x="0" y="0"/>
                </a:moveTo>
                <a:lnTo>
                  <a:pt x="10505" y="0"/>
                </a:lnTo>
                <a:lnTo>
                  <a:pt x="10505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4552920" y="4895640"/>
            <a:ext cx="6877080" cy="733680"/>
          </a:xfrm>
          <a:custGeom>
            <a:avLst/>
            <a:gdLst/>
            <a:ahLst/>
            <a:rect l="0" t="0" r="r" b="b"/>
            <a:pathLst>
              <a:path w="19103" h="2038">
                <a:moveTo>
                  <a:pt x="0" y="0"/>
                </a:moveTo>
                <a:lnTo>
                  <a:pt x="19103" y="0"/>
                </a:lnTo>
                <a:lnTo>
                  <a:pt x="19103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771480" y="5628960"/>
            <a:ext cx="3781800" cy="734040"/>
          </a:xfrm>
          <a:custGeom>
            <a:avLst/>
            <a:gdLst/>
            <a:ahLst/>
            <a:rect l="0" t="0" r="r" b="b"/>
            <a:pathLst>
              <a:path w="10505" h="2039">
                <a:moveTo>
                  <a:pt x="0" y="0"/>
                </a:moveTo>
                <a:lnTo>
                  <a:pt x="10505" y="0"/>
                </a:lnTo>
                <a:lnTo>
                  <a:pt x="10505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4552920" y="5628960"/>
            <a:ext cx="6877080" cy="734040"/>
          </a:xfrm>
          <a:custGeom>
            <a:avLst/>
            <a:gdLst/>
            <a:ahLst/>
            <a:rect l="0" t="0" r="r" b="b"/>
            <a:pathLst>
              <a:path w="19103" h="2039">
                <a:moveTo>
                  <a:pt x="0" y="0"/>
                </a:moveTo>
                <a:lnTo>
                  <a:pt x="19103" y="0"/>
                </a:lnTo>
                <a:lnTo>
                  <a:pt x="19103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771480" y="6362640"/>
            <a:ext cx="3781800" cy="495360"/>
          </a:xfrm>
          <a:custGeom>
            <a:avLst/>
            <a:gdLst/>
            <a:ahLst/>
            <a:rect l="0" t="0" r="r" b="b"/>
            <a:pathLst>
              <a:path w="10505" h="1376">
                <a:moveTo>
                  <a:pt x="0" y="0"/>
                </a:moveTo>
                <a:lnTo>
                  <a:pt x="10505" y="0"/>
                </a:lnTo>
                <a:lnTo>
                  <a:pt x="10505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4552920" y="6362640"/>
            <a:ext cx="6877080" cy="495360"/>
          </a:xfrm>
          <a:custGeom>
            <a:avLst/>
            <a:gdLst/>
            <a:ahLst/>
            <a:rect l="0" t="0" r="r" b="b"/>
            <a:pathLst>
              <a:path w="19103" h="1376">
                <a:moveTo>
                  <a:pt x="0" y="0"/>
                </a:moveTo>
                <a:lnTo>
                  <a:pt x="19103" y="0"/>
                </a:lnTo>
                <a:lnTo>
                  <a:pt x="19103" y="1376"/>
                </a:lnTo>
                <a:lnTo>
                  <a:pt x="0" y="13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761760" y="1838160"/>
            <a:ext cx="10080" cy="438480"/>
          </a:xfrm>
          <a:custGeom>
            <a:avLst/>
            <a:gdLst/>
            <a:ahLst/>
            <a:rect l="0" t="0" r="r" b="b"/>
            <a:pathLst>
              <a:path w="28" h="1218">
                <a:moveTo>
                  <a:pt x="0" y="0"/>
                </a:moveTo>
                <a:lnTo>
                  <a:pt x="28" y="0"/>
                </a:lnTo>
                <a:lnTo>
                  <a:pt x="28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761760" y="1838160"/>
            <a:ext cx="3800880" cy="9720"/>
          </a:xfrm>
          <a:custGeom>
            <a:avLst/>
            <a:gdLst/>
            <a:ahLst/>
            <a:rect l="0" t="0" r="r" b="b"/>
            <a:pathLst>
              <a:path w="10558" h="27">
                <a:moveTo>
                  <a:pt x="0" y="0"/>
                </a:moveTo>
                <a:lnTo>
                  <a:pt x="10558" y="0"/>
                </a:lnTo>
                <a:lnTo>
                  <a:pt x="105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4552920" y="18381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4562280" y="1838160"/>
            <a:ext cx="6867720" cy="9720"/>
          </a:xfrm>
          <a:custGeom>
            <a:avLst/>
            <a:gdLst/>
            <a:ahLst/>
            <a:rect l="0" t="0" r="r" b="b"/>
            <a:pathLst>
              <a:path w="19077" h="27">
                <a:moveTo>
                  <a:pt x="0" y="0"/>
                </a:moveTo>
                <a:lnTo>
                  <a:pt x="19077" y="0"/>
                </a:lnTo>
                <a:lnTo>
                  <a:pt x="190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11420280" y="1838160"/>
            <a:ext cx="9720" cy="438480"/>
          </a:xfrm>
          <a:custGeom>
            <a:avLst/>
            <a:gdLst/>
            <a:ahLst/>
            <a:rect l="0" t="0" r="r" b="b"/>
            <a:pathLst>
              <a:path w="27" h="1218">
                <a:moveTo>
                  <a:pt x="0" y="0"/>
                </a:moveTo>
                <a:lnTo>
                  <a:pt x="27" y="0"/>
                </a:lnTo>
                <a:lnTo>
                  <a:pt x="27" y="1218"/>
                </a:lnTo>
                <a:lnTo>
                  <a:pt x="0" y="121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761760" y="2266920"/>
            <a:ext cx="3800880" cy="9720"/>
          </a:xfrm>
          <a:custGeom>
            <a:avLst/>
            <a:gdLst/>
            <a:ahLst/>
            <a:rect l="0" t="0" r="r" b="b"/>
            <a:pathLst>
              <a:path w="10558" h="27">
                <a:moveTo>
                  <a:pt x="0" y="0"/>
                </a:moveTo>
                <a:lnTo>
                  <a:pt x="10558" y="0"/>
                </a:lnTo>
                <a:lnTo>
                  <a:pt x="105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4562280" y="2266920"/>
            <a:ext cx="6867720" cy="9720"/>
          </a:xfrm>
          <a:custGeom>
            <a:avLst/>
            <a:gdLst/>
            <a:ahLst/>
            <a:rect l="0" t="0" r="r" b="b"/>
            <a:pathLst>
              <a:path w="19077" h="27">
                <a:moveTo>
                  <a:pt x="0" y="0"/>
                </a:moveTo>
                <a:lnTo>
                  <a:pt x="19077" y="0"/>
                </a:lnTo>
                <a:lnTo>
                  <a:pt x="190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761760" y="227628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4552920" y="227628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11420280" y="227628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761760" y="3009600"/>
            <a:ext cx="10080" cy="734040"/>
          </a:xfrm>
          <a:custGeom>
            <a:avLst/>
            <a:gdLst/>
            <a:ahLst/>
            <a:rect l="0" t="0" r="r" b="b"/>
            <a:pathLst>
              <a:path w="28" h="2039">
                <a:moveTo>
                  <a:pt x="0" y="0"/>
                </a:moveTo>
                <a:lnTo>
                  <a:pt x="28" y="0"/>
                </a:lnTo>
                <a:lnTo>
                  <a:pt x="28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761760" y="3000240"/>
            <a:ext cx="3800880" cy="9720"/>
          </a:xfrm>
          <a:custGeom>
            <a:avLst/>
            <a:gdLst/>
            <a:ahLst/>
            <a:rect l="0" t="0" r="r" b="b"/>
            <a:pathLst>
              <a:path w="10558" h="27">
                <a:moveTo>
                  <a:pt x="0" y="0"/>
                </a:moveTo>
                <a:lnTo>
                  <a:pt x="10558" y="0"/>
                </a:lnTo>
                <a:lnTo>
                  <a:pt x="105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4552920" y="3009600"/>
            <a:ext cx="9720" cy="734040"/>
          </a:xfrm>
          <a:custGeom>
            <a:avLst/>
            <a:gdLst/>
            <a:ahLst/>
            <a:rect l="0" t="0" r="r" b="b"/>
            <a:pathLst>
              <a:path w="27" h="2039">
                <a:moveTo>
                  <a:pt x="0" y="0"/>
                </a:moveTo>
                <a:lnTo>
                  <a:pt x="27" y="0"/>
                </a:lnTo>
                <a:lnTo>
                  <a:pt x="27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4562280" y="3000240"/>
            <a:ext cx="6867720" cy="9720"/>
          </a:xfrm>
          <a:custGeom>
            <a:avLst/>
            <a:gdLst/>
            <a:ahLst/>
            <a:rect l="0" t="0" r="r" b="b"/>
            <a:pathLst>
              <a:path w="19077" h="27">
                <a:moveTo>
                  <a:pt x="0" y="0"/>
                </a:moveTo>
                <a:lnTo>
                  <a:pt x="19077" y="0"/>
                </a:lnTo>
                <a:lnTo>
                  <a:pt x="190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11420280" y="3009600"/>
            <a:ext cx="9720" cy="734040"/>
          </a:xfrm>
          <a:custGeom>
            <a:avLst/>
            <a:gdLst/>
            <a:ahLst/>
            <a:rect l="0" t="0" r="r" b="b"/>
            <a:pathLst>
              <a:path w="27" h="2039">
                <a:moveTo>
                  <a:pt x="0" y="0"/>
                </a:moveTo>
                <a:lnTo>
                  <a:pt x="27" y="0"/>
                </a:lnTo>
                <a:lnTo>
                  <a:pt x="27" y="2039"/>
                </a:lnTo>
                <a:lnTo>
                  <a:pt x="0" y="20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761760" y="374328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761760" y="3733560"/>
            <a:ext cx="3800880" cy="10080"/>
          </a:xfrm>
          <a:custGeom>
            <a:avLst/>
            <a:gdLst/>
            <a:ahLst/>
            <a:rect l="0" t="0" r="r" b="b"/>
            <a:pathLst>
              <a:path w="10558" h="28">
                <a:moveTo>
                  <a:pt x="0" y="0"/>
                </a:moveTo>
                <a:lnTo>
                  <a:pt x="10558" y="0"/>
                </a:lnTo>
                <a:lnTo>
                  <a:pt x="105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4552920" y="374328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4562280" y="3733560"/>
            <a:ext cx="6867720" cy="10080"/>
          </a:xfrm>
          <a:custGeom>
            <a:avLst/>
            <a:gdLst/>
            <a:ahLst/>
            <a:rect l="0" t="0" r="r" b="b"/>
            <a:pathLst>
              <a:path w="19077" h="28">
                <a:moveTo>
                  <a:pt x="0" y="0"/>
                </a:moveTo>
                <a:lnTo>
                  <a:pt x="19077" y="0"/>
                </a:lnTo>
                <a:lnTo>
                  <a:pt x="190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11420280" y="374328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761760" y="447660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761760" y="4466880"/>
            <a:ext cx="3800880" cy="10080"/>
          </a:xfrm>
          <a:custGeom>
            <a:avLst/>
            <a:gdLst/>
            <a:ahLst/>
            <a:rect l="0" t="0" r="r" b="b"/>
            <a:pathLst>
              <a:path w="10558" h="28">
                <a:moveTo>
                  <a:pt x="0" y="0"/>
                </a:moveTo>
                <a:lnTo>
                  <a:pt x="10558" y="0"/>
                </a:lnTo>
                <a:lnTo>
                  <a:pt x="105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4552920" y="447660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4562280" y="4466880"/>
            <a:ext cx="6867720" cy="10080"/>
          </a:xfrm>
          <a:custGeom>
            <a:avLst/>
            <a:gdLst/>
            <a:ahLst/>
            <a:rect l="0" t="0" r="r" b="b"/>
            <a:pathLst>
              <a:path w="19077" h="28">
                <a:moveTo>
                  <a:pt x="0" y="0"/>
                </a:moveTo>
                <a:lnTo>
                  <a:pt x="19077" y="0"/>
                </a:lnTo>
                <a:lnTo>
                  <a:pt x="190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11420280" y="447660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761760" y="490536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761760" y="4895640"/>
            <a:ext cx="3800880" cy="10080"/>
          </a:xfrm>
          <a:custGeom>
            <a:avLst/>
            <a:gdLst/>
            <a:ahLst/>
            <a:rect l="0" t="0" r="r" b="b"/>
            <a:pathLst>
              <a:path w="10558" h="28">
                <a:moveTo>
                  <a:pt x="0" y="0"/>
                </a:moveTo>
                <a:lnTo>
                  <a:pt x="10558" y="0"/>
                </a:lnTo>
                <a:lnTo>
                  <a:pt x="105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4552920" y="490536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4562280" y="4895640"/>
            <a:ext cx="6867720" cy="10080"/>
          </a:xfrm>
          <a:custGeom>
            <a:avLst/>
            <a:gdLst/>
            <a:ahLst/>
            <a:rect l="0" t="0" r="r" b="b"/>
            <a:pathLst>
              <a:path w="19077" h="28">
                <a:moveTo>
                  <a:pt x="0" y="0"/>
                </a:moveTo>
                <a:lnTo>
                  <a:pt x="19077" y="0"/>
                </a:lnTo>
                <a:lnTo>
                  <a:pt x="190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11420280" y="490536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761760" y="5638680"/>
            <a:ext cx="10080" cy="733680"/>
          </a:xfrm>
          <a:custGeom>
            <a:avLst/>
            <a:gdLst/>
            <a:ahLst/>
            <a:rect l="0" t="0" r="r" b="b"/>
            <a:pathLst>
              <a:path w="28" h="2038">
                <a:moveTo>
                  <a:pt x="0" y="0"/>
                </a:moveTo>
                <a:lnTo>
                  <a:pt x="28" y="0"/>
                </a:lnTo>
                <a:lnTo>
                  <a:pt x="28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761760" y="5628960"/>
            <a:ext cx="3800880" cy="10080"/>
          </a:xfrm>
          <a:custGeom>
            <a:avLst/>
            <a:gdLst/>
            <a:ahLst/>
            <a:rect l="0" t="0" r="r" b="b"/>
            <a:pathLst>
              <a:path w="10558" h="28">
                <a:moveTo>
                  <a:pt x="0" y="0"/>
                </a:moveTo>
                <a:lnTo>
                  <a:pt x="10558" y="0"/>
                </a:lnTo>
                <a:lnTo>
                  <a:pt x="105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4552920" y="563868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4562280" y="5628960"/>
            <a:ext cx="6867720" cy="10080"/>
          </a:xfrm>
          <a:custGeom>
            <a:avLst/>
            <a:gdLst/>
            <a:ahLst/>
            <a:rect l="0" t="0" r="r" b="b"/>
            <a:pathLst>
              <a:path w="19077" h="28">
                <a:moveTo>
                  <a:pt x="0" y="0"/>
                </a:moveTo>
                <a:lnTo>
                  <a:pt x="19077" y="0"/>
                </a:lnTo>
                <a:lnTo>
                  <a:pt x="190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11420280" y="5638680"/>
            <a:ext cx="9720" cy="733680"/>
          </a:xfrm>
          <a:custGeom>
            <a:avLst/>
            <a:gdLst/>
            <a:ahLst/>
            <a:rect l="0" t="0" r="r" b="b"/>
            <a:pathLst>
              <a:path w="27" h="2038">
                <a:moveTo>
                  <a:pt x="0" y="0"/>
                </a:moveTo>
                <a:lnTo>
                  <a:pt x="27" y="0"/>
                </a:lnTo>
                <a:lnTo>
                  <a:pt x="27" y="2038"/>
                </a:lnTo>
                <a:lnTo>
                  <a:pt x="0" y="20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761760" y="637200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28" y="0"/>
                </a:lnTo>
                <a:lnTo>
                  <a:pt x="28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761760" y="6362640"/>
            <a:ext cx="3800880" cy="9720"/>
          </a:xfrm>
          <a:custGeom>
            <a:avLst/>
            <a:gdLst/>
            <a:ahLst/>
            <a:rect l="0" t="0" r="r" b="b"/>
            <a:pathLst>
              <a:path w="10558" h="27">
                <a:moveTo>
                  <a:pt x="0" y="0"/>
                </a:moveTo>
                <a:lnTo>
                  <a:pt x="10558" y="0"/>
                </a:lnTo>
                <a:lnTo>
                  <a:pt x="105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4552920" y="637200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4562280" y="6362640"/>
            <a:ext cx="6867720" cy="9720"/>
          </a:xfrm>
          <a:custGeom>
            <a:avLst/>
            <a:gdLst/>
            <a:ahLst/>
            <a:rect l="0" t="0" r="r" b="b"/>
            <a:pathLst>
              <a:path w="19077" h="27">
                <a:moveTo>
                  <a:pt x="0" y="0"/>
                </a:moveTo>
                <a:lnTo>
                  <a:pt x="19077" y="0"/>
                </a:lnTo>
                <a:lnTo>
                  <a:pt x="190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11420280" y="6372000"/>
            <a:ext cx="9720" cy="486000"/>
          </a:xfrm>
          <a:custGeom>
            <a:avLst/>
            <a:gdLst/>
            <a:ahLst/>
            <a:rect l="0" t="0" r="r" b="b"/>
            <a:pathLst>
              <a:path w="27" h="1350">
                <a:moveTo>
                  <a:pt x="0" y="0"/>
                </a:moveTo>
                <a:lnTo>
                  <a:pt x="27" y="0"/>
                </a:lnTo>
                <a:lnTo>
                  <a:pt x="27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762120" y="1413360"/>
            <a:ext cx="9840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 systematic literature review (93 papers, via co-citation analysis) identiﬁes seven recurring factors: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2336760" y="1937160"/>
            <a:ext cx="64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Factor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7137720" y="1937160"/>
            <a:ext cx="1702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What it captures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895320" y="2518200"/>
            <a:ext cx="2321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Nature of the problem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4684680" y="2365920"/>
            <a:ext cx="6204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Well-structured problems tolerate IPS; ill-structured ones need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4684680" y="2670480"/>
            <a:ext cx="331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SPS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895320" y="3251520"/>
            <a:ext cx="173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Time availability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4684680" y="3099240"/>
            <a:ext cx="6316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SPS pays oﬀ with a delay — urgency pushes people back to ﬁre-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4684680" y="3404160"/>
            <a:ext cx="770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ﬁghting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895320" y="3984840"/>
            <a:ext cx="2441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Information availability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4684680" y="3832560"/>
            <a:ext cx="6256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Rich data on the problem's context enables SPS; "insist on data,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4684680" y="4137480"/>
            <a:ext cx="1715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not assumptions"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895320" y="4565880"/>
            <a:ext cx="218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Collaborative culture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4684680" y="4565880"/>
            <a:ext cx="4603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Information sharing across units facilitates SPS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895320" y="5146920"/>
            <a:ext cx="2980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Transformational leadership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4684680" y="4994640"/>
            <a:ext cx="578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Leaders who tolerate the short-term cost of SPS sustain its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4684680" y="5299560"/>
            <a:ext cx="876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adoption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895320" y="5727960"/>
            <a:ext cx="2475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Organizational learning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 txBox="1"/>
          <p:nvPr/>
        </p:nvSpPr>
        <p:spPr>
          <a:xfrm>
            <a:off x="895320" y="6032880"/>
            <a:ext cx="1451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infrastructure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4684680" y="5880600"/>
            <a:ext cx="5077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Mechanisms to capture and reuse what was learned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895320" y="6613920"/>
            <a:ext cx="2657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Environmental dynamism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4684680" y="6461640"/>
            <a:ext cx="6409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Stable environments support SPS; volatile ones push back toward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 txBox="1"/>
          <p:nvPr/>
        </p:nvSpPr>
        <p:spPr>
          <a:xfrm>
            <a:off x="4684680" y="6766200"/>
            <a:ext cx="280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IPS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661057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 txBox="1"/>
          <p:nvPr/>
        </p:nvSpPr>
        <p:spPr>
          <a:xfrm>
            <a:off x="762120" y="-8280"/>
            <a:ext cx="98866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Seven Factors That Support SPS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762120" y="753480"/>
            <a:ext cx="288180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Adoption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45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6" name=""/>
          <p:cNvSpPr txBox="1"/>
          <p:nvPr/>
        </p:nvSpPr>
        <p:spPr>
          <a:xfrm>
            <a:off x="762120" y="2289600"/>
            <a:ext cx="5044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Uncertainty is the core mechanism.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Ill-structured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762120" y="2594520"/>
            <a:ext cx="1543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problems carry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2357280" y="2594520"/>
            <a:ext cx="77580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internal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3062520" y="2594520"/>
            <a:ext cx="2651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uncertainty (the problem's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762120" y="2899080"/>
            <a:ext cx="4354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own complexity); volatile environments add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5175360" y="2899080"/>
            <a:ext cx="8301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external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762120" y="3204000"/>
            <a:ext cx="1170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uncertainty.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6197400" y="2289600"/>
            <a:ext cx="4601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SPS adoption requires organisations to actively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6197400" y="2594520"/>
            <a:ext cx="4547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reduce both kinds of uncertainty </a:t>
            </a:r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— through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6197400" y="2899080"/>
            <a:ext cx="4972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information, collaboration, learning infrastructure,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 txBox="1"/>
          <p:nvPr/>
        </p:nvSpPr>
        <p:spPr>
          <a:xfrm>
            <a:off x="6197400" y="3204000"/>
            <a:ext cx="505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and leadership that can absorb the short-term cost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 txBox="1"/>
          <p:nvPr/>
        </p:nvSpPr>
        <p:spPr>
          <a:xfrm>
            <a:off x="6197400" y="3508920"/>
            <a:ext cx="2362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of not just ﬁre-ﬁghting.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661057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766440" y="4052880"/>
            <a:ext cx="10658880" cy="1276560"/>
          </a:xfrm>
          <a:custGeom>
            <a:avLst/>
            <a:gdLst/>
            <a:ahLst/>
            <a:rect l="0" t="0" r="r" b="b"/>
            <a:pathLst>
              <a:path w="29608" h="3546">
                <a:moveTo>
                  <a:pt x="0" y="3400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0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5"/>
                  <a:pt x="29608" y="145"/>
                </a:cubicBezTo>
                <a:lnTo>
                  <a:pt x="29608" y="3400"/>
                </a:lnTo>
                <a:cubicBezTo>
                  <a:pt x="29608" y="3410"/>
                  <a:pt x="29607" y="3419"/>
                  <a:pt x="29605" y="3429"/>
                </a:cubicBezTo>
                <a:cubicBezTo>
                  <a:pt x="29604" y="3438"/>
                  <a:pt x="29601" y="3447"/>
                  <a:pt x="29597" y="3456"/>
                </a:cubicBezTo>
                <a:cubicBezTo>
                  <a:pt x="29594" y="3465"/>
                  <a:pt x="29589" y="3473"/>
                  <a:pt x="29584" y="3481"/>
                </a:cubicBezTo>
                <a:cubicBezTo>
                  <a:pt x="29578" y="3489"/>
                  <a:pt x="29572" y="3497"/>
                  <a:pt x="29566" y="3503"/>
                </a:cubicBezTo>
                <a:cubicBezTo>
                  <a:pt x="29559" y="3510"/>
                  <a:pt x="29552" y="3516"/>
                  <a:pt x="29544" y="3521"/>
                </a:cubicBezTo>
                <a:cubicBezTo>
                  <a:pt x="29536" y="3527"/>
                  <a:pt x="29527" y="3531"/>
                  <a:pt x="29518" y="3535"/>
                </a:cubicBezTo>
                <a:cubicBezTo>
                  <a:pt x="29510" y="3539"/>
                  <a:pt x="29501" y="3541"/>
                  <a:pt x="29491" y="3543"/>
                </a:cubicBezTo>
                <a:cubicBezTo>
                  <a:pt x="29482" y="3545"/>
                  <a:pt x="29472" y="3546"/>
                  <a:pt x="29463" y="3546"/>
                </a:cubicBezTo>
                <a:lnTo>
                  <a:pt x="146" y="3546"/>
                </a:lnTo>
                <a:cubicBezTo>
                  <a:pt x="136" y="3546"/>
                  <a:pt x="127" y="3545"/>
                  <a:pt x="118" y="3543"/>
                </a:cubicBezTo>
                <a:cubicBezTo>
                  <a:pt x="108" y="3541"/>
                  <a:pt x="99" y="3539"/>
                  <a:pt x="90" y="3535"/>
                </a:cubicBezTo>
                <a:cubicBezTo>
                  <a:pt x="81" y="3531"/>
                  <a:pt x="73" y="3527"/>
                  <a:pt x="65" y="3521"/>
                </a:cubicBezTo>
                <a:cubicBezTo>
                  <a:pt x="57" y="3516"/>
                  <a:pt x="50" y="3510"/>
                  <a:pt x="43" y="3503"/>
                </a:cubicBezTo>
                <a:cubicBezTo>
                  <a:pt x="36" y="3497"/>
                  <a:pt x="30" y="3489"/>
                  <a:pt x="25" y="3481"/>
                </a:cubicBezTo>
                <a:cubicBezTo>
                  <a:pt x="20" y="3473"/>
                  <a:pt x="15" y="3465"/>
                  <a:pt x="11" y="3456"/>
                </a:cubicBezTo>
                <a:cubicBezTo>
                  <a:pt x="8" y="3447"/>
                  <a:pt x="5" y="3438"/>
                  <a:pt x="3" y="3429"/>
                </a:cubicBezTo>
                <a:cubicBezTo>
                  <a:pt x="1" y="3419"/>
                  <a:pt x="0" y="3410"/>
                  <a:pt x="0" y="3400"/>
                </a:cubicBezTo>
                <a:close/>
              </a:path>
            </a:pathLst>
          </a:custGeom>
          <a:solidFill>
            <a:srgbClr val="e6f1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766440" y="4052880"/>
            <a:ext cx="10658880" cy="1276560"/>
          </a:xfrm>
          <a:custGeom>
            <a:avLst/>
            <a:gdLst/>
            <a:ahLst/>
            <a:rect l="0" t="0" r="r" b="b"/>
            <a:pathLst>
              <a:path fill="none" w="29608" h="3546">
                <a:moveTo>
                  <a:pt x="0" y="3400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20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8" y="2"/>
                </a:cubicBezTo>
                <a:cubicBezTo>
                  <a:pt x="127" y="0"/>
                  <a:pt x="136" y="0"/>
                  <a:pt x="146" y="0"/>
                </a:cubicBezTo>
                <a:lnTo>
                  <a:pt x="29463" y="0"/>
                </a:lnTo>
                <a:cubicBezTo>
                  <a:pt x="29472" y="0"/>
                  <a:pt x="29482" y="0"/>
                  <a:pt x="29491" y="2"/>
                </a:cubicBezTo>
                <a:cubicBezTo>
                  <a:pt x="29501" y="4"/>
                  <a:pt x="29510" y="7"/>
                  <a:pt x="29518" y="11"/>
                </a:cubicBezTo>
                <a:cubicBezTo>
                  <a:pt x="29527" y="14"/>
                  <a:pt x="29536" y="19"/>
                  <a:pt x="29544" y="24"/>
                </a:cubicBezTo>
                <a:cubicBezTo>
                  <a:pt x="29552" y="29"/>
                  <a:pt x="29559" y="35"/>
                  <a:pt x="29566" y="42"/>
                </a:cubicBezTo>
                <a:cubicBezTo>
                  <a:pt x="29572" y="49"/>
                  <a:pt x="29578" y="56"/>
                  <a:pt x="29584" y="64"/>
                </a:cubicBezTo>
                <a:cubicBezTo>
                  <a:pt x="29589" y="72"/>
                  <a:pt x="29594" y="81"/>
                  <a:pt x="29597" y="89"/>
                </a:cubicBezTo>
                <a:cubicBezTo>
                  <a:pt x="29601" y="98"/>
                  <a:pt x="29604" y="107"/>
                  <a:pt x="29605" y="117"/>
                </a:cubicBezTo>
                <a:cubicBezTo>
                  <a:pt x="29607" y="126"/>
                  <a:pt x="29608" y="135"/>
                  <a:pt x="29608" y="145"/>
                </a:cubicBezTo>
                <a:lnTo>
                  <a:pt x="29608" y="3400"/>
                </a:lnTo>
                <a:cubicBezTo>
                  <a:pt x="29608" y="3410"/>
                  <a:pt x="29607" y="3419"/>
                  <a:pt x="29605" y="3429"/>
                </a:cubicBezTo>
                <a:cubicBezTo>
                  <a:pt x="29604" y="3438"/>
                  <a:pt x="29601" y="3447"/>
                  <a:pt x="29597" y="3456"/>
                </a:cubicBezTo>
                <a:cubicBezTo>
                  <a:pt x="29594" y="3465"/>
                  <a:pt x="29589" y="3473"/>
                  <a:pt x="29584" y="3481"/>
                </a:cubicBezTo>
                <a:cubicBezTo>
                  <a:pt x="29578" y="3489"/>
                  <a:pt x="29572" y="3497"/>
                  <a:pt x="29566" y="3503"/>
                </a:cubicBezTo>
                <a:cubicBezTo>
                  <a:pt x="29559" y="3510"/>
                  <a:pt x="29552" y="3516"/>
                  <a:pt x="29544" y="3521"/>
                </a:cubicBezTo>
                <a:cubicBezTo>
                  <a:pt x="29536" y="3527"/>
                  <a:pt x="29527" y="3531"/>
                  <a:pt x="29518" y="3535"/>
                </a:cubicBezTo>
                <a:cubicBezTo>
                  <a:pt x="29510" y="3539"/>
                  <a:pt x="29501" y="3541"/>
                  <a:pt x="29491" y="3543"/>
                </a:cubicBezTo>
                <a:cubicBezTo>
                  <a:pt x="29482" y="3545"/>
                  <a:pt x="29472" y="3546"/>
                  <a:pt x="29463" y="3546"/>
                </a:cubicBezTo>
                <a:lnTo>
                  <a:pt x="146" y="3546"/>
                </a:lnTo>
                <a:cubicBezTo>
                  <a:pt x="136" y="3546"/>
                  <a:pt x="127" y="3545"/>
                  <a:pt x="118" y="3543"/>
                </a:cubicBezTo>
                <a:cubicBezTo>
                  <a:pt x="108" y="3541"/>
                  <a:pt x="99" y="3539"/>
                  <a:pt x="90" y="3535"/>
                </a:cubicBezTo>
                <a:cubicBezTo>
                  <a:pt x="81" y="3531"/>
                  <a:pt x="73" y="3527"/>
                  <a:pt x="65" y="3521"/>
                </a:cubicBezTo>
                <a:cubicBezTo>
                  <a:pt x="57" y="3516"/>
                  <a:pt x="50" y="3510"/>
                  <a:pt x="43" y="3503"/>
                </a:cubicBezTo>
                <a:cubicBezTo>
                  <a:pt x="36" y="3497"/>
                  <a:pt x="30" y="3489"/>
                  <a:pt x="25" y="3481"/>
                </a:cubicBezTo>
                <a:cubicBezTo>
                  <a:pt x="20" y="3473"/>
                  <a:pt x="15" y="3465"/>
                  <a:pt x="11" y="3456"/>
                </a:cubicBezTo>
                <a:cubicBezTo>
                  <a:pt x="8" y="3447"/>
                  <a:pt x="5" y="3438"/>
                  <a:pt x="3" y="3429"/>
                </a:cubicBezTo>
                <a:cubicBezTo>
                  <a:pt x="1" y="3419"/>
                  <a:pt x="0" y="3410"/>
                  <a:pt x="0" y="3400"/>
                </a:cubicBezTo>
              </a:path>
            </a:pathLst>
          </a:custGeom>
          <a:ln w="9360">
            <a:solidFill>
              <a:srgbClr val="b5d6fc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762120" y="372600"/>
            <a:ext cx="939276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Towards an Integrative Model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923760" y="4662000"/>
            <a:ext cx="10362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This is why the seven factors matter: they're not a checklist, they're the conditions under which deliberate, System-2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942840" y="4267080"/>
            <a:ext cx="190800" cy="190800"/>
          </a:xfrm>
          <a:custGeom>
            <a:avLst/>
            <a:gdLst/>
            <a:ahLst/>
            <a:rect l="0" t="0" r="r" b="b"/>
            <a:pathLst>
              <a:path fill="none" w="530" h="530">
                <a:moveTo>
                  <a:pt x="424" y="0"/>
                </a:moveTo>
                <a:lnTo>
                  <a:pt x="530" y="107"/>
                </a:lnTo>
                <a:moveTo>
                  <a:pt x="145" y="490"/>
                </a:moveTo>
                <a:lnTo>
                  <a:pt x="451" y="186"/>
                </a:lnTo>
                <a:lnTo>
                  <a:pt x="345" y="80"/>
                </a:lnTo>
                <a:lnTo>
                  <a:pt x="40" y="384"/>
                </a:lnTo>
                <a:lnTo>
                  <a:pt x="0" y="530"/>
                </a:lnTo>
                <a:lnTo>
                  <a:pt x="145" y="490"/>
                </a:lnTo>
              </a:path>
            </a:pathLst>
          </a:custGeom>
          <a:ln cap="rnd" w="18720">
            <a:solidFill>
              <a:srgbClr val="086ddd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 txBox="1"/>
          <p:nvPr/>
        </p:nvSpPr>
        <p:spPr>
          <a:xfrm>
            <a:off x="923760" y="4938120"/>
            <a:ext cx="6564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4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analysis can actually out-compete the fast, heuristic defaults of System 1.</a:t>
            </a:r>
            <a:endParaRPr b="0" lang="en-US" sz="14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1203120" y="4255560"/>
            <a:ext cx="2376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00" strike="noStrike" u="none">
                <a:solidFill>
                  <a:srgbClr val="086ddd"/>
                </a:solidFill>
                <a:effectLst/>
                <a:uFillTx/>
                <a:latin typeface="LucidaGrande"/>
                <a:ea typeface="LucidaGrande"/>
              </a:rPr>
              <a:t>Cognitive Debiasing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72" name="" descr=""/>
          <p:cNvPicPr/>
          <p:nvPr/>
        </p:nvPicPr>
        <p:blipFill>
          <a:blip r:embed="rId1"/>
          <a:stretch/>
        </p:blipFill>
        <p:spPr>
          <a:xfrm>
            <a:off x="10134720" y="5981760"/>
            <a:ext cx="1904760" cy="10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3" name=""/>
          <p:cNvSpPr/>
          <p:nvPr/>
        </p:nvSpPr>
        <p:spPr>
          <a:xfrm>
            <a:off x="971280" y="2143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3"/>
                </a:moveTo>
                <a:cubicBezTo>
                  <a:pt x="186" y="106"/>
                  <a:pt x="184" y="117"/>
                  <a:pt x="179" y="129"/>
                </a:cubicBezTo>
                <a:cubicBezTo>
                  <a:pt x="175" y="140"/>
                  <a:pt x="167" y="150"/>
                  <a:pt x="158" y="159"/>
                </a:cubicBezTo>
                <a:cubicBezTo>
                  <a:pt x="150" y="167"/>
                  <a:pt x="140" y="174"/>
                  <a:pt x="128" y="179"/>
                </a:cubicBezTo>
                <a:cubicBezTo>
                  <a:pt x="117" y="183"/>
                  <a:pt x="105" y="186"/>
                  <a:pt x="93" y="186"/>
                </a:cubicBezTo>
                <a:cubicBezTo>
                  <a:pt x="81" y="186"/>
                  <a:pt x="69" y="183"/>
                  <a:pt x="57" y="179"/>
                </a:cubicBezTo>
                <a:cubicBezTo>
                  <a:pt x="46" y="174"/>
                  <a:pt x="36" y="167"/>
                  <a:pt x="27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7"/>
                  <a:pt x="0" y="106"/>
                  <a:pt x="0" y="93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9"/>
                  <a:pt x="186" y="81"/>
                  <a:pt x="186" y="93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1168200" y="2051280"/>
            <a:ext cx="10146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Systematic problem-solving (SPS) consistently out-performs intuitive ﬁre-ﬁghting (IPS) — but IPS is the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971280" y="2800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1168200" y="2356200"/>
            <a:ext cx="3423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default organisations drift back to.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1168200" y="2708640"/>
            <a:ext cx="9727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The same four/ﬁve-step process — understand, strategize, execute, check, lock in — holds across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971280" y="3466800"/>
            <a:ext cx="66960" cy="67320"/>
          </a:xfrm>
          <a:custGeom>
            <a:avLst/>
            <a:gdLst/>
            <a:ahLst/>
            <a:rect l="0" t="0" r="r" b="b"/>
            <a:pathLst>
              <a:path w="186" h="187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7"/>
                  <a:pt x="93" y="187"/>
                </a:cubicBezTo>
                <a:cubicBezTo>
                  <a:pt x="81" y="187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1"/>
                  <a:pt x="3" y="69"/>
                  <a:pt x="7" y="57"/>
                </a:cubicBezTo>
                <a:cubicBezTo>
                  <a:pt x="12" y="46"/>
                  <a:pt x="19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7"/>
                </a:cubicBezTo>
                <a:cubicBezTo>
                  <a:pt x="167" y="36"/>
                  <a:pt x="175" y="46"/>
                  <a:pt x="179" y="57"/>
                </a:cubicBezTo>
                <a:cubicBezTo>
                  <a:pt x="184" y="69"/>
                  <a:pt x="186" y="81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 txBox="1"/>
          <p:nvPr/>
        </p:nvSpPr>
        <p:spPr>
          <a:xfrm>
            <a:off x="1168200" y="3013560"/>
            <a:ext cx="4878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software, physics/engineering, and management.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 txBox="1"/>
          <p:nvPr/>
        </p:nvSpPr>
        <p:spPr>
          <a:xfrm>
            <a:off x="1168200" y="3375360"/>
            <a:ext cx="1111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Systematic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2330640" y="3375360"/>
            <a:ext cx="9075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inventive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 txBox="1"/>
          <p:nvPr/>
        </p:nvSpPr>
        <p:spPr>
          <a:xfrm>
            <a:off x="3164040" y="3375360"/>
            <a:ext cx="82461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thinking (TRIZ, SIT/ASIT, SCAMPER, Eight-Dimensional) out-performs unsystematic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1168200" y="3680280"/>
            <a:ext cx="9798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idea-generating (brainstorming) precisely because it focuses and judges early rather than deferring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971280" y="4429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2"/>
                </a:moveTo>
                <a:cubicBezTo>
                  <a:pt x="186" y="105"/>
                  <a:pt x="184" y="116"/>
                  <a:pt x="179" y="128"/>
                </a:cubicBezTo>
                <a:cubicBezTo>
                  <a:pt x="175" y="139"/>
                  <a:pt x="167" y="149"/>
                  <a:pt x="158" y="158"/>
                </a:cubicBezTo>
                <a:cubicBezTo>
                  <a:pt x="150" y="166"/>
                  <a:pt x="140" y="173"/>
                  <a:pt x="128" y="178"/>
                </a:cubicBezTo>
                <a:cubicBezTo>
                  <a:pt x="117" y="182"/>
                  <a:pt x="105" y="186"/>
                  <a:pt x="93" y="186"/>
                </a:cubicBezTo>
                <a:cubicBezTo>
                  <a:pt x="81" y="186"/>
                  <a:pt x="69" y="182"/>
                  <a:pt x="57" y="178"/>
                </a:cubicBezTo>
                <a:cubicBezTo>
                  <a:pt x="46" y="173"/>
                  <a:pt x="36" y="166"/>
                  <a:pt x="27" y="158"/>
                </a:cubicBezTo>
                <a:cubicBezTo>
                  <a:pt x="19" y="149"/>
                  <a:pt x="12" y="139"/>
                  <a:pt x="7" y="128"/>
                </a:cubicBezTo>
                <a:cubicBezTo>
                  <a:pt x="3" y="116"/>
                  <a:pt x="0" y="105"/>
                  <a:pt x="0" y="92"/>
                </a:cubicBezTo>
                <a:cubicBezTo>
                  <a:pt x="0" y="80"/>
                  <a:pt x="3" y="68"/>
                  <a:pt x="7" y="57"/>
                </a:cubicBezTo>
                <a:cubicBezTo>
                  <a:pt x="12" y="45"/>
                  <a:pt x="19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9" y="2"/>
                  <a:pt x="81" y="0"/>
                  <a:pt x="93" y="0"/>
                </a:cubicBezTo>
                <a:cubicBezTo>
                  <a:pt x="105" y="0"/>
                  <a:pt x="117" y="2"/>
                  <a:pt x="128" y="7"/>
                </a:cubicBezTo>
                <a:cubicBezTo>
                  <a:pt x="140" y="11"/>
                  <a:pt x="150" y="18"/>
                  <a:pt x="158" y="27"/>
                </a:cubicBezTo>
                <a:cubicBezTo>
                  <a:pt x="167" y="35"/>
                  <a:pt x="175" y="45"/>
                  <a:pt x="179" y="57"/>
                </a:cubicBezTo>
                <a:cubicBezTo>
                  <a:pt x="184" y="68"/>
                  <a:pt x="186" y="80"/>
                  <a:pt x="186" y="92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1168200" y="3975480"/>
            <a:ext cx="1122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judgement.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1168200" y="4337280"/>
            <a:ext cx="2311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Whether SPS is actually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3533760" y="4337280"/>
            <a:ext cx="231480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5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adopted and sustained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5736600" y="4337280"/>
            <a:ext cx="4584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 depends on organisational and environmental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971280" y="508608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186" y="94"/>
                </a:moveTo>
                <a:cubicBezTo>
                  <a:pt x="186" y="106"/>
                  <a:pt x="184" y="118"/>
                  <a:pt x="179" y="129"/>
                </a:cubicBezTo>
                <a:cubicBezTo>
                  <a:pt x="175" y="141"/>
                  <a:pt x="167" y="151"/>
                  <a:pt x="158" y="159"/>
                </a:cubicBezTo>
                <a:cubicBezTo>
                  <a:pt x="150" y="168"/>
                  <a:pt x="140" y="175"/>
                  <a:pt x="128" y="179"/>
                </a:cubicBezTo>
                <a:cubicBezTo>
                  <a:pt x="117" y="184"/>
                  <a:pt x="105" y="186"/>
                  <a:pt x="93" y="186"/>
                </a:cubicBezTo>
                <a:cubicBezTo>
                  <a:pt x="81" y="186"/>
                  <a:pt x="69" y="184"/>
                  <a:pt x="57" y="179"/>
                </a:cubicBezTo>
                <a:cubicBezTo>
                  <a:pt x="46" y="175"/>
                  <a:pt x="36" y="168"/>
                  <a:pt x="27" y="159"/>
                </a:cubicBezTo>
                <a:cubicBezTo>
                  <a:pt x="19" y="151"/>
                  <a:pt x="12" y="141"/>
                  <a:pt x="7" y="129"/>
                </a:cubicBezTo>
                <a:cubicBezTo>
                  <a:pt x="3" y="118"/>
                  <a:pt x="0" y="106"/>
                  <a:pt x="0" y="94"/>
                </a:cubicBezTo>
                <a:cubicBezTo>
                  <a:pt x="0" y="82"/>
                  <a:pt x="3" y="70"/>
                  <a:pt x="7" y="58"/>
                </a:cubicBezTo>
                <a:cubicBezTo>
                  <a:pt x="12" y="47"/>
                  <a:pt x="19" y="37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9" y="3"/>
                  <a:pt x="81" y="0"/>
                  <a:pt x="93" y="0"/>
                </a:cubicBezTo>
                <a:cubicBezTo>
                  <a:pt x="105" y="0"/>
                  <a:pt x="117" y="3"/>
                  <a:pt x="128" y="7"/>
                </a:cubicBezTo>
                <a:cubicBezTo>
                  <a:pt x="140" y="12"/>
                  <a:pt x="150" y="19"/>
                  <a:pt x="158" y="28"/>
                </a:cubicBezTo>
                <a:cubicBezTo>
                  <a:pt x="167" y="37"/>
                  <a:pt x="175" y="47"/>
                  <a:pt x="179" y="58"/>
                </a:cubicBezTo>
                <a:cubicBezTo>
                  <a:pt x="184" y="70"/>
                  <a:pt x="186" y="82"/>
                  <a:pt x="186" y="94"/>
                </a:cubicBezTo>
                <a:close/>
              </a:path>
            </a:pathLst>
          </a:custGeom>
          <a:solidFill>
            <a:srgbClr val="0a538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1168200" y="4642200"/>
            <a:ext cx="461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conditions, not just knowing the right method.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1168200" y="4994640"/>
            <a:ext cx="994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This mirrors L3.1's systemic-vs-systematic distinction: a method alone doesn't guarantee systematic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 txBox="1"/>
          <p:nvPr/>
        </p:nvSpPr>
        <p:spPr>
          <a:xfrm>
            <a:off x="1168200" y="5299560"/>
            <a:ext cx="5215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600" strike="noStrike" u="none">
                <a:solidFill>
                  <a:srgbClr val="1f2328"/>
                </a:solidFill>
                <a:effectLst/>
                <a:uFillTx/>
                <a:latin typeface="LucidaGrande"/>
                <a:ea typeface="LucidaGrande"/>
              </a:rPr>
              <a:t>practice — the surrounding system has to support it.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1238400" y="6405120"/>
            <a:ext cx="10465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05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SEAtS | 661057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762120" y="372600"/>
            <a:ext cx="3480480" cy="718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8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Conclusion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685440" y="6343560"/>
            <a:ext cx="381600" cy="304920"/>
          </a:xfrm>
          <a:custGeom>
            <a:avLst/>
            <a:gdLst/>
            <a:ahLst/>
            <a:rect l="0" t="0" r="r" b="b"/>
            <a:pathLst>
              <a:path w="1060" h="847">
                <a:moveTo>
                  <a:pt x="0" y="423"/>
                </a:move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lnTo>
                  <a:pt x="635" y="0"/>
                </a:lnTo>
                <a:cubicBezTo>
                  <a:pt x="663" y="0"/>
                  <a:pt x="691" y="2"/>
                  <a:pt x="718" y="8"/>
                </a:cubicBezTo>
                <a:cubicBezTo>
                  <a:pt x="746" y="13"/>
                  <a:pt x="773" y="21"/>
                  <a:pt x="799" y="32"/>
                </a:cubicBezTo>
                <a:cubicBezTo>
                  <a:pt x="824" y="43"/>
                  <a:pt x="849" y="56"/>
                  <a:pt x="872" y="71"/>
                </a:cubicBezTo>
                <a:cubicBezTo>
                  <a:pt x="895" y="87"/>
                  <a:pt x="916" y="104"/>
                  <a:pt x="936" y="124"/>
                </a:cubicBezTo>
                <a:cubicBezTo>
                  <a:pt x="955" y="143"/>
                  <a:pt x="973" y="165"/>
                  <a:pt x="988" y="188"/>
                </a:cubicBezTo>
                <a:cubicBezTo>
                  <a:pt x="1004" y="211"/>
                  <a:pt x="1017" y="235"/>
                  <a:pt x="1028" y="261"/>
                </a:cubicBezTo>
                <a:cubicBezTo>
                  <a:pt x="1038" y="287"/>
                  <a:pt x="1046" y="313"/>
                  <a:pt x="1052" y="340"/>
                </a:cubicBezTo>
                <a:cubicBezTo>
                  <a:pt x="1057" y="368"/>
                  <a:pt x="1060" y="395"/>
                  <a:pt x="1060" y="423"/>
                </a:cubicBezTo>
                <a:cubicBezTo>
                  <a:pt x="1060" y="451"/>
                  <a:pt x="1057" y="478"/>
                  <a:pt x="1052" y="506"/>
                </a:cubicBezTo>
                <a:cubicBezTo>
                  <a:pt x="1046" y="533"/>
                  <a:pt x="1038" y="559"/>
                  <a:pt x="1028" y="586"/>
                </a:cubicBezTo>
                <a:cubicBezTo>
                  <a:pt x="1017" y="612"/>
                  <a:pt x="1004" y="636"/>
                  <a:pt x="988" y="659"/>
                </a:cubicBezTo>
                <a:cubicBezTo>
                  <a:pt x="973" y="682"/>
                  <a:pt x="955" y="704"/>
                  <a:pt x="936" y="723"/>
                </a:cubicBezTo>
                <a:cubicBezTo>
                  <a:pt x="916" y="743"/>
                  <a:pt x="895" y="761"/>
                  <a:pt x="872" y="776"/>
                </a:cubicBezTo>
                <a:cubicBezTo>
                  <a:pt x="849" y="792"/>
                  <a:pt x="824" y="805"/>
                  <a:pt x="799" y="815"/>
                </a:cubicBezTo>
                <a:cubicBezTo>
                  <a:pt x="773" y="826"/>
                  <a:pt x="746" y="834"/>
                  <a:pt x="718" y="839"/>
                </a:cubicBezTo>
                <a:cubicBezTo>
                  <a:pt x="691" y="845"/>
                  <a:pt x="663" y="847"/>
                  <a:pt x="635" y="847"/>
                </a:cubicBezTo>
                <a:lnTo>
                  <a:pt x="424" y="847"/>
                </a:ln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59"/>
                  <a:pt x="14" y="533"/>
                  <a:pt x="9" y="506"/>
                </a:cubicBezTo>
                <a:cubicBezTo>
                  <a:pt x="3" y="478"/>
                  <a:pt x="0" y="451"/>
                  <a:pt x="0" y="423"/>
                </a:cubicBezTo>
                <a:close/>
              </a:path>
            </a:pathLst>
          </a:custGeom>
          <a:solidFill>
            <a:srgbClr val="ffffff">
              <a:alpha val="74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1238400" y="6569280"/>
            <a:ext cx="316944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800" strike="noStrike" u="none">
                <a:solidFill>
                  <a:srgbClr val="a6a6a6"/>
                </a:solidFill>
                <a:effectLst/>
                <a:uFillTx/>
                <a:latin typeface="LucidaGrande"/>
                <a:ea typeface="LucidaGrande"/>
              </a:rPr>
              <a:t>Version: 19d8ced | © 05.10.2026 University of Southampton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 txBox="1"/>
          <p:nvPr/>
        </p:nvSpPr>
        <p:spPr>
          <a:xfrm>
            <a:off x="762120" y="6390720"/>
            <a:ext cx="226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0a5387"/>
                </a:solidFill>
                <a:effectLst/>
                <a:uFillTx/>
                <a:latin typeface="LucidaGrande"/>
                <a:ea typeface="LucidaGrande"/>
              </a:rPr>
              <a:t>26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69b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901" name="" descr=""/>
          <p:cNvPicPr/>
          <p:nvPr/>
        </p:nvPicPr>
        <p:blipFill>
          <a:blip r:embed="rId1"/>
          <a:stretch/>
        </p:blipFill>
        <p:spPr>
          <a:xfrm>
            <a:off x="6324480" y="2695680"/>
            <a:ext cx="5714640" cy="3209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2" name=""/>
          <p:cNvSpPr txBox="1"/>
          <p:nvPr/>
        </p:nvSpPr>
        <p:spPr>
          <a:xfrm>
            <a:off x="857160" y="2437920"/>
            <a:ext cx="20178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Dr Nawfal Al Hashimy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857160" y="2704680"/>
            <a:ext cx="296604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Lecturer in Cyber Physical Security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 txBox="1"/>
          <p:nvPr/>
        </p:nvSpPr>
        <p:spPr>
          <a:xfrm>
            <a:off x="857160" y="3123720"/>
            <a:ext cx="56833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University of Southampton </a:t>
            </a: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| Faculty of Engineering and Physical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857160" y="3390480"/>
            <a:ext cx="7311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Sciences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857160" y="3657240"/>
            <a:ext cx="34272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Cyber Physical Systems Research Group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857160" y="4087440"/>
            <a:ext cx="178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HiraginoSans-W3"/>
                <a:ea typeface="HiraginoSans-W3"/>
              </a:rPr>
              <a:t>☎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 txBox="1"/>
          <p:nvPr/>
        </p:nvSpPr>
        <p:spPr>
          <a:xfrm>
            <a:off x="1035000" y="4076280"/>
            <a:ext cx="20062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 +44 (0) 23 8059 6659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 txBox="1"/>
          <p:nvPr/>
        </p:nvSpPr>
        <p:spPr>
          <a:xfrm>
            <a:off x="857160" y="4495320"/>
            <a:ext cx="19512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@ Nawfal@soton.ac.uk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 txBox="1"/>
          <p:nvPr/>
        </p:nvSpPr>
        <p:spPr>
          <a:xfrm>
            <a:off x="857160" y="4914360"/>
            <a:ext cx="37569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Highﬁeld Campus, Building 53, Room 4049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 txBox="1"/>
          <p:nvPr/>
        </p:nvSpPr>
        <p:spPr>
          <a:xfrm>
            <a:off x="857160" y="5181120"/>
            <a:ext cx="363564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Burgess Road, Southampton SO17 1BJ, UK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 txBox="1"/>
          <p:nvPr/>
        </p:nvSpPr>
        <p:spPr>
          <a:xfrm>
            <a:off x="857160" y="634680"/>
            <a:ext cx="4140000" cy="896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Thank you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LibreOffice/25.2.5.2$MacOSX_AARCH64 LibreOffice_project/03d19516eb2e1dd5d4ccd751a0d6f35f35e08022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