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 txBox="1"/>
          <p:nvPr/>
        </p:nvSpPr>
        <p:spPr>
          <a:xfrm>
            <a:off x="762120" y="5183640"/>
            <a:ext cx="1905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62120" y="2454120"/>
            <a:ext cx="962136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Systems Theoretical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2120" y="3349440"/>
            <a:ext cx="450396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Perspective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62120" y="4483800"/>
            <a:ext cx="616068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 Quiet Revolution in Science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4095720" y="1565640"/>
            <a:ext cx="4448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By the end of this lecture, you will be able to: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244760" y="2022840"/>
            <a:ext cx="7096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Explain reductionism and trace it to Descartes' Cartesian dualism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502160" y="2327760"/>
            <a:ext cx="3084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Newton's mechanistic universe.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244760" y="2689560"/>
            <a:ext cx="7103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Deﬁne emergence and use examples to explain why parts alone don't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502160" y="2994480"/>
            <a:ext cx="1530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explain wholes.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244760" y="3346920"/>
            <a:ext cx="6580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Distinguish the systems theoretical perspective, systems theory,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502160" y="3651480"/>
            <a:ext cx="4235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thinking, and systems philosophy.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244760" y="4003920"/>
            <a:ext cx="6577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Describe the "funnel model" of systems-theoretical theories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4502160" y="4308840"/>
            <a:ext cx="2217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critique its limitations.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244760" y="4670640"/>
            <a:ext cx="6838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Evaluate the ethical implications of systems thinking, contrasting 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502160" y="4975560"/>
            <a:ext cx="423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holistic reading against a technocratic one.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46920" y="381960"/>
            <a:ext cx="2772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Intended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58800" y="1296360"/>
            <a:ext cx="2748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Learning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55040" y="2210760"/>
            <a:ext cx="3156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Outcomes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"/>
          <p:cNvSpPr/>
          <p:nvPr/>
        </p:nvSpPr>
        <p:spPr>
          <a:xfrm>
            <a:off x="4448160" y="7714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8" y="200"/>
                  <a:pt x="239" y="214"/>
                  <a:pt x="226" y="226"/>
                </a:cubicBezTo>
                <a:cubicBezTo>
                  <a:pt x="214" y="239"/>
                  <a:pt x="200" y="248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7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7"/>
                  <a:pt x="265" y="115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4448160" y="13046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5"/>
                  <a:pt x="226" y="227"/>
                </a:cubicBezTo>
                <a:cubicBezTo>
                  <a:pt x="214" y="240"/>
                  <a:pt x="200" y="249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9"/>
                  <a:pt x="51" y="240"/>
                  <a:pt x="38" y="227"/>
                </a:cubicBezTo>
                <a:cubicBezTo>
                  <a:pt x="26" y="215"/>
                  <a:pt x="16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705200" y="619560"/>
            <a:ext cx="34639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What Is System Theory?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4448160" y="18381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2" y="255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5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6" y="66"/>
                  <a:pt x="26" y="52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2"/>
                  <a:pt x="248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705200" y="1153080"/>
            <a:ext cx="39013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What Is Systems Thinking?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4448160" y="23716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8" y="200"/>
                  <a:pt x="239" y="214"/>
                  <a:pt x="226" y="226"/>
                </a:cubicBezTo>
                <a:cubicBezTo>
                  <a:pt x="214" y="239"/>
                  <a:pt x="200" y="248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705200" y="1686600"/>
            <a:ext cx="51105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The Evolution of Systems Thinking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4448160" y="2904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9"/>
                  <a:pt x="51" y="239"/>
                  <a:pt x="38" y="226"/>
                </a:cubicBezTo>
                <a:cubicBezTo>
                  <a:pt x="26" y="214"/>
                  <a:pt x="16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705200" y="2219760"/>
            <a:ext cx="34718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Two Ways to See a Tree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4448160" y="34383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2" y="255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5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705200" y="2753280"/>
            <a:ext cx="575568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Reductionism: The Clockwork Universe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4448160" y="39718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3"/>
                </a:cubicBezTo>
                <a:cubicBezTo>
                  <a:pt x="248" y="200"/>
                  <a:pt x="239" y="214"/>
                  <a:pt x="226" y="226"/>
                </a:cubicBezTo>
                <a:cubicBezTo>
                  <a:pt x="214" y="239"/>
                  <a:pt x="200" y="248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200"/>
                  <a:pt x="10" y="183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705200" y="3286800"/>
            <a:ext cx="64551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Emergence: Why Parts Don't Explain Wholes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4448160" y="45050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40"/>
                  <a:pt x="200" y="249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9"/>
                  <a:pt x="51" y="240"/>
                  <a:pt x="38" y="227"/>
                </a:cubicBezTo>
                <a:cubicBezTo>
                  <a:pt x="26" y="215"/>
                  <a:pt x="16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6" y="67"/>
                  <a:pt x="26" y="52"/>
                  <a:pt x="38" y="40"/>
                </a:cubicBezTo>
                <a:cubicBezTo>
                  <a:pt x="51" y="28"/>
                  <a:pt x="65" y="17"/>
                  <a:pt x="81" y="10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0"/>
                </a:cubicBezTo>
                <a:cubicBezTo>
                  <a:pt x="200" y="17"/>
                  <a:pt x="214" y="28"/>
                  <a:pt x="226" y="40"/>
                </a:cubicBezTo>
                <a:cubicBezTo>
                  <a:pt x="239" y="52"/>
                  <a:pt x="248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4705200" y="3819960"/>
            <a:ext cx="41335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The Interdisciplinary Insight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4448160" y="50385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2" y="255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5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705200" y="4353480"/>
            <a:ext cx="613620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Terminology: One Umbrella, Three Terms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4448160" y="5572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3"/>
                </a:cubicBezTo>
                <a:cubicBezTo>
                  <a:pt x="248" y="199"/>
                  <a:pt x="239" y="213"/>
                  <a:pt x="226" y="225"/>
                </a:cubicBezTo>
                <a:cubicBezTo>
                  <a:pt x="214" y="239"/>
                  <a:pt x="200" y="248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8"/>
                  <a:pt x="51" y="239"/>
                  <a:pt x="38" y="225"/>
                </a:cubicBezTo>
                <a:cubicBezTo>
                  <a:pt x="26" y="213"/>
                  <a:pt x="16" y="199"/>
                  <a:pt x="10" y="183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705200" y="4887000"/>
            <a:ext cx="263376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The Funnel Model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4448160" y="61052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40"/>
                  <a:pt x="200" y="249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9"/>
                  <a:pt x="51" y="240"/>
                  <a:pt x="38" y="227"/>
                </a:cubicBezTo>
                <a:cubicBezTo>
                  <a:pt x="26" y="215"/>
                  <a:pt x="16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4705200" y="5420160"/>
            <a:ext cx="286488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Ethical Implications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705200" y="5953680"/>
            <a:ext cx="16412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Conclusion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47440" y="381960"/>
            <a:ext cx="2371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Agenda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/>
          <p:cNvSpPr/>
          <p:nvPr/>
        </p:nvSpPr>
        <p:spPr>
          <a:xfrm>
            <a:off x="971280" y="43812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62120" y="3832560"/>
            <a:ext cx="1549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Core principles: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971280" y="4733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168200" y="4289760"/>
            <a:ext cx="5136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Interdependence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components rely on each other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971280" y="5095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6"/>
                  <a:pt x="140" y="173"/>
                  <a:pt x="128" y="178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8"/>
                </a:cubicBezTo>
                <a:cubicBezTo>
                  <a:pt x="46" y="173"/>
                  <a:pt x="36" y="166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168200" y="4642200"/>
            <a:ext cx="5693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Feedback loops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systems respond to their own outputs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971280" y="54482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68200" y="5004360"/>
            <a:ext cx="5401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Hierarchical structure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systems nest within systems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168200" y="5356440"/>
            <a:ext cx="6456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Equiﬁnality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multiple pathways can produce the same outcome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766440" y="2081160"/>
            <a:ext cx="10658880" cy="1600560"/>
          </a:xfrm>
          <a:custGeom>
            <a:avLst/>
            <a:gdLst/>
            <a:ahLst/>
            <a:rect l="0" t="0" r="r" b="b"/>
            <a:pathLst>
              <a:path w="29608" h="4446">
                <a:moveTo>
                  <a:pt x="0" y="430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300"/>
                </a:lnTo>
                <a:cubicBezTo>
                  <a:pt x="29608" y="4310"/>
                  <a:pt x="29607" y="4319"/>
                  <a:pt x="29605" y="4329"/>
                </a:cubicBezTo>
                <a:cubicBezTo>
                  <a:pt x="29604" y="4338"/>
                  <a:pt x="29601" y="4347"/>
                  <a:pt x="29597" y="4356"/>
                </a:cubicBezTo>
                <a:cubicBezTo>
                  <a:pt x="29594" y="4365"/>
                  <a:pt x="29589" y="4373"/>
                  <a:pt x="29584" y="4381"/>
                </a:cubicBezTo>
                <a:cubicBezTo>
                  <a:pt x="29578" y="4389"/>
                  <a:pt x="29572" y="4396"/>
                  <a:pt x="29566" y="4403"/>
                </a:cubicBezTo>
                <a:cubicBezTo>
                  <a:pt x="29559" y="4410"/>
                  <a:pt x="29552" y="4416"/>
                  <a:pt x="29544" y="4421"/>
                </a:cubicBezTo>
                <a:cubicBezTo>
                  <a:pt x="29536" y="4426"/>
                  <a:pt x="29527" y="4431"/>
                  <a:pt x="29518" y="4435"/>
                </a:cubicBezTo>
                <a:cubicBezTo>
                  <a:pt x="29510" y="4438"/>
                  <a:pt x="29501" y="4441"/>
                  <a:pt x="29491" y="4443"/>
                </a:cubicBezTo>
                <a:cubicBezTo>
                  <a:pt x="29482" y="4445"/>
                  <a:pt x="29472" y="4446"/>
                  <a:pt x="29463" y="4446"/>
                </a:cubicBezTo>
                <a:lnTo>
                  <a:pt x="146" y="4446"/>
                </a:lnTo>
                <a:cubicBezTo>
                  <a:pt x="136" y="4446"/>
                  <a:pt x="127" y="4445"/>
                  <a:pt x="118" y="4443"/>
                </a:cubicBezTo>
                <a:cubicBezTo>
                  <a:pt x="108" y="4441"/>
                  <a:pt x="99" y="4438"/>
                  <a:pt x="90" y="4435"/>
                </a:cubicBezTo>
                <a:cubicBezTo>
                  <a:pt x="81" y="4431"/>
                  <a:pt x="73" y="4426"/>
                  <a:pt x="65" y="4421"/>
                </a:cubicBezTo>
                <a:cubicBezTo>
                  <a:pt x="57" y="4416"/>
                  <a:pt x="50" y="4410"/>
                  <a:pt x="43" y="4403"/>
                </a:cubicBezTo>
                <a:cubicBezTo>
                  <a:pt x="36" y="4396"/>
                  <a:pt x="30" y="4389"/>
                  <a:pt x="25" y="4381"/>
                </a:cubicBezTo>
                <a:cubicBezTo>
                  <a:pt x="20" y="4373"/>
                  <a:pt x="15" y="4365"/>
                  <a:pt x="11" y="4356"/>
                </a:cubicBezTo>
                <a:cubicBezTo>
                  <a:pt x="8" y="4347"/>
                  <a:pt x="5" y="4338"/>
                  <a:pt x="3" y="4329"/>
                </a:cubicBezTo>
                <a:cubicBezTo>
                  <a:pt x="1" y="4319"/>
                  <a:pt x="0" y="4310"/>
                  <a:pt x="0" y="430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766440" y="2081160"/>
            <a:ext cx="10658880" cy="1600560"/>
          </a:xfrm>
          <a:custGeom>
            <a:avLst/>
            <a:gdLst/>
            <a:ahLst/>
            <a:rect l="0" t="0" r="r" b="b"/>
            <a:pathLst>
              <a:path fill="none" w="29608" h="4446">
                <a:moveTo>
                  <a:pt x="0" y="430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300"/>
                </a:lnTo>
                <a:cubicBezTo>
                  <a:pt x="29608" y="4310"/>
                  <a:pt x="29607" y="4319"/>
                  <a:pt x="29605" y="4329"/>
                </a:cubicBezTo>
                <a:cubicBezTo>
                  <a:pt x="29604" y="4338"/>
                  <a:pt x="29601" y="4347"/>
                  <a:pt x="29597" y="4356"/>
                </a:cubicBezTo>
                <a:cubicBezTo>
                  <a:pt x="29594" y="4365"/>
                  <a:pt x="29589" y="4373"/>
                  <a:pt x="29584" y="4381"/>
                </a:cubicBezTo>
                <a:cubicBezTo>
                  <a:pt x="29578" y="4389"/>
                  <a:pt x="29572" y="4396"/>
                  <a:pt x="29566" y="4403"/>
                </a:cubicBezTo>
                <a:cubicBezTo>
                  <a:pt x="29559" y="4410"/>
                  <a:pt x="29552" y="4416"/>
                  <a:pt x="29544" y="4421"/>
                </a:cubicBezTo>
                <a:cubicBezTo>
                  <a:pt x="29536" y="4426"/>
                  <a:pt x="29527" y="4431"/>
                  <a:pt x="29518" y="4435"/>
                </a:cubicBezTo>
                <a:cubicBezTo>
                  <a:pt x="29510" y="4438"/>
                  <a:pt x="29501" y="4441"/>
                  <a:pt x="29491" y="4443"/>
                </a:cubicBezTo>
                <a:cubicBezTo>
                  <a:pt x="29482" y="4445"/>
                  <a:pt x="29472" y="4446"/>
                  <a:pt x="29463" y="4446"/>
                </a:cubicBezTo>
                <a:lnTo>
                  <a:pt x="146" y="4446"/>
                </a:lnTo>
                <a:cubicBezTo>
                  <a:pt x="136" y="4446"/>
                  <a:pt x="127" y="4445"/>
                  <a:pt x="118" y="4443"/>
                </a:cubicBezTo>
                <a:cubicBezTo>
                  <a:pt x="108" y="4441"/>
                  <a:pt x="99" y="4438"/>
                  <a:pt x="90" y="4435"/>
                </a:cubicBezTo>
                <a:cubicBezTo>
                  <a:pt x="81" y="4431"/>
                  <a:pt x="73" y="4426"/>
                  <a:pt x="65" y="4421"/>
                </a:cubicBezTo>
                <a:cubicBezTo>
                  <a:pt x="57" y="4416"/>
                  <a:pt x="50" y="4410"/>
                  <a:pt x="43" y="4403"/>
                </a:cubicBezTo>
                <a:cubicBezTo>
                  <a:pt x="36" y="4396"/>
                  <a:pt x="30" y="4389"/>
                  <a:pt x="25" y="4381"/>
                </a:cubicBezTo>
                <a:cubicBezTo>
                  <a:pt x="20" y="4373"/>
                  <a:pt x="15" y="4365"/>
                  <a:pt x="11" y="4356"/>
                </a:cubicBezTo>
                <a:cubicBezTo>
                  <a:pt x="8" y="4347"/>
                  <a:pt x="5" y="4338"/>
                  <a:pt x="3" y="4329"/>
                </a:cubicBezTo>
                <a:cubicBezTo>
                  <a:pt x="1" y="4319"/>
                  <a:pt x="0" y="4310"/>
                  <a:pt x="0" y="430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762120" y="372600"/>
            <a:ext cx="74538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What Is System Theory?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923760" y="2284560"/>
            <a:ext cx="120492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Deﬁnition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923760" y="2747160"/>
            <a:ext cx="9774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 theory is a transdisciplinary framework for understanding how complex entities function as integrated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923760" y="3013920"/>
            <a:ext cx="9757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wholes — examining systems through their components, relationships, and emergent behaviours, rather than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923760" y="3290400"/>
            <a:ext cx="2252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isolating individual parts.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"/>
          <p:cNvSpPr/>
          <p:nvPr/>
        </p:nvSpPr>
        <p:spPr>
          <a:xfrm>
            <a:off x="971280" y="3876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8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971280" y="42382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168200" y="3785040"/>
            <a:ext cx="4525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Sensor failures cascade into control instability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971280" y="459072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7" y="151"/>
                  <a:pt x="158" y="160"/>
                </a:cubicBezTo>
                <a:cubicBezTo>
                  <a:pt x="150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168200" y="4146840"/>
            <a:ext cx="6513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Code updates alter how systems respond to real-world conditions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168200" y="4499280"/>
            <a:ext cx="532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Security threats can destabilize physical infrastructure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766440" y="2309760"/>
            <a:ext cx="10658880" cy="1324080"/>
          </a:xfrm>
          <a:custGeom>
            <a:avLst/>
            <a:gdLst/>
            <a:ahLst/>
            <a:rect l="0" t="0" r="r" b="b"/>
            <a:pathLst>
              <a:path w="29608" h="3678">
                <a:moveTo>
                  <a:pt x="0" y="35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533"/>
                </a:lnTo>
                <a:cubicBezTo>
                  <a:pt x="29608" y="3542"/>
                  <a:pt x="29607" y="3552"/>
                  <a:pt x="29605" y="3561"/>
                </a:cubicBezTo>
                <a:cubicBezTo>
                  <a:pt x="29604" y="3571"/>
                  <a:pt x="29601" y="3580"/>
                  <a:pt x="29597" y="3589"/>
                </a:cubicBezTo>
                <a:cubicBezTo>
                  <a:pt x="29594" y="3597"/>
                  <a:pt x="29589" y="3606"/>
                  <a:pt x="29584" y="3614"/>
                </a:cubicBezTo>
                <a:cubicBezTo>
                  <a:pt x="29578" y="3622"/>
                  <a:pt x="29572" y="3629"/>
                  <a:pt x="29566" y="3636"/>
                </a:cubicBezTo>
                <a:cubicBezTo>
                  <a:pt x="29559" y="3642"/>
                  <a:pt x="29552" y="3649"/>
                  <a:pt x="29544" y="3654"/>
                </a:cubicBezTo>
                <a:cubicBezTo>
                  <a:pt x="29536" y="3659"/>
                  <a:pt x="29527" y="3664"/>
                  <a:pt x="29518" y="3667"/>
                </a:cubicBezTo>
                <a:cubicBezTo>
                  <a:pt x="29510" y="3671"/>
                  <a:pt x="29501" y="3674"/>
                  <a:pt x="29491" y="3676"/>
                </a:cubicBezTo>
                <a:cubicBezTo>
                  <a:pt x="29482" y="3677"/>
                  <a:pt x="29472" y="3678"/>
                  <a:pt x="29463" y="3678"/>
                </a:cubicBezTo>
                <a:lnTo>
                  <a:pt x="146" y="3678"/>
                </a:lnTo>
                <a:cubicBezTo>
                  <a:pt x="136" y="3678"/>
                  <a:pt x="127" y="3677"/>
                  <a:pt x="118" y="3676"/>
                </a:cubicBezTo>
                <a:cubicBezTo>
                  <a:pt x="108" y="3674"/>
                  <a:pt x="99" y="3671"/>
                  <a:pt x="90" y="3667"/>
                </a:cubicBezTo>
                <a:cubicBezTo>
                  <a:pt x="81" y="3664"/>
                  <a:pt x="73" y="3659"/>
                  <a:pt x="65" y="3654"/>
                </a:cubicBezTo>
                <a:cubicBezTo>
                  <a:pt x="57" y="3649"/>
                  <a:pt x="50" y="3642"/>
                  <a:pt x="43" y="3636"/>
                </a:cubicBezTo>
                <a:cubicBezTo>
                  <a:pt x="36" y="3629"/>
                  <a:pt x="30" y="3622"/>
                  <a:pt x="25" y="3614"/>
                </a:cubicBezTo>
                <a:cubicBezTo>
                  <a:pt x="20" y="3606"/>
                  <a:pt x="15" y="3597"/>
                  <a:pt x="11" y="3589"/>
                </a:cubicBezTo>
                <a:cubicBezTo>
                  <a:pt x="8" y="3580"/>
                  <a:pt x="5" y="3571"/>
                  <a:pt x="3" y="3561"/>
                </a:cubicBezTo>
                <a:cubicBezTo>
                  <a:pt x="1" y="3552"/>
                  <a:pt x="0" y="3542"/>
                  <a:pt x="0" y="3533"/>
                </a:cubicBezTo>
                <a:close/>
              </a:path>
            </a:pathLst>
          </a:custGeom>
          <a:solidFill>
            <a:srgbClr val="e8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766440" y="2309760"/>
            <a:ext cx="10658880" cy="1324080"/>
          </a:xfrm>
          <a:custGeom>
            <a:avLst/>
            <a:gdLst/>
            <a:ahLst/>
            <a:rect l="0" t="0" r="r" b="b"/>
            <a:pathLst>
              <a:path fill="none" w="29608" h="3678">
                <a:moveTo>
                  <a:pt x="0" y="35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533"/>
                </a:lnTo>
                <a:cubicBezTo>
                  <a:pt x="29608" y="3542"/>
                  <a:pt x="29607" y="3552"/>
                  <a:pt x="29605" y="3561"/>
                </a:cubicBezTo>
                <a:cubicBezTo>
                  <a:pt x="29604" y="3571"/>
                  <a:pt x="29601" y="3580"/>
                  <a:pt x="29597" y="3589"/>
                </a:cubicBezTo>
                <a:cubicBezTo>
                  <a:pt x="29594" y="3597"/>
                  <a:pt x="29589" y="3606"/>
                  <a:pt x="29584" y="3614"/>
                </a:cubicBezTo>
                <a:cubicBezTo>
                  <a:pt x="29578" y="3622"/>
                  <a:pt x="29572" y="3629"/>
                  <a:pt x="29566" y="3636"/>
                </a:cubicBezTo>
                <a:cubicBezTo>
                  <a:pt x="29559" y="3642"/>
                  <a:pt x="29552" y="3649"/>
                  <a:pt x="29544" y="3654"/>
                </a:cubicBezTo>
                <a:cubicBezTo>
                  <a:pt x="29536" y="3659"/>
                  <a:pt x="29527" y="3664"/>
                  <a:pt x="29518" y="3667"/>
                </a:cubicBezTo>
                <a:cubicBezTo>
                  <a:pt x="29510" y="3671"/>
                  <a:pt x="29501" y="3674"/>
                  <a:pt x="29491" y="3676"/>
                </a:cubicBezTo>
                <a:cubicBezTo>
                  <a:pt x="29482" y="3677"/>
                  <a:pt x="29472" y="3678"/>
                  <a:pt x="29463" y="3678"/>
                </a:cubicBezTo>
                <a:lnTo>
                  <a:pt x="146" y="3678"/>
                </a:lnTo>
                <a:cubicBezTo>
                  <a:pt x="136" y="3678"/>
                  <a:pt x="127" y="3677"/>
                  <a:pt x="118" y="3676"/>
                </a:cubicBezTo>
                <a:cubicBezTo>
                  <a:pt x="108" y="3674"/>
                  <a:pt x="99" y="3671"/>
                  <a:pt x="90" y="3667"/>
                </a:cubicBezTo>
                <a:cubicBezTo>
                  <a:pt x="81" y="3664"/>
                  <a:pt x="73" y="3659"/>
                  <a:pt x="65" y="3654"/>
                </a:cubicBezTo>
                <a:cubicBezTo>
                  <a:pt x="57" y="3649"/>
                  <a:pt x="50" y="3642"/>
                  <a:pt x="43" y="3636"/>
                </a:cubicBezTo>
                <a:cubicBezTo>
                  <a:pt x="36" y="3629"/>
                  <a:pt x="30" y="3622"/>
                  <a:pt x="25" y="3614"/>
                </a:cubicBezTo>
                <a:cubicBezTo>
                  <a:pt x="20" y="3606"/>
                  <a:pt x="15" y="3597"/>
                  <a:pt x="11" y="3589"/>
                </a:cubicBezTo>
                <a:cubicBezTo>
                  <a:pt x="8" y="3580"/>
                  <a:pt x="5" y="3571"/>
                  <a:pt x="3" y="3561"/>
                </a:cubicBezTo>
                <a:cubicBezTo>
                  <a:pt x="1" y="3552"/>
                  <a:pt x="0" y="3542"/>
                  <a:pt x="0" y="3533"/>
                </a:cubicBezTo>
              </a:path>
            </a:pathLst>
          </a:custGeom>
          <a:ln w="9360">
            <a:solidFill>
              <a:srgbClr val="baf7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762120" y="372600"/>
            <a:ext cx="87386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Why System Theory Matters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23760" y="2513160"/>
            <a:ext cx="342396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For Cyber-Physical Systems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923760" y="2975760"/>
            <a:ext cx="10373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Traditional analysis breaks problems into components; system theory reveals how changes in one domain propagate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766440" y="4929120"/>
            <a:ext cx="10658880" cy="390600"/>
          </a:xfrm>
          <a:custGeom>
            <a:avLst/>
            <a:gdLst/>
            <a:ahLst/>
            <a:rect l="0" t="0" r="r" b="b"/>
            <a:pathLst>
              <a:path w="29608" h="1085">
                <a:moveTo>
                  <a:pt x="0" y="93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939"/>
                </a:lnTo>
                <a:cubicBezTo>
                  <a:pt x="29608" y="950"/>
                  <a:pt x="29607" y="959"/>
                  <a:pt x="29605" y="968"/>
                </a:cubicBezTo>
                <a:cubicBezTo>
                  <a:pt x="29604" y="978"/>
                  <a:pt x="29601" y="987"/>
                  <a:pt x="29597" y="996"/>
                </a:cubicBezTo>
                <a:cubicBezTo>
                  <a:pt x="29594" y="1004"/>
                  <a:pt x="29589" y="1013"/>
                  <a:pt x="29584" y="1021"/>
                </a:cubicBezTo>
                <a:cubicBezTo>
                  <a:pt x="29578" y="1029"/>
                  <a:pt x="29572" y="1036"/>
                  <a:pt x="29566" y="1043"/>
                </a:cubicBezTo>
                <a:cubicBezTo>
                  <a:pt x="29559" y="1050"/>
                  <a:pt x="29552" y="1056"/>
                  <a:pt x="29544" y="1061"/>
                </a:cubicBezTo>
                <a:cubicBezTo>
                  <a:pt x="29536" y="1066"/>
                  <a:pt x="29527" y="1071"/>
                  <a:pt x="29518" y="1074"/>
                </a:cubicBezTo>
                <a:cubicBezTo>
                  <a:pt x="29510" y="1078"/>
                  <a:pt x="29501" y="1081"/>
                  <a:pt x="29491" y="1083"/>
                </a:cubicBezTo>
                <a:cubicBezTo>
                  <a:pt x="29482" y="1085"/>
                  <a:pt x="29472" y="1085"/>
                  <a:pt x="29463" y="1085"/>
                </a:cubicBezTo>
                <a:lnTo>
                  <a:pt x="146" y="1085"/>
                </a:lnTo>
                <a:cubicBezTo>
                  <a:pt x="136" y="1085"/>
                  <a:pt x="127" y="1085"/>
                  <a:pt x="118" y="1083"/>
                </a:cubicBezTo>
                <a:cubicBezTo>
                  <a:pt x="108" y="1081"/>
                  <a:pt x="99" y="1078"/>
                  <a:pt x="90" y="1074"/>
                </a:cubicBezTo>
                <a:cubicBezTo>
                  <a:pt x="81" y="1071"/>
                  <a:pt x="73" y="1066"/>
                  <a:pt x="65" y="1061"/>
                </a:cubicBezTo>
                <a:cubicBezTo>
                  <a:pt x="57" y="1056"/>
                  <a:pt x="50" y="1050"/>
                  <a:pt x="43" y="1043"/>
                </a:cubicBezTo>
                <a:cubicBezTo>
                  <a:pt x="36" y="1036"/>
                  <a:pt x="30" y="1029"/>
                  <a:pt x="25" y="1021"/>
                </a:cubicBezTo>
                <a:cubicBezTo>
                  <a:pt x="20" y="1013"/>
                  <a:pt x="15" y="1004"/>
                  <a:pt x="11" y="996"/>
                </a:cubicBezTo>
                <a:cubicBezTo>
                  <a:pt x="8" y="987"/>
                  <a:pt x="5" y="978"/>
                  <a:pt x="3" y="968"/>
                </a:cubicBezTo>
                <a:cubicBezTo>
                  <a:pt x="1" y="959"/>
                  <a:pt x="0" y="950"/>
                  <a:pt x="0" y="939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66440" y="4929120"/>
            <a:ext cx="10658880" cy="390600"/>
          </a:xfrm>
          <a:custGeom>
            <a:avLst/>
            <a:gdLst/>
            <a:ahLst/>
            <a:rect l="0" t="0" r="r" b="b"/>
            <a:pathLst>
              <a:path fill="none" w="29608" h="1085">
                <a:moveTo>
                  <a:pt x="0" y="93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939"/>
                </a:lnTo>
                <a:cubicBezTo>
                  <a:pt x="29608" y="950"/>
                  <a:pt x="29607" y="959"/>
                  <a:pt x="29605" y="968"/>
                </a:cubicBezTo>
                <a:cubicBezTo>
                  <a:pt x="29604" y="978"/>
                  <a:pt x="29601" y="987"/>
                  <a:pt x="29597" y="996"/>
                </a:cubicBezTo>
                <a:cubicBezTo>
                  <a:pt x="29594" y="1004"/>
                  <a:pt x="29589" y="1013"/>
                  <a:pt x="29584" y="1021"/>
                </a:cubicBezTo>
                <a:cubicBezTo>
                  <a:pt x="29578" y="1029"/>
                  <a:pt x="29572" y="1036"/>
                  <a:pt x="29566" y="1043"/>
                </a:cubicBezTo>
                <a:cubicBezTo>
                  <a:pt x="29559" y="1050"/>
                  <a:pt x="29552" y="1056"/>
                  <a:pt x="29544" y="1061"/>
                </a:cubicBezTo>
                <a:cubicBezTo>
                  <a:pt x="29536" y="1066"/>
                  <a:pt x="29527" y="1071"/>
                  <a:pt x="29518" y="1074"/>
                </a:cubicBezTo>
                <a:cubicBezTo>
                  <a:pt x="29510" y="1078"/>
                  <a:pt x="29501" y="1081"/>
                  <a:pt x="29491" y="1083"/>
                </a:cubicBezTo>
                <a:cubicBezTo>
                  <a:pt x="29482" y="1085"/>
                  <a:pt x="29472" y="1085"/>
                  <a:pt x="29463" y="1085"/>
                </a:cubicBezTo>
                <a:lnTo>
                  <a:pt x="146" y="1085"/>
                </a:lnTo>
                <a:cubicBezTo>
                  <a:pt x="136" y="1085"/>
                  <a:pt x="127" y="1085"/>
                  <a:pt x="118" y="1083"/>
                </a:cubicBezTo>
                <a:cubicBezTo>
                  <a:pt x="108" y="1081"/>
                  <a:pt x="99" y="1078"/>
                  <a:pt x="90" y="1074"/>
                </a:cubicBezTo>
                <a:cubicBezTo>
                  <a:pt x="81" y="1071"/>
                  <a:pt x="73" y="1066"/>
                  <a:pt x="65" y="1061"/>
                </a:cubicBezTo>
                <a:cubicBezTo>
                  <a:pt x="57" y="1056"/>
                  <a:pt x="50" y="1050"/>
                  <a:pt x="43" y="1043"/>
                </a:cubicBezTo>
                <a:cubicBezTo>
                  <a:pt x="36" y="1036"/>
                  <a:pt x="30" y="1029"/>
                  <a:pt x="25" y="1021"/>
                </a:cubicBezTo>
                <a:cubicBezTo>
                  <a:pt x="20" y="1013"/>
                  <a:pt x="15" y="1004"/>
                  <a:pt x="11" y="996"/>
                </a:cubicBezTo>
                <a:cubicBezTo>
                  <a:pt x="8" y="987"/>
                  <a:pt x="5" y="978"/>
                  <a:pt x="3" y="968"/>
                </a:cubicBezTo>
                <a:cubicBezTo>
                  <a:pt x="1" y="959"/>
                  <a:pt x="0" y="950"/>
                  <a:pt x="0" y="939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923760" y="3252240"/>
            <a:ext cx="3585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through feedback loops to aﬀect others.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85960" y="5019120"/>
            <a:ext cx="73004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 theory is not a luxury — it is necessary for safe, robust, and resilient design.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"/>
          <p:cNvSpPr/>
          <p:nvPr/>
        </p:nvSpPr>
        <p:spPr>
          <a:xfrm>
            <a:off x="971280" y="43812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62120" y="3832560"/>
            <a:ext cx="1360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Key practices: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971280" y="47336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168200" y="4289760"/>
            <a:ext cx="4155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Mapping system structure and boundaries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971280" y="5095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6"/>
                  <a:pt x="140" y="173"/>
                  <a:pt x="128" y="178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8"/>
                </a:cubicBezTo>
                <a:cubicBezTo>
                  <a:pt x="46" y="173"/>
                  <a:pt x="36" y="166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168200" y="4642200"/>
            <a:ext cx="5192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Identifying reinforcing and balancing feedback loops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971280" y="54482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168200" y="5004360"/>
            <a:ext cx="493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Recognizing non-linear cause-eﬀect relationships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168200" y="5356440"/>
            <a:ext cx="5966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Tracing how changes propagate across the system over time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766440" y="2081160"/>
            <a:ext cx="10658880" cy="1600560"/>
          </a:xfrm>
          <a:custGeom>
            <a:avLst/>
            <a:gdLst/>
            <a:ahLst/>
            <a:rect l="0" t="0" r="r" b="b"/>
            <a:pathLst>
              <a:path w="29608" h="4446">
                <a:moveTo>
                  <a:pt x="0" y="430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300"/>
                </a:lnTo>
                <a:cubicBezTo>
                  <a:pt x="29608" y="4310"/>
                  <a:pt x="29607" y="4319"/>
                  <a:pt x="29605" y="4329"/>
                </a:cubicBezTo>
                <a:cubicBezTo>
                  <a:pt x="29604" y="4338"/>
                  <a:pt x="29601" y="4347"/>
                  <a:pt x="29597" y="4356"/>
                </a:cubicBezTo>
                <a:cubicBezTo>
                  <a:pt x="29594" y="4365"/>
                  <a:pt x="29589" y="4373"/>
                  <a:pt x="29584" y="4381"/>
                </a:cubicBezTo>
                <a:cubicBezTo>
                  <a:pt x="29578" y="4389"/>
                  <a:pt x="29572" y="4396"/>
                  <a:pt x="29566" y="4403"/>
                </a:cubicBezTo>
                <a:cubicBezTo>
                  <a:pt x="29559" y="4410"/>
                  <a:pt x="29552" y="4416"/>
                  <a:pt x="29544" y="4421"/>
                </a:cubicBezTo>
                <a:cubicBezTo>
                  <a:pt x="29536" y="4426"/>
                  <a:pt x="29527" y="4431"/>
                  <a:pt x="29518" y="4435"/>
                </a:cubicBezTo>
                <a:cubicBezTo>
                  <a:pt x="29510" y="4438"/>
                  <a:pt x="29501" y="4441"/>
                  <a:pt x="29491" y="4443"/>
                </a:cubicBezTo>
                <a:cubicBezTo>
                  <a:pt x="29482" y="4445"/>
                  <a:pt x="29472" y="4446"/>
                  <a:pt x="29463" y="4446"/>
                </a:cubicBezTo>
                <a:lnTo>
                  <a:pt x="146" y="4446"/>
                </a:lnTo>
                <a:cubicBezTo>
                  <a:pt x="136" y="4446"/>
                  <a:pt x="127" y="4445"/>
                  <a:pt x="118" y="4443"/>
                </a:cubicBezTo>
                <a:cubicBezTo>
                  <a:pt x="108" y="4441"/>
                  <a:pt x="99" y="4438"/>
                  <a:pt x="90" y="4435"/>
                </a:cubicBezTo>
                <a:cubicBezTo>
                  <a:pt x="81" y="4431"/>
                  <a:pt x="73" y="4426"/>
                  <a:pt x="65" y="4421"/>
                </a:cubicBezTo>
                <a:cubicBezTo>
                  <a:pt x="57" y="4416"/>
                  <a:pt x="50" y="4410"/>
                  <a:pt x="43" y="4403"/>
                </a:cubicBezTo>
                <a:cubicBezTo>
                  <a:pt x="36" y="4396"/>
                  <a:pt x="30" y="4389"/>
                  <a:pt x="25" y="4381"/>
                </a:cubicBezTo>
                <a:cubicBezTo>
                  <a:pt x="20" y="4373"/>
                  <a:pt x="15" y="4365"/>
                  <a:pt x="11" y="4356"/>
                </a:cubicBezTo>
                <a:cubicBezTo>
                  <a:pt x="8" y="4347"/>
                  <a:pt x="5" y="4338"/>
                  <a:pt x="3" y="4329"/>
                </a:cubicBezTo>
                <a:cubicBezTo>
                  <a:pt x="1" y="4319"/>
                  <a:pt x="0" y="4310"/>
                  <a:pt x="0" y="4300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766440" y="2081160"/>
            <a:ext cx="10658880" cy="1600560"/>
          </a:xfrm>
          <a:custGeom>
            <a:avLst/>
            <a:gdLst/>
            <a:ahLst/>
            <a:rect l="0" t="0" r="r" b="b"/>
            <a:pathLst>
              <a:path fill="none" w="29608" h="4446">
                <a:moveTo>
                  <a:pt x="0" y="430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4300"/>
                </a:lnTo>
                <a:cubicBezTo>
                  <a:pt x="29608" y="4310"/>
                  <a:pt x="29607" y="4319"/>
                  <a:pt x="29605" y="4329"/>
                </a:cubicBezTo>
                <a:cubicBezTo>
                  <a:pt x="29604" y="4338"/>
                  <a:pt x="29601" y="4347"/>
                  <a:pt x="29597" y="4356"/>
                </a:cubicBezTo>
                <a:cubicBezTo>
                  <a:pt x="29594" y="4365"/>
                  <a:pt x="29589" y="4373"/>
                  <a:pt x="29584" y="4381"/>
                </a:cubicBezTo>
                <a:cubicBezTo>
                  <a:pt x="29578" y="4389"/>
                  <a:pt x="29572" y="4396"/>
                  <a:pt x="29566" y="4403"/>
                </a:cubicBezTo>
                <a:cubicBezTo>
                  <a:pt x="29559" y="4410"/>
                  <a:pt x="29552" y="4416"/>
                  <a:pt x="29544" y="4421"/>
                </a:cubicBezTo>
                <a:cubicBezTo>
                  <a:pt x="29536" y="4426"/>
                  <a:pt x="29527" y="4431"/>
                  <a:pt x="29518" y="4435"/>
                </a:cubicBezTo>
                <a:cubicBezTo>
                  <a:pt x="29510" y="4438"/>
                  <a:pt x="29501" y="4441"/>
                  <a:pt x="29491" y="4443"/>
                </a:cubicBezTo>
                <a:cubicBezTo>
                  <a:pt x="29482" y="4445"/>
                  <a:pt x="29472" y="4446"/>
                  <a:pt x="29463" y="4446"/>
                </a:cubicBezTo>
                <a:lnTo>
                  <a:pt x="146" y="4446"/>
                </a:lnTo>
                <a:cubicBezTo>
                  <a:pt x="136" y="4446"/>
                  <a:pt x="127" y="4445"/>
                  <a:pt x="118" y="4443"/>
                </a:cubicBezTo>
                <a:cubicBezTo>
                  <a:pt x="108" y="4441"/>
                  <a:pt x="99" y="4438"/>
                  <a:pt x="90" y="4435"/>
                </a:cubicBezTo>
                <a:cubicBezTo>
                  <a:pt x="81" y="4431"/>
                  <a:pt x="73" y="4426"/>
                  <a:pt x="65" y="4421"/>
                </a:cubicBezTo>
                <a:cubicBezTo>
                  <a:pt x="57" y="4416"/>
                  <a:pt x="50" y="4410"/>
                  <a:pt x="43" y="4403"/>
                </a:cubicBezTo>
                <a:cubicBezTo>
                  <a:pt x="36" y="4396"/>
                  <a:pt x="30" y="4389"/>
                  <a:pt x="25" y="4381"/>
                </a:cubicBezTo>
                <a:cubicBezTo>
                  <a:pt x="20" y="4373"/>
                  <a:pt x="15" y="4365"/>
                  <a:pt x="11" y="4356"/>
                </a:cubicBezTo>
                <a:cubicBezTo>
                  <a:pt x="8" y="4347"/>
                  <a:pt x="5" y="4338"/>
                  <a:pt x="3" y="4329"/>
                </a:cubicBezTo>
                <a:cubicBezTo>
                  <a:pt x="1" y="4319"/>
                  <a:pt x="0" y="4310"/>
                  <a:pt x="0" y="4300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62120" y="372600"/>
            <a:ext cx="84045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What Is Systems Thinking?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923760" y="2284560"/>
            <a:ext cx="120492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Deﬁnition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923760" y="2747160"/>
            <a:ext cx="9896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thinking is the practice of using system theory as a lens to understand and solve complex problems —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923760" y="3013920"/>
            <a:ext cx="10118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examining relationships, feedback loops, delays, and emergent behaviours within the whole, rather than breaking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923760" y="3290400"/>
            <a:ext cx="2565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problems into isolated parts.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766440" y="2280960"/>
            <a:ext cx="5277240" cy="3029400"/>
          </a:xfrm>
          <a:custGeom>
            <a:avLst/>
            <a:gdLst/>
            <a:ahLst/>
            <a:rect l="0" t="0" r="r" b="b"/>
            <a:pathLst>
              <a:path w="14659" h="8415">
                <a:moveTo>
                  <a:pt x="0" y="826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8269"/>
                </a:lnTo>
                <a:cubicBezTo>
                  <a:pt x="14659" y="8279"/>
                  <a:pt x="14658" y="8289"/>
                  <a:pt x="14657" y="8298"/>
                </a:cubicBezTo>
                <a:cubicBezTo>
                  <a:pt x="14655" y="8307"/>
                  <a:pt x="14652" y="8316"/>
                  <a:pt x="14648" y="8325"/>
                </a:cubicBezTo>
                <a:cubicBezTo>
                  <a:pt x="14645" y="8334"/>
                  <a:pt x="14640" y="8342"/>
                  <a:pt x="14635" y="8350"/>
                </a:cubicBezTo>
                <a:cubicBezTo>
                  <a:pt x="14629" y="8358"/>
                  <a:pt x="14623" y="8366"/>
                  <a:pt x="14617" y="8372"/>
                </a:cubicBezTo>
                <a:cubicBezTo>
                  <a:pt x="14610" y="8379"/>
                  <a:pt x="14603" y="8385"/>
                  <a:pt x="14595" y="8390"/>
                </a:cubicBezTo>
                <a:cubicBezTo>
                  <a:pt x="14587" y="8396"/>
                  <a:pt x="14578" y="8400"/>
                  <a:pt x="14569" y="8404"/>
                </a:cubicBezTo>
                <a:cubicBezTo>
                  <a:pt x="14561" y="8408"/>
                  <a:pt x="14552" y="8410"/>
                  <a:pt x="14542" y="8412"/>
                </a:cubicBezTo>
                <a:cubicBezTo>
                  <a:pt x="14533" y="8414"/>
                  <a:pt x="14523" y="8415"/>
                  <a:pt x="14514" y="8415"/>
                </a:cubicBezTo>
                <a:lnTo>
                  <a:pt x="146" y="8415"/>
                </a:lnTo>
                <a:cubicBezTo>
                  <a:pt x="136" y="8415"/>
                  <a:pt x="127" y="8414"/>
                  <a:pt x="118" y="8412"/>
                </a:cubicBezTo>
                <a:cubicBezTo>
                  <a:pt x="108" y="8410"/>
                  <a:pt x="99" y="8408"/>
                  <a:pt x="90" y="8404"/>
                </a:cubicBezTo>
                <a:cubicBezTo>
                  <a:pt x="81" y="8400"/>
                  <a:pt x="73" y="8396"/>
                  <a:pt x="65" y="8390"/>
                </a:cubicBezTo>
                <a:cubicBezTo>
                  <a:pt x="57" y="8385"/>
                  <a:pt x="50" y="8379"/>
                  <a:pt x="43" y="8372"/>
                </a:cubicBezTo>
                <a:cubicBezTo>
                  <a:pt x="36" y="8366"/>
                  <a:pt x="30" y="8358"/>
                  <a:pt x="25" y="8350"/>
                </a:cubicBezTo>
                <a:cubicBezTo>
                  <a:pt x="20" y="8342"/>
                  <a:pt x="15" y="8334"/>
                  <a:pt x="11" y="8325"/>
                </a:cubicBezTo>
                <a:cubicBezTo>
                  <a:pt x="8" y="8316"/>
                  <a:pt x="5" y="8307"/>
                  <a:pt x="3" y="8298"/>
                </a:cubicBezTo>
                <a:cubicBezTo>
                  <a:pt x="1" y="8289"/>
                  <a:pt x="0" y="8279"/>
                  <a:pt x="0" y="8269"/>
                </a:cubicBezTo>
                <a:close/>
              </a:path>
            </a:pathLst>
          </a:custGeom>
          <a:solidFill>
            <a:srgbClr val="e8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766440" y="2280960"/>
            <a:ext cx="5277240" cy="3029400"/>
          </a:xfrm>
          <a:custGeom>
            <a:avLst/>
            <a:gdLst/>
            <a:ahLst/>
            <a:rect l="0" t="0" r="r" b="b"/>
            <a:pathLst>
              <a:path fill="none" w="14659" h="8415">
                <a:moveTo>
                  <a:pt x="0" y="826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8269"/>
                </a:lnTo>
                <a:cubicBezTo>
                  <a:pt x="14659" y="8279"/>
                  <a:pt x="14658" y="8289"/>
                  <a:pt x="14657" y="8298"/>
                </a:cubicBezTo>
                <a:cubicBezTo>
                  <a:pt x="14655" y="8307"/>
                  <a:pt x="14652" y="8316"/>
                  <a:pt x="14648" y="8325"/>
                </a:cubicBezTo>
                <a:cubicBezTo>
                  <a:pt x="14645" y="8334"/>
                  <a:pt x="14640" y="8342"/>
                  <a:pt x="14635" y="8350"/>
                </a:cubicBezTo>
                <a:cubicBezTo>
                  <a:pt x="14629" y="8358"/>
                  <a:pt x="14623" y="8366"/>
                  <a:pt x="14617" y="8372"/>
                </a:cubicBezTo>
                <a:cubicBezTo>
                  <a:pt x="14610" y="8379"/>
                  <a:pt x="14603" y="8385"/>
                  <a:pt x="14595" y="8390"/>
                </a:cubicBezTo>
                <a:cubicBezTo>
                  <a:pt x="14587" y="8396"/>
                  <a:pt x="14578" y="8400"/>
                  <a:pt x="14569" y="8404"/>
                </a:cubicBezTo>
                <a:cubicBezTo>
                  <a:pt x="14561" y="8408"/>
                  <a:pt x="14552" y="8410"/>
                  <a:pt x="14542" y="8412"/>
                </a:cubicBezTo>
                <a:cubicBezTo>
                  <a:pt x="14533" y="8414"/>
                  <a:pt x="14523" y="8415"/>
                  <a:pt x="14514" y="8415"/>
                </a:cubicBezTo>
                <a:lnTo>
                  <a:pt x="146" y="8415"/>
                </a:lnTo>
                <a:cubicBezTo>
                  <a:pt x="136" y="8415"/>
                  <a:pt x="127" y="8414"/>
                  <a:pt x="118" y="8412"/>
                </a:cubicBezTo>
                <a:cubicBezTo>
                  <a:pt x="108" y="8410"/>
                  <a:pt x="99" y="8408"/>
                  <a:pt x="90" y="8404"/>
                </a:cubicBezTo>
                <a:cubicBezTo>
                  <a:pt x="81" y="8400"/>
                  <a:pt x="73" y="8396"/>
                  <a:pt x="65" y="8390"/>
                </a:cubicBezTo>
                <a:cubicBezTo>
                  <a:pt x="57" y="8385"/>
                  <a:pt x="50" y="8379"/>
                  <a:pt x="43" y="8372"/>
                </a:cubicBezTo>
                <a:cubicBezTo>
                  <a:pt x="36" y="8366"/>
                  <a:pt x="30" y="8358"/>
                  <a:pt x="25" y="8350"/>
                </a:cubicBezTo>
                <a:cubicBezTo>
                  <a:pt x="20" y="8342"/>
                  <a:pt x="15" y="8334"/>
                  <a:pt x="11" y="8325"/>
                </a:cubicBezTo>
                <a:cubicBezTo>
                  <a:pt x="8" y="8316"/>
                  <a:pt x="5" y="8307"/>
                  <a:pt x="3" y="8298"/>
                </a:cubicBezTo>
                <a:cubicBezTo>
                  <a:pt x="1" y="8289"/>
                  <a:pt x="0" y="8279"/>
                  <a:pt x="0" y="8269"/>
                </a:cubicBezTo>
              </a:path>
            </a:pathLst>
          </a:custGeom>
          <a:ln w="9360">
            <a:solidFill>
              <a:srgbClr val="baf7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762120" y="372600"/>
            <a:ext cx="96894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Why Systems Thinking Matters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923760" y="2484720"/>
            <a:ext cx="127368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In Practice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923760" y="2947320"/>
            <a:ext cx="4428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thinking resists reductionism — the false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923760" y="3214080"/>
            <a:ext cx="3940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assumption that understanding parts means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923760" y="3490200"/>
            <a:ext cx="4574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understanding wholes. It is essential wherever local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923760" y="3766680"/>
            <a:ext cx="4502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optimization can create system-level harm: cyber-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923760" y="4042800"/>
            <a:ext cx="4937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physical systems, software-driven organizations, policy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923760" y="4318920"/>
            <a:ext cx="649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design.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923760" y="4642920"/>
            <a:ext cx="4381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It prevents unintended consequences and reveals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6148080" y="2280960"/>
            <a:ext cx="5277240" cy="3029400"/>
          </a:xfrm>
          <a:custGeom>
            <a:avLst/>
            <a:gdLst/>
            <a:ahLst/>
            <a:rect l="0" t="0" r="r" b="b"/>
            <a:pathLst>
              <a:path w="14659" h="8415">
                <a:moveTo>
                  <a:pt x="0" y="826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8269"/>
                </a:lnTo>
                <a:cubicBezTo>
                  <a:pt x="14659" y="8279"/>
                  <a:pt x="14658" y="8289"/>
                  <a:pt x="14656" y="8298"/>
                </a:cubicBezTo>
                <a:cubicBezTo>
                  <a:pt x="14655" y="8307"/>
                  <a:pt x="14652" y="8316"/>
                  <a:pt x="14648" y="8325"/>
                </a:cubicBezTo>
                <a:cubicBezTo>
                  <a:pt x="14645" y="8334"/>
                  <a:pt x="14640" y="8342"/>
                  <a:pt x="14635" y="8350"/>
                </a:cubicBezTo>
                <a:cubicBezTo>
                  <a:pt x="14629" y="8358"/>
                  <a:pt x="14623" y="8366"/>
                  <a:pt x="14617" y="8372"/>
                </a:cubicBezTo>
                <a:cubicBezTo>
                  <a:pt x="14610" y="8379"/>
                  <a:pt x="14603" y="8385"/>
                  <a:pt x="14595" y="8390"/>
                </a:cubicBezTo>
                <a:cubicBezTo>
                  <a:pt x="14587" y="8396"/>
                  <a:pt x="14578" y="8400"/>
                  <a:pt x="14569" y="8404"/>
                </a:cubicBezTo>
                <a:cubicBezTo>
                  <a:pt x="14561" y="8408"/>
                  <a:pt x="14552" y="8410"/>
                  <a:pt x="14542" y="8412"/>
                </a:cubicBezTo>
                <a:cubicBezTo>
                  <a:pt x="14533" y="8414"/>
                  <a:pt x="14523" y="8415"/>
                  <a:pt x="14514" y="8415"/>
                </a:cubicBezTo>
                <a:lnTo>
                  <a:pt x="146" y="8415"/>
                </a:lnTo>
                <a:cubicBezTo>
                  <a:pt x="136" y="8415"/>
                  <a:pt x="127" y="8414"/>
                  <a:pt x="117" y="8412"/>
                </a:cubicBezTo>
                <a:cubicBezTo>
                  <a:pt x="108" y="8410"/>
                  <a:pt x="99" y="8408"/>
                  <a:pt x="90" y="8404"/>
                </a:cubicBezTo>
                <a:cubicBezTo>
                  <a:pt x="81" y="8400"/>
                  <a:pt x="73" y="8396"/>
                  <a:pt x="65" y="8390"/>
                </a:cubicBezTo>
                <a:cubicBezTo>
                  <a:pt x="57" y="8385"/>
                  <a:pt x="50" y="8379"/>
                  <a:pt x="43" y="8372"/>
                </a:cubicBezTo>
                <a:cubicBezTo>
                  <a:pt x="36" y="8366"/>
                  <a:pt x="30" y="8358"/>
                  <a:pt x="25" y="8350"/>
                </a:cubicBezTo>
                <a:cubicBezTo>
                  <a:pt x="20" y="8342"/>
                  <a:pt x="15" y="8334"/>
                  <a:pt x="11" y="8325"/>
                </a:cubicBezTo>
                <a:cubicBezTo>
                  <a:pt x="8" y="8316"/>
                  <a:pt x="5" y="8307"/>
                  <a:pt x="3" y="8298"/>
                </a:cubicBezTo>
                <a:cubicBezTo>
                  <a:pt x="1" y="8289"/>
                  <a:pt x="0" y="8279"/>
                  <a:pt x="0" y="8269"/>
                </a:cubicBezTo>
                <a:close/>
              </a:path>
            </a:pathLst>
          </a:custGeom>
          <a:solidFill>
            <a:srgbClr val="ede8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6148080" y="2280960"/>
            <a:ext cx="5277240" cy="3029400"/>
          </a:xfrm>
          <a:custGeom>
            <a:avLst/>
            <a:gdLst/>
            <a:ahLst/>
            <a:rect l="0" t="0" r="r" b="b"/>
            <a:pathLst>
              <a:path fill="none" w="14659" h="8415">
                <a:moveTo>
                  <a:pt x="0" y="826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8269"/>
                </a:lnTo>
                <a:cubicBezTo>
                  <a:pt x="14659" y="8279"/>
                  <a:pt x="14658" y="8289"/>
                  <a:pt x="14656" y="8298"/>
                </a:cubicBezTo>
                <a:cubicBezTo>
                  <a:pt x="14655" y="8307"/>
                  <a:pt x="14652" y="8316"/>
                  <a:pt x="14648" y="8325"/>
                </a:cubicBezTo>
                <a:cubicBezTo>
                  <a:pt x="14645" y="8334"/>
                  <a:pt x="14640" y="8342"/>
                  <a:pt x="14635" y="8350"/>
                </a:cubicBezTo>
                <a:cubicBezTo>
                  <a:pt x="14629" y="8358"/>
                  <a:pt x="14623" y="8366"/>
                  <a:pt x="14617" y="8372"/>
                </a:cubicBezTo>
                <a:cubicBezTo>
                  <a:pt x="14610" y="8379"/>
                  <a:pt x="14603" y="8385"/>
                  <a:pt x="14595" y="8390"/>
                </a:cubicBezTo>
                <a:cubicBezTo>
                  <a:pt x="14587" y="8396"/>
                  <a:pt x="14578" y="8400"/>
                  <a:pt x="14569" y="8404"/>
                </a:cubicBezTo>
                <a:cubicBezTo>
                  <a:pt x="14561" y="8408"/>
                  <a:pt x="14552" y="8410"/>
                  <a:pt x="14542" y="8412"/>
                </a:cubicBezTo>
                <a:cubicBezTo>
                  <a:pt x="14533" y="8414"/>
                  <a:pt x="14523" y="8415"/>
                  <a:pt x="14514" y="8415"/>
                </a:cubicBezTo>
                <a:lnTo>
                  <a:pt x="146" y="8415"/>
                </a:lnTo>
                <a:cubicBezTo>
                  <a:pt x="136" y="8415"/>
                  <a:pt x="127" y="8414"/>
                  <a:pt x="117" y="8412"/>
                </a:cubicBezTo>
                <a:cubicBezTo>
                  <a:pt x="108" y="8410"/>
                  <a:pt x="99" y="8408"/>
                  <a:pt x="90" y="8404"/>
                </a:cubicBezTo>
                <a:cubicBezTo>
                  <a:pt x="81" y="8400"/>
                  <a:pt x="73" y="8396"/>
                  <a:pt x="65" y="8390"/>
                </a:cubicBezTo>
                <a:cubicBezTo>
                  <a:pt x="57" y="8385"/>
                  <a:pt x="50" y="8379"/>
                  <a:pt x="43" y="8372"/>
                </a:cubicBezTo>
                <a:cubicBezTo>
                  <a:pt x="36" y="8366"/>
                  <a:pt x="30" y="8358"/>
                  <a:pt x="25" y="8350"/>
                </a:cubicBezTo>
                <a:cubicBezTo>
                  <a:pt x="20" y="8342"/>
                  <a:pt x="15" y="8334"/>
                  <a:pt x="11" y="8325"/>
                </a:cubicBezTo>
                <a:cubicBezTo>
                  <a:pt x="8" y="8316"/>
                  <a:pt x="5" y="8307"/>
                  <a:pt x="3" y="8298"/>
                </a:cubicBezTo>
                <a:cubicBezTo>
                  <a:pt x="1" y="8289"/>
                  <a:pt x="0" y="8279"/>
                  <a:pt x="0" y="8269"/>
                </a:cubicBezTo>
              </a:path>
            </a:pathLst>
          </a:custGeom>
          <a:ln w="9360">
            <a:solidFill>
              <a:srgbClr val="c9b9f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923760" y="4919040"/>
            <a:ext cx="3655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leverage points for eﬀective intervention.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6486480" y="30384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7"/>
                  <a:pt x="136" y="24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305400" y="2484720"/>
            <a:ext cx="47196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Example: Social Media Feedback Loops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6486480" y="33526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671160" y="2947320"/>
            <a:ext cx="3117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User engages with political content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6486480" y="3676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671160" y="3261600"/>
            <a:ext cx="4008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Algorithm learns and recommends more of it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6486480" y="39909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3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6671160" y="3585600"/>
            <a:ext cx="4099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More engagement trains the algorithm further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6671160" y="3899880"/>
            <a:ext cx="4061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Feed narrows to increasingly extreme content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6305400" y="4233240"/>
            <a:ext cx="4170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No engineer programmed the polarization — it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6305400" y="4509360"/>
            <a:ext cx="4682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emerged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from the feedback loop between algorithm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6305400" y="4785840"/>
            <a:ext cx="1766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user behaviour.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"/>
          <p:cNvSpPr txBox="1"/>
          <p:nvPr/>
        </p:nvSpPr>
        <p:spPr>
          <a:xfrm>
            <a:off x="762120" y="3527640"/>
            <a:ext cx="10454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Four eras trace how systems thinking moved from biology, through modelling practice, across disciplines,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762120" y="3832560"/>
            <a:ext cx="3986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today's digital and AI-driven systems.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762120" y="-8280"/>
            <a:ext cx="7962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Evolution of Systems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762120" y="753480"/>
            <a:ext cx="28065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Thinking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"/>
          <p:cNvSpPr txBox="1"/>
          <p:nvPr/>
        </p:nvSpPr>
        <p:spPr>
          <a:xfrm>
            <a:off x="762120" y="2697480"/>
            <a:ext cx="556920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1930s–1950s: Origins in Systems Theory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762120" y="3861360"/>
            <a:ext cx="10238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He observed that organisms, ecosystems, and organizations all exhibited common patterns — feedback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762120" y="4165920"/>
            <a:ext cx="8908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loops, self-regulation, emergence — that mathematics and physics alone couldn't explain.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762120" y="4623120"/>
            <a:ext cx="37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His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186920" y="4623120"/>
            <a:ext cx="232488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General System Theory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399840" y="4623120"/>
            <a:ext cx="4510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(1968) provided the foundational framework.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766440" y="3224160"/>
            <a:ext cx="10658880" cy="486000"/>
          </a:xfrm>
          <a:custGeom>
            <a:avLst/>
            <a:gdLst/>
            <a:ahLst/>
            <a:rect l="0" t="0" r="r" b="b"/>
            <a:pathLst>
              <a:path w="29608" h="1350">
                <a:moveTo>
                  <a:pt x="0" y="120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1204"/>
                </a:lnTo>
                <a:cubicBezTo>
                  <a:pt x="29608" y="1214"/>
                  <a:pt x="29607" y="1224"/>
                  <a:pt x="29605" y="1233"/>
                </a:cubicBezTo>
                <a:cubicBezTo>
                  <a:pt x="29604" y="1242"/>
                  <a:pt x="29601" y="1251"/>
                  <a:pt x="29597" y="1260"/>
                </a:cubicBezTo>
                <a:cubicBezTo>
                  <a:pt x="29594" y="1269"/>
                  <a:pt x="29589" y="1277"/>
                  <a:pt x="29584" y="1285"/>
                </a:cubicBezTo>
                <a:cubicBezTo>
                  <a:pt x="29578" y="1293"/>
                  <a:pt x="29572" y="1301"/>
                  <a:pt x="29566" y="1307"/>
                </a:cubicBezTo>
                <a:cubicBezTo>
                  <a:pt x="29559" y="1314"/>
                  <a:pt x="29552" y="1320"/>
                  <a:pt x="29544" y="1325"/>
                </a:cubicBezTo>
                <a:cubicBezTo>
                  <a:pt x="29536" y="1331"/>
                  <a:pt x="29527" y="1335"/>
                  <a:pt x="29518" y="1339"/>
                </a:cubicBezTo>
                <a:cubicBezTo>
                  <a:pt x="29510" y="1343"/>
                  <a:pt x="29501" y="1345"/>
                  <a:pt x="29491" y="1347"/>
                </a:cubicBezTo>
                <a:cubicBezTo>
                  <a:pt x="29482" y="1349"/>
                  <a:pt x="29472" y="1350"/>
                  <a:pt x="29463" y="1350"/>
                </a:cubicBezTo>
                <a:lnTo>
                  <a:pt x="146" y="1350"/>
                </a:lnTo>
                <a:cubicBezTo>
                  <a:pt x="136" y="1350"/>
                  <a:pt x="127" y="1349"/>
                  <a:pt x="118" y="1347"/>
                </a:cubicBezTo>
                <a:cubicBezTo>
                  <a:pt x="108" y="1345"/>
                  <a:pt x="99" y="1343"/>
                  <a:pt x="90" y="1339"/>
                </a:cubicBezTo>
                <a:cubicBezTo>
                  <a:pt x="81" y="1335"/>
                  <a:pt x="73" y="1331"/>
                  <a:pt x="65" y="1325"/>
                </a:cubicBezTo>
                <a:cubicBezTo>
                  <a:pt x="57" y="1320"/>
                  <a:pt x="50" y="1314"/>
                  <a:pt x="43" y="1307"/>
                </a:cubicBezTo>
                <a:cubicBezTo>
                  <a:pt x="36" y="1301"/>
                  <a:pt x="30" y="1293"/>
                  <a:pt x="25" y="1285"/>
                </a:cubicBezTo>
                <a:cubicBezTo>
                  <a:pt x="20" y="1277"/>
                  <a:pt x="15" y="1269"/>
                  <a:pt x="11" y="1260"/>
                </a:cubicBezTo>
                <a:cubicBezTo>
                  <a:pt x="8" y="1251"/>
                  <a:pt x="5" y="1242"/>
                  <a:pt x="3" y="1233"/>
                </a:cubicBezTo>
                <a:cubicBezTo>
                  <a:pt x="1" y="1224"/>
                  <a:pt x="0" y="1214"/>
                  <a:pt x="0" y="1204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66440" y="3224160"/>
            <a:ext cx="10658880" cy="486000"/>
          </a:xfrm>
          <a:custGeom>
            <a:avLst/>
            <a:gdLst/>
            <a:ahLst/>
            <a:rect l="0" t="0" r="r" b="b"/>
            <a:pathLst>
              <a:path fill="none" w="29608" h="1350">
                <a:moveTo>
                  <a:pt x="0" y="120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6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1204"/>
                </a:lnTo>
                <a:cubicBezTo>
                  <a:pt x="29608" y="1214"/>
                  <a:pt x="29607" y="1224"/>
                  <a:pt x="29605" y="1233"/>
                </a:cubicBezTo>
                <a:cubicBezTo>
                  <a:pt x="29604" y="1242"/>
                  <a:pt x="29601" y="1251"/>
                  <a:pt x="29597" y="1260"/>
                </a:cubicBezTo>
                <a:cubicBezTo>
                  <a:pt x="29594" y="1269"/>
                  <a:pt x="29589" y="1277"/>
                  <a:pt x="29584" y="1285"/>
                </a:cubicBezTo>
                <a:cubicBezTo>
                  <a:pt x="29578" y="1293"/>
                  <a:pt x="29572" y="1301"/>
                  <a:pt x="29566" y="1307"/>
                </a:cubicBezTo>
                <a:cubicBezTo>
                  <a:pt x="29559" y="1314"/>
                  <a:pt x="29552" y="1320"/>
                  <a:pt x="29544" y="1325"/>
                </a:cubicBezTo>
                <a:cubicBezTo>
                  <a:pt x="29536" y="1331"/>
                  <a:pt x="29527" y="1335"/>
                  <a:pt x="29518" y="1339"/>
                </a:cubicBezTo>
                <a:cubicBezTo>
                  <a:pt x="29510" y="1343"/>
                  <a:pt x="29501" y="1345"/>
                  <a:pt x="29491" y="1347"/>
                </a:cubicBezTo>
                <a:cubicBezTo>
                  <a:pt x="29482" y="1349"/>
                  <a:pt x="29472" y="1350"/>
                  <a:pt x="29463" y="1350"/>
                </a:cubicBezTo>
                <a:lnTo>
                  <a:pt x="146" y="1350"/>
                </a:lnTo>
                <a:cubicBezTo>
                  <a:pt x="136" y="1350"/>
                  <a:pt x="127" y="1349"/>
                  <a:pt x="118" y="1347"/>
                </a:cubicBezTo>
                <a:cubicBezTo>
                  <a:pt x="108" y="1345"/>
                  <a:pt x="99" y="1343"/>
                  <a:pt x="90" y="1339"/>
                </a:cubicBezTo>
                <a:cubicBezTo>
                  <a:pt x="81" y="1335"/>
                  <a:pt x="73" y="1331"/>
                  <a:pt x="65" y="1325"/>
                </a:cubicBezTo>
                <a:cubicBezTo>
                  <a:pt x="57" y="1320"/>
                  <a:pt x="50" y="1314"/>
                  <a:pt x="43" y="1307"/>
                </a:cubicBezTo>
                <a:cubicBezTo>
                  <a:pt x="36" y="1301"/>
                  <a:pt x="30" y="1293"/>
                  <a:pt x="25" y="1285"/>
                </a:cubicBezTo>
                <a:cubicBezTo>
                  <a:pt x="20" y="1277"/>
                  <a:pt x="15" y="1269"/>
                  <a:pt x="11" y="1260"/>
                </a:cubicBezTo>
                <a:cubicBezTo>
                  <a:pt x="8" y="1251"/>
                  <a:pt x="5" y="1242"/>
                  <a:pt x="3" y="1233"/>
                </a:cubicBezTo>
                <a:cubicBezTo>
                  <a:pt x="1" y="1224"/>
                  <a:pt x="0" y="1214"/>
                  <a:pt x="0" y="1204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923760" y="3328200"/>
            <a:ext cx="8881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Ludwig von Bertalanﬀy, a biologist, developed General Systems Theory in response to reductionism.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"/>
          <p:cNvSpPr txBox="1"/>
          <p:nvPr/>
        </p:nvSpPr>
        <p:spPr>
          <a:xfrm>
            <a:off x="762120" y="2516400"/>
            <a:ext cx="68205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1960s–1970s: Systems Thinking Becomes Practice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971280" y="3581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762120" y="3032640"/>
            <a:ext cx="7913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 theory remained academic until practitioners applied it to real problems: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168200" y="3489840"/>
            <a:ext cx="304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Jay Forrester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(MIT) developed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264920" y="3489840"/>
            <a:ext cx="17629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 Dynamics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5930640" y="3489840"/>
            <a:ext cx="5171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to model complex systems with feedback loops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971280" y="42382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168200" y="3794400"/>
            <a:ext cx="619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delays — applied to urban planning and resource management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168200" y="4146840"/>
            <a:ext cx="7414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Club of Rome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used system dynamics to model global resource limits (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8646480" y="4146840"/>
            <a:ext cx="21276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Limits to Growth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971280" y="459072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7" y="151"/>
                  <a:pt x="158" y="160"/>
                </a:cubicBezTo>
                <a:cubicBezTo>
                  <a:pt x="150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10667160" y="4146840"/>
            <a:ext cx="70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, 1972)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168200" y="4499280"/>
            <a:ext cx="7035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Peter Senge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brought systems thinking to organizational management (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8265600" y="4499280"/>
            <a:ext cx="195588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Fifth Discipline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10119240" y="4499280"/>
            <a:ext cx="771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, 1990),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1168200" y="4804200"/>
            <a:ext cx="3987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emphasizing feedback loops in business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"/>
          <p:cNvSpPr txBox="1"/>
          <p:nvPr/>
        </p:nvSpPr>
        <p:spPr>
          <a:xfrm>
            <a:off x="762120" y="2516400"/>
            <a:ext cx="595476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1980s–1990s: Expansion Across Disciplines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971280" y="35812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762120" y="3032640"/>
            <a:ext cx="4254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thinking spread beyond academia: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1168200" y="3489840"/>
            <a:ext cx="969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Software engineering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Donald Knuth, complexity theory; recognition that large systems behave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971280" y="42382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168200" y="3794400"/>
            <a:ext cx="1345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unpredictably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971280" y="459072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7" y="151"/>
                  <a:pt x="158" y="160"/>
                </a:cubicBezTo>
                <a:cubicBezTo>
                  <a:pt x="150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168200" y="4146840"/>
            <a:ext cx="9782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Ecology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Barry Commoner's "Laws of Ecology" apply systems thinking to environmental problems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168200" y="4499280"/>
            <a:ext cx="9362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Policy and governance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Horst Rittel introduced "wicked problems": complex, interconnected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168200" y="4804200"/>
            <a:ext cx="3445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problems that defy linear solutions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"/>
          <p:cNvSpPr/>
          <p:nvPr/>
        </p:nvSpPr>
        <p:spPr>
          <a:xfrm>
            <a:off x="971280" y="30193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762120" y="2411640"/>
            <a:ext cx="5821920" cy="309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8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2000s–Present: Digital Age and Emergence</a:t>
            </a:r>
            <a:endParaRPr b="0" lang="en-US" sz="20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168200" y="2927880"/>
            <a:ext cx="9604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Network eﬀects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Internet, social media, and digital platforms revealed feedback loops at scale;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971280" y="367632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60"/>
                </a:cubicBezTo>
                <a:cubicBezTo>
                  <a:pt x="150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9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6"/>
                  <a:pt x="175" y="46"/>
                  <a:pt x="179" y="59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168200" y="3232440"/>
            <a:ext cx="5794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algorithms and human behaviour became coupled systems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971280" y="4038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168200" y="3584880"/>
            <a:ext cx="8231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Complexity science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emergence, agent-based modeling, power laws in networks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168200" y="3947040"/>
            <a:ext cx="8824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Cyber-physical systems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IoT, autonomous vehicles, smart infrastructure: physical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971280" y="46954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7"/>
                  <a:pt x="93" y="187"/>
                </a:cubicBezTo>
                <a:cubicBezTo>
                  <a:pt x="81" y="187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168200" y="4251600"/>
            <a:ext cx="380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computational systems tightly coupled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168200" y="4604040"/>
            <a:ext cx="9289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AI and systems thinking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AI systems create feedback loops with user behaviour, producing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168200" y="4908960"/>
            <a:ext cx="6612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emergent harms (ﬁlter bubbles, polarization, adversarial dynamics)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766440" y="2890800"/>
            <a:ext cx="10658880" cy="1038600"/>
          </a:xfrm>
          <a:custGeom>
            <a:avLst/>
            <a:gdLst/>
            <a:ahLst/>
            <a:rect l="0" t="0" r="r" b="b"/>
            <a:pathLst>
              <a:path w="29608" h="2885">
                <a:moveTo>
                  <a:pt x="0" y="273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739"/>
                </a:lnTo>
                <a:cubicBezTo>
                  <a:pt x="29608" y="2749"/>
                  <a:pt x="29607" y="2758"/>
                  <a:pt x="29605" y="2767"/>
                </a:cubicBezTo>
                <a:cubicBezTo>
                  <a:pt x="29604" y="2777"/>
                  <a:pt x="29601" y="2786"/>
                  <a:pt x="29597" y="2795"/>
                </a:cubicBezTo>
                <a:cubicBezTo>
                  <a:pt x="29594" y="2804"/>
                  <a:pt x="29589" y="2812"/>
                  <a:pt x="29584" y="2820"/>
                </a:cubicBezTo>
                <a:cubicBezTo>
                  <a:pt x="29578" y="2828"/>
                  <a:pt x="29572" y="2835"/>
                  <a:pt x="29566" y="2842"/>
                </a:cubicBezTo>
                <a:cubicBezTo>
                  <a:pt x="29559" y="2849"/>
                  <a:pt x="29552" y="2855"/>
                  <a:pt x="29544" y="2860"/>
                </a:cubicBezTo>
                <a:cubicBezTo>
                  <a:pt x="29536" y="2865"/>
                  <a:pt x="29527" y="2870"/>
                  <a:pt x="29518" y="2873"/>
                </a:cubicBezTo>
                <a:cubicBezTo>
                  <a:pt x="29510" y="2877"/>
                  <a:pt x="29501" y="2880"/>
                  <a:pt x="29491" y="2882"/>
                </a:cubicBezTo>
                <a:cubicBezTo>
                  <a:pt x="29482" y="2884"/>
                  <a:pt x="29472" y="2885"/>
                  <a:pt x="29463" y="2885"/>
                </a:cubicBezTo>
                <a:lnTo>
                  <a:pt x="146" y="2885"/>
                </a:lnTo>
                <a:cubicBezTo>
                  <a:pt x="136" y="2885"/>
                  <a:pt x="127" y="2884"/>
                  <a:pt x="118" y="2882"/>
                </a:cubicBezTo>
                <a:cubicBezTo>
                  <a:pt x="108" y="2880"/>
                  <a:pt x="99" y="2877"/>
                  <a:pt x="90" y="2873"/>
                </a:cubicBezTo>
                <a:cubicBezTo>
                  <a:pt x="81" y="2870"/>
                  <a:pt x="73" y="2865"/>
                  <a:pt x="65" y="2860"/>
                </a:cubicBezTo>
                <a:cubicBezTo>
                  <a:pt x="57" y="2855"/>
                  <a:pt x="50" y="2849"/>
                  <a:pt x="43" y="2842"/>
                </a:cubicBezTo>
                <a:cubicBezTo>
                  <a:pt x="36" y="2835"/>
                  <a:pt x="30" y="2828"/>
                  <a:pt x="25" y="2820"/>
                </a:cubicBezTo>
                <a:cubicBezTo>
                  <a:pt x="20" y="2812"/>
                  <a:pt x="15" y="2804"/>
                  <a:pt x="11" y="2795"/>
                </a:cubicBezTo>
                <a:cubicBezTo>
                  <a:pt x="8" y="2786"/>
                  <a:pt x="5" y="2777"/>
                  <a:pt x="3" y="2767"/>
                </a:cubicBezTo>
                <a:cubicBezTo>
                  <a:pt x="1" y="2758"/>
                  <a:pt x="0" y="2749"/>
                  <a:pt x="0" y="2739"/>
                </a:cubicBezTo>
                <a:close/>
              </a:path>
            </a:pathLst>
          </a:custGeom>
          <a:solidFill>
            <a:srgbClr val="e8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766440" y="2890800"/>
            <a:ext cx="10658880" cy="1038600"/>
          </a:xfrm>
          <a:custGeom>
            <a:avLst/>
            <a:gdLst/>
            <a:ahLst/>
            <a:rect l="0" t="0" r="r" b="b"/>
            <a:pathLst>
              <a:path fill="none" w="29608" h="2885">
                <a:moveTo>
                  <a:pt x="0" y="273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739"/>
                </a:lnTo>
                <a:cubicBezTo>
                  <a:pt x="29608" y="2749"/>
                  <a:pt x="29607" y="2758"/>
                  <a:pt x="29605" y="2767"/>
                </a:cubicBezTo>
                <a:cubicBezTo>
                  <a:pt x="29604" y="2777"/>
                  <a:pt x="29601" y="2786"/>
                  <a:pt x="29597" y="2795"/>
                </a:cubicBezTo>
                <a:cubicBezTo>
                  <a:pt x="29594" y="2804"/>
                  <a:pt x="29589" y="2812"/>
                  <a:pt x="29584" y="2820"/>
                </a:cubicBezTo>
                <a:cubicBezTo>
                  <a:pt x="29578" y="2828"/>
                  <a:pt x="29572" y="2835"/>
                  <a:pt x="29566" y="2842"/>
                </a:cubicBezTo>
                <a:cubicBezTo>
                  <a:pt x="29559" y="2849"/>
                  <a:pt x="29552" y="2855"/>
                  <a:pt x="29544" y="2860"/>
                </a:cubicBezTo>
                <a:cubicBezTo>
                  <a:pt x="29536" y="2865"/>
                  <a:pt x="29527" y="2870"/>
                  <a:pt x="29518" y="2873"/>
                </a:cubicBezTo>
                <a:cubicBezTo>
                  <a:pt x="29510" y="2877"/>
                  <a:pt x="29501" y="2880"/>
                  <a:pt x="29491" y="2882"/>
                </a:cubicBezTo>
                <a:cubicBezTo>
                  <a:pt x="29482" y="2884"/>
                  <a:pt x="29472" y="2885"/>
                  <a:pt x="29463" y="2885"/>
                </a:cubicBezTo>
                <a:lnTo>
                  <a:pt x="146" y="2885"/>
                </a:lnTo>
                <a:cubicBezTo>
                  <a:pt x="136" y="2885"/>
                  <a:pt x="127" y="2884"/>
                  <a:pt x="118" y="2882"/>
                </a:cubicBezTo>
                <a:cubicBezTo>
                  <a:pt x="108" y="2880"/>
                  <a:pt x="99" y="2877"/>
                  <a:pt x="90" y="2873"/>
                </a:cubicBezTo>
                <a:cubicBezTo>
                  <a:pt x="81" y="2870"/>
                  <a:pt x="73" y="2865"/>
                  <a:pt x="65" y="2860"/>
                </a:cubicBezTo>
                <a:cubicBezTo>
                  <a:pt x="57" y="2855"/>
                  <a:pt x="50" y="2849"/>
                  <a:pt x="43" y="2842"/>
                </a:cubicBezTo>
                <a:cubicBezTo>
                  <a:pt x="36" y="2835"/>
                  <a:pt x="30" y="2828"/>
                  <a:pt x="25" y="2820"/>
                </a:cubicBezTo>
                <a:cubicBezTo>
                  <a:pt x="20" y="2812"/>
                  <a:pt x="15" y="2804"/>
                  <a:pt x="11" y="2795"/>
                </a:cubicBezTo>
                <a:cubicBezTo>
                  <a:pt x="8" y="2786"/>
                  <a:pt x="5" y="2777"/>
                  <a:pt x="3" y="2767"/>
                </a:cubicBezTo>
                <a:cubicBezTo>
                  <a:pt x="1" y="2758"/>
                  <a:pt x="0" y="2749"/>
                  <a:pt x="0" y="2739"/>
                </a:cubicBezTo>
              </a:path>
            </a:pathLst>
          </a:custGeom>
          <a:ln w="9360">
            <a:solidFill>
              <a:srgbClr val="baf7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762120" y="372600"/>
            <a:ext cx="75081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From Theory to Practice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923760" y="2994840"/>
            <a:ext cx="10281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thinking evolved from an academic framework into a practical methodology. Early work identiﬁed patterns;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923760" y="3261600"/>
            <a:ext cx="97200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modern work applies them to messy problems where reductionism fails: climate change, pandemic response,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766440" y="4052880"/>
            <a:ext cx="10658880" cy="762120"/>
          </a:xfrm>
          <a:custGeom>
            <a:avLst/>
            <a:gdLst/>
            <a:ahLst/>
            <a:rect l="0" t="0" r="r" b="b"/>
            <a:pathLst>
              <a:path w="29608" h="2117">
                <a:moveTo>
                  <a:pt x="0" y="1972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5"/>
                  <a:pt x="29608" y="145"/>
                </a:cubicBezTo>
                <a:lnTo>
                  <a:pt x="29608" y="1972"/>
                </a:lnTo>
                <a:cubicBezTo>
                  <a:pt x="29608" y="1981"/>
                  <a:pt x="29607" y="1991"/>
                  <a:pt x="29605" y="2000"/>
                </a:cubicBezTo>
                <a:cubicBezTo>
                  <a:pt x="29604" y="2009"/>
                  <a:pt x="29601" y="2019"/>
                  <a:pt x="29597" y="2027"/>
                </a:cubicBezTo>
                <a:cubicBezTo>
                  <a:pt x="29594" y="2036"/>
                  <a:pt x="29589" y="2045"/>
                  <a:pt x="29584" y="2053"/>
                </a:cubicBezTo>
                <a:cubicBezTo>
                  <a:pt x="29578" y="2060"/>
                  <a:pt x="29572" y="2068"/>
                  <a:pt x="29566" y="2075"/>
                </a:cubicBezTo>
                <a:cubicBezTo>
                  <a:pt x="29559" y="2081"/>
                  <a:pt x="29552" y="2087"/>
                  <a:pt x="29544" y="2093"/>
                </a:cubicBezTo>
                <a:cubicBezTo>
                  <a:pt x="29536" y="2098"/>
                  <a:pt x="29527" y="2102"/>
                  <a:pt x="29518" y="2106"/>
                </a:cubicBezTo>
                <a:cubicBezTo>
                  <a:pt x="29510" y="2110"/>
                  <a:pt x="29501" y="2113"/>
                  <a:pt x="29491" y="2114"/>
                </a:cubicBezTo>
                <a:cubicBezTo>
                  <a:pt x="29482" y="2116"/>
                  <a:pt x="29472" y="2117"/>
                  <a:pt x="29463" y="2117"/>
                </a:cubicBezTo>
                <a:lnTo>
                  <a:pt x="146" y="2117"/>
                </a:lnTo>
                <a:cubicBezTo>
                  <a:pt x="136" y="2117"/>
                  <a:pt x="127" y="2116"/>
                  <a:pt x="118" y="2114"/>
                </a:cubicBezTo>
                <a:cubicBezTo>
                  <a:pt x="108" y="2113"/>
                  <a:pt x="99" y="2110"/>
                  <a:pt x="90" y="2106"/>
                </a:cubicBezTo>
                <a:cubicBezTo>
                  <a:pt x="81" y="2102"/>
                  <a:pt x="73" y="2098"/>
                  <a:pt x="65" y="2093"/>
                </a:cubicBezTo>
                <a:cubicBezTo>
                  <a:pt x="57" y="2087"/>
                  <a:pt x="50" y="2081"/>
                  <a:pt x="43" y="2075"/>
                </a:cubicBezTo>
                <a:cubicBezTo>
                  <a:pt x="36" y="2068"/>
                  <a:pt x="30" y="2060"/>
                  <a:pt x="25" y="2053"/>
                </a:cubicBezTo>
                <a:cubicBezTo>
                  <a:pt x="20" y="2045"/>
                  <a:pt x="15" y="2036"/>
                  <a:pt x="11" y="2027"/>
                </a:cubicBezTo>
                <a:cubicBezTo>
                  <a:pt x="8" y="2019"/>
                  <a:pt x="5" y="2009"/>
                  <a:pt x="3" y="2000"/>
                </a:cubicBezTo>
                <a:cubicBezTo>
                  <a:pt x="1" y="1991"/>
                  <a:pt x="0" y="1981"/>
                  <a:pt x="0" y="1972"/>
                </a:cubicBezTo>
                <a:close/>
              </a:path>
            </a:pathLst>
          </a:custGeom>
          <a:solidFill>
            <a:srgbClr val="e8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766440" y="4052880"/>
            <a:ext cx="10658880" cy="762120"/>
          </a:xfrm>
          <a:custGeom>
            <a:avLst/>
            <a:gdLst/>
            <a:ahLst/>
            <a:rect l="0" t="0" r="r" b="b"/>
            <a:pathLst>
              <a:path fill="none" w="29608" h="2117">
                <a:moveTo>
                  <a:pt x="0" y="1972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5"/>
                  <a:pt x="29608" y="145"/>
                </a:cubicBezTo>
                <a:lnTo>
                  <a:pt x="29608" y="1972"/>
                </a:lnTo>
                <a:cubicBezTo>
                  <a:pt x="29608" y="1981"/>
                  <a:pt x="29607" y="1991"/>
                  <a:pt x="29605" y="2000"/>
                </a:cubicBezTo>
                <a:cubicBezTo>
                  <a:pt x="29604" y="2009"/>
                  <a:pt x="29601" y="2019"/>
                  <a:pt x="29597" y="2027"/>
                </a:cubicBezTo>
                <a:cubicBezTo>
                  <a:pt x="29594" y="2036"/>
                  <a:pt x="29589" y="2045"/>
                  <a:pt x="29584" y="2053"/>
                </a:cubicBezTo>
                <a:cubicBezTo>
                  <a:pt x="29578" y="2060"/>
                  <a:pt x="29572" y="2068"/>
                  <a:pt x="29566" y="2075"/>
                </a:cubicBezTo>
                <a:cubicBezTo>
                  <a:pt x="29559" y="2081"/>
                  <a:pt x="29552" y="2087"/>
                  <a:pt x="29544" y="2093"/>
                </a:cubicBezTo>
                <a:cubicBezTo>
                  <a:pt x="29536" y="2098"/>
                  <a:pt x="29527" y="2102"/>
                  <a:pt x="29518" y="2106"/>
                </a:cubicBezTo>
                <a:cubicBezTo>
                  <a:pt x="29510" y="2110"/>
                  <a:pt x="29501" y="2113"/>
                  <a:pt x="29491" y="2114"/>
                </a:cubicBezTo>
                <a:cubicBezTo>
                  <a:pt x="29482" y="2116"/>
                  <a:pt x="29472" y="2117"/>
                  <a:pt x="29463" y="2117"/>
                </a:cubicBezTo>
                <a:lnTo>
                  <a:pt x="146" y="2117"/>
                </a:lnTo>
                <a:cubicBezTo>
                  <a:pt x="136" y="2117"/>
                  <a:pt x="127" y="2116"/>
                  <a:pt x="118" y="2114"/>
                </a:cubicBezTo>
                <a:cubicBezTo>
                  <a:pt x="108" y="2113"/>
                  <a:pt x="99" y="2110"/>
                  <a:pt x="90" y="2106"/>
                </a:cubicBezTo>
                <a:cubicBezTo>
                  <a:pt x="81" y="2102"/>
                  <a:pt x="73" y="2098"/>
                  <a:pt x="65" y="2093"/>
                </a:cubicBezTo>
                <a:cubicBezTo>
                  <a:pt x="57" y="2087"/>
                  <a:pt x="50" y="2081"/>
                  <a:pt x="43" y="2075"/>
                </a:cubicBezTo>
                <a:cubicBezTo>
                  <a:pt x="36" y="2068"/>
                  <a:pt x="30" y="2060"/>
                  <a:pt x="25" y="2053"/>
                </a:cubicBezTo>
                <a:cubicBezTo>
                  <a:pt x="20" y="2045"/>
                  <a:pt x="15" y="2036"/>
                  <a:pt x="11" y="2027"/>
                </a:cubicBezTo>
                <a:cubicBezTo>
                  <a:pt x="8" y="2019"/>
                  <a:pt x="5" y="2009"/>
                  <a:pt x="3" y="2000"/>
                </a:cubicBezTo>
                <a:cubicBezTo>
                  <a:pt x="1" y="1991"/>
                  <a:pt x="0" y="1981"/>
                  <a:pt x="0" y="1972"/>
                </a:cubicBezTo>
              </a:path>
            </a:pathLst>
          </a:custGeom>
          <a:ln w="9360">
            <a:solidFill>
              <a:srgbClr val="baf7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923760" y="3538080"/>
            <a:ext cx="4485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platform governance, autonomous systems safety.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923760" y="4156920"/>
            <a:ext cx="10382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This history shows that cyber-physical systems, software platforms, and organizations are not new problems — they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923760" y="4433400"/>
            <a:ext cx="3902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follow patterns recognized since the 1960s.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"/>
          <p:cNvSpPr/>
          <p:nvPr/>
        </p:nvSpPr>
        <p:spPr>
          <a:xfrm>
            <a:off x="971280" y="31716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40"/>
                  <a:pt x="167" y="150"/>
                  <a:pt x="158" y="158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8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762120" y="2622960"/>
            <a:ext cx="4395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tree cannot be explained from itself alone: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971280" y="35337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168200" y="3080160"/>
            <a:ext cx="2701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sun supplies its energy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971280" y="388584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30"/>
                </a:cubicBezTo>
                <a:cubicBezTo>
                  <a:pt x="175" y="141"/>
                  <a:pt x="167" y="151"/>
                  <a:pt x="158" y="160"/>
                </a:cubicBezTo>
                <a:cubicBezTo>
                  <a:pt x="150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9" y="151"/>
                  <a:pt x="12" y="141"/>
                  <a:pt x="7" y="130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9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7"/>
                  <a:pt x="175" y="47"/>
                  <a:pt x="179" y="59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1168200" y="3441960"/>
            <a:ext cx="8780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fungal network beneath the roots supplies nutrients — without it, the tree can't survive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168200" y="3794400"/>
            <a:ext cx="416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Reproduction depends on wind or animals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766440" y="4224240"/>
            <a:ext cx="10658880" cy="771840"/>
          </a:xfrm>
          <a:custGeom>
            <a:avLst/>
            <a:gdLst/>
            <a:ahLst/>
            <a:rect l="0" t="0" r="r" b="b"/>
            <a:pathLst>
              <a:path w="29608" h="2144">
                <a:moveTo>
                  <a:pt x="0" y="1998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99"/>
                  <a:pt x="11" y="91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2"/>
                  <a:pt x="29597" y="91"/>
                </a:cubicBezTo>
                <a:cubicBezTo>
                  <a:pt x="29601" y="99"/>
                  <a:pt x="29604" y="109"/>
                  <a:pt x="29605" y="118"/>
                </a:cubicBezTo>
                <a:cubicBezTo>
                  <a:pt x="29607" y="127"/>
                  <a:pt x="29608" y="137"/>
                  <a:pt x="29608" y="146"/>
                </a:cubicBezTo>
                <a:lnTo>
                  <a:pt x="29608" y="1998"/>
                </a:lnTo>
                <a:cubicBezTo>
                  <a:pt x="29608" y="2008"/>
                  <a:pt x="29607" y="2017"/>
                  <a:pt x="29605" y="2027"/>
                </a:cubicBezTo>
                <a:cubicBezTo>
                  <a:pt x="29604" y="2036"/>
                  <a:pt x="29601" y="2045"/>
                  <a:pt x="29597" y="2054"/>
                </a:cubicBezTo>
                <a:cubicBezTo>
                  <a:pt x="29594" y="2063"/>
                  <a:pt x="29589" y="2071"/>
                  <a:pt x="29584" y="2079"/>
                </a:cubicBezTo>
                <a:cubicBezTo>
                  <a:pt x="29578" y="2087"/>
                  <a:pt x="29572" y="2095"/>
                  <a:pt x="29566" y="2101"/>
                </a:cubicBezTo>
                <a:cubicBezTo>
                  <a:pt x="29559" y="2108"/>
                  <a:pt x="29552" y="2114"/>
                  <a:pt x="29544" y="2119"/>
                </a:cubicBezTo>
                <a:cubicBezTo>
                  <a:pt x="29536" y="2125"/>
                  <a:pt x="29527" y="2129"/>
                  <a:pt x="29518" y="2133"/>
                </a:cubicBezTo>
                <a:cubicBezTo>
                  <a:pt x="29510" y="2136"/>
                  <a:pt x="29501" y="2139"/>
                  <a:pt x="29491" y="2141"/>
                </a:cubicBezTo>
                <a:cubicBezTo>
                  <a:pt x="29482" y="2143"/>
                  <a:pt x="29472" y="2144"/>
                  <a:pt x="29463" y="2144"/>
                </a:cubicBezTo>
                <a:lnTo>
                  <a:pt x="146" y="2144"/>
                </a:lnTo>
                <a:cubicBezTo>
                  <a:pt x="136" y="2144"/>
                  <a:pt x="127" y="2143"/>
                  <a:pt x="118" y="2141"/>
                </a:cubicBezTo>
                <a:cubicBezTo>
                  <a:pt x="108" y="2139"/>
                  <a:pt x="99" y="2136"/>
                  <a:pt x="90" y="2133"/>
                </a:cubicBezTo>
                <a:cubicBezTo>
                  <a:pt x="81" y="2129"/>
                  <a:pt x="73" y="2125"/>
                  <a:pt x="65" y="2119"/>
                </a:cubicBezTo>
                <a:cubicBezTo>
                  <a:pt x="57" y="2114"/>
                  <a:pt x="50" y="2108"/>
                  <a:pt x="43" y="2101"/>
                </a:cubicBezTo>
                <a:cubicBezTo>
                  <a:pt x="36" y="2095"/>
                  <a:pt x="30" y="2087"/>
                  <a:pt x="25" y="2079"/>
                </a:cubicBezTo>
                <a:cubicBezTo>
                  <a:pt x="20" y="2071"/>
                  <a:pt x="15" y="2063"/>
                  <a:pt x="11" y="2054"/>
                </a:cubicBezTo>
                <a:cubicBezTo>
                  <a:pt x="8" y="2045"/>
                  <a:pt x="5" y="2036"/>
                  <a:pt x="3" y="2027"/>
                </a:cubicBezTo>
                <a:cubicBezTo>
                  <a:pt x="1" y="2017"/>
                  <a:pt x="0" y="2008"/>
                  <a:pt x="0" y="1998"/>
                </a:cubicBezTo>
                <a:close/>
              </a:path>
            </a:pathLst>
          </a:custGeom>
          <a:solidFill>
            <a:srgbClr val="e8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766440" y="4224240"/>
            <a:ext cx="10658880" cy="771840"/>
          </a:xfrm>
          <a:custGeom>
            <a:avLst/>
            <a:gdLst/>
            <a:ahLst/>
            <a:rect l="0" t="0" r="r" b="b"/>
            <a:pathLst>
              <a:path fill="none" w="29608" h="2144">
                <a:moveTo>
                  <a:pt x="0" y="1998"/>
                </a:moveTo>
                <a:lnTo>
                  <a:pt x="0" y="146"/>
                </a:ln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99"/>
                  <a:pt x="11" y="91"/>
                </a:cubicBezTo>
                <a:cubicBezTo>
                  <a:pt x="15" y="82"/>
                  <a:pt x="20" y="73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2"/>
                  <a:pt x="29597" y="91"/>
                </a:cubicBezTo>
                <a:cubicBezTo>
                  <a:pt x="29601" y="99"/>
                  <a:pt x="29604" y="109"/>
                  <a:pt x="29605" y="118"/>
                </a:cubicBezTo>
                <a:cubicBezTo>
                  <a:pt x="29607" y="127"/>
                  <a:pt x="29608" y="137"/>
                  <a:pt x="29608" y="146"/>
                </a:cubicBezTo>
                <a:lnTo>
                  <a:pt x="29608" y="1998"/>
                </a:lnTo>
                <a:cubicBezTo>
                  <a:pt x="29608" y="2008"/>
                  <a:pt x="29607" y="2017"/>
                  <a:pt x="29605" y="2027"/>
                </a:cubicBezTo>
                <a:cubicBezTo>
                  <a:pt x="29604" y="2036"/>
                  <a:pt x="29601" y="2045"/>
                  <a:pt x="29597" y="2054"/>
                </a:cubicBezTo>
                <a:cubicBezTo>
                  <a:pt x="29594" y="2063"/>
                  <a:pt x="29589" y="2071"/>
                  <a:pt x="29584" y="2079"/>
                </a:cubicBezTo>
                <a:cubicBezTo>
                  <a:pt x="29578" y="2087"/>
                  <a:pt x="29572" y="2095"/>
                  <a:pt x="29566" y="2101"/>
                </a:cubicBezTo>
                <a:cubicBezTo>
                  <a:pt x="29559" y="2108"/>
                  <a:pt x="29552" y="2114"/>
                  <a:pt x="29544" y="2119"/>
                </a:cubicBezTo>
                <a:cubicBezTo>
                  <a:pt x="29536" y="2125"/>
                  <a:pt x="29527" y="2129"/>
                  <a:pt x="29518" y="2133"/>
                </a:cubicBezTo>
                <a:cubicBezTo>
                  <a:pt x="29510" y="2136"/>
                  <a:pt x="29501" y="2139"/>
                  <a:pt x="29491" y="2141"/>
                </a:cubicBezTo>
                <a:cubicBezTo>
                  <a:pt x="29482" y="2143"/>
                  <a:pt x="29472" y="2144"/>
                  <a:pt x="29463" y="2144"/>
                </a:cubicBezTo>
                <a:lnTo>
                  <a:pt x="146" y="2144"/>
                </a:lnTo>
                <a:cubicBezTo>
                  <a:pt x="136" y="2144"/>
                  <a:pt x="127" y="2143"/>
                  <a:pt x="118" y="2141"/>
                </a:cubicBezTo>
                <a:cubicBezTo>
                  <a:pt x="108" y="2139"/>
                  <a:pt x="99" y="2136"/>
                  <a:pt x="90" y="2133"/>
                </a:cubicBezTo>
                <a:cubicBezTo>
                  <a:pt x="81" y="2129"/>
                  <a:pt x="73" y="2125"/>
                  <a:pt x="65" y="2119"/>
                </a:cubicBezTo>
                <a:cubicBezTo>
                  <a:pt x="57" y="2114"/>
                  <a:pt x="50" y="2108"/>
                  <a:pt x="43" y="2101"/>
                </a:cubicBezTo>
                <a:cubicBezTo>
                  <a:pt x="36" y="2095"/>
                  <a:pt x="30" y="2087"/>
                  <a:pt x="25" y="2079"/>
                </a:cubicBezTo>
                <a:cubicBezTo>
                  <a:pt x="20" y="2071"/>
                  <a:pt x="15" y="2063"/>
                  <a:pt x="11" y="2054"/>
                </a:cubicBezTo>
                <a:cubicBezTo>
                  <a:pt x="8" y="2045"/>
                  <a:pt x="5" y="2036"/>
                  <a:pt x="3" y="2027"/>
                </a:cubicBezTo>
                <a:cubicBezTo>
                  <a:pt x="1" y="2017"/>
                  <a:pt x="0" y="2008"/>
                  <a:pt x="0" y="1998"/>
                </a:cubicBezTo>
              </a:path>
            </a:pathLst>
          </a:custGeom>
          <a:ln w="9360">
            <a:solidFill>
              <a:srgbClr val="baf7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762120" y="372600"/>
            <a:ext cx="7419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Two Ways to See a Tree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923760" y="4328640"/>
            <a:ext cx="10299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Reality is made of causal connections woven </a:t>
            </a:r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horizontally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(between things) and </a:t>
            </a:r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vertically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(across levels — atoms →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923760" y="4604760"/>
            <a:ext cx="7876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cells → trees → forests). A tree can't be traced back to a single cause and a single eﬀect.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"/>
          <p:cNvSpPr/>
          <p:nvPr/>
        </p:nvSpPr>
        <p:spPr>
          <a:xfrm>
            <a:off x="771480" y="2485800"/>
            <a:ext cx="1495800" cy="429120"/>
          </a:xfrm>
          <a:custGeom>
            <a:avLst/>
            <a:gdLst/>
            <a:ahLst/>
            <a:rect l="0" t="0" r="r" b="b"/>
            <a:pathLst>
              <a:path w="4155" h="1192">
                <a:moveTo>
                  <a:pt x="0" y="0"/>
                </a:moveTo>
                <a:lnTo>
                  <a:pt x="4155" y="0"/>
                </a:lnTo>
                <a:lnTo>
                  <a:pt x="4155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2266920" y="2485800"/>
            <a:ext cx="4867560" cy="429120"/>
          </a:xfrm>
          <a:custGeom>
            <a:avLst/>
            <a:gdLst/>
            <a:ahLst/>
            <a:rect l="0" t="0" r="r" b="b"/>
            <a:pathLst>
              <a:path w="13521" h="1192">
                <a:moveTo>
                  <a:pt x="0" y="0"/>
                </a:moveTo>
                <a:lnTo>
                  <a:pt x="13521" y="0"/>
                </a:lnTo>
                <a:lnTo>
                  <a:pt x="1352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771480" y="2914560"/>
            <a:ext cx="1495800" cy="428760"/>
          </a:xfrm>
          <a:custGeom>
            <a:avLst/>
            <a:gdLst/>
            <a:ahLst/>
            <a:rect l="0" t="0" r="r" b="b"/>
            <a:pathLst>
              <a:path w="4155" h="1191">
                <a:moveTo>
                  <a:pt x="0" y="0"/>
                </a:moveTo>
                <a:lnTo>
                  <a:pt x="4155" y="0"/>
                </a:lnTo>
                <a:lnTo>
                  <a:pt x="4155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2266920" y="2914560"/>
            <a:ext cx="4867560" cy="428760"/>
          </a:xfrm>
          <a:custGeom>
            <a:avLst/>
            <a:gdLst/>
            <a:ahLst/>
            <a:rect l="0" t="0" r="r" b="b"/>
            <a:pathLst>
              <a:path w="13521" h="1191">
                <a:moveTo>
                  <a:pt x="0" y="0"/>
                </a:moveTo>
                <a:lnTo>
                  <a:pt x="13521" y="0"/>
                </a:lnTo>
                <a:lnTo>
                  <a:pt x="1352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771480" y="3342960"/>
            <a:ext cx="1495800" cy="429120"/>
          </a:xfrm>
          <a:custGeom>
            <a:avLst/>
            <a:gdLst/>
            <a:ahLst/>
            <a:rect l="0" t="0" r="r" b="b"/>
            <a:pathLst>
              <a:path w="4155" h="1192">
                <a:moveTo>
                  <a:pt x="0" y="0"/>
                </a:moveTo>
                <a:lnTo>
                  <a:pt x="4155" y="0"/>
                </a:lnTo>
                <a:lnTo>
                  <a:pt x="4155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2266920" y="3342960"/>
            <a:ext cx="4867560" cy="429120"/>
          </a:xfrm>
          <a:custGeom>
            <a:avLst/>
            <a:gdLst/>
            <a:ahLst/>
            <a:rect l="0" t="0" r="r" b="b"/>
            <a:pathLst>
              <a:path w="13521" h="1192">
                <a:moveTo>
                  <a:pt x="0" y="0"/>
                </a:moveTo>
                <a:lnTo>
                  <a:pt x="13521" y="0"/>
                </a:lnTo>
                <a:lnTo>
                  <a:pt x="1352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761760" y="248580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761760" y="2485800"/>
            <a:ext cx="1505520" cy="10080"/>
          </a:xfrm>
          <a:custGeom>
            <a:avLst/>
            <a:gdLst/>
            <a:ahLst/>
            <a:rect l="0" t="0" r="r" b="b"/>
            <a:pathLst>
              <a:path w="4182" h="28">
                <a:moveTo>
                  <a:pt x="0" y="0"/>
                </a:moveTo>
                <a:lnTo>
                  <a:pt x="4182" y="0"/>
                </a:lnTo>
                <a:lnTo>
                  <a:pt x="4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2257200" y="248580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2266920" y="2485800"/>
            <a:ext cx="4876920" cy="10080"/>
          </a:xfrm>
          <a:custGeom>
            <a:avLst/>
            <a:gdLst/>
            <a:ahLst/>
            <a:rect l="0" t="0" r="r" b="b"/>
            <a:pathLst>
              <a:path w="13547" h="28">
                <a:moveTo>
                  <a:pt x="0" y="0"/>
                </a:moveTo>
                <a:lnTo>
                  <a:pt x="13547" y="0"/>
                </a:lnTo>
                <a:lnTo>
                  <a:pt x="135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7134120" y="248580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761760" y="2914560"/>
            <a:ext cx="1505520" cy="9720"/>
          </a:xfrm>
          <a:custGeom>
            <a:avLst/>
            <a:gdLst/>
            <a:ahLst/>
            <a:rect l="0" t="0" r="r" b="b"/>
            <a:pathLst>
              <a:path w="4182" h="27">
                <a:moveTo>
                  <a:pt x="0" y="0"/>
                </a:moveTo>
                <a:lnTo>
                  <a:pt x="4182" y="0"/>
                </a:lnTo>
                <a:lnTo>
                  <a:pt x="4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2266920" y="2914560"/>
            <a:ext cx="4876920" cy="9720"/>
          </a:xfrm>
          <a:custGeom>
            <a:avLst/>
            <a:gdLst/>
            <a:ahLst/>
            <a:rect l="0" t="0" r="r" b="b"/>
            <a:pathLst>
              <a:path w="13547" h="27">
                <a:moveTo>
                  <a:pt x="0" y="0"/>
                </a:moveTo>
                <a:lnTo>
                  <a:pt x="13547" y="0"/>
                </a:lnTo>
                <a:lnTo>
                  <a:pt x="13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761760" y="29239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2257200" y="29239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7134120" y="29239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761760" y="33526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761760" y="3342960"/>
            <a:ext cx="1505520" cy="10080"/>
          </a:xfrm>
          <a:custGeom>
            <a:avLst/>
            <a:gdLst/>
            <a:ahLst/>
            <a:rect l="0" t="0" r="r" b="b"/>
            <a:pathLst>
              <a:path w="4182" h="28">
                <a:moveTo>
                  <a:pt x="0" y="0"/>
                </a:moveTo>
                <a:lnTo>
                  <a:pt x="4182" y="0"/>
                </a:lnTo>
                <a:lnTo>
                  <a:pt x="41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2257200" y="33526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2266920" y="3342960"/>
            <a:ext cx="4876920" cy="10080"/>
          </a:xfrm>
          <a:custGeom>
            <a:avLst/>
            <a:gdLst/>
            <a:ahLst/>
            <a:rect l="0" t="0" r="r" b="b"/>
            <a:pathLst>
              <a:path w="13547" h="28">
                <a:moveTo>
                  <a:pt x="0" y="0"/>
                </a:moveTo>
                <a:lnTo>
                  <a:pt x="13547" y="0"/>
                </a:lnTo>
                <a:lnTo>
                  <a:pt x="135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7134120" y="33526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761760" y="3771720"/>
            <a:ext cx="1505520" cy="9720"/>
          </a:xfrm>
          <a:custGeom>
            <a:avLst/>
            <a:gdLst/>
            <a:ahLst/>
            <a:rect l="0" t="0" r="r" b="b"/>
            <a:pathLst>
              <a:path w="4182" h="27">
                <a:moveTo>
                  <a:pt x="0" y="0"/>
                </a:moveTo>
                <a:lnTo>
                  <a:pt x="4182" y="0"/>
                </a:lnTo>
                <a:lnTo>
                  <a:pt x="41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2266920" y="3771720"/>
            <a:ext cx="4876920" cy="9720"/>
          </a:xfrm>
          <a:custGeom>
            <a:avLst/>
            <a:gdLst/>
            <a:ahLst/>
            <a:rect l="0" t="0" r="r" b="b"/>
            <a:pathLst>
              <a:path w="13547" h="27">
                <a:moveTo>
                  <a:pt x="0" y="0"/>
                </a:moveTo>
                <a:lnTo>
                  <a:pt x="13547" y="0"/>
                </a:lnTo>
                <a:lnTo>
                  <a:pt x="135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762120" y="2061000"/>
            <a:ext cx="6733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René Descartes (17th century)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split the world into two substances: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985320" y="2584800"/>
            <a:ext cx="1059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Substance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4298400" y="2584800"/>
            <a:ext cx="805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Domain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944640" y="3013560"/>
            <a:ext cx="12765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Res cogitans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2394360" y="3013560"/>
            <a:ext cx="4046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Mind — thoughts, feeling, consciousness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944640" y="3441960"/>
            <a:ext cx="12117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Res extensa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2394360" y="3441960"/>
            <a:ext cx="4605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Matter — the outer, measurable physical world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762120" y="3966120"/>
            <a:ext cx="4320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This strict separation is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Cartesian dualism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762120" y="-8280"/>
            <a:ext cx="93171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Reductionism: The Clockwork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7605360" y="2147760"/>
            <a:ext cx="3819960" cy="3295800"/>
          </a:xfrm>
          <a:custGeom>
            <a:avLst/>
            <a:gdLst/>
            <a:ahLst/>
            <a:rect l="0" t="0" r="r" b="b"/>
            <a:pathLst>
              <a:path w="10611" h="9155">
                <a:moveTo>
                  <a:pt x="0" y="901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0466" y="0"/>
                </a:lnTo>
                <a:cubicBezTo>
                  <a:pt x="10475" y="0"/>
                  <a:pt x="10485" y="1"/>
                  <a:pt x="10494" y="3"/>
                </a:cubicBezTo>
                <a:cubicBezTo>
                  <a:pt x="10504" y="5"/>
                  <a:pt x="10513" y="7"/>
                  <a:pt x="10521" y="11"/>
                </a:cubicBezTo>
                <a:cubicBezTo>
                  <a:pt x="10530" y="15"/>
                  <a:pt x="10539" y="19"/>
                  <a:pt x="10547" y="24"/>
                </a:cubicBezTo>
                <a:cubicBezTo>
                  <a:pt x="10555" y="30"/>
                  <a:pt x="10562" y="36"/>
                  <a:pt x="10569" y="42"/>
                </a:cubicBezTo>
                <a:cubicBezTo>
                  <a:pt x="10575" y="49"/>
                  <a:pt x="10581" y="57"/>
                  <a:pt x="10587" y="65"/>
                </a:cubicBezTo>
                <a:cubicBezTo>
                  <a:pt x="10592" y="72"/>
                  <a:pt x="10597" y="81"/>
                  <a:pt x="10600" y="90"/>
                </a:cubicBezTo>
                <a:cubicBezTo>
                  <a:pt x="10604" y="99"/>
                  <a:pt x="10607" y="108"/>
                  <a:pt x="10608" y="117"/>
                </a:cubicBezTo>
                <a:cubicBezTo>
                  <a:pt x="10610" y="126"/>
                  <a:pt x="10611" y="136"/>
                  <a:pt x="10611" y="145"/>
                </a:cubicBezTo>
                <a:lnTo>
                  <a:pt x="10611" y="9010"/>
                </a:lnTo>
                <a:cubicBezTo>
                  <a:pt x="10611" y="9019"/>
                  <a:pt x="10610" y="9029"/>
                  <a:pt x="10608" y="9038"/>
                </a:cubicBezTo>
                <a:cubicBezTo>
                  <a:pt x="10607" y="9048"/>
                  <a:pt x="10604" y="9057"/>
                  <a:pt x="10600" y="9066"/>
                </a:cubicBezTo>
                <a:cubicBezTo>
                  <a:pt x="10597" y="9074"/>
                  <a:pt x="10592" y="9083"/>
                  <a:pt x="10587" y="9091"/>
                </a:cubicBezTo>
                <a:cubicBezTo>
                  <a:pt x="10581" y="9099"/>
                  <a:pt x="10575" y="9106"/>
                  <a:pt x="10569" y="9113"/>
                </a:cubicBezTo>
                <a:cubicBezTo>
                  <a:pt x="10562" y="9120"/>
                  <a:pt x="10555" y="9126"/>
                  <a:pt x="10547" y="9131"/>
                </a:cubicBezTo>
                <a:cubicBezTo>
                  <a:pt x="10539" y="9136"/>
                  <a:pt x="10530" y="9141"/>
                  <a:pt x="10521" y="9144"/>
                </a:cubicBezTo>
                <a:cubicBezTo>
                  <a:pt x="10513" y="9148"/>
                  <a:pt x="10504" y="9151"/>
                  <a:pt x="10494" y="9153"/>
                </a:cubicBezTo>
                <a:cubicBezTo>
                  <a:pt x="10485" y="9155"/>
                  <a:pt x="10475" y="9155"/>
                  <a:pt x="10466" y="9155"/>
                </a:cubicBezTo>
                <a:lnTo>
                  <a:pt x="146" y="9155"/>
                </a:lnTo>
                <a:cubicBezTo>
                  <a:pt x="136" y="9155"/>
                  <a:pt x="127" y="9155"/>
                  <a:pt x="118" y="9153"/>
                </a:cubicBezTo>
                <a:cubicBezTo>
                  <a:pt x="108" y="9151"/>
                  <a:pt x="99" y="9148"/>
                  <a:pt x="90" y="9144"/>
                </a:cubicBezTo>
                <a:cubicBezTo>
                  <a:pt x="81" y="9141"/>
                  <a:pt x="73" y="9136"/>
                  <a:pt x="65" y="9131"/>
                </a:cubicBezTo>
                <a:cubicBezTo>
                  <a:pt x="57" y="9126"/>
                  <a:pt x="50" y="9120"/>
                  <a:pt x="43" y="9113"/>
                </a:cubicBezTo>
                <a:cubicBezTo>
                  <a:pt x="36" y="9106"/>
                  <a:pt x="30" y="9099"/>
                  <a:pt x="25" y="9091"/>
                </a:cubicBezTo>
                <a:cubicBezTo>
                  <a:pt x="20" y="9083"/>
                  <a:pt x="15" y="9074"/>
                  <a:pt x="12" y="9066"/>
                </a:cubicBezTo>
                <a:cubicBezTo>
                  <a:pt x="8" y="9057"/>
                  <a:pt x="5" y="9048"/>
                  <a:pt x="3" y="9038"/>
                </a:cubicBezTo>
                <a:cubicBezTo>
                  <a:pt x="1" y="9029"/>
                  <a:pt x="0" y="9019"/>
                  <a:pt x="0" y="9010"/>
                </a:cubicBezTo>
                <a:close/>
              </a:path>
            </a:pathLst>
          </a:custGeom>
          <a:solidFill>
            <a:srgbClr val="fff2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7605360" y="2147760"/>
            <a:ext cx="3819960" cy="3295800"/>
          </a:xfrm>
          <a:custGeom>
            <a:avLst/>
            <a:gdLst/>
            <a:ahLst/>
            <a:rect l="0" t="0" r="r" b="b"/>
            <a:pathLst>
              <a:path fill="none" w="10611" h="9155">
                <a:moveTo>
                  <a:pt x="0" y="901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2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0466" y="0"/>
                </a:lnTo>
                <a:cubicBezTo>
                  <a:pt x="10475" y="0"/>
                  <a:pt x="10485" y="1"/>
                  <a:pt x="10494" y="3"/>
                </a:cubicBezTo>
                <a:cubicBezTo>
                  <a:pt x="10504" y="5"/>
                  <a:pt x="10513" y="7"/>
                  <a:pt x="10521" y="11"/>
                </a:cubicBezTo>
                <a:cubicBezTo>
                  <a:pt x="10530" y="15"/>
                  <a:pt x="10539" y="19"/>
                  <a:pt x="10547" y="24"/>
                </a:cubicBezTo>
                <a:cubicBezTo>
                  <a:pt x="10555" y="30"/>
                  <a:pt x="10562" y="36"/>
                  <a:pt x="10569" y="42"/>
                </a:cubicBezTo>
                <a:cubicBezTo>
                  <a:pt x="10575" y="49"/>
                  <a:pt x="10581" y="57"/>
                  <a:pt x="10587" y="65"/>
                </a:cubicBezTo>
                <a:cubicBezTo>
                  <a:pt x="10592" y="72"/>
                  <a:pt x="10597" y="81"/>
                  <a:pt x="10600" y="90"/>
                </a:cubicBezTo>
                <a:cubicBezTo>
                  <a:pt x="10604" y="99"/>
                  <a:pt x="10607" y="108"/>
                  <a:pt x="10608" y="117"/>
                </a:cubicBezTo>
                <a:cubicBezTo>
                  <a:pt x="10610" y="126"/>
                  <a:pt x="10611" y="136"/>
                  <a:pt x="10611" y="145"/>
                </a:cubicBezTo>
                <a:lnTo>
                  <a:pt x="10611" y="9010"/>
                </a:lnTo>
                <a:cubicBezTo>
                  <a:pt x="10611" y="9019"/>
                  <a:pt x="10610" y="9029"/>
                  <a:pt x="10608" y="9038"/>
                </a:cubicBezTo>
                <a:cubicBezTo>
                  <a:pt x="10607" y="9048"/>
                  <a:pt x="10604" y="9057"/>
                  <a:pt x="10600" y="9066"/>
                </a:cubicBezTo>
                <a:cubicBezTo>
                  <a:pt x="10597" y="9074"/>
                  <a:pt x="10592" y="9083"/>
                  <a:pt x="10587" y="9091"/>
                </a:cubicBezTo>
                <a:cubicBezTo>
                  <a:pt x="10581" y="9099"/>
                  <a:pt x="10575" y="9106"/>
                  <a:pt x="10569" y="9113"/>
                </a:cubicBezTo>
                <a:cubicBezTo>
                  <a:pt x="10562" y="9120"/>
                  <a:pt x="10555" y="9126"/>
                  <a:pt x="10547" y="9131"/>
                </a:cubicBezTo>
                <a:cubicBezTo>
                  <a:pt x="10539" y="9136"/>
                  <a:pt x="10530" y="9141"/>
                  <a:pt x="10521" y="9144"/>
                </a:cubicBezTo>
                <a:cubicBezTo>
                  <a:pt x="10513" y="9148"/>
                  <a:pt x="10504" y="9151"/>
                  <a:pt x="10494" y="9153"/>
                </a:cubicBezTo>
                <a:cubicBezTo>
                  <a:pt x="10485" y="9155"/>
                  <a:pt x="10475" y="9155"/>
                  <a:pt x="10466" y="9155"/>
                </a:cubicBezTo>
                <a:lnTo>
                  <a:pt x="146" y="9155"/>
                </a:lnTo>
                <a:cubicBezTo>
                  <a:pt x="136" y="9155"/>
                  <a:pt x="127" y="9155"/>
                  <a:pt x="118" y="9153"/>
                </a:cubicBezTo>
                <a:cubicBezTo>
                  <a:pt x="108" y="9151"/>
                  <a:pt x="99" y="9148"/>
                  <a:pt x="90" y="9144"/>
                </a:cubicBezTo>
                <a:cubicBezTo>
                  <a:pt x="81" y="9141"/>
                  <a:pt x="73" y="9136"/>
                  <a:pt x="65" y="9131"/>
                </a:cubicBezTo>
                <a:cubicBezTo>
                  <a:pt x="57" y="9126"/>
                  <a:pt x="50" y="9120"/>
                  <a:pt x="43" y="9113"/>
                </a:cubicBezTo>
                <a:cubicBezTo>
                  <a:pt x="36" y="9106"/>
                  <a:pt x="30" y="9099"/>
                  <a:pt x="25" y="9091"/>
                </a:cubicBezTo>
                <a:cubicBezTo>
                  <a:pt x="20" y="9083"/>
                  <a:pt x="15" y="9074"/>
                  <a:pt x="12" y="9066"/>
                </a:cubicBezTo>
                <a:cubicBezTo>
                  <a:pt x="8" y="9057"/>
                  <a:pt x="5" y="9048"/>
                  <a:pt x="3" y="9038"/>
                </a:cubicBezTo>
                <a:cubicBezTo>
                  <a:pt x="1" y="9029"/>
                  <a:pt x="0" y="9019"/>
                  <a:pt x="0" y="9010"/>
                </a:cubicBezTo>
              </a:path>
            </a:pathLst>
          </a:custGeom>
          <a:ln w="9360">
            <a:solidFill>
              <a:srgbClr val="ffd9b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762120" y="753480"/>
            <a:ext cx="27460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Universe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7764840" y="2351520"/>
            <a:ext cx="16268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Consequence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7764840" y="2804400"/>
            <a:ext cx="2602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If matter has no soul or inner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7764840" y="3080880"/>
            <a:ext cx="3017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perspective, it can be taken apart,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7764840" y="3357000"/>
            <a:ext cx="2877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measured, and analysed without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7764840" y="3633120"/>
            <a:ext cx="3365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accounting for anything immaterial —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7764840" y="3899880"/>
            <a:ext cx="3059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"the whole is the sum of its parts."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7764840" y="4233240"/>
            <a:ext cx="3453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Newton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then modelled the universe as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7764840" y="4509360"/>
            <a:ext cx="2693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one giant, precise, predictable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7764840" y="4785840"/>
            <a:ext cx="3283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mechanism: know the laws, calculate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7764840" y="5061960"/>
            <a:ext cx="2195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any state, past or future.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766440" y="2433600"/>
            <a:ext cx="10658880" cy="1391040"/>
          </a:xfrm>
          <a:custGeom>
            <a:avLst/>
            <a:gdLst/>
            <a:ahLst/>
            <a:rect l="0" t="0" r="r" b="b"/>
            <a:pathLst>
              <a:path w="29608" h="3864">
                <a:moveTo>
                  <a:pt x="0" y="371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718"/>
                </a:lnTo>
                <a:cubicBezTo>
                  <a:pt x="29608" y="3728"/>
                  <a:pt x="29607" y="3737"/>
                  <a:pt x="29605" y="3746"/>
                </a:cubicBezTo>
                <a:cubicBezTo>
                  <a:pt x="29604" y="3756"/>
                  <a:pt x="29601" y="3765"/>
                  <a:pt x="29597" y="3774"/>
                </a:cubicBezTo>
                <a:cubicBezTo>
                  <a:pt x="29594" y="3783"/>
                  <a:pt x="29589" y="3791"/>
                  <a:pt x="29584" y="3799"/>
                </a:cubicBezTo>
                <a:cubicBezTo>
                  <a:pt x="29578" y="3807"/>
                  <a:pt x="29572" y="3814"/>
                  <a:pt x="29566" y="3821"/>
                </a:cubicBezTo>
                <a:cubicBezTo>
                  <a:pt x="29559" y="3828"/>
                  <a:pt x="29552" y="3834"/>
                  <a:pt x="29544" y="3839"/>
                </a:cubicBezTo>
                <a:cubicBezTo>
                  <a:pt x="29536" y="3844"/>
                  <a:pt x="29527" y="3849"/>
                  <a:pt x="29518" y="3852"/>
                </a:cubicBezTo>
                <a:cubicBezTo>
                  <a:pt x="29510" y="3856"/>
                  <a:pt x="29501" y="3859"/>
                  <a:pt x="29491" y="3861"/>
                </a:cubicBezTo>
                <a:cubicBezTo>
                  <a:pt x="29482" y="3863"/>
                  <a:pt x="29472" y="3864"/>
                  <a:pt x="29463" y="3864"/>
                </a:cubicBezTo>
                <a:lnTo>
                  <a:pt x="146" y="3864"/>
                </a:lnTo>
                <a:cubicBezTo>
                  <a:pt x="136" y="3864"/>
                  <a:pt x="127" y="3863"/>
                  <a:pt x="118" y="3861"/>
                </a:cubicBezTo>
                <a:cubicBezTo>
                  <a:pt x="108" y="3859"/>
                  <a:pt x="99" y="3856"/>
                  <a:pt x="90" y="3852"/>
                </a:cubicBezTo>
                <a:cubicBezTo>
                  <a:pt x="81" y="3849"/>
                  <a:pt x="73" y="3844"/>
                  <a:pt x="65" y="3839"/>
                </a:cubicBezTo>
                <a:cubicBezTo>
                  <a:pt x="57" y="3834"/>
                  <a:pt x="50" y="3828"/>
                  <a:pt x="43" y="3821"/>
                </a:cubicBezTo>
                <a:cubicBezTo>
                  <a:pt x="36" y="3814"/>
                  <a:pt x="30" y="3807"/>
                  <a:pt x="25" y="3799"/>
                </a:cubicBezTo>
                <a:cubicBezTo>
                  <a:pt x="20" y="3791"/>
                  <a:pt x="15" y="3783"/>
                  <a:pt x="11" y="3774"/>
                </a:cubicBezTo>
                <a:cubicBezTo>
                  <a:pt x="8" y="3765"/>
                  <a:pt x="5" y="3756"/>
                  <a:pt x="3" y="3746"/>
                </a:cubicBezTo>
                <a:cubicBezTo>
                  <a:pt x="1" y="3737"/>
                  <a:pt x="0" y="3728"/>
                  <a:pt x="0" y="3718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766440" y="2433600"/>
            <a:ext cx="10658880" cy="1391040"/>
          </a:xfrm>
          <a:custGeom>
            <a:avLst/>
            <a:gdLst/>
            <a:ahLst/>
            <a:rect l="0" t="0" r="r" b="b"/>
            <a:pathLst>
              <a:path fill="none" w="29608" h="3864">
                <a:moveTo>
                  <a:pt x="0" y="371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718"/>
                </a:lnTo>
                <a:cubicBezTo>
                  <a:pt x="29608" y="3728"/>
                  <a:pt x="29607" y="3737"/>
                  <a:pt x="29605" y="3746"/>
                </a:cubicBezTo>
                <a:cubicBezTo>
                  <a:pt x="29604" y="3756"/>
                  <a:pt x="29601" y="3765"/>
                  <a:pt x="29597" y="3774"/>
                </a:cubicBezTo>
                <a:cubicBezTo>
                  <a:pt x="29594" y="3783"/>
                  <a:pt x="29589" y="3791"/>
                  <a:pt x="29584" y="3799"/>
                </a:cubicBezTo>
                <a:cubicBezTo>
                  <a:pt x="29578" y="3807"/>
                  <a:pt x="29572" y="3814"/>
                  <a:pt x="29566" y="3821"/>
                </a:cubicBezTo>
                <a:cubicBezTo>
                  <a:pt x="29559" y="3828"/>
                  <a:pt x="29552" y="3834"/>
                  <a:pt x="29544" y="3839"/>
                </a:cubicBezTo>
                <a:cubicBezTo>
                  <a:pt x="29536" y="3844"/>
                  <a:pt x="29527" y="3849"/>
                  <a:pt x="29518" y="3852"/>
                </a:cubicBezTo>
                <a:cubicBezTo>
                  <a:pt x="29510" y="3856"/>
                  <a:pt x="29501" y="3859"/>
                  <a:pt x="29491" y="3861"/>
                </a:cubicBezTo>
                <a:cubicBezTo>
                  <a:pt x="29482" y="3863"/>
                  <a:pt x="29472" y="3864"/>
                  <a:pt x="29463" y="3864"/>
                </a:cubicBezTo>
                <a:lnTo>
                  <a:pt x="146" y="3864"/>
                </a:lnTo>
                <a:cubicBezTo>
                  <a:pt x="136" y="3864"/>
                  <a:pt x="127" y="3863"/>
                  <a:pt x="118" y="3861"/>
                </a:cubicBezTo>
                <a:cubicBezTo>
                  <a:pt x="108" y="3859"/>
                  <a:pt x="99" y="3856"/>
                  <a:pt x="90" y="3852"/>
                </a:cubicBezTo>
                <a:cubicBezTo>
                  <a:pt x="81" y="3849"/>
                  <a:pt x="73" y="3844"/>
                  <a:pt x="65" y="3839"/>
                </a:cubicBezTo>
                <a:cubicBezTo>
                  <a:pt x="57" y="3834"/>
                  <a:pt x="50" y="3828"/>
                  <a:pt x="43" y="3821"/>
                </a:cubicBezTo>
                <a:cubicBezTo>
                  <a:pt x="36" y="3814"/>
                  <a:pt x="30" y="3807"/>
                  <a:pt x="25" y="3799"/>
                </a:cubicBezTo>
                <a:cubicBezTo>
                  <a:pt x="20" y="3791"/>
                  <a:pt x="15" y="3783"/>
                  <a:pt x="11" y="3774"/>
                </a:cubicBezTo>
                <a:cubicBezTo>
                  <a:pt x="8" y="3765"/>
                  <a:pt x="5" y="3756"/>
                  <a:pt x="3" y="3746"/>
                </a:cubicBezTo>
                <a:cubicBezTo>
                  <a:pt x="1" y="3737"/>
                  <a:pt x="0" y="3728"/>
                  <a:pt x="0" y="3718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762120" y="372600"/>
            <a:ext cx="83581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Reductionism: The Method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923760" y="2637000"/>
            <a:ext cx="120492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Deﬁnition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923760" y="3099600"/>
            <a:ext cx="9511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understand a complex system, break it into parts, understand the parts, and you understand the whole.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766440" y="3947760"/>
            <a:ext cx="10658880" cy="1324440"/>
          </a:xfrm>
          <a:custGeom>
            <a:avLst/>
            <a:gdLst/>
            <a:ahLst/>
            <a:rect l="0" t="0" r="r" b="b"/>
            <a:pathLst>
              <a:path w="29608" h="3679">
                <a:moveTo>
                  <a:pt x="0" y="3534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534"/>
                </a:lnTo>
                <a:cubicBezTo>
                  <a:pt x="29608" y="3543"/>
                  <a:pt x="29607" y="3553"/>
                  <a:pt x="29605" y="3562"/>
                </a:cubicBezTo>
                <a:cubicBezTo>
                  <a:pt x="29604" y="3571"/>
                  <a:pt x="29601" y="3581"/>
                  <a:pt x="29597" y="3589"/>
                </a:cubicBezTo>
                <a:cubicBezTo>
                  <a:pt x="29594" y="3598"/>
                  <a:pt x="29589" y="3607"/>
                  <a:pt x="29584" y="3615"/>
                </a:cubicBezTo>
                <a:cubicBezTo>
                  <a:pt x="29578" y="3622"/>
                  <a:pt x="29572" y="3630"/>
                  <a:pt x="29566" y="3637"/>
                </a:cubicBezTo>
                <a:cubicBezTo>
                  <a:pt x="29559" y="3643"/>
                  <a:pt x="29552" y="3649"/>
                  <a:pt x="29544" y="3655"/>
                </a:cubicBezTo>
                <a:cubicBezTo>
                  <a:pt x="29536" y="3660"/>
                  <a:pt x="29527" y="3664"/>
                  <a:pt x="29518" y="3668"/>
                </a:cubicBezTo>
                <a:cubicBezTo>
                  <a:pt x="29510" y="3672"/>
                  <a:pt x="29501" y="3675"/>
                  <a:pt x="29491" y="3676"/>
                </a:cubicBezTo>
                <a:cubicBezTo>
                  <a:pt x="29482" y="3678"/>
                  <a:pt x="29472" y="3679"/>
                  <a:pt x="29463" y="3679"/>
                </a:cubicBezTo>
                <a:lnTo>
                  <a:pt x="146" y="3679"/>
                </a:lnTo>
                <a:cubicBezTo>
                  <a:pt x="136" y="3679"/>
                  <a:pt x="127" y="3678"/>
                  <a:pt x="118" y="3676"/>
                </a:cubicBezTo>
                <a:cubicBezTo>
                  <a:pt x="108" y="3675"/>
                  <a:pt x="99" y="3672"/>
                  <a:pt x="90" y="3668"/>
                </a:cubicBezTo>
                <a:cubicBezTo>
                  <a:pt x="81" y="3664"/>
                  <a:pt x="73" y="3660"/>
                  <a:pt x="65" y="3655"/>
                </a:cubicBezTo>
                <a:cubicBezTo>
                  <a:pt x="57" y="3649"/>
                  <a:pt x="50" y="3643"/>
                  <a:pt x="43" y="3637"/>
                </a:cubicBezTo>
                <a:cubicBezTo>
                  <a:pt x="36" y="3630"/>
                  <a:pt x="30" y="3622"/>
                  <a:pt x="25" y="3615"/>
                </a:cubicBezTo>
                <a:cubicBezTo>
                  <a:pt x="20" y="3607"/>
                  <a:pt x="15" y="3598"/>
                  <a:pt x="11" y="3589"/>
                </a:cubicBezTo>
                <a:cubicBezTo>
                  <a:pt x="8" y="3581"/>
                  <a:pt x="5" y="3571"/>
                  <a:pt x="3" y="3562"/>
                </a:cubicBezTo>
                <a:cubicBezTo>
                  <a:pt x="1" y="3553"/>
                  <a:pt x="0" y="3543"/>
                  <a:pt x="0" y="3534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766440" y="3947760"/>
            <a:ext cx="10658880" cy="1324440"/>
          </a:xfrm>
          <a:custGeom>
            <a:avLst/>
            <a:gdLst/>
            <a:ahLst/>
            <a:rect l="0" t="0" r="r" b="b"/>
            <a:pathLst>
              <a:path fill="none" w="29608" h="3679">
                <a:moveTo>
                  <a:pt x="0" y="3534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534"/>
                </a:lnTo>
                <a:cubicBezTo>
                  <a:pt x="29608" y="3543"/>
                  <a:pt x="29607" y="3553"/>
                  <a:pt x="29605" y="3562"/>
                </a:cubicBezTo>
                <a:cubicBezTo>
                  <a:pt x="29604" y="3571"/>
                  <a:pt x="29601" y="3581"/>
                  <a:pt x="29597" y="3589"/>
                </a:cubicBezTo>
                <a:cubicBezTo>
                  <a:pt x="29594" y="3598"/>
                  <a:pt x="29589" y="3607"/>
                  <a:pt x="29584" y="3615"/>
                </a:cubicBezTo>
                <a:cubicBezTo>
                  <a:pt x="29578" y="3622"/>
                  <a:pt x="29572" y="3630"/>
                  <a:pt x="29566" y="3637"/>
                </a:cubicBezTo>
                <a:cubicBezTo>
                  <a:pt x="29559" y="3643"/>
                  <a:pt x="29552" y="3649"/>
                  <a:pt x="29544" y="3655"/>
                </a:cubicBezTo>
                <a:cubicBezTo>
                  <a:pt x="29536" y="3660"/>
                  <a:pt x="29527" y="3664"/>
                  <a:pt x="29518" y="3668"/>
                </a:cubicBezTo>
                <a:cubicBezTo>
                  <a:pt x="29510" y="3672"/>
                  <a:pt x="29501" y="3675"/>
                  <a:pt x="29491" y="3676"/>
                </a:cubicBezTo>
                <a:cubicBezTo>
                  <a:pt x="29482" y="3678"/>
                  <a:pt x="29472" y="3679"/>
                  <a:pt x="29463" y="3679"/>
                </a:cubicBezTo>
                <a:lnTo>
                  <a:pt x="146" y="3679"/>
                </a:lnTo>
                <a:cubicBezTo>
                  <a:pt x="136" y="3679"/>
                  <a:pt x="127" y="3678"/>
                  <a:pt x="118" y="3676"/>
                </a:cubicBezTo>
                <a:cubicBezTo>
                  <a:pt x="108" y="3675"/>
                  <a:pt x="99" y="3672"/>
                  <a:pt x="90" y="3668"/>
                </a:cubicBezTo>
                <a:cubicBezTo>
                  <a:pt x="81" y="3664"/>
                  <a:pt x="73" y="3660"/>
                  <a:pt x="65" y="3655"/>
                </a:cubicBezTo>
                <a:cubicBezTo>
                  <a:pt x="57" y="3649"/>
                  <a:pt x="50" y="3643"/>
                  <a:pt x="43" y="3637"/>
                </a:cubicBezTo>
                <a:cubicBezTo>
                  <a:pt x="36" y="3630"/>
                  <a:pt x="30" y="3622"/>
                  <a:pt x="25" y="3615"/>
                </a:cubicBezTo>
                <a:cubicBezTo>
                  <a:pt x="20" y="3607"/>
                  <a:pt x="15" y="3598"/>
                  <a:pt x="11" y="3589"/>
                </a:cubicBezTo>
                <a:cubicBezTo>
                  <a:pt x="8" y="3581"/>
                  <a:pt x="5" y="3571"/>
                  <a:pt x="3" y="3562"/>
                </a:cubicBezTo>
                <a:cubicBezTo>
                  <a:pt x="1" y="3553"/>
                  <a:pt x="0" y="3543"/>
                  <a:pt x="0" y="3534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923760" y="3432960"/>
            <a:ext cx="6284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Body → organs → cells → molecules → atoms → quarks and electrons.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923760" y="4151520"/>
            <a:ext cx="161532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Track Record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923760" y="4604760"/>
            <a:ext cx="9474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Decoding the human genome, particle accelerators (CERN), skyscrapers — reductionism is one of the most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923760" y="4880880"/>
            <a:ext cx="4028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successful methods humanity has developed.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762120" y="-8280"/>
            <a:ext cx="87656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Emergence: Why Parts Don't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766440" y="2414520"/>
            <a:ext cx="5277240" cy="1876680"/>
          </a:xfrm>
          <a:custGeom>
            <a:avLst/>
            <a:gdLst/>
            <a:ahLst/>
            <a:rect l="0" t="0" r="r" b="b"/>
            <a:pathLst>
              <a:path w="14659" h="5213">
                <a:moveTo>
                  <a:pt x="0" y="506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5067"/>
                </a:lnTo>
                <a:cubicBezTo>
                  <a:pt x="14659" y="5077"/>
                  <a:pt x="14658" y="5086"/>
                  <a:pt x="14657" y="5096"/>
                </a:cubicBezTo>
                <a:cubicBezTo>
                  <a:pt x="14655" y="5105"/>
                  <a:pt x="14652" y="5114"/>
                  <a:pt x="14648" y="5123"/>
                </a:cubicBezTo>
                <a:cubicBezTo>
                  <a:pt x="14645" y="5132"/>
                  <a:pt x="14640" y="5140"/>
                  <a:pt x="14635" y="5148"/>
                </a:cubicBezTo>
                <a:cubicBezTo>
                  <a:pt x="14629" y="5156"/>
                  <a:pt x="14623" y="5164"/>
                  <a:pt x="14617" y="5170"/>
                </a:cubicBezTo>
                <a:cubicBezTo>
                  <a:pt x="14610" y="5177"/>
                  <a:pt x="14603" y="5183"/>
                  <a:pt x="14595" y="5188"/>
                </a:cubicBezTo>
                <a:cubicBezTo>
                  <a:pt x="14587" y="5194"/>
                  <a:pt x="14578" y="5198"/>
                  <a:pt x="14569" y="5202"/>
                </a:cubicBezTo>
                <a:cubicBezTo>
                  <a:pt x="14561" y="5206"/>
                  <a:pt x="14552" y="5208"/>
                  <a:pt x="14542" y="5210"/>
                </a:cubicBezTo>
                <a:cubicBezTo>
                  <a:pt x="14533" y="5212"/>
                  <a:pt x="14523" y="5213"/>
                  <a:pt x="14514" y="5213"/>
                </a:cubicBezTo>
                <a:lnTo>
                  <a:pt x="146" y="5213"/>
                </a:lnTo>
                <a:cubicBezTo>
                  <a:pt x="136" y="5213"/>
                  <a:pt x="127" y="5212"/>
                  <a:pt x="118" y="5210"/>
                </a:cubicBezTo>
                <a:cubicBezTo>
                  <a:pt x="108" y="5208"/>
                  <a:pt x="99" y="5206"/>
                  <a:pt x="90" y="5202"/>
                </a:cubicBezTo>
                <a:cubicBezTo>
                  <a:pt x="81" y="5198"/>
                  <a:pt x="73" y="5194"/>
                  <a:pt x="65" y="5188"/>
                </a:cubicBezTo>
                <a:cubicBezTo>
                  <a:pt x="57" y="5183"/>
                  <a:pt x="50" y="5177"/>
                  <a:pt x="43" y="5170"/>
                </a:cubicBezTo>
                <a:cubicBezTo>
                  <a:pt x="36" y="5164"/>
                  <a:pt x="30" y="5156"/>
                  <a:pt x="25" y="5148"/>
                </a:cubicBezTo>
                <a:cubicBezTo>
                  <a:pt x="20" y="5140"/>
                  <a:pt x="15" y="5132"/>
                  <a:pt x="11" y="5123"/>
                </a:cubicBezTo>
                <a:cubicBezTo>
                  <a:pt x="8" y="5114"/>
                  <a:pt x="5" y="5105"/>
                  <a:pt x="3" y="5096"/>
                </a:cubicBezTo>
                <a:cubicBezTo>
                  <a:pt x="1" y="5086"/>
                  <a:pt x="0" y="5077"/>
                  <a:pt x="0" y="5067"/>
                </a:cubicBezTo>
                <a:close/>
              </a:path>
            </a:pathLst>
          </a:custGeom>
          <a:solidFill>
            <a:srgbClr val="ede8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766440" y="2414520"/>
            <a:ext cx="5277240" cy="1876680"/>
          </a:xfrm>
          <a:custGeom>
            <a:avLst/>
            <a:gdLst/>
            <a:ahLst/>
            <a:rect l="0" t="0" r="r" b="b"/>
            <a:pathLst>
              <a:path fill="none" w="14659" h="5213">
                <a:moveTo>
                  <a:pt x="0" y="506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5067"/>
                </a:lnTo>
                <a:cubicBezTo>
                  <a:pt x="14659" y="5077"/>
                  <a:pt x="14658" y="5086"/>
                  <a:pt x="14657" y="5096"/>
                </a:cubicBezTo>
                <a:cubicBezTo>
                  <a:pt x="14655" y="5105"/>
                  <a:pt x="14652" y="5114"/>
                  <a:pt x="14648" y="5123"/>
                </a:cubicBezTo>
                <a:cubicBezTo>
                  <a:pt x="14645" y="5132"/>
                  <a:pt x="14640" y="5140"/>
                  <a:pt x="14635" y="5148"/>
                </a:cubicBezTo>
                <a:cubicBezTo>
                  <a:pt x="14629" y="5156"/>
                  <a:pt x="14623" y="5164"/>
                  <a:pt x="14617" y="5170"/>
                </a:cubicBezTo>
                <a:cubicBezTo>
                  <a:pt x="14610" y="5177"/>
                  <a:pt x="14603" y="5183"/>
                  <a:pt x="14595" y="5188"/>
                </a:cubicBezTo>
                <a:cubicBezTo>
                  <a:pt x="14587" y="5194"/>
                  <a:pt x="14578" y="5198"/>
                  <a:pt x="14569" y="5202"/>
                </a:cubicBezTo>
                <a:cubicBezTo>
                  <a:pt x="14561" y="5206"/>
                  <a:pt x="14552" y="5208"/>
                  <a:pt x="14542" y="5210"/>
                </a:cubicBezTo>
                <a:cubicBezTo>
                  <a:pt x="14533" y="5212"/>
                  <a:pt x="14523" y="5213"/>
                  <a:pt x="14514" y="5213"/>
                </a:cubicBezTo>
                <a:lnTo>
                  <a:pt x="146" y="5213"/>
                </a:lnTo>
                <a:cubicBezTo>
                  <a:pt x="136" y="5213"/>
                  <a:pt x="127" y="5212"/>
                  <a:pt x="118" y="5210"/>
                </a:cubicBezTo>
                <a:cubicBezTo>
                  <a:pt x="108" y="5208"/>
                  <a:pt x="99" y="5206"/>
                  <a:pt x="90" y="5202"/>
                </a:cubicBezTo>
                <a:cubicBezTo>
                  <a:pt x="81" y="5198"/>
                  <a:pt x="73" y="5194"/>
                  <a:pt x="65" y="5188"/>
                </a:cubicBezTo>
                <a:cubicBezTo>
                  <a:pt x="57" y="5183"/>
                  <a:pt x="50" y="5177"/>
                  <a:pt x="43" y="5170"/>
                </a:cubicBezTo>
                <a:cubicBezTo>
                  <a:pt x="36" y="5164"/>
                  <a:pt x="30" y="5156"/>
                  <a:pt x="25" y="5148"/>
                </a:cubicBezTo>
                <a:cubicBezTo>
                  <a:pt x="20" y="5140"/>
                  <a:pt x="15" y="5132"/>
                  <a:pt x="11" y="5123"/>
                </a:cubicBezTo>
                <a:cubicBezTo>
                  <a:pt x="8" y="5114"/>
                  <a:pt x="5" y="5105"/>
                  <a:pt x="3" y="5096"/>
                </a:cubicBezTo>
                <a:cubicBezTo>
                  <a:pt x="1" y="5086"/>
                  <a:pt x="0" y="5077"/>
                  <a:pt x="0" y="5067"/>
                </a:cubicBezTo>
              </a:path>
            </a:pathLst>
          </a:custGeom>
          <a:ln w="9360">
            <a:solidFill>
              <a:srgbClr val="c9b9f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762120" y="753480"/>
            <a:ext cx="47278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Explain Wholes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923760" y="2617920"/>
            <a:ext cx="143280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Neuron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923760" y="3071160"/>
            <a:ext cx="4300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single neuron can be fully described (chemical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923760" y="3347280"/>
            <a:ext cx="4753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reactions, electrical signalling). But how do billions of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923760" y="3623760"/>
            <a:ext cx="4991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neurons give rise to a thought, a memory, or the feeling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148080" y="2414520"/>
            <a:ext cx="5277240" cy="1876680"/>
          </a:xfrm>
          <a:custGeom>
            <a:avLst/>
            <a:gdLst/>
            <a:ahLst/>
            <a:rect l="0" t="0" r="r" b="b"/>
            <a:pathLst>
              <a:path w="14659" h="5213">
                <a:moveTo>
                  <a:pt x="0" y="506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5067"/>
                </a:lnTo>
                <a:cubicBezTo>
                  <a:pt x="14659" y="5077"/>
                  <a:pt x="14658" y="5086"/>
                  <a:pt x="14656" y="5096"/>
                </a:cubicBezTo>
                <a:cubicBezTo>
                  <a:pt x="14655" y="5105"/>
                  <a:pt x="14652" y="5114"/>
                  <a:pt x="14648" y="5123"/>
                </a:cubicBezTo>
                <a:cubicBezTo>
                  <a:pt x="14645" y="5132"/>
                  <a:pt x="14640" y="5140"/>
                  <a:pt x="14635" y="5148"/>
                </a:cubicBezTo>
                <a:cubicBezTo>
                  <a:pt x="14629" y="5156"/>
                  <a:pt x="14623" y="5164"/>
                  <a:pt x="14617" y="5170"/>
                </a:cubicBezTo>
                <a:cubicBezTo>
                  <a:pt x="14610" y="5177"/>
                  <a:pt x="14603" y="5183"/>
                  <a:pt x="14595" y="5188"/>
                </a:cubicBezTo>
                <a:cubicBezTo>
                  <a:pt x="14587" y="5194"/>
                  <a:pt x="14578" y="5198"/>
                  <a:pt x="14569" y="5202"/>
                </a:cubicBezTo>
                <a:cubicBezTo>
                  <a:pt x="14561" y="5206"/>
                  <a:pt x="14552" y="5208"/>
                  <a:pt x="14542" y="5210"/>
                </a:cubicBezTo>
                <a:cubicBezTo>
                  <a:pt x="14533" y="5212"/>
                  <a:pt x="14523" y="5213"/>
                  <a:pt x="14514" y="5213"/>
                </a:cubicBezTo>
                <a:lnTo>
                  <a:pt x="146" y="5213"/>
                </a:lnTo>
                <a:cubicBezTo>
                  <a:pt x="136" y="5213"/>
                  <a:pt x="127" y="5212"/>
                  <a:pt x="117" y="5210"/>
                </a:cubicBezTo>
                <a:cubicBezTo>
                  <a:pt x="108" y="5208"/>
                  <a:pt x="99" y="5206"/>
                  <a:pt x="90" y="5202"/>
                </a:cubicBezTo>
                <a:cubicBezTo>
                  <a:pt x="81" y="5198"/>
                  <a:pt x="73" y="5194"/>
                  <a:pt x="65" y="5188"/>
                </a:cubicBezTo>
                <a:cubicBezTo>
                  <a:pt x="57" y="5183"/>
                  <a:pt x="50" y="5177"/>
                  <a:pt x="43" y="5170"/>
                </a:cubicBezTo>
                <a:cubicBezTo>
                  <a:pt x="36" y="5164"/>
                  <a:pt x="30" y="5156"/>
                  <a:pt x="25" y="5148"/>
                </a:cubicBezTo>
                <a:cubicBezTo>
                  <a:pt x="20" y="5140"/>
                  <a:pt x="15" y="5132"/>
                  <a:pt x="11" y="5123"/>
                </a:cubicBezTo>
                <a:cubicBezTo>
                  <a:pt x="8" y="5114"/>
                  <a:pt x="5" y="5105"/>
                  <a:pt x="3" y="5096"/>
                </a:cubicBezTo>
                <a:cubicBezTo>
                  <a:pt x="1" y="5086"/>
                  <a:pt x="0" y="5077"/>
                  <a:pt x="0" y="5067"/>
                </a:cubicBezTo>
                <a:close/>
              </a:path>
            </a:pathLst>
          </a:custGeom>
          <a:solidFill>
            <a:srgbClr val="ede8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6148080" y="2414520"/>
            <a:ext cx="5277240" cy="1876680"/>
          </a:xfrm>
          <a:custGeom>
            <a:avLst/>
            <a:gdLst/>
            <a:ahLst/>
            <a:rect l="0" t="0" r="r" b="b"/>
            <a:pathLst>
              <a:path fill="none" w="14659" h="5213">
                <a:moveTo>
                  <a:pt x="0" y="506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5067"/>
                </a:lnTo>
                <a:cubicBezTo>
                  <a:pt x="14659" y="5077"/>
                  <a:pt x="14658" y="5086"/>
                  <a:pt x="14656" y="5096"/>
                </a:cubicBezTo>
                <a:cubicBezTo>
                  <a:pt x="14655" y="5105"/>
                  <a:pt x="14652" y="5114"/>
                  <a:pt x="14648" y="5123"/>
                </a:cubicBezTo>
                <a:cubicBezTo>
                  <a:pt x="14645" y="5132"/>
                  <a:pt x="14640" y="5140"/>
                  <a:pt x="14635" y="5148"/>
                </a:cubicBezTo>
                <a:cubicBezTo>
                  <a:pt x="14629" y="5156"/>
                  <a:pt x="14623" y="5164"/>
                  <a:pt x="14617" y="5170"/>
                </a:cubicBezTo>
                <a:cubicBezTo>
                  <a:pt x="14610" y="5177"/>
                  <a:pt x="14603" y="5183"/>
                  <a:pt x="14595" y="5188"/>
                </a:cubicBezTo>
                <a:cubicBezTo>
                  <a:pt x="14587" y="5194"/>
                  <a:pt x="14578" y="5198"/>
                  <a:pt x="14569" y="5202"/>
                </a:cubicBezTo>
                <a:cubicBezTo>
                  <a:pt x="14561" y="5206"/>
                  <a:pt x="14552" y="5208"/>
                  <a:pt x="14542" y="5210"/>
                </a:cubicBezTo>
                <a:cubicBezTo>
                  <a:pt x="14533" y="5212"/>
                  <a:pt x="14523" y="5213"/>
                  <a:pt x="14514" y="5213"/>
                </a:cubicBezTo>
                <a:lnTo>
                  <a:pt x="146" y="5213"/>
                </a:lnTo>
                <a:cubicBezTo>
                  <a:pt x="136" y="5213"/>
                  <a:pt x="127" y="5212"/>
                  <a:pt x="117" y="5210"/>
                </a:cubicBezTo>
                <a:cubicBezTo>
                  <a:pt x="108" y="5208"/>
                  <a:pt x="99" y="5206"/>
                  <a:pt x="90" y="5202"/>
                </a:cubicBezTo>
                <a:cubicBezTo>
                  <a:pt x="81" y="5198"/>
                  <a:pt x="73" y="5194"/>
                  <a:pt x="65" y="5188"/>
                </a:cubicBezTo>
                <a:cubicBezTo>
                  <a:pt x="57" y="5183"/>
                  <a:pt x="50" y="5177"/>
                  <a:pt x="43" y="5170"/>
                </a:cubicBezTo>
                <a:cubicBezTo>
                  <a:pt x="36" y="5164"/>
                  <a:pt x="30" y="5156"/>
                  <a:pt x="25" y="5148"/>
                </a:cubicBezTo>
                <a:cubicBezTo>
                  <a:pt x="20" y="5140"/>
                  <a:pt x="15" y="5132"/>
                  <a:pt x="11" y="5123"/>
                </a:cubicBezTo>
                <a:cubicBezTo>
                  <a:pt x="8" y="5114"/>
                  <a:pt x="5" y="5105"/>
                  <a:pt x="3" y="5096"/>
                </a:cubicBezTo>
                <a:cubicBezTo>
                  <a:pt x="1" y="5086"/>
                  <a:pt x="0" y="5077"/>
                  <a:pt x="0" y="5067"/>
                </a:cubicBezTo>
              </a:path>
            </a:pathLst>
          </a:custGeom>
          <a:ln w="9360">
            <a:solidFill>
              <a:srgbClr val="c9b9f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923760" y="3899880"/>
            <a:ext cx="1568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of hearing music?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6305400" y="2617920"/>
            <a:ext cx="173556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Hurricane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6305400" y="3071160"/>
            <a:ext cx="4807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hurricane is only air and water molecules swirling in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6305400" y="3347280"/>
            <a:ext cx="5015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disorder — no single molecule "knows" about the storm.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6305400" y="3623760"/>
            <a:ext cx="4841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Yet their interplay produces a stable vortex holding its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766440" y="4528800"/>
            <a:ext cx="10658880" cy="762480"/>
          </a:xfrm>
          <a:custGeom>
            <a:avLst/>
            <a:gdLst/>
            <a:ahLst/>
            <a:rect l="0" t="0" r="r" b="b"/>
            <a:pathLst>
              <a:path w="29608" h="2118">
                <a:moveTo>
                  <a:pt x="0" y="1973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973"/>
                </a:lnTo>
                <a:cubicBezTo>
                  <a:pt x="29608" y="1982"/>
                  <a:pt x="29607" y="1992"/>
                  <a:pt x="29605" y="2001"/>
                </a:cubicBezTo>
                <a:cubicBezTo>
                  <a:pt x="29604" y="2010"/>
                  <a:pt x="29601" y="2019"/>
                  <a:pt x="29597" y="2028"/>
                </a:cubicBezTo>
                <a:cubicBezTo>
                  <a:pt x="29594" y="2037"/>
                  <a:pt x="29589" y="2045"/>
                  <a:pt x="29584" y="2053"/>
                </a:cubicBezTo>
                <a:cubicBezTo>
                  <a:pt x="29578" y="2061"/>
                  <a:pt x="29572" y="2069"/>
                  <a:pt x="29566" y="2075"/>
                </a:cubicBezTo>
                <a:cubicBezTo>
                  <a:pt x="29559" y="2082"/>
                  <a:pt x="29552" y="2088"/>
                  <a:pt x="29544" y="2094"/>
                </a:cubicBezTo>
                <a:cubicBezTo>
                  <a:pt x="29536" y="2099"/>
                  <a:pt x="29527" y="2103"/>
                  <a:pt x="29518" y="2107"/>
                </a:cubicBezTo>
                <a:cubicBezTo>
                  <a:pt x="29510" y="2111"/>
                  <a:pt x="29501" y="2113"/>
                  <a:pt x="29491" y="2115"/>
                </a:cubicBezTo>
                <a:cubicBezTo>
                  <a:pt x="29482" y="2117"/>
                  <a:pt x="29472" y="2118"/>
                  <a:pt x="29463" y="2118"/>
                </a:cubicBezTo>
                <a:lnTo>
                  <a:pt x="146" y="2118"/>
                </a:lnTo>
                <a:cubicBezTo>
                  <a:pt x="136" y="2118"/>
                  <a:pt x="127" y="2117"/>
                  <a:pt x="118" y="2115"/>
                </a:cubicBezTo>
                <a:cubicBezTo>
                  <a:pt x="108" y="2113"/>
                  <a:pt x="99" y="2111"/>
                  <a:pt x="90" y="2107"/>
                </a:cubicBezTo>
                <a:cubicBezTo>
                  <a:pt x="81" y="2103"/>
                  <a:pt x="73" y="2099"/>
                  <a:pt x="65" y="2094"/>
                </a:cubicBezTo>
                <a:cubicBezTo>
                  <a:pt x="57" y="2088"/>
                  <a:pt x="50" y="2082"/>
                  <a:pt x="43" y="2075"/>
                </a:cubicBezTo>
                <a:cubicBezTo>
                  <a:pt x="36" y="2069"/>
                  <a:pt x="30" y="2061"/>
                  <a:pt x="25" y="2053"/>
                </a:cubicBezTo>
                <a:cubicBezTo>
                  <a:pt x="20" y="2045"/>
                  <a:pt x="15" y="2037"/>
                  <a:pt x="11" y="2028"/>
                </a:cubicBezTo>
                <a:cubicBezTo>
                  <a:pt x="8" y="2019"/>
                  <a:pt x="5" y="2010"/>
                  <a:pt x="3" y="2001"/>
                </a:cubicBezTo>
                <a:cubicBezTo>
                  <a:pt x="1" y="1992"/>
                  <a:pt x="0" y="1982"/>
                  <a:pt x="0" y="1973"/>
                </a:cubicBez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766440" y="4528800"/>
            <a:ext cx="10658880" cy="762480"/>
          </a:xfrm>
          <a:custGeom>
            <a:avLst/>
            <a:gdLst/>
            <a:ahLst/>
            <a:rect l="0" t="0" r="r" b="b"/>
            <a:pathLst>
              <a:path fill="none" w="29608" h="2118">
                <a:moveTo>
                  <a:pt x="0" y="1973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973"/>
                </a:lnTo>
                <a:cubicBezTo>
                  <a:pt x="29608" y="1982"/>
                  <a:pt x="29607" y="1992"/>
                  <a:pt x="29605" y="2001"/>
                </a:cubicBezTo>
                <a:cubicBezTo>
                  <a:pt x="29604" y="2010"/>
                  <a:pt x="29601" y="2019"/>
                  <a:pt x="29597" y="2028"/>
                </a:cubicBezTo>
                <a:cubicBezTo>
                  <a:pt x="29594" y="2037"/>
                  <a:pt x="29589" y="2045"/>
                  <a:pt x="29584" y="2053"/>
                </a:cubicBezTo>
                <a:cubicBezTo>
                  <a:pt x="29578" y="2061"/>
                  <a:pt x="29572" y="2069"/>
                  <a:pt x="29566" y="2075"/>
                </a:cubicBezTo>
                <a:cubicBezTo>
                  <a:pt x="29559" y="2082"/>
                  <a:pt x="29552" y="2088"/>
                  <a:pt x="29544" y="2094"/>
                </a:cubicBezTo>
                <a:cubicBezTo>
                  <a:pt x="29536" y="2099"/>
                  <a:pt x="29527" y="2103"/>
                  <a:pt x="29518" y="2107"/>
                </a:cubicBezTo>
                <a:cubicBezTo>
                  <a:pt x="29510" y="2111"/>
                  <a:pt x="29501" y="2113"/>
                  <a:pt x="29491" y="2115"/>
                </a:cubicBezTo>
                <a:cubicBezTo>
                  <a:pt x="29482" y="2117"/>
                  <a:pt x="29472" y="2118"/>
                  <a:pt x="29463" y="2118"/>
                </a:cubicBezTo>
                <a:lnTo>
                  <a:pt x="146" y="2118"/>
                </a:lnTo>
                <a:cubicBezTo>
                  <a:pt x="136" y="2118"/>
                  <a:pt x="127" y="2117"/>
                  <a:pt x="118" y="2115"/>
                </a:cubicBezTo>
                <a:cubicBezTo>
                  <a:pt x="108" y="2113"/>
                  <a:pt x="99" y="2111"/>
                  <a:pt x="90" y="2107"/>
                </a:cubicBezTo>
                <a:cubicBezTo>
                  <a:pt x="81" y="2103"/>
                  <a:pt x="73" y="2099"/>
                  <a:pt x="65" y="2094"/>
                </a:cubicBezTo>
                <a:cubicBezTo>
                  <a:pt x="57" y="2088"/>
                  <a:pt x="50" y="2082"/>
                  <a:pt x="43" y="2075"/>
                </a:cubicBezTo>
                <a:cubicBezTo>
                  <a:pt x="36" y="2069"/>
                  <a:pt x="30" y="2061"/>
                  <a:pt x="25" y="2053"/>
                </a:cubicBezTo>
                <a:cubicBezTo>
                  <a:pt x="20" y="2045"/>
                  <a:pt x="15" y="2037"/>
                  <a:pt x="11" y="2028"/>
                </a:cubicBezTo>
                <a:cubicBezTo>
                  <a:pt x="8" y="2019"/>
                  <a:pt x="5" y="2010"/>
                  <a:pt x="3" y="2001"/>
                </a:cubicBezTo>
                <a:cubicBezTo>
                  <a:pt x="1" y="1992"/>
                  <a:pt x="0" y="1982"/>
                  <a:pt x="0" y="1973"/>
                </a:cubicBezTo>
              </a:path>
            </a:pathLst>
          </a:custGeom>
          <a:ln w="9360">
            <a:solidFill>
              <a:srgbClr val="d9d9d9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6305400" y="3899880"/>
            <a:ext cx="4197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shape for days across thousands of kilometres.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923760" y="4633200"/>
            <a:ext cx="10333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Emergence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the order exists only in the relationships between parts, not in any one part. It is the ﬁrst great riddle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923760" y="4899960"/>
            <a:ext cx="2394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reductionism cannot solve.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847440" y="2175120"/>
            <a:ext cx="810000" cy="765000"/>
          </a:xfrm>
          <a:custGeom>
            <a:avLst/>
            <a:gdLst/>
            <a:ahLst/>
            <a:rect l="0" t="0" r="r" b="b"/>
            <a:pathLst>
              <a:path w="2250" h="2125">
                <a:moveTo>
                  <a:pt x="1126" y="0"/>
                </a:moveTo>
                <a:cubicBezTo>
                  <a:pt x="504" y="0"/>
                  <a:pt x="0" y="391"/>
                  <a:pt x="0" y="874"/>
                </a:cubicBezTo>
                <a:cubicBezTo>
                  <a:pt x="0" y="1147"/>
                  <a:pt x="161" y="1391"/>
                  <a:pt x="413" y="1552"/>
                </a:cubicBezTo>
                <a:cubicBezTo>
                  <a:pt x="380" y="1696"/>
                  <a:pt x="304" y="1910"/>
                  <a:pt x="125" y="2125"/>
                </a:cubicBezTo>
                <a:cubicBezTo>
                  <a:pt x="485" y="2065"/>
                  <a:pt x="715" y="1890"/>
                  <a:pt x="857" y="1724"/>
                </a:cubicBezTo>
                <a:cubicBezTo>
                  <a:pt x="943" y="1740"/>
                  <a:pt x="1033" y="1750"/>
                  <a:pt x="1126" y="1750"/>
                </a:cubicBezTo>
                <a:cubicBezTo>
                  <a:pt x="1747" y="1750"/>
                  <a:pt x="2250" y="1357"/>
                  <a:pt x="2250" y="874"/>
                </a:cubicBezTo>
                <a:cubicBezTo>
                  <a:pt x="2250" y="391"/>
                  <a:pt x="1747" y="0"/>
                  <a:pt x="1126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207440" y="2444760"/>
            <a:ext cx="90360" cy="90360"/>
          </a:xfrm>
          <a:custGeom>
            <a:avLst/>
            <a:gdLst/>
            <a:ahLst/>
            <a:rect l="0" t="0" r="r" b="b"/>
            <a:pathLst>
              <a:path w="251" h="251">
                <a:moveTo>
                  <a:pt x="251" y="126"/>
                </a:moveTo>
                <a:cubicBezTo>
                  <a:pt x="251" y="143"/>
                  <a:pt x="248" y="159"/>
                  <a:pt x="241" y="174"/>
                </a:cubicBezTo>
                <a:cubicBezTo>
                  <a:pt x="235" y="189"/>
                  <a:pt x="226" y="203"/>
                  <a:pt x="214" y="214"/>
                </a:cubicBezTo>
                <a:cubicBezTo>
                  <a:pt x="202" y="226"/>
                  <a:pt x="189" y="235"/>
                  <a:pt x="174" y="242"/>
                </a:cubicBezTo>
                <a:cubicBezTo>
                  <a:pt x="158" y="248"/>
                  <a:pt x="142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3" y="235"/>
                  <a:pt x="49" y="226"/>
                  <a:pt x="37" y="214"/>
                </a:cubicBezTo>
                <a:cubicBezTo>
                  <a:pt x="26" y="203"/>
                  <a:pt x="17" y="189"/>
                  <a:pt x="10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0" y="78"/>
                </a:cubicBezTo>
                <a:cubicBezTo>
                  <a:pt x="17" y="63"/>
                  <a:pt x="26" y="49"/>
                  <a:pt x="37" y="37"/>
                </a:cubicBezTo>
                <a:cubicBezTo>
                  <a:pt x="49" y="25"/>
                  <a:pt x="63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4" y="10"/>
                </a:cubicBezTo>
                <a:cubicBezTo>
                  <a:pt x="189" y="16"/>
                  <a:pt x="202" y="25"/>
                  <a:pt x="214" y="37"/>
                </a:cubicBezTo>
                <a:cubicBezTo>
                  <a:pt x="226" y="49"/>
                  <a:pt x="235" y="63"/>
                  <a:pt x="241" y="78"/>
                </a:cubicBezTo>
                <a:cubicBezTo>
                  <a:pt x="248" y="94"/>
                  <a:pt x="251" y="110"/>
                  <a:pt x="251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1387440" y="2444760"/>
            <a:ext cx="90000" cy="90360"/>
          </a:xfrm>
          <a:custGeom>
            <a:avLst/>
            <a:gdLst/>
            <a:ahLst/>
            <a:rect l="0" t="0" r="r" b="b"/>
            <a:pathLst>
              <a:path w="250" h="251">
                <a:moveTo>
                  <a:pt x="250" y="126"/>
                </a:moveTo>
                <a:cubicBezTo>
                  <a:pt x="250" y="143"/>
                  <a:pt x="247" y="159"/>
                  <a:pt x="241" y="174"/>
                </a:cubicBezTo>
                <a:cubicBezTo>
                  <a:pt x="235" y="189"/>
                  <a:pt x="226" y="203"/>
                  <a:pt x="214" y="214"/>
                </a:cubicBezTo>
                <a:cubicBezTo>
                  <a:pt x="202" y="226"/>
                  <a:pt x="189" y="235"/>
                  <a:pt x="173" y="242"/>
                </a:cubicBezTo>
                <a:cubicBezTo>
                  <a:pt x="158" y="248"/>
                  <a:pt x="142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2" y="235"/>
                  <a:pt x="49" y="226"/>
                  <a:pt x="37" y="214"/>
                </a:cubicBezTo>
                <a:cubicBezTo>
                  <a:pt x="25" y="203"/>
                  <a:pt x="16" y="189"/>
                  <a:pt x="10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0" y="78"/>
                </a:cubicBezTo>
                <a:cubicBezTo>
                  <a:pt x="16" y="63"/>
                  <a:pt x="25" y="49"/>
                  <a:pt x="37" y="37"/>
                </a:cubicBezTo>
                <a:cubicBezTo>
                  <a:pt x="49" y="25"/>
                  <a:pt x="62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2" y="0"/>
                  <a:pt x="158" y="3"/>
                  <a:pt x="173" y="10"/>
                </a:cubicBezTo>
                <a:cubicBezTo>
                  <a:pt x="189" y="16"/>
                  <a:pt x="202" y="25"/>
                  <a:pt x="214" y="37"/>
                </a:cubicBezTo>
                <a:cubicBezTo>
                  <a:pt x="226" y="49"/>
                  <a:pt x="235" y="63"/>
                  <a:pt x="241" y="78"/>
                </a:cubicBezTo>
                <a:cubicBezTo>
                  <a:pt x="247" y="94"/>
                  <a:pt x="250" y="110"/>
                  <a:pt x="250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1027440" y="2444760"/>
            <a:ext cx="90360" cy="90360"/>
          </a:xfrm>
          <a:custGeom>
            <a:avLst/>
            <a:gdLst/>
            <a:ahLst/>
            <a:rect l="0" t="0" r="r" b="b"/>
            <a:pathLst>
              <a:path w="251" h="251">
                <a:moveTo>
                  <a:pt x="251" y="126"/>
                </a:moveTo>
                <a:cubicBezTo>
                  <a:pt x="251" y="143"/>
                  <a:pt x="248" y="159"/>
                  <a:pt x="241" y="174"/>
                </a:cubicBezTo>
                <a:cubicBezTo>
                  <a:pt x="235" y="189"/>
                  <a:pt x="226" y="203"/>
                  <a:pt x="214" y="214"/>
                </a:cubicBezTo>
                <a:cubicBezTo>
                  <a:pt x="203" y="226"/>
                  <a:pt x="189" y="235"/>
                  <a:pt x="174" y="242"/>
                </a:cubicBezTo>
                <a:cubicBezTo>
                  <a:pt x="159" y="248"/>
                  <a:pt x="143" y="251"/>
                  <a:pt x="126" y="251"/>
                </a:cubicBezTo>
                <a:cubicBezTo>
                  <a:pt x="109" y="251"/>
                  <a:pt x="93" y="248"/>
                  <a:pt x="78" y="242"/>
                </a:cubicBezTo>
                <a:cubicBezTo>
                  <a:pt x="63" y="235"/>
                  <a:pt x="49" y="226"/>
                  <a:pt x="38" y="214"/>
                </a:cubicBezTo>
                <a:cubicBezTo>
                  <a:pt x="26" y="203"/>
                  <a:pt x="17" y="189"/>
                  <a:pt x="11" y="174"/>
                </a:cubicBezTo>
                <a:cubicBezTo>
                  <a:pt x="3" y="159"/>
                  <a:pt x="0" y="143"/>
                  <a:pt x="0" y="126"/>
                </a:cubicBezTo>
                <a:cubicBezTo>
                  <a:pt x="0" y="110"/>
                  <a:pt x="3" y="94"/>
                  <a:pt x="11" y="78"/>
                </a:cubicBezTo>
                <a:cubicBezTo>
                  <a:pt x="17" y="63"/>
                  <a:pt x="26" y="49"/>
                  <a:pt x="38" y="37"/>
                </a:cubicBezTo>
                <a:cubicBezTo>
                  <a:pt x="49" y="25"/>
                  <a:pt x="63" y="16"/>
                  <a:pt x="78" y="10"/>
                </a:cubicBezTo>
                <a:cubicBezTo>
                  <a:pt x="93" y="3"/>
                  <a:pt x="109" y="0"/>
                  <a:pt x="126" y="0"/>
                </a:cubicBezTo>
                <a:cubicBezTo>
                  <a:pt x="143" y="0"/>
                  <a:pt x="159" y="3"/>
                  <a:pt x="174" y="10"/>
                </a:cubicBezTo>
                <a:cubicBezTo>
                  <a:pt x="189" y="16"/>
                  <a:pt x="203" y="25"/>
                  <a:pt x="214" y="37"/>
                </a:cubicBezTo>
                <a:cubicBezTo>
                  <a:pt x="226" y="49"/>
                  <a:pt x="235" y="63"/>
                  <a:pt x="241" y="78"/>
                </a:cubicBezTo>
                <a:cubicBezTo>
                  <a:pt x="248" y="94"/>
                  <a:pt x="251" y="110"/>
                  <a:pt x="251" y="12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696680" y="2100240"/>
            <a:ext cx="616572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 Turn and Talk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762120" y="3775320"/>
            <a:ext cx="10537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Can you think of another everyday example of emergence — a whole with a property that none of its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762120" y="4080240"/>
            <a:ext cx="259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parts have on their own?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762120" y="4833360"/>
            <a:ext cx="1130400" cy="597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0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4:00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1994400" y="5127840"/>
            <a:ext cx="792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minutes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"/>
          <p:cNvSpPr/>
          <p:nvPr/>
        </p:nvSpPr>
        <p:spPr>
          <a:xfrm>
            <a:off x="771480" y="3800160"/>
            <a:ext cx="2810160" cy="429120"/>
          </a:xfrm>
          <a:custGeom>
            <a:avLst/>
            <a:gdLst/>
            <a:ahLst/>
            <a:rect l="0" t="0" r="r" b="b"/>
            <a:pathLst>
              <a:path w="7806" h="1192">
                <a:moveTo>
                  <a:pt x="0" y="0"/>
                </a:moveTo>
                <a:lnTo>
                  <a:pt x="7806" y="0"/>
                </a:lnTo>
                <a:lnTo>
                  <a:pt x="7806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3581280" y="3800160"/>
            <a:ext cx="1352880" cy="429120"/>
          </a:xfrm>
          <a:custGeom>
            <a:avLst/>
            <a:gdLst/>
            <a:ahLst/>
            <a:rect l="0" t="0" r="r" b="b"/>
            <a:pathLst>
              <a:path w="3758" h="1192">
                <a:moveTo>
                  <a:pt x="0" y="0"/>
                </a:moveTo>
                <a:lnTo>
                  <a:pt x="3758" y="0"/>
                </a:lnTo>
                <a:lnTo>
                  <a:pt x="37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771480" y="4228920"/>
            <a:ext cx="2810160" cy="429120"/>
          </a:xfrm>
          <a:custGeom>
            <a:avLst/>
            <a:gdLst/>
            <a:ahLst/>
            <a:rect l="0" t="0" r="r" b="b"/>
            <a:pathLst>
              <a:path w="7806" h="1192">
                <a:moveTo>
                  <a:pt x="0" y="0"/>
                </a:moveTo>
                <a:lnTo>
                  <a:pt x="7806" y="0"/>
                </a:lnTo>
                <a:lnTo>
                  <a:pt x="7806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3581280" y="4228920"/>
            <a:ext cx="1352880" cy="429120"/>
          </a:xfrm>
          <a:custGeom>
            <a:avLst/>
            <a:gdLst/>
            <a:ahLst/>
            <a:rect l="0" t="0" r="r" b="b"/>
            <a:pathLst>
              <a:path w="3758" h="1192">
                <a:moveTo>
                  <a:pt x="0" y="0"/>
                </a:moveTo>
                <a:lnTo>
                  <a:pt x="3758" y="0"/>
                </a:lnTo>
                <a:lnTo>
                  <a:pt x="37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771480" y="4657680"/>
            <a:ext cx="2810160" cy="428760"/>
          </a:xfrm>
          <a:custGeom>
            <a:avLst/>
            <a:gdLst/>
            <a:ahLst/>
            <a:rect l="0" t="0" r="r" b="b"/>
            <a:pathLst>
              <a:path w="7806" h="1191">
                <a:moveTo>
                  <a:pt x="0" y="0"/>
                </a:moveTo>
                <a:lnTo>
                  <a:pt x="7806" y="0"/>
                </a:lnTo>
                <a:lnTo>
                  <a:pt x="7806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3581280" y="4657680"/>
            <a:ext cx="1352880" cy="428760"/>
          </a:xfrm>
          <a:custGeom>
            <a:avLst/>
            <a:gdLst/>
            <a:ahLst/>
            <a:rect l="0" t="0" r="r" b="b"/>
            <a:pathLst>
              <a:path w="3758" h="1191">
                <a:moveTo>
                  <a:pt x="0" y="0"/>
                </a:moveTo>
                <a:lnTo>
                  <a:pt x="3758" y="0"/>
                </a:lnTo>
                <a:lnTo>
                  <a:pt x="375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771480" y="5086080"/>
            <a:ext cx="2810160" cy="429120"/>
          </a:xfrm>
          <a:custGeom>
            <a:avLst/>
            <a:gdLst/>
            <a:ahLst/>
            <a:rect l="0" t="0" r="r" b="b"/>
            <a:pathLst>
              <a:path w="7806" h="1192">
                <a:moveTo>
                  <a:pt x="0" y="0"/>
                </a:moveTo>
                <a:lnTo>
                  <a:pt x="7806" y="0"/>
                </a:lnTo>
                <a:lnTo>
                  <a:pt x="7806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3581280" y="5086080"/>
            <a:ext cx="1352880" cy="429120"/>
          </a:xfrm>
          <a:custGeom>
            <a:avLst/>
            <a:gdLst/>
            <a:ahLst/>
            <a:rect l="0" t="0" r="r" b="b"/>
            <a:pathLst>
              <a:path w="3758" h="1192">
                <a:moveTo>
                  <a:pt x="0" y="0"/>
                </a:moveTo>
                <a:lnTo>
                  <a:pt x="3758" y="0"/>
                </a:lnTo>
                <a:lnTo>
                  <a:pt x="37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771480" y="5514840"/>
            <a:ext cx="2810160" cy="428760"/>
          </a:xfrm>
          <a:custGeom>
            <a:avLst/>
            <a:gdLst/>
            <a:ahLst/>
            <a:rect l="0" t="0" r="r" b="b"/>
            <a:pathLst>
              <a:path w="7806" h="1191">
                <a:moveTo>
                  <a:pt x="0" y="0"/>
                </a:moveTo>
                <a:lnTo>
                  <a:pt x="7806" y="0"/>
                </a:lnTo>
                <a:lnTo>
                  <a:pt x="7806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3581280" y="5514840"/>
            <a:ext cx="1352880" cy="428760"/>
          </a:xfrm>
          <a:custGeom>
            <a:avLst/>
            <a:gdLst/>
            <a:ahLst/>
            <a:rect l="0" t="0" r="r" b="b"/>
            <a:pathLst>
              <a:path w="3758" h="1191">
                <a:moveTo>
                  <a:pt x="0" y="0"/>
                </a:moveTo>
                <a:lnTo>
                  <a:pt x="3758" y="0"/>
                </a:lnTo>
                <a:lnTo>
                  <a:pt x="375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771480" y="5943240"/>
            <a:ext cx="2810160" cy="429120"/>
          </a:xfrm>
          <a:custGeom>
            <a:avLst/>
            <a:gdLst/>
            <a:ahLst/>
            <a:rect l="0" t="0" r="r" b="b"/>
            <a:pathLst>
              <a:path w="7806" h="1192">
                <a:moveTo>
                  <a:pt x="0" y="0"/>
                </a:moveTo>
                <a:lnTo>
                  <a:pt x="7806" y="0"/>
                </a:lnTo>
                <a:lnTo>
                  <a:pt x="7806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3581280" y="5943240"/>
            <a:ext cx="1352880" cy="429120"/>
          </a:xfrm>
          <a:custGeom>
            <a:avLst/>
            <a:gdLst/>
            <a:ahLst/>
            <a:rect l="0" t="0" r="r" b="b"/>
            <a:pathLst>
              <a:path w="3758" h="1192">
                <a:moveTo>
                  <a:pt x="0" y="0"/>
                </a:moveTo>
                <a:lnTo>
                  <a:pt x="3758" y="0"/>
                </a:lnTo>
                <a:lnTo>
                  <a:pt x="37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761760" y="38001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761760" y="3800160"/>
            <a:ext cx="2819880" cy="10080"/>
          </a:xfrm>
          <a:custGeom>
            <a:avLst/>
            <a:gdLst/>
            <a:ah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3571560" y="38001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3581280" y="380016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4924080" y="38001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761760" y="4228920"/>
            <a:ext cx="2819880" cy="9720"/>
          </a:xfrm>
          <a:custGeom>
            <a:avLst/>
            <a:gdLst/>
            <a:ah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3581280" y="422892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761760" y="4238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3571560" y="4238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4924080" y="4238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761760" y="466704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761760" y="4657680"/>
            <a:ext cx="2819880" cy="9720"/>
          </a:xfrm>
          <a:custGeom>
            <a:avLst/>
            <a:gdLst/>
            <a:ah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3571560" y="466704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3581280" y="465768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4924080" y="466704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761760" y="50860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761760" y="5076720"/>
            <a:ext cx="2819880" cy="9720"/>
          </a:xfrm>
          <a:custGeom>
            <a:avLst/>
            <a:gdLst/>
            <a:ah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3571560" y="50860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3581280" y="507672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4924080" y="50860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761760" y="551484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761760" y="5505120"/>
            <a:ext cx="2819880" cy="10080"/>
          </a:xfrm>
          <a:custGeom>
            <a:avLst/>
            <a:gdLst/>
            <a:ahLst/>
            <a:rect l="0" t="0" r="r" b="b"/>
            <a:pathLst>
              <a:path w="7833" h="28">
                <a:moveTo>
                  <a:pt x="0" y="0"/>
                </a:moveTo>
                <a:lnTo>
                  <a:pt x="7833" y="0"/>
                </a:lnTo>
                <a:lnTo>
                  <a:pt x="78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3571560" y="551484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3581280" y="5505120"/>
            <a:ext cx="1352880" cy="10080"/>
          </a:xfrm>
          <a:custGeom>
            <a:avLst/>
            <a:gdLst/>
            <a:ah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4924080" y="551484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761760" y="594324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761760" y="5933880"/>
            <a:ext cx="2819880" cy="9720"/>
          </a:xfrm>
          <a:custGeom>
            <a:avLst/>
            <a:gdLst/>
            <a:ah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3571560" y="594324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3581280" y="593388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4924080" y="594324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761760" y="6362640"/>
            <a:ext cx="2819880" cy="9720"/>
          </a:xfrm>
          <a:custGeom>
            <a:avLst/>
            <a:gdLst/>
            <a:ahLst/>
            <a:rect l="0" t="0" r="r" b="b"/>
            <a:pathLst>
              <a:path w="7833" h="27">
                <a:moveTo>
                  <a:pt x="0" y="0"/>
                </a:moveTo>
                <a:lnTo>
                  <a:pt x="7833" y="0"/>
                </a:lnTo>
                <a:lnTo>
                  <a:pt x="783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3581280" y="6362640"/>
            <a:ext cx="1352880" cy="9720"/>
          </a:xfrm>
          <a:custGeom>
            <a:avLst/>
            <a:gdLst/>
            <a:ah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762120" y="1413360"/>
            <a:ext cx="9646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Scientiﬁc disciplines can't be thought of independently, because everything is connected, and the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10479600" y="1413360"/>
            <a:ext cx="53388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same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762120" y="1717920"/>
            <a:ext cx="5947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phenomena show up across completely diﬀerent disciplines.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762120" y="3070440"/>
            <a:ext cx="9392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body, the brain, human society, and an ant colony all self-organize — the same underlying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762120" y="3375360"/>
            <a:ext cx="4523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phenomenon, studied by separate disciplines: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1497240" y="3899160"/>
            <a:ext cx="1350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Phenomenon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3737880" y="3899160"/>
            <a:ext cx="1033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Discipline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895320" y="4327920"/>
            <a:ext cx="2551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body / the ant colony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3709080" y="4327920"/>
            <a:ext cx="715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Biology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895320" y="4756680"/>
            <a:ext cx="938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brain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3709080" y="4756680"/>
            <a:ext cx="1011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Neurology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895320" y="5175720"/>
            <a:ext cx="1389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individual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3709080" y="5175720"/>
            <a:ext cx="1091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Psychology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895320" y="5604120"/>
            <a:ext cx="69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Society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3709080" y="5604120"/>
            <a:ext cx="93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Sociology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895320" y="6032880"/>
            <a:ext cx="780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Markets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3709080" y="6032880"/>
            <a:ext cx="1044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Economics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766440" y="2147760"/>
            <a:ext cx="10658880" cy="771840"/>
          </a:xfrm>
          <a:custGeom>
            <a:avLst/>
            <a:gdLst/>
            <a:ahLst/>
            <a:rect l="0" t="0" r="r" b="b"/>
            <a:pathLst>
              <a:path w="29608" h="2144">
                <a:moveTo>
                  <a:pt x="0" y="199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1998"/>
                </a:lnTo>
                <a:cubicBezTo>
                  <a:pt x="29608" y="2008"/>
                  <a:pt x="29607" y="2017"/>
                  <a:pt x="29605" y="2027"/>
                </a:cubicBezTo>
                <a:cubicBezTo>
                  <a:pt x="29604" y="2036"/>
                  <a:pt x="29601" y="2045"/>
                  <a:pt x="29597" y="2054"/>
                </a:cubicBezTo>
                <a:cubicBezTo>
                  <a:pt x="29594" y="2063"/>
                  <a:pt x="29589" y="2071"/>
                  <a:pt x="29584" y="2079"/>
                </a:cubicBezTo>
                <a:cubicBezTo>
                  <a:pt x="29578" y="2087"/>
                  <a:pt x="29572" y="2095"/>
                  <a:pt x="29566" y="2101"/>
                </a:cubicBezTo>
                <a:cubicBezTo>
                  <a:pt x="29559" y="2108"/>
                  <a:pt x="29552" y="2114"/>
                  <a:pt x="29544" y="2119"/>
                </a:cubicBezTo>
                <a:cubicBezTo>
                  <a:pt x="29536" y="2125"/>
                  <a:pt x="29527" y="2129"/>
                  <a:pt x="29518" y="2133"/>
                </a:cubicBezTo>
                <a:cubicBezTo>
                  <a:pt x="29510" y="2137"/>
                  <a:pt x="29501" y="2139"/>
                  <a:pt x="29491" y="2141"/>
                </a:cubicBezTo>
                <a:cubicBezTo>
                  <a:pt x="29482" y="2143"/>
                  <a:pt x="29472" y="2144"/>
                  <a:pt x="29463" y="2144"/>
                </a:cubicBezTo>
                <a:lnTo>
                  <a:pt x="146" y="2144"/>
                </a:lnTo>
                <a:cubicBezTo>
                  <a:pt x="136" y="2144"/>
                  <a:pt x="127" y="2143"/>
                  <a:pt x="118" y="2141"/>
                </a:cubicBezTo>
                <a:cubicBezTo>
                  <a:pt x="108" y="2139"/>
                  <a:pt x="99" y="2137"/>
                  <a:pt x="90" y="2133"/>
                </a:cubicBezTo>
                <a:cubicBezTo>
                  <a:pt x="81" y="2129"/>
                  <a:pt x="73" y="2125"/>
                  <a:pt x="65" y="2119"/>
                </a:cubicBezTo>
                <a:cubicBezTo>
                  <a:pt x="57" y="2114"/>
                  <a:pt x="50" y="2108"/>
                  <a:pt x="43" y="2101"/>
                </a:cubicBezTo>
                <a:cubicBezTo>
                  <a:pt x="36" y="2095"/>
                  <a:pt x="30" y="2087"/>
                  <a:pt x="25" y="2079"/>
                </a:cubicBezTo>
                <a:cubicBezTo>
                  <a:pt x="20" y="2071"/>
                  <a:pt x="15" y="2063"/>
                  <a:pt x="11" y="2054"/>
                </a:cubicBezTo>
                <a:cubicBezTo>
                  <a:pt x="8" y="2045"/>
                  <a:pt x="5" y="2036"/>
                  <a:pt x="3" y="2027"/>
                </a:cubicBezTo>
                <a:cubicBezTo>
                  <a:pt x="1" y="2017"/>
                  <a:pt x="0" y="2008"/>
                  <a:pt x="0" y="1998"/>
                </a:cubicBez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766440" y="2147760"/>
            <a:ext cx="10658880" cy="771840"/>
          </a:xfrm>
          <a:custGeom>
            <a:avLst/>
            <a:gdLst/>
            <a:ahLst/>
            <a:rect l="0" t="0" r="r" b="b"/>
            <a:pathLst>
              <a:path fill="none" w="29608" h="2144">
                <a:moveTo>
                  <a:pt x="0" y="199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1998"/>
                </a:lnTo>
                <a:cubicBezTo>
                  <a:pt x="29608" y="2008"/>
                  <a:pt x="29607" y="2017"/>
                  <a:pt x="29605" y="2027"/>
                </a:cubicBezTo>
                <a:cubicBezTo>
                  <a:pt x="29604" y="2036"/>
                  <a:pt x="29601" y="2045"/>
                  <a:pt x="29597" y="2054"/>
                </a:cubicBezTo>
                <a:cubicBezTo>
                  <a:pt x="29594" y="2063"/>
                  <a:pt x="29589" y="2071"/>
                  <a:pt x="29584" y="2079"/>
                </a:cubicBezTo>
                <a:cubicBezTo>
                  <a:pt x="29578" y="2087"/>
                  <a:pt x="29572" y="2095"/>
                  <a:pt x="29566" y="2101"/>
                </a:cubicBezTo>
                <a:cubicBezTo>
                  <a:pt x="29559" y="2108"/>
                  <a:pt x="29552" y="2114"/>
                  <a:pt x="29544" y="2119"/>
                </a:cubicBezTo>
                <a:cubicBezTo>
                  <a:pt x="29536" y="2125"/>
                  <a:pt x="29527" y="2129"/>
                  <a:pt x="29518" y="2133"/>
                </a:cubicBezTo>
                <a:cubicBezTo>
                  <a:pt x="29510" y="2137"/>
                  <a:pt x="29501" y="2139"/>
                  <a:pt x="29491" y="2141"/>
                </a:cubicBezTo>
                <a:cubicBezTo>
                  <a:pt x="29482" y="2143"/>
                  <a:pt x="29472" y="2144"/>
                  <a:pt x="29463" y="2144"/>
                </a:cubicBezTo>
                <a:lnTo>
                  <a:pt x="146" y="2144"/>
                </a:lnTo>
                <a:cubicBezTo>
                  <a:pt x="136" y="2144"/>
                  <a:pt x="127" y="2143"/>
                  <a:pt x="118" y="2141"/>
                </a:cubicBezTo>
                <a:cubicBezTo>
                  <a:pt x="108" y="2139"/>
                  <a:pt x="99" y="2137"/>
                  <a:pt x="90" y="2133"/>
                </a:cubicBezTo>
                <a:cubicBezTo>
                  <a:pt x="81" y="2129"/>
                  <a:pt x="73" y="2125"/>
                  <a:pt x="65" y="2119"/>
                </a:cubicBezTo>
                <a:cubicBezTo>
                  <a:pt x="57" y="2114"/>
                  <a:pt x="50" y="2108"/>
                  <a:pt x="43" y="2101"/>
                </a:cubicBezTo>
                <a:cubicBezTo>
                  <a:pt x="36" y="2095"/>
                  <a:pt x="30" y="2087"/>
                  <a:pt x="25" y="2079"/>
                </a:cubicBezTo>
                <a:cubicBezTo>
                  <a:pt x="20" y="2071"/>
                  <a:pt x="15" y="2063"/>
                  <a:pt x="11" y="2054"/>
                </a:cubicBezTo>
                <a:cubicBezTo>
                  <a:pt x="8" y="2045"/>
                  <a:pt x="5" y="2036"/>
                  <a:pt x="3" y="2027"/>
                </a:cubicBezTo>
                <a:cubicBezTo>
                  <a:pt x="1" y="2017"/>
                  <a:pt x="0" y="2008"/>
                  <a:pt x="0" y="1998"/>
                </a:cubicBezTo>
              </a:path>
            </a:pathLst>
          </a:custGeom>
          <a:ln w="9360">
            <a:solidFill>
              <a:srgbClr val="d9d9d9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762120" y="372600"/>
            <a:ext cx="89204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Interdisciplinary Insight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923760" y="2252160"/>
            <a:ext cx="10360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"It is inculcated by our great universities [that] there's such a thing as psychology which is diﬀerent from sociology...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923760" y="2528280"/>
            <a:ext cx="8409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that the world is made of separable items of knowledge... The world is not like that at all."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"/>
          <p:cNvSpPr/>
          <p:nvPr/>
        </p:nvSpPr>
        <p:spPr>
          <a:xfrm>
            <a:off x="971280" y="23238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1168200" y="2232360"/>
            <a:ext cx="338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theoretical perspective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4607280" y="2232360"/>
            <a:ext cx="10303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(umbrella)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5559840" y="2232360"/>
            <a:ext cx="5128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— the world as one connected system; attention 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1371240" y="2933640"/>
            <a:ext cx="67320" cy="66960"/>
          </a:xfrm>
          <a:custGeom>
            <a:avLst/>
            <a:gdLst/>
            <a:ahLst/>
            <a:rect l="0" t="0" r="r" b="b"/>
            <a:pathLst>
              <a:path fill="none" w="187" h="186">
                <a:moveTo>
                  <a:pt x="187" y="93"/>
                </a:moveTo>
                <a:cubicBezTo>
                  <a:pt x="187" y="106"/>
                  <a:pt x="184" y="117"/>
                  <a:pt x="180" y="129"/>
                </a:cubicBezTo>
                <a:cubicBezTo>
                  <a:pt x="175" y="140"/>
                  <a:pt x="167" y="150"/>
                  <a:pt x="159" y="159"/>
                </a:cubicBezTo>
                <a:cubicBezTo>
                  <a:pt x="150" y="167"/>
                  <a:pt x="140" y="174"/>
                  <a:pt x="129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7"/>
                  <a:pt x="28" y="159"/>
                </a:cubicBezTo>
                <a:cubicBezTo>
                  <a:pt x="19" y="150"/>
                  <a:pt x="12" y="140"/>
                  <a:pt x="8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0"/>
                  <a:pt x="3" y="68"/>
                  <a:pt x="8" y="57"/>
                </a:cubicBezTo>
                <a:cubicBezTo>
                  <a:pt x="12" y="45"/>
                  <a:pt x="19" y="35"/>
                  <a:pt x="28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9" y="7"/>
                </a:cubicBezTo>
                <a:cubicBezTo>
                  <a:pt x="140" y="11"/>
                  <a:pt x="150" y="18"/>
                  <a:pt x="159" y="27"/>
                </a:cubicBezTo>
                <a:cubicBezTo>
                  <a:pt x="167" y="35"/>
                  <a:pt x="175" y="45"/>
                  <a:pt x="180" y="57"/>
                </a:cubicBezTo>
                <a:cubicBezTo>
                  <a:pt x="184" y="68"/>
                  <a:pt x="187" y="80"/>
                  <a:pt x="187" y="93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1168200" y="2537280"/>
            <a:ext cx="2980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interactions between its parts.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1574640" y="2841840"/>
            <a:ext cx="2314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theory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the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3940200" y="2841840"/>
            <a:ext cx="12715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hard science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5127840" y="2841840"/>
            <a:ext cx="5656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layer: research, measurement, mathematical description.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1371240" y="3590640"/>
            <a:ext cx="67320" cy="66960"/>
          </a:xfrm>
          <a:custGeom>
            <a:avLst/>
            <a:gdLst/>
            <a:ahLst/>
            <a:rect l="0" t="0" r="r" b="b"/>
            <a:pathLst>
              <a:path fill="none" w="187" h="186">
                <a:moveTo>
                  <a:pt x="187" y="93"/>
                </a:moveTo>
                <a:cubicBezTo>
                  <a:pt x="187" y="105"/>
                  <a:pt x="184" y="118"/>
                  <a:pt x="180" y="129"/>
                </a:cubicBezTo>
                <a:cubicBezTo>
                  <a:pt x="175" y="141"/>
                  <a:pt x="167" y="151"/>
                  <a:pt x="159" y="159"/>
                </a:cubicBezTo>
                <a:cubicBezTo>
                  <a:pt x="150" y="168"/>
                  <a:pt x="140" y="175"/>
                  <a:pt x="129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5"/>
                  <a:pt x="36" y="168"/>
                  <a:pt x="28" y="159"/>
                </a:cubicBezTo>
                <a:cubicBezTo>
                  <a:pt x="19" y="151"/>
                  <a:pt x="12" y="141"/>
                  <a:pt x="8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8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9"/>
                  <a:pt x="46" y="12"/>
                  <a:pt x="58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9" y="7"/>
                </a:cubicBezTo>
                <a:cubicBezTo>
                  <a:pt x="140" y="12"/>
                  <a:pt x="150" y="19"/>
                  <a:pt x="159" y="27"/>
                </a:cubicBezTo>
                <a:cubicBezTo>
                  <a:pt x="167" y="36"/>
                  <a:pt x="175" y="46"/>
                  <a:pt x="180" y="57"/>
                </a:cubicBezTo>
                <a:cubicBezTo>
                  <a:pt x="184" y="69"/>
                  <a:pt x="187" y="81"/>
                  <a:pt x="187" y="93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1574640" y="3146760"/>
            <a:ext cx="4506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Numerous, sometimes contradictory theories.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1574640" y="3499200"/>
            <a:ext cx="2515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thinking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the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4142160" y="3499200"/>
            <a:ext cx="4633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craft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4543200" y="3499200"/>
            <a:ext cx="631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applying systems theory to concrete areas (psychology, health,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1371240" y="4248000"/>
            <a:ext cx="67320" cy="66960"/>
          </a:xfrm>
          <a:custGeom>
            <a:avLst/>
            <a:gdLst/>
            <a:ahLst/>
            <a:rect l="0" t="0" r="r" b="b"/>
            <a:pathLst>
              <a:path fill="none" w="187" h="186">
                <a:moveTo>
                  <a:pt x="187" y="93"/>
                </a:moveTo>
                <a:cubicBezTo>
                  <a:pt x="187" y="105"/>
                  <a:pt x="184" y="117"/>
                  <a:pt x="180" y="128"/>
                </a:cubicBezTo>
                <a:cubicBezTo>
                  <a:pt x="175" y="140"/>
                  <a:pt x="167" y="150"/>
                  <a:pt x="159" y="159"/>
                </a:cubicBezTo>
                <a:cubicBezTo>
                  <a:pt x="150" y="168"/>
                  <a:pt x="140" y="174"/>
                  <a:pt x="129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8" y="179"/>
                </a:cubicBezTo>
                <a:cubicBezTo>
                  <a:pt x="46" y="174"/>
                  <a:pt x="36" y="168"/>
                  <a:pt x="28" y="159"/>
                </a:cubicBezTo>
                <a:cubicBezTo>
                  <a:pt x="19" y="150"/>
                  <a:pt x="12" y="140"/>
                  <a:pt x="8" y="128"/>
                </a:cubicBezTo>
                <a:cubicBezTo>
                  <a:pt x="3" y="117"/>
                  <a:pt x="0" y="105"/>
                  <a:pt x="0" y="93"/>
                </a:cubicBezTo>
                <a:cubicBezTo>
                  <a:pt x="0" y="80"/>
                  <a:pt x="3" y="68"/>
                  <a:pt x="8" y="57"/>
                </a:cubicBezTo>
                <a:cubicBezTo>
                  <a:pt x="12" y="46"/>
                  <a:pt x="19" y="36"/>
                  <a:pt x="28" y="27"/>
                </a:cubicBezTo>
                <a:cubicBezTo>
                  <a:pt x="36" y="18"/>
                  <a:pt x="46" y="12"/>
                  <a:pt x="58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9" y="7"/>
                </a:cubicBezTo>
                <a:cubicBezTo>
                  <a:pt x="140" y="12"/>
                  <a:pt x="150" y="18"/>
                  <a:pt x="159" y="27"/>
                </a:cubicBezTo>
                <a:cubicBezTo>
                  <a:pt x="167" y="36"/>
                  <a:pt x="175" y="46"/>
                  <a:pt x="180" y="57"/>
                </a:cubicBezTo>
                <a:cubicBezTo>
                  <a:pt x="184" y="68"/>
                  <a:pt x="187" y="80"/>
                  <a:pt x="187" y="93"/>
                </a:cubicBezTo>
              </a:path>
            </a:pathLst>
          </a:custGeom>
          <a:ln w="9360">
            <a:solidFill>
              <a:srgbClr val="0a5387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1574640" y="3804120"/>
            <a:ext cx="2757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management, personal life).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1574640" y="4156560"/>
            <a:ext cx="2153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Systems philosophy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3778920" y="4156560"/>
            <a:ext cx="104868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(≈ holism)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4749120" y="4156560"/>
            <a:ext cx="6616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— metaphysical and ethical questions: meaning, ethics, the role of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1780920" y="4857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0" y="0"/>
                </a:moveTo>
                <a:lnTo>
                  <a:pt x="186" y="0"/>
                </a:lnTo>
                <a:lnTo>
                  <a:pt x="186" y="186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1574640" y="4461120"/>
            <a:ext cx="1483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consciousness.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1780920" y="52099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0" y="0"/>
                </a:moveTo>
                <a:lnTo>
                  <a:pt x="186" y="0"/>
                </a:lnTo>
                <a:lnTo>
                  <a:pt x="186" y="186"/>
                </a:lnTo>
                <a:lnTo>
                  <a:pt x="0" y="186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1981080" y="4766040"/>
            <a:ext cx="857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Whitehead — process philosophy: reality as process and relations, not ﬁxed substance.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1981080" y="5118480"/>
            <a:ext cx="6382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Hegel — a whole that unfolds through contradiction and change.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762120" y="-8280"/>
            <a:ext cx="87753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Terminology: One Umbrella,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762120" y="753480"/>
            <a:ext cx="40046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Three Terms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5" name=""/>
          <p:cNvSpPr/>
          <p:nvPr/>
        </p:nvSpPr>
        <p:spPr>
          <a:xfrm>
            <a:off x="771480" y="2180880"/>
            <a:ext cx="1438560" cy="429120"/>
          </a:xfrm>
          <a:custGeom>
            <a:avLst/>
            <a:gdLst/>
            <a:ahLst/>
            <a:rect l="0" t="0" r="r" b="b"/>
            <a:pathLst>
              <a:path w="3996" h="1192">
                <a:moveTo>
                  <a:pt x="0" y="0"/>
                </a:moveTo>
                <a:lnTo>
                  <a:pt x="3996" y="0"/>
                </a:lnTo>
                <a:lnTo>
                  <a:pt x="3996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2209680" y="2180880"/>
            <a:ext cx="2848320" cy="429120"/>
          </a:xfrm>
          <a:custGeom>
            <a:avLst/>
            <a:gdLst/>
            <a:ahLst/>
            <a:rect l="0" t="0" r="r" b="b"/>
            <a:pathLst>
              <a:path w="7912" h="1192">
                <a:moveTo>
                  <a:pt x="0" y="0"/>
                </a:moveTo>
                <a:lnTo>
                  <a:pt x="7912" y="0"/>
                </a:lnTo>
                <a:lnTo>
                  <a:pt x="7912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5057640" y="2180880"/>
            <a:ext cx="6372360" cy="429120"/>
          </a:xfrm>
          <a:custGeom>
            <a:avLst/>
            <a:gdLst/>
            <a:ahLst/>
            <a:rect l="0" t="0" r="r" b="b"/>
            <a:pathLst>
              <a:path w="17701" h="1192">
                <a:moveTo>
                  <a:pt x="0" y="0"/>
                </a:moveTo>
                <a:lnTo>
                  <a:pt x="17701" y="0"/>
                </a:lnTo>
                <a:lnTo>
                  <a:pt x="1770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771480" y="2609640"/>
            <a:ext cx="1438560" cy="733680"/>
          </a:xfrm>
          <a:custGeom>
            <a:avLst/>
            <a:gdLst/>
            <a:ahLst/>
            <a:rect l="0" t="0" r="r" b="b"/>
            <a:pathLst>
              <a:path w="3996" h="2038">
                <a:moveTo>
                  <a:pt x="0" y="0"/>
                </a:moveTo>
                <a:lnTo>
                  <a:pt x="3996" y="0"/>
                </a:lnTo>
                <a:lnTo>
                  <a:pt x="3996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2209680" y="2609640"/>
            <a:ext cx="2848320" cy="733680"/>
          </a:xfrm>
          <a:custGeom>
            <a:avLst/>
            <a:gdLst/>
            <a:ahLst/>
            <a:rect l="0" t="0" r="r" b="b"/>
            <a:pathLst>
              <a:path w="7912" h="2038">
                <a:moveTo>
                  <a:pt x="0" y="0"/>
                </a:moveTo>
                <a:lnTo>
                  <a:pt x="7912" y="0"/>
                </a:lnTo>
                <a:lnTo>
                  <a:pt x="7912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5057640" y="2609640"/>
            <a:ext cx="6372360" cy="733680"/>
          </a:xfrm>
          <a:custGeom>
            <a:avLst/>
            <a:gdLst/>
            <a:ahLst/>
            <a:rect l="0" t="0" r="r" b="b"/>
            <a:pathLst>
              <a:path w="17701" h="2038">
                <a:moveTo>
                  <a:pt x="0" y="0"/>
                </a:moveTo>
                <a:lnTo>
                  <a:pt x="17701" y="0"/>
                </a:lnTo>
                <a:lnTo>
                  <a:pt x="17701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771480" y="3342960"/>
            <a:ext cx="1438560" cy="734040"/>
          </a:xfrm>
          <a:custGeom>
            <a:avLst/>
            <a:gdLst/>
            <a:ahLst/>
            <a:rect l="0" t="0" r="r" b="b"/>
            <a:pathLst>
              <a:path w="3996" h="2039">
                <a:moveTo>
                  <a:pt x="0" y="0"/>
                </a:moveTo>
                <a:lnTo>
                  <a:pt x="3996" y="0"/>
                </a:lnTo>
                <a:lnTo>
                  <a:pt x="3996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2209680" y="3342960"/>
            <a:ext cx="2848320" cy="734040"/>
          </a:xfrm>
          <a:custGeom>
            <a:avLst/>
            <a:gdLst/>
            <a:ahLst/>
            <a:rect l="0" t="0" r="r" b="b"/>
            <a:pathLst>
              <a:path w="7912" h="2039">
                <a:moveTo>
                  <a:pt x="0" y="0"/>
                </a:moveTo>
                <a:lnTo>
                  <a:pt x="7912" y="0"/>
                </a:lnTo>
                <a:lnTo>
                  <a:pt x="7912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5057640" y="3342960"/>
            <a:ext cx="6372360" cy="734040"/>
          </a:xfrm>
          <a:custGeom>
            <a:avLst/>
            <a:gdLst/>
            <a:ahLst/>
            <a:rect l="0" t="0" r="r" b="b"/>
            <a:pathLst>
              <a:path w="17701" h="2039">
                <a:moveTo>
                  <a:pt x="0" y="0"/>
                </a:moveTo>
                <a:lnTo>
                  <a:pt x="17701" y="0"/>
                </a:lnTo>
                <a:lnTo>
                  <a:pt x="17701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771480" y="4076640"/>
            <a:ext cx="1438560" cy="723960"/>
          </a:xfrm>
          <a:custGeom>
            <a:avLst/>
            <a:gdLst/>
            <a:ahLst/>
            <a:rect l="0" t="0" r="r" b="b"/>
            <a:pathLst>
              <a:path w="3996" h="2011">
                <a:moveTo>
                  <a:pt x="0" y="0"/>
                </a:moveTo>
                <a:lnTo>
                  <a:pt x="3996" y="0"/>
                </a:lnTo>
                <a:lnTo>
                  <a:pt x="3996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2209680" y="4076640"/>
            <a:ext cx="2848320" cy="723960"/>
          </a:xfrm>
          <a:custGeom>
            <a:avLst/>
            <a:gdLst/>
            <a:ahLst/>
            <a:rect l="0" t="0" r="r" b="b"/>
            <a:pathLst>
              <a:path w="7912" h="2011">
                <a:moveTo>
                  <a:pt x="0" y="0"/>
                </a:moveTo>
                <a:lnTo>
                  <a:pt x="7912" y="0"/>
                </a:lnTo>
                <a:lnTo>
                  <a:pt x="7912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5057640" y="4076640"/>
            <a:ext cx="6372360" cy="723960"/>
          </a:xfrm>
          <a:custGeom>
            <a:avLst/>
            <a:gdLst/>
            <a:ahLst/>
            <a:rect l="0" t="0" r="r" b="b"/>
            <a:pathLst>
              <a:path w="17701" h="2011">
                <a:moveTo>
                  <a:pt x="0" y="0"/>
                </a:moveTo>
                <a:lnTo>
                  <a:pt x="17701" y="0"/>
                </a:lnTo>
                <a:lnTo>
                  <a:pt x="1770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771480" y="4800240"/>
            <a:ext cx="1438560" cy="734040"/>
          </a:xfrm>
          <a:custGeom>
            <a:avLst/>
            <a:gdLst/>
            <a:ahLst/>
            <a:rect l="0" t="0" r="r" b="b"/>
            <a:pathLst>
              <a:path w="3996" h="2039">
                <a:moveTo>
                  <a:pt x="0" y="0"/>
                </a:moveTo>
                <a:lnTo>
                  <a:pt x="3996" y="0"/>
                </a:lnTo>
                <a:lnTo>
                  <a:pt x="3996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2209680" y="4800240"/>
            <a:ext cx="2848320" cy="734040"/>
          </a:xfrm>
          <a:custGeom>
            <a:avLst/>
            <a:gdLst/>
            <a:ahLst/>
            <a:rect l="0" t="0" r="r" b="b"/>
            <a:pathLst>
              <a:path w="7912" h="2039">
                <a:moveTo>
                  <a:pt x="0" y="0"/>
                </a:moveTo>
                <a:lnTo>
                  <a:pt x="7912" y="0"/>
                </a:lnTo>
                <a:lnTo>
                  <a:pt x="7912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5057640" y="4800240"/>
            <a:ext cx="6372360" cy="734040"/>
          </a:xfrm>
          <a:custGeom>
            <a:avLst/>
            <a:gdLst/>
            <a:ahLst/>
            <a:rect l="0" t="0" r="r" b="b"/>
            <a:pathLst>
              <a:path w="17701" h="2039">
                <a:moveTo>
                  <a:pt x="0" y="0"/>
                </a:moveTo>
                <a:lnTo>
                  <a:pt x="17701" y="0"/>
                </a:lnTo>
                <a:lnTo>
                  <a:pt x="17701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771480" y="5533920"/>
            <a:ext cx="1438560" cy="428760"/>
          </a:xfrm>
          <a:custGeom>
            <a:avLst/>
            <a:gdLst/>
            <a:ahLst/>
            <a:rect l="0" t="0" r="r" b="b"/>
            <a:pathLst>
              <a:path w="3996" h="1191">
                <a:moveTo>
                  <a:pt x="0" y="0"/>
                </a:moveTo>
                <a:lnTo>
                  <a:pt x="3996" y="0"/>
                </a:lnTo>
                <a:lnTo>
                  <a:pt x="3996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2209680" y="5533920"/>
            <a:ext cx="2848320" cy="428760"/>
          </a:xfrm>
          <a:custGeom>
            <a:avLst/>
            <a:gdLst/>
            <a:ahLst/>
            <a:rect l="0" t="0" r="r" b="b"/>
            <a:pathLst>
              <a:path w="7912" h="1191">
                <a:moveTo>
                  <a:pt x="0" y="0"/>
                </a:moveTo>
                <a:lnTo>
                  <a:pt x="7912" y="0"/>
                </a:lnTo>
                <a:lnTo>
                  <a:pt x="7912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5057640" y="5533920"/>
            <a:ext cx="6372360" cy="428760"/>
          </a:xfrm>
          <a:custGeom>
            <a:avLst/>
            <a:gdLst/>
            <a:ahLst/>
            <a:rect l="0" t="0" r="r" b="b"/>
            <a:pathLst>
              <a:path w="17701" h="1191">
                <a:moveTo>
                  <a:pt x="0" y="0"/>
                </a:moveTo>
                <a:lnTo>
                  <a:pt x="17701" y="0"/>
                </a:lnTo>
                <a:lnTo>
                  <a:pt x="1770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761760" y="217152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761760" y="2171520"/>
            <a:ext cx="1448280" cy="9720"/>
          </a:xfrm>
          <a:custGeom>
            <a:avLst/>
            <a:gdLst/>
            <a:ahLst/>
            <a:rect l="0" t="0" r="r" b="b"/>
            <a:pathLst>
              <a:path w="4023" h="27">
                <a:moveTo>
                  <a:pt x="0" y="0"/>
                </a:moveTo>
                <a:lnTo>
                  <a:pt x="4023" y="0"/>
                </a:lnTo>
                <a:lnTo>
                  <a:pt x="40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2199960" y="217152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2209680" y="2171520"/>
            <a:ext cx="2848320" cy="9720"/>
          </a:xfrm>
          <a:custGeom>
            <a:avLst/>
            <a:gdLst/>
            <a:ahLst/>
            <a:rect l="0" t="0" r="r" b="b"/>
            <a:pathLst>
              <a:path w="7912" h="27">
                <a:moveTo>
                  <a:pt x="0" y="0"/>
                </a:moveTo>
                <a:lnTo>
                  <a:pt x="7912" y="0"/>
                </a:lnTo>
                <a:lnTo>
                  <a:pt x="7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5047920" y="217152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5057640" y="2171520"/>
            <a:ext cx="6372360" cy="9720"/>
          </a:xfrm>
          <a:custGeom>
            <a:avLst/>
            <a:gdLst/>
            <a:ahLst/>
            <a:rect l="0" t="0" r="r" b="b"/>
            <a:pathLst>
              <a:path w="17701" h="27">
                <a:moveTo>
                  <a:pt x="0" y="0"/>
                </a:moveTo>
                <a:lnTo>
                  <a:pt x="17701" y="0"/>
                </a:lnTo>
                <a:lnTo>
                  <a:pt x="177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1420280" y="217152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761760" y="2600280"/>
            <a:ext cx="1448280" cy="9720"/>
          </a:xfrm>
          <a:custGeom>
            <a:avLst/>
            <a:gdLst/>
            <a:ahLst/>
            <a:rect l="0" t="0" r="r" b="b"/>
            <a:pathLst>
              <a:path w="4023" h="27">
                <a:moveTo>
                  <a:pt x="0" y="0"/>
                </a:moveTo>
                <a:lnTo>
                  <a:pt x="4023" y="0"/>
                </a:lnTo>
                <a:lnTo>
                  <a:pt x="40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2209680" y="2600280"/>
            <a:ext cx="2848320" cy="9720"/>
          </a:xfrm>
          <a:custGeom>
            <a:avLst/>
            <a:gdLst/>
            <a:ahLst/>
            <a:rect l="0" t="0" r="r" b="b"/>
            <a:pathLst>
              <a:path w="7912" h="27">
                <a:moveTo>
                  <a:pt x="0" y="0"/>
                </a:moveTo>
                <a:lnTo>
                  <a:pt x="7912" y="0"/>
                </a:lnTo>
                <a:lnTo>
                  <a:pt x="7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5057640" y="2600280"/>
            <a:ext cx="6372360" cy="9720"/>
          </a:xfrm>
          <a:custGeom>
            <a:avLst/>
            <a:gdLst/>
            <a:ahLst/>
            <a:rect l="0" t="0" r="r" b="b"/>
            <a:pathLst>
              <a:path w="17701" h="27">
                <a:moveTo>
                  <a:pt x="0" y="0"/>
                </a:moveTo>
                <a:lnTo>
                  <a:pt x="17701" y="0"/>
                </a:lnTo>
                <a:lnTo>
                  <a:pt x="177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761760" y="260964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2199960" y="260964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5047920" y="260964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11420280" y="260964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761760" y="3342960"/>
            <a:ext cx="10080" cy="734040"/>
          </a:xfrm>
          <a:custGeom>
            <a:avLst/>
            <a:gdLst/>
            <a:ahLst/>
            <a:rect l="0" t="0" r="r" b="b"/>
            <a:pathLst>
              <a:path w="28" h="2039">
                <a:moveTo>
                  <a:pt x="0" y="0"/>
                </a:moveTo>
                <a:lnTo>
                  <a:pt x="28" y="0"/>
                </a:lnTo>
                <a:lnTo>
                  <a:pt x="28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761760" y="3333600"/>
            <a:ext cx="1448280" cy="9720"/>
          </a:xfrm>
          <a:custGeom>
            <a:avLst/>
            <a:gdLst/>
            <a:ahLst/>
            <a:rect l="0" t="0" r="r" b="b"/>
            <a:pathLst>
              <a:path w="4023" h="27">
                <a:moveTo>
                  <a:pt x="0" y="0"/>
                </a:moveTo>
                <a:lnTo>
                  <a:pt x="4023" y="0"/>
                </a:lnTo>
                <a:lnTo>
                  <a:pt x="40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2199960" y="3342960"/>
            <a:ext cx="10080" cy="734040"/>
          </a:xfrm>
          <a:custGeom>
            <a:avLst/>
            <a:gdLst/>
            <a:ahLst/>
            <a:rect l="0" t="0" r="r" b="b"/>
            <a:pathLst>
              <a:path w="28" h="2039">
                <a:moveTo>
                  <a:pt x="0" y="0"/>
                </a:moveTo>
                <a:lnTo>
                  <a:pt x="28" y="0"/>
                </a:lnTo>
                <a:lnTo>
                  <a:pt x="28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2209680" y="3333600"/>
            <a:ext cx="2848320" cy="9720"/>
          </a:xfrm>
          <a:custGeom>
            <a:avLst/>
            <a:gdLst/>
            <a:ahLst/>
            <a:rect l="0" t="0" r="r" b="b"/>
            <a:pathLst>
              <a:path w="7912" h="27">
                <a:moveTo>
                  <a:pt x="0" y="0"/>
                </a:moveTo>
                <a:lnTo>
                  <a:pt x="7912" y="0"/>
                </a:lnTo>
                <a:lnTo>
                  <a:pt x="7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5047920" y="3342960"/>
            <a:ext cx="10080" cy="734040"/>
          </a:xfrm>
          <a:custGeom>
            <a:avLst/>
            <a:gdLst/>
            <a:ahLst/>
            <a:rect l="0" t="0" r="r" b="b"/>
            <a:pathLst>
              <a:path w="28" h="2039">
                <a:moveTo>
                  <a:pt x="0" y="0"/>
                </a:moveTo>
                <a:lnTo>
                  <a:pt x="28" y="0"/>
                </a:lnTo>
                <a:lnTo>
                  <a:pt x="28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5057640" y="3333600"/>
            <a:ext cx="6372360" cy="9720"/>
          </a:xfrm>
          <a:custGeom>
            <a:avLst/>
            <a:gdLst/>
            <a:ahLst/>
            <a:rect l="0" t="0" r="r" b="b"/>
            <a:pathLst>
              <a:path w="17701" h="27">
                <a:moveTo>
                  <a:pt x="0" y="0"/>
                </a:moveTo>
                <a:lnTo>
                  <a:pt x="17701" y="0"/>
                </a:lnTo>
                <a:lnTo>
                  <a:pt x="177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11420280" y="3342960"/>
            <a:ext cx="9720" cy="734040"/>
          </a:xfrm>
          <a:custGeom>
            <a:avLst/>
            <a:gdLst/>
            <a:ahLst/>
            <a:rect l="0" t="0" r="r" b="b"/>
            <a:pathLst>
              <a:path w="27" h="2039">
                <a:moveTo>
                  <a:pt x="0" y="0"/>
                </a:moveTo>
                <a:lnTo>
                  <a:pt x="27" y="0"/>
                </a:lnTo>
                <a:lnTo>
                  <a:pt x="27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761760" y="407664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761760" y="4066920"/>
            <a:ext cx="1448280" cy="10080"/>
          </a:xfrm>
          <a:custGeom>
            <a:avLst/>
            <a:gdLst/>
            <a:ahLst/>
            <a:rect l="0" t="0" r="r" b="b"/>
            <a:pathLst>
              <a:path w="4023" h="28">
                <a:moveTo>
                  <a:pt x="0" y="0"/>
                </a:moveTo>
                <a:lnTo>
                  <a:pt x="4023" y="0"/>
                </a:lnTo>
                <a:lnTo>
                  <a:pt x="40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2199960" y="407664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2209680" y="4066920"/>
            <a:ext cx="2848320" cy="10080"/>
          </a:xfrm>
          <a:custGeom>
            <a:avLst/>
            <a:gdLst/>
            <a:ahLst/>
            <a:rect l="0" t="0" r="r" b="b"/>
            <a:pathLst>
              <a:path w="7912" h="28">
                <a:moveTo>
                  <a:pt x="0" y="0"/>
                </a:moveTo>
                <a:lnTo>
                  <a:pt x="7912" y="0"/>
                </a:lnTo>
                <a:lnTo>
                  <a:pt x="79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5047920" y="407664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5057640" y="4066920"/>
            <a:ext cx="6372360" cy="10080"/>
          </a:xfrm>
          <a:custGeom>
            <a:avLst/>
            <a:gdLst/>
            <a:ahLst/>
            <a:rect l="0" t="0" r="r" b="b"/>
            <a:pathLst>
              <a:path w="17701" h="28">
                <a:moveTo>
                  <a:pt x="0" y="0"/>
                </a:moveTo>
                <a:lnTo>
                  <a:pt x="17701" y="0"/>
                </a:lnTo>
                <a:lnTo>
                  <a:pt x="177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11420280" y="407664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761760" y="480996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761760" y="4800240"/>
            <a:ext cx="1448280" cy="10080"/>
          </a:xfrm>
          <a:custGeom>
            <a:avLst/>
            <a:gdLst/>
            <a:ahLst/>
            <a:rect l="0" t="0" r="r" b="b"/>
            <a:pathLst>
              <a:path w="4023" h="28">
                <a:moveTo>
                  <a:pt x="0" y="0"/>
                </a:moveTo>
                <a:lnTo>
                  <a:pt x="4023" y="0"/>
                </a:lnTo>
                <a:lnTo>
                  <a:pt x="40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2199960" y="480996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2209680" y="4800240"/>
            <a:ext cx="2848320" cy="10080"/>
          </a:xfrm>
          <a:custGeom>
            <a:avLst/>
            <a:gdLst/>
            <a:ahLst/>
            <a:rect l="0" t="0" r="r" b="b"/>
            <a:pathLst>
              <a:path w="7912" h="28">
                <a:moveTo>
                  <a:pt x="0" y="0"/>
                </a:moveTo>
                <a:lnTo>
                  <a:pt x="7912" y="0"/>
                </a:lnTo>
                <a:lnTo>
                  <a:pt x="79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5047920" y="480996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5057640" y="4800240"/>
            <a:ext cx="6372360" cy="10080"/>
          </a:xfrm>
          <a:custGeom>
            <a:avLst/>
            <a:gdLst/>
            <a:ahLst/>
            <a:rect l="0" t="0" r="r" b="b"/>
            <a:pathLst>
              <a:path w="17701" h="28">
                <a:moveTo>
                  <a:pt x="0" y="0"/>
                </a:moveTo>
                <a:lnTo>
                  <a:pt x="17701" y="0"/>
                </a:lnTo>
                <a:lnTo>
                  <a:pt x="177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11420280" y="480996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761760" y="5543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761760" y="5533920"/>
            <a:ext cx="1448280" cy="9720"/>
          </a:xfrm>
          <a:custGeom>
            <a:avLst/>
            <a:gdLst/>
            <a:ahLst/>
            <a:rect l="0" t="0" r="r" b="b"/>
            <a:pathLst>
              <a:path w="4023" h="27">
                <a:moveTo>
                  <a:pt x="0" y="0"/>
                </a:moveTo>
                <a:lnTo>
                  <a:pt x="4023" y="0"/>
                </a:lnTo>
                <a:lnTo>
                  <a:pt x="40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2199960" y="5543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2209680" y="5533920"/>
            <a:ext cx="2848320" cy="9720"/>
          </a:xfrm>
          <a:custGeom>
            <a:avLst/>
            <a:gdLst/>
            <a:ahLst/>
            <a:rect l="0" t="0" r="r" b="b"/>
            <a:pathLst>
              <a:path w="7912" h="27">
                <a:moveTo>
                  <a:pt x="0" y="0"/>
                </a:moveTo>
                <a:lnTo>
                  <a:pt x="7912" y="0"/>
                </a:lnTo>
                <a:lnTo>
                  <a:pt x="79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5047920" y="5543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5057640" y="5533920"/>
            <a:ext cx="6372360" cy="9720"/>
          </a:xfrm>
          <a:custGeom>
            <a:avLst/>
            <a:gdLst/>
            <a:ahLst/>
            <a:rect l="0" t="0" r="r" b="b"/>
            <a:pathLst>
              <a:path w="17701" h="27">
                <a:moveTo>
                  <a:pt x="0" y="0"/>
                </a:moveTo>
                <a:lnTo>
                  <a:pt x="17701" y="0"/>
                </a:lnTo>
                <a:lnTo>
                  <a:pt x="177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11420280" y="5543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761760" y="5962320"/>
            <a:ext cx="1448280" cy="10080"/>
          </a:xfrm>
          <a:custGeom>
            <a:avLst/>
            <a:gdLst/>
            <a:ahLst/>
            <a:rect l="0" t="0" r="r" b="b"/>
            <a:pathLst>
              <a:path w="4023" h="28">
                <a:moveTo>
                  <a:pt x="0" y="0"/>
                </a:moveTo>
                <a:lnTo>
                  <a:pt x="4023" y="0"/>
                </a:lnTo>
                <a:lnTo>
                  <a:pt x="40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2209680" y="5962320"/>
            <a:ext cx="2848320" cy="10080"/>
          </a:xfrm>
          <a:custGeom>
            <a:avLst/>
            <a:gdLst/>
            <a:ahLst/>
            <a:rect l="0" t="0" r="r" b="b"/>
            <a:pathLst>
              <a:path w="7912" h="28">
                <a:moveTo>
                  <a:pt x="0" y="0"/>
                </a:moveTo>
                <a:lnTo>
                  <a:pt x="7912" y="0"/>
                </a:lnTo>
                <a:lnTo>
                  <a:pt x="79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5057640" y="5962320"/>
            <a:ext cx="6372360" cy="10080"/>
          </a:xfrm>
          <a:custGeom>
            <a:avLst/>
            <a:gdLst/>
            <a:ahLst/>
            <a:rect l="0" t="0" r="r" b="b"/>
            <a:pathLst>
              <a:path w="17701" h="28">
                <a:moveTo>
                  <a:pt x="0" y="0"/>
                </a:moveTo>
                <a:lnTo>
                  <a:pt x="17701" y="0"/>
                </a:lnTo>
                <a:lnTo>
                  <a:pt x="177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1215720" y="2270520"/>
            <a:ext cx="542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3307320" y="2270520"/>
            <a:ext cx="647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Status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7194600" y="2270520"/>
            <a:ext cx="208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Theories / Thinkers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895320" y="2699280"/>
            <a:ext cx="65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Funnel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895320" y="3003840"/>
            <a:ext cx="631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closed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2336400" y="2851560"/>
            <a:ext cx="169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Fully reductionist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5184360" y="2851560"/>
            <a:ext cx="4050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Reductionism, atomism, classical physics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895320" y="3432600"/>
            <a:ext cx="65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Funnel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895320" y="3737520"/>
            <a:ext cx="594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opens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2336400" y="3584880"/>
            <a:ext cx="2535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Widely accepted, rigorous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5184360" y="3432600"/>
            <a:ext cx="5499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Dissipative structures (Nobel Prize); chaos theory; game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5184360" y="3737520"/>
            <a:ext cx="1870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theory; cybernetics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895320" y="4318560"/>
            <a:ext cx="60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Rising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2336400" y="4165920"/>
            <a:ext cx="1933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Discussed, not fully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2336400" y="4470840"/>
            <a:ext cx="876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accepted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5184360" y="4165920"/>
            <a:ext cx="5269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Integrated Information Theory; panpsychism; process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5184360" y="4470840"/>
            <a:ext cx="230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philosophy (Whitehead)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895320" y="5051880"/>
            <a:ext cx="592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Upper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2336400" y="4899240"/>
            <a:ext cx="2109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Public resonance, not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2336400" y="5204160"/>
            <a:ext cx="874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scientiﬁc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5184360" y="5051880"/>
            <a:ext cx="3494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Fritjof Capra — physics and Taoism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895320" y="5632920"/>
            <a:ext cx="585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Lower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2336400" y="5632920"/>
            <a:ext cx="1299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Pre-scientiﬁc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5184360" y="5632920"/>
            <a:ext cx="3098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Mystical and spiritual traditions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766440" y="1699920"/>
            <a:ext cx="10658880" cy="390960"/>
          </a:xfrm>
          <a:custGeom>
            <a:avLst/>
            <a:gdLst/>
            <a:ahLst/>
            <a:rect l="0" t="0" r="r" b="b"/>
            <a:pathLst>
              <a:path w="29608" h="1086">
                <a:moveTo>
                  <a:pt x="0" y="94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941"/>
                </a:lnTo>
                <a:cubicBezTo>
                  <a:pt x="29608" y="950"/>
                  <a:pt x="29607" y="960"/>
                  <a:pt x="29605" y="969"/>
                </a:cubicBezTo>
                <a:cubicBezTo>
                  <a:pt x="29604" y="978"/>
                  <a:pt x="29601" y="987"/>
                  <a:pt x="29597" y="996"/>
                </a:cubicBezTo>
                <a:cubicBezTo>
                  <a:pt x="29594" y="1005"/>
                  <a:pt x="29589" y="1013"/>
                  <a:pt x="29584" y="1021"/>
                </a:cubicBezTo>
                <a:cubicBezTo>
                  <a:pt x="29578" y="1029"/>
                  <a:pt x="29572" y="1037"/>
                  <a:pt x="29566" y="1043"/>
                </a:cubicBezTo>
                <a:cubicBezTo>
                  <a:pt x="29559" y="1050"/>
                  <a:pt x="29552" y="1056"/>
                  <a:pt x="29544" y="1062"/>
                </a:cubicBezTo>
                <a:cubicBezTo>
                  <a:pt x="29536" y="1067"/>
                  <a:pt x="29527" y="1071"/>
                  <a:pt x="29518" y="1075"/>
                </a:cubicBezTo>
                <a:cubicBezTo>
                  <a:pt x="29510" y="1079"/>
                  <a:pt x="29501" y="1081"/>
                  <a:pt x="29491" y="1083"/>
                </a:cubicBezTo>
                <a:cubicBezTo>
                  <a:pt x="29482" y="1085"/>
                  <a:pt x="29472" y="1086"/>
                  <a:pt x="29463" y="1086"/>
                </a:cubicBezTo>
                <a:lnTo>
                  <a:pt x="146" y="1086"/>
                </a:lnTo>
                <a:cubicBezTo>
                  <a:pt x="136" y="1086"/>
                  <a:pt x="127" y="1085"/>
                  <a:pt x="118" y="1083"/>
                </a:cubicBezTo>
                <a:cubicBezTo>
                  <a:pt x="108" y="1081"/>
                  <a:pt x="99" y="1079"/>
                  <a:pt x="90" y="1075"/>
                </a:cubicBezTo>
                <a:cubicBezTo>
                  <a:pt x="81" y="1071"/>
                  <a:pt x="73" y="1067"/>
                  <a:pt x="65" y="1062"/>
                </a:cubicBezTo>
                <a:cubicBezTo>
                  <a:pt x="57" y="1056"/>
                  <a:pt x="50" y="1050"/>
                  <a:pt x="43" y="1043"/>
                </a:cubicBezTo>
                <a:cubicBezTo>
                  <a:pt x="36" y="1037"/>
                  <a:pt x="30" y="1029"/>
                  <a:pt x="25" y="1021"/>
                </a:cubicBezTo>
                <a:cubicBezTo>
                  <a:pt x="20" y="1013"/>
                  <a:pt x="15" y="1005"/>
                  <a:pt x="11" y="996"/>
                </a:cubicBezTo>
                <a:cubicBezTo>
                  <a:pt x="8" y="987"/>
                  <a:pt x="5" y="978"/>
                  <a:pt x="3" y="969"/>
                </a:cubicBezTo>
                <a:cubicBezTo>
                  <a:pt x="1" y="960"/>
                  <a:pt x="0" y="950"/>
                  <a:pt x="0" y="941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766440" y="1699920"/>
            <a:ext cx="10658880" cy="390960"/>
          </a:xfrm>
          <a:custGeom>
            <a:avLst/>
            <a:gdLst/>
            <a:ahLst/>
            <a:rect l="0" t="0" r="r" b="b"/>
            <a:pathLst>
              <a:path fill="none" w="29608" h="1086">
                <a:moveTo>
                  <a:pt x="0" y="941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941"/>
                </a:lnTo>
                <a:cubicBezTo>
                  <a:pt x="29608" y="950"/>
                  <a:pt x="29607" y="960"/>
                  <a:pt x="29605" y="969"/>
                </a:cubicBezTo>
                <a:cubicBezTo>
                  <a:pt x="29604" y="978"/>
                  <a:pt x="29601" y="987"/>
                  <a:pt x="29597" y="996"/>
                </a:cubicBezTo>
                <a:cubicBezTo>
                  <a:pt x="29594" y="1005"/>
                  <a:pt x="29589" y="1013"/>
                  <a:pt x="29584" y="1021"/>
                </a:cubicBezTo>
                <a:cubicBezTo>
                  <a:pt x="29578" y="1029"/>
                  <a:pt x="29572" y="1037"/>
                  <a:pt x="29566" y="1043"/>
                </a:cubicBezTo>
                <a:cubicBezTo>
                  <a:pt x="29559" y="1050"/>
                  <a:pt x="29552" y="1056"/>
                  <a:pt x="29544" y="1062"/>
                </a:cubicBezTo>
                <a:cubicBezTo>
                  <a:pt x="29536" y="1067"/>
                  <a:pt x="29527" y="1071"/>
                  <a:pt x="29518" y="1075"/>
                </a:cubicBezTo>
                <a:cubicBezTo>
                  <a:pt x="29510" y="1079"/>
                  <a:pt x="29501" y="1081"/>
                  <a:pt x="29491" y="1083"/>
                </a:cubicBezTo>
                <a:cubicBezTo>
                  <a:pt x="29482" y="1085"/>
                  <a:pt x="29472" y="1086"/>
                  <a:pt x="29463" y="1086"/>
                </a:cubicBezTo>
                <a:lnTo>
                  <a:pt x="146" y="1086"/>
                </a:lnTo>
                <a:cubicBezTo>
                  <a:pt x="136" y="1086"/>
                  <a:pt x="127" y="1085"/>
                  <a:pt x="118" y="1083"/>
                </a:cubicBezTo>
                <a:cubicBezTo>
                  <a:pt x="108" y="1081"/>
                  <a:pt x="99" y="1079"/>
                  <a:pt x="90" y="1075"/>
                </a:cubicBezTo>
                <a:cubicBezTo>
                  <a:pt x="81" y="1071"/>
                  <a:pt x="73" y="1067"/>
                  <a:pt x="65" y="1062"/>
                </a:cubicBezTo>
                <a:cubicBezTo>
                  <a:pt x="57" y="1056"/>
                  <a:pt x="50" y="1050"/>
                  <a:pt x="43" y="1043"/>
                </a:cubicBezTo>
                <a:cubicBezTo>
                  <a:pt x="36" y="1037"/>
                  <a:pt x="30" y="1029"/>
                  <a:pt x="25" y="1021"/>
                </a:cubicBezTo>
                <a:cubicBezTo>
                  <a:pt x="20" y="1013"/>
                  <a:pt x="15" y="1005"/>
                  <a:pt x="11" y="996"/>
                </a:cubicBezTo>
                <a:cubicBezTo>
                  <a:pt x="8" y="987"/>
                  <a:pt x="5" y="978"/>
                  <a:pt x="3" y="969"/>
                </a:cubicBezTo>
                <a:cubicBezTo>
                  <a:pt x="1" y="960"/>
                  <a:pt x="0" y="950"/>
                  <a:pt x="0" y="941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762120" y="372600"/>
            <a:ext cx="55893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Funnel Model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885960" y="1790280"/>
            <a:ext cx="8164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Explicitly a simpliﬁcation — view critically. Included as a useful overview, not a rigorous claim.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4" name=""/>
          <p:cNvSpPr txBox="1"/>
          <p:nvPr/>
        </p:nvSpPr>
        <p:spPr>
          <a:xfrm>
            <a:off x="762120" y="4327920"/>
            <a:ext cx="10318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theories at the Lower of the funnel are read as early, symbolic attempts to grasp the universe as one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762120" y="4632840"/>
            <a:ext cx="8412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connected, self-organizing system — to be handled critically, not adopted wholesale.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762120" y="-8280"/>
            <a:ext cx="92239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Funnel Model: The Lower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766440" y="2804760"/>
            <a:ext cx="10658880" cy="1371960"/>
          </a:xfrm>
          <a:custGeom>
            <a:avLst/>
            <a:gdLst/>
            <a:ahLst/>
            <a:rect l="0" t="0" r="r" b="b"/>
            <a:pathLst>
              <a:path w="29608" h="3811">
                <a:moveTo>
                  <a:pt x="0" y="3666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666"/>
                </a:lnTo>
                <a:cubicBezTo>
                  <a:pt x="29608" y="3676"/>
                  <a:pt x="29607" y="3685"/>
                  <a:pt x="29605" y="3694"/>
                </a:cubicBezTo>
                <a:cubicBezTo>
                  <a:pt x="29604" y="3704"/>
                  <a:pt x="29601" y="3713"/>
                  <a:pt x="29597" y="3722"/>
                </a:cubicBezTo>
                <a:cubicBezTo>
                  <a:pt x="29594" y="3730"/>
                  <a:pt x="29589" y="3739"/>
                  <a:pt x="29584" y="3747"/>
                </a:cubicBezTo>
                <a:cubicBezTo>
                  <a:pt x="29578" y="3755"/>
                  <a:pt x="29572" y="3762"/>
                  <a:pt x="29566" y="3769"/>
                </a:cubicBezTo>
                <a:cubicBezTo>
                  <a:pt x="29559" y="3776"/>
                  <a:pt x="29552" y="3782"/>
                  <a:pt x="29544" y="3787"/>
                </a:cubicBezTo>
                <a:cubicBezTo>
                  <a:pt x="29536" y="3792"/>
                  <a:pt x="29527" y="3797"/>
                  <a:pt x="29518" y="3800"/>
                </a:cubicBezTo>
                <a:cubicBezTo>
                  <a:pt x="29510" y="3804"/>
                  <a:pt x="29501" y="3807"/>
                  <a:pt x="29491" y="3809"/>
                </a:cubicBezTo>
                <a:cubicBezTo>
                  <a:pt x="29482" y="3811"/>
                  <a:pt x="29472" y="3811"/>
                  <a:pt x="29463" y="3811"/>
                </a:cubicBezTo>
                <a:lnTo>
                  <a:pt x="146" y="3811"/>
                </a:lnTo>
                <a:cubicBezTo>
                  <a:pt x="136" y="3811"/>
                  <a:pt x="127" y="3811"/>
                  <a:pt x="118" y="3809"/>
                </a:cubicBezTo>
                <a:cubicBezTo>
                  <a:pt x="108" y="3807"/>
                  <a:pt x="99" y="3804"/>
                  <a:pt x="90" y="3800"/>
                </a:cubicBezTo>
                <a:cubicBezTo>
                  <a:pt x="81" y="3797"/>
                  <a:pt x="73" y="3792"/>
                  <a:pt x="65" y="3787"/>
                </a:cubicBezTo>
                <a:cubicBezTo>
                  <a:pt x="57" y="3782"/>
                  <a:pt x="50" y="3776"/>
                  <a:pt x="43" y="3769"/>
                </a:cubicBezTo>
                <a:cubicBezTo>
                  <a:pt x="36" y="3762"/>
                  <a:pt x="30" y="3755"/>
                  <a:pt x="25" y="3747"/>
                </a:cubicBezTo>
                <a:cubicBezTo>
                  <a:pt x="20" y="3739"/>
                  <a:pt x="15" y="3730"/>
                  <a:pt x="11" y="3722"/>
                </a:cubicBezTo>
                <a:cubicBezTo>
                  <a:pt x="8" y="3713"/>
                  <a:pt x="5" y="3704"/>
                  <a:pt x="3" y="3694"/>
                </a:cubicBezTo>
                <a:cubicBezTo>
                  <a:pt x="1" y="3685"/>
                  <a:pt x="0" y="3676"/>
                  <a:pt x="0" y="3666"/>
                </a:cubicBez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766440" y="2804760"/>
            <a:ext cx="10658880" cy="1371960"/>
          </a:xfrm>
          <a:custGeom>
            <a:avLst/>
            <a:gdLst/>
            <a:ahLst/>
            <a:rect l="0" t="0" r="r" b="b"/>
            <a:pathLst>
              <a:path fill="none" w="29608" h="3811">
                <a:moveTo>
                  <a:pt x="0" y="3666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2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8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3666"/>
                </a:lnTo>
                <a:cubicBezTo>
                  <a:pt x="29608" y="3676"/>
                  <a:pt x="29607" y="3685"/>
                  <a:pt x="29605" y="3694"/>
                </a:cubicBezTo>
                <a:cubicBezTo>
                  <a:pt x="29604" y="3704"/>
                  <a:pt x="29601" y="3713"/>
                  <a:pt x="29597" y="3722"/>
                </a:cubicBezTo>
                <a:cubicBezTo>
                  <a:pt x="29594" y="3730"/>
                  <a:pt x="29589" y="3739"/>
                  <a:pt x="29584" y="3747"/>
                </a:cubicBezTo>
                <a:cubicBezTo>
                  <a:pt x="29578" y="3755"/>
                  <a:pt x="29572" y="3762"/>
                  <a:pt x="29566" y="3769"/>
                </a:cubicBezTo>
                <a:cubicBezTo>
                  <a:pt x="29559" y="3776"/>
                  <a:pt x="29552" y="3782"/>
                  <a:pt x="29544" y="3787"/>
                </a:cubicBezTo>
                <a:cubicBezTo>
                  <a:pt x="29536" y="3792"/>
                  <a:pt x="29527" y="3797"/>
                  <a:pt x="29518" y="3800"/>
                </a:cubicBezTo>
                <a:cubicBezTo>
                  <a:pt x="29510" y="3804"/>
                  <a:pt x="29501" y="3807"/>
                  <a:pt x="29491" y="3809"/>
                </a:cubicBezTo>
                <a:cubicBezTo>
                  <a:pt x="29482" y="3811"/>
                  <a:pt x="29472" y="3811"/>
                  <a:pt x="29463" y="3811"/>
                </a:cubicBezTo>
                <a:lnTo>
                  <a:pt x="146" y="3811"/>
                </a:lnTo>
                <a:cubicBezTo>
                  <a:pt x="136" y="3811"/>
                  <a:pt x="127" y="3811"/>
                  <a:pt x="118" y="3809"/>
                </a:cubicBezTo>
                <a:cubicBezTo>
                  <a:pt x="108" y="3807"/>
                  <a:pt x="99" y="3804"/>
                  <a:pt x="90" y="3800"/>
                </a:cubicBezTo>
                <a:cubicBezTo>
                  <a:pt x="81" y="3797"/>
                  <a:pt x="73" y="3792"/>
                  <a:pt x="65" y="3787"/>
                </a:cubicBezTo>
                <a:cubicBezTo>
                  <a:pt x="57" y="3782"/>
                  <a:pt x="50" y="3776"/>
                  <a:pt x="43" y="3769"/>
                </a:cubicBezTo>
                <a:cubicBezTo>
                  <a:pt x="36" y="3762"/>
                  <a:pt x="30" y="3755"/>
                  <a:pt x="25" y="3747"/>
                </a:cubicBezTo>
                <a:cubicBezTo>
                  <a:pt x="20" y="3739"/>
                  <a:pt x="15" y="3730"/>
                  <a:pt x="11" y="3722"/>
                </a:cubicBezTo>
                <a:cubicBezTo>
                  <a:pt x="8" y="3713"/>
                  <a:pt x="5" y="3704"/>
                  <a:pt x="3" y="3694"/>
                </a:cubicBezTo>
                <a:cubicBezTo>
                  <a:pt x="1" y="3685"/>
                  <a:pt x="0" y="3676"/>
                  <a:pt x="0" y="3666"/>
                </a:cubicBezTo>
              </a:path>
            </a:pathLst>
          </a:custGeom>
          <a:ln w="9360">
            <a:solidFill>
              <a:srgbClr val="d9d9d9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762120" y="753480"/>
            <a:ext cx="15984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Tiers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923760" y="2909160"/>
            <a:ext cx="10347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"The Cartesian-Newtonian worldview is embodied in our social institutions... What we need is a holistic or ecological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923760" y="3185640"/>
            <a:ext cx="9679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worldview which takes into account the fundamental interdependence of all phenomena... and the world as a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923760" y="3461760"/>
            <a:ext cx="3596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process rather than as a rigid structure."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968040" y="3785400"/>
            <a:ext cx="139212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Fritjof Capra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"/>
          <p:cNvSpPr/>
          <p:nvPr/>
        </p:nvSpPr>
        <p:spPr>
          <a:xfrm>
            <a:off x="571320" y="761760"/>
            <a:ext cx="11049480" cy="5410440"/>
          </a:xfrm>
          <a:custGeom>
            <a:avLst/>
            <a:gdLst/>
            <a:ahLst/>
            <a:rect l="0" t="0" r="r" b="b"/>
            <a:pathLst>
              <a:path w="30693" h="15029">
                <a:moveTo>
                  <a:pt x="0" y="0"/>
                </a:moveTo>
                <a:lnTo>
                  <a:pt x="30693" y="0"/>
                </a:lnTo>
                <a:lnTo>
                  <a:pt x="30693" y="15029"/>
                </a:lnTo>
                <a:lnTo>
                  <a:pt x="0" y="150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3" name="" descr=""/>
          <p:cNvPicPr/>
          <p:nvPr/>
        </p:nvPicPr>
        <p:blipFill>
          <a:blip r:embed="rId2"/>
          <a:stretch/>
        </p:blipFill>
        <p:spPr>
          <a:xfrm>
            <a:off x="5753160" y="2962440"/>
            <a:ext cx="6854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4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5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762120" y="-8280"/>
            <a:ext cx="78379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Ethical Implications: Two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766440" y="2100240"/>
            <a:ext cx="5277240" cy="3391200"/>
          </a:xfrm>
          <a:custGeom>
            <a:avLst/>
            <a:gdLst/>
            <a:ahLst/>
            <a:rect l="0" t="0" r="r" b="b"/>
            <a:pathLst>
              <a:path w="14659" h="9420">
                <a:moveTo>
                  <a:pt x="0" y="9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9274"/>
                </a:lnTo>
                <a:cubicBezTo>
                  <a:pt x="14659" y="9284"/>
                  <a:pt x="14658" y="9293"/>
                  <a:pt x="14657" y="9303"/>
                </a:cubicBezTo>
                <a:cubicBezTo>
                  <a:pt x="14655" y="9312"/>
                  <a:pt x="14652" y="9321"/>
                  <a:pt x="14648" y="9330"/>
                </a:cubicBezTo>
                <a:cubicBezTo>
                  <a:pt x="14645" y="9339"/>
                  <a:pt x="14640" y="9347"/>
                  <a:pt x="14635" y="9355"/>
                </a:cubicBezTo>
                <a:cubicBezTo>
                  <a:pt x="14629" y="9363"/>
                  <a:pt x="14623" y="9370"/>
                  <a:pt x="14617" y="9377"/>
                </a:cubicBezTo>
                <a:cubicBezTo>
                  <a:pt x="14610" y="9384"/>
                  <a:pt x="14603" y="9390"/>
                  <a:pt x="14595" y="9395"/>
                </a:cubicBezTo>
                <a:cubicBezTo>
                  <a:pt x="14587" y="9401"/>
                  <a:pt x="14578" y="9405"/>
                  <a:pt x="14569" y="9409"/>
                </a:cubicBezTo>
                <a:cubicBezTo>
                  <a:pt x="14561" y="9412"/>
                  <a:pt x="14552" y="9415"/>
                  <a:pt x="14542" y="9417"/>
                </a:cubicBezTo>
                <a:cubicBezTo>
                  <a:pt x="14533" y="9419"/>
                  <a:pt x="14523" y="9420"/>
                  <a:pt x="14514" y="9420"/>
                </a:cubicBezTo>
                <a:lnTo>
                  <a:pt x="146" y="9420"/>
                </a:lnTo>
                <a:cubicBezTo>
                  <a:pt x="136" y="9420"/>
                  <a:pt x="127" y="9419"/>
                  <a:pt x="118" y="9417"/>
                </a:cubicBezTo>
                <a:cubicBezTo>
                  <a:pt x="108" y="9415"/>
                  <a:pt x="99" y="9412"/>
                  <a:pt x="90" y="9409"/>
                </a:cubicBezTo>
                <a:cubicBezTo>
                  <a:pt x="81" y="9405"/>
                  <a:pt x="73" y="9401"/>
                  <a:pt x="65" y="9395"/>
                </a:cubicBezTo>
                <a:cubicBezTo>
                  <a:pt x="57" y="9390"/>
                  <a:pt x="50" y="9384"/>
                  <a:pt x="43" y="9377"/>
                </a:cubicBezTo>
                <a:cubicBezTo>
                  <a:pt x="36" y="9370"/>
                  <a:pt x="30" y="9363"/>
                  <a:pt x="25" y="9355"/>
                </a:cubicBezTo>
                <a:cubicBezTo>
                  <a:pt x="20" y="9347"/>
                  <a:pt x="15" y="9339"/>
                  <a:pt x="11" y="9330"/>
                </a:cubicBezTo>
                <a:cubicBezTo>
                  <a:pt x="8" y="9321"/>
                  <a:pt x="5" y="9312"/>
                  <a:pt x="3" y="9303"/>
                </a:cubicBezTo>
                <a:cubicBezTo>
                  <a:pt x="1" y="9293"/>
                  <a:pt x="0" y="9284"/>
                  <a:pt x="0" y="9274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766440" y="2100240"/>
            <a:ext cx="5277240" cy="3391200"/>
          </a:xfrm>
          <a:custGeom>
            <a:avLst/>
            <a:gdLst/>
            <a:ahLst/>
            <a:rect l="0" t="0" r="r" b="b"/>
            <a:pathLst>
              <a:path fill="none" w="14659" h="9420">
                <a:moveTo>
                  <a:pt x="0" y="9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9274"/>
                </a:lnTo>
                <a:cubicBezTo>
                  <a:pt x="14659" y="9284"/>
                  <a:pt x="14658" y="9293"/>
                  <a:pt x="14657" y="9303"/>
                </a:cubicBezTo>
                <a:cubicBezTo>
                  <a:pt x="14655" y="9312"/>
                  <a:pt x="14652" y="9321"/>
                  <a:pt x="14648" y="9330"/>
                </a:cubicBezTo>
                <a:cubicBezTo>
                  <a:pt x="14645" y="9339"/>
                  <a:pt x="14640" y="9347"/>
                  <a:pt x="14635" y="9355"/>
                </a:cubicBezTo>
                <a:cubicBezTo>
                  <a:pt x="14629" y="9363"/>
                  <a:pt x="14623" y="9370"/>
                  <a:pt x="14617" y="9377"/>
                </a:cubicBezTo>
                <a:cubicBezTo>
                  <a:pt x="14610" y="9384"/>
                  <a:pt x="14603" y="9390"/>
                  <a:pt x="14595" y="9395"/>
                </a:cubicBezTo>
                <a:cubicBezTo>
                  <a:pt x="14587" y="9401"/>
                  <a:pt x="14578" y="9405"/>
                  <a:pt x="14569" y="9409"/>
                </a:cubicBezTo>
                <a:cubicBezTo>
                  <a:pt x="14561" y="9412"/>
                  <a:pt x="14552" y="9415"/>
                  <a:pt x="14542" y="9417"/>
                </a:cubicBezTo>
                <a:cubicBezTo>
                  <a:pt x="14533" y="9419"/>
                  <a:pt x="14523" y="9420"/>
                  <a:pt x="14514" y="9420"/>
                </a:cubicBezTo>
                <a:lnTo>
                  <a:pt x="146" y="9420"/>
                </a:lnTo>
                <a:cubicBezTo>
                  <a:pt x="136" y="9420"/>
                  <a:pt x="127" y="9419"/>
                  <a:pt x="118" y="9417"/>
                </a:cubicBezTo>
                <a:cubicBezTo>
                  <a:pt x="108" y="9415"/>
                  <a:pt x="99" y="9412"/>
                  <a:pt x="90" y="9409"/>
                </a:cubicBezTo>
                <a:cubicBezTo>
                  <a:pt x="81" y="9405"/>
                  <a:pt x="73" y="9401"/>
                  <a:pt x="65" y="9395"/>
                </a:cubicBezTo>
                <a:cubicBezTo>
                  <a:pt x="57" y="9390"/>
                  <a:pt x="50" y="9384"/>
                  <a:pt x="43" y="9377"/>
                </a:cubicBezTo>
                <a:cubicBezTo>
                  <a:pt x="36" y="9370"/>
                  <a:pt x="30" y="9363"/>
                  <a:pt x="25" y="9355"/>
                </a:cubicBezTo>
                <a:cubicBezTo>
                  <a:pt x="20" y="9347"/>
                  <a:pt x="15" y="9339"/>
                  <a:pt x="11" y="9330"/>
                </a:cubicBezTo>
                <a:cubicBezTo>
                  <a:pt x="8" y="9321"/>
                  <a:pt x="5" y="9312"/>
                  <a:pt x="3" y="9303"/>
                </a:cubicBezTo>
                <a:cubicBezTo>
                  <a:pt x="1" y="9293"/>
                  <a:pt x="0" y="9284"/>
                  <a:pt x="0" y="9274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762120" y="753480"/>
            <a:ext cx="28861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Readings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1104840" y="2857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923760" y="2303640"/>
            <a:ext cx="199656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Holistic Reading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1289520" y="2766240"/>
            <a:ext cx="4532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We are part of the system — grounds an obligation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1104840" y="3447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1289520" y="3042720"/>
            <a:ext cx="2408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 protect our environment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1289520" y="3357000"/>
            <a:ext cx="4337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Extends to social equality: a system works better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1104840" y="4047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1289520" y="3633120"/>
            <a:ext cx="2081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when all its parts thrive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1289520" y="3957120"/>
            <a:ext cx="4206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We shouldn't presume to fully control nature —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1289520" y="4233240"/>
            <a:ext cx="4442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massive intervention risks an uncalculable chaotic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1104840" y="4914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1289520" y="4500000"/>
            <a:ext cx="1152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tipping point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1289520" y="4823640"/>
            <a:ext cx="4305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Intervene less forcefully, trust self-organization,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6148080" y="2100240"/>
            <a:ext cx="5277240" cy="3391200"/>
          </a:xfrm>
          <a:custGeom>
            <a:avLst/>
            <a:gdLst/>
            <a:ahLst/>
            <a:rect l="0" t="0" r="r" b="b"/>
            <a:pathLst>
              <a:path w="14659" h="9420">
                <a:moveTo>
                  <a:pt x="0" y="9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9274"/>
                </a:lnTo>
                <a:cubicBezTo>
                  <a:pt x="14659" y="9284"/>
                  <a:pt x="14658" y="9293"/>
                  <a:pt x="14656" y="9303"/>
                </a:cubicBezTo>
                <a:cubicBezTo>
                  <a:pt x="14655" y="9312"/>
                  <a:pt x="14652" y="9321"/>
                  <a:pt x="14648" y="9330"/>
                </a:cubicBezTo>
                <a:cubicBezTo>
                  <a:pt x="14645" y="9339"/>
                  <a:pt x="14640" y="9347"/>
                  <a:pt x="14635" y="9355"/>
                </a:cubicBezTo>
                <a:cubicBezTo>
                  <a:pt x="14629" y="9363"/>
                  <a:pt x="14623" y="9370"/>
                  <a:pt x="14617" y="9377"/>
                </a:cubicBezTo>
                <a:cubicBezTo>
                  <a:pt x="14610" y="9384"/>
                  <a:pt x="14603" y="9390"/>
                  <a:pt x="14595" y="9395"/>
                </a:cubicBezTo>
                <a:cubicBezTo>
                  <a:pt x="14587" y="9401"/>
                  <a:pt x="14578" y="9405"/>
                  <a:pt x="14569" y="9409"/>
                </a:cubicBezTo>
                <a:cubicBezTo>
                  <a:pt x="14561" y="9412"/>
                  <a:pt x="14552" y="9415"/>
                  <a:pt x="14542" y="9417"/>
                </a:cubicBezTo>
                <a:cubicBezTo>
                  <a:pt x="14533" y="9419"/>
                  <a:pt x="14523" y="9420"/>
                  <a:pt x="14514" y="9420"/>
                </a:cubicBezTo>
                <a:lnTo>
                  <a:pt x="146" y="9420"/>
                </a:lnTo>
                <a:cubicBezTo>
                  <a:pt x="136" y="9420"/>
                  <a:pt x="127" y="9419"/>
                  <a:pt x="117" y="9417"/>
                </a:cubicBezTo>
                <a:cubicBezTo>
                  <a:pt x="108" y="9415"/>
                  <a:pt x="99" y="9412"/>
                  <a:pt x="90" y="9409"/>
                </a:cubicBezTo>
                <a:cubicBezTo>
                  <a:pt x="81" y="9405"/>
                  <a:pt x="73" y="9401"/>
                  <a:pt x="65" y="9395"/>
                </a:cubicBezTo>
                <a:cubicBezTo>
                  <a:pt x="57" y="9390"/>
                  <a:pt x="50" y="9384"/>
                  <a:pt x="43" y="9377"/>
                </a:cubicBezTo>
                <a:cubicBezTo>
                  <a:pt x="36" y="9370"/>
                  <a:pt x="30" y="9363"/>
                  <a:pt x="25" y="9355"/>
                </a:cubicBezTo>
                <a:cubicBezTo>
                  <a:pt x="20" y="9347"/>
                  <a:pt x="15" y="9339"/>
                  <a:pt x="11" y="9330"/>
                </a:cubicBezTo>
                <a:cubicBezTo>
                  <a:pt x="8" y="9321"/>
                  <a:pt x="5" y="9312"/>
                  <a:pt x="3" y="9303"/>
                </a:cubicBezTo>
                <a:cubicBezTo>
                  <a:pt x="1" y="9293"/>
                  <a:pt x="0" y="9284"/>
                  <a:pt x="0" y="9274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6148080" y="2100240"/>
            <a:ext cx="5277240" cy="3391200"/>
          </a:xfrm>
          <a:custGeom>
            <a:avLst/>
            <a:gdLst/>
            <a:ahLst/>
            <a:rect l="0" t="0" r="r" b="b"/>
            <a:pathLst>
              <a:path fill="none" w="14659" h="9420">
                <a:moveTo>
                  <a:pt x="0" y="92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0"/>
                  <a:pt x="14542" y="2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4"/>
                  <a:pt x="14587" y="19"/>
                  <a:pt x="14595" y="24"/>
                </a:cubicBezTo>
                <a:cubicBezTo>
                  <a:pt x="14603" y="29"/>
                  <a:pt x="14610" y="35"/>
                  <a:pt x="14617" y="42"/>
                </a:cubicBezTo>
                <a:cubicBezTo>
                  <a:pt x="14623" y="49"/>
                  <a:pt x="14629" y="56"/>
                  <a:pt x="14635" y="64"/>
                </a:cubicBezTo>
                <a:cubicBezTo>
                  <a:pt x="14640" y="72"/>
                  <a:pt x="14645" y="81"/>
                  <a:pt x="14648" y="89"/>
                </a:cubicBezTo>
                <a:cubicBezTo>
                  <a:pt x="14652" y="98"/>
                  <a:pt x="14655" y="107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9274"/>
                </a:lnTo>
                <a:cubicBezTo>
                  <a:pt x="14659" y="9284"/>
                  <a:pt x="14658" y="9293"/>
                  <a:pt x="14656" y="9303"/>
                </a:cubicBezTo>
                <a:cubicBezTo>
                  <a:pt x="14655" y="9312"/>
                  <a:pt x="14652" y="9321"/>
                  <a:pt x="14648" y="9330"/>
                </a:cubicBezTo>
                <a:cubicBezTo>
                  <a:pt x="14645" y="9339"/>
                  <a:pt x="14640" y="9347"/>
                  <a:pt x="14635" y="9355"/>
                </a:cubicBezTo>
                <a:cubicBezTo>
                  <a:pt x="14629" y="9363"/>
                  <a:pt x="14623" y="9370"/>
                  <a:pt x="14617" y="9377"/>
                </a:cubicBezTo>
                <a:cubicBezTo>
                  <a:pt x="14610" y="9384"/>
                  <a:pt x="14603" y="9390"/>
                  <a:pt x="14595" y="9395"/>
                </a:cubicBezTo>
                <a:cubicBezTo>
                  <a:pt x="14587" y="9401"/>
                  <a:pt x="14578" y="9405"/>
                  <a:pt x="14569" y="9409"/>
                </a:cubicBezTo>
                <a:cubicBezTo>
                  <a:pt x="14561" y="9412"/>
                  <a:pt x="14552" y="9415"/>
                  <a:pt x="14542" y="9417"/>
                </a:cubicBezTo>
                <a:cubicBezTo>
                  <a:pt x="14533" y="9419"/>
                  <a:pt x="14523" y="9420"/>
                  <a:pt x="14514" y="9420"/>
                </a:cubicBezTo>
                <a:lnTo>
                  <a:pt x="146" y="9420"/>
                </a:lnTo>
                <a:cubicBezTo>
                  <a:pt x="136" y="9420"/>
                  <a:pt x="127" y="9419"/>
                  <a:pt x="117" y="9417"/>
                </a:cubicBezTo>
                <a:cubicBezTo>
                  <a:pt x="108" y="9415"/>
                  <a:pt x="99" y="9412"/>
                  <a:pt x="90" y="9409"/>
                </a:cubicBezTo>
                <a:cubicBezTo>
                  <a:pt x="81" y="9405"/>
                  <a:pt x="73" y="9401"/>
                  <a:pt x="65" y="9395"/>
                </a:cubicBezTo>
                <a:cubicBezTo>
                  <a:pt x="57" y="9390"/>
                  <a:pt x="50" y="9384"/>
                  <a:pt x="43" y="9377"/>
                </a:cubicBezTo>
                <a:cubicBezTo>
                  <a:pt x="36" y="9370"/>
                  <a:pt x="30" y="9363"/>
                  <a:pt x="25" y="9355"/>
                </a:cubicBezTo>
                <a:cubicBezTo>
                  <a:pt x="20" y="9347"/>
                  <a:pt x="15" y="9339"/>
                  <a:pt x="11" y="9330"/>
                </a:cubicBezTo>
                <a:cubicBezTo>
                  <a:pt x="8" y="9321"/>
                  <a:pt x="5" y="9312"/>
                  <a:pt x="3" y="9303"/>
                </a:cubicBezTo>
                <a:cubicBezTo>
                  <a:pt x="1" y="9293"/>
                  <a:pt x="0" y="9284"/>
                  <a:pt x="0" y="9274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1289520" y="5100120"/>
            <a:ext cx="2327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question power structures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6486480" y="2857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6305400" y="2303640"/>
            <a:ext cx="26384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7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Technocratic Reading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6671160" y="2766240"/>
            <a:ext cx="3930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Extends from cybernetics: treat humans and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6486480" y="3447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6671160" y="3042720"/>
            <a:ext cx="3563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environment as a machine to be steered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6671160" y="3357000"/>
            <a:ext cx="4436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Under this logic, even totalitarian control starts to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6486480" y="4047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6671160" y="3633120"/>
            <a:ext cx="1467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look permissible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6671160" y="3957120"/>
            <a:ext cx="4056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Named examples: Peter Thiel (Palantir — data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6671160" y="4233240"/>
            <a:ext cx="4537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surveillance infrastructure); World Economic Forum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6486480" y="4914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5" y="32"/>
                  <a:pt x="23" y="24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6671160" y="4500000"/>
            <a:ext cx="3613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(top-down, expert/data-steered society)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6671160" y="4823640"/>
            <a:ext cx="4306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Labelled </a:t>
            </a:r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"technofeudalism"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digital surveillance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6671160" y="5100120"/>
            <a:ext cx="2733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technical control of nature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9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4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762120" y="-8280"/>
            <a:ext cx="76802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Ethical Implications: The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766440" y="3300120"/>
            <a:ext cx="10658880" cy="1105200"/>
          </a:xfrm>
          <a:custGeom>
            <a:avLst/>
            <a:gdLst/>
            <a:ahLst/>
            <a:rect l="0" t="0" r="r" b="b"/>
            <a:pathLst>
              <a:path w="29608" h="3070">
                <a:moveTo>
                  <a:pt x="0" y="292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925"/>
                </a:lnTo>
                <a:cubicBezTo>
                  <a:pt x="29608" y="2935"/>
                  <a:pt x="29607" y="2944"/>
                  <a:pt x="29605" y="2953"/>
                </a:cubicBezTo>
                <a:cubicBezTo>
                  <a:pt x="29604" y="2963"/>
                  <a:pt x="29601" y="2972"/>
                  <a:pt x="29597" y="2981"/>
                </a:cubicBezTo>
                <a:cubicBezTo>
                  <a:pt x="29594" y="2989"/>
                  <a:pt x="29589" y="2998"/>
                  <a:pt x="29584" y="3006"/>
                </a:cubicBezTo>
                <a:cubicBezTo>
                  <a:pt x="29578" y="3014"/>
                  <a:pt x="29572" y="3021"/>
                  <a:pt x="29566" y="3028"/>
                </a:cubicBezTo>
                <a:cubicBezTo>
                  <a:pt x="29559" y="3035"/>
                  <a:pt x="29552" y="3041"/>
                  <a:pt x="29544" y="3046"/>
                </a:cubicBezTo>
                <a:cubicBezTo>
                  <a:pt x="29536" y="3051"/>
                  <a:pt x="29527" y="3056"/>
                  <a:pt x="29518" y="3059"/>
                </a:cubicBezTo>
                <a:cubicBezTo>
                  <a:pt x="29510" y="3063"/>
                  <a:pt x="29501" y="3066"/>
                  <a:pt x="29491" y="3068"/>
                </a:cubicBezTo>
                <a:cubicBezTo>
                  <a:pt x="29482" y="3070"/>
                  <a:pt x="29472" y="3070"/>
                  <a:pt x="29463" y="3070"/>
                </a:cubicBezTo>
                <a:lnTo>
                  <a:pt x="146" y="3070"/>
                </a:lnTo>
                <a:cubicBezTo>
                  <a:pt x="136" y="3070"/>
                  <a:pt x="127" y="3070"/>
                  <a:pt x="118" y="3068"/>
                </a:cubicBezTo>
                <a:cubicBezTo>
                  <a:pt x="108" y="3066"/>
                  <a:pt x="99" y="3063"/>
                  <a:pt x="90" y="3059"/>
                </a:cubicBezTo>
                <a:cubicBezTo>
                  <a:pt x="81" y="3056"/>
                  <a:pt x="73" y="3051"/>
                  <a:pt x="65" y="3046"/>
                </a:cubicBezTo>
                <a:cubicBezTo>
                  <a:pt x="57" y="3041"/>
                  <a:pt x="50" y="3035"/>
                  <a:pt x="43" y="3028"/>
                </a:cubicBezTo>
                <a:cubicBezTo>
                  <a:pt x="36" y="3021"/>
                  <a:pt x="30" y="3014"/>
                  <a:pt x="25" y="3006"/>
                </a:cubicBezTo>
                <a:cubicBezTo>
                  <a:pt x="20" y="2998"/>
                  <a:pt x="15" y="2989"/>
                  <a:pt x="11" y="2981"/>
                </a:cubicBezTo>
                <a:cubicBezTo>
                  <a:pt x="8" y="2972"/>
                  <a:pt x="5" y="2963"/>
                  <a:pt x="3" y="2953"/>
                </a:cubicBezTo>
                <a:cubicBezTo>
                  <a:pt x="1" y="2944"/>
                  <a:pt x="0" y="2935"/>
                  <a:pt x="0" y="2925"/>
                </a:cubicBezTo>
                <a:close/>
              </a:path>
            </a:pathLst>
          </a:custGeom>
          <a:solidFill>
            <a:srgbClr val="e8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766440" y="3300120"/>
            <a:ext cx="10658880" cy="1105200"/>
          </a:xfrm>
          <a:custGeom>
            <a:avLst/>
            <a:gdLst/>
            <a:ahLst/>
            <a:rect l="0" t="0" r="r" b="b"/>
            <a:pathLst>
              <a:path fill="none" w="29608" h="3070">
                <a:moveTo>
                  <a:pt x="0" y="292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2925"/>
                </a:lnTo>
                <a:cubicBezTo>
                  <a:pt x="29608" y="2935"/>
                  <a:pt x="29607" y="2944"/>
                  <a:pt x="29605" y="2953"/>
                </a:cubicBezTo>
                <a:cubicBezTo>
                  <a:pt x="29604" y="2963"/>
                  <a:pt x="29601" y="2972"/>
                  <a:pt x="29597" y="2981"/>
                </a:cubicBezTo>
                <a:cubicBezTo>
                  <a:pt x="29594" y="2989"/>
                  <a:pt x="29589" y="2998"/>
                  <a:pt x="29584" y="3006"/>
                </a:cubicBezTo>
                <a:cubicBezTo>
                  <a:pt x="29578" y="3014"/>
                  <a:pt x="29572" y="3021"/>
                  <a:pt x="29566" y="3028"/>
                </a:cubicBezTo>
                <a:cubicBezTo>
                  <a:pt x="29559" y="3035"/>
                  <a:pt x="29552" y="3041"/>
                  <a:pt x="29544" y="3046"/>
                </a:cubicBezTo>
                <a:cubicBezTo>
                  <a:pt x="29536" y="3051"/>
                  <a:pt x="29527" y="3056"/>
                  <a:pt x="29518" y="3059"/>
                </a:cubicBezTo>
                <a:cubicBezTo>
                  <a:pt x="29510" y="3063"/>
                  <a:pt x="29501" y="3066"/>
                  <a:pt x="29491" y="3068"/>
                </a:cubicBezTo>
                <a:cubicBezTo>
                  <a:pt x="29482" y="3070"/>
                  <a:pt x="29472" y="3070"/>
                  <a:pt x="29463" y="3070"/>
                </a:cubicBezTo>
                <a:lnTo>
                  <a:pt x="146" y="3070"/>
                </a:lnTo>
                <a:cubicBezTo>
                  <a:pt x="136" y="3070"/>
                  <a:pt x="127" y="3070"/>
                  <a:pt x="118" y="3068"/>
                </a:cubicBezTo>
                <a:cubicBezTo>
                  <a:pt x="108" y="3066"/>
                  <a:pt x="99" y="3063"/>
                  <a:pt x="90" y="3059"/>
                </a:cubicBezTo>
                <a:cubicBezTo>
                  <a:pt x="81" y="3056"/>
                  <a:pt x="73" y="3051"/>
                  <a:pt x="65" y="3046"/>
                </a:cubicBezTo>
                <a:cubicBezTo>
                  <a:pt x="57" y="3041"/>
                  <a:pt x="50" y="3035"/>
                  <a:pt x="43" y="3028"/>
                </a:cubicBezTo>
                <a:cubicBezTo>
                  <a:pt x="36" y="3021"/>
                  <a:pt x="30" y="3014"/>
                  <a:pt x="25" y="3006"/>
                </a:cubicBezTo>
                <a:cubicBezTo>
                  <a:pt x="20" y="2998"/>
                  <a:pt x="15" y="2989"/>
                  <a:pt x="11" y="2981"/>
                </a:cubicBezTo>
                <a:cubicBezTo>
                  <a:pt x="8" y="2972"/>
                  <a:pt x="5" y="2963"/>
                  <a:pt x="3" y="2953"/>
                </a:cubicBezTo>
                <a:cubicBezTo>
                  <a:pt x="1" y="2944"/>
                  <a:pt x="0" y="2935"/>
                  <a:pt x="0" y="2925"/>
                </a:cubicBezTo>
              </a:path>
            </a:pathLst>
          </a:custGeom>
          <a:ln w="9360">
            <a:solidFill>
              <a:srgbClr val="baf7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762120" y="753480"/>
            <a:ext cx="60199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Counter-Argument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923760" y="3404520"/>
            <a:ext cx="10294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Chaos theory and self-organization cut against the technocratic reading: turning all the knobs at once and trying to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923760" y="3680640"/>
            <a:ext cx="37414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control people from above leads to chaos.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923760" y="4014000"/>
            <a:ext cx="4928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complex system cannot be steered like a machine.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0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9" name=""/>
          <p:cNvSpPr txBox="1"/>
          <p:nvPr/>
        </p:nvSpPr>
        <p:spPr>
          <a:xfrm>
            <a:off x="762120" y="2470680"/>
            <a:ext cx="10575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systems theoretical revolution is quiet — no manifesto, no single founder — but it may change how we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971280" y="332388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3"/>
                </a:moveTo>
                <a:cubicBezTo>
                  <a:pt x="186" y="105"/>
                  <a:pt x="184" y="118"/>
                  <a:pt x="179" y="129"/>
                </a:cubicBezTo>
                <a:cubicBezTo>
                  <a:pt x="175" y="141"/>
                  <a:pt x="167" y="151"/>
                  <a:pt x="158" y="160"/>
                </a:cubicBezTo>
                <a:cubicBezTo>
                  <a:pt x="150" y="168"/>
                  <a:pt x="140" y="175"/>
                  <a:pt x="128" y="180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80"/>
                </a:cubicBezTo>
                <a:cubicBezTo>
                  <a:pt x="46" y="175"/>
                  <a:pt x="36" y="168"/>
                  <a:pt x="27" y="160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5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6"/>
                  <a:pt x="19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8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6"/>
                  <a:pt x="175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762120" y="2775240"/>
            <a:ext cx="6361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see the world more profoundly than louder revolutions before it.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971280" y="36860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1168200" y="3232440"/>
            <a:ext cx="7509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Reductionism explains parts; it doesn't explain what emerges between them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971280" y="40384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8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8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7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1168200" y="3594600"/>
            <a:ext cx="7266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same phenomena recur across disciplines that treat them as separate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1168200" y="3947040"/>
            <a:ext cx="843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perspective carries ethical weight both ways: toward humility, and toward control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558040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766440" y="4376520"/>
            <a:ext cx="10658880" cy="771840"/>
          </a:xfrm>
          <a:custGeom>
            <a:avLst/>
            <a:gdLst/>
            <a:ahLst/>
            <a:rect l="0" t="0" r="r" b="b"/>
            <a:pathLst>
              <a:path w="29608" h="2144">
                <a:moveTo>
                  <a:pt x="0" y="199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999"/>
                </a:lnTo>
                <a:cubicBezTo>
                  <a:pt x="29608" y="2008"/>
                  <a:pt x="29607" y="2018"/>
                  <a:pt x="29605" y="2027"/>
                </a:cubicBezTo>
                <a:cubicBezTo>
                  <a:pt x="29604" y="2036"/>
                  <a:pt x="29601" y="2046"/>
                  <a:pt x="29597" y="2054"/>
                </a:cubicBezTo>
                <a:cubicBezTo>
                  <a:pt x="29594" y="2063"/>
                  <a:pt x="29589" y="2072"/>
                  <a:pt x="29584" y="2080"/>
                </a:cubicBezTo>
                <a:cubicBezTo>
                  <a:pt x="29578" y="2087"/>
                  <a:pt x="29572" y="2095"/>
                  <a:pt x="29566" y="2102"/>
                </a:cubicBezTo>
                <a:cubicBezTo>
                  <a:pt x="29559" y="2108"/>
                  <a:pt x="29552" y="2114"/>
                  <a:pt x="29544" y="2120"/>
                </a:cubicBezTo>
                <a:cubicBezTo>
                  <a:pt x="29536" y="2125"/>
                  <a:pt x="29527" y="2129"/>
                  <a:pt x="29518" y="2133"/>
                </a:cubicBezTo>
                <a:cubicBezTo>
                  <a:pt x="29510" y="2137"/>
                  <a:pt x="29501" y="2140"/>
                  <a:pt x="29491" y="2141"/>
                </a:cubicBezTo>
                <a:cubicBezTo>
                  <a:pt x="29482" y="2143"/>
                  <a:pt x="29472" y="2144"/>
                  <a:pt x="29463" y="2144"/>
                </a:cubicBezTo>
                <a:lnTo>
                  <a:pt x="146" y="2144"/>
                </a:lnTo>
                <a:cubicBezTo>
                  <a:pt x="136" y="2144"/>
                  <a:pt x="127" y="2143"/>
                  <a:pt x="118" y="2141"/>
                </a:cubicBezTo>
                <a:cubicBezTo>
                  <a:pt x="108" y="2140"/>
                  <a:pt x="99" y="2137"/>
                  <a:pt x="90" y="2133"/>
                </a:cubicBezTo>
                <a:cubicBezTo>
                  <a:pt x="81" y="2129"/>
                  <a:pt x="73" y="2125"/>
                  <a:pt x="65" y="2120"/>
                </a:cubicBezTo>
                <a:cubicBezTo>
                  <a:pt x="57" y="2114"/>
                  <a:pt x="50" y="2108"/>
                  <a:pt x="43" y="2102"/>
                </a:cubicBezTo>
                <a:cubicBezTo>
                  <a:pt x="36" y="2095"/>
                  <a:pt x="30" y="2087"/>
                  <a:pt x="25" y="2080"/>
                </a:cubicBezTo>
                <a:cubicBezTo>
                  <a:pt x="20" y="2072"/>
                  <a:pt x="15" y="2063"/>
                  <a:pt x="11" y="2054"/>
                </a:cubicBezTo>
                <a:cubicBezTo>
                  <a:pt x="8" y="2046"/>
                  <a:pt x="5" y="2036"/>
                  <a:pt x="3" y="2027"/>
                </a:cubicBezTo>
                <a:cubicBezTo>
                  <a:pt x="1" y="2018"/>
                  <a:pt x="0" y="2008"/>
                  <a:pt x="0" y="1999"/>
                </a:cubicBezTo>
                <a:close/>
              </a:path>
            </a:pathLst>
          </a:custGeom>
          <a:solidFill>
            <a:srgbClr val="f2f2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766440" y="4376520"/>
            <a:ext cx="10658880" cy="771840"/>
          </a:xfrm>
          <a:custGeom>
            <a:avLst/>
            <a:gdLst/>
            <a:ahLst/>
            <a:rect l="0" t="0" r="r" b="b"/>
            <a:pathLst>
              <a:path fill="none" w="29608" h="2144">
                <a:moveTo>
                  <a:pt x="0" y="199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999"/>
                </a:lnTo>
                <a:cubicBezTo>
                  <a:pt x="29608" y="2008"/>
                  <a:pt x="29607" y="2018"/>
                  <a:pt x="29605" y="2027"/>
                </a:cubicBezTo>
                <a:cubicBezTo>
                  <a:pt x="29604" y="2036"/>
                  <a:pt x="29601" y="2046"/>
                  <a:pt x="29597" y="2054"/>
                </a:cubicBezTo>
                <a:cubicBezTo>
                  <a:pt x="29594" y="2063"/>
                  <a:pt x="29589" y="2072"/>
                  <a:pt x="29584" y="2080"/>
                </a:cubicBezTo>
                <a:cubicBezTo>
                  <a:pt x="29578" y="2087"/>
                  <a:pt x="29572" y="2095"/>
                  <a:pt x="29566" y="2102"/>
                </a:cubicBezTo>
                <a:cubicBezTo>
                  <a:pt x="29559" y="2108"/>
                  <a:pt x="29552" y="2114"/>
                  <a:pt x="29544" y="2120"/>
                </a:cubicBezTo>
                <a:cubicBezTo>
                  <a:pt x="29536" y="2125"/>
                  <a:pt x="29527" y="2129"/>
                  <a:pt x="29518" y="2133"/>
                </a:cubicBezTo>
                <a:cubicBezTo>
                  <a:pt x="29510" y="2137"/>
                  <a:pt x="29501" y="2140"/>
                  <a:pt x="29491" y="2141"/>
                </a:cubicBezTo>
                <a:cubicBezTo>
                  <a:pt x="29482" y="2143"/>
                  <a:pt x="29472" y="2144"/>
                  <a:pt x="29463" y="2144"/>
                </a:cubicBezTo>
                <a:lnTo>
                  <a:pt x="146" y="2144"/>
                </a:lnTo>
                <a:cubicBezTo>
                  <a:pt x="136" y="2144"/>
                  <a:pt x="127" y="2143"/>
                  <a:pt x="118" y="2141"/>
                </a:cubicBezTo>
                <a:cubicBezTo>
                  <a:pt x="108" y="2140"/>
                  <a:pt x="99" y="2137"/>
                  <a:pt x="90" y="2133"/>
                </a:cubicBezTo>
                <a:cubicBezTo>
                  <a:pt x="81" y="2129"/>
                  <a:pt x="73" y="2125"/>
                  <a:pt x="65" y="2120"/>
                </a:cubicBezTo>
                <a:cubicBezTo>
                  <a:pt x="57" y="2114"/>
                  <a:pt x="50" y="2108"/>
                  <a:pt x="43" y="2102"/>
                </a:cubicBezTo>
                <a:cubicBezTo>
                  <a:pt x="36" y="2095"/>
                  <a:pt x="30" y="2087"/>
                  <a:pt x="25" y="2080"/>
                </a:cubicBezTo>
                <a:cubicBezTo>
                  <a:pt x="20" y="2072"/>
                  <a:pt x="15" y="2063"/>
                  <a:pt x="11" y="2054"/>
                </a:cubicBezTo>
                <a:cubicBezTo>
                  <a:pt x="8" y="2046"/>
                  <a:pt x="5" y="2036"/>
                  <a:pt x="3" y="2027"/>
                </a:cubicBezTo>
                <a:cubicBezTo>
                  <a:pt x="1" y="2018"/>
                  <a:pt x="0" y="2008"/>
                  <a:pt x="0" y="1999"/>
                </a:cubicBezTo>
              </a:path>
            </a:pathLst>
          </a:custGeom>
          <a:ln w="9360">
            <a:solidFill>
              <a:srgbClr val="d9d9d9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762120" y="372600"/>
            <a:ext cx="3480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Conclusion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923760" y="4480920"/>
            <a:ext cx="10192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Before pushing further into AI and other technologies, we should ﬁrst work on understanding the world — and our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923760" y="4757040"/>
            <a:ext cx="926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place in it.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1238400" y="6569280"/>
            <a:ext cx="339012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GITREVISION | © 24.09.2026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69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29" name="" descr=""/>
          <p:cNvPicPr/>
          <p:nvPr/>
        </p:nvPicPr>
        <p:blipFill>
          <a:blip r:embed="rId1"/>
          <a:stretch/>
        </p:blipFill>
        <p:spPr>
          <a:xfrm>
            <a:off x="6324480" y="2695680"/>
            <a:ext cx="5714640" cy="320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0" name=""/>
          <p:cNvSpPr txBox="1"/>
          <p:nvPr/>
        </p:nvSpPr>
        <p:spPr>
          <a:xfrm>
            <a:off x="857160" y="2437920"/>
            <a:ext cx="2017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Dr Nawfal Al Hashimy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857160" y="2704680"/>
            <a:ext cx="29660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Lecturer in Cyber Physical Security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857160" y="3123720"/>
            <a:ext cx="57556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Universtity of Southampton 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| Faculty of Engineering and Physical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857160" y="3390480"/>
            <a:ext cx="731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Sciences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857160" y="3657240"/>
            <a:ext cx="34272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Cyber Physical Systems Research Group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857160" y="4087440"/>
            <a:ext cx="178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HiraginoSans-W3"/>
                <a:ea typeface="HiraginoSans-W3"/>
              </a:rPr>
              <a:t>☎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1035000" y="4076280"/>
            <a:ext cx="20062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 +44 (0) 23 8059 6659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857160" y="4495320"/>
            <a:ext cx="19512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@ Nawfal@soton.ac.uk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857160" y="4914360"/>
            <a:ext cx="3756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Highﬁeld Campus, Building 53, Room 4049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857160" y="5181120"/>
            <a:ext cx="36356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Burgess Road, Southampton SO17 1BJ, UK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857160" y="634680"/>
            <a:ext cx="414000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Thank you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LibreOffice/25.2.5.2$MacOSX_AARCH64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