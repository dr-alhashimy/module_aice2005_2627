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0.xml" ContentType="application/vnd.openxmlformats-officedocument.presentationml.slide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1558800"/>
            <a:ext cx="103629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Introduction to Systematic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2454120"/>
            <a:ext cx="65214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of Multi-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62120" y="3349440"/>
            <a:ext cx="800352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Component Systems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"/>
          <p:cNvSpPr/>
          <p:nvPr/>
        </p:nvSpPr>
        <p:spPr>
          <a:xfrm>
            <a:off x="4305240" y="1942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8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2"/>
                  <a:pt x="149" y="18"/>
                  <a:pt x="158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095720" y="139428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502160" y="1851480"/>
            <a:ext cx="6191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systematic and systemic design in the context of multi-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4305240" y="2600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3"/>
                  <a:pt x="105" y="186"/>
                  <a:pt x="92" y="186"/>
                </a:cubicBezTo>
                <a:cubicBezTo>
                  <a:pt x="80" y="186"/>
                  <a:pt x="68" y="183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5" y="18"/>
                  <a:pt x="45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1"/>
                  <a:pt x="149" y="18"/>
                  <a:pt x="158" y="27"/>
                </a:cubicBezTo>
                <a:cubicBezTo>
                  <a:pt x="167" y="35"/>
                  <a:pt x="174" y="45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502160" y="2156040"/>
            <a:ext cx="2032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component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502160" y="2508480"/>
            <a:ext cx="6553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 the diﬀerences between monolithic and distributed design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4305240" y="32572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7" y="151"/>
                  <a:pt x="158" y="159"/>
                </a:cubicBezTo>
                <a:cubicBezTo>
                  <a:pt x="149" y="168"/>
                  <a:pt x="139" y="175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5"/>
                  <a:pt x="35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9"/>
                  <a:pt x="45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8" y="7"/>
                </a:cubicBezTo>
                <a:cubicBezTo>
                  <a:pt x="139" y="12"/>
                  <a:pt x="149" y="19"/>
                  <a:pt x="158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502160" y="2813400"/>
            <a:ext cx="119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approaches.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4305240" y="3619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7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1"/>
                  <a:pt x="149" y="18"/>
                  <a:pt x="158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4502160" y="3165840"/>
            <a:ext cx="5807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Describe the key principles of a systematic design process.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3527640"/>
            <a:ext cx="6690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the importance of interfaces and coordination in distributed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4305240" y="4276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7" y="151"/>
                  <a:pt x="158" y="159"/>
                </a:cubicBezTo>
                <a:cubicBezTo>
                  <a:pt x="149" y="168"/>
                  <a:pt x="139" y="175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5"/>
                  <a:pt x="35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9"/>
                  <a:pt x="45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cubicBezTo>
                  <a:pt x="105" y="0"/>
                  <a:pt x="116" y="3"/>
                  <a:pt x="128" y="7"/>
                </a:cubicBezTo>
                <a:cubicBezTo>
                  <a:pt x="139" y="12"/>
                  <a:pt x="149" y="19"/>
                  <a:pt x="158" y="27"/>
                </a:cubicBezTo>
                <a:cubicBezTo>
                  <a:pt x="167" y="36"/>
                  <a:pt x="174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502160" y="3832560"/>
            <a:ext cx="2092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development.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02160" y="4185000"/>
            <a:ext cx="6811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Evaluate tools and methods used to support the systematic design of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4305240" y="49338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7" y="150"/>
                  <a:pt x="158" y="159"/>
                </a:cubicBezTo>
                <a:cubicBezTo>
                  <a:pt x="149" y="168"/>
                  <a:pt x="139" y="174"/>
                  <a:pt x="128" y="179"/>
                </a:cubicBezTo>
                <a:cubicBezTo>
                  <a:pt x="116" y="184"/>
                  <a:pt x="105" y="186"/>
                  <a:pt x="92" y="186"/>
                </a:cubicBezTo>
                <a:cubicBezTo>
                  <a:pt x="80" y="186"/>
                  <a:pt x="68" y="184"/>
                  <a:pt x="57" y="179"/>
                </a:cubicBezTo>
                <a:cubicBezTo>
                  <a:pt x="45" y="174"/>
                  <a:pt x="35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ubicBezTo>
                  <a:pt x="105" y="0"/>
                  <a:pt x="116" y="2"/>
                  <a:pt x="128" y="7"/>
                </a:cubicBezTo>
                <a:cubicBezTo>
                  <a:pt x="139" y="12"/>
                  <a:pt x="149" y="18"/>
                  <a:pt x="158" y="27"/>
                </a:cubicBezTo>
                <a:cubicBezTo>
                  <a:pt x="167" y="36"/>
                  <a:pt x="174" y="46"/>
                  <a:pt x="179" y="57"/>
                </a:cubicBezTo>
                <a:cubicBezTo>
                  <a:pt x="184" y="68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4502160" y="4489920"/>
            <a:ext cx="176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complex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4502160" y="4842360"/>
            <a:ext cx="5951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Apply a systematic design process to a simpliﬁed real-world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4502160" y="5146920"/>
            <a:ext cx="2121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engineering problem.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"/>
          <p:cNvSpPr txBox="1"/>
          <p:nvPr/>
        </p:nvSpPr>
        <p:spPr>
          <a:xfrm>
            <a:off x="762120" y="3527640"/>
            <a:ext cx="10578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Modern products and systems are increasingly complex and interconnected, demanding </a:t>
            </a:r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robust, adaptable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62120" y="3832560"/>
            <a:ext cx="6582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and Scalable designs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; ad hoc approaches inherently increase risk.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62120" y="372600"/>
            <a:ext cx="59425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Problem statement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"/>
          <p:cNvSpPr txBox="1"/>
          <p:nvPr/>
        </p:nvSpPr>
        <p:spPr>
          <a:xfrm>
            <a:off x="762120" y="1451520"/>
            <a:ext cx="5343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Designing modern engineering systems often involves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762120" y="1756080"/>
            <a:ext cx="595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combining mechanical, electrical, and software components,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762120" y="2061000"/>
            <a:ext cx="5802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each with its own functional logic and physical constraints.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62120" y="2518200"/>
            <a:ext cx="5394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robot, for example, may contain a motion controller,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62120" y="2823120"/>
            <a:ext cx="5358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sensors, actuators, communication links, and onboard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62120" y="3127680"/>
            <a:ext cx="5569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processing. Such systems cannot be designed eﬀectively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62120" y="3432600"/>
            <a:ext cx="5448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without breaking the problem down, coordinating sub-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" name="" descr=""/>
          <p:cNvPicPr/>
          <p:nvPr/>
        </p:nvPicPr>
        <p:blipFill>
          <a:blip r:embed="rId2"/>
          <a:stretch/>
        </p:blipFill>
        <p:spPr>
          <a:xfrm>
            <a:off x="6905520" y="1419120"/>
            <a:ext cx="4524120" cy="452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"/>
          <p:cNvSpPr txBox="1"/>
          <p:nvPr/>
        </p:nvSpPr>
        <p:spPr>
          <a:xfrm>
            <a:off x="762120" y="3737520"/>
            <a:ext cx="4039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systems, and validating their integration.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62120" y="372600"/>
            <a:ext cx="6342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Modern Engineering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876240" y="816840"/>
            <a:ext cx="37357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Systems Thinking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76240" y="1712520"/>
            <a:ext cx="98499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Systems thinking is a theoretical and analytical lens used to understand the behaviour of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876240" y="2074320"/>
            <a:ext cx="10486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complex systems. It originates from systems theory (e.g. von Bertalanﬀy) and emphasises how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876240" y="2445840"/>
            <a:ext cx="9415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parts of a system interact through feedback loops, interdependencies, and emergent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76240" y="2808000"/>
            <a:ext cx="6197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behaviours, rather than analysing each part in isolation.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085760" y="392400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876240" y="3322080"/>
            <a:ext cx="2137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Key characteristics: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1085760" y="4276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282680" y="3832560"/>
            <a:ext cx="4409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Focus on the whole system, not just its parts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1085760" y="4628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8"/>
                </a:cubicBezTo>
                <a:cubicBezTo>
                  <a:pt x="150" y="167"/>
                  <a:pt x="140" y="174"/>
                  <a:pt x="129" y="178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8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282680" y="4185000"/>
            <a:ext cx="7435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Identiﬁes feedback loops, delays, and non-linear cause-eﬀect relationships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1085760" y="49910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282680" y="4537440"/>
            <a:ext cx="6435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Helps in understanding why systems behave as they do over time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282680" y="4899240"/>
            <a:ext cx="5847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Often used for diagnosis, modelling, and scenario planning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876240" y="5370120"/>
            <a:ext cx="10468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Systems thinking underpins systemic design (systems thinking applied to design practice) and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876240" y="5731920"/>
            <a:ext cx="8308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is applied speciﬁcally to AI systems in "Systems Thinking for AI Engineers".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35252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76240" y="1836000"/>
            <a:ext cx="725760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Systems Thinking for AI Engineers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76240" y="2731680"/>
            <a:ext cx="101188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Systems thinking is a theoretical and analytical lens for understanding complex systems by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76240" y="3093480"/>
            <a:ext cx="10138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focusing on interactions, feedback loops, interdependencies, and emergent behaviour — in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76240" y="3465000"/>
            <a:ext cx="7012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contrast to reductionism, which analyses each part in isolation.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876240" y="3979440"/>
            <a:ext cx="9752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Applied to AI, it reframes AI systems as socio-technical ecosystems rather than isolated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76240" y="4341240"/>
            <a:ext cx="10367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algorithms: an AI model's success depends on data ﬂows, human and organisational context,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876240" y="4712760"/>
            <a:ext cx="55785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ethics, and regulation, not just technical accuracy.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35252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1085760" y="2581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876240" y="1607400"/>
            <a:ext cx="44204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Key concepts include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1085760" y="2943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282680" y="2489760"/>
            <a:ext cx="2414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holism vs. reductionism,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1085760" y="32954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5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1"/>
                  <a:pt x="2" y="70"/>
                  <a:pt x="7" y="58"/>
                </a:cubicBezTo>
                <a:cubicBezTo>
                  <a:pt x="11" y="47"/>
                  <a:pt x="18" y="37"/>
                  <a:pt x="27" y="28"/>
                </a:cubicBezTo>
                <a:cubicBezTo>
                  <a:pt x="36" y="20"/>
                  <a:pt x="47" y="13"/>
                  <a:pt x="58" y="8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8"/>
                </a:cubicBezTo>
                <a:cubicBezTo>
                  <a:pt x="140" y="13"/>
                  <a:pt x="150" y="20"/>
                  <a:pt x="159" y="28"/>
                </a:cubicBezTo>
                <a:cubicBezTo>
                  <a:pt x="168" y="37"/>
                  <a:pt x="174" y="47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282680" y="2851560"/>
            <a:ext cx="1979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interconnectedness,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1085760" y="36478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282680" y="3204000"/>
            <a:ext cx="1920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boundaries,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1085760" y="40096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7" y="12"/>
                  <a:pt x="58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8"/>
                </a:cubicBezTo>
                <a:cubicBezTo>
                  <a:pt x="140" y="12"/>
                  <a:pt x="150" y="19"/>
                  <a:pt x="159" y="28"/>
                </a:cubicBezTo>
                <a:cubicBezTo>
                  <a:pt x="168" y="36"/>
                  <a:pt x="174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282680" y="3556440"/>
            <a:ext cx="3754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reinforcing/balancing feedback loops,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085760" y="4362120"/>
            <a:ext cx="66960" cy="67680"/>
          </a:xfrm>
          <a:custGeom>
            <a:avLst/>
            <a:gdLst/>
            <a:ahLst/>
            <a:rect l="0" t="0" r="r" b="b"/>
            <a:pathLst>
              <a:path w="186" h="188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4" y="141"/>
                  <a:pt x="168" y="151"/>
                  <a:pt x="159" y="160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8"/>
                  <a:pt x="93" y="188"/>
                </a:cubicBezTo>
                <a:cubicBezTo>
                  <a:pt x="81" y="188"/>
                  <a:pt x="69" y="184"/>
                  <a:pt x="58" y="180"/>
                </a:cubicBezTo>
                <a:cubicBezTo>
                  <a:pt x="47" y="175"/>
                  <a:pt x="36" y="168"/>
                  <a:pt x="27" y="160"/>
                </a:cubicBezTo>
                <a:cubicBezTo>
                  <a:pt x="18" y="151"/>
                  <a:pt x="11" y="141"/>
                  <a:pt x="7" y="129"/>
                </a:cubicBezTo>
                <a:cubicBezTo>
                  <a:pt x="2" y="118"/>
                  <a:pt x="0" y="106"/>
                  <a:pt x="0" y="94"/>
                </a:cubicBezTo>
                <a:cubicBezTo>
                  <a:pt x="0" y="82"/>
                  <a:pt x="2" y="70"/>
                  <a:pt x="7" y="59"/>
                </a:cubicBezTo>
                <a:cubicBezTo>
                  <a:pt x="11" y="47"/>
                  <a:pt x="18" y="37"/>
                  <a:pt x="27" y="29"/>
                </a:cubicBezTo>
                <a:cubicBezTo>
                  <a:pt x="36" y="20"/>
                  <a:pt x="47" y="13"/>
                  <a:pt x="58" y="8"/>
                </a:cubicBezTo>
                <a:cubicBezTo>
                  <a:pt x="69" y="4"/>
                  <a:pt x="81" y="0"/>
                  <a:pt x="93" y="0"/>
                </a:cubicBezTo>
                <a:cubicBezTo>
                  <a:pt x="106" y="0"/>
                  <a:pt x="117" y="4"/>
                  <a:pt x="129" y="8"/>
                </a:cubicBezTo>
                <a:cubicBezTo>
                  <a:pt x="140" y="13"/>
                  <a:pt x="150" y="20"/>
                  <a:pt x="159" y="29"/>
                </a:cubicBezTo>
                <a:cubicBezTo>
                  <a:pt x="168" y="37"/>
                  <a:pt x="174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282680" y="3918240"/>
            <a:ext cx="1144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emergence,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085760" y="471456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1"/>
                  <a:pt x="168" y="151"/>
                  <a:pt x="159" y="159"/>
                </a:cubicBezTo>
                <a:cubicBezTo>
                  <a:pt x="150" y="168"/>
                  <a:pt x="140" y="175"/>
                  <a:pt x="129" y="180"/>
                </a:cubicBezTo>
                <a:cubicBezTo>
                  <a:pt x="117" y="184"/>
                  <a:pt x="106" y="187"/>
                  <a:pt x="93" y="187"/>
                </a:cubicBezTo>
                <a:cubicBezTo>
                  <a:pt x="81" y="187"/>
                  <a:pt x="69" y="184"/>
                  <a:pt x="58" y="180"/>
                </a:cubicBezTo>
                <a:cubicBezTo>
                  <a:pt x="47" y="175"/>
                  <a:pt x="36" y="168"/>
                  <a:pt x="27" y="159"/>
                </a:cubicBezTo>
                <a:cubicBezTo>
                  <a:pt x="18" y="151"/>
                  <a:pt x="11" y="141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6" y="0"/>
                  <a:pt x="117" y="3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82680" y="4270680"/>
            <a:ext cx="2985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hierarchy and nested systems,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1085760" y="50767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282680" y="4623120"/>
            <a:ext cx="277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delays and nonlinearity,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282680" y="4985280"/>
            <a:ext cx="5353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adaptation/self-organisation (e.g. federated learning).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35252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876240" y="1911960"/>
            <a:ext cx="215748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Continued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876240" y="2808000"/>
            <a:ext cx="101181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Systemic design extends this into practice — designing AI ecosystems, not just algorithms,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876240" y="3169800"/>
            <a:ext cx="9486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through participatory, stakeholder-inclusive methods using tools such as causal loop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876240" y="3541320"/>
            <a:ext cx="10092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diagrams, giga-mapping, and stakeholder analysis matrices — and connects to distributed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876240" y="3903120"/>
            <a:ext cx="10486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optimisation, where AI training pipelines (data preprocessing, training, inference, deployment)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876240" y="4265280"/>
            <a:ext cx="9476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are decomposed into coordinated subsystems, mirroring distributed design of multi-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876240" y="4636800"/>
            <a:ext cx="22924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component systems.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35252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876240" y="1436040"/>
            <a:ext cx="344052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Systemic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876240" y="2331720"/>
            <a:ext cx="9640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 design approach that integrates systems thinking into the design process to address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876240" y="2703240"/>
            <a:ext cx="9874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complex, interconnected, socio-technical challenges involving multiple stakeholders and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876240" y="3065040"/>
            <a:ext cx="25052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dynamic relationships.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085760" y="4181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6"/>
                  <a:pt x="0" y="105"/>
                  <a:pt x="0" y="92"/>
                </a:cubicBez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876240" y="3579480"/>
            <a:ext cx="21376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Key characteristics: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1085760" y="45338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7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7"/>
                  <a:pt x="27" y="159"/>
                </a:cubicBezTo>
                <a:cubicBezTo>
                  <a:pt x="18" y="150"/>
                  <a:pt x="11" y="140"/>
                  <a:pt x="7" y="129"/>
                </a:cubicBezTo>
                <a:cubicBezTo>
                  <a:pt x="2" y="117"/>
                  <a:pt x="0" y="106"/>
                  <a:pt x="0" y="93"/>
                </a:cubicBezTo>
                <a:cubicBezTo>
                  <a:pt x="0" y="81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7" y="11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1"/>
                  <a:pt x="150" y="18"/>
                  <a:pt x="159" y="27"/>
                </a:cubicBezTo>
                <a:cubicBezTo>
                  <a:pt x="168" y="35"/>
                  <a:pt x="174" y="45"/>
                  <a:pt x="179" y="57"/>
                </a:cubicBezTo>
                <a:cubicBezTo>
                  <a:pt x="184" y="68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1282680" y="4089960"/>
            <a:ext cx="6740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Emphasises relationships, feedback loops, and emergent behaviours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085760" y="48956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39"/>
                  <a:pt x="168" y="149"/>
                  <a:pt x="159" y="158"/>
                </a:cubicBezTo>
                <a:cubicBezTo>
                  <a:pt x="150" y="167"/>
                  <a:pt x="140" y="174"/>
                  <a:pt x="129" y="178"/>
                </a:cubicBezTo>
                <a:cubicBezTo>
                  <a:pt x="117" y="183"/>
                  <a:pt x="106" y="186"/>
                  <a:pt x="93" y="186"/>
                </a:cubicBezTo>
                <a:cubicBezTo>
                  <a:pt x="81" y="186"/>
                  <a:pt x="69" y="183"/>
                  <a:pt x="58" y="178"/>
                </a:cubicBezTo>
                <a:cubicBezTo>
                  <a:pt x="47" y="174"/>
                  <a:pt x="36" y="167"/>
                  <a:pt x="27" y="158"/>
                </a:cubicBezTo>
                <a:cubicBezTo>
                  <a:pt x="18" y="149"/>
                  <a:pt x="11" y="139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9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282680" y="4442040"/>
            <a:ext cx="4575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Integrates qualitative and quantitative analysis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085760" y="52480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4" y="140"/>
                  <a:pt x="168" y="150"/>
                  <a:pt x="159" y="159"/>
                </a:cubicBezTo>
                <a:cubicBezTo>
                  <a:pt x="150" y="168"/>
                  <a:pt x="140" y="174"/>
                  <a:pt x="129" y="179"/>
                </a:cubicBezTo>
                <a:cubicBezTo>
                  <a:pt x="117" y="184"/>
                  <a:pt x="106" y="186"/>
                  <a:pt x="93" y="186"/>
                </a:cubicBezTo>
                <a:cubicBezTo>
                  <a:pt x="81" y="186"/>
                  <a:pt x="69" y="184"/>
                  <a:pt x="58" y="179"/>
                </a:cubicBezTo>
                <a:cubicBezTo>
                  <a:pt x="47" y="174"/>
                  <a:pt x="36" y="168"/>
                  <a:pt x="27" y="159"/>
                </a:cubicBezTo>
                <a:cubicBezTo>
                  <a:pt x="18" y="150"/>
                  <a:pt x="11" y="140"/>
                  <a:pt x="7" y="128"/>
                </a:cubicBezTo>
                <a:cubicBezTo>
                  <a:pt x="2" y="117"/>
                  <a:pt x="0" y="105"/>
                  <a:pt x="0" y="93"/>
                </a:cubicBez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7" y="12"/>
                  <a:pt x="58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6" y="0"/>
                  <a:pt x="117" y="2"/>
                  <a:pt x="129" y="7"/>
                </a:cubicBezTo>
                <a:cubicBezTo>
                  <a:pt x="140" y="12"/>
                  <a:pt x="150" y="18"/>
                  <a:pt x="159" y="27"/>
                </a:cubicBezTo>
                <a:cubicBezTo>
                  <a:pt x="168" y="36"/>
                  <a:pt x="174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282680" y="4804200"/>
            <a:ext cx="7227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Focused on sense-making and co-creation in messy, real-world contexts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282680" y="5156640"/>
            <a:ext cx="7612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Often applied to sustainability, healthcare, policy, education, and ecosystems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79992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8"/>
                </a:cubicBezTo>
                <a:cubicBezTo>
                  <a:pt x="38" y="206"/>
                  <a:pt x="49" y="185"/>
                  <a:pt x="62" y="164"/>
                </a:cubicBezTo>
                <a:cubicBezTo>
                  <a:pt x="76" y="144"/>
                  <a:pt x="91" y="125"/>
                  <a:pt x="108" y="108"/>
                </a:cubicBezTo>
                <a:cubicBezTo>
                  <a:pt x="126" y="91"/>
                  <a:pt x="144" y="76"/>
                  <a:pt x="165" y="62"/>
                </a:cubicBezTo>
                <a:cubicBezTo>
                  <a:pt x="185" y="49"/>
                  <a:pt x="206" y="37"/>
                  <a:pt x="229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1" y="0"/>
                </a:cubicBezTo>
                <a:cubicBezTo>
                  <a:pt x="396" y="0"/>
                  <a:pt x="420" y="2"/>
                  <a:pt x="444" y="7"/>
                </a:cubicBezTo>
                <a:cubicBezTo>
                  <a:pt x="468" y="12"/>
                  <a:pt x="491" y="19"/>
                  <a:pt x="513" y="28"/>
                </a:cubicBezTo>
                <a:cubicBezTo>
                  <a:pt x="536" y="37"/>
                  <a:pt x="557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1" y="125"/>
                  <a:pt x="666" y="144"/>
                  <a:pt x="679" y="164"/>
                </a:cubicBezTo>
                <a:cubicBezTo>
                  <a:pt x="693" y="185"/>
                  <a:pt x="704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39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39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4" y="641"/>
                  <a:pt x="693" y="663"/>
                  <a:pt x="679" y="683"/>
                </a:cubicBezTo>
                <a:cubicBezTo>
                  <a:pt x="666" y="703"/>
                  <a:pt x="651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7" y="798"/>
                  <a:pt x="536" y="810"/>
                  <a:pt x="513" y="819"/>
                </a:cubicBezTo>
                <a:cubicBezTo>
                  <a:pt x="491" y="829"/>
                  <a:pt x="468" y="836"/>
                  <a:pt x="444" y="840"/>
                </a:cubicBezTo>
                <a:cubicBezTo>
                  <a:pt x="420" y="845"/>
                  <a:pt x="396" y="847"/>
                  <a:pt x="371" y="847"/>
                </a:cubicBezTo>
                <a:cubicBezTo>
                  <a:pt x="346" y="847"/>
                  <a:pt x="322" y="845"/>
                  <a:pt x="298" y="840"/>
                </a:cubicBezTo>
                <a:cubicBezTo>
                  <a:pt x="274" y="836"/>
                  <a:pt x="251" y="829"/>
                  <a:pt x="229" y="819"/>
                </a:cubicBezTo>
                <a:cubicBezTo>
                  <a:pt x="206" y="810"/>
                  <a:pt x="185" y="798"/>
                  <a:pt x="165" y="785"/>
                </a:cubicBezTo>
                <a:cubicBezTo>
                  <a:pt x="144" y="771"/>
                  <a:pt x="126" y="756"/>
                  <a:pt x="108" y="739"/>
                </a:cubicBezTo>
                <a:cubicBezTo>
                  <a:pt x="91" y="722"/>
                  <a:pt x="76" y="703"/>
                  <a:pt x="62" y="683"/>
                </a:cubicBezTo>
                <a:cubicBezTo>
                  <a:pt x="49" y="663"/>
                  <a:pt x="38" y="641"/>
                  <a:pt x="28" y="619"/>
                </a:cubicBezTo>
                <a:cubicBezTo>
                  <a:pt x="19" y="596"/>
                  <a:pt x="12" y="573"/>
                  <a:pt x="7" y="548"/>
                </a:cubicBezTo>
                <a:cubicBezTo>
                  <a:pt x="2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35252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87624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8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"/>
          <p:cNvSpPr/>
          <p:nvPr/>
        </p:nvSpPr>
        <p:spPr>
          <a:xfrm>
            <a:off x="0" y="0"/>
            <a:ext cx="114480" cy="6858000"/>
          </a:xfrm>
          <a:custGeom>
            <a:avLst/>
            <a:gdLst/>
            <a:ahLst/>
            <a:rect l="0" t="0" r="r" b="b"/>
            <a:pathLst>
              <a:path w="318" h="19050">
                <a:moveTo>
                  <a:pt x="0" y="0"/>
                </a:moveTo>
                <a:lnTo>
                  <a:pt x="318" y="0"/>
                </a:lnTo>
                <a:lnTo>
                  <a:pt x="31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876240" y="540360"/>
            <a:ext cx="384480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Systematic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76240" y="1436400"/>
            <a:ext cx="9507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Systematic Design is a structured approach that decomposes systems into interacting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76240" y="1798200"/>
            <a:ext cx="9164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components, applying design principles to manage intricate challenges eﬀectively.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025280" y="2499120"/>
            <a:ext cx="257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282680" y="2474640"/>
            <a:ext cx="9633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Structured: Following repeatable processes with deﬁned stages and checkpoints rather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282680" y="2836440"/>
            <a:ext cx="88567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than intuitive approaches. This ensures consistency and quality across projects.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025280" y="3375360"/>
            <a:ext cx="257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1282680" y="3350880"/>
            <a:ext cx="9764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Decomposable: Breaking complex problems into manageable sub-problems that can be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1282680" y="3722400"/>
            <a:ext cx="7874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addressed independently, while maintaining awareness of interactions.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1025280" y="4261320"/>
            <a:ext cx="257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282680" y="4236480"/>
            <a:ext cx="9386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Iterative: Embracing feedback loops to continuously reﬁne designs based on testing,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1282680" y="4608000"/>
            <a:ext cx="80456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simulation, and stakeholder input throughout the development lifecycle.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876240" y="5274720"/>
            <a:ext cx="100368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Systematic design is crucial for managing complexity, coordinating distributed teams, and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876240" y="5636880"/>
            <a:ext cx="105415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ensuring that each subsystem contributes eﬀectively to the global performance objectives. It is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76240" y="6008400"/>
            <a:ext cx="53503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not simply a way to document a design process.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0895040" y="239040"/>
            <a:ext cx="761400" cy="14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DEFINITION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35252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799920" y="6343560"/>
            <a:ext cx="381240" cy="304920"/>
          </a:xfrm>
          <a:custGeom>
            <a:avLst/>
            <a:gdLst/>
            <a:ahLst/>
            <a:rect l="0" t="0" r="r" b="b"/>
            <a:pathLst>
              <a:path w="1059" h="847">
                <a:moveTo>
                  <a:pt x="0" y="423"/>
                </a:move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1" y="188"/>
                </a:cubicBezTo>
                <a:cubicBezTo>
                  <a:pt x="87" y="165"/>
                  <a:pt x="104" y="143"/>
                  <a:pt x="124" y="124"/>
                </a:cubicBezTo>
                <a:cubicBezTo>
                  <a:pt x="144" y="104"/>
                  <a:pt x="165" y="87"/>
                  <a:pt x="188" y="71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1"/>
                  <a:pt x="313" y="13"/>
                  <a:pt x="341" y="8"/>
                </a:cubicBezTo>
                <a:cubicBezTo>
                  <a:pt x="368" y="2"/>
                  <a:pt x="396" y="0"/>
                  <a:pt x="423" y="0"/>
                </a:cubicBezTo>
                <a:lnTo>
                  <a:pt x="636" y="0"/>
                </a:lnTo>
                <a:cubicBezTo>
                  <a:pt x="664" y="0"/>
                  <a:pt x="691" y="2"/>
                  <a:pt x="719" y="8"/>
                </a:cubicBezTo>
                <a:cubicBezTo>
                  <a:pt x="746" y="13"/>
                  <a:pt x="772" y="21"/>
                  <a:pt x="798" y="32"/>
                </a:cubicBezTo>
                <a:cubicBezTo>
                  <a:pt x="824" y="43"/>
                  <a:pt x="848" y="56"/>
                  <a:pt x="871" y="71"/>
                </a:cubicBezTo>
                <a:cubicBezTo>
                  <a:pt x="894" y="87"/>
                  <a:pt x="916" y="104"/>
                  <a:pt x="935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3" y="211"/>
                  <a:pt x="1016" y="235"/>
                  <a:pt x="1027" y="261"/>
                </a:cubicBezTo>
                <a:cubicBezTo>
                  <a:pt x="1038" y="287"/>
                  <a:pt x="1046" y="313"/>
                  <a:pt x="1051" y="340"/>
                </a:cubicBezTo>
                <a:cubicBezTo>
                  <a:pt x="1057" y="368"/>
                  <a:pt x="1059" y="395"/>
                  <a:pt x="1059" y="423"/>
                </a:cubicBezTo>
                <a:cubicBezTo>
                  <a:pt x="1059" y="451"/>
                  <a:pt x="1057" y="478"/>
                  <a:pt x="1051" y="506"/>
                </a:cubicBezTo>
                <a:cubicBezTo>
                  <a:pt x="1046" y="533"/>
                  <a:pt x="1038" y="559"/>
                  <a:pt x="1027" y="586"/>
                </a:cubicBezTo>
                <a:cubicBezTo>
                  <a:pt x="1016" y="612"/>
                  <a:pt x="1003" y="636"/>
                  <a:pt x="988" y="659"/>
                </a:cubicBezTo>
                <a:cubicBezTo>
                  <a:pt x="973" y="682"/>
                  <a:pt x="955" y="704"/>
                  <a:pt x="935" y="723"/>
                </a:cubicBezTo>
                <a:cubicBezTo>
                  <a:pt x="916" y="743"/>
                  <a:pt x="894" y="761"/>
                  <a:pt x="871" y="776"/>
                </a:cubicBezTo>
                <a:cubicBezTo>
                  <a:pt x="848" y="792"/>
                  <a:pt x="824" y="805"/>
                  <a:pt x="798" y="815"/>
                </a:cubicBezTo>
                <a:cubicBezTo>
                  <a:pt x="772" y="826"/>
                  <a:pt x="746" y="834"/>
                  <a:pt x="719" y="839"/>
                </a:cubicBezTo>
                <a:cubicBezTo>
                  <a:pt x="691" y="845"/>
                  <a:pt x="664" y="847"/>
                  <a:pt x="636" y="847"/>
                </a:cubicBezTo>
                <a:lnTo>
                  <a:pt x="423" y="847"/>
                </a:lnTo>
                <a:cubicBezTo>
                  <a:pt x="396" y="847"/>
                  <a:pt x="368" y="845"/>
                  <a:pt x="341" y="839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4" y="704"/>
                  <a:pt x="87" y="682"/>
                  <a:pt x="71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59"/>
                  <a:pt x="14" y="533"/>
                  <a:pt x="8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35252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87624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1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762120" y="372600"/>
            <a:ext cx="2840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Question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" name=""/>
          <p:cNvSpPr txBox="1"/>
          <p:nvPr/>
        </p:nvSpPr>
        <p:spPr>
          <a:xfrm>
            <a:off x="762120" y="1803960"/>
            <a:ext cx="9972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 elegance lies in its systematic approach to a singular function. This humble oﬃce tool exempliﬁes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762120" y="2108520"/>
            <a:ext cx="4264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several key principles of systematic design: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62120" y="372600"/>
            <a:ext cx="9489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 Elegance of the Paperclip 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766440" y="2652480"/>
            <a:ext cx="5277240" cy="1267200"/>
          </a:xfrm>
          <a:custGeom>
            <a:avLst/>
            <a:gdLst/>
            <a:ahLst/>
            <a:rect l="0" t="0" r="r" b="b"/>
            <a:pathLst>
              <a:path w="14659" h="3520">
                <a:moveTo>
                  <a:pt x="0" y="337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3375"/>
                </a:lnTo>
                <a:cubicBezTo>
                  <a:pt x="14659" y="3384"/>
                  <a:pt x="14658" y="3394"/>
                  <a:pt x="14657" y="3403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1"/>
                  <a:pt x="14617" y="3477"/>
                </a:cubicBezTo>
                <a:cubicBezTo>
                  <a:pt x="14610" y="3484"/>
                  <a:pt x="14603" y="3490"/>
                  <a:pt x="14595" y="3496"/>
                </a:cubicBezTo>
                <a:cubicBezTo>
                  <a:pt x="14587" y="3501"/>
                  <a:pt x="14578" y="3505"/>
                  <a:pt x="14569" y="3509"/>
                </a:cubicBezTo>
                <a:cubicBezTo>
                  <a:pt x="14561" y="3513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8" y="3517"/>
                </a:cubicBezTo>
                <a:cubicBezTo>
                  <a:pt x="108" y="3515"/>
                  <a:pt x="99" y="3513"/>
                  <a:pt x="90" y="3509"/>
                </a:cubicBezTo>
                <a:cubicBezTo>
                  <a:pt x="81" y="3505"/>
                  <a:pt x="73" y="3501"/>
                  <a:pt x="65" y="3496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1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3"/>
                </a:cubicBezTo>
                <a:cubicBezTo>
                  <a:pt x="1" y="3394"/>
                  <a:pt x="0" y="3384"/>
                  <a:pt x="0" y="3375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766440" y="2652480"/>
            <a:ext cx="5277240" cy="1267200"/>
          </a:xfrm>
          <a:custGeom>
            <a:avLst/>
            <a:gdLst/>
            <a:ahLst/>
            <a:rect l="0" t="0" r="r" b="b"/>
            <a:pathLst>
              <a:path fill="none" w="14659" h="3520">
                <a:moveTo>
                  <a:pt x="0" y="337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3375"/>
                </a:lnTo>
                <a:cubicBezTo>
                  <a:pt x="14659" y="3384"/>
                  <a:pt x="14658" y="3394"/>
                  <a:pt x="14657" y="3403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1"/>
                  <a:pt x="14617" y="3477"/>
                </a:cubicBezTo>
                <a:cubicBezTo>
                  <a:pt x="14610" y="3484"/>
                  <a:pt x="14603" y="3490"/>
                  <a:pt x="14595" y="3496"/>
                </a:cubicBezTo>
                <a:cubicBezTo>
                  <a:pt x="14587" y="3501"/>
                  <a:pt x="14578" y="3505"/>
                  <a:pt x="14569" y="3509"/>
                </a:cubicBezTo>
                <a:cubicBezTo>
                  <a:pt x="14561" y="3513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8" y="3517"/>
                </a:cubicBezTo>
                <a:cubicBezTo>
                  <a:pt x="108" y="3515"/>
                  <a:pt x="99" y="3513"/>
                  <a:pt x="90" y="3509"/>
                </a:cubicBezTo>
                <a:cubicBezTo>
                  <a:pt x="81" y="3505"/>
                  <a:pt x="73" y="3501"/>
                  <a:pt x="65" y="3496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1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3"/>
                </a:cubicBezTo>
                <a:cubicBezTo>
                  <a:pt x="1" y="3394"/>
                  <a:pt x="0" y="3384"/>
                  <a:pt x="0" y="3375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10250640" y="352440"/>
            <a:ext cx="610200" cy="800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4800" strike="noStrike" u="none">
                <a:solidFill>
                  <a:srgbClr val="0a5387"/>
                </a:solidFill>
                <a:effectLst/>
                <a:uFillTx/>
                <a:latin typeface="AppleColorEmoji"/>
                <a:ea typeface="AppleColorEmoji"/>
              </a:rPr>
              <a:t>📎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23760" y="3252240"/>
            <a:ext cx="4407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Securely holds papers together without tearing 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961920" y="2904840"/>
            <a:ext cx="152640" cy="105120"/>
          </a:xfrm>
          <a:custGeom>
            <a:avLst/>
            <a:gdLst/>
            <a:ahLst/>
            <a:rect l="0" t="0" r="r" b="b"/>
            <a:pathLst>
              <a:path fill="none" w="424" h="292">
                <a:moveTo>
                  <a:pt x="424" y="0"/>
                </a:moveTo>
                <a:lnTo>
                  <a:pt x="133" y="292"/>
                </a:lnTo>
                <a:lnTo>
                  <a:pt x="0" y="159"/>
                </a:lnTo>
              </a:path>
            </a:pathLst>
          </a:custGeom>
          <a:ln cap="rnd" w="18720">
            <a:solidFill>
              <a:srgbClr val="22c061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923760" y="3528360"/>
            <a:ext cx="4710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damaging them, fulﬁlling its core purpose ﬂawlessly.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6148080" y="2652480"/>
            <a:ext cx="5277240" cy="1267200"/>
          </a:xfrm>
          <a:custGeom>
            <a:avLst/>
            <a:gdLst/>
            <a:ahLst/>
            <a:rect l="0" t="0" r="r" b="b"/>
            <a:pathLst>
              <a:path w="14659" h="3520">
                <a:moveTo>
                  <a:pt x="0" y="337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3375"/>
                </a:lnTo>
                <a:cubicBezTo>
                  <a:pt x="14659" y="3384"/>
                  <a:pt x="14658" y="3394"/>
                  <a:pt x="14656" y="3403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1"/>
                  <a:pt x="14617" y="3477"/>
                </a:cubicBezTo>
                <a:cubicBezTo>
                  <a:pt x="14610" y="3484"/>
                  <a:pt x="14603" y="3490"/>
                  <a:pt x="14595" y="3496"/>
                </a:cubicBezTo>
                <a:cubicBezTo>
                  <a:pt x="14587" y="3501"/>
                  <a:pt x="14578" y="3505"/>
                  <a:pt x="14569" y="3509"/>
                </a:cubicBezTo>
                <a:cubicBezTo>
                  <a:pt x="14561" y="3513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7" y="3517"/>
                </a:cubicBezTo>
                <a:cubicBezTo>
                  <a:pt x="108" y="3515"/>
                  <a:pt x="99" y="3513"/>
                  <a:pt x="90" y="3509"/>
                </a:cubicBezTo>
                <a:cubicBezTo>
                  <a:pt x="81" y="3505"/>
                  <a:pt x="73" y="3501"/>
                  <a:pt x="65" y="3496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1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3"/>
                </a:cubicBezTo>
                <a:cubicBezTo>
                  <a:pt x="1" y="3394"/>
                  <a:pt x="0" y="3384"/>
                  <a:pt x="0" y="3375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6148080" y="2652480"/>
            <a:ext cx="5277240" cy="1267200"/>
          </a:xfrm>
          <a:custGeom>
            <a:avLst/>
            <a:gdLst/>
            <a:ahLst/>
            <a:rect l="0" t="0" r="r" b="b"/>
            <a:pathLst>
              <a:path fill="none" w="14659" h="3520">
                <a:moveTo>
                  <a:pt x="0" y="337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8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50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7"/>
                  <a:pt x="14659" y="136"/>
                  <a:pt x="14659" y="146"/>
                </a:cubicBezTo>
                <a:lnTo>
                  <a:pt x="14659" y="3375"/>
                </a:lnTo>
                <a:cubicBezTo>
                  <a:pt x="14659" y="3384"/>
                  <a:pt x="14658" y="3394"/>
                  <a:pt x="14656" y="3403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1"/>
                  <a:pt x="14617" y="3477"/>
                </a:cubicBezTo>
                <a:cubicBezTo>
                  <a:pt x="14610" y="3484"/>
                  <a:pt x="14603" y="3490"/>
                  <a:pt x="14595" y="3496"/>
                </a:cubicBezTo>
                <a:cubicBezTo>
                  <a:pt x="14587" y="3501"/>
                  <a:pt x="14578" y="3505"/>
                  <a:pt x="14569" y="3509"/>
                </a:cubicBezTo>
                <a:cubicBezTo>
                  <a:pt x="14561" y="3513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7" y="3517"/>
                </a:cubicBezTo>
                <a:cubicBezTo>
                  <a:pt x="108" y="3515"/>
                  <a:pt x="99" y="3513"/>
                  <a:pt x="90" y="3509"/>
                </a:cubicBezTo>
                <a:cubicBezTo>
                  <a:pt x="81" y="3505"/>
                  <a:pt x="73" y="3501"/>
                  <a:pt x="65" y="3496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1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3"/>
                </a:cubicBezTo>
                <a:cubicBezTo>
                  <a:pt x="1" y="3394"/>
                  <a:pt x="0" y="3384"/>
                  <a:pt x="0" y="3375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203120" y="2855520"/>
            <a:ext cx="22107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Clear Functionality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305400" y="3252240"/>
            <a:ext cx="4194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Utilises a single, continuous piece of bent wire,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6343560" y="2904840"/>
            <a:ext cx="152640" cy="105120"/>
          </a:xfrm>
          <a:custGeom>
            <a:avLst/>
            <a:gdLst/>
            <a:ahLst/>
            <a:rect l="0" t="0" r="r" b="b"/>
            <a:pathLst>
              <a:path fill="none" w="424" h="292">
                <a:moveTo>
                  <a:pt x="424" y="0"/>
                </a:moveTo>
                <a:lnTo>
                  <a:pt x="132" y="292"/>
                </a:lnTo>
                <a:lnTo>
                  <a:pt x="0" y="159"/>
                </a:lnTo>
              </a:path>
            </a:pathLst>
          </a:custGeom>
          <a:ln cap="rnd" w="18720">
            <a:solidFill>
              <a:srgbClr val="22c061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305400" y="3528360"/>
            <a:ext cx="4694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minimising waste and complexity in its construction.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766440" y="4157640"/>
            <a:ext cx="5277240" cy="1543320"/>
          </a:xfrm>
          <a:custGeom>
            <a:avLst/>
            <a:gdLst/>
            <a:ahLst/>
            <a:rect l="0" t="0" r="r" b="b"/>
            <a:pathLst>
              <a:path w="14659" h="4287">
                <a:moveTo>
                  <a:pt x="0" y="414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4141"/>
                </a:lnTo>
                <a:cubicBezTo>
                  <a:pt x="14659" y="4151"/>
                  <a:pt x="14658" y="4160"/>
                  <a:pt x="14657" y="4170"/>
                </a:cubicBezTo>
                <a:cubicBezTo>
                  <a:pt x="14655" y="4179"/>
                  <a:pt x="14652" y="4188"/>
                  <a:pt x="14648" y="4197"/>
                </a:cubicBezTo>
                <a:cubicBezTo>
                  <a:pt x="14645" y="4206"/>
                  <a:pt x="14640" y="4214"/>
                  <a:pt x="14635" y="4222"/>
                </a:cubicBezTo>
                <a:cubicBezTo>
                  <a:pt x="14629" y="4230"/>
                  <a:pt x="14623" y="4237"/>
                  <a:pt x="14617" y="4244"/>
                </a:cubicBezTo>
                <a:cubicBezTo>
                  <a:pt x="14610" y="4251"/>
                  <a:pt x="14603" y="4257"/>
                  <a:pt x="14595" y="4262"/>
                </a:cubicBezTo>
                <a:cubicBezTo>
                  <a:pt x="14587" y="4268"/>
                  <a:pt x="14578" y="4272"/>
                  <a:pt x="14569" y="4276"/>
                </a:cubicBezTo>
                <a:cubicBezTo>
                  <a:pt x="14561" y="4279"/>
                  <a:pt x="14552" y="4282"/>
                  <a:pt x="14542" y="4284"/>
                </a:cubicBezTo>
                <a:cubicBezTo>
                  <a:pt x="14533" y="4286"/>
                  <a:pt x="14523" y="4287"/>
                  <a:pt x="14514" y="4287"/>
                </a:cubicBezTo>
                <a:lnTo>
                  <a:pt x="146" y="4287"/>
                </a:lnTo>
                <a:cubicBezTo>
                  <a:pt x="136" y="4287"/>
                  <a:pt x="127" y="4286"/>
                  <a:pt x="118" y="4284"/>
                </a:cubicBezTo>
                <a:cubicBezTo>
                  <a:pt x="108" y="4282"/>
                  <a:pt x="99" y="4279"/>
                  <a:pt x="90" y="4276"/>
                </a:cubicBezTo>
                <a:cubicBezTo>
                  <a:pt x="81" y="4272"/>
                  <a:pt x="73" y="4268"/>
                  <a:pt x="65" y="4262"/>
                </a:cubicBezTo>
                <a:cubicBezTo>
                  <a:pt x="57" y="4257"/>
                  <a:pt x="50" y="4251"/>
                  <a:pt x="43" y="4244"/>
                </a:cubicBezTo>
                <a:cubicBezTo>
                  <a:pt x="36" y="4237"/>
                  <a:pt x="30" y="4230"/>
                  <a:pt x="25" y="4222"/>
                </a:cubicBezTo>
                <a:cubicBezTo>
                  <a:pt x="20" y="4214"/>
                  <a:pt x="15" y="4206"/>
                  <a:pt x="11" y="4197"/>
                </a:cubicBezTo>
                <a:cubicBezTo>
                  <a:pt x="8" y="4188"/>
                  <a:pt x="5" y="4179"/>
                  <a:pt x="3" y="4170"/>
                </a:cubicBezTo>
                <a:cubicBezTo>
                  <a:pt x="1" y="4160"/>
                  <a:pt x="0" y="4151"/>
                  <a:pt x="0" y="4141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66440" y="4157640"/>
            <a:ext cx="5277240" cy="1543320"/>
          </a:xfrm>
          <a:custGeom>
            <a:avLst/>
            <a:gdLst/>
            <a:ahLst/>
            <a:rect l="0" t="0" r="r" b="b"/>
            <a:pathLst>
              <a:path fill="none" w="14659" h="4287">
                <a:moveTo>
                  <a:pt x="0" y="414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4141"/>
                </a:lnTo>
                <a:cubicBezTo>
                  <a:pt x="14659" y="4151"/>
                  <a:pt x="14658" y="4160"/>
                  <a:pt x="14657" y="4170"/>
                </a:cubicBezTo>
                <a:cubicBezTo>
                  <a:pt x="14655" y="4179"/>
                  <a:pt x="14652" y="4188"/>
                  <a:pt x="14648" y="4197"/>
                </a:cubicBezTo>
                <a:cubicBezTo>
                  <a:pt x="14645" y="4206"/>
                  <a:pt x="14640" y="4214"/>
                  <a:pt x="14635" y="4222"/>
                </a:cubicBezTo>
                <a:cubicBezTo>
                  <a:pt x="14629" y="4230"/>
                  <a:pt x="14623" y="4237"/>
                  <a:pt x="14617" y="4244"/>
                </a:cubicBezTo>
                <a:cubicBezTo>
                  <a:pt x="14610" y="4251"/>
                  <a:pt x="14603" y="4257"/>
                  <a:pt x="14595" y="4262"/>
                </a:cubicBezTo>
                <a:cubicBezTo>
                  <a:pt x="14587" y="4268"/>
                  <a:pt x="14578" y="4272"/>
                  <a:pt x="14569" y="4276"/>
                </a:cubicBezTo>
                <a:cubicBezTo>
                  <a:pt x="14561" y="4279"/>
                  <a:pt x="14552" y="4282"/>
                  <a:pt x="14542" y="4284"/>
                </a:cubicBezTo>
                <a:cubicBezTo>
                  <a:pt x="14533" y="4286"/>
                  <a:pt x="14523" y="4287"/>
                  <a:pt x="14514" y="4287"/>
                </a:cubicBezTo>
                <a:lnTo>
                  <a:pt x="146" y="4287"/>
                </a:lnTo>
                <a:cubicBezTo>
                  <a:pt x="136" y="4287"/>
                  <a:pt x="127" y="4286"/>
                  <a:pt x="118" y="4284"/>
                </a:cubicBezTo>
                <a:cubicBezTo>
                  <a:pt x="108" y="4282"/>
                  <a:pt x="99" y="4279"/>
                  <a:pt x="90" y="4276"/>
                </a:cubicBezTo>
                <a:cubicBezTo>
                  <a:pt x="81" y="4272"/>
                  <a:pt x="73" y="4268"/>
                  <a:pt x="65" y="4262"/>
                </a:cubicBezTo>
                <a:cubicBezTo>
                  <a:pt x="57" y="4257"/>
                  <a:pt x="50" y="4251"/>
                  <a:pt x="43" y="4244"/>
                </a:cubicBezTo>
                <a:cubicBezTo>
                  <a:pt x="36" y="4237"/>
                  <a:pt x="30" y="4230"/>
                  <a:pt x="25" y="4222"/>
                </a:cubicBezTo>
                <a:cubicBezTo>
                  <a:pt x="20" y="4214"/>
                  <a:pt x="15" y="4206"/>
                  <a:pt x="11" y="4197"/>
                </a:cubicBezTo>
                <a:cubicBezTo>
                  <a:pt x="8" y="4188"/>
                  <a:pt x="5" y="4179"/>
                  <a:pt x="3" y="4170"/>
                </a:cubicBezTo>
                <a:cubicBezTo>
                  <a:pt x="1" y="4160"/>
                  <a:pt x="0" y="4151"/>
                  <a:pt x="0" y="4141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584760" y="2855520"/>
            <a:ext cx="21358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Material Eﬃciency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923760" y="4766760"/>
            <a:ext cx="4057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 simple form allows for cost-eﬀective mass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961920" y="4410000"/>
            <a:ext cx="152640" cy="105120"/>
          </a:xfrm>
          <a:custGeom>
            <a:avLst/>
            <a:gdLst/>
            <a:ahLst/>
            <a:rect l="0" t="0" r="r" b="b"/>
            <a:pathLst>
              <a:path fill="none" w="424" h="292">
                <a:moveTo>
                  <a:pt x="424" y="0"/>
                </a:moveTo>
                <a:lnTo>
                  <a:pt x="133" y="292"/>
                </a:lnTo>
                <a:lnTo>
                  <a:pt x="0" y="159"/>
                </a:lnTo>
              </a:path>
            </a:pathLst>
          </a:custGeom>
          <a:ln cap="rnd" w="18720">
            <a:solidFill>
              <a:srgbClr val="22c061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923760" y="5042880"/>
            <a:ext cx="4906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production, making it widely accessible and aﬀordable.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6148080" y="4157640"/>
            <a:ext cx="5277240" cy="1543320"/>
          </a:xfrm>
          <a:custGeom>
            <a:avLst/>
            <a:gdLst/>
            <a:ahLst/>
            <a:rect l="0" t="0" r="r" b="b"/>
            <a:pathLst>
              <a:path w="14659" h="4287">
                <a:moveTo>
                  <a:pt x="0" y="414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4141"/>
                </a:lnTo>
                <a:cubicBezTo>
                  <a:pt x="14659" y="4151"/>
                  <a:pt x="14658" y="4160"/>
                  <a:pt x="14656" y="4170"/>
                </a:cubicBezTo>
                <a:cubicBezTo>
                  <a:pt x="14655" y="4179"/>
                  <a:pt x="14652" y="4188"/>
                  <a:pt x="14648" y="4197"/>
                </a:cubicBezTo>
                <a:cubicBezTo>
                  <a:pt x="14645" y="4206"/>
                  <a:pt x="14640" y="4214"/>
                  <a:pt x="14635" y="4222"/>
                </a:cubicBezTo>
                <a:cubicBezTo>
                  <a:pt x="14629" y="4230"/>
                  <a:pt x="14623" y="4237"/>
                  <a:pt x="14617" y="4244"/>
                </a:cubicBezTo>
                <a:cubicBezTo>
                  <a:pt x="14610" y="4251"/>
                  <a:pt x="14603" y="4257"/>
                  <a:pt x="14595" y="4262"/>
                </a:cubicBezTo>
                <a:cubicBezTo>
                  <a:pt x="14587" y="4268"/>
                  <a:pt x="14578" y="4272"/>
                  <a:pt x="14569" y="4276"/>
                </a:cubicBezTo>
                <a:cubicBezTo>
                  <a:pt x="14561" y="4279"/>
                  <a:pt x="14552" y="4282"/>
                  <a:pt x="14542" y="4284"/>
                </a:cubicBezTo>
                <a:cubicBezTo>
                  <a:pt x="14533" y="4286"/>
                  <a:pt x="14523" y="4287"/>
                  <a:pt x="14514" y="4287"/>
                </a:cubicBezTo>
                <a:lnTo>
                  <a:pt x="146" y="4287"/>
                </a:lnTo>
                <a:cubicBezTo>
                  <a:pt x="136" y="4287"/>
                  <a:pt x="127" y="4286"/>
                  <a:pt x="117" y="4284"/>
                </a:cubicBezTo>
                <a:cubicBezTo>
                  <a:pt x="108" y="4282"/>
                  <a:pt x="99" y="4279"/>
                  <a:pt x="90" y="4276"/>
                </a:cubicBezTo>
                <a:cubicBezTo>
                  <a:pt x="81" y="4272"/>
                  <a:pt x="73" y="4268"/>
                  <a:pt x="65" y="4262"/>
                </a:cubicBezTo>
                <a:cubicBezTo>
                  <a:pt x="57" y="4257"/>
                  <a:pt x="50" y="4251"/>
                  <a:pt x="43" y="4244"/>
                </a:cubicBezTo>
                <a:cubicBezTo>
                  <a:pt x="36" y="4237"/>
                  <a:pt x="30" y="4230"/>
                  <a:pt x="25" y="4222"/>
                </a:cubicBezTo>
                <a:cubicBezTo>
                  <a:pt x="20" y="4214"/>
                  <a:pt x="15" y="4206"/>
                  <a:pt x="11" y="4197"/>
                </a:cubicBezTo>
                <a:cubicBezTo>
                  <a:pt x="8" y="4188"/>
                  <a:pt x="5" y="4179"/>
                  <a:pt x="3" y="4170"/>
                </a:cubicBezTo>
                <a:cubicBezTo>
                  <a:pt x="1" y="4160"/>
                  <a:pt x="0" y="4151"/>
                  <a:pt x="0" y="4141"/>
                </a:cubicBezTo>
                <a:close/>
              </a:path>
            </a:pathLst>
          </a:custGeom>
          <a:solidFill>
            <a:srgbClr val="e9fb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148080" y="4157640"/>
            <a:ext cx="5277240" cy="1543320"/>
          </a:xfrm>
          <a:custGeom>
            <a:avLst/>
            <a:gdLst/>
            <a:ahLst/>
            <a:rect l="0" t="0" r="r" b="b"/>
            <a:pathLst>
              <a:path fill="none" w="14659" h="4287">
                <a:moveTo>
                  <a:pt x="0" y="414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4141"/>
                </a:lnTo>
                <a:cubicBezTo>
                  <a:pt x="14659" y="4151"/>
                  <a:pt x="14658" y="4160"/>
                  <a:pt x="14656" y="4170"/>
                </a:cubicBezTo>
                <a:cubicBezTo>
                  <a:pt x="14655" y="4179"/>
                  <a:pt x="14652" y="4188"/>
                  <a:pt x="14648" y="4197"/>
                </a:cubicBezTo>
                <a:cubicBezTo>
                  <a:pt x="14645" y="4206"/>
                  <a:pt x="14640" y="4214"/>
                  <a:pt x="14635" y="4222"/>
                </a:cubicBezTo>
                <a:cubicBezTo>
                  <a:pt x="14629" y="4230"/>
                  <a:pt x="14623" y="4237"/>
                  <a:pt x="14617" y="4244"/>
                </a:cubicBezTo>
                <a:cubicBezTo>
                  <a:pt x="14610" y="4251"/>
                  <a:pt x="14603" y="4257"/>
                  <a:pt x="14595" y="4262"/>
                </a:cubicBezTo>
                <a:cubicBezTo>
                  <a:pt x="14587" y="4268"/>
                  <a:pt x="14578" y="4272"/>
                  <a:pt x="14569" y="4276"/>
                </a:cubicBezTo>
                <a:cubicBezTo>
                  <a:pt x="14561" y="4279"/>
                  <a:pt x="14552" y="4282"/>
                  <a:pt x="14542" y="4284"/>
                </a:cubicBezTo>
                <a:cubicBezTo>
                  <a:pt x="14533" y="4286"/>
                  <a:pt x="14523" y="4287"/>
                  <a:pt x="14514" y="4287"/>
                </a:cubicBezTo>
                <a:lnTo>
                  <a:pt x="146" y="4287"/>
                </a:lnTo>
                <a:cubicBezTo>
                  <a:pt x="136" y="4287"/>
                  <a:pt x="127" y="4286"/>
                  <a:pt x="117" y="4284"/>
                </a:cubicBezTo>
                <a:cubicBezTo>
                  <a:pt x="108" y="4282"/>
                  <a:pt x="99" y="4279"/>
                  <a:pt x="90" y="4276"/>
                </a:cubicBezTo>
                <a:cubicBezTo>
                  <a:pt x="81" y="4272"/>
                  <a:pt x="73" y="4268"/>
                  <a:pt x="65" y="4262"/>
                </a:cubicBezTo>
                <a:cubicBezTo>
                  <a:pt x="57" y="4257"/>
                  <a:pt x="50" y="4251"/>
                  <a:pt x="43" y="4244"/>
                </a:cubicBezTo>
                <a:cubicBezTo>
                  <a:pt x="36" y="4237"/>
                  <a:pt x="30" y="4230"/>
                  <a:pt x="25" y="4222"/>
                </a:cubicBezTo>
                <a:cubicBezTo>
                  <a:pt x="20" y="4214"/>
                  <a:pt x="15" y="4206"/>
                  <a:pt x="11" y="4197"/>
                </a:cubicBezTo>
                <a:cubicBezTo>
                  <a:pt x="8" y="4188"/>
                  <a:pt x="5" y="4179"/>
                  <a:pt x="3" y="4170"/>
                </a:cubicBezTo>
                <a:cubicBezTo>
                  <a:pt x="1" y="4160"/>
                  <a:pt x="0" y="4151"/>
                  <a:pt x="0" y="4141"/>
                </a:cubicBezTo>
              </a:path>
            </a:pathLst>
          </a:custGeom>
          <a:ln w="9360">
            <a:solidFill>
              <a:srgbClr val="bef4d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203120" y="4360320"/>
            <a:ext cx="26420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Ease of Manufacturing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305400" y="4766760"/>
            <a:ext cx="4743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Recognised and eﬀective worldwide, demonstrating a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305400" y="5042880"/>
            <a:ext cx="4486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timeless and robust design solution for a common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343560" y="4410000"/>
            <a:ext cx="152640" cy="105120"/>
          </a:xfrm>
          <a:custGeom>
            <a:avLst/>
            <a:gdLst/>
            <a:ahLst/>
            <a:rect l="0" t="0" r="r" b="b"/>
            <a:pathLst>
              <a:path fill="none" w="424" h="292">
                <a:moveTo>
                  <a:pt x="424" y="0"/>
                </a:moveTo>
                <a:lnTo>
                  <a:pt x="132" y="292"/>
                </a:lnTo>
                <a:lnTo>
                  <a:pt x="0" y="159"/>
                </a:lnTo>
              </a:path>
            </a:pathLst>
          </a:custGeom>
          <a:ln cap="rnd" w="18720">
            <a:solidFill>
              <a:srgbClr val="22c061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6305400" y="5309640"/>
            <a:ext cx="801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problem.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6584760" y="4360320"/>
            <a:ext cx="26136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22c061"/>
                </a:solidFill>
                <a:effectLst/>
                <a:uFillTx/>
                <a:latin typeface="LucidaGrande"/>
                <a:ea typeface="LucidaGrande"/>
              </a:rPr>
              <a:t>Universal Adaptability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"/>
          <p:cNvSpPr txBox="1"/>
          <p:nvPr/>
        </p:nvSpPr>
        <p:spPr>
          <a:xfrm>
            <a:off x="762120" y="1937160"/>
            <a:ext cx="10167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An EV is a highly integrated ecosystem of disparate components, each requiring meticulous design and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62120" y="2242080"/>
            <a:ext cx="9235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seamless coordination. Which hinges on the harmonious interaction of these diverse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762120" y="372600"/>
            <a:ext cx="86245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Real-World Complexity: EV 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766440" y="2786040"/>
            <a:ext cx="5277240" cy="1267200"/>
          </a:xfrm>
          <a:custGeom>
            <a:avLst/>
            <a:gdLst/>
            <a:ahLst/>
            <a:rect l="0" t="0" r="r" b="b"/>
            <a:pathLst>
              <a:path w="14659" h="3520">
                <a:moveTo>
                  <a:pt x="0" y="33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374"/>
                </a:lnTo>
                <a:cubicBezTo>
                  <a:pt x="14659" y="3384"/>
                  <a:pt x="14658" y="3393"/>
                  <a:pt x="14657" y="3402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0"/>
                  <a:pt x="14617" y="3477"/>
                </a:cubicBezTo>
                <a:cubicBezTo>
                  <a:pt x="14610" y="3484"/>
                  <a:pt x="14603" y="3490"/>
                  <a:pt x="14595" y="3495"/>
                </a:cubicBezTo>
                <a:cubicBezTo>
                  <a:pt x="14587" y="3500"/>
                  <a:pt x="14578" y="3505"/>
                  <a:pt x="14569" y="3508"/>
                </a:cubicBezTo>
                <a:cubicBezTo>
                  <a:pt x="14561" y="3512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8" y="3517"/>
                </a:cubicBezTo>
                <a:cubicBezTo>
                  <a:pt x="108" y="3515"/>
                  <a:pt x="99" y="3512"/>
                  <a:pt x="90" y="3508"/>
                </a:cubicBezTo>
                <a:cubicBezTo>
                  <a:pt x="81" y="3505"/>
                  <a:pt x="73" y="3500"/>
                  <a:pt x="65" y="3495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0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2"/>
                </a:cubicBezTo>
                <a:cubicBezTo>
                  <a:pt x="1" y="3393"/>
                  <a:pt x="0" y="3384"/>
                  <a:pt x="0" y="3374"/>
                </a:cubicBezTo>
                <a:close/>
              </a:path>
            </a:pathLst>
          </a:custGeom>
          <a:solidFill>
            <a:srgbClr val="fde8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766440" y="2786040"/>
            <a:ext cx="5277240" cy="1267200"/>
          </a:xfrm>
          <a:custGeom>
            <a:avLst/>
            <a:gdLst/>
            <a:ahLst/>
            <a:rect l="0" t="0" r="r" b="b"/>
            <a:pathLst>
              <a:path fill="none" w="14659" h="3520">
                <a:moveTo>
                  <a:pt x="0" y="33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374"/>
                </a:lnTo>
                <a:cubicBezTo>
                  <a:pt x="14659" y="3384"/>
                  <a:pt x="14658" y="3393"/>
                  <a:pt x="14657" y="3402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0"/>
                  <a:pt x="14617" y="3477"/>
                </a:cubicBezTo>
                <a:cubicBezTo>
                  <a:pt x="14610" y="3484"/>
                  <a:pt x="14603" y="3490"/>
                  <a:pt x="14595" y="3495"/>
                </a:cubicBezTo>
                <a:cubicBezTo>
                  <a:pt x="14587" y="3500"/>
                  <a:pt x="14578" y="3505"/>
                  <a:pt x="14569" y="3508"/>
                </a:cubicBezTo>
                <a:cubicBezTo>
                  <a:pt x="14561" y="3512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8" y="3517"/>
                </a:cubicBezTo>
                <a:cubicBezTo>
                  <a:pt x="108" y="3515"/>
                  <a:pt x="99" y="3512"/>
                  <a:pt x="90" y="3508"/>
                </a:cubicBezTo>
                <a:cubicBezTo>
                  <a:pt x="81" y="3505"/>
                  <a:pt x="73" y="3500"/>
                  <a:pt x="65" y="3495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0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2"/>
                </a:cubicBezTo>
                <a:cubicBezTo>
                  <a:pt x="1" y="3393"/>
                  <a:pt x="0" y="3384"/>
                  <a:pt x="0" y="3374"/>
                </a:cubicBezTo>
              </a:path>
            </a:pathLst>
          </a:custGeom>
          <a:ln w="9360">
            <a:solidFill>
              <a:srgbClr val="f8ba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385560" y="497520"/>
            <a:ext cx="609120" cy="609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4800" strike="noStrike" u="none">
                <a:solidFill>
                  <a:srgbClr val="0a5387"/>
                </a:solidFill>
                <a:effectLst/>
                <a:uFillTx/>
                <a:latin typeface="STIXTwoMath"/>
                <a:ea typeface="STIXTwoMath"/>
              </a:rPr>
              <a:t>⛐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23760" y="3395160"/>
            <a:ext cx="484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Integrated electric motors, high-voltage batteries,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952200" y="3000240"/>
            <a:ext cx="172080" cy="190800"/>
          </a:xfrm>
          <a:custGeom>
            <a:avLst/>
            <a:gdLst/>
            <a:ahLst/>
            <a:rect l="0" t="0" r="r" b="b"/>
            <a:pathLst>
              <a:path fill="none" w="478" h="530">
                <a:moveTo>
                  <a:pt x="265" y="0"/>
                </a:moveTo>
                <a:lnTo>
                  <a:pt x="0" y="317"/>
                </a:lnTo>
                <a:lnTo>
                  <a:pt x="238" y="317"/>
                </a:lnTo>
                <a:lnTo>
                  <a:pt x="212" y="530"/>
                </a:lnTo>
                <a:lnTo>
                  <a:pt x="478" y="212"/>
                </a:lnTo>
                <a:lnTo>
                  <a:pt x="238" y="212"/>
                </a:lnTo>
                <a:lnTo>
                  <a:pt x="265" y="0"/>
                </a:lnTo>
              </a:path>
            </a:pathLst>
          </a:custGeom>
          <a:ln cap="rnd" w="18720">
            <a:solidFill>
              <a:srgbClr val="e93147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923760" y="3671280"/>
            <a:ext cx="373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intricate power electronics for propulsion.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148080" y="2786040"/>
            <a:ext cx="5277240" cy="1267200"/>
          </a:xfrm>
          <a:custGeom>
            <a:avLst/>
            <a:gdLst/>
            <a:ahLst/>
            <a:rect l="0" t="0" r="r" b="b"/>
            <a:pathLst>
              <a:path w="14659" h="3520">
                <a:moveTo>
                  <a:pt x="0" y="33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374"/>
                </a:lnTo>
                <a:cubicBezTo>
                  <a:pt x="14659" y="3384"/>
                  <a:pt x="14658" y="3393"/>
                  <a:pt x="14656" y="3402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0"/>
                  <a:pt x="14617" y="3477"/>
                </a:cubicBezTo>
                <a:cubicBezTo>
                  <a:pt x="14610" y="3484"/>
                  <a:pt x="14603" y="3490"/>
                  <a:pt x="14595" y="3495"/>
                </a:cubicBezTo>
                <a:cubicBezTo>
                  <a:pt x="14587" y="3500"/>
                  <a:pt x="14578" y="3505"/>
                  <a:pt x="14569" y="3508"/>
                </a:cubicBezTo>
                <a:cubicBezTo>
                  <a:pt x="14561" y="3512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7" y="3517"/>
                </a:cubicBezTo>
                <a:cubicBezTo>
                  <a:pt x="108" y="3515"/>
                  <a:pt x="99" y="3512"/>
                  <a:pt x="90" y="3508"/>
                </a:cubicBezTo>
                <a:cubicBezTo>
                  <a:pt x="81" y="3505"/>
                  <a:pt x="73" y="3500"/>
                  <a:pt x="65" y="3495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0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2"/>
                </a:cubicBezTo>
                <a:cubicBezTo>
                  <a:pt x="1" y="3393"/>
                  <a:pt x="0" y="3384"/>
                  <a:pt x="0" y="3374"/>
                </a:cubicBezTo>
                <a:close/>
              </a:path>
            </a:pathLst>
          </a:custGeom>
          <a:solidFill>
            <a:srgbClr val="e6f1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6148080" y="2786040"/>
            <a:ext cx="5277240" cy="1267200"/>
          </a:xfrm>
          <a:custGeom>
            <a:avLst/>
            <a:gdLst/>
            <a:ahLst/>
            <a:rect l="0" t="0" r="r" b="b"/>
            <a:pathLst>
              <a:path fill="none" w="14659" h="3520">
                <a:moveTo>
                  <a:pt x="0" y="337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0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5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374"/>
                </a:lnTo>
                <a:cubicBezTo>
                  <a:pt x="14659" y="3384"/>
                  <a:pt x="14658" y="3393"/>
                  <a:pt x="14656" y="3402"/>
                </a:cubicBezTo>
                <a:cubicBezTo>
                  <a:pt x="14655" y="3412"/>
                  <a:pt x="14652" y="3421"/>
                  <a:pt x="14648" y="3430"/>
                </a:cubicBezTo>
                <a:cubicBezTo>
                  <a:pt x="14645" y="3439"/>
                  <a:pt x="14640" y="3447"/>
                  <a:pt x="14635" y="3455"/>
                </a:cubicBezTo>
                <a:cubicBezTo>
                  <a:pt x="14629" y="3463"/>
                  <a:pt x="14623" y="3470"/>
                  <a:pt x="14617" y="3477"/>
                </a:cubicBezTo>
                <a:cubicBezTo>
                  <a:pt x="14610" y="3484"/>
                  <a:pt x="14603" y="3490"/>
                  <a:pt x="14595" y="3495"/>
                </a:cubicBezTo>
                <a:cubicBezTo>
                  <a:pt x="14587" y="3500"/>
                  <a:pt x="14578" y="3505"/>
                  <a:pt x="14569" y="3508"/>
                </a:cubicBezTo>
                <a:cubicBezTo>
                  <a:pt x="14561" y="3512"/>
                  <a:pt x="14552" y="3515"/>
                  <a:pt x="14542" y="3517"/>
                </a:cubicBezTo>
                <a:cubicBezTo>
                  <a:pt x="14533" y="3519"/>
                  <a:pt x="14523" y="3520"/>
                  <a:pt x="14514" y="3520"/>
                </a:cubicBezTo>
                <a:lnTo>
                  <a:pt x="146" y="3520"/>
                </a:lnTo>
                <a:cubicBezTo>
                  <a:pt x="136" y="3520"/>
                  <a:pt x="127" y="3519"/>
                  <a:pt x="117" y="3517"/>
                </a:cubicBezTo>
                <a:cubicBezTo>
                  <a:pt x="108" y="3515"/>
                  <a:pt x="99" y="3512"/>
                  <a:pt x="90" y="3508"/>
                </a:cubicBezTo>
                <a:cubicBezTo>
                  <a:pt x="81" y="3505"/>
                  <a:pt x="73" y="3500"/>
                  <a:pt x="65" y="3495"/>
                </a:cubicBezTo>
                <a:cubicBezTo>
                  <a:pt x="57" y="3490"/>
                  <a:pt x="50" y="3484"/>
                  <a:pt x="43" y="3477"/>
                </a:cubicBezTo>
                <a:cubicBezTo>
                  <a:pt x="36" y="3470"/>
                  <a:pt x="30" y="3463"/>
                  <a:pt x="25" y="3455"/>
                </a:cubicBezTo>
                <a:cubicBezTo>
                  <a:pt x="20" y="3447"/>
                  <a:pt x="15" y="3439"/>
                  <a:pt x="11" y="3430"/>
                </a:cubicBezTo>
                <a:cubicBezTo>
                  <a:pt x="8" y="3421"/>
                  <a:pt x="5" y="3412"/>
                  <a:pt x="3" y="3402"/>
                </a:cubicBezTo>
                <a:cubicBezTo>
                  <a:pt x="1" y="3393"/>
                  <a:pt x="0" y="3384"/>
                  <a:pt x="0" y="3374"/>
                </a:cubicBezTo>
              </a:path>
            </a:pathLst>
          </a:custGeom>
          <a:ln w="9360">
            <a:solidFill>
              <a:srgbClr val="b5d6fc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03120" y="2988720"/>
            <a:ext cx="1277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93147"/>
                </a:solidFill>
                <a:effectLst/>
                <a:uFillTx/>
                <a:latin typeface="LucidaGrande"/>
                <a:ea typeface="LucidaGrande"/>
              </a:rPr>
              <a:t>Powertrain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305400" y="3395160"/>
            <a:ext cx="474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Advanced Battery Management Systems, autonomous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6324480" y="300024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424" y="0"/>
                </a:moveTo>
                <a:lnTo>
                  <a:pt x="530" y="106"/>
                </a:lnTo>
                <a:moveTo>
                  <a:pt x="145" y="490"/>
                </a:moveTo>
                <a:lnTo>
                  <a:pt x="451" y="185"/>
                </a:lnTo>
                <a:lnTo>
                  <a:pt x="345" y="79"/>
                </a:lnTo>
                <a:lnTo>
                  <a:pt x="40" y="384"/>
                </a:lnTo>
                <a:lnTo>
                  <a:pt x="0" y="530"/>
                </a:lnTo>
                <a:lnTo>
                  <a:pt x="145" y="490"/>
                </a:lnTo>
              </a:path>
            </a:pathLst>
          </a:custGeom>
          <a:ln cap="rnd" w="18720">
            <a:solidFill>
              <a:srgbClr val="086ddd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305400" y="3671280"/>
            <a:ext cx="3555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driving, and sophisticated infotainment.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766440" y="4290840"/>
            <a:ext cx="5277240" cy="1276560"/>
          </a:xfrm>
          <a:custGeom>
            <a:avLst/>
            <a:gdLst/>
            <a:ahLst/>
            <a:rect l="0" t="0" r="r" b="b"/>
            <a:pathLst>
              <a:path w="14659" h="3546">
                <a:moveTo>
                  <a:pt x="0" y="34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401"/>
                </a:lnTo>
                <a:cubicBezTo>
                  <a:pt x="14659" y="3410"/>
                  <a:pt x="14658" y="3420"/>
                  <a:pt x="14657" y="3429"/>
                </a:cubicBezTo>
                <a:cubicBezTo>
                  <a:pt x="14655" y="3439"/>
                  <a:pt x="14652" y="3448"/>
                  <a:pt x="14648" y="3457"/>
                </a:cubicBezTo>
                <a:cubicBezTo>
                  <a:pt x="14645" y="3465"/>
                  <a:pt x="14640" y="3474"/>
                  <a:pt x="14635" y="3482"/>
                </a:cubicBezTo>
                <a:cubicBezTo>
                  <a:pt x="14629" y="3490"/>
                  <a:pt x="14623" y="3497"/>
                  <a:pt x="14617" y="3504"/>
                </a:cubicBezTo>
                <a:cubicBezTo>
                  <a:pt x="14610" y="3511"/>
                  <a:pt x="14603" y="3517"/>
                  <a:pt x="14595" y="3522"/>
                </a:cubicBezTo>
                <a:cubicBezTo>
                  <a:pt x="14587" y="3527"/>
                  <a:pt x="14578" y="3532"/>
                  <a:pt x="14569" y="3535"/>
                </a:cubicBezTo>
                <a:cubicBezTo>
                  <a:pt x="14561" y="3539"/>
                  <a:pt x="14552" y="3542"/>
                  <a:pt x="14542" y="3544"/>
                </a:cubicBezTo>
                <a:cubicBezTo>
                  <a:pt x="14533" y="3545"/>
                  <a:pt x="14523" y="3546"/>
                  <a:pt x="14514" y="3546"/>
                </a:cubicBezTo>
                <a:lnTo>
                  <a:pt x="146" y="3546"/>
                </a:lnTo>
                <a:cubicBezTo>
                  <a:pt x="136" y="3546"/>
                  <a:pt x="127" y="3545"/>
                  <a:pt x="118" y="3544"/>
                </a:cubicBezTo>
                <a:cubicBezTo>
                  <a:pt x="108" y="3542"/>
                  <a:pt x="99" y="3539"/>
                  <a:pt x="90" y="3535"/>
                </a:cubicBezTo>
                <a:cubicBezTo>
                  <a:pt x="81" y="3532"/>
                  <a:pt x="73" y="3527"/>
                  <a:pt x="65" y="3522"/>
                </a:cubicBezTo>
                <a:cubicBezTo>
                  <a:pt x="57" y="3517"/>
                  <a:pt x="50" y="3511"/>
                  <a:pt x="43" y="3504"/>
                </a:cubicBezTo>
                <a:cubicBezTo>
                  <a:pt x="36" y="3497"/>
                  <a:pt x="30" y="3490"/>
                  <a:pt x="25" y="3482"/>
                </a:cubicBezTo>
                <a:cubicBezTo>
                  <a:pt x="20" y="3474"/>
                  <a:pt x="15" y="3465"/>
                  <a:pt x="11" y="3457"/>
                </a:cubicBezTo>
                <a:cubicBezTo>
                  <a:pt x="8" y="3448"/>
                  <a:pt x="5" y="3439"/>
                  <a:pt x="3" y="3429"/>
                </a:cubicBezTo>
                <a:cubicBezTo>
                  <a:pt x="1" y="3420"/>
                  <a:pt x="0" y="3410"/>
                  <a:pt x="0" y="3401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66440" y="4290840"/>
            <a:ext cx="5277240" cy="1276560"/>
          </a:xfrm>
          <a:custGeom>
            <a:avLst/>
            <a:gdLst/>
            <a:ahLst/>
            <a:rect l="0" t="0" r="r" b="b"/>
            <a:pathLst>
              <a:path fill="none" w="14659" h="3546">
                <a:moveTo>
                  <a:pt x="0" y="34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401"/>
                </a:lnTo>
                <a:cubicBezTo>
                  <a:pt x="14659" y="3410"/>
                  <a:pt x="14658" y="3420"/>
                  <a:pt x="14657" y="3429"/>
                </a:cubicBezTo>
                <a:cubicBezTo>
                  <a:pt x="14655" y="3439"/>
                  <a:pt x="14652" y="3448"/>
                  <a:pt x="14648" y="3457"/>
                </a:cubicBezTo>
                <a:cubicBezTo>
                  <a:pt x="14645" y="3465"/>
                  <a:pt x="14640" y="3474"/>
                  <a:pt x="14635" y="3482"/>
                </a:cubicBezTo>
                <a:cubicBezTo>
                  <a:pt x="14629" y="3490"/>
                  <a:pt x="14623" y="3497"/>
                  <a:pt x="14617" y="3504"/>
                </a:cubicBezTo>
                <a:cubicBezTo>
                  <a:pt x="14610" y="3511"/>
                  <a:pt x="14603" y="3517"/>
                  <a:pt x="14595" y="3522"/>
                </a:cubicBezTo>
                <a:cubicBezTo>
                  <a:pt x="14587" y="3527"/>
                  <a:pt x="14578" y="3532"/>
                  <a:pt x="14569" y="3535"/>
                </a:cubicBezTo>
                <a:cubicBezTo>
                  <a:pt x="14561" y="3539"/>
                  <a:pt x="14552" y="3542"/>
                  <a:pt x="14542" y="3544"/>
                </a:cubicBezTo>
                <a:cubicBezTo>
                  <a:pt x="14533" y="3545"/>
                  <a:pt x="14523" y="3546"/>
                  <a:pt x="14514" y="3546"/>
                </a:cubicBezTo>
                <a:lnTo>
                  <a:pt x="146" y="3546"/>
                </a:lnTo>
                <a:cubicBezTo>
                  <a:pt x="136" y="3546"/>
                  <a:pt x="127" y="3545"/>
                  <a:pt x="118" y="3544"/>
                </a:cubicBezTo>
                <a:cubicBezTo>
                  <a:pt x="108" y="3542"/>
                  <a:pt x="99" y="3539"/>
                  <a:pt x="90" y="3535"/>
                </a:cubicBezTo>
                <a:cubicBezTo>
                  <a:pt x="81" y="3532"/>
                  <a:pt x="73" y="3527"/>
                  <a:pt x="65" y="3522"/>
                </a:cubicBezTo>
                <a:cubicBezTo>
                  <a:pt x="57" y="3517"/>
                  <a:pt x="50" y="3511"/>
                  <a:pt x="43" y="3504"/>
                </a:cubicBezTo>
                <a:cubicBezTo>
                  <a:pt x="36" y="3497"/>
                  <a:pt x="30" y="3490"/>
                  <a:pt x="25" y="3482"/>
                </a:cubicBezTo>
                <a:cubicBezTo>
                  <a:pt x="20" y="3474"/>
                  <a:pt x="15" y="3465"/>
                  <a:pt x="11" y="3457"/>
                </a:cubicBezTo>
                <a:cubicBezTo>
                  <a:pt x="8" y="3448"/>
                  <a:pt x="5" y="3439"/>
                  <a:pt x="3" y="3429"/>
                </a:cubicBezTo>
                <a:cubicBezTo>
                  <a:pt x="1" y="3420"/>
                  <a:pt x="0" y="3410"/>
                  <a:pt x="0" y="3401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6584760" y="2988720"/>
            <a:ext cx="20800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086ddd"/>
                </a:solidFill>
                <a:effectLst/>
                <a:uFillTx/>
                <a:latin typeface="LucidaGrande"/>
                <a:ea typeface="LucidaGrande"/>
              </a:rPr>
              <a:t>Software 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923760" y="4899960"/>
            <a:ext cx="44492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Lightweight structures, advanced suspension,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942480" y="4514400"/>
            <a:ext cx="191160" cy="172080"/>
          </a:xfrm>
          <a:custGeom>
            <a:avLst/>
            <a:gdLst/>
            <a:ahLst/>
            <a:rect l="0" t="0" r="r" b="b"/>
            <a:pathLst>
              <a:path fill="none" w="531" h="478">
                <a:moveTo>
                  <a:pt x="524" y="399"/>
                </a:moveTo>
                <a:lnTo>
                  <a:pt x="312" y="27"/>
                </a:lnTo>
                <a:cubicBezTo>
                  <a:pt x="308" y="19"/>
                  <a:pt x="301" y="12"/>
                  <a:pt x="293" y="8"/>
                </a:cubicBezTo>
                <a:cubicBezTo>
                  <a:pt x="284" y="3"/>
                  <a:pt x="275" y="0"/>
                  <a:pt x="265" y="0"/>
                </a:cubicBezTo>
                <a:cubicBezTo>
                  <a:pt x="256" y="0"/>
                  <a:pt x="247" y="3"/>
                  <a:pt x="239" y="8"/>
                </a:cubicBezTo>
                <a:cubicBezTo>
                  <a:pt x="230" y="12"/>
                  <a:pt x="224" y="19"/>
                  <a:pt x="219" y="27"/>
                </a:cubicBezTo>
                <a:lnTo>
                  <a:pt x="7" y="399"/>
                </a:lnTo>
                <a:cubicBezTo>
                  <a:pt x="3" y="407"/>
                  <a:pt x="0" y="416"/>
                  <a:pt x="0" y="425"/>
                </a:cubicBezTo>
                <a:cubicBezTo>
                  <a:pt x="0" y="435"/>
                  <a:pt x="3" y="444"/>
                  <a:pt x="8" y="452"/>
                </a:cubicBezTo>
                <a:cubicBezTo>
                  <a:pt x="12" y="460"/>
                  <a:pt x="19" y="466"/>
                  <a:pt x="27" y="471"/>
                </a:cubicBezTo>
                <a:cubicBezTo>
                  <a:pt x="35" y="476"/>
                  <a:pt x="44" y="478"/>
                  <a:pt x="54" y="478"/>
                </a:cubicBezTo>
                <a:lnTo>
                  <a:pt x="478" y="478"/>
                </a:lnTo>
                <a:cubicBezTo>
                  <a:pt x="483" y="478"/>
                  <a:pt x="487" y="477"/>
                  <a:pt x="492" y="476"/>
                </a:cubicBezTo>
                <a:cubicBezTo>
                  <a:pt x="496" y="475"/>
                  <a:pt x="501" y="473"/>
                  <a:pt x="505" y="471"/>
                </a:cubicBezTo>
                <a:cubicBezTo>
                  <a:pt x="509" y="469"/>
                  <a:pt x="512" y="466"/>
                  <a:pt x="516" y="462"/>
                </a:cubicBezTo>
                <a:cubicBezTo>
                  <a:pt x="519" y="459"/>
                  <a:pt x="522" y="456"/>
                  <a:pt x="524" y="452"/>
                </a:cubicBezTo>
                <a:cubicBezTo>
                  <a:pt x="526" y="447"/>
                  <a:pt x="528" y="443"/>
                  <a:pt x="529" y="439"/>
                </a:cubicBezTo>
                <a:cubicBezTo>
                  <a:pt x="530" y="434"/>
                  <a:pt x="531" y="430"/>
                  <a:pt x="531" y="425"/>
                </a:cubicBezTo>
                <a:cubicBezTo>
                  <a:pt x="531" y="420"/>
                  <a:pt x="530" y="416"/>
                  <a:pt x="529" y="411"/>
                </a:cubicBezTo>
                <a:cubicBezTo>
                  <a:pt x="528" y="407"/>
                  <a:pt x="526" y="403"/>
                  <a:pt x="524" y="399"/>
                </a:cubicBezTo>
                <a:moveTo>
                  <a:pt x="265" y="160"/>
                </a:moveTo>
                <a:lnTo>
                  <a:pt x="265" y="266"/>
                </a:lnTo>
                <a:moveTo>
                  <a:pt x="265" y="372"/>
                </a:moveTo>
                <a:lnTo>
                  <a:pt x="266" y="372"/>
                </a:lnTo>
              </a:path>
            </a:pathLst>
          </a:custGeom>
          <a:ln cap="rnd" w="18720">
            <a:solidFill>
              <a:srgbClr val="f08e2f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923760" y="5176080"/>
            <a:ext cx="4698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comprehensive safety features protecting occupants.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148080" y="4290840"/>
            <a:ext cx="5277240" cy="1276560"/>
          </a:xfrm>
          <a:custGeom>
            <a:avLst/>
            <a:gdLst/>
            <a:ahLst/>
            <a:rect l="0" t="0" r="r" b="b"/>
            <a:pathLst>
              <a:path w="14659" h="3546">
                <a:moveTo>
                  <a:pt x="0" y="34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401"/>
                </a:lnTo>
                <a:cubicBezTo>
                  <a:pt x="14659" y="3410"/>
                  <a:pt x="14658" y="3420"/>
                  <a:pt x="14656" y="3429"/>
                </a:cubicBezTo>
                <a:cubicBezTo>
                  <a:pt x="14655" y="3439"/>
                  <a:pt x="14652" y="3448"/>
                  <a:pt x="14648" y="3457"/>
                </a:cubicBezTo>
                <a:cubicBezTo>
                  <a:pt x="14645" y="3465"/>
                  <a:pt x="14640" y="3474"/>
                  <a:pt x="14635" y="3482"/>
                </a:cubicBezTo>
                <a:cubicBezTo>
                  <a:pt x="14629" y="3490"/>
                  <a:pt x="14623" y="3497"/>
                  <a:pt x="14617" y="3504"/>
                </a:cubicBezTo>
                <a:cubicBezTo>
                  <a:pt x="14610" y="3511"/>
                  <a:pt x="14603" y="3517"/>
                  <a:pt x="14595" y="3522"/>
                </a:cubicBezTo>
                <a:cubicBezTo>
                  <a:pt x="14587" y="3527"/>
                  <a:pt x="14578" y="3532"/>
                  <a:pt x="14569" y="3535"/>
                </a:cubicBezTo>
                <a:cubicBezTo>
                  <a:pt x="14561" y="3539"/>
                  <a:pt x="14552" y="3542"/>
                  <a:pt x="14542" y="3544"/>
                </a:cubicBezTo>
                <a:cubicBezTo>
                  <a:pt x="14533" y="3545"/>
                  <a:pt x="14523" y="3546"/>
                  <a:pt x="14514" y="3546"/>
                </a:cubicBezTo>
                <a:lnTo>
                  <a:pt x="146" y="3546"/>
                </a:lnTo>
                <a:cubicBezTo>
                  <a:pt x="136" y="3546"/>
                  <a:pt x="127" y="3545"/>
                  <a:pt x="117" y="3544"/>
                </a:cubicBezTo>
                <a:cubicBezTo>
                  <a:pt x="108" y="3542"/>
                  <a:pt x="99" y="3539"/>
                  <a:pt x="90" y="3535"/>
                </a:cubicBezTo>
                <a:cubicBezTo>
                  <a:pt x="81" y="3532"/>
                  <a:pt x="73" y="3527"/>
                  <a:pt x="65" y="3522"/>
                </a:cubicBezTo>
                <a:cubicBezTo>
                  <a:pt x="57" y="3517"/>
                  <a:pt x="50" y="3511"/>
                  <a:pt x="43" y="3504"/>
                </a:cubicBezTo>
                <a:cubicBezTo>
                  <a:pt x="36" y="3497"/>
                  <a:pt x="30" y="3490"/>
                  <a:pt x="25" y="3482"/>
                </a:cubicBezTo>
                <a:cubicBezTo>
                  <a:pt x="20" y="3474"/>
                  <a:pt x="15" y="3465"/>
                  <a:pt x="11" y="3457"/>
                </a:cubicBezTo>
                <a:cubicBezTo>
                  <a:pt x="8" y="3448"/>
                  <a:pt x="5" y="3439"/>
                  <a:pt x="3" y="3429"/>
                </a:cubicBezTo>
                <a:cubicBezTo>
                  <a:pt x="1" y="3420"/>
                  <a:pt x="0" y="3410"/>
                  <a:pt x="0" y="3401"/>
                </a:cubicBezTo>
                <a:close/>
              </a:path>
            </a:pathLst>
          </a:custGeom>
          <a:solidFill>
            <a:srgbClr val="fcf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6148080" y="4290840"/>
            <a:ext cx="5277240" cy="1276560"/>
          </a:xfrm>
          <a:custGeom>
            <a:avLst/>
            <a:gdLst/>
            <a:ahLst/>
            <a:rect l="0" t="0" r="r" b="b"/>
            <a:pathLst>
              <a:path fill="none" w="14659" h="3546">
                <a:moveTo>
                  <a:pt x="0" y="340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3401"/>
                </a:lnTo>
                <a:cubicBezTo>
                  <a:pt x="14659" y="3410"/>
                  <a:pt x="14658" y="3420"/>
                  <a:pt x="14656" y="3429"/>
                </a:cubicBezTo>
                <a:cubicBezTo>
                  <a:pt x="14655" y="3439"/>
                  <a:pt x="14652" y="3448"/>
                  <a:pt x="14648" y="3457"/>
                </a:cubicBezTo>
                <a:cubicBezTo>
                  <a:pt x="14645" y="3465"/>
                  <a:pt x="14640" y="3474"/>
                  <a:pt x="14635" y="3482"/>
                </a:cubicBezTo>
                <a:cubicBezTo>
                  <a:pt x="14629" y="3490"/>
                  <a:pt x="14623" y="3497"/>
                  <a:pt x="14617" y="3504"/>
                </a:cubicBezTo>
                <a:cubicBezTo>
                  <a:pt x="14610" y="3511"/>
                  <a:pt x="14603" y="3517"/>
                  <a:pt x="14595" y="3522"/>
                </a:cubicBezTo>
                <a:cubicBezTo>
                  <a:pt x="14587" y="3527"/>
                  <a:pt x="14578" y="3532"/>
                  <a:pt x="14569" y="3535"/>
                </a:cubicBezTo>
                <a:cubicBezTo>
                  <a:pt x="14561" y="3539"/>
                  <a:pt x="14552" y="3542"/>
                  <a:pt x="14542" y="3544"/>
                </a:cubicBezTo>
                <a:cubicBezTo>
                  <a:pt x="14533" y="3545"/>
                  <a:pt x="14523" y="3546"/>
                  <a:pt x="14514" y="3546"/>
                </a:cubicBezTo>
                <a:lnTo>
                  <a:pt x="146" y="3546"/>
                </a:lnTo>
                <a:cubicBezTo>
                  <a:pt x="136" y="3546"/>
                  <a:pt x="127" y="3545"/>
                  <a:pt x="117" y="3544"/>
                </a:cubicBezTo>
                <a:cubicBezTo>
                  <a:pt x="108" y="3542"/>
                  <a:pt x="99" y="3539"/>
                  <a:pt x="90" y="3535"/>
                </a:cubicBezTo>
                <a:cubicBezTo>
                  <a:pt x="81" y="3532"/>
                  <a:pt x="73" y="3527"/>
                  <a:pt x="65" y="3522"/>
                </a:cubicBezTo>
                <a:cubicBezTo>
                  <a:pt x="57" y="3517"/>
                  <a:pt x="50" y="3511"/>
                  <a:pt x="43" y="3504"/>
                </a:cubicBezTo>
                <a:cubicBezTo>
                  <a:pt x="36" y="3497"/>
                  <a:pt x="30" y="3490"/>
                  <a:pt x="25" y="3482"/>
                </a:cubicBezTo>
                <a:cubicBezTo>
                  <a:pt x="20" y="3474"/>
                  <a:pt x="15" y="3465"/>
                  <a:pt x="11" y="3457"/>
                </a:cubicBezTo>
                <a:cubicBezTo>
                  <a:pt x="8" y="3448"/>
                  <a:pt x="5" y="3439"/>
                  <a:pt x="3" y="3429"/>
                </a:cubicBezTo>
                <a:cubicBezTo>
                  <a:pt x="1" y="3420"/>
                  <a:pt x="0" y="3410"/>
                  <a:pt x="0" y="3401"/>
                </a:cubicBezTo>
              </a:path>
            </a:pathLst>
          </a:custGeom>
          <a:ln w="9360">
            <a:solidFill>
              <a:srgbClr val="f7e9b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203120" y="4493880"/>
            <a:ext cx="19508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67300"/>
                </a:solidFill>
                <a:effectLst/>
                <a:uFillTx/>
                <a:latin typeface="LucidaGrande"/>
                <a:ea typeface="LucidaGrande"/>
              </a:rPr>
              <a:t>Chassis &amp; Safety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6305400" y="4899960"/>
            <a:ext cx="4834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Intuitive digital interfaces, connectivity, and intelligent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6324480" y="450504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4"/>
                  <a:pt x="517" y="350"/>
                  <a:pt x="510" y="366"/>
                </a:cubicBezTo>
                <a:cubicBezTo>
                  <a:pt x="503" y="382"/>
                  <a:pt x="495" y="397"/>
                  <a:pt x="485" y="412"/>
                </a:cubicBezTo>
                <a:cubicBezTo>
                  <a:pt x="476" y="426"/>
                  <a:pt x="465" y="440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6"/>
                  <a:pt x="383" y="504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3" y="530"/>
                  <a:pt x="265" y="530"/>
                </a:cubicBezTo>
                <a:cubicBezTo>
                  <a:pt x="248" y="530"/>
                  <a:pt x="231" y="529"/>
                  <a:pt x="214" y="525"/>
                </a:cubicBezTo>
                <a:cubicBezTo>
                  <a:pt x="197" y="522"/>
                  <a:pt x="180" y="517"/>
                  <a:pt x="164" y="510"/>
                </a:cubicBezTo>
                <a:cubicBezTo>
                  <a:pt x="147" y="504"/>
                  <a:pt x="132" y="496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6"/>
                  <a:pt x="44" y="412"/>
                </a:cubicBezTo>
                <a:cubicBezTo>
                  <a:pt x="35" y="397"/>
                  <a:pt x="27" y="382"/>
                  <a:pt x="20" y="366"/>
                </a:cubicBezTo>
                <a:cubicBezTo>
                  <a:pt x="13" y="350"/>
                  <a:pt x="8" y="334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8"/>
                  <a:pt x="2" y="230"/>
                  <a:pt x="5" y="213"/>
                </a:cubicBezTo>
                <a:cubicBezTo>
                  <a:pt x="8" y="196"/>
                  <a:pt x="13" y="180"/>
                  <a:pt x="20" y="164"/>
                </a:cubicBezTo>
                <a:cubicBezTo>
                  <a:pt x="27" y="148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6"/>
                  <a:pt x="103" y="55"/>
                  <a:pt x="117" y="45"/>
                </a:cubicBezTo>
                <a:cubicBezTo>
                  <a:pt x="132" y="35"/>
                  <a:pt x="147" y="27"/>
                  <a:pt x="164" y="20"/>
                </a:cubicBezTo>
                <a:cubicBezTo>
                  <a:pt x="180" y="14"/>
                  <a:pt x="197" y="9"/>
                  <a:pt x="214" y="5"/>
                </a:cubicBezTo>
                <a:cubicBezTo>
                  <a:pt x="231" y="2"/>
                  <a:pt x="248" y="0"/>
                  <a:pt x="265" y="0"/>
                </a:cubicBezTo>
                <a:cubicBezTo>
                  <a:pt x="283" y="0"/>
                  <a:pt x="300" y="2"/>
                  <a:pt x="317" y="5"/>
                </a:cubicBezTo>
                <a:cubicBezTo>
                  <a:pt x="334" y="9"/>
                  <a:pt x="351" y="14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5"/>
                  <a:pt x="440" y="66"/>
                  <a:pt x="453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6"/>
                  <a:pt x="525" y="213"/>
                </a:cubicBezTo>
                <a:cubicBezTo>
                  <a:pt x="528" y="230"/>
                  <a:pt x="530" y="248"/>
                  <a:pt x="530" y="265"/>
                </a:cubicBezTo>
              </a:path>
            </a:pathLst>
          </a:custGeom>
          <a:ln cap="rnd" w="18720">
            <a:solidFill>
              <a:srgbClr val="e5b92a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6391800" y="4552560"/>
            <a:ext cx="56160" cy="95760"/>
          </a:xfrm>
          <a:custGeom>
            <a:avLst/>
            <a:gdLst/>
            <a:ahLst/>
            <a:rect l="0" t="0" r="r" b="b"/>
            <a:pathLst>
              <a:path fill="none" w="156" h="266">
                <a:moveTo>
                  <a:pt x="0" y="53"/>
                </a:moveTo>
                <a:cubicBezTo>
                  <a:pt x="4" y="45"/>
                  <a:pt x="8" y="37"/>
                  <a:pt x="14" y="29"/>
                </a:cubicBezTo>
                <a:cubicBezTo>
                  <a:pt x="20" y="22"/>
                  <a:pt x="27" y="16"/>
                  <a:pt x="36" y="11"/>
                </a:cubicBezTo>
                <a:cubicBezTo>
                  <a:pt x="44" y="7"/>
                  <a:pt x="53" y="3"/>
                  <a:pt x="62" y="2"/>
                </a:cubicBezTo>
                <a:cubicBezTo>
                  <a:pt x="71" y="0"/>
                  <a:pt x="80" y="0"/>
                  <a:pt x="90" y="2"/>
                </a:cubicBezTo>
                <a:cubicBezTo>
                  <a:pt x="99" y="3"/>
                  <a:pt x="108" y="6"/>
                  <a:pt x="116" y="11"/>
                </a:cubicBezTo>
                <a:cubicBezTo>
                  <a:pt x="124" y="16"/>
                  <a:pt x="131" y="22"/>
                  <a:pt x="137" y="29"/>
                </a:cubicBezTo>
                <a:cubicBezTo>
                  <a:pt x="143" y="36"/>
                  <a:pt x="148" y="44"/>
                  <a:pt x="151" y="53"/>
                </a:cubicBezTo>
                <a:cubicBezTo>
                  <a:pt x="154" y="61"/>
                  <a:pt x="156" y="71"/>
                  <a:pt x="156" y="80"/>
                </a:cubicBezTo>
                <a:cubicBezTo>
                  <a:pt x="156" y="133"/>
                  <a:pt x="76" y="160"/>
                  <a:pt x="76" y="160"/>
                </a:cubicBezTo>
                <a:moveTo>
                  <a:pt x="78" y="266"/>
                </a:moveTo>
                <a:lnTo>
                  <a:pt x="79" y="266"/>
                </a:lnTo>
              </a:path>
            </a:pathLst>
          </a:custGeom>
          <a:ln cap="rnd" w="18720">
            <a:solidFill>
              <a:srgbClr val="e5b92a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6305400" y="5176080"/>
            <a:ext cx="3422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climate control for passenger comfort.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584760" y="4493880"/>
            <a:ext cx="1887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e5b92a"/>
                </a:solidFill>
                <a:effectLst/>
                <a:uFillTx/>
                <a:latin typeface="LucidaGrande"/>
                <a:ea typeface="LucidaGrande"/>
              </a:rPr>
              <a:t>User Experience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5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62120" y="372600"/>
            <a:ext cx="2840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Question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6" name=""/>
          <p:cNvSpPr txBox="1"/>
          <p:nvPr/>
        </p:nvSpPr>
        <p:spPr>
          <a:xfrm>
            <a:off x="762120" y="2251440"/>
            <a:ext cx="7326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systematic design process can be represented in the following stages: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911160" y="2708640"/>
            <a:ext cx="6716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Inquiry – Understand system context, user needs, and constraints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911160" y="3070440"/>
            <a:ext cx="9858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Framing &amp; Requirements Gathering – Deﬁne the scope, boundaries, and stakeholder expectations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11160" y="3422880"/>
            <a:ext cx="10095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 Architecture &amp; Interface Deﬁnition – Decompose system into components; deﬁne interaction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168200" y="3727800"/>
            <a:ext cx="908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contracts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911160" y="4080240"/>
            <a:ext cx="9823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Component Design &amp; Optimisation – Apply appropriate methods (e.g., FEA, simulation, surrogate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1168200" y="4385160"/>
            <a:ext cx="1048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modelling)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911160" y="4737600"/>
            <a:ext cx="96800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Integration &amp; Testing – Assemble components, verify performance against system requirements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11160" y="5099400"/>
            <a:ext cx="7652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Feedback &amp; Iteration – Use simulation and real-world data to reﬁne models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62120" y="-8280"/>
            <a:ext cx="8371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Systematic Design Process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762120" y="753480"/>
            <a:ext cx="2941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Overview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"/>
          <p:cNvSpPr txBox="1"/>
          <p:nvPr/>
        </p:nvSpPr>
        <p:spPr>
          <a:xfrm>
            <a:off x="762120" y="2480040"/>
            <a:ext cx="7050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support these phases, engineers and designers use a range of tools: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762120" y="-8280"/>
            <a:ext cx="89874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Tools Supporting Systematic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/>
          <p:nvPr/>
        </p:nvSpPr>
        <p:spPr>
          <a:xfrm>
            <a:off x="766440" y="3024000"/>
            <a:ext cx="3486600" cy="1029240"/>
          </a:xfrm>
          <a:custGeom>
            <a:avLst/>
            <a:gdLst/>
            <a:ahLst/>
            <a:rect l="0" t="0" r="r" b="b"/>
            <a:pathLst>
              <a:path w="9685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2713"/>
                </a:lnTo>
                <a:cubicBezTo>
                  <a:pt x="9685" y="2723"/>
                  <a:pt x="9684" y="2732"/>
                  <a:pt x="9682" y="2741"/>
                </a:cubicBezTo>
                <a:cubicBezTo>
                  <a:pt x="9680" y="2751"/>
                  <a:pt x="9678" y="2760"/>
                  <a:pt x="9674" y="2769"/>
                </a:cubicBezTo>
                <a:cubicBezTo>
                  <a:pt x="9670" y="2778"/>
                  <a:pt x="9666" y="2786"/>
                  <a:pt x="9661" y="2794"/>
                </a:cubicBezTo>
                <a:cubicBezTo>
                  <a:pt x="9655" y="2802"/>
                  <a:pt x="9649" y="2809"/>
                  <a:pt x="9643" y="2816"/>
                </a:cubicBezTo>
                <a:cubicBezTo>
                  <a:pt x="9636" y="2823"/>
                  <a:pt x="9628" y="2829"/>
                  <a:pt x="9620" y="2834"/>
                </a:cubicBezTo>
                <a:cubicBezTo>
                  <a:pt x="9613" y="2839"/>
                  <a:pt x="9604" y="2844"/>
                  <a:pt x="9595" y="2847"/>
                </a:cubicBezTo>
                <a:cubicBezTo>
                  <a:pt x="9586" y="2851"/>
                  <a:pt x="9577" y="2854"/>
                  <a:pt x="9568" y="2856"/>
                </a:cubicBezTo>
                <a:cubicBezTo>
                  <a:pt x="9559" y="2858"/>
                  <a:pt x="9549" y="2859"/>
                  <a:pt x="9540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8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20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766440" y="3024000"/>
            <a:ext cx="3486600" cy="1029240"/>
          </a:xfrm>
          <a:custGeom>
            <a:avLst/>
            <a:gdLst/>
            <a:ahLst/>
            <a:rect l="0" t="0" r="r" b="b"/>
            <a:pathLst>
              <a:path fill="none" w="9685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5"/>
                </a:cubicBezTo>
                <a:cubicBezTo>
                  <a:pt x="9628" y="30"/>
                  <a:pt x="9636" y="36"/>
                  <a:pt x="9643" y="43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3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7"/>
                  <a:pt x="9685" y="136"/>
                  <a:pt x="9685" y="146"/>
                </a:cubicBezTo>
                <a:lnTo>
                  <a:pt x="9685" y="2713"/>
                </a:lnTo>
                <a:cubicBezTo>
                  <a:pt x="9685" y="2723"/>
                  <a:pt x="9684" y="2732"/>
                  <a:pt x="9682" y="2741"/>
                </a:cubicBezTo>
                <a:cubicBezTo>
                  <a:pt x="9680" y="2751"/>
                  <a:pt x="9678" y="2760"/>
                  <a:pt x="9674" y="2769"/>
                </a:cubicBezTo>
                <a:cubicBezTo>
                  <a:pt x="9670" y="2778"/>
                  <a:pt x="9666" y="2786"/>
                  <a:pt x="9661" y="2794"/>
                </a:cubicBezTo>
                <a:cubicBezTo>
                  <a:pt x="9655" y="2802"/>
                  <a:pt x="9649" y="2809"/>
                  <a:pt x="9643" y="2816"/>
                </a:cubicBezTo>
                <a:cubicBezTo>
                  <a:pt x="9636" y="2823"/>
                  <a:pt x="9628" y="2829"/>
                  <a:pt x="9620" y="2834"/>
                </a:cubicBezTo>
                <a:cubicBezTo>
                  <a:pt x="9613" y="2839"/>
                  <a:pt x="9604" y="2844"/>
                  <a:pt x="9595" y="2847"/>
                </a:cubicBezTo>
                <a:cubicBezTo>
                  <a:pt x="9586" y="2851"/>
                  <a:pt x="9577" y="2854"/>
                  <a:pt x="9568" y="2856"/>
                </a:cubicBezTo>
                <a:cubicBezTo>
                  <a:pt x="9559" y="2858"/>
                  <a:pt x="9549" y="2859"/>
                  <a:pt x="9540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8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20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923760" y="323820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5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49"/>
                  <a:pt x="1059" y="159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5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7"/>
                </a:cubicBezTo>
                <a:cubicBezTo>
                  <a:pt x="952" y="761"/>
                  <a:pt x="942" y="764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60" y="769"/>
                </a:lnTo>
                <a:cubicBezTo>
                  <a:pt x="149" y="769"/>
                  <a:pt x="139" y="768"/>
                  <a:pt x="129" y="766"/>
                </a:cubicBezTo>
                <a:cubicBezTo>
                  <a:pt x="119" y="764"/>
                  <a:pt x="109" y="761"/>
                  <a:pt x="99" y="757"/>
                </a:cubicBezTo>
                <a:cubicBezTo>
                  <a:pt x="89" y="753"/>
                  <a:pt x="79" y="748"/>
                  <a:pt x="71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762120" y="753480"/>
            <a:ext cx="21866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971280" y="323712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1)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305360" y="3227760"/>
            <a:ext cx="27972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Prediction / surrogate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4357440" y="3024000"/>
            <a:ext cx="3476880" cy="1029240"/>
          </a:xfrm>
          <a:custGeom>
            <a:avLst/>
            <a:gdLst/>
            <a:ahLst/>
            <a:rect l="0" t="0" r="r" b="b"/>
            <a:pathLst>
              <a:path w="9658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2713"/>
                </a:lnTo>
                <a:cubicBezTo>
                  <a:pt x="9658" y="2723"/>
                  <a:pt x="9658" y="2732"/>
                  <a:pt x="9656" y="2741"/>
                </a:cubicBezTo>
                <a:cubicBezTo>
                  <a:pt x="9654" y="2751"/>
                  <a:pt x="9651" y="2760"/>
                  <a:pt x="9647" y="2769"/>
                </a:cubicBezTo>
                <a:cubicBezTo>
                  <a:pt x="9644" y="2778"/>
                  <a:pt x="9639" y="2786"/>
                  <a:pt x="9634" y="2794"/>
                </a:cubicBezTo>
                <a:cubicBezTo>
                  <a:pt x="9629" y="2802"/>
                  <a:pt x="9623" y="2809"/>
                  <a:pt x="9616" y="2816"/>
                </a:cubicBezTo>
                <a:cubicBezTo>
                  <a:pt x="9609" y="2823"/>
                  <a:pt x="9602" y="2829"/>
                  <a:pt x="9594" y="2834"/>
                </a:cubicBezTo>
                <a:cubicBezTo>
                  <a:pt x="9586" y="2839"/>
                  <a:pt x="9577" y="2844"/>
                  <a:pt x="9569" y="2847"/>
                </a:cubicBezTo>
                <a:cubicBezTo>
                  <a:pt x="9560" y="2851"/>
                  <a:pt x="9551" y="2854"/>
                  <a:pt x="9541" y="2856"/>
                </a:cubicBezTo>
                <a:cubicBezTo>
                  <a:pt x="9532" y="2858"/>
                  <a:pt x="9523" y="2859"/>
                  <a:pt x="9513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7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19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4357440" y="3024000"/>
            <a:ext cx="3476880" cy="1029240"/>
          </a:xfrm>
          <a:custGeom>
            <a:avLst/>
            <a:gdLst/>
            <a:ahLst/>
            <a:rect l="0" t="0" r="r" b="b"/>
            <a:pathLst>
              <a:path fill="none" w="9658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5"/>
                </a:cubicBezTo>
                <a:cubicBezTo>
                  <a:pt x="9602" y="30"/>
                  <a:pt x="9609" y="36"/>
                  <a:pt x="9616" y="43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3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7"/>
                  <a:pt x="9658" y="136"/>
                  <a:pt x="9658" y="146"/>
                </a:cubicBezTo>
                <a:lnTo>
                  <a:pt x="9658" y="2713"/>
                </a:lnTo>
                <a:cubicBezTo>
                  <a:pt x="9658" y="2723"/>
                  <a:pt x="9658" y="2732"/>
                  <a:pt x="9656" y="2741"/>
                </a:cubicBezTo>
                <a:cubicBezTo>
                  <a:pt x="9654" y="2751"/>
                  <a:pt x="9651" y="2760"/>
                  <a:pt x="9647" y="2769"/>
                </a:cubicBezTo>
                <a:cubicBezTo>
                  <a:pt x="9644" y="2778"/>
                  <a:pt x="9639" y="2786"/>
                  <a:pt x="9634" y="2794"/>
                </a:cubicBezTo>
                <a:cubicBezTo>
                  <a:pt x="9629" y="2802"/>
                  <a:pt x="9623" y="2809"/>
                  <a:pt x="9616" y="2816"/>
                </a:cubicBezTo>
                <a:cubicBezTo>
                  <a:pt x="9609" y="2823"/>
                  <a:pt x="9602" y="2829"/>
                  <a:pt x="9594" y="2834"/>
                </a:cubicBezTo>
                <a:cubicBezTo>
                  <a:pt x="9586" y="2839"/>
                  <a:pt x="9577" y="2844"/>
                  <a:pt x="9569" y="2847"/>
                </a:cubicBezTo>
                <a:cubicBezTo>
                  <a:pt x="9560" y="2851"/>
                  <a:pt x="9551" y="2854"/>
                  <a:pt x="9541" y="2856"/>
                </a:cubicBezTo>
                <a:cubicBezTo>
                  <a:pt x="9532" y="2858"/>
                  <a:pt x="9523" y="2859"/>
                  <a:pt x="9513" y="2859"/>
                </a:cubicBezTo>
                <a:lnTo>
                  <a:pt x="146" y="2859"/>
                </a:lnTo>
                <a:cubicBezTo>
                  <a:pt x="136" y="2859"/>
                  <a:pt x="127" y="2858"/>
                  <a:pt x="117" y="2856"/>
                </a:cubicBezTo>
                <a:cubicBezTo>
                  <a:pt x="108" y="2854"/>
                  <a:pt x="99" y="2851"/>
                  <a:pt x="90" y="2847"/>
                </a:cubicBezTo>
                <a:cubicBezTo>
                  <a:pt x="81" y="2844"/>
                  <a:pt x="73" y="2839"/>
                  <a:pt x="65" y="2834"/>
                </a:cubicBezTo>
                <a:cubicBezTo>
                  <a:pt x="57" y="2829"/>
                  <a:pt x="50" y="2823"/>
                  <a:pt x="43" y="2816"/>
                </a:cubicBezTo>
                <a:cubicBezTo>
                  <a:pt x="36" y="2809"/>
                  <a:pt x="30" y="2802"/>
                  <a:pt x="25" y="2794"/>
                </a:cubicBezTo>
                <a:cubicBezTo>
                  <a:pt x="19" y="2786"/>
                  <a:pt x="15" y="2778"/>
                  <a:pt x="11" y="2769"/>
                </a:cubicBezTo>
                <a:cubicBezTo>
                  <a:pt x="8" y="2760"/>
                  <a:pt x="5" y="2751"/>
                  <a:pt x="3" y="2741"/>
                </a:cubicBezTo>
                <a:cubicBezTo>
                  <a:pt x="1" y="2732"/>
                  <a:pt x="0" y="2723"/>
                  <a:pt x="0" y="271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4514760" y="323820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900" y="0"/>
                </a:lnTo>
                <a:cubicBezTo>
                  <a:pt x="911" y="0"/>
                  <a:pt x="921" y="1"/>
                  <a:pt x="931" y="3"/>
                </a:cubicBezTo>
                <a:cubicBezTo>
                  <a:pt x="942" y="5"/>
                  <a:pt x="951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5" y="39"/>
                  <a:pt x="1013" y="47"/>
                </a:cubicBezTo>
                <a:cubicBezTo>
                  <a:pt x="1020" y="54"/>
                  <a:pt x="1027" y="62"/>
                  <a:pt x="1032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49"/>
                  <a:pt x="1059" y="159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2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5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7"/>
                </a:cubicBezTo>
                <a:cubicBezTo>
                  <a:pt x="951" y="761"/>
                  <a:pt x="942" y="764"/>
                  <a:pt x="931" y="766"/>
                </a:cubicBezTo>
                <a:cubicBezTo>
                  <a:pt x="921" y="768"/>
                  <a:pt x="911" y="769"/>
                  <a:pt x="900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8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2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923760" y="3532320"/>
            <a:ext cx="8917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models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559040" y="323712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2)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893120" y="3227760"/>
            <a:ext cx="16758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Optimization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7939080" y="3024000"/>
            <a:ext cx="3486240" cy="1029240"/>
          </a:xfrm>
          <a:custGeom>
            <a:avLst/>
            <a:gdLst/>
            <a:ahLst/>
            <a:rect l="0" t="0" r="r" b="b"/>
            <a:pathLst>
              <a:path w="9684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2713"/>
                </a:lnTo>
                <a:cubicBezTo>
                  <a:pt x="9684" y="2723"/>
                  <a:pt x="9683" y="2732"/>
                  <a:pt x="9681" y="2741"/>
                </a:cubicBezTo>
                <a:cubicBezTo>
                  <a:pt x="9680" y="2751"/>
                  <a:pt x="9677" y="2760"/>
                  <a:pt x="9673" y="2769"/>
                </a:cubicBezTo>
                <a:cubicBezTo>
                  <a:pt x="9670" y="2778"/>
                  <a:pt x="9665" y="2786"/>
                  <a:pt x="9660" y="2794"/>
                </a:cubicBezTo>
                <a:cubicBezTo>
                  <a:pt x="9654" y="2802"/>
                  <a:pt x="9648" y="2809"/>
                  <a:pt x="9642" y="2816"/>
                </a:cubicBezTo>
                <a:cubicBezTo>
                  <a:pt x="9635" y="2823"/>
                  <a:pt x="9628" y="2829"/>
                  <a:pt x="9620" y="2834"/>
                </a:cubicBezTo>
                <a:cubicBezTo>
                  <a:pt x="9612" y="2839"/>
                  <a:pt x="9603" y="2844"/>
                  <a:pt x="9594" y="2847"/>
                </a:cubicBezTo>
                <a:cubicBezTo>
                  <a:pt x="9586" y="2851"/>
                  <a:pt x="9577" y="2854"/>
                  <a:pt x="9567" y="2856"/>
                </a:cubicBezTo>
                <a:cubicBezTo>
                  <a:pt x="9558" y="2858"/>
                  <a:pt x="9548" y="2859"/>
                  <a:pt x="9539" y="2859"/>
                </a:cubicBezTo>
                <a:lnTo>
                  <a:pt x="145" y="2859"/>
                </a:lnTo>
                <a:cubicBezTo>
                  <a:pt x="135" y="2859"/>
                  <a:pt x="126" y="2858"/>
                  <a:pt x="117" y="2856"/>
                </a:cubicBezTo>
                <a:cubicBezTo>
                  <a:pt x="107" y="2854"/>
                  <a:pt x="98" y="2851"/>
                  <a:pt x="89" y="2847"/>
                </a:cubicBezTo>
                <a:cubicBezTo>
                  <a:pt x="81" y="2844"/>
                  <a:pt x="72" y="2839"/>
                  <a:pt x="64" y="2834"/>
                </a:cubicBezTo>
                <a:cubicBezTo>
                  <a:pt x="56" y="2829"/>
                  <a:pt x="49" y="2823"/>
                  <a:pt x="42" y="2816"/>
                </a:cubicBezTo>
                <a:cubicBezTo>
                  <a:pt x="35" y="2809"/>
                  <a:pt x="29" y="2802"/>
                  <a:pt x="24" y="2794"/>
                </a:cubicBezTo>
                <a:cubicBezTo>
                  <a:pt x="19" y="2786"/>
                  <a:pt x="14" y="2778"/>
                  <a:pt x="11" y="2769"/>
                </a:cubicBezTo>
                <a:cubicBezTo>
                  <a:pt x="7" y="2760"/>
                  <a:pt x="4" y="2751"/>
                  <a:pt x="2" y="2741"/>
                </a:cubicBezTo>
                <a:cubicBezTo>
                  <a:pt x="0" y="2732"/>
                  <a:pt x="0" y="2723"/>
                  <a:pt x="0" y="271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7939080" y="3024000"/>
            <a:ext cx="3486240" cy="1029240"/>
          </a:xfrm>
          <a:custGeom>
            <a:avLst/>
            <a:gdLst/>
            <a:ahLst/>
            <a:rect l="0" t="0" r="r" b="b"/>
            <a:pathLst>
              <a:path fill="none" w="9684" h="2859">
                <a:moveTo>
                  <a:pt x="0" y="2713"/>
                </a:moveTo>
                <a:lnTo>
                  <a:pt x="0" y="146"/>
                </a:lnTo>
                <a:cubicBezTo>
                  <a:pt x="0" y="136"/>
                  <a:pt x="0" y="127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29" y="57"/>
                  <a:pt x="35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5"/>
                </a:cubicBezTo>
                <a:cubicBezTo>
                  <a:pt x="9628" y="30"/>
                  <a:pt x="9635" y="36"/>
                  <a:pt x="9642" y="43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3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7"/>
                  <a:pt x="9684" y="136"/>
                  <a:pt x="9684" y="146"/>
                </a:cubicBezTo>
                <a:lnTo>
                  <a:pt x="9684" y="2713"/>
                </a:lnTo>
                <a:cubicBezTo>
                  <a:pt x="9684" y="2723"/>
                  <a:pt x="9683" y="2732"/>
                  <a:pt x="9681" y="2741"/>
                </a:cubicBezTo>
                <a:cubicBezTo>
                  <a:pt x="9680" y="2751"/>
                  <a:pt x="9677" y="2760"/>
                  <a:pt x="9673" y="2769"/>
                </a:cubicBezTo>
                <a:cubicBezTo>
                  <a:pt x="9670" y="2778"/>
                  <a:pt x="9665" y="2786"/>
                  <a:pt x="9660" y="2794"/>
                </a:cubicBezTo>
                <a:cubicBezTo>
                  <a:pt x="9654" y="2802"/>
                  <a:pt x="9648" y="2809"/>
                  <a:pt x="9642" y="2816"/>
                </a:cubicBezTo>
                <a:cubicBezTo>
                  <a:pt x="9635" y="2823"/>
                  <a:pt x="9628" y="2829"/>
                  <a:pt x="9620" y="2834"/>
                </a:cubicBezTo>
                <a:cubicBezTo>
                  <a:pt x="9612" y="2839"/>
                  <a:pt x="9603" y="2844"/>
                  <a:pt x="9594" y="2847"/>
                </a:cubicBezTo>
                <a:cubicBezTo>
                  <a:pt x="9586" y="2851"/>
                  <a:pt x="9577" y="2854"/>
                  <a:pt x="9567" y="2856"/>
                </a:cubicBezTo>
                <a:cubicBezTo>
                  <a:pt x="9558" y="2858"/>
                  <a:pt x="9548" y="2859"/>
                  <a:pt x="9539" y="2859"/>
                </a:cubicBezTo>
                <a:lnTo>
                  <a:pt x="145" y="2859"/>
                </a:lnTo>
                <a:cubicBezTo>
                  <a:pt x="135" y="2859"/>
                  <a:pt x="126" y="2858"/>
                  <a:pt x="117" y="2856"/>
                </a:cubicBezTo>
                <a:cubicBezTo>
                  <a:pt x="107" y="2854"/>
                  <a:pt x="98" y="2851"/>
                  <a:pt x="89" y="2847"/>
                </a:cubicBezTo>
                <a:cubicBezTo>
                  <a:pt x="81" y="2844"/>
                  <a:pt x="72" y="2839"/>
                  <a:pt x="64" y="2834"/>
                </a:cubicBezTo>
                <a:cubicBezTo>
                  <a:pt x="56" y="2829"/>
                  <a:pt x="49" y="2823"/>
                  <a:pt x="42" y="2816"/>
                </a:cubicBezTo>
                <a:cubicBezTo>
                  <a:pt x="35" y="2809"/>
                  <a:pt x="29" y="2802"/>
                  <a:pt x="24" y="2794"/>
                </a:cubicBezTo>
                <a:cubicBezTo>
                  <a:pt x="19" y="2786"/>
                  <a:pt x="14" y="2778"/>
                  <a:pt x="11" y="2769"/>
                </a:cubicBezTo>
                <a:cubicBezTo>
                  <a:pt x="7" y="2760"/>
                  <a:pt x="4" y="2751"/>
                  <a:pt x="2" y="2741"/>
                </a:cubicBezTo>
                <a:cubicBezTo>
                  <a:pt x="0" y="2732"/>
                  <a:pt x="0" y="2723"/>
                  <a:pt x="0" y="271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8096040" y="323820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8" y="33"/>
                  <a:pt x="1006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49"/>
                  <a:pt x="1059" y="159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6" y="729"/>
                  <a:pt x="998" y="736"/>
                  <a:pt x="989" y="742"/>
                </a:cubicBezTo>
                <a:cubicBezTo>
                  <a:pt x="980" y="748"/>
                  <a:pt x="971" y="753"/>
                  <a:pt x="961" y="757"/>
                </a:cubicBezTo>
                <a:cubicBezTo>
                  <a:pt x="952" y="761"/>
                  <a:pt x="942" y="764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59" y="769"/>
                </a:lnTo>
                <a:cubicBezTo>
                  <a:pt x="148" y="769"/>
                  <a:pt x="138" y="768"/>
                  <a:pt x="128" y="766"/>
                </a:cubicBezTo>
                <a:cubicBezTo>
                  <a:pt x="118" y="764"/>
                  <a:pt x="108" y="761"/>
                  <a:pt x="98" y="757"/>
                </a:cubicBezTo>
                <a:cubicBezTo>
                  <a:pt x="88" y="753"/>
                  <a:pt x="79" y="748"/>
                  <a:pt x="71" y="742"/>
                </a:cubicBezTo>
                <a:cubicBezTo>
                  <a:pt x="62" y="736"/>
                  <a:pt x="54" y="729"/>
                  <a:pt x="47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511880" y="3532320"/>
            <a:ext cx="136476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Algorithms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8146800" y="323712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3)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8480520" y="3227760"/>
            <a:ext cx="19094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Simulation and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766440" y="4290840"/>
            <a:ext cx="4677120" cy="733680"/>
          </a:xfrm>
          <a:custGeom>
            <a:avLst/>
            <a:gdLst/>
            <a:ahLst/>
            <a:rect l="0" t="0" r="r" b="b"/>
            <a:pathLst>
              <a:path w="12992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2847" y="0"/>
                </a:lnTo>
                <a:cubicBezTo>
                  <a:pt x="12856" y="0"/>
                  <a:pt x="12866" y="1"/>
                  <a:pt x="12875" y="3"/>
                </a:cubicBezTo>
                <a:cubicBezTo>
                  <a:pt x="12885" y="5"/>
                  <a:pt x="12894" y="7"/>
                  <a:pt x="12903" y="11"/>
                </a:cubicBezTo>
                <a:cubicBezTo>
                  <a:pt x="12911" y="15"/>
                  <a:pt x="12920" y="19"/>
                  <a:pt x="12928" y="25"/>
                </a:cubicBezTo>
                <a:cubicBezTo>
                  <a:pt x="12936" y="30"/>
                  <a:pt x="12943" y="36"/>
                  <a:pt x="12950" y="43"/>
                </a:cubicBezTo>
                <a:cubicBezTo>
                  <a:pt x="12957" y="49"/>
                  <a:pt x="12963" y="57"/>
                  <a:pt x="12968" y="65"/>
                </a:cubicBezTo>
                <a:cubicBezTo>
                  <a:pt x="12973" y="73"/>
                  <a:pt x="12978" y="81"/>
                  <a:pt x="12981" y="90"/>
                </a:cubicBezTo>
                <a:cubicBezTo>
                  <a:pt x="12985" y="99"/>
                  <a:pt x="12988" y="108"/>
                  <a:pt x="12990" y="117"/>
                </a:cubicBezTo>
                <a:cubicBezTo>
                  <a:pt x="12992" y="126"/>
                  <a:pt x="12992" y="136"/>
                  <a:pt x="12992" y="145"/>
                </a:cubicBezTo>
                <a:lnTo>
                  <a:pt x="12992" y="1893"/>
                </a:lnTo>
                <a:cubicBezTo>
                  <a:pt x="12992" y="1902"/>
                  <a:pt x="12992" y="1912"/>
                  <a:pt x="12990" y="1921"/>
                </a:cubicBezTo>
                <a:cubicBezTo>
                  <a:pt x="12988" y="1931"/>
                  <a:pt x="12985" y="1940"/>
                  <a:pt x="12981" y="1948"/>
                </a:cubicBezTo>
                <a:cubicBezTo>
                  <a:pt x="12978" y="1957"/>
                  <a:pt x="12973" y="1966"/>
                  <a:pt x="12968" y="1974"/>
                </a:cubicBezTo>
                <a:cubicBezTo>
                  <a:pt x="12963" y="1982"/>
                  <a:pt x="12957" y="1989"/>
                  <a:pt x="12950" y="1996"/>
                </a:cubicBezTo>
                <a:cubicBezTo>
                  <a:pt x="12943" y="2002"/>
                  <a:pt x="12936" y="2008"/>
                  <a:pt x="12928" y="2014"/>
                </a:cubicBezTo>
                <a:cubicBezTo>
                  <a:pt x="12920" y="2019"/>
                  <a:pt x="12911" y="2024"/>
                  <a:pt x="12903" y="2027"/>
                </a:cubicBezTo>
                <a:cubicBezTo>
                  <a:pt x="12894" y="2031"/>
                  <a:pt x="12885" y="2034"/>
                  <a:pt x="12875" y="2035"/>
                </a:cubicBezTo>
                <a:cubicBezTo>
                  <a:pt x="12866" y="2037"/>
                  <a:pt x="12856" y="2038"/>
                  <a:pt x="12847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1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766440" y="4290840"/>
            <a:ext cx="4677120" cy="733680"/>
          </a:xfrm>
          <a:custGeom>
            <a:avLst/>
            <a:gdLst/>
            <a:ahLst/>
            <a:rect l="0" t="0" r="r" b="b"/>
            <a:pathLst>
              <a:path fill="none" w="12992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2847" y="0"/>
                </a:lnTo>
                <a:cubicBezTo>
                  <a:pt x="12856" y="0"/>
                  <a:pt x="12866" y="1"/>
                  <a:pt x="12875" y="3"/>
                </a:cubicBezTo>
                <a:cubicBezTo>
                  <a:pt x="12885" y="5"/>
                  <a:pt x="12894" y="7"/>
                  <a:pt x="12903" y="11"/>
                </a:cubicBezTo>
                <a:cubicBezTo>
                  <a:pt x="12911" y="15"/>
                  <a:pt x="12920" y="19"/>
                  <a:pt x="12928" y="25"/>
                </a:cubicBezTo>
                <a:cubicBezTo>
                  <a:pt x="12936" y="30"/>
                  <a:pt x="12943" y="36"/>
                  <a:pt x="12950" y="43"/>
                </a:cubicBezTo>
                <a:cubicBezTo>
                  <a:pt x="12957" y="49"/>
                  <a:pt x="12963" y="57"/>
                  <a:pt x="12968" y="65"/>
                </a:cubicBezTo>
                <a:cubicBezTo>
                  <a:pt x="12973" y="73"/>
                  <a:pt x="12978" y="81"/>
                  <a:pt x="12981" y="90"/>
                </a:cubicBezTo>
                <a:cubicBezTo>
                  <a:pt x="12985" y="99"/>
                  <a:pt x="12988" y="108"/>
                  <a:pt x="12990" y="117"/>
                </a:cubicBezTo>
                <a:cubicBezTo>
                  <a:pt x="12992" y="126"/>
                  <a:pt x="12992" y="136"/>
                  <a:pt x="12992" y="145"/>
                </a:cubicBezTo>
                <a:lnTo>
                  <a:pt x="12992" y="1893"/>
                </a:lnTo>
                <a:cubicBezTo>
                  <a:pt x="12992" y="1902"/>
                  <a:pt x="12992" y="1912"/>
                  <a:pt x="12990" y="1921"/>
                </a:cubicBezTo>
                <a:cubicBezTo>
                  <a:pt x="12988" y="1931"/>
                  <a:pt x="12985" y="1940"/>
                  <a:pt x="12981" y="1948"/>
                </a:cubicBezTo>
                <a:cubicBezTo>
                  <a:pt x="12978" y="1957"/>
                  <a:pt x="12973" y="1966"/>
                  <a:pt x="12968" y="1974"/>
                </a:cubicBezTo>
                <a:cubicBezTo>
                  <a:pt x="12963" y="1982"/>
                  <a:pt x="12957" y="1989"/>
                  <a:pt x="12950" y="1996"/>
                </a:cubicBezTo>
                <a:cubicBezTo>
                  <a:pt x="12943" y="2002"/>
                  <a:pt x="12936" y="2008"/>
                  <a:pt x="12928" y="2014"/>
                </a:cubicBezTo>
                <a:cubicBezTo>
                  <a:pt x="12920" y="2019"/>
                  <a:pt x="12911" y="2024"/>
                  <a:pt x="12903" y="2027"/>
                </a:cubicBezTo>
                <a:cubicBezTo>
                  <a:pt x="12894" y="2031"/>
                  <a:pt x="12885" y="2034"/>
                  <a:pt x="12875" y="2035"/>
                </a:cubicBezTo>
                <a:cubicBezTo>
                  <a:pt x="12866" y="2037"/>
                  <a:pt x="12856" y="2038"/>
                  <a:pt x="12847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1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/>
          <p:nvPr/>
        </p:nvSpPr>
        <p:spPr>
          <a:xfrm>
            <a:off x="923760" y="450504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60"/>
                </a:lnTo>
                <a:cubicBezTo>
                  <a:pt x="0" y="150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49" y="0"/>
                  <a:pt x="160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5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50"/>
                  <a:pt x="1059" y="160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5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6"/>
                </a:cubicBezTo>
                <a:cubicBezTo>
                  <a:pt x="952" y="760"/>
                  <a:pt x="942" y="763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60" y="769"/>
                </a:lnTo>
                <a:cubicBezTo>
                  <a:pt x="149" y="769"/>
                  <a:pt x="139" y="768"/>
                  <a:pt x="129" y="766"/>
                </a:cubicBezTo>
                <a:cubicBezTo>
                  <a:pt x="119" y="763"/>
                  <a:pt x="109" y="760"/>
                  <a:pt x="99" y="756"/>
                </a:cubicBezTo>
                <a:cubicBezTo>
                  <a:pt x="89" y="753"/>
                  <a:pt x="79" y="748"/>
                  <a:pt x="71" y="742"/>
                </a:cubicBezTo>
                <a:cubicBezTo>
                  <a:pt x="62" y="736"/>
                  <a:pt x="54" y="729"/>
                  <a:pt x="46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8099280" y="3532320"/>
            <a:ext cx="12402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Validation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971280" y="450360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4)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5547960" y="4290840"/>
            <a:ext cx="5877360" cy="733680"/>
          </a:xfrm>
          <a:custGeom>
            <a:avLst/>
            <a:gdLst/>
            <a:ahLst/>
            <a:rect l="0" t="0" r="r" b="b"/>
            <a:pathLst>
              <a:path w="16326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6181" y="0"/>
                </a:lnTo>
                <a:cubicBezTo>
                  <a:pt x="16190" y="0"/>
                  <a:pt x="16200" y="1"/>
                  <a:pt x="16209" y="3"/>
                </a:cubicBezTo>
                <a:cubicBezTo>
                  <a:pt x="16219" y="5"/>
                  <a:pt x="16228" y="7"/>
                  <a:pt x="16236" y="11"/>
                </a:cubicBezTo>
                <a:cubicBezTo>
                  <a:pt x="16245" y="15"/>
                  <a:pt x="16254" y="19"/>
                  <a:pt x="16262" y="25"/>
                </a:cubicBezTo>
                <a:cubicBezTo>
                  <a:pt x="16270" y="30"/>
                  <a:pt x="16277" y="36"/>
                  <a:pt x="16284" y="43"/>
                </a:cubicBezTo>
                <a:cubicBezTo>
                  <a:pt x="16290" y="49"/>
                  <a:pt x="16296" y="57"/>
                  <a:pt x="16302" y="65"/>
                </a:cubicBezTo>
                <a:cubicBezTo>
                  <a:pt x="16307" y="73"/>
                  <a:pt x="16312" y="81"/>
                  <a:pt x="16315" y="90"/>
                </a:cubicBezTo>
                <a:cubicBezTo>
                  <a:pt x="16319" y="99"/>
                  <a:pt x="16322" y="108"/>
                  <a:pt x="16323" y="117"/>
                </a:cubicBezTo>
                <a:cubicBezTo>
                  <a:pt x="16325" y="126"/>
                  <a:pt x="16326" y="136"/>
                  <a:pt x="16326" y="145"/>
                </a:cubicBezTo>
                <a:lnTo>
                  <a:pt x="16326" y="1893"/>
                </a:lnTo>
                <a:cubicBezTo>
                  <a:pt x="16326" y="1902"/>
                  <a:pt x="16325" y="1912"/>
                  <a:pt x="16323" y="1921"/>
                </a:cubicBezTo>
                <a:cubicBezTo>
                  <a:pt x="16322" y="1931"/>
                  <a:pt x="16319" y="1940"/>
                  <a:pt x="16315" y="1948"/>
                </a:cubicBezTo>
                <a:cubicBezTo>
                  <a:pt x="16312" y="1957"/>
                  <a:pt x="16307" y="1966"/>
                  <a:pt x="16302" y="1974"/>
                </a:cubicBezTo>
                <a:cubicBezTo>
                  <a:pt x="16296" y="1982"/>
                  <a:pt x="16290" y="1989"/>
                  <a:pt x="16284" y="1996"/>
                </a:cubicBezTo>
                <a:cubicBezTo>
                  <a:pt x="16277" y="2002"/>
                  <a:pt x="16270" y="2008"/>
                  <a:pt x="16262" y="2014"/>
                </a:cubicBezTo>
                <a:cubicBezTo>
                  <a:pt x="16254" y="2019"/>
                  <a:pt x="16245" y="2024"/>
                  <a:pt x="16236" y="2027"/>
                </a:cubicBezTo>
                <a:cubicBezTo>
                  <a:pt x="16228" y="2031"/>
                  <a:pt x="16219" y="2034"/>
                  <a:pt x="16209" y="2035"/>
                </a:cubicBezTo>
                <a:cubicBezTo>
                  <a:pt x="16200" y="2037"/>
                  <a:pt x="16190" y="2038"/>
                  <a:pt x="16181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2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5547960" y="4290840"/>
            <a:ext cx="5877360" cy="733680"/>
          </a:xfrm>
          <a:custGeom>
            <a:avLst/>
            <a:gdLst/>
            <a:ahLst/>
            <a:rect l="0" t="0" r="r" b="b"/>
            <a:pathLst>
              <a:path fill="none" w="16326" h="2038">
                <a:moveTo>
                  <a:pt x="0" y="18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2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6181" y="0"/>
                </a:lnTo>
                <a:cubicBezTo>
                  <a:pt x="16190" y="0"/>
                  <a:pt x="16200" y="1"/>
                  <a:pt x="16209" y="3"/>
                </a:cubicBezTo>
                <a:cubicBezTo>
                  <a:pt x="16219" y="5"/>
                  <a:pt x="16228" y="7"/>
                  <a:pt x="16236" y="11"/>
                </a:cubicBezTo>
                <a:cubicBezTo>
                  <a:pt x="16245" y="15"/>
                  <a:pt x="16254" y="19"/>
                  <a:pt x="16262" y="25"/>
                </a:cubicBezTo>
                <a:cubicBezTo>
                  <a:pt x="16270" y="30"/>
                  <a:pt x="16277" y="36"/>
                  <a:pt x="16284" y="43"/>
                </a:cubicBezTo>
                <a:cubicBezTo>
                  <a:pt x="16290" y="49"/>
                  <a:pt x="16296" y="57"/>
                  <a:pt x="16302" y="65"/>
                </a:cubicBezTo>
                <a:cubicBezTo>
                  <a:pt x="16307" y="73"/>
                  <a:pt x="16312" y="81"/>
                  <a:pt x="16315" y="90"/>
                </a:cubicBezTo>
                <a:cubicBezTo>
                  <a:pt x="16319" y="99"/>
                  <a:pt x="16322" y="108"/>
                  <a:pt x="16323" y="117"/>
                </a:cubicBezTo>
                <a:cubicBezTo>
                  <a:pt x="16325" y="126"/>
                  <a:pt x="16326" y="136"/>
                  <a:pt x="16326" y="145"/>
                </a:cubicBezTo>
                <a:lnTo>
                  <a:pt x="16326" y="1893"/>
                </a:lnTo>
                <a:cubicBezTo>
                  <a:pt x="16326" y="1902"/>
                  <a:pt x="16325" y="1912"/>
                  <a:pt x="16323" y="1921"/>
                </a:cubicBezTo>
                <a:cubicBezTo>
                  <a:pt x="16322" y="1931"/>
                  <a:pt x="16319" y="1940"/>
                  <a:pt x="16315" y="1948"/>
                </a:cubicBezTo>
                <a:cubicBezTo>
                  <a:pt x="16312" y="1957"/>
                  <a:pt x="16307" y="1966"/>
                  <a:pt x="16302" y="1974"/>
                </a:cubicBezTo>
                <a:cubicBezTo>
                  <a:pt x="16296" y="1982"/>
                  <a:pt x="16290" y="1989"/>
                  <a:pt x="16284" y="1996"/>
                </a:cubicBezTo>
                <a:cubicBezTo>
                  <a:pt x="16277" y="2002"/>
                  <a:pt x="16270" y="2008"/>
                  <a:pt x="16262" y="2014"/>
                </a:cubicBezTo>
                <a:cubicBezTo>
                  <a:pt x="16254" y="2019"/>
                  <a:pt x="16245" y="2024"/>
                  <a:pt x="16236" y="2027"/>
                </a:cubicBezTo>
                <a:cubicBezTo>
                  <a:pt x="16228" y="2031"/>
                  <a:pt x="16219" y="2034"/>
                  <a:pt x="16209" y="2035"/>
                </a:cubicBezTo>
                <a:cubicBezTo>
                  <a:pt x="16200" y="2037"/>
                  <a:pt x="16190" y="2038"/>
                  <a:pt x="16181" y="2038"/>
                </a:cubicBezTo>
                <a:lnTo>
                  <a:pt x="146" y="2038"/>
                </a:lnTo>
                <a:cubicBezTo>
                  <a:pt x="136" y="2038"/>
                  <a:pt x="127" y="2037"/>
                  <a:pt x="118" y="2035"/>
                </a:cubicBezTo>
                <a:cubicBezTo>
                  <a:pt x="108" y="2034"/>
                  <a:pt x="99" y="2031"/>
                  <a:pt x="90" y="2027"/>
                </a:cubicBezTo>
                <a:cubicBezTo>
                  <a:pt x="81" y="2024"/>
                  <a:pt x="73" y="2019"/>
                  <a:pt x="65" y="2014"/>
                </a:cubicBezTo>
                <a:cubicBezTo>
                  <a:pt x="57" y="2008"/>
                  <a:pt x="50" y="2002"/>
                  <a:pt x="43" y="1996"/>
                </a:cubicBezTo>
                <a:cubicBezTo>
                  <a:pt x="36" y="1989"/>
                  <a:pt x="30" y="1982"/>
                  <a:pt x="25" y="1974"/>
                </a:cubicBezTo>
                <a:cubicBezTo>
                  <a:pt x="20" y="1966"/>
                  <a:pt x="15" y="1957"/>
                  <a:pt x="12" y="1948"/>
                </a:cubicBezTo>
                <a:cubicBezTo>
                  <a:pt x="8" y="1940"/>
                  <a:pt x="5" y="1931"/>
                  <a:pt x="3" y="1921"/>
                </a:cubicBezTo>
                <a:cubicBezTo>
                  <a:pt x="1" y="1912"/>
                  <a:pt x="0" y="1902"/>
                  <a:pt x="0" y="1893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5705280" y="4505040"/>
            <a:ext cx="381240" cy="276840"/>
          </a:xfrm>
          <a:custGeom>
            <a:avLst/>
            <a:gdLst/>
            <a:ahLst/>
            <a:rect l="0" t="0" r="r" b="b"/>
            <a:pathLst>
              <a:path w="1059" h="769">
                <a:moveTo>
                  <a:pt x="0" y="610"/>
                </a:moveTo>
                <a:lnTo>
                  <a:pt x="0" y="160"/>
                </a:lnTo>
                <a:cubicBezTo>
                  <a:pt x="0" y="150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01" y="0"/>
                </a:lnTo>
                <a:cubicBezTo>
                  <a:pt x="911" y="0"/>
                  <a:pt x="921" y="1"/>
                  <a:pt x="932" y="3"/>
                </a:cubicBezTo>
                <a:cubicBezTo>
                  <a:pt x="942" y="5"/>
                  <a:pt x="952" y="8"/>
                  <a:pt x="961" y="12"/>
                </a:cubicBezTo>
                <a:cubicBezTo>
                  <a:pt x="971" y="16"/>
                  <a:pt x="980" y="21"/>
                  <a:pt x="989" y="27"/>
                </a:cubicBezTo>
                <a:cubicBezTo>
                  <a:pt x="997" y="33"/>
                  <a:pt x="1006" y="39"/>
                  <a:pt x="1013" y="47"/>
                </a:cubicBezTo>
                <a:cubicBezTo>
                  <a:pt x="1020" y="54"/>
                  <a:pt x="1027" y="62"/>
                  <a:pt x="1033" y="71"/>
                </a:cubicBezTo>
                <a:cubicBezTo>
                  <a:pt x="1038" y="80"/>
                  <a:pt x="1043" y="89"/>
                  <a:pt x="1047" y="98"/>
                </a:cubicBezTo>
                <a:cubicBezTo>
                  <a:pt x="1051" y="108"/>
                  <a:pt x="1054" y="118"/>
                  <a:pt x="1056" y="128"/>
                </a:cubicBezTo>
                <a:cubicBezTo>
                  <a:pt x="1058" y="138"/>
                  <a:pt x="1059" y="150"/>
                  <a:pt x="1059" y="160"/>
                </a:cubicBezTo>
                <a:lnTo>
                  <a:pt x="1059" y="610"/>
                </a:lnTo>
                <a:cubicBezTo>
                  <a:pt x="1059" y="620"/>
                  <a:pt x="1058" y="631"/>
                  <a:pt x="1056" y="641"/>
                </a:cubicBezTo>
                <a:cubicBezTo>
                  <a:pt x="1054" y="651"/>
                  <a:pt x="1051" y="661"/>
                  <a:pt x="1047" y="671"/>
                </a:cubicBezTo>
                <a:cubicBezTo>
                  <a:pt x="1043" y="680"/>
                  <a:pt x="1038" y="689"/>
                  <a:pt x="1033" y="698"/>
                </a:cubicBezTo>
                <a:cubicBezTo>
                  <a:pt x="1027" y="707"/>
                  <a:pt x="1020" y="715"/>
                  <a:pt x="1013" y="722"/>
                </a:cubicBezTo>
                <a:cubicBezTo>
                  <a:pt x="1006" y="729"/>
                  <a:pt x="997" y="736"/>
                  <a:pt x="989" y="742"/>
                </a:cubicBezTo>
                <a:cubicBezTo>
                  <a:pt x="980" y="748"/>
                  <a:pt x="971" y="753"/>
                  <a:pt x="961" y="756"/>
                </a:cubicBezTo>
                <a:cubicBezTo>
                  <a:pt x="952" y="760"/>
                  <a:pt x="942" y="763"/>
                  <a:pt x="932" y="766"/>
                </a:cubicBezTo>
                <a:cubicBezTo>
                  <a:pt x="921" y="768"/>
                  <a:pt x="911" y="769"/>
                  <a:pt x="901" y="769"/>
                </a:cubicBezTo>
                <a:lnTo>
                  <a:pt x="159" y="769"/>
                </a:lnTo>
                <a:cubicBezTo>
                  <a:pt x="148" y="769"/>
                  <a:pt x="138" y="768"/>
                  <a:pt x="128" y="766"/>
                </a:cubicBezTo>
                <a:cubicBezTo>
                  <a:pt x="118" y="763"/>
                  <a:pt x="108" y="760"/>
                  <a:pt x="98" y="756"/>
                </a:cubicBezTo>
                <a:cubicBezTo>
                  <a:pt x="88" y="753"/>
                  <a:pt x="79" y="748"/>
                  <a:pt x="71" y="742"/>
                </a:cubicBezTo>
                <a:cubicBezTo>
                  <a:pt x="62" y="736"/>
                  <a:pt x="54" y="729"/>
                  <a:pt x="47" y="722"/>
                </a:cubicBezTo>
                <a:cubicBezTo>
                  <a:pt x="39" y="715"/>
                  <a:pt x="33" y="707"/>
                  <a:pt x="27" y="698"/>
                </a:cubicBezTo>
                <a:cubicBezTo>
                  <a:pt x="21" y="689"/>
                  <a:pt x="16" y="680"/>
                  <a:pt x="12" y="671"/>
                </a:cubicBezTo>
                <a:cubicBezTo>
                  <a:pt x="8" y="661"/>
                  <a:pt x="5" y="651"/>
                  <a:pt x="3" y="641"/>
                </a:cubicBezTo>
                <a:cubicBezTo>
                  <a:pt x="1" y="631"/>
                  <a:pt x="0" y="620"/>
                  <a:pt x="0" y="61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305360" y="4494600"/>
            <a:ext cx="285120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System Mapping Tools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5752080" y="4503600"/>
            <a:ext cx="28692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Menlo"/>
                <a:ea typeface="Menlo"/>
              </a:rPr>
              <a:t>5)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6085800" y="4494600"/>
            <a:ext cx="40532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 Prototyping and Implementation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762120" y="372600"/>
            <a:ext cx="2840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Question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"/>
          <p:cNvSpPr txBox="1"/>
          <p:nvPr/>
        </p:nvSpPr>
        <p:spPr>
          <a:xfrm>
            <a:off x="762120" y="1937160"/>
            <a:ext cx="10420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multi-component system is composed of physically or functionally distinct elements that work together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762120" y="2242080"/>
            <a:ext cx="92826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deliver a complete functionality. Eﬀective system design requires balancing these elements: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11160" y="2699280"/>
            <a:ext cx="6146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System-level requirements that address the overall purpose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11160" y="3051720"/>
            <a:ext cx="6355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Component-level speciﬁcations that drive individual elements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911160" y="3404160"/>
            <a:ext cx="4745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Interface deﬁnitions that ensure compatibility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762120" y="3830760"/>
            <a:ext cx="202752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Drivers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11160" y="4347000"/>
            <a:ext cx="5091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Performance metrics (speed, accuracy, eﬃciency)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11160" y="4708800"/>
            <a:ext cx="5442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Cost constraints (materials, manufacturing, lifecycle)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911160" y="5061240"/>
            <a:ext cx="5668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Modularity requirements (maintenance, upgradeability)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911160" y="5413680"/>
            <a:ext cx="2891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Time-to-market pressures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762120" y="-8280"/>
            <a:ext cx="104436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Understanding Multi-Component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762120" y="753480"/>
            <a:ext cx="2589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Systems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18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5" name=""/>
          <p:cNvSpPr/>
          <p:nvPr/>
        </p:nvSpPr>
        <p:spPr>
          <a:xfrm>
            <a:off x="3105000" y="196200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5714640" y="196200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3105000" y="231444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5714640" y="231444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3105000" y="266688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5714640" y="266688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3105000" y="301932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5714640" y="301932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3105000" y="337176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5714640" y="337176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3105000" y="372420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5714640" y="372420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3105000" y="407664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714640" y="407664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3105000" y="442908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5714640" y="442908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3105000" y="478152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5714640" y="478152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3105000" y="5133960"/>
            <a:ext cx="2610000" cy="352440"/>
          </a:xfrm>
          <a:custGeom>
            <a:avLst/>
            <a:gdLst/>
            <a:ahLst/>
            <a:rect l="0" t="0" r="r" b="b"/>
            <a:pathLst>
              <a:path w="7250" h="979">
                <a:moveTo>
                  <a:pt x="0" y="0"/>
                </a:moveTo>
                <a:lnTo>
                  <a:pt x="7250" y="0"/>
                </a:lnTo>
                <a:lnTo>
                  <a:pt x="7250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5714640" y="5133960"/>
            <a:ext cx="3372480" cy="352440"/>
          </a:xfrm>
          <a:custGeom>
            <a:avLst/>
            <a:gdLst/>
            <a:ahLst/>
            <a:rect l="0" t="0" r="r" b="b"/>
            <a:pathLst>
              <a:path w="9368" h="979">
                <a:moveTo>
                  <a:pt x="0" y="0"/>
                </a:moveTo>
                <a:lnTo>
                  <a:pt x="9368" y="0"/>
                </a:lnTo>
                <a:lnTo>
                  <a:pt x="9368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3105000" y="5486040"/>
            <a:ext cx="2610000" cy="352800"/>
          </a:xfrm>
          <a:custGeom>
            <a:avLst/>
            <a:gdLst/>
            <a:ahLst/>
            <a:rect l="0" t="0" r="r" b="b"/>
            <a:pathLst>
              <a:path w="7250" h="980">
                <a:moveTo>
                  <a:pt x="0" y="0"/>
                </a:moveTo>
                <a:lnTo>
                  <a:pt x="7250" y="0"/>
                </a:lnTo>
                <a:lnTo>
                  <a:pt x="7250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5714640" y="5486040"/>
            <a:ext cx="3372480" cy="352800"/>
          </a:xfrm>
          <a:custGeom>
            <a:avLst/>
            <a:gdLst/>
            <a:ahLst/>
            <a:rect l="0" t="0" r="r" b="b"/>
            <a:pathLst>
              <a:path w="9368" h="980">
                <a:moveTo>
                  <a:pt x="0" y="0"/>
                </a:moveTo>
                <a:lnTo>
                  <a:pt x="9368" y="0"/>
                </a:lnTo>
                <a:lnTo>
                  <a:pt x="936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3095280" y="195228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3095280" y="195228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5705280" y="195228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5714640" y="195228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9086760" y="195228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3095280" y="230472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5714640" y="230472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3095280" y="23144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5705280" y="23144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9086760" y="23144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3095280" y="26668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3095280" y="265716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5705280" y="26668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5714640" y="265716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9086760" y="26668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3095280" y="30193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3095280" y="300960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5705280" y="30193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5714640" y="300960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9086760" y="30193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3095280" y="337176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3095280" y="336204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5705280" y="33717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5714640" y="336204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9086760" y="337176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3095280" y="372420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3095280" y="371448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5705280" y="37242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5714640" y="371448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9086760" y="372420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3095280" y="40766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3095280" y="406692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5705280" y="40766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5714640" y="406692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9086760" y="40766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3095280" y="442908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3095280" y="441936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5705280" y="44290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5714640" y="441936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9086760" y="442908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3095280" y="478152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3095280" y="4771800"/>
            <a:ext cx="2619720" cy="10080"/>
          </a:xfrm>
          <a:custGeom>
            <a:avLst/>
            <a:gdLst/>
            <a:ahLst/>
            <a:rect l="0" t="0" r="r" b="b"/>
            <a:pathLst>
              <a:path w="7277" h="28">
                <a:moveTo>
                  <a:pt x="0" y="0"/>
                </a:moveTo>
                <a:lnTo>
                  <a:pt x="7277" y="0"/>
                </a:lnTo>
                <a:lnTo>
                  <a:pt x="72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5705280" y="47815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5714640" y="4771800"/>
            <a:ext cx="3381840" cy="10080"/>
          </a:xfrm>
          <a:custGeom>
            <a:avLst/>
            <a:gdLst/>
            <a:ahLst/>
            <a:rect l="0" t="0" r="r" b="b"/>
            <a:pathLst>
              <a:path w="9394" h="28">
                <a:moveTo>
                  <a:pt x="0" y="0"/>
                </a:moveTo>
                <a:lnTo>
                  <a:pt x="9394" y="0"/>
                </a:lnTo>
                <a:lnTo>
                  <a:pt x="93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9086760" y="478152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3095280" y="5133960"/>
            <a:ext cx="10080" cy="352440"/>
          </a:xfrm>
          <a:custGeom>
            <a:avLst/>
            <a:gdLst/>
            <a:ahLst/>
            <a:rect l="0" t="0" r="r" b="b"/>
            <a:pathLst>
              <a:path w="28" h="979">
                <a:moveTo>
                  <a:pt x="0" y="0"/>
                </a:moveTo>
                <a:lnTo>
                  <a:pt x="28" y="0"/>
                </a:lnTo>
                <a:lnTo>
                  <a:pt x="28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3095280" y="5124240"/>
            <a:ext cx="2619720" cy="10440"/>
          </a:xfrm>
          <a:custGeom>
            <a:avLst/>
            <a:gdLst/>
            <a:ahLst/>
            <a:rect l="0" t="0" r="r" b="b"/>
            <a:pathLst>
              <a:path w="7277" h="29">
                <a:moveTo>
                  <a:pt x="0" y="0"/>
                </a:moveTo>
                <a:lnTo>
                  <a:pt x="7277" y="0"/>
                </a:lnTo>
                <a:lnTo>
                  <a:pt x="7277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5705280" y="5133960"/>
            <a:ext cx="9720" cy="352440"/>
          </a:xfrm>
          <a:custGeom>
            <a:avLst/>
            <a:gdLst/>
            <a:ahLst/>
            <a:rect l="0" t="0" r="r" b="b"/>
            <a:pathLst>
              <a:path w="27" h="979">
                <a:moveTo>
                  <a:pt x="0" y="0"/>
                </a:moveTo>
                <a:lnTo>
                  <a:pt x="27" y="0"/>
                </a:lnTo>
                <a:lnTo>
                  <a:pt x="2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5714640" y="5124240"/>
            <a:ext cx="3381840" cy="10440"/>
          </a:xfrm>
          <a:custGeom>
            <a:avLst/>
            <a:gdLst/>
            <a:ahLst/>
            <a:rect l="0" t="0" r="r" b="b"/>
            <a:pathLst>
              <a:path w="9394" h="29">
                <a:moveTo>
                  <a:pt x="0" y="0"/>
                </a:moveTo>
                <a:lnTo>
                  <a:pt x="9394" y="0"/>
                </a:lnTo>
                <a:lnTo>
                  <a:pt x="9394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9086760" y="5133960"/>
            <a:ext cx="9720" cy="352440"/>
          </a:xfrm>
          <a:custGeom>
            <a:avLst/>
            <a:gdLst/>
            <a:ahLst/>
            <a:rect l="0" t="0" r="r" b="b"/>
            <a:pathLst>
              <a:path w="27" h="979">
                <a:moveTo>
                  <a:pt x="0" y="0"/>
                </a:moveTo>
                <a:lnTo>
                  <a:pt x="27" y="0"/>
                </a:lnTo>
                <a:lnTo>
                  <a:pt x="2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3095280" y="5486040"/>
            <a:ext cx="10080" cy="352800"/>
          </a:xfrm>
          <a:custGeom>
            <a:avLst/>
            <a:gdLst/>
            <a:ahLst/>
            <a:rect l="0" t="0" r="r" b="b"/>
            <a:pathLst>
              <a:path w="28" h="980">
                <a:moveTo>
                  <a:pt x="0" y="0"/>
                </a:moveTo>
                <a:lnTo>
                  <a:pt x="28" y="0"/>
                </a:lnTo>
                <a:lnTo>
                  <a:pt x="28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3095280" y="547668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5705280" y="5486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5714640" y="5476680"/>
            <a:ext cx="3381840" cy="9720"/>
          </a:xfrm>
          <a:custGeom>
            <a:avLst/>
            <a:gdLst/>
            <a:ahLst/>
            <a:rect l="0" t="0" r="r" b="b"/>
            <a:pathLst>
              <a:path w="9394" h="27">
                <a:moveTo>
                  <a:pt x="0" y="0"/>
                </a:moveTo>
                <a:lnTo>
                  <a:pt x="9394" y="0"/>
                </a:lnTo>
                <a:lnTo>
                  <a:pt x="93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9086760" y="5486040"/>
            <a:ext cx="9720" cy="352800"/>
          </a:xfrm>
          <a:custGeom>
            <a:avLst/>
            <a:gdLst/>
            <a:ahLst/>
            <a:rect l="0" t="0" r="r" b="b"/>
            <a:pathLst>
              <a:path w="27" h="980">
                <a:moveTo>
                  <a:pt x="0" y="0"/>
                </a:moveTo>
                <a:lnTo>
                  <a:pt x="27" y="0"/>
                </a:lnTo>
                <a:lnTo>
                  <a:pt x="27" y="980"/>
                </a:lnTo>
                <a:lnTo>
                  <a:pt x="0" y="98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3095280" y="5829120"/>
            <a:ext cx="2619720" cy="9720"/>
          </a:xfrm>
          <a:custGeom>
            <a:avLst/>
            <a:gdLst/>
            <a:ahLst/>
            <a:rect l="0" t="0" r="r" b="b"/>
            <a:pathLst>
              <a:path w="7277" h="27">
                <a:moveTo>
                  <a:pt x="0" y="0"/>
                </a:moveTo>
                <a:lnTo>
                  <a:pt x="7277" y="0"/>
                </a:lnTo>
                <a:lnTo>
                  <a:pt x="72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5714640" y="5829120"/>
            <a:ext cx="3381840" cy="9720"/>
          </a:xfrm>
          <a:custGeom>
            <a:avLst/>
            <a:gdLst/>
            <a:ahLst/>
            <a:rect l="0" t="0" r="r" b="b"/>
            <a:pathLst>
              <a:path w="9394" h="27">
                <a:moveTo>
                  <a:pt x="0" y="0"/>
                </a:moveTo>
                <a:lnTo>
                  <a:pt x="9394" y="0"/>
                </a:lnTo>
                <a:lnTo>
                  <a:pt x="93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4020840" y="2043360"/>
            <a:ext cx="7772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Challenge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7134840" y="2043360"/>
            <a:ext cx="5324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Impact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3242520" y="2395800"/>
            <a:ext cx="15076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Interface complexity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5852160" y="2395800"/>
            <a:ext cx="2014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Integration failures, rework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242520" y="2748240"/>
            <a:ext cx="2333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Cross-disciplinary coordination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5852160" y="2748240"/>
            <a:ext cx="30978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Misalignment, communication breakdown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242520" y="3100680"/>
            <a:ext cx="17906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Requirements instability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5852160" y="3100680"/>
            <a:ext cx="15897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churn, rework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242520" y="3453120"/>
            <a:ext cx="738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Scalability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5852160" y="3453120"/>
            <a:ext cx="26647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Process overhead and design delays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3242520" y="3805560"/>
            <a:ext cx="1986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Limited design exploration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5852160" y="3805560"/>
            <a:ext cx="23832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Missed innovation opportunities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242520" y="4158000"/>
            <a:ext cx="1188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Tool integration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5852160" y="4158000"/>
            <a:ext cx="17190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Ineﬃciencies, data loss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3242520" y="4510440"/>
            <a:ext cx="15080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Change propagation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852160" y="4510440"/>
            <a:ext cx="22618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System-wide knock-on eﬀects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242520" y="4862880"/>
            <a:ext cx="14554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Testing bottlenecks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852160" y="4862880"/>
            <a:ext cx="271404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Undetected errors, delayed feedback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3242520" y="5215320"/>
            <a:ext cx="186768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Traceability management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852160" y="5215320"/>
            <a:ext cx="186336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High documentation cost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3242520" y="5567760"/>
            <a:ext cx="108540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Human factors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852160" y="5567760"/>
            <a:ext cx="2364120" cy="180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2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Non-compliance, lack of buy-in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62120" y="-8280"/>
            <a:ext cx="10211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Challenges in Systematic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62120" y="753480"/>
            <a:ext cx="92325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of Multi-Component Systems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5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6" name=""/>
          <p:cNvSpPr txBox="1"/>
          <p:nvPr/>
        </p:nvSpPr>
        <p:spPr>
          <a:xfrm>
            <a:off x="762120" y="1680120"/>
            <a:ext cx="10376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key challenge in multi-component systems is managing the interfaces between components. Interfaces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762120" y="1984680"/>
            <a:ext cx="933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how data, energy, or force is exchanged between components and are critical to system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762120" y="2289600"/>
            <a:ext cx="1290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functionality.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762120" y="5366160"/>
            <a:ext cx="10312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allows each component to be optimized independently, However, such decomposition risks missing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762120" y="5671080"/>
            <a:ext cx="6805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globally optimal solutions or producing physically infeasible designs.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766440" y="2833560"/>
            <a:ext cx="3486600" cy="2381400"/>
          </a:xfrm>
          <a:custGeom>
            <a:avLst/>
            <a:gdLst/>
            <a:ahLst/>
            <a:rect l="0" t="0" r="r" b="b"/>
            <a:pathLst>
              <a:path w="9685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4"/>
                </a:cubicBezTo>
                <a:cubicBezTo>
                  <a:pt x="9628" y="30"/>
                  <a:pt x="9636" y="36"/>
                  <a:pt x="9643" y="42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2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6"/>
                  <a:pt x="9685" y="136"/>
                  <a:pt x="9685" y="145"/>
                </a:cubicBezTo>
                <a:lnTo>
                  <a:pt x="9685" y="6470"/>
                </a:lnTo>
                <a:cubicBezTo>
                  <a:pt x="9685" y="6479"/>
                  <a:pt x="9684" y="6489"/>
                  <a:pt x="9682" y="6498"/>
                </a:cubicBezTo>
                <a:cubicBezTo>
                  <a:pt x="9680" y="6508"/>
                  <a:pt x="9678" y="6517"/>
                  <a:pt x="9674" y="6526"/>
                </a:cubicBezTo>
                <a:cubicBezTo>
                  <a:pt x="9670" y="6534"/>
                  <a:pt x="9666" y="6543"/>
                  <a:pt x="9661" y="6551"/>
                </a:cubicBezTo>
                <a:cubicBezTo>
                  <a:pt x="9655" y="6559"/>
                  <a:pt x="9649" y="6566"/>
                  <a:pt x="9643" y="6573"/>
                </a:cubicBezTo>
                <a:cubicBezTo>
                  <a:pt x="9636" y="6580"/>
                  <a:pt x="9628" y="6586"/>
                  <a:pt x="9620" y="6591"/>
                </a:cubicBezTo>
                <a:cubicBezTo>
                  <a:pt x="9613" y="6596"/>
                  <a:pt x="9604" y="6601"/>
                  <a:pt x="9595" y="6604"/>
                </a:cubicBezTo>
                <a:cubicBezTo>
                  <a:pt x="9586" y="6608"/>
                  <a:pt x="9577" y="6611"/>
                  <a:pt x="9568" y="6613"/>
                </a:cubicBezTo>
                <a:cubicBezTo>
                  <a:pt x="9559" y="6615"/>
                  <a:pt x="9549" y="6615"/>
                  <a:pt x="9540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8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20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766440" y="2833560"/>
            <a:ext cx="3486600" cy="2381400"/>
          </a:xfrm>
          <a:custGeom>
            <a:avLst/>
            <a:gdLst/>
            <a:ahLst/>
            <a:rect l="0" t="0" r="r" b="b"/>
            <a:pathLst>
              <a:path fill="none" w="9685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9540" y="0"/>
                </a:lnTo>
                <a:cubicBezTo>
                  <a:pt x="9549" y="0"/>
                  <a:pt x="9559" y="1"/>
                  <a:pt x="9568" y="3"/>
                </a:cubicBezTo>
                <a:cubicBezTo>
                  <a:pt x="9577" y="5"/>
                  <a:pt x="9586" y="7"/>
                  <a:pt x="9595" y="11"/>
                </a:cubicBezTo>
                <a:cubicBezTo>
                  <a:pt x="9604" y="15"/>
                  <a:pt x="9613" y="19"/>
                  <a:pt x="9620" y="24"/>
                </a:cubicBezTo>
                <a:cubicBezTo>
                  <a:pt x="9628" y="30"/>
                  <a:pt x="9636" y="36"/>
                  <a:pt x="9643" y="42"/>
                </a:cubicBezTo>
                <a:cubicBezTo>
                  <a:pt x="9649" y="49"/>
                  <a:pt x="9655" y="57"/>
                  <a:pt x="9661" y="65"/>
                </a:cubicBezTo>
                <a:cubicBezTo>
                  <a:pt x="9666" y="72"/>
                  <a:pt x="9670" y="81"/>
                  <a:pt x="9674" y="90"/>
                </a:cubicBezTo>
                <a:cubicBezTo>
                  <a:pt x="9678" y="99"/>
                  <a:pt x="9680" y="108"/>
                  <a:pt x="9682" y="117"/>
                </a:cubicBezTo>
                <a:cubicBezTo>
                  <a:pt x="9684" y="126"/>
                  <a:pt x="9685" y="136"/>
                  <a:pt x="9685" y="145"/>
                </a:cubicBezTo>
                <a:lnTo>
                  <a:pt x="9685" y="6470"/>
                </a:lnTo>
                <a:cubicBezTo>
                  <a:pt x="9685" y="6479"/>
                  <a:pt x="9684" y="6489"/>
                  <a:pt x="9682" y="6498"/>
                </a:cubicBezTo>
                <a:cubicBezTo>
                  <a:pt x="9680" y="6508"/>
                  <a:pt x="9678" y="6517"/>
                  <a:pt x="9674" y="6526"/>
                </a:cubicBezTo>
                <a:cubicBezTo>
                  <a:pt x="9670" y="6534"/>
                  <a:pt x="9666" y="6543"/>
                  <a:pt x="9661" y="6551"/>
                </a:cubicBezTo>
                <a:cubicBezTo>
                  <a:pt x="9655" y="6559"/>
                  <a:pt x="9649" y="6566"/>
                  <a:pt x="9643" y="6573"/>
                </a:cubicBezTo>
                <a:cubicBezTo>
                  <a:pt x="9636" y="6580"/>
                  <a:pt x="9628" y="6586"/>
                  <a:pt x="9620" y="6591"/>
                </a:cubicBezTo>
                <a:cubicBezTo>
                  <a:pt x="9613" y="6596"/>
                  <a:pt x="9604" y="6601"/>
                  <a:pt x="9595" y="6604"/>
                </a:cubicBezTo>
                <a:cubicBezTo>
                  <a:pt x="9586" y="6608"/>
                  <a:pt x="9577" y="6611"/>
                  <a:pt x="9568" y="6613"/>
                </a:cubicBezTo>
                <a:cubicBezTo>
                  <a:pt x="9559" y="6615"/>
                  <a:pt x="9549" y="6615"/>
                  <a:pt x="9540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8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20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762120" y="372600"/>
            <a:ext cx="64033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Interface complexity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923760" y="3728520"/>
            <a:ext cx="27590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 mechanical design, interface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923760" y="4004640"/>
            <a:ext cx="2791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stiﬀness matrices describe how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923760" y="4271400"/>
            <a:ext cx="2598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forces and displacements are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923760" y="4547520"/>
            <a:ext cx="2302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related across component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942840" y="31906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50"/>
                  <a:pt x="510" y="366"/>
                </a:cubicBezTo>
                <a:cubicBezTo>
                  <a:pt x="503" y="382"/>
                  <a:pt x="495" y="398"/>
                  <a:pt x="485" y="413"/>
                </a:cubicBezTo>
                <a:cubicBezTo>
                  <a:pt x="476" y="427"/>
                  <a:pt x="465" y="440"/>
                  <a:pt x="453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7" y="510"/>
                </a:cubicBezTo>
                <a:cubicBezTo>
                  <a:pt x="351" y="517"/>
                  <a:pt x="334" y="522"/>
                  <a:pt x="317" y="525"/>
                </a:cubicBezTo>
                <a:cubicBezTo>
                  <a:pt x="300" y="529"/>
                  <a:pt x="282" y="530"/>
                  <a:pt x="264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300" y="2"/>
                  <a:pt x="317" y="5"/>
                </a:cubicBezTo>
                <a:cubicBezTo>
                  <a:pt x="334" y="9"/>
                  <a:pt x="351" y="14"/>
                  <a:pt x="367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3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037880" y="324792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923760" y="4823640"/>
            <a:ext cx="1051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boundaries.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1203120" y="3036600"/>
            <a:ext cx="13032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Mechanical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4357440" y="2833560"/>
            <a:ext cx="3476880" cy="2381400"/>
          </a:xfrm>
          <a:custGeom>
            <a:avLst/>
            <a:gdLst/>
            <a:ahLst/>
            <a:rect l="0" t="0" r="r" b="b"/>
            <a:pathLst>
              <a:path w="9658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4"/>
                </a:cubicBezTo>
                <a:cubicBezTo>
                  <a:pt x="9602" y="30"/>
                  <a:pt x="9609" y="36"/>
                  <a:pt x="9616" y="42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2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6"/>
                  <a:pt x="9658" y="136"/>
                  <a:pt x="9658" y="145"/>
                </a:cubicBezTo>
                <a:lnTo>
                  <a:pt x="9658" y="6470"/>
                </a:lnTo>
                <a:cubicBezTo>
                  <a:pt x="9658" y="6479"/>
                  <a:pt x="9658" y="6489"/>
                  <a:pt x="9656" y="6498"/>
                </a:cubicBezTo>
                <a:cubicBezTo>
                  <a:pt x="9654" y="6508"/>
                  <a:pt x="9651" y="6517"/>
                  <a:pt x="9647" y="6526"/>
                </a:cubicBezTo>
                <a:cubicBezTo>
                  <a:pt x="9644" y="6534"/>
                  <a:pt x="9639" y="6543"/>
                  <a:pt x="9634" y="6551"/>
                </a:cubicBezTo>
                <a:cubicBezTo>
                  <a:pt x="9629" y="6559"/>
                  <a:pt x="9623" y="6566"/>
                  <a:pt x="9616" y="6573"/>
                </a:cubicBezTo>
                <a:cubicBezTo>
                  <a:pt x="9609" y="6580"/>
                  <a:pt x="9602" y="6586"/>
                  <a:pt x="9594" y="6591"/>
                </a:cubicBezTo>
                <a:cubicBezTo>
                  <a:pt x="9586" y="6596"/>
                  <a:pt x="9577" y="6601"/>
                  <a:pt x="9569" y="6604"/>
                </a:cubicBezTo>
                <a:cubicBezTo>
                  <a:pt x="9560" y="6608"/>
                  <a:pt x="9551" y="6611"/>
                  <a:pt x="9541" y="6613"/>
                </a:cubicBezTo>
                <a:cubicBezTo>
                  <a:pt x="9532" y="6615"/>
                  <a:pt x="9523" y="6615"/>
                  <a:pt x="9513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7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19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4357440" y="2833560"/>
            <a:ext cx="3476880" cy="2381400"/>
          </a:xfrm>
          <a:custGeom>
            <a:avLst/>
            <a:gdLst/>
            <a:ahLst/>
            <a:rect l="0" t="0" r="r" b="b"/>
            <a:pathLst>
              <a:path fill="none" w="9658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19" y="72"/>
                  <a:pt x="25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9513" y="0"/>
                </a:lnTo>
                <a:cubicBezTo>
                  <a:pt x="9523" y="0"/>
                  <a:pt x="9532" y="1"/>
                  <a:pt x="9541" y="3"/>
                </a:cubicBezTo>
                <a:cubicBezTo>
                  <a:pt x="9551" y="5"/>
                  <a:pt x="9560" y="7"/>
                  <a:pt x="9569" y="11"/>
                </a:cubicBezTo>
                <a:cubicBezTo>
                  <a:pt x="9577" y="15"/>
                  <a:pt x="9586" y="19"/>
                  <a:pt x="9594" y="24"/>
                </a:cubicBezTo>
                <a:cubicBezTo>
                  <a:pt x="9602" y="30"/>
                  <a:pt x="9609" y="36"/>
                  <a:pt x="9616" y="42"/>
                </a:cubicBezTo>
                <a:cubicBezTo>
                  <a:pt x="9623" y="49"/>
                  <a:pt x="9629" y="57"/>
                  <a:pt x="9634" y="65"/>
                </a:cubicBezTo>
                <a:cubicBezTo>
                  <a:pt x="9639" y="72"/>
                  <a:pt x="9644" y="81"/>
                  <a:pt x="9647" y="90"/>
                </a:cubicBezTo>
                <a:cubicBezTo>
                  <a:pt x="9651" y="99"/>
                  <a:pt x="9654" y="108"/>
                  <a:pt x="9656" y="117"/>
                </a:cubicBezTo>
                <a:cubicBezTo>
                  <a:pt x="9658" y="126"/>
                  <a:pt x="9658" y="136"/>
                  <a:pt x="9658" y="145"/>
                </a:cubicBezTo>
                <a:lnTo>
                  <a:pt x="9658" y="6470"/>
                </a:lnTo>
                <a:cubicBezTo>
                  <a:pt x="9658" y="6479"/>
                  <a:pt x="9658" y="6489"/>
                  <a:pt x="9656" y="6498"/>
                </a:cubicBezTo>
                <a:cubicBezTo>
                  <a:pt x="9654" y="6508"/>
                  <a:pt x="9651" y="6517"/>
                  <a:pt x="9647" y="6526"/>
                </a:cubicBezTo>
                <a:cubicBezTo>
                  <a:pt x="9644" y="6534"/>
                  <a:pt x="9639" y="6543"/>
                  <a:pt x="9634" y="6551"/>
                </a:cubicBezTo>
                <a:cubicBezTo>
                  <a:pt x="9629" y="6559"/>
                  <a:pt x="9623" y="6566"/>
                  <a:pt x="9616" y="6573"/>
                </a:cubicBezTo>
                <a:cubicBezTo>
                  <a:pt x="9609" y="6580"/>
                  <a:pt x="9602" y="6586"/>
                  <a:pt x="9594" y="6591"/>
                </a:cubicBezTo>
                <a:cubicBezTo>
                  <a:pt x="9586" y="6596"/>
                  <a:pt x="9577" y="6601"/>
                  <a:pt x="9569" y="6604"/>
                </a:cubicBezTo>
                <a:cubicBezTo>
                  <a:pt x="9560" y="6608"/>
                  <a:pt x="9551" y="6611"/>
                  <a:pt x="9541" y="6613"/>
                </a:cubicBezTo>
                <a:cubicBezTo>
                  <a:pt x="9532" y="6615"/>
                  <a:pt x="9523" y="6615"/>
                  <a:pt x="9513" y="6615"/>
                </a:cubicBezTo>
                <a:lnTo>
                  <a:pt x="146" y="6615"/>
                </a:lnTo>
                <a:cubicBezTo>
                  <a:pt x="136" y="6615"/>
                  <a:pt x="127" y="6615"/>
                  <a:pt x="117" y="6613"/>
                </a:cubicBezTo>
                <a:cubicBezTo>
                  <a:pt x="108" y="6611"/>
                  <a:pt x="99" y="6608"/>
                  <a:pt x="90" y="6604"/>
                </a:cubicBezTo>
                <a:cubicBezTo>
                  <a:pt x="81" y="6601"/>
                  <a:pt x="73" y="6596"/>
                  <a:pt x="65" y="6591"/>
                </a:cubicBezTo>
                <a:cubicBezTo>
                  <a:pt x="57" y="6586"/>
                  <a:pt x="50" y="6580"/>
                  <a:pt x="43" y="6573"/>
                </a:cubicBezTo>
                <a:cubicBezTo>
                  <a:pt x="36" y="6566"/>
                  <a:pt x="30" y="6559"/>
                  <a:pt x="25" y="6551"/>
                </a:cubicBezTo>
                <a:cubicBezTo>
                  <a:pt x="19" y="6543"/>
                  <a:pt x="15" y="6534"/>
                  <a:pt x="11" y="6526"/>
                </a:cubicBezTo>
                <a:cubicBezTo>
                  <a:pt x="8" y="6517"/>
                  <a:pt x="5" y="6508"/>
                  <a:pt x="3" y="6498"/>
                </a:cubicBezTo>
                <a:cubicBezTo>
                  <a:pt x="1" y="6489"/>
                  <a:pt x="0" y="6479"/>
                  <a:pt x="0" y="647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1203120" y="3322080"/>
            <a:ext cx="82044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4511880" y="3728520"/>
            <a:ext cx="2855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 software systems, APIs deﬁne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4533840" y="31906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1" y="333"/>
                  <a:pt x="516" y="350"/>
                  <a:pt x="510" y="366"/>
                </a:cubicBezTo>
                <a:cubicBezTo>
                  <a:pt x="503" y="382"/>
                  <a:pt x="495" y="398"/>
                  <a:pt x="485" y="413"/>
                </a:cubicBezTo>
                <a:cubicBezTo>
                  <a:pt x="476" y="427"/>
                  <a:pt x="465" y="440"/>
                  <a:pt x="452" y="453"/>
                </a:cubicBezTo>
                <a:cubicBezTo>
                  <a:pt x="440" y="465"/>
                  <a:pt x="427" y="476"/>
                  <a:pt x="412" y="486"/>
                </a:cubicBezTo>
                <a:cubicBezTo>
                  <a:pt x="398" y="495"/>
                  <a:pt x="383" y="503"/>
                  <a:pt x="366" y="510"/>
                </a:cubicBezTo>
                <a:cubicBezTo>
                  <a:pt x="349" y="517"/>
                  <a:pt x="333" y="522"/>
                  <a:pt x="316" y="525"/>
                </a:cubicBezTo>
                <a:cubicBezTo>
                  <a:pt x="299" y="529"/>
                  <a:pt x="282" y="530"/>
                  <a:pt x="264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7" y="486"/>
                </a:cubicBezTo>
                <a:cubicBezTo>
                  <a:pt x="103" y="476"/>
                  <a:pt x="89" y="465"/>
                  <a:pt x="77" y="453"/>
                </a:cubicBezTo>
                <a:cubicBezTo>
                  <a:pt x="65" y="440"/>
                  <a:pt x="54" y="427"/>
                  <a:pt x="44" y="413"/>
                </a:cubicBezTo>
                <a:cubicBezTo>
                  <a:pt x="35" y="398"/>
                  <a:pt x="26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1" y="299"/>
                  <a:pt x="0" y="282"/>
                  <a:pt x="0" y="265"/>
                </a:cubicBez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6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89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9"/>
                  <a:pt x="349" y="14"/>
                  <a:pt x="366" y="20"/>
                </a:cubicBezTo>
                <a:cubicBezTo>
                  <a:pt x="383" y="27"/>
                  <a:pt x="398" y="35"/>
                  <a:pt x="412" y="45"/>
                </a:cubicBezTo>
                <a:cubicBezTo>
                  <a:pt x="427" y="54"/>
                  <a:pt x="440" y="65"/>
                  <a:pt x="452" y="78"/>
                </a:cubicBezTo>
                <a:cubicBezTo>
                  <a:pt x="465" y="90"/>
                  <a:pt x="476" y="103"/>
                  <a:pt x="485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6" y="179"/>
                  <a:pt x="521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4628880" y="3247920"/>
            <a:ext cx="360" cy="75960"/>
          </a:xfrm>
          <a:custGeom>
            <a:avLst/>
            <a:gdLst/>
            <a:ahLst/>
            <a:rect l="0" t="0" r="r" b="b"/>
            <a:pathLst>
              <a:path fill="none" w="1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  <a:lnTo>
                  <a:pt x="1" y="0"/>
                </a:ln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4511880" y="4004640"/>
            <a:ext cx="30294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function calls and data structures.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4791240" y="3036600"/>
            <a:ext cx="1034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Software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7939080" y="2833560"/>
            <a:ext cx="3486240" cy="2381400"/>
          </a:xfrm>
          <a:custGeom>
            <a:avLst/>
            <a:gdLst/>
            <a:ahLst/>
            <a:rect l="0" t="0" r="r" b="b"/>
            <a:pathLst>
              <a:path w="9684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2"/>
                  <a:pt x="24" y="65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4"/>
                </a:cubicBezTo>
                <a:cubicBezTo>
                  <a:pt x="9628" y="30"/>
                  <a:pt x="9635" y="36"/>
                  <a:pt x="9642" y="42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2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6"/>
                  <a:pt x="9684" y="136"/>
                  <a:pt x="9684" y="145"/>
                </a:cubicBezTo>
                <a:lnTo>
                  <a:pt x="9684" y="6470"/>
                </a:lnTo>
                <a:cubicBezTo>
                  <a:pt x="9684" y="6479"/>
                  <a:pt x="9683" y="6489"/>
                  <a:pt x="9681" y="6498"/>
                </a:cubicBezTo>
                <a:cubicBezTo>
                  <a:pt x="9680" y="6508"/>
                  <a:pt x="9677" y="6517"/>
                  <a:pt x="9673" y="6526"/>
                </a:cubicBezTo>
                <a:cubicBezTo>
                  <a:pt x="9670" y="6534"/>
                  <a:pt x="9665" y="6543"/>
                  <a:pt x="9660" y="6551"/>
                </a:cubicBezTo>
                <a:cubicBezTo>
                  <a:pt x="9654" y="6559"/>
                  <a:pt x="9648" y="6566"/>
                  <a:pt x="9642" y="6573"/>
                </a:cubicBezTo>
                <a:cubicBezTo>
                  <a:pt x="9635" y="6580"/>
                  <a:pt x="9628" y="6586"/>
                  <a:pt x="9620" y="6591"/>
                </a:cubicBezTo>
                <a:cubicBezTo>
                  <a:pt x="9612" y="6596"/>
                  <a:pt x="9603" y="6601"/>
                  <a:pt x="9594" y="6604"/>
                </a:cubicBezTo>
                <a:cubicBezTo>
                  <a:pt x="9586" y="6608"/>
                  <a:pt x="9577" y="6611"/>
                  <a:pt x="9567" y="6613"/>
                </a:cubicBezTo>
                <a:cubicBezTo>
                  <a:pt x="9558" y="6615"/>
                  <a:pt x="9548" y="6615"/>
                  <a:pt x="9539" y="6615"/>
                </a:cubicBezTo>
                <a:lnTo>
                  <a:pt x="145" y="6615"/>
                </a:lnTo>
                <a:cubicBezTo>
                  <a:pt x="135" y="6615"/>
                  <a:pt x="126" y="6615"/>
                  <a:pt x="117" y="6613"/>
                </a:cubicBezTo>
                <a:cubicBezTo>
                  <a:pt x="107" y="6611"/>
                  <a:pt x="98" y="6608"/>
                  <a:pt x="89" y="6604"/>
                </a:cubicBezTo>
                <a:cubicBezTo>
                  <a:pt x="81" y="6601"/>
                  <a:pt x="72" y="6596"/>
                  <a:pt x="64" y="6591"/>
                </a:cubicBezTo>
                <a:cubicBezTo>
                  <a:pt x="56" y="6586"/>
                  <a:pt x="49" y="6580"/>
                  <a:pt x="42" y="6573"/>
                </a:cubicBezTo>
                <a:cubicBezTo>
                  <a:pt x="35" y="6566"/>
                  <a:pt x="29" y="6559"/>
                  <a:pt x="24" y="6551"/>
                </a:cubicBezTo>
                <a:cubicBezTo>
                  <a:pt x="19" y="6543"/>
                  <a:pt x="14" y="6534"/>
                  <a:pt x="11" y="6526"/>
                </a:cubicBezTo>
                <a:cubicBezTo>
                  <a:pt x="7" y="6517"/>
                  <a:pt x="4" y="6508"/>
                  <a:pt x="2" y="6498"/>
                </a:cubicBezTo>
                <a:cubicBezTo>
                  <a:pt x="0" y="6489"/>
                  <a:pt x="0" y="6479"/>
                  <a:pt x="0" y="6470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7939080" y="2833560"/>
            <a:ext cx="3486240" cy="2381400"/>
          </a:xfrm>
          <a:custGeom>
            <a:avLst/>
            <a:gdLst/>
            <a:ahLst/>
            <a:rect l="0" t="0" r="r" b="b"/>
            <a:pathLst>
              <a:path fill="none" w="9684" h="6615">
                <a:moveTo>
                  <a:pt x="0" y="6470"/>
                </a:moveTo>
                <a:lnTo>
                  <a:pt x="0" y="145"/>
                </a:lnTo>
                <a:cubicBezTo>
                  <a:pt x="0" y="136"/>
                  <a:pt x="0" y="126"/>
                  <a:pt x="2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2"/>
                  <a:pt x="24" y="65"/>
                </a:cubicBezTo>
                <a:cubicBezTo>
                  <a:pt x="29" y="57"/>
                  <a:pt x="35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5"/>
                  <a:pt x="89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5" y="0"/>
                  <a:pt x="145" y="0"/>
                </a:cubicBezTo>
                <a:lnTo>
                  <a:pt x="9539" y="0"/>
                </a:lnTo>
                <a:cubicBezTo>
                  <a:pt x="9548" y="0"/>
                  <a:pt x="9558" y="1"/>
                  <a:pt x="9567" y="3"/>
                </a:cubicBezTo>
                <a:cubicBezTo>
                  <a:pt x="9577" y="5"/>
                  <a:pt x="9586" y="7"/>
                  <a:pt x="9594" y="11"/>
                </a:cubicBezTo>
                <a:cubicBezTo>
                  <a:pt x="9603" y="15"/>
                  <a:pt x="9612" y="19"/>
                  <a:pt x="9620" y="24"/>
                </a:cubicBezTo>
                <a:cubicBezTo>
                  <a:pt x="9628" y="30"/>
                  <a:pt x="9635" y="36"/>
                  <a:pt x="9642" y="42"/>
                </a:cubicBezTo>
                <a:cubicBezTo>
                  <a:pt x="9648" y="49"/>
                  <a:pt x="9654" y="57"/>
                  <a:pt x="9660" y="65"/>
                </a:cubicBezTo>
                <a:cubicBezTo>
                  <a:pt x="9665" y="72"/>
                  <a:pt x="9670" y="81"/>
                  <a:pt x="9673" y="90"/>
                </a:cubicBezTo>
                <a:cubicBezTo>
                  <a:pt x="9677" y="99"/>
                  <a:pt x="9680" y="108"/>
                  <a:pt x="9681" y="117"/>
                </a:cubicBezTo>
                <a:cubicBezTo>
                  <a:pt x="9683" y="126"/>
                  <a:pt x="9684" y="136"/>
                  <a:pt x="9684" y="145"/>
                </a:cubicBezTo>
                <a:lnTo>
                  <a:pt x="9684" y="6470"/>
                </a:lnTo>
                <a:cubicBezTo>
                  <a:pt x="9684" y="6479"/>
                  <a:pt x="9683" y="6489"/>
                  <a:pt x="9681" y="6498"/>
                </a:cubicBezTo>
                <a:cubicBezTo>
                  <a:pt x="9680" y="6508"/>
                  <a:pt x="9677" y="6517"/>
                  <a:pt x="9673" y="6526"/>
                </a:cubicBezTo>
                <a:cubicBezTo>
                  <a:pt x="9670" y="6534"/>
                  <a:pt x="9665" y="6543"/>
                  <a:pt x="9660" y="6551"/>
                </a:cubicBezTo>
                <a:cubicBezTo>
                  <a:pt x="9654" y="6559"/>
                  <a:pt x="9648" y="6566"/>
                  <a:pt x="9642" y="6573"/>
                </a:cubicBezTo>
                <a:cubicBezTo>
                  <a:pt x="9635" y="6580"/>
                  <a:pt x="9628" y="6586"/>
                  <a:pt x="9620" y="6591"/>
                </a:cubicBezTo>
                <a:cubicBezTo>
                  <a:pt x="9612" y="6596"/>
                  <a:pt x="9603" y="6601"/>
                  <a:pt x="9594" y="6604"/>
                </a:cubicBezTo>
                <a:cubicBezTo>
                  <a:pt x="9586" y="6608"/>
                  <a:pt x="9577" y="6611"/>
                  <a:pt x="9567" y="6613"/>
                </a:cubicBezTo>
                <a:cubicBezTo>
                  <a:pt x="9558" y="6615"/>
                  <a:pt x="9548" y="6615"/>
                  <a:pt x="9539" y="6615"/>
                </a:cubicBezTo>
                <a:lnTo>
                  <a:pt x="145" y="6615"/>
                </a:lnTo>
                <a:cubicBezTo>
                  <a:pt x="135" y="6615"/>
                  <a:pt x="126" y="6615"/>
                  <a:pt x="117" y="6613"/>
                </a:cubicBezTo>
                <a:cubicBezTo>
                  <a:pt x="107" y="6611"/>
                  <a:pt x="98" y="6608"/>
                  <a:pt x="89" y="6604"/>
                </a:cubicBezTo>
                <a:cubicBezTo>
                  <a:pt x="81" y="6601"/>
                  <a:pt x="72" y="6596"/>
                  <a:pt x="64" y="6591"/>
                </a:cubicBezTo>
                <a:cubicBezTo>
                  <a:pt x="56" y="6586"/>
                  <a:pt x="49" y="6580"/>
                  <a:pt x="42" y="6573"/>
                </a:cubicBezTo>
                <a:cubicBezTo>
                  <a:pt x="35" y="6566"/>
                  <a:pt x="29" y="6559"/>
                  <a:pt x="24" y="6551"/>
                </a:cubicBezTo>
                <a:cubicBezTo>
                  <a:pt x="19" y="6543"/>
                  <a:pt x="14" y="6534"/>
                  <a:pt x="11" y="6526"/>
                </a:cubicBezTo>
                <a:cubicBezTo>
                  <a:pt x="7" y="6517"/>
                  <a:pt x="4" y="6508"/>
                  <a:pt x="2" y="6498"/>
                </a:cubicBezTo>
                <a:cubicBezTo>
                  <a:pt x="0" y="6489"/>
                  <a:pt x="0" y="6479"/>
                  <a:pt x="0" y="6470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4791240" y="3322080"/>
            <a:ext cx="971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8099280" y="3728520"/>
            <a:ext cx="2886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 embedded systems, protocols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8115120" y="3190680"/>
            <a:ext cx="190800" cy="190800"/>
          </a:xfrm>
          <a:custGeom>
            <a:avLst/>
            <a:gdLst/>
            <a:ahLst/>
            <a:rect l="0" t="0" r="r" b="b"/>
            <a:pathLst>
              <a:path fill="none" w="530" h="530">
                <a:moveTo>
                  <a:pt x="530" y="265"/>
                </a:moveTo>
                <a:cubicBezTo>
                  <a:pt x="530" y="282"/>
                  <a:pt x="528" y="299"/>
                  <a:pt x="525" y="316"/>
                </a:cubicBezTo>
                <a:cubicBezTo>
                  <a:pt x="522" y="333"/>
                  <a:pt x="517" y="350"/>
                  <a:pt x="510" y="366"/>
                </a:cubicBezTo>
                <a:cubicBezTo>
                  <a:pt x="503" y="382"/>
                  <a:pt x="495" y="398"/>
                  <a:pt x="486" y="413"/>
                </a:cubicBezTo>
                <a:cubicBezTo>
                  <a:pt x="476" y="427"/>
                  <a:pt x="464" y="440"/>
                  <a:pt x="452" y="453"/>
                </a:cubicBezTo>
                <a:cubicBezTo>
                  <a:pt x="439" y="465"/>
                  <a:pt x="426" y="476"/>
                  <a:pt x="412" y="486"/>
                </a:cubicBezTo>
                <a:cubicBezTo>
                  <a:pt x="397" y="495"/>
                  <a:pt x="382" y="503"/>
                  <a:pt x="366" y="510"/>
                </a:cubicBezTo>
                <a:cubicBezTo>
                  <a:pt x="350" y="517"/>
                  <a:pt x="333" y="522"/>
                  <a:pt x="316" y="525"/>
                </a:cubicBezTo>
                <a:cubicBezTo>
                  <a:pt x="299" y="529"/>
                  <a:pt x="282" y="530"/>
                  <a:pt x="265" y="530"/>
                </a:cubicBez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3"/>
                  <a:pt x="132" y="495"/>
                  <a:pt x="118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0"/>
                  <a:pt x="54" y="427"/>
                  <a:pt x="45" y="413"/>
                </a:cubicBezTo>
                <a:cubicBezTo>
                  <a:pt x="35" y="398"/>
                  <a:pt x="27" y="382"/>
                  <a:pt x="20" y="366"/>
                </a:cubicBezTo>
                <a:cubicBezTo>
                  <a:pt x="13" y="350"/>
                  <a:pt x="8" y="333"/>
                  <a:pt x="5" y="316"/>
                </a:cubicBezTo>
                <a:cubicBezTo>
                  <a:pt x="2" y="299"/>
                  <a:pt x="0" y="282"/>
                  <a:pt x="0" y="265"/>
                </a:cubicBez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cubicBezTo>
                  <a:pt x="282" y="0"/>
                  <a:pt x="299" y="2"/>
                  <a:pt x="316" y="5"/>
                </a:cubicBezTo>
                <a:cubicBezTo>
                  <a:pt x="333" y="9"/>
                  <a:pt x="350" y="14"/>
                  <a:pt x="366" y="20"/>
                </a:cubicBezTo>
                <a:cubicBezTo>
                  <a:pt x="382" y="27"/>
                  <a:pt x="397" y="35"/>
                  <a:pt x="412" y="45"/>
                </a:cubicBezTo>
                <a:cubicBezTo>
                  <a:pt x="426" y="54"/>
                  <a:pt x="439" y="65"/>
                  <a:pt x="452" y="78"/>
                </a:cubicBezTo>
                <a:cubicBezTo>
                  <a:pt x="464" y="90"/>
                  <a:pt x="476" y="103"/>
                  <a:pt x="486" y="118"/>
                </a:cubicBezTo>
                <a:cubicBezTo>
                  <a:pt x="495" y="132"/>
                  <a:pt x="503" y="147"/>
                  <a:pt x="510" y="163"/>
                </a:cubicBezTo>
                <a:cubicBezTo>
                  <a:pt x="517" y="179"/>
                  <a:pt x="522" y="196"/>
                  <a:pt x="525" y="213"/>
                </a:cubicBezTo>
                <a:cubicBezTo>
                  <a:pt x="528" y="230"/>
                  <a:pt x="530" y="247"/>
                  <a:pt x="530" y="265"/>
                </a:cubicBez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8210520" y="3247920"/>
            <a:ext cx="0" cy="75960"/>
          </a:xfrm>
          <a:custGeom>
            <a:avLst/>
            <a:gdLst/>
            <a:ahLst/>
            <a:rect l="0" t="0" r="r" b="b"/>
            <a:pathLst>
              <a:path fill="none" w="0" h="211">
                <a:moveTo>
                  <a:pt x="0" y="211"/>
                </a:moveTo>
                <a:lnTo>
                  <a:pt x="0" y="106"/>
                </a:lnTo>
                <a:moveTo>
                  <a:pt x="0" y="0"/>
                </a:moveTo>
              </a:path>
            </a:pathLst>
          </a:custGeom>
          <a:ln cap="rnd" w="18720">
            <a:solidFill>
              <a:srgbClr val="69a7eb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8099280" y="4004640"/>
            <a:ext cx="3161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govern timing and synchronization.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8378640" y="3036600"/>
            <a:ext cx="123336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Embedded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8378640" y="3322080"/>
            <a:ext cx="97128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4b96e7"/>
                </a:solidFill>
                <a:effectLst/>
                <a:uFillTx/>
                <a:latin typeface="LucidaGrande"/>
                <a:ea typeface="LucidaGrande"/>
              </a:rPr>
              <a:t>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6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"/>
          <p:cNvSpPr txBox="1"/>
          <p:nvPr/>
        </p:nvSpPr>
        <p:spPr>
          <a:xfrm>
            <a:off x="762120" y="4823280"/>
            <a:ext cx="10559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This shift from global to local design parallels organisational design: individual teams can work on parts as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762120" y="5127840"/>
            <a:ext cx="5349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long as shared protocols and interfaces are respected.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766440" y="2309760"/>
            <a:ext cx="5277240" cy="2362320"/>
          </a:xfrm>
          <a:custGeom>
            <a:avLst/>
            <a:gdLst/>
            <a:ahLst/>
            <a:rect l="0" t="0" r="r" b="b"/>
            <a:pathLst>
              <a:path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7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8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766440" y="2309760"/>
            <a:ext cx="5277240" cy="2362320"/>
          </a:xfrm>
          <a:custGeom>
            <a:avLst/>
            <a:gdLst/>
            <a:ahLst/>
            <a:rect l="0" t="0" r="r" b="b"/>
            <a:pathLst>
              <a:path fill="none"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7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8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762120" y="372600"/>
            <a:ext cx="103557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Monolithic vs Distributed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923760" y="2909160"/>
            <a:ext cx="475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Monolithic design approaches attempt to optimize all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923760" y="3185640"/>
            <a:ext cx="44805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variables simultaneously in a single, tightly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923760" y="3461760"/>
            <a:ext cx="4058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integrated process. This has the advantage of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923760" y="3737880"/>
            <a:ext cx="45417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potentially achieving globally optimal solutions but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923760" y="4014000"/>
            <a:ext cx="4200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suﬀers from scalability issues and coordination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1000080" y="2523960"/>
            <a:ext cx="76320" cy="38520"/>
          </a:xfrm>
          <a:custGeom>
            <a:avLst/>
            <a:gdLst/>
            <a:ahLst/>
            <a:rect l="0" t="0" r="r" b="b"/>
            <a:pathLst>
              <a:path fill="none" w="212" h="107">
                <a:moveTo>
                  <a:pt x="26" y="0"/>
                </a:moveTo>
                <a:lnTo>
                  <a:pt x="186" y="0"/>
                </a:lnTo>
                <a:cubicBezTo>
                  <a:pt x="193" y="0"/>
                  <a:pt x="199" y="3"/>
                  <a:pt x="205" y="8"/>
                </a:cubicBezTo>
                <a:cubicBezTo>
                  <a:pt x="210" y="13"/>
                  <a:pt x="212" y="19"/>
                  <a:pt x="212" y="26"/>
                </a:cubicBezTo>
                <a:lnTo>
                  <a:pt x="212" y="80"/>
                </a:lnTo>
                <a:cubicBezTo>
                  <a:pt x="212" y="88"/>
                  <a:pt x="210" y="94"/>
                  <a:pt x="205" y="99"/>
                </a:cubicBezTo>
                <a:cubicBezTo>
                  <a:pt x="199" y="104"/>
                  <a:pt x="193" y="107"/>
                  <a:pt x="186" y="107"/>
                </a:cubicBezTo>
                <a:lnTo>
                  <a:pt x="26" y="107"/>
                </a:lnTo>
                <a:cubicBezTo>
                  <a:pt x="19" y="107"/>
                  <a:pt x="13" y="104"/>
                  <a:pt x="7" y="99"/>
                </a:cubicBezTo>
                <a:cubicBezTo>
                  <a:pt x="2" y="94"/>
                  <a:pt x="0" y="88"/>
                  <a:pt x="0" y="80"/>
                </a:cubicBezTo>
                <a:lnTo>
                  <a:pt x="0" y="26"/>
                </a:lnTo>
                <a:cubicBezTo>
                  <a:pt x="0" y="19"/>
                  <a:pt x="2" y="13"/>
                  <a:pt x="7" y="8"/>
                </a:cubicBezTo>
                <a:cubicBezTo>
                  <a:pt x="13" y="3"/>
                  <a:pt x="19" y="0"/>
                  <a:pt x="26" y="0"/>
                </a:cubicBez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961920" y="2543040"/>
            <a:ext cx="152640" cy="171720"/>
          </a:xfrm>
          <a:custGeom>
            <a:avLst/>
            <a:gdLst/>
            <a:ahLst/>
            <a:rect l="0" t="0" r="r" b="b"/>
            <a:pathLst>
              <a:path fill="none" w="424" h="477">
                <a:moveTo>
                  <a:pt x="318" y="0"/>
                </a:moveTo>
                <a:lnTo>
                  <a:pt x="371" y="0"/>
                </a:lnTo>
                <a:cubicBezTo>
                  <a:pt x="378" y="0"/>
                  <a:pt x="385" y="1"/>
                  <a:pt x="391" y="4"/>
                </a:cubicBezTo>
                <a:cubicBezTo>
                  <a:pt x="398" y="7"/>
                  <a:pt x="404" y="10"/>
                  <a:pt x="409" y="15"/>
                </a:cubicBezTo>
                <a:cubicBezTo>
                  <a:pt x="414" y="20"/>
                  <a:pt x="417" y="26"/>
                  <a:pt x="420" y="33"/>
                </a:cubicBezTo>
                <a:cubicBezTo>
                  <a:pt x="423" y="39"/>
                  <a:pt x="424" y="46"/>
                  <a:pt x="424" y="53"/>
                </a:cubicBezTo>
                <a:lnTo>
                  <a:pt x="424" y="424"/>
                </a:lnTo>
                <a:cubicBezTo>
                  <a:pt x="424" y="431"/>
                  <a:pt x="423" y="438"/>
                  <a:pt x="420" y="444"/>
                </a:cubicBezTo>
                <a:cubicBezTo>
                  <a:pt x="417" y="451"/>
                  <a:pt x="414" y="457"/>
                  <a:pt x="409" y="462"/>
                </a:cubicBezTo>
                <a:cubicBezTo>
                  <a:pt x="404" y="467"/>
                  <a:pt x="398" y="470"/>
                  <a:pt x="391" y="473"/>
                </a:cubicBezTo>
                <a:cubicBezTo>
                  <a:pt x="385" y="476"/>
                  <a:pt x="378" y="477"/>
                  <a:pt x="371" y="477"/>
                </a:cubicBezTo>
                <a:lnTo>
                  <a:pt x="53" y="477"/>
                </a:lnTo>
                <a:cubicBezTo>
                  <a:pt x="46" y="477"/>
                  <a:pt x="39" y="476"/>
                  <a:pt x="32" y="473"/>
                </a:cubicBezTo>
                <a:cubicBezTo>
                  <a:pt x="26" y="470"/>
                  <a:pt x="20" y="467"/>
                  <a:pt x="15" y="462"/>
                </a:cubicBezTo>
                <a:cubicBezTo>
                  <a:pt x="10" y="457"/>
                  <a:pt x="7" y="451"/>
                  <a:pt x="4" y="444"/>
                </a:cubicBezTo>
                <a:cubicBezTo>
                  <a:pt x="1" y="438"/>
                  <a:pt x="0" y="431"/>
                  <a:pt x="0" y="424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0" y="20"/>
                  <a:pt x="15" y="15"/>
                </a:cubicBezTo>
                <a:cubicBezTo>
                  <a:pt x="20" y="10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lnTo>
                  <a:pt x="107" y="0"/>
                </a:lnTo>
                <a:moveTo>
                  <a:pt x="212" y="185"/>
                </a:moveTo>
                <a:lnTo>
                  <a:pt x="318" y="185"/>
                </a:lnTo>
                <a:moveTo>
                  <a:pt x="212" y="318"/>
                </a:moveTo>
                <a:lnTo>
                  <a:pt x="318" y="318"/>
                </a:lnTo>
                <a:moveTo>
                  <a:pt x="107" y="185"/>
                </a:moveTo>
                <a:moveTo>
                  <a:pt x="107" y="318"/>
                </a:move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923760" y="4280760"/>
            <a:ext cx="1980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challenges in practice.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6148080" y="2309760"/>
            <a:ext cx="5277240" cy="2362320"/>
          </a:xfrm>
          <a:custGeom>
            <a:avLst/>
            <a:gdLst/>
            <a:ahLst/>
            <a:rect l="0" t="0" r="r" b="b"/>
            <a:pathLst>
              <a:path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6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7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6148080" y="2309760"/>
            <a:ext cx="5277240" cy="2362320"/>
          </a:xfrm>
          <a:custGeom>
            <a:avLst/>
            <a:gdLst/>
            <a:ahLst/>
            <a:rect l="0" t="0" r="r" b="b"/>
            <a:pathLst>
              <a:path fill="none" w="14659" h="6562">
                <a:moveTo>
                  <a:pt x="0" y="641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29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89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417"/>
                </a:lnTo>
                <a:cubicBezTo>
                  <a:pt x="14659" y="6426"/>
                  <a:pt x="14658" y="6436"/>
                  <a:pt x="14656" y="6445"/>
                </a:cubicBezTo>
                <a:cubicBezTo>
                  <a:pt x="14655" y="6455"/>
                  <a:pt x="14652" y="6464"/>
                  <a:pt x="14648" y="6472"/>
                </a:cubicBezTo>
                <a:cubicBezTo>
                  <a:pt x="14645" y="6481"/>
                  <a:pt x="14640" y="6490"/>
                  <a:pt x="14635" y="6498"/>
                </a:cubicBezTo>
                <a:cubicBezTo>
                  <a:pt x="14629" y="6506"/>
                  <a:pt x="14623" y="6513"/>
                  <a:pt x="14617" y="6520"/>
                </a:cubicBezTo>
                <a:cubicBezTo>
                  <a:pt x="14610" y="6526"/>
                  <a:pt x="14603" y="6532"/>
                  <a:pt x="14595" y="6538"/>
                </a:cubicBezTo>
                <a:cubicBezTo>
                  <a:pt x="14587" y="6543"/>
                  <a:pt x="14578" y="6548"/>
                  <a:pt x="14569" y="6551"/>
                </a:cubicBezTo>
                <a:cubicBezTo>
                  <a:pt x="14561" y="6555"/>
                  <a:pt x="14552" y="6558"/>
                  <a:pt x="14542" y="6560"/>
                </a:cubicBezTo>
                <a:cubicBezTo>
                  <a:pt x="14533" y="6561"/>
                  <a:pt x="14523" y="6562"/>
                  <a:pt x="14514" y="6562"/>
                </a:cubicBezTo>
                <a:lnTo>
                  <a:pt x="146" y="6562"/>
                </a:lnTo>
                <a:cubicBezTo>
                  <a:pt x="136" y="6562"/>
                  <a:pt x="127" y="6561"/>
                  <a:pt x="117" y="6560"/>
                </a:cubicBezTo>
                <a:cubicBezTo>
                  <a:pt x="108" y="6558"/>
                  <a:pt x="99" y="6555"/>
                  <a:pt x="90" y="6551"/>
                </a:cubicBezTo>
                <a:cubicBezTo>
                  <a:pt x="81" y="6548"/>
                  <a:pt x="73" y="6543"/>
                  <a:pt x="65" y="6538"/>
                </a:cubicBezTo>
                <a:cubicBezTo>
                  <a:pt x="57" y="6532"/>
                  <a:pt x="50" y="6526"/>
                  <a:pt x="43" y="6520"/>
                </a:cubicBezTo>
                <a:cubicBezTo>
                  <a:pt x="36" y="6513"/>
                  <a:pt x="30" y="6506"/>
                  <a:pt x="25" y="6498"/>
                </a:cubicBezTo>
                <a:cubicBezTo>
                  <a:pt x="20" y="6490"/>
                  <a:pt x="15" y="6481"/>
                  <a:pt x="11" y="6472"/>
                </a:cubicBezTo>
                <a:cubicBezTo>
                  <a:pt x="8" y="6464"/>
                  <a:pt x="5" y="6455"/>
                  <a:pt x="3" y="6445"/>
                </a:cubicBezTo>
                <a:cubicBezTo>
                  <a:pt x="1" y="6436"/>
                  <a:pt x="0" y="6426"/>
                  <a:pt x="0" y="6417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1203120" y="2512440"/>
            <a:ext cx="210312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16c4c2"/>
                </a:solidFill>
                <a:effectLst/>
                <a:uFillTx/>
                <a:latin typeface="LucidaGrande"/>
                <a:ea typeface="LucidaGrande"/>
              </a:rPr>
              <a:t>Monolithic 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305400" y="2909160"/>
            <a:ext cx="4596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Distributed design optimization, on the other hand,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6305400" y="3185640"/>
            <a:ext cx="3912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decomposes the global design problem into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6305400" y="3461760"/>
            <a:ext cx="457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subproblems, each associated with a component or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6305400" y="3737880"/>
            <a:ext cx="4988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subsystem. Coordination is then required to ensure that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6305400" y="4014000"/>
            <a:ext cx="49068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 subproblem solutions are compatible and converge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6381720" y="2523960"/>
            <a:ext cx="76320" cy="38520"/>
          </a:xfrm>
          <a:custGeom>
            <a:avLst/>
            <a:gdLst/>
            <a:ahLst/>
            <a:rect l="0" t="0" r="r" b="b"/>
            <a:pathLst>
              <a:path fill="none" w="212" h="107">
                <a:moveTo>
                  <a:pt x="26" y="0"/>
                </a:moveTo>
                <a:lnTo>
                  <a:pt x="186" y="0"/>
                </a:lnTo>
                <a:cubicBezTo>
                  <a:pt x="193" y="0"/>
                  <a:pt x="199" y="3"/>
                  <a:pt x="204" y="8"/>
                </a:cubicBezTo>
                <a:cubicBezTo>
                  <a:pt x="210" y="13"/>
                  <a:pt x="212" y="19"/>
                  <a:pt x="212" y="26"/>
                </a:cubicBezTo>
                <a:lnTo>
                  <a:pt x="212" y="80"/>
                </a:lnTo>
                <a:cubicBezTo>
                  <a:pt x="212" y="88"/>
                  <a:pt x="210" y="94"/>
                  <a:pt x="204" y="99"/>
                </a:cubicBezTo>
                <a:cubicBezTo>
                  <a:pt x="199" y="104"/>
                  <a:pt x="193" y="107"/>
                  <a:pt x="186" y="107"/>
                </a:cubicBezTo>
                <a:lnTo>
                  <a:pt x="26" y="107"/>
                </a:lnTo>
                <a:cubicBezTo>
                  <a:pt x="19" y="107"/>
                  <a:pt x="12" y="104"/>
                  <a:pt x="7" y="99"/>
                </a:cubicBezTo>
                <a:cubicBezTo>
                  <a:pt x="2" y="94"/>
                  <a:pt x="0" y="88"/>
                  <a:pt x="0" y="80"/>
                </a:cubicBezTo>
                <a:lnTo>
                  <a:pt x="0" y="26"/>
                </a:lnTo>
                <a:cubicBezTo>
                  <a:pt x="0" y="19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6343560" y="2543040"/>
            <a:ext cx="152640" cy="171720"/>
          </a:xfrm>
          <a:custGeom>
            <a:avLst/>
            <a:gdLst/>
            <a:ahLst/>
            <a:rect l="0" t="0" r="r" b="b"/>
            <a:pathLst>
              <a:path fill="none" w="424" h="477">
                <a:moveTo>
                  <a:pt x="317" y="0"/>
                </a:moveTo>
                <a:lnTo>
                  <a:pt x="371" y="0"/>
                </a:lnTo>
                <a:cubicBezTo>
                  <a:pt x="378" y="0"/>
                  <a:pt x="385" y="1"/>
                  <a:pt x="391" y="4"/>
                </a:cubicBezTo>
                <a:cubicBezTo>
                  <a:pt x="398" y="7"/>
                  <a:pt x="404" y="10"/>
                  <a:pt x="409" y="15"/>
                </a:cubicBezTo>
                <a:cubicBezTo>
                  <a:pt x="414" y="20"/>
                  <a:pt x="417" y="26"/>
                  <a:pt x="420" y="33"/>
                </a:cubicBezTo>
                <a:cubicBezTo>
                  <a:pt x="423" y="39"/>
                  <a:pt x="424" y="46"/>
                  <a:pt x="424" y="53"/>
                </a:cubicBezTo>
                <a:lnTo>
                  <a:pt x="424" y="424"/>
                </a:lnTo>
                <a:cubicBezTo>
                  <a:pt x="424" y="431"/>
                  <a:pt x="423" y="438"/>
                  <a:pt x="420" y="444"/>
                </a:cubicBezTo>
                <a:cubicBezTo>
                  <a:pt x="417" y="451"/>
                  <a:pt x="414" y="457"/>
                  <a:pt x="409" y="462"/>
                </a:cubicBezTo>
                <a:cubicBezTo>
                  <a:pt x="404" y="467"/>
                  <a:pt x="398" y="470"/>
                  <a:pt x="391" y="473"/>
                </a:cubicBezTo>
                <a:cubicBezTo>
                  <a:pt x="385" y="476"/>
                  <a:pt x="378" y="477"/>
                  <a:pt x="371" y="477"/>
                </a:cubicBezTo>
                <a:lnTo>
                  <a:pt x="53" y="477"/>
                </a:lnTo>
                <a:cubicBezTo>
                  <a:pt x="46" y="477"/>
                  <a:pt x="39" y="476"/>
                  <a:pt x="32" y="473"/>
                </a:cubicBezTo>
                <a:cubicBezTo>
                  <a:pt x="26" y="470"/>
                  <a:pt x="20" y="467"/>
                  <a:pt x="15" y="462"/>
                </a:cubicBezTo>
                <a:cubicBezTo>
                  <a:pt x="10" y="457"/>
                  <a:pt x="6" y="451"/>
                  <a:pt x="4" y="444"/>
                </a:cubicBezTo>
                <a:cubicBezTo>
                  <a:pt x="1" y="438"/>
                  <a:pt x="0" y="431"/>
                  <a:pt x="0" y="424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0"/>
                  <a:pt x="15" y="15"/>
                </a:cubicBezTo>
                <a:cubicBezTo>
                  <a:pt x="20" y="10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lnTo>
                  <a:pt x="106" y="0"/>
                </a:lnTo>
                <a:moveTo>
                  <a:pt x="211" y="185"/>
                </a:moveTo>
                <a:lnTo>
                  <a:pt x="317" y="185"/>
                </a:lnTo>
                <a:moveTo>
                  <a:pt x="211" y="318"/>
                </a:moveTo>
                <a:lnTo>
                  <a:pt x="317" y="318"/>
                </a:lnTo>
                <a:moveTo>
                  <a:pt x="106" y="185"/>
                </a:moveTo>
                <a:moveTo>
                  <a:pt x="106" y="318"/>
                </a:moveTo>
              </a:path>
            </a:pathLst>
          </a:custGeom>
          <a:ln cap="rnd" w="18720">
            <a:solidFill>
              <a:srgbClr val="16c4c2"/>
            </a:solidFill>
            <a:round/>
          </a:ln>
        </p:spPr>
        <p:txBody>
          <a:bodyPr lIns="9360" rIns="9360" tIns="9360" bIns="936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05400" y="4280760"/>
            <a:ext cx="24505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to a system-level optimum.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584760" y="2512440"/>
            <a:ext cx="2201400" cy="270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00" strike="noStrike" u="none">
                <a:solidFill>
                  <a:srgbClr val="16c4c2"/>
                </a:solidFill>
                <a:effectLst/>
                <a:uFillTx/>
                <a:latin typeface="LucidaGrande"/>
                <a:ea typeface="LucidaGrande"/>
              </a:rPr>
              <a:t>Distributed design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9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0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1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762120" y="372600"/>
            <a:ext cx="2840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Question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1" name=""/>
          <p:cNvSpPr txBox="1"/>
          <p:nvPr/>
        </p:nvSpPr>
        <p:spPr>
          <a:xfrm>
            <a:off x="762120" y="2765880"/>
            <a:ext cx="1033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Systematic design provides a structured and methodical way to manage the complexity inherent in large,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62120" y="3070440"/>
            <a:ext cx="2658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multi-component systems.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762120" y="3527640"/>
            <a:ext cx="10583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 is both a mindset and a methodology, drawing from systems thinking, optimisation, and domain-speciﬁc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762120" y="3832560"/>
            <a:ext cx="2178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engineering practices.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762120" y="4280400"/>
            <a:ext cx="10563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integrating stakeholder needs, technical constraints, and adaptive feedback, systematic design becomes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762120" y="4584960"/>
            <a:ext cx="8902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essential not just for building systems that work, but for building systems that can evolve.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05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