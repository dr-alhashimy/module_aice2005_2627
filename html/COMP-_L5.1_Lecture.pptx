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65" r:id="rId2"/>
    <p:sldId id="366" r:id="rId3"/>
    <p:sldId id="308" r:id="rId4"/>
    <p:sldId id="281" r:id="rId5"/>
    <p:sldId id="357" r:id="rId6"/>
    <p:sldId id="282" r:id="rId7"/>
    <p:sldId id="377" r:id="rId8"/>
    <p:sldId id="283" r:id="rId9"/>
    <p:sldId id="379" r:id="rId10"/>
    <p:sldId id="380" r:id="rId11"/>
    <p:sldId id="382" r:id="rId12"/>
    <p:sldId id="284" r:id="rId13"/>
    <p:sldId id="285" r:id="rId14"/>
    <p:sldId id="328" r:id="rId15"/>
    <p:sldId id="329" r:id="rId16"/>
    <p:sldId id="35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1"/>
    <p:restoredTop sz="96534"/>
  </p:normalViewPr>
  <p:slideViewPr>
    <p:cSldViewPr snapToGrid="0" snapToObjects="1">
      <p:cViewPr varScale="1">
        <p:scale>
          <a:sx n="113" d="100"/>
          <a:sy n="113" d="100"/>
        </p:scale>
        <p:origin x="2352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12/10/2026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University of Southampton logo">
            <a:extLst>
              <a:ext uri="{FF2B5EF4-FFF2-40B4-BE49-F238E27FC236}">
                <a16:creationId xmlns:a16="http://schemas.microsoft.com/office/drawing/2014/main" id="{4CDAB602-A350-5F02-2542-EE1B5012B87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06640" y="6384033"/>
            <a:ext cx="1371600" cy="291086"/>
          </a:xfrm>
          <a:prstGeom prst="rect">
            <a:avLst/>
          </a:prstGeom>
        </p:spPr>
      </p:pic>
      <p:sp>
        <p:nvSpPr>
          <p:cNvPr id="8" name="Footer slide number">
            <a:extLst>
              <a:ext uri="{FF2B5EF4-FFF2-40B4-BE49-F238E27FC236}">
                <a16:creationId xmlns:a16="http://schemas.microsoft.com/office/drawing/2014/main" id="{7C4F2338-8643-7AC2-221A-66670A2D95C8}"/>
              </a:ext>
            </a:extLst>
          </p:cNvPr>
          <p:cNvSpPr txBox="1"/>
          <p:nvPr userDrawn="1"/>
        </p:nvSpPr>
        <p:spPr>
          <a:xfrm>
            <a:off x="365760" y="6384033"/>
            <a:ext cx="4572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fld id="{B6F15528-21DE-4FAA-801E-634DDDAF4B2B}" type="slidenum">
              <a:rPr lang="en-GB" sz="1400" dirty="0">
                <a:solidFill>
                  <a:srgbClr val="1F497D"/>
                </a:solidFill>
              </a:rPr>
              <a:t>‹#›</a:t>
            </a:fld>
            <a:endParaRPr lang="en-GB" sz="1400" dirty="0">
              <a:solidFill>
                <a:srgbClr val="1F497D"/>
              </a:solidFill>
            </a:endParaRPr>
          </a:p>
        </p:txBody>
      </p:sp>
      <p:sp>
        <p:nvSpPr>
          <p:cNvPr id="9" name="Footer SEAtS">
            <a:extLst>
              <a:ext uri="{FF2B5EF4-FFF2-40B4-BE49-F238E27FC236}">
                <a16:creationId xmlns:a16="http://schemas.microsoft.com/office/drawing/2014/main" id="{6CC30E9B-3348-9C5B-131A-DB8D58B63FA3}"/>
              </a:ext>
            </a:extLst>
          </p:cNvPr>
          <p:cNvSpPr txBox="1"/>
          <p:nvPr userDrawn="1"/>
        </p:nvSpPr>
        <p:spPr>
          <a:xfrm>
            <a:off x="742950" y="6430390"/>
            <a:ext cx="32004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1F497D"/>
                </a:solidFill>
              </a:rPr>
              <a:t>SEAtS | 467636</a:t>
            </a:r>
          </a:p>
          <a:p>
            <a:r>
              <a:rPr lang="en-GB" sz="800" b="1" dirty="0">
                <a:solidFill>
                  <a:srgbClr val="8C8C8C"/>
                </a:solidFill>
              </a:rPr>
              <a:t>© University of Southampton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B50E-4528-40CA-A3C9-43E58E52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9385-1689-589E-9296-26626030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61AD4-5A9F-5478-176F-1425708F1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039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4FE4-E1D0-CA95-F4C1-C3611CF8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EAB6-95A8-F1DC-6D6C-14C43635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68820-573D-CBE4-3134-8D69CB07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>
                <a:solidFill>
                  <a:schemeClr val="tx2"/>
                </a:solidFill>
              </a:rPr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55764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E59C-5CB2-A489-14F0-0A10E98E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B86D16-2405-6972-FB52-CE174332B7D4}"/>
              </a:ext>
            </a:extLst>
          </p:cNvPr>
          <p:cNvSpPr txBox="1"/>
          <p:nvPr/>
        </p:nvSpPr>
        <p:spPr>
          <a:xfrm>
            <a:off x="603115" y="1630996"/>
            <a:ext cx="79377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4: </a:t>
            </a:r>
          </a:p>
          <a:p>
            <a:pPr algn="ctr"/>
            <a:endParaRPr lang="en-US" sz="3000" b="1" dirty="0">
              <a:solidFill>
                <a:schemeClr val="tx2"/>
              </a:solidFill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Formal Verification Methods </a:t>
            </a:r>
            <a:endParaRPr lang="en-US" sz="3000" b="1" dirty="0">
              <a:solidFill>
                <a:schemeClr val="tx2"/>
              </a:solidFill>
            </a:endParaRPr>
          </a:p>
        </p:txBody>
      </p:sp>
      <p:pic>
        <p:nvPicPr>
          <p:cNvPr id="3" name="Picture 2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D46EB5BB-E394-6C6B-9689-8549239F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580" y="3338689"/>
            <a:ext cx="2314840" cy="231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A5754B-7265-89F4-32C6-5C95B1841DE6}"/>
              </a:ext>
            </a:extLst>
          </p:cNvPr>
          <p:cNvSpPr txBox="1"/>
          <p:nvPr/>
        </p:nvSpPr>
        <p:spPr>
          <a:xfrm>
            <a:off x="3965222" y="5742001"/>
            <a:ext cx="1213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2400" dirty="0"/>
              <a:t>467636</a:t>
            </a:r>
          </a:p>
        </p:txBody>
      </p:sp>
    </p:spTree>
    <p:extLst>
      <p:ext uri="{BB962C8B-B14F-4D97-AF65-F5344CB8AC3E}">
        <p14:creationId xmlns:p14="http://schemas.microsoft.com/office/powerpoint/2010/main" val="396279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0"/>
            <a:ext cx="85344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325563"/>
            <a:ext cx="85344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Verification Overview</a:t>
            </a:r>
            <a:endParaRPr lang="en-US" dirty="0"/>
          </a:p>
          <a:p>
            <a:r>
              <a:rPr lang="en-US" dirty="0"/>
              <a:t>V &amp; V : Validation and Verification</a:t>
            </a:r>
            <a:endParaRPr dirty="0"/>
          </a:p>
          <a:p>
            <a:r>
              <a:rPr dirty="0"/>
              <a:t>Model Checking </a:t>
            </a:r>
            <a:r>
              <a:rPr lang="en-US" dirty="0"/>
              <a:t>and Animation</a:t>
            </a:r>
          </a:p>
          <a:p>
            <a:r>
              <a:rPr dirty="0"/>
              <a:t>Theorem Proving and Proof Obligations (Event-B focus)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Understand model checking process and limitations</a:t>
            </a:r>
            <a:endParaRPr lang="en-US" dirty="0"/>
          </a:p>
          <a:p>
            <a:r>
              <a:rPr lang="en-US" dirty="0"/>
              <a:t>Understand the role of animation in validation</a:t>
            </a:r>
            <a:endParaRPr dirty="0"/>
          </a:p>
          <a:p>
            <a:r>
              <a:rPr dirty="0"/>
              <a:t>Apply proof obligation techniques in Event-B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F49B-6D7B-DB50-7843-60C3B393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950B-55D5-8914-D11A-194F6D1D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Set theory and Logic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0D3CC-FC53-86E0-9901-2E91C559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58" y="1600201"/>
            <a:ext cx="8801101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111827"/>
                </a:solidFill>
              </a:rPr>
              <a:t>Basic Set Operations: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1827"/>
                </a:solidFill>
              </a:rPr>
              <a:t>		</a:t>
            </a:r>
            <a:r>
              <a:rPr lang="en-US" sz="2000" dirty="0"/>
              <a:t>Union: A ∪ B, Intersection: A ∩ B Difference: A \ B Power Set: </a:t>
            </a:r>
            <a:r>
              <a:rPr lang="en-US" sz="2000" dirty="0" err="1"/>
              <a:t>ℙ</a:t>
            </a:r>
            <a:r>
              <a:rPr lang="en-US" sz="2000" dirty="0"/>
              <a:t>(A)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Relations and Functions: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Total Relation: A ↔ B, Partial Function: A ⇸ B, Injection: A ↣ B, Surjection: A ↠ B, Bijection: A ⤖ B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b="1" dirty="0"/>
              <a:t>Logic Foundation: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Negation: ¬, Conjunction: P ∧ Q, Disjunction: P ∨ Q, Implication: P → Q, Equivalence: P ↔ Q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Universal: ∀x, Existential: ∃x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b="1" dirty="0"/>
              <a:t>Linear Temporal Logic (LTL):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000" dirty="0"/>
              <a:t>Next: ○</a:t>
            </a:r>
            <a:r>
              <a:rPr lang="el-GR" sz="2000" dirty="0"/>
              <a:t>φ</a:t>
            </a:r>
            <a:r>
              <a:rPr lang="en-US" sz="2000" dirty="0"/>
              <a:t>, Eventually: ◊</a:t>
            </a:r>
            <a:r>
              <a:rPr lang="el-GR" sz="2000" dirty="0"/>
              <a:t>φ</a:t>
            </a:r>
            <a:r>
              <a:rPr lang="en-US" sz="2000" dirty="0"/>
              <a:t>, Always: □, Until: </a:t>
            </a:r>
            <a:r>
              <a:rPr lang="el-GR" sz="2000" dirty="0"/>
              <a:t>φ </a:t>
            </a:r>
            <a:r>
              <a:rPr lang="en-US" sz="2000" dirty="0"/>
              <a:t>U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b="1" dirty="0"/>
          </a:p>
          <a:p>
            <a:pPr>
              <a:spcBef>
                <a:spcPts val="0"/>
              </a:spcBef>
            </a:pPr>
            <a:endParaRPr lang="en-US" b="1" dirty="0">
              <a:solidFill>
                <a:srgbClr val="4338CA"/>
              </a:solidFill>
            </a:endParaRPr>
          </a:p>
          <a:p>
            <a:endParaRPr lang="en-001" dirty="0"/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90838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What is Formal Verification?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87" y="2213134"/>
            <a:ext cx="8009426" cy="366012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b="1" dirty="0"/>
              <a:t>Verification vs Validation</a:t>
            </a:r>
            <a:endParaRPr lang="en-US" b="1" dirty="0"/>
          </a:p>
          <a:p>
            <a:pPr marL="0" indent="0" algn="ctr">
              <a:buNone/>
            </a:pPr>
            <a:endParaRPr sz="1800" b="1" dirty="0"/>
          </a:p>
          <a:p>
            <a:pPr algn="ctr"/>
            <a:r>
              <a:rPr sz="1800" b="1" dirty="0"/>
              <a:t>Verification: "Are we building the </a:t>
            </a:r>
            <a:r>
              <a:rPr lang="en-US" sz="1800" b="1" dirty="0"/>
              <a:t>System</a:t>
            </a:r>
            <a:r>
              <a:rPr sz="1800" b="1" dirty="0"/>
              <a:t> right?"</a:t>
            </a:r>
            <a:endParaRPr lang="en-US" sz="1800" b="1" dirty="0"/>
          </a:p>
          <a:p>
            <a:pPr lvl="1" algn="ctr"/>
            <a:r>
              <a:rPr sz="1600" b="1" dirty="0"/>
              <a:t> </a:t>
            </a:r>
            <a:r>
              <a:rPr sz="1600" dirty="0"/>
              <a:t>Mathematical correctness</a:t>
            </a:r>
            <a:endParaRPr lang="en-US" sz="1600" dirty="0"/>
          </a:p>
          <a:p>
            <a:pPr lvl="1" algn="ctr"/>
            <a:r>
              <a:rPr sz="1600" dirty="0"/>
              <a:t>Formal proofs</a:t>
            </a:r>
            <a:endParaRPr lang="en-US" sz="1600" dirty="0"/>
          </a:p>
          <a:p>
            <a:pPr lvl="1" algn="ctr"/>
            <a:endParaRPr sz="1500" dirty="0"/>
          </a:p>
          <a:p>
            <a:pPr algn="ctr"/>
            <a:r>
              <a:rPr sz="1800" b="1" dirty="0"/>
              <a:t>Validation: "Are we building the right </a:t>
            </a:r>
            <a:r>
              <a:rPr lang="en-US" sz="1800" b="1" dirty="0"/>
              <a:t>system</a:t>
            </a:r>
            <a:r>
              <a:rPr sz="1800" b="1" dirty="0"/>
              <a:t>?"</a:t>
            </a:r>
            <a:r>
              <a:rPr sz="1800" dirty="0"/>
              <a:t> </a:t>
            </a:r>
            <a:endParaRPr lang="en-US" sz="1800" dirty="0"/>
          </a:p>
          <a:p>
            <a:pPr lvl="1" algn="ctr"/>
            <a:r>
              <a:rPr sz="1600" dirty="0"/>
              <a:t>Stakeholder requirements satisfaction </a:t>
            </a:r>
            <a:endParaRPr lang="en-US" sz="1600" dirty="0"/>
          </a:p>
          <a:p>
            <a:pPr lvl="1" algn="ctr"/>
            <a:r>
              <a:rPr sz="1600" dirty="0"/>
              <a:t>User acceptance, testing</a:t>
            </a:r>
          </a:p>
          <a:p>
            <a:pPr algn="ctr"/>
            <a:endParaRPr sz="1800" dirty="0"/>
          </a:p>
          <a:p>
            <a:pPr marL="0" indent="0" algn="ctr">
              <a:buNone/>
            </a:pPr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8B8AA-F879-D015-CBA4-C5F1D870F6BE}"/>
              </a:ext>
            </a:extLst>
          </p:cNvPr>
          <p:cNvSpPr txBox="1"/>
          <p:nvPr/>
        </p:nvSpPr>
        <p:spPr>
          <a:xfrm>
            <a:off x="290511" y="1224350"/>
            <a:ext cx="8562975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Formal verification is the use of </a:t>
            </a:r>
            <a:r>
              <a:rPr lang="en-US" sz="2000" b="1" dirty="0"/>
              <a:t>mathematical methods </a:t>
            </a:r>
            <a:r>
              <a:rPr lang="en-US" sz="2000" dirty="0"/>
              <a:t>to </a:t>
            </a:r>
          </a:p>
          <a:p>
            <a:pPr algn="ctr"/>
            <a:r>
              <a:rPr lang="en-US" sz="2000" b="1" dirty="0"/>
              <a:t>prove or disprove </a:t>
            </a:r>
            <a:r>
              <a:rPr lang="en-US" sz="2000" dirty="0"/>
              <a:t>the </a:t>
            </a:r>
            <a:r>
              <a:rPr lang="en-US" sz="2000" b="1" dirty="0"/>
              <a:t>correctness</a:t>
            </a:r>
            <a:r>
              <a:rPr lang="en-US" sz="2000" dirty="0"/>
              <a:t> of a system with respect to its </a:t>
            </a:r>
            <a:r>
              <a:rPr lang="en-US" sz="2000" b="1" dirty="0"/>
              <a:t>specification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127B-F220-DF6D-08F3-D59D4368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9277-9CEB-C34B-8CCC-C16D7FF4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Verification &amp; Validation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V &amp; V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8D4F3CF-DE32-88AA-B6DA-7E3D02F6A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4" y="1638981"/>
            <a:ext cx="8703312" cy="388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0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4" y="0"/>
            <a:ext cx="85439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Model Checking </a:t>
            </a:r>
            <a:r>
              <a:rPr lang="en-US" b="1" dirty="0">
                <a:solidFill>
                  <a:schemeClr val="tx2"/>
                </a:solidFill>
              </a:rPr>
              <a:t>for Verification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4" y="2615897"/>
            <a:ext cx="8543925" cy="566884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b="1" dirty="0"/>
              <a:t>Model Checking for Event-B (</a:t>
            </a:r>
            <a:r>
              <a:rPr b="1" dirty="0" err="1"/>
              <a:t>ProB</a:t>
            </a:r>
            <a:r>
              <a:rPr b="1" dirty="0"/>
              <a:t>):</a:t>
            </a:r>
          </a:p>
          <a:p>
            <a:r>
              <a:rPr sz="1800" b="1" dirty="0"/>
              <a:t>State Space Exploration: </a:t>
            </a:r>
            <a:r>
              <a:rPr sz="1800" dirty="0"/>
              <a:t>Generate all reachable states</a:t>
            </a:r>
          </a:p>
          <a:p>
            <a:r>
              <a:rPr sz="1800" b="1" dirty="0"/>
              <a:t>Invariant Checking: </a:t>
            </a:r>
            <a:r>
              <a:rPr sz="1800" dirty="0"/>
              <a:t>Verify invariants hold in all states</a:t>
            </a:r>
          </a:p>
          <a:p>
            <a:r>
              <a:rPr sz="1800" b="1" dirty="0"/>
              <a:t>Deadlock Detection: </a:t>
            </a:r>
            <a:r>
              <a:rPr sz="1800" dirty="0"/>
              <a:t>Find states with no enabled events</a:t>
            </a:r>
          </a:p>
          <a:p>
            <a:pPr marL="0" indent="0">
              <a:buNone/>
            </a:pPr>
            <a:endParaRPr sz="1800" dirty="0"/>
          </a:p>
          <a:p>
            <a:pPr marL="0" indent="0" algn="ctr">
              <a:buNone/>
            </a:pPr>
            <a:r>
              <a:rPr b="1" dirty="0"/>
              <a:t>State Explosion Problem:</a:t>
            </a:r>
          </a:p>
          <a:p>
            <a:r>
              <a:rPr sz="1800" dirty="0"/>
              <a:t>Consider ATM with multiple cards and accounts:</a:t>
            </a:r>
          </a:p>
          <a:p>
            <a:r>
              <a:rPr sz="1800" dirty="0"/>
              <a:t>10 card types × 5 account types × 4 session states × 3 PIN attempt counts = 600 states</a:t>
            </a:r>
          </a:p>
          <a:p>
            <a:r>
              <a:rPr sz="1800" dirty="0"/>
              <a:t>Add concurrency: 2 ATMs = 600² = 360,000 states</a:t>
            </a:r>
          </a:p>
          <a:p>
            <a:r>
              <a:rPr sz="1800" b="1" dirty="0"/>
              <a:t>Mitigation: Use abstraction, limit parameter ranges</a:t>
            </a:r>
            <a:endParaRPr sz="1800" dirty="0"/>
          </a:p>
          <a:p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06DA1-0FD0-B788-E202-39D133EE18C2}"/>
              </a:ext>
            </a:extLst>
          </p:cNvPr>
          <p:cNvSpPr txBox="1"/>
          <p:nvPr/>
        </p:nvSpPr>
        <p:spPr>
          <a:xfrm>
            <a:off x="390524" y="1143000"/>
            <a:ext cx="8562975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Purpose:</a:t>
            </a:r>
            <a:r>
              <a:rPr lang="en-US" sz="2000" dirty="0"/>
              <a:t>  Automatically explore </a:t>
            </a:r>
            <a:r>
              <a:rPr lang="en-US" sz="2000" b="1" dirty="0"/>
              <a:t>ALL possible states </a:t>
            </a:r>
            <a:r>
              <a:rPr lang="en-US" sz="2000" dirty="0"/>
              <a:t>to verify safety properties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What is Model Checking?</a:t>
            </a:r>
          </a:p>
          <a:p>
            <a:pPr algn="ctr"/>
            <a:r>
              <a:rPr lang="en-US" sz="2000" b="1" dirty="0"/>
              <a:t>Automatic exploration</a:t>
            </a:r>
            <a:r>
              <a:rPr lang="en-US" sz="2000" dirty="0"/>
              <a:t> of your formal model where a tool checks ALL possible states to verify that safety properties always hold.</a:t>
            </a:r>
            <a:endParaRPr lang="en-001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ACAA-7D3F-355F-2FCA-513B3207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0D84-21EA-A83E-4878-88050BD2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-214529"/>
            <a:ext cx="85915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Model Checking Example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63C52-85BF-305E-8395-DA8CC5CB16C7}"/>
              </a:ext>
            </a:extLst>
          </p:cNvPr>
          <p:cNvSpPr txBox="1"/>
          <p:nvPr/>
        </p:nvSpPr>
        <p:spPr>
          <a:xfrm>
            <a:off x="210127" y="659737"/>
            <a:ext cx="3323880" cy="61247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MACHINE</a:t>
            </a:r>
            <a:r>
              <a:rPr lang="en-US" sz="1400" dirty="0"/>
              <a:t> DoorControl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SEES</a:t>
            </a:r>
            <a:r>
              <a:rPr lang="en-US" sz="1400" dirty="0"/>
              <a:t> DoorContext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VARIABLES</a:t>
            </a:r>
            <a:r>
              <a:rPr lang="en-US" sz="1400" dirty="0"/>
              <a:t> door train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INVARIANTS</a:t>
            </a:r>
            <a:r>
              <a:rPr lang="en-US" sz="1400" dirty="0"/>
              <a:t> </a:t>
            </a:r>
          </a:p>
          <a:p>
            <a:r>
              <a:rPr lang="en-US" sz="1400" dirty="0"/>
              <a:t>	door ∈ DOOR_STATE </a:t>
            </a:r>
          </a:p>
          <a:p>
            <a:r>
              <a:rPr lang="en-US" sz="1400" dirty="0"/>
              <a:t>	train ∈ TRAIN_STATE </a:t>
            </a:r>
          </a:p>
          <a:p>
            <a:r>
              <a:rPr lang="en-US" sz="1400" dirty="0"/>
              <a:t>	door = OPEN ⇒ train = PRESENT   </a:t>
            </a:r>
          </a:p>
          <a:p>
            <a:r>
              <a:rPr lang="en-US" sz="1400" dirty="0"/>
              <a:t>	train = MOVING ⇒ door = CLOSED    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INITIALISATION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CLOSED </a:t>
            </a:r>
          </a:p>
          <a:p>
            <a:r>
              <a:rPr lang="en-US" sz="1400" dirty="0"/>
              <a:t>	train := ABSENT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EVENTS</a:t>
            </a:r>
            <a:r>
              <a:rPr lang="en-US" sz="1400" dirty="0"/>
              <a:t> </a:t>
            </a:r>
          </a:p>
          <a:p>
            <a:r>
              <a:rPr lang="en-US" sz="1400" dirty="0"/>
              <a:t>OpenDoors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PRESENT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OPEN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CloseDoors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door = OPEN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 door := CLOSE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TrainArrives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ABSENT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PRESENT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TrainDeparts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= CLOSED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MOVING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dirty="0"/>
              <a:t>TrainContinues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train = MOVING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ABSENT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END</a:t>
            </a:r>
            <a:r>
              <a:rPr lang="en-US" sz="14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7C577-FF6A-5217-180D-8D0BFE064DAF}"/>
              </a:ext>
            </a:extLst>
          </p:cNvPr>
          <p:cNvSpPr txBox="1"/>
          <p:nvPr/>
        </p:nvSpPr>
        <p:spPr>
          <a:xfrm>
            <a:off x="3600105" y="928471"/>
            <a:ext cx="5333768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b="1" dirty="0"/>
              <a:t>Formal Specification: </a:t>
            </a:r>
          </a:p>
          <a:p>
            <a:endParaRPr lang="en-001" b="1" dirty="0"/>
          </a:p>
          <a:p>
            <a:r>
              <a:rPr lang="en-US" dirty="0"/>
              <a:t>SAFETY PROPERTY</a:t>
            </a:r>
            <a:r>
              <a:rPr lang="en-US" b="1" dirty="0">
                <a:solidFill>
                  <a:schemeClr val="tx2"/>
                </a:solidFill>
              </a:rPr>
              <a:t>: ¬(door = OPEN ∧ train = MOVING)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b="1" dirty="0"/>
              <a:t>Model Checker explores ALL possible state sequences: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/>
                </a:solidFill>
              </a:rPr>
              <a:t>State 1: door=CLOSED, train=ABSENT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[TrainArrives]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2: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[OpenDoors]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3: door=OPEN,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[CloseDoors]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4: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[TrainDeparts]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5: door=CLOSED, train=MOVING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↓ [TrainContinues]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5: door=CLOSED, train=ABSENT ✓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/>
              <a:t>Model Checker Result: ✓ Safety PROPERTY HOLDS</a:t>
            </a:r>
          </a:p>
        </p:txBody>
      </p:sp>
    </p:spTree>
    <p:extLst>
      <p:ext uri="{BB962C8B-B14F-4D97-AF65-F5344CB8AC3E}">
        <p14:creationId xmlns:p14="http://schemas.microsoft.com/office/powerpoint/2010/main" val="401410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D2AB-2451-CC88-380D-C33C627A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C9A1-A2F8-9D2D-6EE6-48D26A9E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-214529"/>
            <a:ext cx="85915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Model Checking Example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6F379-7BA1-CC55-1003-F638BB66DF30}"/>
              </a:ext>
            </a:extLst>
          </p:cNvPr>
          <p:cNvSpPr txBox="1"/>
          <p:nvPr/>
        </p:nvSpPr>
        <p:spPr>
          <a:xfrm>
            <a:off x="210127" y="659737"/>
            <a:ext cx="3323880" cy="54784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MACHINE</a:t>
            </a:r>
            <a:r>
              <a:rPr lang="en-US" sz="1400" dirty="0"/>
              <a:t> DoorControl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SEES</a:t>
            </a:r>
            <a:r>
              <a:rPr lang="en-US" sz="1400" dirty="0"/>
              <a:t> DoorContext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VARIABLES</a:t>
            </a:r>
            <a:r>
              <a:rPr lang="en-US" sz="1400" dirty="0"/>
              <a:t> door train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INVARIANTS</a:t>
            </a:r>
            <a:r>
              <a:rPr lang="en-US" sz="1400" dirty="0"/>
              <a:t> </a:t>
            </a:r>
          </a:p>
          <a:p>
            <a:r>
              <a:rPr lang="en-US" sz="1400" dirty="0"/>
              <a:t>	door ∈ DOOR_STATE </a:t>
            </a:r>
          </a:p>
          <a:p>
            <a:r>
              <a:rPr lang="en-US" sz="1400" dirty="0"/>
              <a:t>	train ∈ TRAIN_STATE </a:t>
            </a:r>
          </a:p>
          <a:p>
            <a:r>
              <a:rPr lang="en-US" sz="1400" dirty="0"/>
              <a:t>	door = OPEN ⇒ train = PRESENT   </a:t>
            </a:r>
          </a:p>
          <a:p>
            <a:r>
              <a:rPr lang="en-US" sz="1400" dirty="0"/>
              <a:t>	train = MOVING ⇒ door = CLOSED    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INITIALISATION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CLOSED </a:t>
            </a:r>
          </a:p>
          <a:p>
            <a:r>
              <a:rPr lang="en-US" sz="1400" dirty="0"/>
              <a:t>	train := ABSENT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EVENTS</a:t>
            </a:r>
            <a:r>
              <a:rPr lang="en-US" sz="1400" dirty="0"/>
              <a:t> </a:t>
            </a:r>
          </a:p>
          <a:p>
            <a:r>
              <a:rPr lang="en-US" sz="1400" dirty="0"/>
              <a:t>OpenDoors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PRESENT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OPEN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TrainArrives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ABSENT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PRESENT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TrainDeparts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= CLOSED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MOVING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dirty="0"/>
              <a:t>TrainContinues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train = MOVING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ABSENT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END</a:t>
            </a:r>
            <a:r>
              <a:rPr lang="en-US" sz="14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E13CC-767E-AF6C-0997-C38097BD8306}"/>
              </a:ext>
            </a:extLst>
          </p:cNvPr>
          <p:cNvSpPr txBox="1"/>
          <p:nvPr/>
        </p:nvSpPr>
        <p:spPr>
          <a:xfrm>
            <a:off x="3600105" y="928471"/>
            <a:ext cx="4023858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BUGGY MODEL (With Deadlock)</a:t>
            </a:r>
          </a:p>
          <a:p>
            <a:r>
              <a:rPr lang="en-US" b="1" dirty="0">
                <a:solidFill>
                  <a:srgbClr val="C00000"/>
                </a:solidFill>
              </a:rPr>
              <a:t>Bug: CloseDoors Event Missing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b="1" dirty="0"/>
              <a:t>Deadlock Scenario: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/>
                </a:solidFill>
              </a:rPr>
              <a:t>State 1: door=CLOSED, train=ABSENT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[TrainArrives]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2: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[OpenDoors]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3: door=OPEN,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</a:t>
            </a:r>
          </a:p>
          <a:p>
            <a:r>
              <a:rPr lang="en-US" dirty="0"/>
              <a:t>⚠️ </a:t>
            </a:r>
            <a:r>
              <a:rPr lang="en-US" b="1" dirty="0">
                <a:solidFill>
                  <a:srgbClr val="C00000"/>
                </a:solidFill>
              </a:rPr>
              <a:t>DEADLOCK DETECTED </a:t>
            </a:r>
            <a:r>
              <a:rPr lang="en-US" dirty="0"/>
              <a:t>⚠️ </a:t>
            </a:r>
          </a:p>
          <a:p>
            <a:endParaRPr lang="en-US" dirty="0"/>
          </a:p>
          <a:p>
            <a:r>
              <a:rPr lang="en-US" dirty="0"/>
              <a:t>System is stuck! No events can execute!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967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C476-BAF9-C357-F1A5-F3778B40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ED93-64EE-DC89-8F46-5137BB70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0"/>
            <a:ext cx="85439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Animation for Validation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6E685-ABAF-10DC-6682-96A3FECE1897}"/>
              </a:ext>
            </a:extLst>
          </p:cNvPr>
          <p:cNvSpPr txBox="1"/>
          <p:nvPr/>
        </p:nvSpPr>
        <p:spPr>
          <a:xfrm>
            <a:off x="96328" y="1145357"/>
            <a:ext cx="8857171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Purpose:</a:t>
            </a:r>
            <a:r>
              <a:rPr lang="en-US" sz="2000" dirty="0"/>
              <a:t>  Simulate </a:t>
            </a:r>
            <a:r>
              <a:rPr lang="en-US" sz="2000" b="1" dirty="0"/>
              <a:t>specific scenarios </a:t>
            </a:r>
            <a:r>
              <a:rPr lang="en-US" sz="2000" dirty="0"/>
              <a:t>with domain experts to validate requirements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What is Animation?</a:t>
            </a:r>
          </a:p>
          <a:p>
            <a:pPr algn="ctr"/>
            <a:r>
              <a:rPr lang="en-US" sz="2000" b="1" dirty="0"/>
              <a:t>Interactive simulation</a:t>
            </a:r>
            <a:r>
              <a:rPr lang="en-US" sz="2000" dirty="0"/>
              <a:t> of your formal model where you execute events step-by-step to see how the system behaves.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A6D615-8CE0-3DF0-BEDB-A343E6082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9846"/>
              </p:ext>
            </p:extLst>
          </p:nvPr>
        </p:nvGraphicFramePr>
        <p:xfrm>
          <a:off x="314620" y="3255505"/>
          <a:ext cx="8527724" cy="2362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0036">
                  <a:extLst>
                    <a:ext uri="{9D8B030D-6E8A-4147-A177-3AD203B41FA5}">
                      <a16:colId xmlns:a16="http://schemas.microsoft.com/office/drawing/2014/main" val="320678415"/>
                    </a:ext>
                  </a:extLst>
                </a:gridCol>
                <a:gridCol w="2441542">
                  <a:extLst>
                    <a:ext uri="{9D8B030D-6E8A-4147-A177-3AD203B41FA5}">
                      <a16:colId xmlns:a16="http://schemas.microsoft.com/office/drawing/2014/main" val="3964906378"/>
                    </a:ext>
                  </a:extLst>
                </a:gridCol>
                <a:gridCol w="2696066">
                  <a:extLst>
                    <a:ext uri="{9D8B030D-6E8A-4147-A177-3AD203B41FA5}">
                      <a16:colId xmlns:a16="http://schemas.microsoft.com/office/drawing/2014/main" val="1981694919"/>
                    </a:ext>
                  </a:extLst>
                </a:gridCol>
                <a:gridCol w="2630080">
                  <a:extLst>
                    <a:ext uri="{9D8B030D-6E8A-4147-A177-3AD203B41FA5}">
                      <a16:colId xmlns:a16="http://schemas.microsoft.com/office/drawing/2014/main" val="2796013983"/>
                    </a:ext>
                  </a:extLst>
                </a:gridCol>
              </a:tblGrid>
              <a:tr h="304132">
                <a:tc>
                  <a:txBody>
                    <a:bodyPr/>
                    <a:lstStyle/>
                    <a:p>
                      <a:r>
                        <a:rPr lang="en-US" b="1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Current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Expert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New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308269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train=ABSENT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"Train arrives"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TrainArrives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200177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"Open doors"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OpenDoors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door=OPEN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149632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door=OPEN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"Close doors"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CloseDoors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973040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"Train departs"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TrainDeparts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train=MOVING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73288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2BFED3B-30F7-8D31-9D21-D578FF60B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966" y="5912639"/>
            <a:ext cx="61000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001" altLang="en-001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Expert:</a:t>
            </a:r>
            <a:r>
              <a:rPr kumimoji="0" lang="en-001" altLang="en-001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✓ "Yes! This is exactly how our system operates!"</a:t>
            </a:r>
          </a:p>
        </p:txBody>
      </p:sp>
    </p:spTree>
    <p:extLst>
      <p:ext uri="{BB962C8B-B14F-4D97-AF65-F5344CB8AC3E}">
        <p14:creationId xmlns:p14="http://schemas.microsoft.com/office/powerpoint/2010/main" val="259258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0"/>
            <a:ext cx="84963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Proof Obligations in Event-B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87" y="2012705"/>
            <a:ext cx="8496300" cy="53705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sz="1800" dirty="0"/>
          </a:p>
          <a:p>
            <a:r>
              <a:rPr sz="1800" b="1" dirty="0"/>
              <a:t>Well-</a:t>
            </a:r>
            <a:r>
              <a:rPr sz="1800" b="1" dirty="0" err="1"/>
              <a:t>Definedness</a:t>
            </a:r>
            <a:r>
              <a:rPr sz="1800" b="1" dirty="0"/>
              <a:t> (WD): </a:t>
            </a:r>
            <a:r>
              <a:rPr sz="1800" dirty="0"/>
              <a:t>Ensure all expressions are well-defined</a:t>
            </a:r>
          </a:p>
          <a:p>
            <a:pPr marL="0" indent="0">
              <a:buNone/>
            </a:pPr>
            <a:r>
              <a:rPr lang="en-US" sz="1800" dirty="0"/>
              <a:t> (e.g. </a:t>
            </a:r>
            <a:r>
              <a:rPr sz="1800" dirty="0"/>
              <a:t>Division by zero check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sz="1800" b="1" dirty="0"/>
              <a:t>Invariant Preservation (INV): </a:t>
            </a:r>
            <a:r>
              <a:rPr sz="1800" dirty="0"/>
              <a:t>Prove invariants are maintained by all events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r>
              <a:rPr sz="1800" b="1" dirty="0"/>
              <a:t>Guard Strengthening (GRD): </a:t>
            </a:r>
            <a:r>
              <a:rPr sz="1800" dirty="0"/>
              <a:t>In refinement, concrete guards must imply abstract guards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r>
              <a:rPr sz="1800" b="1" dirty="0"/>
              <a:t>Action Simulation (SIM): </a:t>
            </a:r>
            <a:r>
              <a:rPr sz="1800" dirty="0"/>
              <a:t>Concrete actions must simulate abstract 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7B1E9-B9C9-EC64-DF4B-C69DFC6D0B6D}"/>
              </a:ext>
            </a:extLst>
          </p:cNvPr>
          <p:cNvSpPr txBox="1"/>
          <p:nvPr/>
        </p:nvSpPr>
        <p:spPr>
          <a:xfrm>
            <a:off x="323850" y="1322067"/>
            <a:ext cx="8562975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What are Proof Obligations?</a:t>
            </a:r>
          </a:p>
          <a:p>
            <a:pPr algn="ctr"/>
            <a:r>
              <a:rPr lang="en-US" sz="2000" dirty="0"/>
              <a:t>Proof obligations are </a:t>
            </a:r>
            <a:r>
              <a:rPr lang="en-US" sz="2000" b="1" dirty="0"/>
              <a:t>mathematical formulas that must be proven </a:t>
            </a:r>
            <a:r>
              <a:rPr lang="en-US" sz="2000" dirty="0"/>
              <a:t>to ensure the correctness of Event-B specification.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2" y="0"/>
            <a:ext cx="852487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Proof Obligations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48706-23C6-6138-491C-1003BA5C648B}"/>
              </a:ext>
            </a:extLst>
          </p:cNvPr>
          <p:cNvSpPr txBox="1"/>
          <p:nvPr/>
        </p:nvSpPr>
        <p:spPr>
          <a:xfrm>
            <a:off x="309561" y="3039639"/>
            <a:ext cx="37801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001" dirty="0"/>
          </a:p>
          <a:p>
            <a:r>
              <a:rPr lang="en-001" b="1" dirty="0"/>
              <a:t>What we know BEFORE the event:</a:t>
            </a:r>
          </a:p>
          <a:p>
            <a:r>
              <a:rPr lang="en-001" dirty="0"/>
              <a:t>  • Invariant holds: </a:t>
            </a:r>
          </a:p>
          <a:p>
            <a:r>
              <a:rPr lang="en-001" dirty="0">
                <a:solidFill>
                  <a:schemeClr val="tx2"/>
                </a:solidFill>
              </a:rPr>
              <a:t>     door = OPEN ⇒ train = PRESENT</a:t>
            </a:r>
          </a:p>
          <a:p>
            <a:r>
              <a:rPr lang="en-001" dirty="0"/>
              <a:t>  • Guard: </a:t>
            </a:r>
            <a:r>
              <a:rPr lang="en-001" dirty="0">
                <a:solidFill>
                  <a:schemeClr val="tx2"/>
                </a:solidFill>
              </a:rPr>
              <a:t>train = PRESENT</a:t>
            </a:r>
          </a:p>
          <a:p>
            <a:endParaRPr lang="en-001" dirty="0"/>
          </a:p>
          <a:p>
            <a:r>
              <a:rPr lang="en-001" b="1" dirty="0"/>
              <a:t>What the event does: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door := OPEN</a:t>
            </a:r>
          </a:p>
          <a:p>
            <a:endParaRPr lang="en-001" dirty="0"/>
          </a:p>
          <a:p>
            <a:r>
              <a:rPr lang="en-001" b="1" dirty="0"/>
              <a:t>What we have AFTER the event: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door' = OPEN </a:t>
            </a:r>
            <a:r>
              <a:rPr lang="en-001" dirty="0"/>
              <a:t>(just assigned)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train' = PRESENT </a:t>
            </a:r>
            <a:r>
              <a:rPr lang="en-001" dirty="0"/>
              <a:t>(unchanged)</a:t>
            </a:r>
          </a:p>
          <a:p>
            <a:endParaRPr lang="en-0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DF833-D6CE-B48B-E1D7-A85FE4DF65FE}"/>
              </a:ext>
            </a:extLst>
          </p:cNvPr>
          <p:cNvSpPr txBox="1"/>
          <p:nvPr/>
        </p:nvSpPr>
        <p:spPr>
          <a:xfrm>
            <a:off x="2199635" y="1344546"/>
            <a:ext cx="4572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INVARIANTS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invx</a:t>
            </a:r>
            <a:r>
              <a:rPr lang="en-US" sz="1600" dirty="0"/>
              <a:t>: door = OPEN ⇒ train = PRESENT</a:t>
            </a:r>
            <a:endParaRPr lang="en-001" sz="1600" dirty="0"/>
          </a:p>
          <a:p>
            <a:r>
              <a:rPr lang="en-US" sz="1600" b="1" dirty="0">
                <a:solidFill>
                  <a:srgbClr val="0070C0"/>
                </a:solidFill>
              </a:rPr>
              <a:t>EVENT</a:t>
            </a:r>
            <a:r>
              <a:rPr lang="en-US" sz="1600" dirty="0"/>
              <a:t> </a:t>
            </a:r>
          </a:p>
          <a:p>
            <a:r>
              <a:rPr lang="en-US" sz="1600" dirty="0"/>
              <a:t>OpenDoors ≙ </a:t>
            </a:r>
            <a:r>
              <a:rPr lang="en-US" sz="1600" b="1" dirty="0">
                <a:solidFill>
                  <a:srgbClr val="0070C0"/>
                </a:solidFill>
              </a:rPr>
              <a:t>when</a:t>
            </a:r>
            <a:r>
              <a:rPr lang="en-US" sz="1600" dirty="0"/>
              <a:t> </a:t>
            </a:r>
          </a:p>
          <a:p>
            <a:r>
              <a:rPr lang="en-US" sz="1600" dirty="0"/>
              <a:t>	train = PRESENT </a:t>
            </a:r>
            <a:r>
              <a:rPr lang="en-US" sz="1600" b="1" dirty="0">
                <a:solidFill>
                  <a:srgbClr val="0070C0"/>
                </a:solidFill>
              </a:rPr>
              <a:t>then</a:t>
            </a:r>
            <a:r>
              <a:rPr lang="en-US" sz="1600" dirty="0"/>
              <a:t> </a:t>
            </a:r>
          </a:p>
          <a:p>
            <a:r>
              <a:rPr lang="en-US" sz="1600" dirty="0"/>
              <a:t>	door := OPEN 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end</a:t>
            </a:r>
            <a:r>
              <a:rPr lang="en-US" sz="16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206D4-AA12-CE5D-90EA-D564DE4BF3DF}"/>
              </a:ext>
            </a:extLst>
          </p:cNvPr>
          <p:cNvSpPr txBox="1"/>
          <p:nvPr/>
        </p:nvSpPr>
        <p:spPr>
          <a:xfrm>
            <a:off x="4262437" y="3249622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b="1" dirty="0"/>
              <a:t>Check invariant after event:</a:t>
            </a:r>
          </a:p>
          <a:p>
            <a:r>
              <a:rPr lang="en-001" dirty="0"/>
              <a:t>  </a:t>
            </a:r>
            <a:r>
              <a:rPr lang="en-001" b="1" dirty="0">
                <a:solidFill>
                  <a:schemeClr val="tx2"/>
                </a:solidFill>
              </a:rPr>
              <a:t>door' = OPEN ⇒ train' = PRESENT</a:t>
            </a:r>
          </a:p>
          <a:p>
            <a:r>
              <a:rPr lang="en-001" b="1" dirty="0">
                <a:solidFill>
                  <a:schemeClr val="tx2"/>
                </a:solidFill>
              </a:rPr>
              <a:t>    ↓                                ↓</a:t>
            </a:r>
          </a:p>
          <a:p>
            <a:r>
              <a:rPr lang="en-001" b="1" dirty="0">
                <a:solidFill>
                  <a:schemeClr val="tx2"/>
                </a:solidFill>
              </a:rPr>
              <a:t>  TRUE              ⇒       TRUE</a:t>
            </a:r>
          </a:p>
          <a:p>
            <a:r>
              <a:rPr lang="en-001" b="1" dirty="0">
                <a:solidFill>
                  <a:schemeClr val="tx2"/>
                </a:solidFill>
              </a:rPr>
              <a:t>   </a:t>
            </a:r>
          </a:p>
          <a:p>
            <a:r>
              <a:rPr lang="en-001" b="1" dirty="0">
                <a:solidFill>
                  <a:schemeClr val="tx2"/>
                </a:solidFill>
              </a:rPr>
              <a:t>Result: TRUE ⇒ TRUE = TRUE ✓</a:t>
            </a:r>
          </a:p>
          <a:p>
            <a:endParaRPr lang="en-001" dirty="0"/>
          </a:p>
          <a:p>
            <a:r>
              <a:rPr lang="en-001" b="1" dirty="0"/>
              <a:t>WHY IT WORKS:</a:t>
            </a:r>
          </a:p>
          <a:p>
            <a:r>
              <a:rPr lang="en-001" dirty="0"/>
              <a:t>The guard "train = PRESENT" protects us! We can only open the door when the train is present, so the invariant is always satisfied.</a:t>
            </a:r>
          </a:p>
          <a:p>
            <a:endParaRPr lang="en-001" dirty="0"/>
          </a:p>
          <a:p>
            <a:r>
              <a:rPr lang="en-001" dirty="0"/>
              <a:t>✅ PROOF OBLIGATION DISCHARGED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3F486-D90A-F68D-C9CB-FF3D8BAF3219}"/>
              </a:ext>
            </a:extLst>
          </p:cNvPr>
          <p:cNvSpPr txBox="1"/>
          <p:nvPr/>
        </p:nvSpPr>
        <p:spPr>
          <a:xfrm>
            <a:off x="1916707" y="928079"/>
            <a:ext cx="5134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</a:rPr>
              <a:t>P</a:t>
            </a:r>
            <a:r>
              <a:rPr lang="en-001" b="1" i="1" dirty="0">
                <a:solidFill>
                  <a:schemeClr val="tx2"/>
                </a:solidFill>
              </a:rPr>
              <a:t>rove that OpenDoors event preserve invariant invx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546F-B750-1869-9E76-0A5A9210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F066-B788-CD1B-81AE-46BD6AE1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Industrial Verification Example</a:t>
            </a:r>
            <a:r>
              <a:rPr lang="en-US" b="1" dirty="0">
                <a:solidFill>
                  <a:schemeClr val="tx2"/>
                </a:solidFill>
              </a:rPr>
              <a:t>*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D26A7-7BA0-FE09-0F02-A250C3D2E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1" y="1542379"/>
            <a:ext cx="843870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Paris Metro Line 14</a:t>
            </a:r>
          </a:p>
          <a:p>
            <a:pPr marL="0" indent="0">
              <a:buNone/>
            </a:pPr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sz="1800" b="1" dirty="0"/>
              <a:t>Verification Results:</a:t>
            </a:r>
            <a:endParaRPr sz="1800" dirty="0"/>
          </a:p>
          <a:p>
            <a:r>
              <a:rPr lang="en-US" sz="1800" dirty="0"/>
              <a:t>27,800 proof obligations </a:t>
            </a:r>
          </a:p>
          <a:p>
            <a:r>
              <a:rPr lang="en-US" sz="1800" dirty="0"/>
              <a:t>~90% automatically discharged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001" sz="1800" dirty="0"/>
          </a:p>
          <a:p>
            <a:pPr marL="0" indent="0">
              <a:buNone/>
            </a:pPr>
            <a:endParaRPr lang="en-001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b="1" dirty="0"/>
              <a:t>Industrial Impact:</a:t>
            </a:r>
            <a:endParaRPr sz="1800" dirty="0"/>
          </a:p>
          <a:p>
            <a:r>
              <a:rPr lang="en-US" sz="1800" dirty="0"/>
              <a:t>Zero Safety Incidents since deployment in 1998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6" name="Picture 5" descr="A train on the tracks&#10;&#10;AI-generated content may be incorrect.">
            <a:extLst>
              <a:ext uri="{FF2B5EF4-FFF2-40B4-BE49-F238E27FC236}">
                <a16:creationId xmlns:a16="http://schemas.microsoft.com/office/drawing/2014/main" id="{6FEC9669-6B8D-40A3-EEE9-65380559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61" y="1429476"/>
            <a:ext cx="4828225" cy="3188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B11FE7-1779-C02F-B041-43FB7CEA1896}"/>
              </a:ext>
            </a:extLst>
          </p:cNvPr>
          <p:cNvSpPr txBox="1"/>
          <p:nvPr/>
        </p:nvSpPr>
        <p:spPr>
          <a:xfrm>
            <a:off x="3917704" y="4313863"/>
            <a:ext cx="522629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www.railwaysignalling.eu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/formal-methods-railway-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signalling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-systems</a:t>
            </a:r>
          </a:p>
        </p:txBody>
      </p:sp>
    </p:spTree>
    <p:extLst>
      <p:ext uri="{BB962C8B-B14F-4D97-AF65-F5344CB8AC3E}">
        <p14:creationId xmlns:p14="http://schemas.microsoft.com/office/powerpoint/2010/main" val="369761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B212-6DDB-C429-7CAD-6E6B5F90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2105-1DE3-F039-488C-3F604C13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2" y="0"/>
            <a:ext cx="8372475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Best Practice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5E3A-2084-C1BC-32D0-658F6D5F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2" y="1325563"/>
            <a:ext cx="8372475" cy="4525963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4338CA"/>
                </a:solidFill>
                <a:latin typeface="Consolas"/>
              </a:rPr>
              <a:t>Event-B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>
                <a:solidFill>
                  <a:srgbClr val="4338CA"/>
                </a:solidFill>
                <a:latin typeface="Consolas"/>
              </a:rPr>
              <a:t>Rodin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Proof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Obligations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Automatic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Provers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Interactive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Proofs</a:t>
            </a:r>
            <a:endParaRPr lang="en-US" sz="1400" dirty="0">
              <a:solidFill>
                <a:srgbClr val="7C3AED"/>
              </a:solidFill>
              <a:latin typeface="Cambria Math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Animation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 err="1">
                <a:solidFill>
                  <a:srgbClr val="4338CA"/>
                </a:solidFill>
                <a:latin typeface="Consolas"/>
              </a:rPr>
              <a:t>ProB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Stakeholder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Validation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Refinement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Checking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 err="1">
                <a:solidFill>
                  <a:srgbClr val="4338CA"/>
                </a:solidFill>
                <a:latin typeface="Consolas"/>
              </a:rPr>
              <a:t>ProB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Deadlock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Detection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Safety Property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Verification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sz="1800" b="1" dirty="0"/>
              <a:t>Start Abstract</a:t>
            </a:r>
            <a:r>
              <a:rPr sz="1800" dirty="0"/>
              <a:t>: Begin with high-level model, refine gradually</a:t>
            </a:r>
          </a:p>
          <a:p>
            <a:r>
              <a:rPr sz="1800" b="1" dirty="0"/>
              <a:t>Prove Incrementally</a:t>
            </a:r>
            <a:r>
              <a:rPr sz="1800" dirty="0"/>
              <a:t>: Discharge proof obligations at each refinement step</a:t>
            </a:r>
          </a:p>
          <a:p>
            <a:r>
              <a:rPr sz="1800" b="1" dirty="0"/>
              <a:t>Animate Early</a:t>
            </a:r>
            <a:r>
              <a:rPr sz="1800" dirty="0"/>
              <a:t>: Validate with stakeholders before detailed refinement</a:t>
            </a:r>
          </a:p>
          <a:p>
            <a:r>
              <a:rPr sz="1800" b="1" dirty="0"/>
              <a:t>Check Properties</a:t>
            </a:r>
            <a:r>
              <a:rPr sz="1800" dirty="0"/>
              <a:t>: Use model checking for complex properties</a:t>
            </a:r>
          </a:p>
          <a:p>
            <a:pPr marL="0" indent="0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893750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AB9A-DA4F-6459-A7E2-AB02FAEE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984B-E7F3-9DFE-FDC6-A053DE86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61B8-EF95-F83D-D818-92577445E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85000" lnSpcReduction="20000"/>
          </a:bodyPr>
          <a:lstStyle/>
          <a:p>
            <a:r>
              <a:rPr lang="en-001" b="1" dirty="0"/>
              <a:t>Validation vs Veirificaiton</a:t>
            </a:r>
          </a:p>
          <a:p>
            <a:pPr lvl="1"/>
            <a:r>
              <a:rPr lang="en-001" dirty="0"/>
              <a:t>Building the right system - Building the system Right</a:t>
            </a:r>
          </a:p>
          <a:p>
            <a:r>
              <a:rPr lang="en-001" b="1" dirty="0"/>
              <a:t>Model Checking for verification</a:t>
            </a:r>
          </a:p>
          <a:p>
            <a:pPr lvl="1"/>
            <a:r>
              <a:rPr lang="en-001" dirty="0"/>
              <a:t>Explore all possible state to check safety properties</a:t>
            </a:r>
          </a:p>
          <a:p>
            <a:r>
              <a:rPr lang="en-001" b="1" dirty="0"/>
              <a:t>Animation for validation</a:t>
            </a:r>
          </a:p>
          <a:p>
            <a:pPr lvl="1"/>
            <a:r>
              <a:rPr lang="en-001" dirty="0"/>
              <a:t>Validate specific scenario with doamin expert</a:t>
            </a:r>
          </a:p>
          <a:p>
            <a:r>
              <a:rPr lang="en-001" b="1" dirty="0"/>
              <a:t>Proof Obligations</a:t>
            </a:r>
          </a:p>
          <a:p>
            <a:pPr lvl="1"/>
            <a:r>
              <a:rPr lang="en-001" b="1" dirty="0"/>
              <a:t>Theorem proving in Event-B</a:t>
            </a:r>
          </a:p>
          <a:p>
            <a:endParaRPr lang="en-001" dirty="0"/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pPr marL="342900" lvl="1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6910A-0021-49BE-A189-1BB2D9C9FBF6}"/>
              </a:ext>
            </a:extLst>
          </p:cNvPr>
          <p:cNvSpPr txBox="1"/>
          <p:nvPr/>
        </p:nvSpPr>
        <p:spPr>
          <a:xfrm>
            <a:off x="907692" y="4131611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421151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27199</TotalTime>
  <Words>1402</Words>
  <Application>Microsoft Macintosh PowerPoint</Application>
  <PresentationFormat>On-screen Show (4:3)</PresentationFormat>
  <Paragraphs>281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Consolas</vt:lpstr>
      <vt:lpstr>Office Theme</vt:lpstr>
      <vt:lpstr> AICE2005 - Systematic Design  Formal Specification and Verification</vt:lpstr>
      <vt:lpstr>Course Introduction</vt:lpstr>
      <vt:lpstr>PowerPoint Presentation</vt:lpstr>
      <vt:lpstr>Lecture 4 Overview</vt:lpstr>
      <vt:lpstr>Recap: Set theory and Logic Foundation</vt:lpstr>
      <vt:lpstr>What is Formal Verification?</vt:lpstr>
      <vt:lpstr>Verification &amp; Validation V &amp; V</vt:lpstr>
      <vt:lpstr>Model Checking for Verification</vt:lpstr>
      <vt:lpstr>Model Checking Example</vt:lpstr>
      <vt:lpstr>Model Checking Example</vt:lpstr>
      <vt:lpstr>Animation for Validation</vt:lpstr>
      <vt:lpstr>Proof Obligations in Event-B</vt:lpstr>
      <vt:lpstr>Proof Obligations Example</vt:lpstr>
      <vt:lpstr>Industrial Verification Example*</vt:lpstr>
      <vt:lpstr>Best Practice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43</cp:revision>
  <dcterms:created xsi:type="dcterms:W3CDTF">2013-01-27T09:14:16Z</dcterms:created>
  <dcterms:modified xsi:type="dcterms:W3CDTF">2026-10-12T12:59:52Z</dcterms:modified>
  <cp:category/>
</cp:coreProperties>
</file>