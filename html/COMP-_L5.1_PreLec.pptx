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365" r:id="rId2"/>
    <p:sldId id="366" r:id="rId3"/>
    <p:sldId id="308" r:id="rId4"/>
    <p:sldId id="281" r:id="rId5"/>
    <p:sldId id="357" r:id="rId6"/>
    <p:sldId id="282" r:id="rId7"/>
    <p:sldId id="377" r:id="rId8"/>
    <p:sldId id="283" r:id="rId9"/>
    <p:sldId id="379" r:id="rId10"/>
    <p:sldId id="380" r:id="rId11"/>
    <p:sldId id="382" r:id="rId12"/>
    <p:sldId id="284" r:id="rId13"/>
    <p:sldId id="285" r:id="rId14"/>
    <p:sldId id="328" r:id="rId15"/>
    <p:sldId id="329" r:id="rId16"/>
    <p:sldId id="35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51"/>
    <p:restoredTop sz="96534"/>
  </p:normalViewPr>
  <p:slideViewPr>
    <p:cSldViewPr snapToGrid="0" snapToObjects="1">
      <p:cViewPr varScale="1">
        <p:scale>
          <a:sx n="113" d="100"/>
          <a:sy n="113" d="100"/>
        </p:scale>
        <p:origin x="2352" y="488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07/10/2026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7B50E-4528-40CA-A3C9-43E58E52E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B9385-1689-589E-9296-26626030BD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61AD4-5A9F-5478-176F-1425708F11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2025-2026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0396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E4FE4-E1D0-CA95-F4C1-C3611CF8D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3EAB6-95A8-F1DC-6D6C-14C436356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68820-573D-CBE4-3134-8D69CB071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/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/>
              <a:t>Lecture 3: Mathematical Foundations </a:t>
            </a:r>
          </a:p>
          <a:p>
            <a:r>
              <a:rPr sz="2200" dirty="0">
                <a:solidFill>
                  <a:schemeClr val="tx2"/>
                </a:solidFill>
              </a:rPr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55764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5E59C-5CB2-A489-14F0-0A10E98E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6B86D16-2405-6972-FB52-CE174332B7D4}"/>
              </a:ext>
            </a:extLst>
          </p:cNvPr>
          <p:cNvSpPr txBox="1"/>
          <p:nvPr/>
        </p:nvSpPr>
        <p:spPr>
          <a:xfrm>
            <a:off x="603115" y="1630996"/>
            <a:ext cx="79377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</a:rPr>
              <a:t>LECTURE 4: </a:t>
            </a:r>
          </a:p>
          <a:p>
            <a:pPr algn="ctr"/>
            <a:endParaRPr lang="en-US" sz="3000" b="1" dirty="0">
              <a:solidFill>
                <a:schemeClr val="tx2"/>
              </a:solidFill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</a:rPr>
              <a:t>Formal Verification Methods </a:t>
            </a:r>
            <a:endParaRPr lang="en-US" sz="3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2799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0"/>
            <a:ext cx="85344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475" y="1325563"/>
            <a:ext cx="85344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Verification Overview</a:t>
            </a:r>
            <a:endParaRPr lang="en-US" dirty="0"/>
          </a:p>
          <a:p>
            <a:r>
              <a:rPr lang="en-US" dirty="0"/>
              <a:t>V &amp; V : Validation and Verification</a:t>
            </a:r>
            <a:endParaRPr dirty="0"/>
          </a:p>
          <a:p>
            <a:r>
              <a:rPr dirty="0"/>
              <a:t>Model Checking </a:t>
            </a:r>
            <a:r>
              <a:rPr lang="en-US" dirty="0"/>
              <a:t>and Animation</a:t>
            </a:r>
          </a:p>
          <a:p>
            <a:r>
              <a:rPr dirty="0"/>
              <a:t>Theorem Proving and Proof Obligations (Event-B focus)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Learning Objectives:</a:t>
            </a:r>
          </a:p>
          <a:p>
            <a:endParaRPr dirty="0"/>
          </a:p>
          <a:p>
            <a:r>
              <a:rPr dirty="0"/>
              <a:t>Understand model checking process and limitations</a:t>
            </a:r>
            <a:endParaRPr lang="en-US" dirty="0"/>
          </a:p>
          <a:p>
            <a:r>
              <a:rPr lang="en-US" dirty="0"/>
              <a:t>Understand the role of animation in validation</a:t>
            </a:r>
            <a:endParaRPr dirty="0"/>
          </a:p>
          <a:p>
            <a:r>
              <a:rPr dirty="0"/>
              <a:t>Apply proof obligation techniques in Event-B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6F49B-6D7B-DB50-7843-60C3B393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5950B-55D5-8914-D11A-194F6D1D6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0"/>
            <a:ext cx="8632135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Recap: Set theory and Logic Foundation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0D3CC-FC53-86E0-9901-2E91C559E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058" y="1600201"/>
            <a:ext cx="8801101" cy="4525963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111827"/>
                </a:solidFill>
              </a:rPr>
              <a:t>Basic Set Operations: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11827"/>
                </a:solidFill>
              </a:rPr>
              <a:t>		</a:t>
            </a:r>
            <a:r>
              <a:rPr lang="en-US" sz="2000" dirty="0"/>
              <a:t>Union: A ∪ B, Intersection: A ∩ B Difference: A \ B Power Set: </a:t>
            </a:r>
            <a:r>
              <a:rPr lang="en-US" sz="2000" dirty="0" err="1"/>
              <a:t>ℙ</a:t>
            </a:r>
            <a:r>
              <a:rPr lang="en-US" sz="2000" dirty="0"/>
              <a:t>(A)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Relations and Functions: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Total Relation: A ↔ B, Partial Function: A ⇸ B, Injection: A ↣ B, Surjection: A ↠ B, Bijection: A ⤖ B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en-US" b="1" dirty="0"/>
              <a:t>Logic Foundation: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Negation: ¬, Conjunction: P ∧ Q, Disjunction: P ∨ Q, Implication: P → Q, Equivalence: P ↔ Q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Universal: ∀x, Existential: ∃x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/>
          </a:p>
          <a:p>
            <a:pPr>
              <a:spcBef>
                <a:spcPts val="0"/>
              </a:spcBef>
            </a:pPr>
            <a:r>
              <a:rPr lang="en-US" b="1" dirty="0"/>
              <a:t>Linear Temporal Logic (LTL):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2000" dirty="0"/>
              <a:t>Next: ○</a:t>
            </a:r>
            <a:r>
              <a:rPr lang="el-GR" sz="2000" dirty="0"/>
              <a:t>φ</a:t>
            </a:r>
            <a:r>
              <a:rPr lang="en-US" sz="2000" dirty="0"/>
              <a:t>, Eventually: ◊</a:t>
            </a:r>
            <a:r>
              <a:rPr lang="el-GR" sz="2000" dirty="0"/>
              <a:t>φ</a:t>
            </a:r>
            <a:r>
              <a:rPr lang="en-US" sz="2000" dirty="0"/>
              <a:t>, Always: □, Until: </a:t>
            </a:r>
            <a:r>
              <a:rPr lang="el-GR" sz="2000" dirty="0"/>
              <a:t>φ </a:t>
            </a:r>
            <a:r>
              <a:rPr lang="en-US" sz="2000" dirty="0"/>
              <a:t>U</a:t>
            </a:r>
          </a:p>
          <a:p>
            <a:pPr marL="0" indent="0">
              <a:spcBef>
                <a:spcPts val="0"/>
              </a:spcBef>
              <a:buNone/>
            </a:pPr>
            <a:endParaRPr lang="en-US" b="1" dirty="0"/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b="1" dirty="0"/>
          </a:p>
          <a:p>
            <a:pPr>
              <a:spcBef>
                <a:spcPts val="0"/>
              </a:spcBef>
            </a:pPr>
            <a:endParaRPr lang="en-US" b="1" dirty="0">
              <a:solidFill>
                <a:srgbClr val="4338CA"/>
              </a:solidFill>
            </a:endParaRPr>
          </a:p>
          <a:p>
            <a:endParaRPr lang="en-001" dirty="0"/>
          </a:p>
          <a:p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1908384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512" y="0"/>
            <a:ext cx="856297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What is Formal Verification?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7287" y="2213134"/>
            <a:ext cx="8009426" cy="3660128"/>
          </a:xfrm>
          <a:ln>
            <a:solidFill>
              <a:schemeClr val="accent1">
                <a:shade val="95000"/>
                <a:satMod val="105000"/>
              </a:schemeClr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b="1" dirty="0"/>
              <a:t>Verification vs Validation</a:t>
            </a:r>
            <a:endParaRPr lang="en-US" b="1" dirty="0"/>
          </a:p>
          <a:p>
            <a:pPr marL="0" indent="0" algn="ctr">
              <a:buNone/>
            </a:pPr>
            <a:endParaRPr sz="1800" b="1" dirty="0"/>
          </a:p>
          <a:p>
            <a:pPr algn="ctr"/>
            <a:r>
              <a:rPr sz="1800" b="1" dirty="0"/>
              <a:t>Verification: "Are we building the </a:t>
            </a:r>
            <a:r>
              <a:rPr lang="en-US" sz="1800" b="1" dirty="0"/>
              <a:t>System</a:t>
            </a:r>
            <a:r>
              <a:rPr sz="1800" b="1" dirty="0"/>
              <a:t> right?"</a:t>
            </a:r>
            <a:endParaRPr lang="en-US" sz="1800" b="1" dirty="0"/>
          </a:p>
          <a:p>
            <a:pPr lvl="1" algn="ctr"/>
            <a:r>
              <a:rPr sz="1600" b="1" dirty="0"/>
              <a:t> </a:t>
            </a:r>
            <a:r>
              <a:rPr sz="1600" dirty="0"/>
              <a:t>Mathematical correctness</a:t>
            </a:r>
            <a:endParaRPr lang="en-US" sz="1600" dirty="0"/>
          </a:p>
          <a:p>
            <a:pPr lvl="1" algn="ctr"/>
            <a:r>
              <a:rPr sz="1600" dirty="0"/>
              <a:t>Formal proofs</a:t>
            </a:r>
            <a:endParaRPr lang="en-US" sz="1600" dirty="0"/>
          </a:p>
          <a:p>
            <a:pPr lvl="1" algn="ctr"/>
            <a:endParaRPr sz="1500" dirty="0"/>
          </a:p>
          <a:p>
            <a:pPr algn="ctr"/>
            <a:r>
              <a:rPr sz="1800" b="1" dirty="0"/>
              <a:t>Validation: "Are we building the right </a:t>
            </a:r>
            <a:r>
              <a:rPr lang="en-US" sz="1800" b="1" dirty="0"/>
              <a:t>system</a:t>
            </a:r>
            <a:r>
              <a:rPr sz="1800" b="1" dirty="0"/>
              <a:t>?"</a:t>
            </a:r>
            <a:r>
              <a:rPr sz="1800" dirty="0"/>
              <a:t> </a:t>
            </a:r>
            <a:endParaRPr lang="en-US" sz="1800" dirty="0"/>
          </a:p>
          <a:p>
            <a:pPr lvl="1" algn="ctr"/>
            <a:r>
              <a:rPr sz="1600" dirty="0"/>
              <a:t>Stakeholder requirements satisfaction </a:t>
            </a:r>
            <a:endParaRPr lang="en-US" sz="1600" dirty="0"/>
          </a:p>
          <a:p>
            <a:pPr lvl="1" algn="ctr"/>
            <a:r>
              <a:rPr sz="1600" dirty="0"/>
              <a:t>User acceptance, testing</a:t>
            </a:r>
          </a:p>
          <a:p>
            <a:pPr algn="ctr"/>
            <a:endParaRPr sz="1800" dirty="0"/>
          </a:p>
          <a:p>
            <a:pPr marL="0" indent="0" algn="ctr">
              <a:buNone/>
            </a:pPr>
            <a:endParaRPr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68B8AA-F879-D015-CBA4-C5F1D870F6BE}"/>
              </a:ext>
            </a:extLst>
          </p:cNvPr>
          <p:cNvSpPr txBox="1"/>
          <p:nvPr/>
        </p:nvSpPr>
        <p:spPr>
          <a:xfrm>
            <a:off x="290511" y="1224350"/>
            <a:ext cx="8562975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Formal verification is the use of </a:t>
            </a:r>
            <a:r>
              <a:rPr lang="en-US" sz="2000" b="1" dirty="0"/>
              <a:t>mathematical methods </a:t>
            </a:r>
            <a:r>
              <a:rPr lang="en-US" sz="2000" dirty="0"/>
              <a:t>to </a:t>
            </a:r>
          </a:p>
          <a:p>
            <a:pPr algn="ctr"/>
            <a:r>
              <a:rPr lang="en-US" sz="2000" b="1" dirty="0"/>
              <a:t>prove or disprove </a:t>
            </a:r>
            <a:r>
              <a:rPr lang="en-US" sz="2000" dirty="0"/>
              <a:t>the </a:t>
            </a:r>
            <a:r>
              <a:rPr lang="en-US" sz="2000" b="1" dirty="0"/>
              <a:t>correctness</a:t>
            </a:r>
            <a:r>
              <a:rPr lang="en-US" sz="2000" dirty="0"/>
              <a:t> of a system with respect to its </a:t>
            </a:r>
            <a:r>
              <a:rPr lang="en-US" sz="2000" b="1" dirty="0"/>
              <a:t>specification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0127B-F220-DF6D-08F3-D59D43681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C9277-9CEB-C34B-8CCC-C16D7FF4E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12" y="0"/>
            <a:ext cx="856297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Verification &amp; Validation</a:t>
            </a:r>
            <a:br>
              <a:rPr lang="en-US" b="1" dirty="0">
                <a:solidFill>
                  <a:schemeClr val="tx2"/>
                </a:solidFill>
              </a:rPr>
            </a:br>
            <a:r>
              <a:rPr lang="en-US" b="1" dirty="0">
                <a:solidFill>
                  <a:schemeClr val="tx2"/>
                </a:solidFill>
              </a:rPr>
              <a:t>V &amp; V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78D4F3CF-DE32-88AA-B6DA-7E3D02F6A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344" y="1638981"/>
            <a:ext cx="8703312" cy="3882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70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574" y="0"/>
            <a:ext cx="85439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Model Checking </a:t>
            </a:r>
            <a:r>
              <a:rPr lang="en-US" b="1" dirty="0">
                <a:solidFill>
                  <a:schemeClr val="tx2"/>
                </a:solidFill>
              </a:rPr>
              <a:t>for Verification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9574" y="2615897"/>
            <a:ext cx="8543925" cy="5668840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 algn="ctr">
              <a:buNone/>
            </a:pPr>
            <a:r>
              <a:rPr b="1" dirty="0"/>
              <a:t>Model Checking for Event-B (</a:t>
            </a:r>
            <a:r>
              <a:rPr b="1" dirty="0" err="1"/>
              <a:t>ProB</a:t>
            </a:r>
            <a:r>
              <a:rPr b="1" dirty="0"/>
              <a:t>):</a:t>
            </a:r>
          </a:p>
          <a:p>
            <a:r>
              <a:rPr sz="1800" b="1" dirty="0"/>
              <a:t>State Space Exploration: </a:t>
            </a:r>
            <a:r>
              <a:rPr sz="1800" dirty="0"/>
              <a:t>Generate all reachable states</a:t>
            </a:r>
          </a:p>
          <a:p>
            <a:r>
              <a:rPr sz="1800" b="1" dirty="0"/>
              <a:t>Invariant Checking: </a:t>
            </a:r>
            <a:r>
              <a:rPr sz="1800" dirty="0"/>
              <a:t>Verify invariants hold in all states</a:t>
            </a:r>
          </a:p>
          <a:p>
            <a:r>
              <a:rPr sz="1800" b="1" dirty="0"/>
              <a:t>Deadlock Detection: </a:t>
            </a:r>
            <a:r>
              <a:rPr sz="1800" dirty="0"/>
              <a:t>Find states with no enabled events</a:t>
            </a:r>
          </a:p>
          <a:p>
            <a:pPr marL="0" indent="0">
              <a:buNone/>
            </a:pPr>
            <a:endParaRPr sz="1800" dirty="0"/>
          </a:p>
          <a:p>
            <a:pPr marL="0" indent="0" algn="ctr">
              <a:buNone/>
            </a:pPr>
            <a:r>
              <a:rPr b="1" dirty="0"/>
              <a:t>State Explosion Problem:</a:t>
            </a:r>
          </a:p>
          <a:p>
            <a:r>
              <a:rPr sz="1800" dirty="0"/>
              <a:t>Consider ATM with multiple cards and accounts:</a:t>
            </a:r>
          </a:p>
          <a:p>
            <a:r>
              <a:rPr sz="1800" dirty="0"/>
              <a:t>10 card types × 5 account types × 4 session states × 3 PIN attempt counts = 600 states</a:t>
            </a:r>
          </a:p>
          <a:p>
            <a:r>
              <a:rPr sz="1800" dirty="0"/>
              <a:t>Add concurrency: 2 ATMs = 600² = 360,000 states</a:t>
            </a:r>
          </a:p>
          <a:p>
            <a:r>
              <a:rPr sz="1800" b="1" dirty="0"/>
              <a:t>Mitigation: Use abstraction, limit parameter ranges</a:t>
            </a:r>
            <a:endParaRPr sz="1800" dirty="0"/>
          </a:p>
          <a:p>
            <a:endParaRPr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D06DA1-0FD0-B788-E202-39D133EE18C2}"/>
              </a:ext>
            </a:extLst>
          </p:cNvPr>
          <p:cNvSpPr txBox="1"/>
          <p:nvPr/>
        </p:nvSpPr>
        <p:spPr>
          <a:xfrm>
            <a:off x="390524" y="1143000"/>
            <a:ext cx="8562975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Purpose:</a:t>
            </a:r>
            <a:r>
              <a:rPr lang="en-US" sz="2000" dirty="0"/>
              <a:t>  Automatically explore </a:t>
            </a:r>
            <a:r>
              <a:rPr lang="en-US" sz="2000" b="1" dirty="0"/>
              <a:t>ALL possible states </a:t>
            </a:r>
            <a:r>
              <a:rPr lang="en-US" sz="2000" dirty="0"/>
              <a:t>to verify safety properties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What is Model Checking?</a:t>
            </a:r>
          </a:p>
          <a:p>
            <a:pPr algn="ctr"/>
            <a:r>
              <a:rPr lang="en-US" sz="2000" b="1" dirty="0"/>
              <a:t>Automatic exploration</a:t>
            </a:r>
            <a:r>
              <a:rPr lang="en-US" sz="2000" dirty="0"/>
              <a:t> of your formal model where a tool checks ALL possible states to verify that safety properties always hold.</a:t>
            </a:r>
            <a:endParaRPr lang="en-001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1ACAA-7D3F-355F-2FCA-513B32071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0D84-21EA-A83E-4878-88050BD2A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-214529"/>
            <a:ext cx="85915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Model Checking Example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263C52-85BF-305E-8395-DA8CC5CB16C7}"/>
              </a:ext>
            </a:extLst>
          </p:cNvPr>
          <p:cNvSpPr txBox="1"/>
          <p:nvPr/>
        </p:nvSpPr>
        <p:spPr>
          <a:xfrm>
            <a:off x="210127" y="659737"/>
            <a:ext cx="3323880" cy="612475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MACHINE</a:t>
            </a:r>
            <a:r>
              <a:rPr lang="en-US" sz="1400" dirty="0"/>
              <a:t> DoorControl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SEES</a:t>
            </a:r>
            <a:r>
              <a:rPr lang="en-US" sz="1400" dirty="0"/>
              <a:t> DoorContext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VARIABLES</a:t>
            </a:r>
            <a:r>
              <a:rPr lang="en-US" sz="1400" dirty="0"/>
              <a:t> door train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INVARIANTS</a:t>
            </a:r>
            <a:r>
              <a:rPr lang="en-US" sz="1400" dirty="0"/>
              <a:t> </a:t>
            </a:r>
          </a:p>
          <a:p>
            <a:r>
              <a:rPr lang="en-US" sz="1400" dirty="0"/>
              <a:t>	door ∈ DOOR_STATE </a:t>
            </a:r>
          </a:p>
          <a:p>
            <a:r>
              <a:rPr lang="en-US" sz="1400" dirty="0"/>
              <a:t>	train ∈ TRAIN_STATE </a:t>
            </a:r>
          </a:p>
          <a:p>
            <a:r>
              <a:rPr lang="en-US" sz="1400" dirty="0"/>
              <a:t>	door = OPEN ⇒ train = PRESENT   </a:t>
            </a:r>
          </a:p>
          <a:p>
            <a:r>
              <a:rPr lang="en-US" sz="1400" dirty="0"/>
              <a:t>	train = MOVING ⇒ door = CLOSED    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INITIALISATION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CLOSED </a:t>
            </a:r>
          </a:p>
          <a:p>
            <a:r>
              <a:rPr lang="en-US" sz="1400" dirty="0"/>
              <a:t>	train := ABSENT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EVENTS</a:t>
            </a:r>
            <a:r>
              <a:rPr lang="en-US" sz="1400" dirty="0"/>
              <a:t> </a:t>
            </a:r>
          </a:p>
          <a:p>
            <a:r>
              <a:rPr lang="en-US" sz="1400" dirty="0"/>
              <a:t>OpenDoors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PRESENT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OPEN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CloseDoors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 door = OPEN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 door := CLOSE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TrainArrives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ABSENT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PRESENT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TrainDeparts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= CLOSED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MOVING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dirty="0"/>
              <a:t>TrainContinues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 train = MOVING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ABSENT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END</a:t>
            </a:r>
            <a:r>
              <a:rPr lang="en-US" sz="140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B7C577-FF6A-5217-180D-8D0BFE064DAF}"/>
              </a:ext>
            </a:extLst>
          </p:cNvPr>
          <p:cNvSpPr txBox="1"/>
          <p:nvPr/>
        </p:nvSpPr>
        <p:spPr>
          <a:xfrm>
            <a:off x="3600105" y="928471"/>
            <a:ext cx="5333768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b="1" dirty="0"/>
              <a:t>Formal Specification: </a:t>
            </a:r>
          </a:p>
          <a:p>
            <a:endParaRPr lang="en-001" b="1" dirty="0"/>
          </a:p>
          <a:p>
            <a:r>
              <a:rPr lang="en-US" dirty="0"/>
              <a:t>SAFETY PROPERTY</a:t>
            </a:r>
            <a:r>
              <a:rPr lang="en-US" b="1" dirty="0">
                <a:solidFill>
                  <a:schemeClr val="tx2"/>
                </a:solidFill>
              </a:rPr>
              <a:t>: ¬(door = OPEN ∧ train = MOVING)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b="1" dirty="0"/>
              <a:t>Model Checker explores ALL possible state sequences: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tx2"/>
                </a:solidFill>
              </a:rPr>
              <a:t>State 1: door=CLOSED, train=ABSENT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[TrainArrives]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2: door=CLOSED,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[OpenDoors]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3: door=OPEN,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[CloseDoors]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4: door=CLOSED,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[TrainDeparts]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5: door=CLOSED, train=MOVING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↓ [TrainContinues]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5: door=CLOSED, train=ABSENT ✓</a:t>
            </a:r>
          </a:p>
          <a:p>
            <a:endParaRPr lang="en-US" b="1" dirty="0">
              <a:solidFill>
                <a:schemeClr val="tx2"/>
              </a:solidFill>
            </a:endParaRPr>
          </a:p>
          <a:p>
            <a:r>
              <a:rPr lang="en-US" b="1" dirty="0"/>
              <a:t>Model Checker Result: ✓ Safety PROPERTY HOLDS</a:t>
            </a:r>
          </a:p>
        </p:txBody>
      </p:sp>
    </p:spTree>
    <p:extLst>
      <p:ext uri="{BB962C8B-B14F-4D97-AF65-F5344CB8AC3E}">
        <p14:creationId xmlns:p14="http://schemas.microsoft.com/office/powerpoint/2010/main" val="401410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DD2AB-2451-CC88-380D-C33C627A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CC9A1-A2F8-9D2D-6EE6-48D26A9E05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-214529"/>
            <a:ext cx="85915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Model Checking Example</a:t>
            </a:r>
            <a:endParaRPr lang="en-001" b="1" dirty="0">
              <a:solidFill>
                <a:schemeClr val="tx2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6F379-7BA1-CC55-1003-F638BB66DF30}"/>
              </a:ext>
            </a:extLst>
          </p:cNvPr>
          <p:cNvSpPr txBox="1"/>
          <p:nvPr/>
        </p:nvSpPr>
        <p:spPr>
          <a:xfrm>
            <a:off x="210127" y="659737"/>
            <a:ext cx="3323880" cy="547842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70C0"/>
                </a:solidFill>
              </a:rPr>
              <a:t>MACHINE</a:t>
            </a:r>
            <a:r>
              <a:rPr lang="en-US" sz="1400" dirty="0"/>
              <a:t> DoorControl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SEES</a:t>
            </a:r>
            <a:r>
              <a:rPr lang="en-US" sz="1400" dirty="0"/>
              <a:t> DoorContext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VARIABLES</a:t>
            </a:r>
            <a:r>
              <a:rPr lang="en-US" sz="1400" dirty="0"/>
              <a:t> door train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INVARIANTS</a:t>
            </a:r>
            <a:r>
              <a:rPr lang="en-US" sz="1400" dirty="0"/>
              <a:t> </a:t>
            </a:r>
          </a:p>
          <a:p>
            <a:r>
              <a:rPr lang="en-US" sz="1400" dirty="0"/>
              <a:t>	door ∈ DOOR_STATE </a:t>
            </a:r>
          </a:p>
          <a:p>
            <a:r>
              <a:rPr lang="en-US" sz="1400" dirty="0"/>
              <a:t>	train ∈ TRAIN_STATE </a:t>
            </a:r>
          </a:p>
          <a:p>
            <a:r>
              <a:rPr lang="en-US" sz="1400" dirty="0"/>
              <a:t>	door = OPEN ⇒ train = PRESENT   </a:t>
            </a:r>
          </a:p>
          <a:p>
            <a:r>
              <a:rPr lang="en-US" sz="1400" dirty="0"/>
              <a:t>	train = MOVING ⇒ door = CLOSED    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INITIALISATION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CLOSED </a:t>
            </a:r>
          </a:p>
          <a:p>
            <a:r>
              <a:rPr lang="en-US" sz="1400" dirty="0"/>
              <a:t>	train := ABSENT 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EVENTS</a:t>
            </a:r>
            <a:r>
              <a:rPr lang="en-US" sz="1400" dirty="0"/>
              <a:t> </a:t>
            </a:r>
          </a:p>
          <a:p>
            <a:r>
              <a:rPr lang="en-US" sz="1400" dirty="0"/>
              <a:t>OpenDoors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PRESENT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:= OPEN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TrainArrives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= ABSENT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PRESENT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  <a:endParaRPr lang="en-US" sz="1400" dirty="0"/>
          </a:p>
          <a:p>
            <a:r>
              <a:rPr lang="en-US" sz="1400" dirty="0"/>
              <a:t>TrainDeparts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door = CLOSED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MOVING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dirty="0"/>
              <a:t>TrainContinues ≙ </a:t>
            </a:r>
            <a:r>
              <a:rPr lang="en-US" sz="1400" b="1" dirty="0">
                <a:solidFill>
                  <a:srgbClr val="0070C0"/>
                </a:solidFill>
              </a:rPr>
              <a:t>when</a:t>
            </a:r>
            <a:r>
              <a:rPr lang="en-US" sz="1400" dirty="0"/>
              <a:t> </a:t>
            </a:r>
          </a:p>
          <a:p>
            <a:r>
              <a:rPr lang="en-US" sz="1400" dirty="0"/>
              <a:t>	 train = MOVING </a:t>
            </a:r>
            <a:r>
              <a:rPr lang="en-US" sz="1400" b="1" dirty="0">
                <a:solidFill>
                  <a:srgbClr val="0070C0"/>
                </a:solidFill>
              </a:rPr>
              <a:t>then</a:t>
            </a:r>
            <a:r>
              <a:rPr lang="en-US" sz="1400" dirty="0"/>
              <a:t> </a:t>
            </a:r>
          </a:p>
          <a:p>
            <a:r>
              <a:rPr lang="en-US" sz="1400" dirty="0"/>
              <a:t>	train := ABSENT </a:t>
            </a:r>
            <a:r>
              <a:rPr lang="en-US" sz="1400" b="1" dirty="0">
                <a:solidFill>
                  <a:srgbClr val="0070C0"/>
                </a:solidFill>
              </a:rPr>
              <a:t>end</a:t>
            </a:r>
          </a:p>
          <a:p>
            <a:r>
              <a:rPr lang="en-US" sz="1400" b="1" dirty="0">
                <a:solidFill>
                  <a:srgbClr val="0070C0"/>
                </a:solidFill>
              </a:rPr>
              <a:t>END</a:t>
            </a:r>
            <a:r>
              <a:rPr lang="en-US" sz="1400" dirty="0"/>
              <a:t>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CE13CC-767E-AF6C-0997-C38097BD8306}"/>
              </a:ext>
            </a:extLst>
          </p:cNvPr>
          <p:cNvSpPr txBox="1"/>
          <p:nvPr/>
        </p:nvSpPr>
        <p:spPr>
          <a:xfrm>
            <a:off x="3600105" y="928471"/>
            <a:ext cx="4023858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BUGGY MODEL (With Deadlock)</a:t>
            </a:r>
          </a:p>
          <a:p>
            <a:r>
              <a:rPr lang="en-US" b="1" dirty="0">
                <a:solidFill>
                  <a:srgbClr val="C00000"/>
                </a:solidFill>
              </a:rPr>
              <a:t>Bug: CloseDoors Event Missing</a:t>
            </a:r>
          </a:p>
          <a:p>
            <a:endParaRPr lang="en-US" sz="1600" b="1" dirty="0">
              <a:solidFill>
                <a:schemeClr val="tx2"/>
              </a:solidFill>
            </a:endParaRPr>
          </a:p>
          <a:p>
            <a:r>
              <a:rPr lang="en-US" b="1" dirty="0"/>
              <a:t>Deadlock Scenario: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tx2"/>
                </a:solidFill>
              </a:rPr>
              <a:t>State 1: door=CLOSED, train=ABSENT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[TrainArrives]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2: door=CLOSED,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↓ [OpenDoors]</a:t>
            </a:r>
          </a:p>
          <a:p>
            <a:r>
              <a:rPr lang="en-US" b="1" dirty="0">
                <a:solidFill>
                  <a:schemeClr val="tx2"/>
                </a:solidFill>
              </a:rPr>
              <a:t>State 3: door=OPEN, train=PRESENT ✓</a:t>
            </a:r>
          </a:p>
          <a:p>
            <a:r>
              <a:rPr lang="en-US" b="1" dirty="0">
                <a:solidFill>
                  <a:schemeClr val="tx2"/>
                </a:solidFill>
              </a:rPr>
              <a:t>   </a:t>
            </a:r>
          </a:p>
          <a:p>
            <a:r>
              <a:rPr lang="en-US" dirty="0"/>
              <a:t>⚠️ </a:t>
            </a:r>
            <a:r>
              <a:rPr lang="en-US" b="1" dirty="0">
                <a:solidFill>
                  <a:srgbClr val="C00000"/>
                </a:solidFill>
              </a:rPr>
              <a:t>DEADLOCK DETECTED </a:t>
            </a:r>
            <a:r>
              <a:rPr lang="en-US" dirty="0"/>
              <a:t>⚠️ </a:t>
            </a:r>
          </a:p>
          <a:p>
            <a:endParaRPr lang="en-US" dirty="0"/>
          </a:p>
          <a:p>
            <a:r>
              <a:rPr lang="en-US" dirty="0"/>
              <a:t>System is stuck! No events can execute!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39678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C476-BAF9-C357-F1A5-F3778B408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8ED93-64EE-DC89-8F46-5137BB705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4" y="0"/>
            <a:ext cx="85439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Animation for Validation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6E685-ABAF-10DC-6682-96A3FECE1897}"/>
              </a:ext>
            </a:extLst>
          </p:cNvPr>
          <p:cNvSpPr txBox="1"/>
          <p:nvPr/>
        </p:nvSpPr>
        <p:spPr>
          <a:xfrm>
            <a:off x="96328" y="1145357"/>
            <a:ext cx="8857171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Purpose:</a:t>
            </a:r>
            <a:r>
              <a:rPr lang="en-US" sz="2000" dirty="0"/>
              <a:t>  Simulate </a:t>
            </a:r>
            <a:r>
              <a:rPr lang="en-US" sz="2000" b="1" dirty="0"/>
              <a:t>specific scenarios </a:t>
            </a:r>
            <a:r>
              <a:rPr lang="en-US" sz="2000" dirty="0"/>
              <a:t>with domain experts to validate requirements</a:t>
            </a:r>
          </a:p>
          <a:p>
            <a:pPr algn="ctr"/>
            <a:endParaRPr lang="en-US" sz="2000" dirty="0"/>
          </a:p>
          <a:p>
            <a:pPr algn="ctr"/>
            <a:r>
              <a:rPr lang="en-US" sz="2000" b="1" dirty="0"/>
              <a:t>What is Animation?</a:t>
            </a:r>
          </a:p>
          <a:p>
            <a:pPr algn="ctr"/>
            <a:r>
              <a:rPr lang="en-US" sz="2000" b="1" dirty="0"/>
              <a:t>Interactive simulation</a:t>
            </a:r>
            <a:r>
              <a:rPr lang="en-US" sz="2000" dirty="0"/>
              <a:t> of your formal model where you execute events step-by-step to see how the system behaves.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7A6D615-8CE0-3DF0-BEDB-A343E6082D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799846"/>
              </p:ext>
            </p:extLst>
          </p:nvPr>
        </p:nvGraphicFramePr>
        <p:xfrm>
          <a:off x="314620" y="3255505"/>
          <a:ext cx="8527724" cy="23628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60036">
                  <a:extLst>
                    <a:ext uri="{9D8B030D-6E8A-4147-A177-3AD203B41FA5}">
                      <a16:colId xmlns:a16="http://schemas.microsoft.com/office/drawing/2014/main" val="320678415"/>
                    </a:ext>
                  </a:extLst>
                </a:gridCol>
                <a:gridCol w="2441542">
                  <a:extLst>
                    <a:ext uri="{9D8B030D-6E8A-4147-A177-3AD203B41FA5}">
                      <a16:colId xmlns:a16="http://schemas.microsoft.com/office/drawing/2014/main" val="3964906378"/>
                    </a:ext>
                  </a:extLst>
                </a:gridCol>
                <a:gridCol w="2696066">
                  <a:extLst>
                    <a:ext uri="{9D8B030D-6E8A-4147-A177-3AD203B41FA5}">
                      <a16:colId xmlns:a16="http://schemas.microsoft.com/office/drawing/2014/main" val="1981694919"/>
                    </a:ext>
                  </a:extLst>
                </a:gridCol>
                <a:gridCol w="2630080">
                  <a:extLst>
                    <a:ext uri="{9D8B030D-6E8A-4147-A177-3AD203B41FA5}">
                      <a16:colId xmlns:a16="http://schemas.microsoft.com/office/drawing/2014/main" val="2796013983"/>
                    </a:ext>
                  </a:extLst>
                </a:gridCol>
              </a:tblGrid>
              <a:tr h="304132">
                <a:tc>
                  <a:txBody>
                    <a:bodyPr/>
                    <a:lstStyle/>
                    <a:p>
                      <a:r>
                        <a:rPr lang="en-US" b="1"/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Current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Expert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New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8308269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train=ABSENT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"Train arrives"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TrainArrives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6200177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"Open doors"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OpenDoors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door=OPEN train=PRESENT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149632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door=OPEN train=PRESENT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"Close doors"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CloseDoors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973040"/>
                  </a:ext>
                </a:extLst>
              </a:tr>
              <a:tr h="514684">
                <a:tc>
                  <a:txBody>
                    <a:bodyPr/>
                    <a:lstStyle/>
                    <a:p>
                      <a:r>
                        <a:rPr lang="en-001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train=PRESENT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"Train departs" </a:t>
                      </a:r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→ TrainDeparts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2"/>
                          </a:solidFill>
                        </a:rPr>
                        <a:t>door=CLOSED train=MOVING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1732888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12BFED3B-30F7-8D31-9D21-D578FF60B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966" y="5912639"/>
            <a:ext cx="610006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001" altLang="en-001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Expert:</a:t>
            </a:r>
            <a:r>
              <a:rPr kumimoji="0" lang="en-001" altLang="en-001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✓ "Yes! This is exactly how our system operates!"</a:t>
            </a:r>
          </a:p>
        </p:txBody>
      </p:sp>
    </p:spTree>
    <p:extLst>
      <p:ext uri="{BB962C8B-B14F-4D97-AF65-F5344CB8AC3E}">
        <p14:creationId xmlns:p14="http://schemas.microsoft.com/office/powerpoint/2010/main" val="2592586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0"/>
            <a:ext cx="84963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Proof Obligations in Event-B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87" y="2012705"/>
            <a:ext cx="8496300" cy="537051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endParaRPr sz="1800" dirty="0"/>
          </a:p>
          <a:p>
            <a:r>
              <a:rPr sz="1800" b="1" dirty="0"/>
              <a:t>Well-</a:t>
            </a:r>
            <a:r>
              <a:rPr sz="1800" b="1" dirty="0" err="1"/>
              <a:t>Definedness</a:t>
            </a:r>
            <a:r>
              <a:rPr sz="1800" b="1" dirty="0"/>
              <a:t> (WD): </a:t>
            </a:r>
            <a:r>
              <a:rPr sz="1800" dirty="0"/>
              <a:t>Ensure all expressions are well-defined</a:t>
            </a:r>
          </a:p>
          <a:p>
            <a:pPr marL="0" indent="0">
              <a:buNone/>
            </a:pPr>
            <a:r>
              <a:rPr lang="en-US" sz="1800" dirty="0"/>
              <a:t> (e.g. </a:t>
            </a:r>
            <a:r>
              <a:rPr sz="1800" dirty="0"/>
              <a:t>Division by zero check</a:t>
            </a:r>
            <a:r>
              <a:rPr lang="en-US" sz="1800" dirty="0"/>
              <a:t>)</a:t>
            </a:r>
          </a:p>
          <a:p>
            <a:pPr marL="0" indent="0">
              <a:buNone/>
            </a:pPr>
            <a:endParaRPr lang="en-US" sz="1800" dirty="0"/>
          </a:p>
          <a:p>
            <a:r>
              <a:rPr sz="1800" b="1" dirty="0"/>
              <a:t>Invariant Preservation (INV): </a:t>
            </a:r>
            <a:r>
              <a:rPr sz="1800" dirty="0"/>
              <a:t>Prove invariants are maintained by all events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r>
              <a:rPr sz="1800" b="1" dirty="0"/>
              <a:t>Guard Strengthening (GRD): </a:t>
            </a:r>
            <a:r>
              <a:rPr sz="1800" dirty="0"/>
              <a:t>In refinement, concrete guards must imply abstract guards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r>
              <a:rPr sz="1800" b="1" dirty="0"/>
              <a:t>Action Simulation (SIM): </a:t>
            </a:r>
            <a:r>
              <a:rPr sz="1800" dirty="0"/>
              <a:t>Concrete actions must simulate abstract actions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7B1E9-B9C9-EC64-DF4B-C69DFC6D0B6D}"/>
              </a:ext>
            </a:extLst>
          </p:cNvPr>
          <p:cNvSpPr txBox="1"/>
          <p:nvPr/>
        </p:nvSpPr>
        <p:spPr>
          <a:xfrm>
            <a:off x="323850" y="1322067"/>
            <a:ext cx="8562975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What are Proof Obligations?</a:t>
            </a:r>
          </a:p>
          <a:p>
            <a:pPr algn="ctr"/>
            <a:r>
              <a:rPr lang="en-US" sz="2000" dirty="0"/>
              <a:t>Proof obligations are </a:t>
            </a:r>
            <a:r>
              <a:rPr lang="en-US" sz="2000" b="1" dirty="0"/>
              <a:t>mathematical formulas that must be proven </a:t>
            </a:r>
            <a:r>
              <a:rPr lang="en-US" sz="2000" dirty="0"/>
              <a:t>to ensure the correctness of Event-B specification.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562" y="0"/>
            <a:ext cx="852487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Proof Obligations Example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748706-23C6-6138-491C-1003BA5C648B}"/>
              </a:ext>
            </a:extLst>
          </p:cNvPr>
          <p:cNvSpPr txBox="1"/>
          <p:nvPr/>
        </p:nvSpPr>
        <p:spPr>
          <a:xfrm>
            <a:off x="309561" y="3039639"/>
            <a:ext cx="378014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001" dirty="0"/>
          </a:p>
          <a:p>
            <a:r>
              <a:rPr lang="en-001" b="1" dirty="0"/>
              <a:t>What we know BEFORE the event:</a:t>
            </a:r>
          </a:p>
          <a:p>
            <a:r>
              <a:rPr lang="en-001" dirty="0"/>
              <a:t>  • Invariant holds: </a:t>
            </a:r>
          </a:p>
          <a:p>
            <a:r>
              <a:rPr lang="en-001" dirty="0">
                <a:solidFill>
                  <a:schemeClr val="tx2"/>
                </a:solidFill>
              </a:rPr>
              <a:t>     door = OPEN ⇒ train = PRESENT</a:t>
            </a:r>
          </a:p>
          <a:p>
            <a:r>
              <a:rPr lang="en-001" dirty="0"/>
              <a:t>  • Guard: </a:t>
            </a:r>
            <a:r>
              <a:rPr lang="en-001" dirty="0">
                <a:solidFill>
                  <a:schemeClr val="tx2"/>
                </a:solidFill>
              </a:rPr>
              <a:t>train = PRESENT</a:t>
            </a:r>
          </a:p>
          <a:p>
            <a:endParaRPr lang="en-001" dirty="0"/>
          </a:p>
          <a:p>
            <a:r>
              <a:rPr lang="en-001" b="1" dirty="0"/>
              <a:t>What the event does:</a:t>
            </a:r>
          </a:p>
          <a:p>
            <a:r>
              <a:rPr lang="en-001" dirty="0"/>
              <a:t>  • </a:t>
            </a:r>
            <a:r>
              <a:rPr lang="en-001" dirty="0">
                <a:solidFill>
                  <a:schemeClr val="tx2"/>
                </a:solidFill>
              </a:rPr>
              <a:t>door := OPEN</a:t>
            </a:r>
          </a:p>
          <a:p>
            <a:endParaRPr lang="en-001" dirty="0"/>
          </a:p>
          <a:p>
            <a:r>
              <a:rPr lang="en-001" b="1" dirty="0"/>
              <a:t>What we have AFTER the event:</a:t>
            </a:r>
          </a:p>
          <a:p>
            <a:r>
              <a:rPr lang="en-001" dirty="0"/>
              <a:t>  • </a:t>
            </a:r>
            <a:r>
              <a:rPr lang="en-001" dirty="0">
                <a:solidFill>
                  <a:schemeClr val="tx2"/>
                </a:solidFill>
              </a:rPr>
              <a:t>door' = OPEN </a:t>
            </a:r>
            <a:r>
              <a:rPr lang="en-001" dirty="0"/>
              <a:t>(just assigned)</a:t>
            </a:r>
          </a:p>
          <a:p>
            <a:r>
              <a:rPr lang="en-001" dirty="0"/>
              <a:t>  • </a:t>
            </a:r>
            <a:r>
              <a:rPr lang="en-001" dirty="0">
                <a:solidFill>
                  <a:schemeClr val="tx2"/>
                </a:solidFill>
              </a:rPr>
              <a:t>train' = PRESENT </a:t>
            </a:r>
            <a:r>
              <a:rPr lang="en-001" dirty="0"/>
              <a:t>(unchanged)</a:t>
            </a:r>
          </a:p>
          <a:p>
            <a:endParaRPr lang="en-00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8DF833-D6CE-B48B-E1D7-A85FE4DF65FE}"/>
              </a:ext>
            </a:extLst>
          </p:cNvPr>
          <p:cNvSpPr txBox="1"/>
          <p:nvPr/>
        </p:nvSpPr>
        <p:spPr>
          <a:xfrm>
            <a:off x="2199635" y="1344546"/>
            <a:ext cx="4572000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70C0"/>
                </a:solidFill>
              </a:rPr>
              <a:t>INVARIANTS</a:t>
            </a:r>
            <a:r>
              <a:rPr lang="en-US" sz="1600" dirty="0"/>
              <a:t> </a:t>
            </a:r>
          </a:p>
          <a:p>
            <a:r>
              <a:rPr lang="en-US" sz="1600" dirty="0"/>
              <a:t>	</a:t>
            </a:r>
            <a:r>
              <a:rPr lang="en-US" sz="1600" dirty="0" err="1"/>
              <a:t>invx</a:t>
            </a:r>
            <a:r>
              <a:rPr lang="en-US" sz="1600" dirty="0"/>
              <a:t>: door = OPEN ⇒ train = PRESENT</a:t>
            </a:r>
            <a:endParaRPr lang="en-001" sz="1600" dirty="0"/>
          </a:p>
          <a:p>
            <a:r>
              <a:rPr lang="en-US" sz="1600" b="1" dirty="0">
                <a:solidFill>
                  <a:srgbClr val="0070C0"/>
                </a:solidFill>
              </a:rPr>
              <a:t>EVENT</a:t>
            </a:r>
            <a:r>
              <a:rPr lang="en-US" sz="1600" dirty="0"/>
              <a:t> </a:t>
            </a:r>
          </a:p>
          <a:p>
            <a:r>
              <a:rPr lang="en-US" sz="1600" dirty="0"/>
              <a:t>OpenDoors ≙ </a:t>
            </a:r>
            <a:r>
              <a:rPr lang="en-US" sz="1600" b="1" dirty="0">
                <a:solidFill>
                  <a:srgbClr val="0070C0"/>
                </a:solidFill>
              </a:rPr>
              <a:t>when</a:t>
            </a:r>
            <a:r>
              <a:rPr lang="en-US" sz="1600" dirty="0"/>
              <a:t> </a:t>
            </a:r>
          </a:p>
          <a:p>
            <a:r>
              <a:rPr lang="en-US" sz="1600" dirty="0"/>
              <a:t>	train = PRESENT </a:t>
            </a:r>
            <a:r>
              <a:rPr lang="en-US" sz="1600" b="1" dirty="0">
                <a:solidFill>
                  <a:srgbClr val="0070C0"/>
                </a:solidFill>
              </a:rPr>
              <a:t>then</a:t>
            </a:r>
            <a:r>
              <a:rPr lang="en-US" sz="1600" dirty="0"/>
              <a:t> </a:t>
            </a:r>
          </a:p>
          <a:p>
            <a:r>
              <a:rPr lang="en-US" sz="1600" dirty="0"/>
              <a:t>	door := OPEN </a:t>
            </a:r>
          </a:p>
          <a:p>
            <a:r>
              <a:rPr lang="en-US" sz="1600" b="1" dirty="0">
                <a:solidFill>
                  <a:srgbClr val="0070C0"/>
                </a:solidFill>
              </a:rPr>
              <a:t>end</a:t>
            </a:r>
            <a:r>
              <a:rPr lang="en-US" sz="1600" dirty="0"/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4206D4-AA12-CE5D-90EA-D564DE4BF3DF}"/>
              </a:ext>
            </a:extLst>
          </p:cNvPr>
          <p:cNvSpPr txBox="1"/>
          <p:nvPr/>
        </p:nvSpPr>
        <p:spPr>
          <a:xfrm>
            <a:off x="4262437" y="3249622"/>
            <a:ext cx="4572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001" b="1" dirty="0"/>
              <a:t>Check invariant after event:</a:t>
            </a:r>
          </a:p>
          <a:p>
            <a:r>
              <a:rPr lang="en-001" dirty="0"/>
              <a:t>  </a:t>
            </a:r>
            <a:r>
              <a:rPr lang="en-001" b="1" dirty="0">
                <a:solidFill>
                  <a:schemeClr val="tx2"/>
                </a:solidFill>
              </a:rPr>
              <a:t>door' = OPEN ⇒ train' = PRESENT</a:t>
            </a:r>
          </a:p>
          <a:p>
            <a:r>
              <a:rPr lang="en-001" b="1" dirty="0">
                <a:solidFill>
                  <a:schemeClr val="tx2"/>
                </a:solidFill>
              </a:rPr>
              <a:t>    ↓                                ↓</a:t>
            </a:r>
          </a:p>
          <a:p>
            <a:r>
              <a:rPr lang="en-001" b="1" dirty="0">
                <a:solidFill>
                  <a:schemeClr val="tx2"/>
                </a:solidFill>
              </a:rPr>
              <a:t>  TRUE              ⇒       TRUE</a:t>
            </a:r>
          </a:p>
          <a:p>
            <a:r>
              <a:rPr lang="en-001" b="1" dirty="0">
                <a:solidFill>
                  <a:schemeClr val="tx2"/>
                </a:solidFill>
              </a:rPr>
              <a:t>   </a:t>
            </a:r>
          </a:p>
          <a:p>
            <a:r>
              <a:rPr lang="en-001" b="1" dirty="0">
                <a:solidFill>
                  <a:schemeClr val="tx2"/>
                </a:solidFill>
              </a:rPr>
              <a:t>Result: TRUE ⇒ TRUE = TRUE ✓</a:t>
            </a:r>
          </a:p>
          <a:p>
            <a:endParaRPr lang="en-001" dirty="0"/>
          </a:p>
          <a:p>
            <a:r>
              <a:rPr lang="en-001" b="1" dirty="0"/>
              <a:t>WHY IT WORKS:</a:t>
            </a:r>
          </a:p>
          <a:p>
            <a:r>
              <a:rPr lang="en-001" dirty="0"/>
              <a:t>The guard "train = PRESENT" protects us! We can only open the door when the train is present, so the invariant is always satisfied.</a:t>
            </a:r>
          </a:p>
          <a:p>
            <a:endParaRPr lang="en-001" dirty="0"/>
          </a:p>
          <a:p>
            <a:r>
              <a:rPr lang="en-001" dirty="0"/>
              <a:t>✅ PROOF OBLIGATION DISCHARGED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E3F486-D90A-F68D-C9CB-FF3D8BAF3219}"/>
              </a:ext>
            </a:extLst>
          </p:cNvPr>
          <p:cNvSpPr txBox="1"/>
          <p:nvPr/>
        </p:nvSpPr>
        <p:spPr>
          <a:xfrm>
            <a:off x="1916707" y="928079"/>
            <a:ext cx="5134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</a:rPr>
              <a:t>P</a:t>
            </a:r>
            <a:r>
              <a:rPr lang="en-001" b="1" i="1" dirty="0">
                <a:solidFill>
                  <a:schemeClr val="tx2"/>
                </a:solidFill>
              </a:rPr>
              <a:t>rove that OpenDoors event preserve invariant invx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5546F-B750-1869-9E76-0A5A92106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FF066-B788-CD1B-81AE-46BD6AE11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512" y="0"/>
            <a:ext cx="856297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Industrial Verification Example</a:t>
            </a:r>
            <a:r>
              <a:rPr lang="en-US" b="1" dirty="0">
                <a:solidFill>
                  <a:schemeClr val="tx2"/>
                </a:solidFill>
              </a:rPr>
              <a:t>*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D26A7-7BA0-FE09-0F02-A250C3D2E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11" y="1542379"/>
            <a:ext cx="8438709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Paris Metro Line 14</a:t>
            </a:r>
          </a:p>
          <a:p>
            <a:pPr marL="0" indent="0">
              <a:buNone/>
            </a:pPr>
            <a:endParaRPr lang="en-US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sz="1800" b="1" dirty="0"/>
              <a:t>Verification Results:</a:t>
            </a:r>
            <a:endParaRPr sz="1800" dirty="0"/>
          </a:p>
          <a:p>
            <a:r>
              <a:rPr lang="en-US" sz="1800" dirty="0"/>
              <a:t>27,800 proof obligations </a:t>
            </a:r>
          </a:p>
          <a:p>
            <a:r>
              <a:rPr lang="en-US" sz="1800" dirty="0"/>
              <a:t>~90% automatically discharged 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001" sz="1800" dirty="0"/>
          </a:p>
          <a:p>
            <a:pPr marL="0" indent="0">
              <a:buNone/>
            </a:pPr>
            <a:endParaRPr lang="en-001" sz="1800" dirty="0"/>
          </a:p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b="1" dirty="0"/>
              <a:t>Industrial Impact:</a:t>
            </a:r>
            <a:endParaRPr sz="1800" dirty="0"/>
          </a:p>
          <a:p>
            <a:r>
              <a:rPr lang="en-US" sz="1800" dirty="0"/>
              <a:t>Zero Safety Incidents since deployment in 1998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sz="1800" dirty="0"/>
          </a:p>
        </p:txBody>
      </p:sp>
      <p:pic>
        <p:nvPicPr>
          <p:cNvPr id="6" name="Picture 5" descr="A train on the tracks&#10;&#10;AI-generated content may be incorrect.">
            <a:extLst>
              <a:ext uri="{FF2B5EF4-FFF2-40B4-BE49-F238E27FC236}">
                <a16:creationId xmlns:a16="http://schemas.microsoft.com/office/drawing/2014/main" id="{6FEC9669-6B8D-40A3-EEE9-653805597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5261" y="1429476"/>
            <a:ext cx="4828225" cy="31888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B11FE7-1779-C02F-B041-43FB7CEA1896}"/>
              </a:ext>
            </a:extLst>
          </p:cNvPr>
          <p:cNvSpPr txBox="1"/>
          <p:nvPr/>
        </p:nvSpPr>
        <p:spPr>
          <a:xfrm>
            <a:off x="3917704" y="4313863"/>
            <a:ext cx="5226296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marR="0" lvl="0" indent="-257175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https://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www.railwaysignalling.eu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/formal-methods-railway-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signalling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-systems</a:t>
            </a:r>
          </a:p>
        </p:txBody>
      </p:sp>
    </p:spTree>
    <p:extLst>
      <p:ext uri="{BB962C8B-B14F-4D97-AF65-F5344CB8AC3E}">
        <p14:creationId xmlns:p14="http://schemas.microsoft.com/office/powerpoint/2010/main" val="3697614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BB212-6DDB-C429-7CAD-6E6B5F904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62105-1DE3-F039-488C-3F604C133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62" y="0"/>
            <a:ext cx="8372475" cy="11430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Best Practice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55E3A-2084-C1BC-32D0-658F6D5FFF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762" y="1325563"/>
            <a:ext cx="8372475" cy="4525963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4338CA"/>
                </a:solidFill>
                <a:latin typeface="Consolas"/>
              </a:rPr>
              <a:t>Event-B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Model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(</a:t>
            </a:r>
            <a:r>
              <a:rPr lang="en-US" sz="1400" dirty="0">
                <a:solidFill>
                  <a:srgbClr val="4338CA"/>
                </a:solidFill>
                <a:latin typeface="Consolas"/>
              </a:rPr>
              <a:t>Rodin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↓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59669"/>
                </a:solidFill>
                <a:latin typeface="Consolas"/>
              </a:rPr>
              <a:t>Proof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Obligations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Automatic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Provers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Interactive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Proofs</a:t>
            </a:r>
            <a:endParaRPr lang="en-US" sz="1400" dirty="0">
              <a:solidFill>
                <a:srgbClr val="7C3AED"/>
              </a:solidFill>
              <a:latin typeface="Cambria Math"/>
            </a:endParaRP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↓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59669"/>
                </a:solidFill>
                <a:latin typeface="Consolas"/>
              </a:rPr>
              <a:t>Animation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(</a:t>
            </a:r>
            <a:r>
              <a:rPr lang="en-US" sz="1400" dirty="0" err="1">
                <a:solidFill>
                  <a:srgbClr val="4338CA"/>
                </a:solidFill>
                <a:latin typeface="Consolas"/>
              </a:rPr>
              <a:t>ProB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)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Stakeholder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Validation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Model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Refinement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111827"/>
                </a:solidFill>
                <a:latin typeface="Consolas"/>
              </a:rPr>
              <a:t>   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↓</a:t>
            </a:r>
          </a:p>
          <a:p>
            <a:pPr marL="0" indent="0" algn="ctr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400" dirty="0">
                <a:solidFill>
                  <a:srgbClr val="059669"/>
                </a:solidFill>
                <a:latin typeface="Consolas"/>
              </a:rPr>
              <a:t>Model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Checking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(</a:t>
            </a:r>
            <a:r>
              <a:rPr lang="en-US" sz="1400" dirty="0" err="1">
                <a:solidFill>
                  <a:srgbClr val="4338CA"/>
                </a:solidFill>
                <a:latin typeface="Consolas"/>
              </a:rPr>
              <a:t>ProB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)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Deadlock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Detection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7C3AED"/>
                </a:solidFill>
                <a:latin typeface="Cambria Math"/>
              </a:rPr>
              <a:t>→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Safety Property</a:t>
            </a:r>
            <a:r>
              <a:rPr lang="en-US"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lang="en-US" sz="1400" dirty="0">
                <a:solidFill>
                  <a:srgbClr val="059669"/>
                </a:solidFill>
                <a:latin typeface="Consolas"/>
              </a:rPr>
              <a:t>Verification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sz="1800" b="1" dirty="0"/>
              <a:t>Start Abstract</a:t>
            </a:r>
            <a:r>
              <a:rPr sz="1800" dirty="0"/>
              <a:t>: Begin with high-level model, refine gradually</a:t>
            </a:r>
          </a:p>
          <a:p>
            <a:r>
              <a:rPr sz="1800" b="1" dirty="0"/>
              <a:t>Prove Incrementally</a:t>
            </a:r>
            <a:r>
              <a:rPr sz="1800" dirty="0"/>
              <a:t>: Discharge proof obligations at each refinement step</a:t>
            </a:r>
          </a:p>
          <a:p>
            <a:r>
              <a:rPr sz="1800" b="1" dirty="0"/>
              <a:t>Animate Early</a:t>
            </a:r>
            <a:r>
              <a:rPr sz="1800" dirty="0"/>
              <a:t>: Validate with stakeholders before detailed refinement</a:t>
            </a:r>
          </a:p>
          <a:p>
            <a:r>
              <a:rPr sz="1800" b="1" dirty="0"/>
              <a:t>Check Properties</a:t>
            </a:r>
            <a:r>
              <a:rPr sz="1800" dirty="0"/>
              <a:t>: Use model checking for complex properties</a:t>
            </a:r>
          </a:p>
          <a:p>
            <a:pPr marL="0" indent="0">
              <a:buNone/>
            </a:pP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893750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AB9A-DA4F-6459-A7E2-AB02FAEE0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A984B-E7F3-9DFE-FDC6-A053DE862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61B8-EF95-F83D-D818-92577445E2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85000" lnSpcReduction="20000"/>
          </a:bodyPr>
          <a:lstStyle/>
          <a:p>
            <a:r>
              <a:rPr lang="en-001" b="1" dirty="0"/>
              <a:t>Validation vs Veirificaiton</a:t>
            </a:r>
          </a:p>
          <a:p>
            <a:pPr lvl="1"/>
            <a:r>
              <a:rPr lang="en-001" dirty="0"/>
              <a:t>Building the right system - Building the system Right</a:t>
            </a:r>
          </a:p>
          <a:p>
            <a:r>
              <a:rPr lang="en-001" b="1" dirty="0"/>
              <a:t>Model Checking for verification</a:t>
            </a:r>
          </a:p>
          <a:p>
            <a:pPr lvl="1"/>
            <a:r>
              <a:rPr lang="en-001" dirty="0"/>
              <a:t>Explore all possible state to check safety properties</a:t>
            </a:r>
          </a:p>
          <a:p>
            <a:r>
              <a:rPr lang="en-001" b="1" dirty="0"/>
              <a:t>Animation for validation</a:t>
            </a:r>
          </a:p>
          <a:p>
            <a:pPr lvl="1"/>
            <a:r>
              <a:rPr lang="en-001" dirty="0"/>
              <a:t>Validate specific scenario with doamin expert</a:t>
            </a:r>
          </a:p>
          <a:p>
            <a:r>
              <a:rPr lang="en-001" b="1" dirty="0"/>
              <a:t>Proof Obligations</a:t>
            </a:r>
          </a:p>
          <a:p>
            <a:pPr lvl="1"/>
            <a:r>
              <a:rPr lang="en-001" b="1" dirty="0"/>
              <a:t>Theorem proving in Event-B</a:t>
            </a:r>
          </a:p>
          <a:p>
            <a:endParaRPr lang="en-001" dirty="0"/>
          </a:p>
          <a:p>
            <a:endParaRPr lang="en-001" dirty="0"/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pPr marL="342900" lvl="1" indent="0">
              <a:buNone/>
            </a:pPr>
            <a:endParaRPr lang="en-US" dirty="0"/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</a:t>
            </a:r>
            <a:endParaRPr lang="en-001" dirty="0"/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46910A-0021-49BE-A189-1BB2D9C9FBF6}"/>
              </a:ext>
            </a:extLst>
          </p:cNvPr>
          <p:cNvSpPr txBox="1"/>
          <p:nvPr/>
        </p:nvSpPr>
        <p:spPr>
          <a:xfrm>
            <a:off x="907692" y="4131611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4211513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27198</TotalTime>
  <Words>1401</Words>
  <Application>Microsoft Macintosh PowerPoint</Application>
  <PresentationFormat>On-screen Show (4:3)</PresentationFormat>
  <Paragraphs>280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Consolas</vt:lpstr>
      <vt:lpstr>Office Theme</vt:lpstr>
      <vt:lpstr> AICE2005 - Systematic Design  Formal Specification and Verification</vt:lpstr>
      <vt:lpstr>Course Introduction</vt:lpstr>
      <vt:lpstr>PowerPoint Presentation</vt:lpstr>
      <vt:lpstr>Lecture 4 Overview</vt:lpstr>
      <vt:lpstr>Recap: Set theory and Logic Foundation</vt:lpstr>
      <vt:lpstr>What is Formal Verification?</vt:lpstr>
      <vt:lpstr>Verification &amp; Validation V &amp; V</vt:lpstr>
      <vt:lpstr>Model Checking for Verification</vt:lpstr>
      <vt:lpstr>Model Checking Example</vt:lpstr>
      <vt:lpstr>Model Checking Example</vt:lpstr>
      <vt:lpstr>Animation for Validation</vt:lpstr>
      <vt:lpstr>Proof Obligations in Event-B</vt:lpstr>
      <vt:lpstr>Proof Obligations Example</vt:lpstr>
      <vt:lpstr>Industrial Verification Example*</vt:lpstr>
      <vt:lpstr>Best Practice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42</cp:revision>
  <dcterms:created xsi:type="dcterms:W3CDTF">2013-01-27T09:14:16Z</dcterms:created>
  <dcterms:modified xsi:type="dcterms:W3CDTF">2026-10-07T20:40:45Z</dcterms:modified>
  <cp:category/>
</cp:coreProperties>
</file>