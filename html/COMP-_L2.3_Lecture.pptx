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13"/>
    <p:restoredTop sz="95876"/>
  </p:normalViewPr>
  <p:slideViewPr>
    <p:cSldViewPr snapToGrid="0" snapToObjects="1">
      <p:cViewPr varScale="1">
        <p:scale>
          <a:sx n="118" d="100"/>
          <a:sy n="118" d="100"/>
        </p:scale>
        <p:origin x="2800" y="496"/>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C0760-A542-FE4F-8EBF-B1B1FB6407CD}" type="datetimeFigureOut">
              <a:rPr lang="en-001" smtClean="0"/>
              <a:t>21/09/2026</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D410-6F06-0944-A7D6-EF8BD4B59FCF}" type="slidenum">
              <a:rPr lang="en-001" smtClean="0"/>
              <a:t>‹#›</a:t>
            </a:fld>
            <a:endParaRPr lang="en-001"/>
          </a:p>
        </p:txBody>
      </p:sp>
    </p:spTree>
    <p:extLst>
      <p:ext uri="{BB962C8B-B14F-4D97-AF65-F5344CB8AC3E}">
        <p14:creationId xmlns:p14="http://schemas.microsoft.com/office/powerpoint/2010/main" val="77502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0 min] Week 2, Lecture 3 of 3. Plan: 50 minutes = 20 main slides, </a:t>
            </a:r>
            <a:r>
              <a:rPr lang="en-US" dirty="0"/>
              <a:t>one</a:t>
            </a:r>
            <a:r>
              <a:rPr dirty="0"/>
              <a:t> exercise, plus hidden appendix slides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Lecture 1 gave the vocabulary, Lecture 2 the techniques to find and check requirements. Today: two tools that make requirements concrete, use cases and personas.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1 min] Attendance (</a:t>
            </a:r>
            <a:r>
              <a:rPr dirty="0" err="1"/>
              <a:t>SEAtS</a:t>
            </a:r>
            <a:r>
              <a:rPr dirty="0"/>
              <a:t>) slide.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Ask: 'A list of shall statements is complete and correct. Can the system still fail its users? How?' Lead into the need for scenarios and people.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Bracketed codes map objectives to module outcomes (B1 decomposing at the system boundary, B2 interfaces, A3 group-project practice, B5 ethical responsibility). Adjust if you prefer.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Motivation slide. 'Socio-technical' means the system includes people, organisations and technology together. Use cases add testable structure; personas add empathy and context. The claim about industry surveys is from the original deck; cite the specific survey you prefer if asked.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Two ideas: user-centred design (principles) and a systems lens (why one persona is never enough). The boundary idea leads to use cases: what happens where the system meets its users and other systems.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Use cases were popularised by Ivar Jacobson and developed by Alistair Cockburn. Stress 'without prescribing how': a use case says what the actor and the system do at the boundary, not how the software is built.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Read the diagram: the Student is the primary actor of 'Book study room'. Booking always includes checking availability and signing in, and may be extended by 'Join waiting list' when no room is free. The Sensor node and Facilities staff are other actors. UML use case diagrams give stakeholders a quick overview; the detail lives in the text specification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The six parts of a fully dressed use case. Point out the last line: use intention words (selects, enters, confirms) instead of interface words (click, type, display), so the use case survives a redesign of the interface.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Cockburn's altitude metaphor: cloud and kite are summary levels above the water; sea level is the user goal, where most specification effort belongs; fish and clam are below. Correction to the old slides: they labelled kite as the user-goal level and sea as the subfunction level; in Cockburn's model the user goal is sea level.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 min] The same structure as the old 'Transfer Funds' example (kept as a hidden appendix slide), moved to the Smart Study Room. Walk the columns left to right. Ask: what alternative flow is missing? (e.g. student loses connection at step 5; the room is booked by someone else between steps 2 and 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Vevox multiple-choice poll with four options. About 20 seconds per statement. Answers: 1 summary, 2 user goal, 3 subfunction, 4 user goal, 5 summary, 6 too low.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Statement 3 could be argued either way; if a student opened a tool just to validate a booking it would be a user goal. That is the point: the level depends on the actor and the goal.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Paired toolkit: use cases capture behaviour, personas anchor it in lived context. The persona idea was popularised by Alan Cooper. Personas humanise stakeholder viewpoints in a complex ecosystem, which links back to the systems lens.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Persona creation as a small research process. Affinity mapping: write observations on notes and group them. Validation matters: show the draft to participants and ask 'does this sound like someone you know?'. Stale personas are a risk (see critical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A short persona card: identity, goals, frustrations, context, a quote and, importantly, the evidence base. This persona is invented for teaching. It uses a disability as an accessibility need relevant to the system, without making it the whole identity; call this out. Exercise 2 uses Priya.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Map personas to use cases to expose coverage gaps, conflicting needs and improvement opportunities. Here the conflict cell shows a requirement conflict caught before design. A scenario combines persona, goal and context into a short narrative (for example: Priya, at home before a 9am lab, checks that a step-free room is free).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Critical evaluation for learning outcome 4 (and B5): personas can encode bias. Ask: whose voices are missing from the data? Invented details (a stock photo, a hobby) add false certainty. Future directions (AI-assisted personas, living personas) are in the hidden appendix.</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Close with the takeaways and preview the next block. Ask students to keep Priya's use case and the requirement lists from this week: they feed the architecture work. The slides after this one are hidden appendix slides.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from the old deck.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a condensed version of the three banking use case diagrams in the old deck (Execute Transfer, Review Transfer Summary, Handle Transfer Errors).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Both are effective in multi-component systems where software, hardware and user interaction must be aligned. Many teams use both: use cases for the overview, stories for the backlog.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covering the 'Future Directions' item in the old agenda, which had no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 392856</a:t>
            </a:r>
          </a:p>
          <a:p>
            <a:r>
              <a:rPr lang="en-GB" sz="800" b="1" dirty="0">
                <a:solidFill>
                  <a:srgbClr val="8C8C8C"/>
                </a:solidFill>
              </a:rPr>
              <a:t>© University of Southampton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11"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2"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7"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8"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6"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7"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9/21/26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a:solidFill>
                  <a:srgbClr val="1F497D"/>
                </a:solidFill>
              </a:rPr>
              <a:t>SEAtS | 392856</a:t>
            </a:r>
          </a:p>
          <a:p>
            <a:r>
              <a:rPr lang="en-GB" sz="800" b="1" dirty="0">
                <a:solidFill>
                  <a:srgbClr val="8C8C8C"/>
                </a:solidFill>
              </a:rPr>
              <a:t>© University of Southampton</a:t>
            </a:r>
          </a:p>
        </p:txBody>
      </p:sp>
    </p:spTree>
    <p:extLst>
      <p:ext uri="{BB962C8B-B14F-4D97-AF65-F5344CB8AC3E}">
        <p14:creationId xmlns:p14="http://schemas.microsoft.com/office/powerpoint/2010/main" val="19705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alehi@Soton.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371600"/>
            <a:ext cx="8412480" cy="2468880"/>
          </a:xfrm>
        </p:spPr>
        <p:txBody>
          <a:bodyPr/>
          <a:lstStyle/>
          <a:p>
            <a:r>
              <a:rPr sz="3600"/>
              <a:t>AICE2005 - Systematic Design</a:t>
            </a:r>
            <a:br/>
            <a:br/>
            <a:r>
              <a:rPr sz="3800" b="1">
                <a:solidFill>
                  <a:schemeClr val="tx2"/>
                </a:solidFill>
              </a:rPr>
              <a:t>Use Cases and Personas</a:t>
            </a:r>
          </a:p>
        </p:txBody>
      </p:sp>
      <p:sp>
        <p:nvSpPr>
          <p:cNvPr id="3" name="Subtitle 2"/>
          <p:cNvSpPr>
            <a:spLocks noGrp="1"/>
          </p:cNvSpPr>
          <p:nvPr>
            <p:ph type="subTitle" idx="1"/>
          </p:nvPr>
        </p:nvSpPr>
        <p:spPr>
          <a:xfrm>
            <a:off x="1371600" y="4114800"/>
            <a:ext cx="6400800" cy="1463040"/>
          </a:xfrm>
        </p:spPr>
        <p:txBody>
          <a:bodyPr>
            <a:normAutofit fontScale="70000" lnSpcReduction="20000"/>
          </a:bodyPr>
          <a:lstStyle/>
          <a:p>
            <a:r>
              <a:rPr dirty="0"/>
              <a:t>Asieh Salehi Fathabadi</a:t>
            </a:r>
            <a:endParaRPr lang="en-US" dirty="0"/>
          </a:p>
          <a:p>
            <a:r>
              <a:rPr lang="en-US" dirty="0">
                <a:hlinkClick r:id="rId3"/>
              </a:rPr>
              <a:t>A.Salehi@Soton.ac.uk</a:t>
            </a:r>
            <a:endParaRPr lang="en-US" dirty="0"/>
          </a:p>
          <a:p>
            <a:endParaRPr dirty="0"/>
          </a:p>
          <a:p>
            <a:r>
              <a:rPr dirty="0"/>
              <a:t>University of Southampton</a:t>
            </a:r>
          </a:p>
          <a:p>
            <a:r>
              <a:rPr dirty="0"/>
              <a:t>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Week Overview</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2000" b="0">
                <a:solidFill>
                  <a:srgbClr val="595959"/>
                </a:solidFill>
              </a:rPr>
              <a:t>Week 2  |  Analysing systems: requirements</a:t>
            </a:r>
          </a:p>
        </p:txBody>
      </p:sp>
      <p:sp>
        <p:nvSpPr>
          <p:cNvPr id="4" name="Rounded Rectangle 3"/>
          <p:cNvSpPr/>
          <p:nvPr/>
        </p:nvSpPr>
        <p:spPr>
          <a:xfrm>
            <a:off x="457200" y="17830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1: Functional and Non-Functional Requirements</a:t>
            </a:r>
          </a:p>
          <a:p>
            <a:pPr marL="0" indent="0" algn="l">
              <a:buNone/>
            </a:pPr>
            <a:r>
              <a:rPr sz="1600" b="0">
                <a:solidFill>
                  <a:srgbClr val="595959"/>
                </a:solidFill>
              </a:rPr>
              <a:t>What must the system do, and how well must it do it?</a:t>
            </a:r>
          </a:p>
        </p:txBody>
      </p:sp>
      <p:sp>
        <p:nvSpPr>
          <p:cNvPr id="5" name="Rounded Rectangle 4"/>
          <p:cNvSpPr/>
          <p:nvPr/>
        </p:nvSpPr>
        <p:spPr>
          <a:xfrm>
            <a:off x="457200" y="31546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2: Gathering and Validating Requirements</a:t>
            </a:r>
          </a:p>
          <a:p>
            <a:pPr marL="0" indent="0" algn="l">
              <a:buNone/>
            </a:pPr>
            <a:r>
              <a:rPr sz="1600" b="0">
                <a:solidFill>
                  <a:srgbClr val="595959"/>
                </a:solidFill>
              </a:rPr>
              <a:t>How do we find out what stakeholders need, and check we got it right?</a:t>
            </a:r>
          </a:p>
        </p:txBody>
      </p:sp>
      <p:sp>
        <p:nvSpPr>
          <p:cNvPr id="6" name="Rounded Rectangle 5"/>
          <p:cNvSpPr/>
          <p:nvPr/>
        </p:nvSpPr>
        <p:spPr>
          <a:xfrm>
            <a:off x="457200" y="4526280"/>
            <a:ext cx="8229600" cy="1143000"/>
          </a:xfrm>
          <a:prstGeom prst="roundRect">
            <a:avLst>
              <a:gd name="adj" fmla="val 8000"/>
            </a:avLst>
          </a:prstGeom>
          <a:solidFill>
            <a:srgbClr val="1F497D"/>
          </a:solidFill>
          <a:ln>
            <a:noFill/>
          </a:ln>
          <a:effectLst/>
        </p:spPr>
        <p:txBody>
          <a:bodyPr wrap="square" lIns="228600" tIns="54864" rIns="228600" bIns="54864" rtlCol="0" anchor="ctr"/>
          <a:lstStyle/>
          <a:p>
            <a:pPr marL="0" indent="0" algn="l">
              <a:spcAft>
                <a:spcPts val="400"/>
              </a:spcAft>
              <a:buNone/>
            </a:pPr>
            <a:r>
              <a:rPr sz="2200" b="1">
                <a:solidFill>
                  <a:srgbClr val="FFFFFF"/>
                </a:solidFill>
              </a:rPr>
              <a:t>Lecture 3: Use Cases and Personas</a:t>
            </a:r>
          </a:p>
          <a:p>
            <a:pPr marL="0" indent="0" algn="l">
              <a:buNone/>
            </a:pPr>
            <a:r>
              <a:rPr sz="1600" b="0">
                <a:solidFill>
                  <a:srgbClr val="FFFFFF"/>
                </a:solidFill>
              </a:rPr>
              <a:t>How do we capture users and their goals as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999768"/>
            <a:ext cx="8229600" cy="572464"/>
          </a:xfrm>
          <a:prstGeom prst="rect">
            <a:avLst/>
          </a:prstGeom>
          <a:noFill/>
        </p:spPr>
        <p:txBody>
          <a:bodyPr wrap="square" lIns="73152" tIns="54864" rIns="73152" bIns="54864" anchor="ctr">
            <a:spAutoFit/>
          </a:bodyPr>
          <a:lstStyle/>
          <a:p>
            <a:pPr algn="ctr">
              <a:spcAft>
                <a:spcPts val="1400"/>
              </a:spcAft>
            </a:pPr>
            <a:r>
              <a:rPr lang="en-US" sz="3000" b="1" dirty="0">
                <a:solidFill>
                  <a:srgbClr val="1F497D"/>
                </a:solidFill>
              </a:rPr>
              <a:t>Record your attendance</a:t>
            </a:r>
          </a:p>
        </p:txBody>
      </p:sp>
      <p:sp>
        <p:nvSpPr>
          <p:cNvPr id="5" name="TextBox 4"/>
          <p:cNvSpPr txBox="1"/>
          <p:nvPr/>
        </p:nvSpPr>
        <p:spPr>
          <a:xfrm>
            <a:off x="2743200" y="5459099"/>
            <a:ext cx="3657600" cy="603242"/>
          </a:xfrm>
          <a:prstGeom prst="rect">
            <a:avLst/>
          </a:prstGeom>
          <a:noFill/>
        </p:spPr>
        <p:txBody>
          <a:bodyPr wrap="square" lIns="73152" tIns="54864" rIns="73152" bIns="54864" anchor="ctr">
            <a:spAutoFit/>
          </a:bodyPr>
          <a:lstStyle/>
          <a:p>
            <a:pPr algn="ctr"/>
            <a:r>
              <a:rPr lang="en-001" sz="3200" dirty="0">
                <a:solidFill>
                  <a:srgbClr val="262626"/>
                </a:solidFill>
              </a:rPr>
              <a:t>392856</a:t>
            </a:r>
            <a:endParaRPr sz="3200" b="0" dirty="0">
              <a:solidFill>
                <a:srgbClr val="262626"/>
              </a:solidFill>
            </a:endParaRPr>
          </a:p>
        </p:txBody>
      </p:sp>
      <p:pic>
        <p:nvPicPr>
          <p:cNvPr id="7" name="Picture 6" descr="A qr code with a few squares&#10;&#10;AI-generated content may be incorrect.">
            <a:extLst>
              <a:ext uri="{FF2B5EF4-FFF2-40B4-BE49-F238E27FC236}">
                <a16:creationId xmlns:a16="http://schemas.microsoft.com/office/drawing/2014/main" id="{7445D525-D15D-CE46-3A7E-67AA1FAE2882}"/>
              </a:ext>
            </a:extLst>
          </p:cNvPr>
          <p:cNvPicPr>
            <a:picLocks noChangeAspect="1"/>
          </p:cNvPicPr>
          <p:nvPr/>
        </p:nvPicPr>
        <p:blipFill>
          <a:blip r:embed="rId3"/>
          <a:stretch>
            <a:fillRect/>
          </a:stretch>
        </p:blipFill>
        <p:spPr>
          <a:xfrm>
            <a:off x="3391593" y="2967644"/>
            <a:ext cx="2522024" cy="24914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Recap: Lectures 1 and 2</a:t>
            </a:r>
          </a:p>
        </p:txBody>
      </p:sp>
      <p:sp>
        <p:nvSpPr>
          <p:cNvPr id="3" name="TextBox 2"/>
          <p:cNvSpPr txBox="1"/>
          <p:nvPr/>
        </p:nvSpPr>
        <p:spPr>
          <a:xfrm>
            <a:off x="411480" y="1188720"/>
            <a:ext cx="8321040" cy="4937760"/>
          </a:xfrm>
          <a:prstGeom prst="rect">
            <a:avLst/>
          </a:prstGeom>
          <a:noFill/>
        </p:spPr>
        <p:txBody>
          <a:bodyPr wrap="square" lIns="73152" tIns="54864" rIns="73152" bIns="54864" anchor="t">
            <a:spAutoFit/>
          </a:bodyPr>
          <a:lstStyle/>
          <a:p>
            <a:pPr marL="285750" indent="-285750" algn="l">
              <a:spcAft>
                <a:spcPts val="1600"/>
              </a:spcAft>
              <a:buFont typeface="Arial"/>
              <a:buChar char="•"/>
            </a:pPr>
            <a:r>
              <a:rPr sz="2400" b="1">
                <a:solidFill>
                  <a:srgbClr val="1F497D"/>
                </a:solidFill>
              </a:rPr>
              <a:t>Lecture 1: </a:t>
            </a:r>
            <a:r>
              <a:rPr sz="2400" b="0">
                <a:solidFill>
                  <a:srgbClr val="262626"/>
                </a:solidFill>
              </a:rPr>
              <a:t>FRs, NFRs and how to make them measurable and unambiguous</a:t>
            </a:r>
          </a:p>
          <a:p>
            <a:pPr marL="285750" indent="-285750" algn="l">
              <a:spcAft>
                <a:spcPts val="1600"/>
              </a:spcAft>
              <a:buFont typeface="Arial"/>
              <a:buChar char="•"/>
            </a:pPr>
            <a:r>
              <a:rPr sz="2400" b="1">
                <a:solidFill>
                  <a:srgbClr val="1F497D"/>
                </a:solidFill>
              </a:rPr>
              <a:t>Lecture 2: </a:t>
            </a:r>
            <a:r>
              <a:rPr sz="2400" b="0">
                <a:solidFill>
                  <a:srgbClr val="262626"/>
                </a:solidFill>
              </a:rPr>
              <a:t>eliciting requirements from stakeholders and validating them</a:t>
            </a:r>
          </a:p>
          <a:p>
            <a:pPr marL="285750" indent="-285750" algn="l">
              <a:spcAft>
                <a:spcPts val="1600"/>
              </a:spcAft>
              <a:buFont typeface="Arial"/>
              <a:buChar char="•"/>
            </a:pPr>
            <a:r>
              <a:rPr sz="2400" b="1">
                <a:solidFill>
                  <a:srgbClr val="1F497D"/>
                </a:solidFill>
              </a:rPr>
              <a:t>Open problem: </a:t>
            </a:r>
            <a:r>
              <a:rPr sz="2400" b="0">
                <a:solidFill>
                  <a:srgbClr val="262626"/>
                </a:solidFill>
              </a:rPr>
              <a:t>lists of "shall" statements can still miss how real people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Lecture 3 Overview</a:t>
            </a:r>
          </a:p>
        </p:txBody>
      </p:sp>
      <p:sp>
        <p:nvSpPr>
          <p:cNvPr id="3" name="TextBox 2"/>
          <p:cNvSpPr txBox="1"/>
          <p:nvPr/>
        </p:nvSpPr>
        <p:spPr>
          <a:xfrm>
            <a:off x="457200" y="1097280"/>
            <a:ext cx="8229600" cy="228600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2000" b="0">
                <a:solidFill>
                  <a:srgbClr val="262626"/>
                </a:solidFill>
              </a:rPr>
              <a:t>Why requirements still fail</a:t>
            </a:r>
          </a:p>
          <a:p>
            <a:pPr marL="285750" indent="-285750" algn="l">
              <a:spcAft>
                <a:spcPts val="400"/>
              </a:spcAft>
              <a:buFont typeface="Arial"/>
              <a:buChar char="•"/>
            </a:pPr>
            <a:r>
              <a:rPr sz="2000" b="0">
                <a:solidFill>
                  <a:srgbClr val="262626"/>
                </a:solidFill>
              </a:rPr>
              <a:t>User-centred design and use cases</a:t>
            </a:r>
          </a:p>
          <a:p>
            <a:pPr marL="285750" indent="-285750" algn="l">
              <a:spcAft>
                <a:spcPts val="400"/>
              </a:spcAft>
              <a:buFont typeface="Arial"/>
              <a:buChar char="•"/>
            </a:pPr>
            <a:r>
              <a:rPr sz="2000" b="0">
                <a:solidFill>
                  <a:srgbClr val="262626"/>
                </a:solidFill>
              </a:rPr>
              <a:t>Use case anatomy, levels and a worked example</a:t>
            </a:r>
          </a:p>
          <a:p>
            <a:pPr marL="285750" indent="-285750" algn="l">
              <a:spcAft>
                <a:spcPts val="400"/>
              </a:spcAft>
              <a:buFont typeface="Arial"/>
              <a:buChar char="•"/>
            </a:pPr>
            <a:r>
              <a:rPr sz="2000" b="0">
                <a:solidFill>
                  <a:srgbClr val="262626"/>
                </a:solidFill>
              </a:rPr>
              <a:t>Personas and how to build them</a:t>
            </a:r>
          </a:p>
          <a:p>
            <a:pPr marL="285750" indent="-285750" algn="l">
              <a:spcAft>
                <a:spcPts val="400"/>
              </a:spcAft>
              <a:buFont typeface="Arial"/>
              <a:buChar char="•"/>
            </a:pPr>
            <a:r>
              <a:rPr sz="2000" b="0">
                <a:solidFill>
                  <a:srgbClr val="262626"/>
                </a:solidFill>
              </a:rPr>
              <a:t>Integrating and critically evaluating both</a:t>
            </a:r>
          </a:p>
        </p:txBody>
      </p:sp>
      <p:sp>
        <p:nvSpPr>
          <p:cNvPr id="4" name="TextBox 3"/>
          <p:cNvSpPr txBox="1"/>
          <p:nvPr/>
        </p:nvSpPr>
        <p:spPr>
          <a:xfrm>
            <a:off x="457200" y="3429000"/>
            <a:ext cx="8229600" cy="411480"/>
          </a:xfrm>
          <a:prstGeom prst="rect">
            <a:avLst/>
          </a:prstGeom>
          <a:noFill/>
        </p:spPr>
        <p:txBody>
          <a:bodyPr wrap="square" lIns="73152" tIns="54864" rIns="73152" bIns="54864" anchor="t">
            <a:spAutoFit/>
          </a:bodyPr>
          <a:lstStyle/>
          <a:p>
            <a:pPr marL="0" indent="0" algn="l">
              <a:buNone/>
            </a:pPr>
            <a:r>
              <a:rPr sz="2000" b="1">
                <a:solidFill>
                  <a:srgbClr val="1F497D"/>
                </a:solidFill>
              </a:rPr>
              <a:t>Learning Objectives:</a:t>
            </a:r>
          </a:p>
        </p:txBody>
      </p:sp>
      <p:sp>
        <p:nvSpPr>
          <p:cNvPr id="5" name="TextBox 4"/>
          <p:cNvSpPr txBox="1"/>
          <p:nvPr/>
        </p:nvSpPr>
        <p:spPr>
          <a:xfrm>
            <a:off x="457200" y="3886200"/>
            <a:ext cx="8229600" cy="1649682"/>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800" b="0" dirty="0">
                <a:solidFill>
                  <a:srgbClr val="262626"/>
                </a:solidFill>
              </a:rPr>
              <a:t>Define and differentiate use cases and personas as complementary techniques</a:t>
            </a:r>
            <a:r>
              <a:rPr sz="1400" b="0" dirty="0">
                <a:solidFill>
                  <a:srgbClr val="595959"/>
                </a:solidFill>
              </a:rPr>
              <a:t>  </a:t>
            </a:r>
          </a:p>
          <a:p>
            <a:pPr marL="285750" indent="-285750" algn="l">
              <a:spcAft>
                <a:spcPts val="400"/>
              </a:spcAft>
              <a:buFont typeface="Arial"/>
              <a:buChar char="•"/>
            </a:pPr>
            <a:r>
              <a:rPr sz="1800" b="0" dirty="0">
                <a:solidFill>
                  <a:srgbClr val="262626"/>
                </a:solidFill>
              </a:rPr>
              <a:t>Construct well-formed use case specifications and persona profiles from research data</a:t>
            </a:r>
            <a:r>
              <a:rPr sz="1400" b="0" dirty="0">
                <a:solidFill>
                  <a:srgbClr val="595959"/>
                </a:solidFill>
              </a:rPr>
              <a:t> </a:t>
            </a:r>
          </a:p>
          <a:p>
            <a:pPr marL="285750" indent="-285750" algn="l">
              <a:spcAft>
                <a:spcPts val="400"/>
              </a:spcAft>
              <a:buFont typeface="Arial"/>
              <a:buChar char="•"/>
            </a:pPr>
            <a:r>
              <a:rPr sz="1800" b="0" dirty="0">
                <a:solidFill>
                  <a:srgbClr val="262626"/>
                </a:solidFill>
              </a:rPr>
              <a:t>Integrate use cases and personas into systems analysis workflows</a:t>
            </a:r>
            <a:r>
              <a:rPr sz="1400" b="0" dirty="0">
                <a:solidFill>
                  <a:srgbClr val="595959"/>
                </a:solidFill>
              </a:rPr>
              <a:t>  </a:t>
            </a:r>
          </a:p>
          <a:p>
            <a:pPr marL="285750" indent="-285750" algn="l">
              <a:spcAft>
                <a:spcPts val="400"/>
              </a:spcAft>
              <a:buFont typeface="Arial"/>
              <a:buChar char="•"/>
            </a:pPr>
            <a:r>
              <a:rPr sz="1800" b="0" dirty="0">
                <a:solidFill>
                  <a:srgbClr val="262626"/>
                </a:solidFill>
              </a:rPr>
              <a:t>Critically evaluate the strengths, limitations and contexts of these methods</a:t>
            </a:r>
            <a:r>
              <a:rPr sz="1400" b="0" dirty="0">
                <a:solidFill>
                  <a:srgbClr val="595959"/>
                </a:solid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Why Requirements Still Fail</a:t>
            </a:r>
          </a:p>
        </p:txBody>
      </p:sp>
      <p:sp>
        <p:nvSpPr>
          <p:cNvPr id="3" name="Rectangle 2"/>
          <p:cNvSpPr/>
          <p:nvPr/>
        </p:nvSpPr>
        <p:spPr>
          <a:xfrm>
            <a:off x="457200" y="1188720"/>
            <a:ext cx="8229600" cy="1097280"/>
          </a:xfrm>
          <a:prstGeom prst="rect">
            <a:avLst/>
          </a:prstGeom>
          <a:solidFill>
            <a:srgbClr val="FDE9D9"/>
          </a:solidFill>
          <a:ln>
            <a:noFill/>
          </a:ln>
          <a:effectLst/>
        </p:spPr>
        <p:txBody>
          <a:bodyPr wrap="square" lIns="182880" tIns="54864" rIns="182880" bIns="54864" rtlCol="0" anchor="ctr"/>
          <a:lstStyle/>
          <a:p>
            <a:pPr marL="0" indent="0" algn="l">
              <a:buNone/>
            </a:pPr>
            <a:r>
              <a:rPr sz="1800" b="1">
                <a:solidFill>
                  <a:srgbClr val="E36C09"/>
                </a:solidFill>
              </a:rPr>
              <a:t>Persistent risk: </a:t>
            </a:r>
            <a:r>
              <a:rPr sz="1800" b="0">
                <a:solidFill>
                  <a:srgbClr val="262626"/>
                </a:solidFill>
              </a:rPr>
              <a:t>industry surveys continue to cite incomplete requirements and limited user involvement as leading causes of project failure.</a:t>
            </a:r>
          </a:p>
        </p:txBody>
      </p:sp>
      <p:sp>
        <p:nvSpPr>
          <p:cNvPr id="4" name="TextBox 3"/>
          <p:cNvSpPr txBox="1"/>
          <p:nvPr/>
        </p:nvSpPr>
        <p:spPr>
          <a:xfrm>
            <a:off x="457200" y="2514600"/>
            <a:ext cx="8229600" cy="2011680"/>
          </a:xfrm>
          <a:prstGeom prst="rect">
            <a:avLst/>
          </a:prstGeom>
          <a:noFill/>
        </p:spPr>
        <p:txBody>
          <a:bodyPr wrap="square" lIns="73152" tIns="54864" rIns="73152" bIns="54864" anchor="t">
            <a:spAutoFit/>
          </a:bodyPr>
          <a:lstStyle/>
          <a:p>
            <a:pPr marL="285750" indent="-285750" algn="l">
              <a:spcAft>
                <a:spcPts val="1200"/>
              </a:spcAft>
              <a:buFont typeface="+mj-lt"/>
              <a:buAutoNum type="arabicPeriod"/>
            </a:pPr>
            <a:r>
              <a:rPr sz="2000" b="0">
                <a:solidFill>
                  <a:srgbClr val="262626"/>
                </a:solidFill>
              </a:rPr>
              <a:t>Experienced practitioners warn that requirements specification is often the hardest, and most dangerous, stage of systems development.</a:t>
            </a:r>
          </a:p>
          <a:p>
            <a:pPr marL="285750" indent="-285750" algn="l">
              <a:spcAft>
                <a:spcPts val="1200"/>
              </a:spcAft>
              <a:buFont typeface="+mj-lt"/>
              <a:buAutoNum type="arabicPeriod"/>
            </a:pPr>
            <a:r>
              <a:rPr sz="2000" b="0">
                <a:solidFill>
                  <a:srgbClr val="262626"/>
                </a:solidFill>
              </a:rPr>
              <a:t>Traditional elicitation (interviews, surveys, document reviews) regularly produces abstract statements that ignore lived user context.</a:t>
            </a:r>
          </a:p>
        </p:txBody>
      </p:sp>
      <p:sp>
        <p:nvSpPr>
          <p:cNvPr id="5" name="Rectangle 4"/>
          <p:cNvSpPr/>
          <p:nvPr/>
        </p:nvSpPr>
        <p:spPr>
          <a:xfrm>
            <a:off x="457200" y="4572000"/>
            <a:ext cx="8229600" cy="1554480"/>
          </a:xfrm>
          <a:prstGeom prst="rect">
            <a:avLst/>
          </a:prstGeom>
          <a:solidFill>
            <a:srgbClr val="DCE6F2"/>
          </a:solidFill>
          <a:ln>
            <a:noFill/>
          </a:ln>
          <a:effectLst/>
        </p:spPr>
        <p:txBody>
          <a:bodyPr wrap="square" lIns="228600" tIns="54864" rIns="228600" bIns="54864" rtlCol="0" anchor="ctr"/>
          <a:lstStyle/>
          <a:p>
            <a:pPr marL="0" indent="0" algn="l">
              <a:buNone/>
            </a:pPr>
            <a:r>
              <a:rPr sz="2000" b="1">
                <a:solidFill>
                  <a:srgbClr val="1F497D"/>
                </a:solidFill>
              </a:rPr>
              <a:t>Use cases and personas inject narrative, empathy and testable structure into socio-technical requirements.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User-Centred Design Foundations</a:t>
            </a:r>
          </a:p>
        </p:txBody>
      </p:sp>
      <p:sp>
        <p:nvSpPr>
          <p:cNvPr id="3" name="Rectangle 2"/>
          <p:cNvSpPr/>
          <p:nvPr/>
        </p:nvSpPr>
        <p:spPr>
          <a:xfrm>
            <a:off x="457200" y="1188720"/>
            <a:ext cx="4023360" cy="420624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234440"/>
            <a:ext cx="3749039" cy="502920"/>
          </a:xfrm>
          <a:prstGeom prst="rect">
            <a:avLst/>
          </a:prstGeom>
          <a:noFill/>
        </p:spPr>
        <p:txBody>
          <a:bodyPr wrap="square" lIns="73152" tIns="54864" rIns="73152" bIns="54864" anchor="ctr">
            <a:spAutoFit/>
          </a:bodyPr>
          <a:lstStyle/>
          <a:p>
            <a:pPr marL="0" indent="0" algn="l">
              <a:buNone/>
            </a:pPr>
            <a:r>
              <a:rPr sz="2100" b="1">
                <a:solidFill>
                  <a:srgbClr val="1F497D"/>
                </a:solidFill>
              </a:rPr>
              <a:t>Core principles</a:t>
            </a:r>
          </a:p>
        </p:txBody>
      </p:sp>
      <p:sp>
        <p:nvSpPr>
          <p:cNvPr id="5" name="TextBox 4"/>
          <p:cNvSpPr txBox="1"/>
          <p:nvPr/>
        </p:nvSpPr>
        <p:spPr>
          <a:xfrm>
            <a:off x="59436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800" b="0">
                <a:solidFill>
                  <a:srgbClr val="262626"/>
                </a:solidFill>
              </a:rPr>
              <a:t>Shift design priorities from technology capabilities to human needs and contexts.</a:t>
            </a:r>
          </a:p>
          <a:p>
            <a:pPr marL="285750" indent="-285750" algn="l">
              <a:spcAft>
                <a:spcPts val="800"/>
              </a:spcAft>
              <a:buFont typeface="Arial"/>
              <a:buChar char="•"/>
            </a:pPr>
            <a:r>
              <a:rPr sz="1800" b="0">
                <a:solidFill>
                  <a:srgbClr val="262626"/>
                </a:solidFill>
              </a:rPr>
              <a:t>Base design decisions on an explicit understanding of users, tasks and environments.</a:t>
            </a:r>
          </a:p>
          <a:p>
            <a:pPr marL="285750" indent="-285750" algn="l">
              <a:spcAft>
                <a:spcPts val="800"/>
              </a:spcAft>
              <a:buFont typeface="Arial"/>
              <a:buChar char="•"/>
            </a:pPr>
            <a:r>
              <a:rPr sz="1800" b="0">
                <a:solidFill>
                  <a:srgbClr val="262626"/>
                </a:solidFill>
              </a:rPr>
              <a:t>Iterate solutions with continuous user participation and evaluation.</a:t>
            </a:r>
          </a:p>
        </p:txBody>
      </p:sp>
      <p:sp>
        <p:nvSpPr>
          <p:cNvPr id="6" name="Rectangle 5"/>
          <p:cNvSpPr/>
          <p:nvPr/>
        </p:nvSpPr>
        <p:spPr>
          <a:xfrm>
            <a:off x="4663440" y="1188720"/>
            <a:ext cx="4023360" cy="4206240"/>
          </a:xfrm>
          <a:prstGeom prst="rect">
            <a:avLst/>
          </a:prstGeom>
          <a:solidFill>
            <a:srgbClr val="DAEEF3"/>
          </a:solidFill>
          <a:ln>
            <a:noFill/>
          </a:ln>
          <a:effectLst/>
        </p:spPr>
        <p:txBody>
          <a:bodyPr rtlCol="0" anchor="ctr"/>
          <a:lstStyle/>
          <a:p>
            <a:pPr algn="ctr"/>
            <a:endParaRPr/>
          </a:p>
        </p:txBody>
      </p:sp>
      <p:sp>
        <p:nvSpPr>
          <p:cNvPr id="7" name="TextBox 6"/>
          <p:cNvSpPr txBox="1"/>
          <p:nvPr/>
        </p:nvSpPr>
        <p:spPr>
          <a:xfrm>
            <a:off x="4800600" y="1234440"/>
            <a:ext cx="3749039" cy="502920"/>
          </a:xfrm>
          <a:prstGeom prst="rect">
            <a:avLst/>
          </a:prstGeom>
          <a:noFill/>
        </p:spPr>
        <p:txBody>
          <a:bodyPr wrap="square" lIns="73152" tIns="54864" rIns="73152" bIns="54864" anchor="ctr">
            <a:spAutoFit/>
          </a:bodyPr>
          <a:lstStyle/>
          <a:p>
            <a:pPr marL="0" indent="0" algn="l">
              <a:buNone/>
            </a:pPr>
            <a:r>
              <a:rPr sz="2100" b="1">
                <a:solidFill>
                  <a:srgbClr val="31859C"/>
                </a:solidFill>
              </a:rPr>
              <a:t>Systems lens</a:t>
            </a:r>
          </a:p>
        </p:txBody>
      </p:sp>
      <p:sp>
        <p:nvSpPr>
          <p:cNvPr id="8" name="TextBox 7"/>
          <p:cNvSpPr txBox="1"/>
          <p:nvPr/>
        </p:nvSpPr>
        <p:spPr>
          <a:xfrm>
            <a:off x="480060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Systems thinking highlights multiple stakeholder perspectives in socio-technical change.</a:t>
            </a:r>
          </a:p>
          <a:p>
            <a:pPr marL="285750" indent="-285750" algn="l">
              <a:spcAft>
                <a:spcPts val="800"/>
              </a:spcAft>
              <a:buFont typeface="Arial"/>
              <a:buChar char="•"/>
            </a:pPr>
            <a:r>
              <a:rPr sz="1700" b="0">
                <a:solidFill>
                  <a:srgbClr val="262626"/>
                </a:solidFill>
              </a:rPr>
              <a:t>Personas humanise those viewpoints within complex ecosystems.</a:t>
            </a:r>
          </a:p>
          <a:p>
            <a:pPr marL="285750" indent="-285750" algn="l">
              <a:spcAft>
                <a:spcPts val="800"/>
              </a:spcAft>
              <a:buFont typeface="Arial"/>
              <a:buChar char="•"/>
            </a:pPr>
            <a:r>
              <a:rPr sz="1700" b="0">
                <a:solidFill>
                  <a:srgbClr val="262626"/>
                </a:solidFill>
              </a:rPr>
              <a:t>Use cases map the interactions stakeholders have at the system boundary, helping engineers reason about feedback loops and constraints.</a:t>
            </a:r>
          </a:p>
        </p:txBody>
      </p:sp>
      <p:sp>
        <p:nvSpPr>
          <p:cNvPr id="9" name="TextBox 8"/>
          <p:cNvSpPr txBox="1"/>
          <p:nvPr/>
        </p:nvSpPr>
        <p:spPr>
          <a:xfrm>
            <a:off x="457200" y="5577840"/>
            <a:ext cx="8229600" cy="457200"/>
          </a:xfrm>
          <a:prstGeom prst="rect">
            <a:avLst/>
          </a:prstGeom>
          <a:noFill/>
        </p:spPr>
        <p:txBody>
          <a:bodyPr wrap="square" lIns="73152" tIns="54864" rIns="73152" bIns="54864" anchor="ctr">
            <a:spAutoFit/>
          </a:bodyPr>
          <a:lstStyle/>
          <a:p>
            <a:pPr marL="0" indent="0" algn="ctr">
              <a:buNone/>
            </a:pPr>
            <a:r>
              <a:rPr sz="1400" b="0" dirty="0">
                <a:solidFill>
                  <a:srgbClr val="595959"/>
                </a:solidFill>
              </a:rPr>
              <a:t>Human-</a:t>
            </a:r>
            <a:r>
              <a:rPr sz="1400" b="0" dirty="0" err="1">
                <a:solidFill>
                  <a:srgbClr val="595959"/>
                </a:solidFill>
              </a:rPr>
              <a:t>centred</a:t>
            </a:r>
            <a:r>
              <a:rPr sz="1400" b="0" dirty="0">
                <a:solidFill>
                  <a:srgbClr val="595959"/>
                </a:solidFill>
              </a:rPr>
              <a:t> design: ISO 9241-210:2019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 Cases: What and Why</a:t>
            </a:r>
          </a:p>
        </p:txBody>
      </p:sp>
      <p:sp>
        <p:nvSpPr>
          <p:cNvPr id="3" name="Oval 2"/>
          <p:cNvSpPr/>
          <p:nvPr/>
        </p:nvSpPr>
        <p:spPr>
          <a:xfrm>
            <a:off x="502920" y="146304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1</a:t>
            </a:r>
          </a:p>
        </p:txBody>
      </p:sp>
      <p:sp>
        <p:nvSpPr>
          <p:cNvPr id="4" name="TextBox 3"/>
          <p:cNvSpPr txBox="1"/>
          <p:nvPr/>
        </p:nvSpPr>
        <p:spPr>
          <a:xfrm>
            <a:off x="1280160" y="1234440"/>
            <a:ext cx="7406640" cy="1005840"/>
          </a:xfrm>
          <a:prstGeom prst="rect">
            <a:avLst/>
          </a:prstGeom>
          <a:noFill/>
        </p:spPr>
        <p:txBody>
          <a:bodyPr wrap="square" lIns="73152" tIns="54864" rIns="73152" bIns="54864" anchor="ctr">
            <a:spAutoFit/>
          </a:bodyPr>
          <a:lstStyle/>
          <a:p>
            <a:pPr marL="0" indent="0" algn="l">
              <a:buNone/>
            </a:pPr>
            <a:r>
              <a:rPr sz="2000" b="1">
                <a:solidFill>
                  <a:srgbClr val="1F497D"/>
                </a:solidFill>
              </a:rPr>
              <a:t>Describe interactions </a:t>
            </a:r>
            <a:r>
              <a:rPr sz="2000" b="0">
                <a:solidFill>
                  <a:srgbClr val="262626"/>
                </a:solidFill>
              </a:rPr>
              <a:t>between an actor and the system that accomplish a goal.</a:t>
            </a:r>
          </a:p>
        </p:txBody>
      </p:sp>
      <p:sp>
        <p:nvSpPr>
          <p:cNvPr id="5" name="Oval 4"/>
          <p:cNvSpPr/>
          <p:nvPr/>
        </p:nvSpPr>
        <p:spPr>
          <a:xfrm>
            <a:off x="502920" y="265176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2</a:t>
            </a:r>
          </a:p>
        </p:txBody>
      </p:sp>
      <p:sp>
        <p:nvSpPr>
          <p:cNvPr id="6" name="TextBox 5"/>
          <p:cNvSpPr txBox="1"/>
          <p:nvPr/>
        </p:nvSpPr>
        <p:spPr>
          <a:xfrm>
            <a:off x="1280160" y="2423160"/>
            <a:ext cx="7406640" cy="1005840"/>
          </a:xfrm>
          <a:prstGeom prst="rect">
            <a:avLst/>
          </a:prstGeom>
          <a:noFill/>
        </p:spPr>
        <p:txBody>
          <a:bodyPr wrap="square" lIns="73152" tIns="54864" rIns="73152" bIns="54864" anchor="ctr">
            <a:spAutoFit/>
          </a:bodyPr>
          <a:lstStyle/>
          <a:p>
            <a:pPr marL="0" indent="0" algn="l">
              <a:buNone/>
            </a:pPr>
            <a:r>
              <a:rPr sz="2000" b="1">
                <a:solidFill>
                  <a:srgbClr val="1F497D"/>
                </a:solidFill>
              </a:rPr>
              <a:t>A contract for behaviour </a:t>
            </a:r>
            <a:r>
              <a:rPr sz="2000" b="0">
                <a:solidFill>
                  <a:srgbClr val="262626"/>
                </a:solidFill>
              </a:rPr>
              <a:t>stating what the system will do, without prescribing how.</a:t>
            </a:r>
          </a:p>
        </p:txBody>
      </p:sp>
      <p:sp>
        <p:nvSpPr>
          <p:cNvPr id="7" name="Oval 6"/>
          <p:cNvSpPr/>
          <p:nvPr/>
        </p:nvSpPr>
        <p:spPr>
          <a:xfrm>
            <a:off x="502920" y="384048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3</a:t>
            </a:r>
          </a:p>
        </p:txBody>
      </p:sp>
      <p:sp>
        <p:nvSpPr>
          <p:cNvPr id="8" name="TextBox 7"/>
          <p:cNvSpPr txBox="1"/>
          <p:nvPr/>
        </p:nvSpPr>
        <p:spPr>
          <a:xfrm>
            <a:off x="1280160" y="3611880"/>
            <a:ext cx="7406640" cy="1005840"/>
          </a:xfrm>
          <a:prstGeom prst="rect">
            <a:avLst/>
          </a:prstGeom>
          <a:noFill/>
        </p:spPr>
        <p:txBody>
          <a:bodyPr wrap="square" lIns="73152" tIns="54864" rIns="73152" bIns="54864" anchor="ctr">
            <a:spAutoFit/>
          </a:bodyPr>
          <a:lstStyle/>
          <a:p>
            <a:pPr marL="0" indent="0" algn="l">
              <a:buNone/>
            </a:pPr>
            <a:r>
              <a:rPr sz="2000" b="1">
                <a:solidFill>
                  <a:srgbClr val="1F497D"/>
                </a:solidFill>
              </a:rPr>
              <a:t>A bridge </a:t>
            </a:r>
            <a:r>
              <a:rPr sz="2000" b="0">
                <a:solidFill>
                  <a:srgbClr val="262626"/>
                </a:solidFill>
              </a:rPr>
              <a:t>between business and technical audiences, because they sit at the system boundary.</a:t>
            </a:r>
          </a:p>
        </p:txBody>
      </p:sp>
      <p:sp>
        <p:nvSpPr>
          <p:cNvPr id="9" name="Rectangle 8"/>
          <p:cNvSpPr/>
          <p:nvPr/>
        </p:nvSpPr>
        <p:spPr>
          <a:xfrm>
            <a:off x="457200" y="4937760"/>
            <a:ext cx="8229600" cy="1280160"/>
          </a:xfrm>
          <a:prstGeom prst="rect">
            <a:avLst/>
          </a:prstGeom>
          <a:solidFill>
            <a:srgbClr val="F2F2F2"/>
          </a:solidFill>
          <a:ln>
            <a:noFill/>
          </a:ln>
          <a:effectLst/>
        </p:spPr>
        <p:txBody>
          <a:bodyPr wrap="square" lIns="182880" tIns="54864" rIns="182880" bIns="54864" rtlCol="0" anchor="ctr"/>
          <a:lstStyle/>
          <a:p>
            <a:pPr marL="0" indent="0" algn="l">
              <a:buNone/>
            </a:pPr>
            <a:r>
              <a:rPr sz="1700" b="1">
                <a:solidFill>
                  <a:srgbClr val="1F497D"/>
                </a:solidFill>
              </a:rPr>
              <a:t>Key terms: </a:t>
            </a:r>
            <a:r>
              <a:rPr sz="1700" b="1">
                <a:solidFill>
                  <a:srgbClr val="262626"/>
                </a:solidFill>
              </a:rPr>
              <a:t>actor</a:t>
            </a:r>
            <a:r>
              <a:rPr sz="1700" b="0">
                <a:solidFill>
                  <a:srgbClr val="262626"/>
                </a:solidFill>
              </a:rPr>
              <a:t> (who or what acts), </a:t>
            </a:r>
            <a:r>
              <a:rPr sz="1700" b="1">
                <a:solidFill>
                  <a:srgbClr val="262626"/>
                </a:solidFill>
              </a:rPr>
              <a:t>goal</a:t>
            </a:r>
            <a:r>
              <a:rPr sz="1700" b="0">
                <a:solidFill>
                  <a:srgbClr val="262626"/>
                </a:solidFill>
              </a:rPr>
              <a:t> (what they want), </a:t>
            </a:r>
            <a:r>
              <a:rPr sz="1700" b="1">
                <a:solidFill>
                  <a:srgbClr val="262626"/>
                </a:solidFill>
              </a:rPr>
              <a:t>system boundary</a:t>
            </a:r>
            <a:r>
              <a:rPr sz="1700" b="0">
                <a:solidFill>
                  <a:srgbClr val="262626"/>
                </a:solidFill>
              </a:rPr>
              <a:t> (what is inside the system we are building).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 Use Case Diagram: Smart Study Room</a:t>
            </a:r>
          </a:p>
        </p:txBody>
      </p:sp>
      <p:sp>
        <p:nvSpPr>
          <p:cNvPr id="3" name="Rectangle 2"/>
          <p:cNvSpPr/>
          <p:nvPr/>
        </p:nvSpPr>
        <p:spPr>
          <a:xfrm>
            <a:off x="1828800" y="1188720"/>
            <a:ext cx="5486400" cy="4343400"/>
          </a:xfrm>
          <a:prstGeom prst="rect">
            <a:avLst/>
          </a:prstGeom>
          <a:solidFill>
            <a:srgbClr val="F7F9FC"/>
          </a:solidFill>
          <a:ln w="19050">
            <a:solidFill>
              <a:srgbClr val="1F497D"/>
            </a:solidFill>
          </a:ln>
          <a:effectLst/>
        </p:spPr>
        <p:txBody>
          <a:bodyPr rtlCol="0" anchor="ctr"/>
          <a:lstStyle/>
          <a:p>
            <a:pPr algn="ctr"/>
            <a:endParaRPr/>
          </a:p>
        </p:txBody>
      </p:sp>
      <p:sp>
        <p:nvSpPr>
          <p:cNvPr id="4" name="TextBox 3"/>
          <p:cNvSpPr txBox="1"/>
          <p:nvPr/>
        </p:nvSpPr>
        <p:spPr>
          <a:xfrm>
            <a:off x="1920240" y="1207008"/>
            <a:ext cx="2743200" cy="320040"/>
          </a:xfrm>
          <a:prstGeom prst="rect">
            <a:avLst/>
          </a:prstGeom>
          <a:noFill/>
        </p:spPr>
        <p:txBody>
          <a:bodyPr wrap="square" lIns="73152" tIns="54864" rIns="73152" bIns="54864" anchor="t">
            <a:spAutoFit/>
          </a:bodyPr>
          <a:lstStyle/>
          <a:p>
            <a:pPr marL="0" indent="0" algn="l">
              <a:buNone/>
            </a:pPr>
            <a:r>
              <a:rPr sz="1300" b="1">
                <a:solidFill>
                  <a:srgbClr val="1F497D"/>
                </a:solidFill>
              </a:rPr>
              <a:t>Smart Study Room</a:t>
            </a:r>
          </a:p>
        </p:txBody>
      </p:sp>
      <p:sp>
        <p:nvSpPr>
          <p:cNvPr id="5" name="Oval 4"/>
          <p:cNvSpPr/>
          <p:nvPr/>
        </p:nvSpPr>
        <p:spPr>
          <a:xfrm>
            <a:off x="786384" y="2651760"/>
            <a:ext cx="256032" cy="256032"/>
          </a:xfrm>
          <a:prstGeom prst="ellipse">
            <a:avLst/>
          </a:prstGeom>
          <a:solidFill>
            <a:srgbClr val="FFFFFF"/>
          </a:solidFill>
          <a:ln w="22225">
            <a:solidFill>
              <a:srgbClr val="1F497D"/>
            </a:solidFill>
          </a:ln>
          <a:effectLst/>
        </p:spPr>
        <p:txBody>
          <a:bodyPr rtlCol="0" anchor="ctr"/>
          <a:lstStyle/>
          <a:p>
            <a:pPr algn="ctr"/>
            <a:endParaRPr/>
          </a:p>
        </p:txBody>
      </p:sp>
      <p:cxnSp>
        <p:nvCxnSpPr>
          <p:cNvPr id="6" name="Connector 5"/>
          <p:cNvCxnSpPr/>
          <p:nvPr/>
        </p:nvCxnSpPr>
        <p:spPr>
          <a:xfrm>
            <a:off x="914400" y="2907791"/>
            <a:ext cx="0" cy="384048"/>
          </a:xfrm>
          <a:prstGeom prst="line">
            <a:avLst/>
          </a:prstGeom>
          <a:ln w="22225">
            <a:solidFill>
              <a:srgbClr val="1F497D"/>
            </a:solidFill>
          </a:ln>
        </p:spPr>
      </p:cxnSp>
      <p:cxnSp>
        <p:nvCxnSpPr>
          <p:cNvPr id="7" name="Connector 6"/>
          <p:cNvCxnSpPr/>
          <p:nvPr/>
        </p:nvCxnSpPr>
        <p:spPr>
          <a:xfrm>
            <a:off x="694944" y="3035808"/>
            <a:ext cx="438912" cy="0"/>
          </a:xfrm>
          <a:prstGeom prst="line">
            <a:avLst/>
          </a:prstGeom>
          <a:ln w="22225">
            <a:solidFill>
              <a:srgbClr val="1F497D"/>
            </a:solidFill>
          </a:ln>
        </p:spPr>
      </p:cxnSp>
      <p:cxnSp>
        <p:nvCxnSpPr>
          <p:cNvPr id="8" name="Connector 7"/>
          <p:cNvCxnSpPr/>
          <p:nvPr/>
        </p:nvCxnSpPr>
        <p:spPr>
          <a:xfrm flipH="1">
            <a:off x="731520" y="3291839"/>
            <a:ext cx="182880" cy="274321"/>
          </a:xfrm>
          <a:prstGeom prst="line">
            <a:avLst/>
          </a:prstGeom>
          <a:ln w="22225">
            <a:solidFill>
              <a:srgbClr val="1F497D"/>
            </a:solidFill>
          </a:ln>
        </p:spPr>
      </p:cxnSp>
      <p:cxnSp>
        <p:nvCxnSpPr>
          <p:cNvPr id="9" name="Connector 8"/>
          <p:cNvCxnSpPr/>
          <p:nvPr/>
        </p:nvCxnSpPr>
        <p:spPr>
          <a:xfrm>
            <a:off x="914400" y="3291839"/>
            <a:ext cx="182880" cy="274321"/>
          </a:xfrm>
          <a:prstGeom prst="line">
            <a:avLst/>
          </a:prstGeom>
          <a:ln w="22225">
            <a:solidFill>
              <a:srgbClr val="1F497D"/>
            </a:solidFill>
          </a:ln>
        </p:spPr>
      </p:cxnSp>
      <p:sp>
        <p:nvSpPr>
          <p:cNvPr id="10" name="TextBox 9"/>
          <p:cNvSpPr txBox="1"/>
          <p:nvPr/>
        </p:nvSpPr>
        <p:spPr>
          <a:xfrm>
            <a:off x="228600" y="3584448"/>
            <a:ext cx="1371600" cy="457200"/>
          </a:xfrm>
          <a:prstGeom prst="rect">
            <a:avLst/>
          </a:prstGeom>
          <a:noFill/>
        </p:spPr>
        <p:txBody>
          <a:bodyPr wrap="square" lIns="18288" tIns="18288" rIns="18288" bIns="18288" anchor="t">
            <a:spAutoFit/>
          </a:bodyPr>
          <a:lstStyle/>
          <a:p>
            <a:pPr marL="0" indent="0" algn="ctr">
              <a:buNone/>
            </a:pPr>
            <a:r>
              <a:rPr sz="1200" b="0">
                <a:solidFill>
                  <a:srgbClr val="262626"/>
                </a:solidFill>
              </a:rPr>
              <a:t>Student</a:t>
            </a:r>
          </a:p>
        </p:txBody>
      </p:sp>
      <p:sp>
        <p:nvSpPr>
          <p:cNvPr id="11" name="Oval 10"/>
          <p:cNvSpPr/>
          <p:nvPr/>
        </p:nvSpPr>
        <p:spPr>
          <a:xfrm>
            <a:off x="8101583" y="1417320"/>
            <a:ext cx="256032" cy="256032"/>
          </a:xfrm>
          <a:prstGeom prst="ellipse">
            <a:avLst/>
          </a:prstGeom>
          <a:solidFill>
            <a:srgbClr val="FFFFFF"/>
          </a:solidFill>
          <a:ln w="22225">
            <a:solidFill>
              <a:srgbClr val="1F497D"/>
            </a:solidFill>
          </a:ln>
          <a:effectLst/>
        </p:spPr>
        <p:txBody>
          <a:bodyPr rtlCol="0" anchor="ctr"/>
          <a:lstStyle/>
          <a:p>
            <a:pPr algn="ctr"/>
            <a:endParaRPr/>
          </a:p>
        </p:txBody>
      </p:sp>
      <p:cxnSp>
        <p:nvCxnSpPr>
          <p:cNvPr id="12" name="Connector 11"/>
          <p:cNvCxnSpPr/>
          <p:nvPr/>
        </p:nvCxnSpPr>
        <p:spPr>
          <a:xfrm>
            <a:off x="8229600" y="1673352"/>
            <a:ext cx="0" cy="384048"/>
          </a:xfrm>
          <a:prstGeom prst="line">
            <a:avLst/>
          </a:prstGeom>
          <a:ln w="22225">
            <a:solidFill>
              <a:srgbClr val="1F497D"/>
            </a:solidFill>
          </a:ln>
        </p:spPr>
      </p:cxnSp>
      <p:cxnSp>
        <p:nvCxnSpPr>
          <p:cNvPr id="13" name="Connector 12"/>
          <p:cNvCxnSpPr/>
          <p:nvPr/>
        </p:nvCxnSpPr>
        <p:spPr>
          <a:xfrm>
            <a:off x="8010144" y="1801368"/>
            <a:ext cx="438912" cy="0"/>
          </a:xfrm>
          <a:prstGeom prst="line">
            <a:avLst/>
          </a:prstGeom>
          <a:ln w="22225">
            <a:solidFill>
              <a:srgbClr val="1F497D"/>
            </a:solidFill>
          </a:ln>
        </p:spPr>
      </p:cxnSp>
      <p:cxnSp>
        <p:nvCxnSpPr>
          <p:cNvPr id="14" name="Connector 13"/>
          <p:cNvCxnSpPr/>
          <p:nvPr/>
        </p:nvCxnSpPr>
        <p:spPr>
          <a:xfrm flipH="1">
            <a:off x="8046720" y="2057400"/>
            <a:ext cx="182880" cy="274320"/>
          </a:xfrm>
          <a:prstGeom prst="line">
            <a:avLst/>
          </a:prstGeom>
          <a:ln w="22225">
            <a:solidFill>
              <a:srgbClr val="1F497D"/>
            </a:solidFill>
          </a:ln>
        </p:spPr>
      </p:cxnSp>
      <p:cxnSp>
        <p:nvCxnSpPr>
          <p:cNvPr id="15" name="Connector 14"/>
          <p:cNvCxnSpPr/>
          <p:nvPr/>
        </p:nvCxnSpPr>
        <p:spPr>
          <a:xfrm>
            <a:off x="8229600" y="2057400"/>
            <a:ext cx="182880" cy="274320"/>
          </a:xfrm>
          <a:prstGeom prst="line">
            <a:avLst/>
          </a:prstGeom>
          <a:ln w="22225">
            <a:solidFill>
              <a:srgbClr val="1F497D"/>
            </a:solidFill>
          </a:ln>
        </p:spPr>
      </p:cxnSp>
      <p:sp>
        <p:nvSpPr>
          <p:cNvPr id="16" name="TextBox 15"/>
          <p:cNvSpPr txBox="1"/>
          <p:nvPr/>
        </p:nvSpPr>
        <p:spPr>
          <a:xfrm>
            <a:off x="7543800" y="2350008"/>
            <a:ext cx="1371600" cy="457200"/>
          </a:xfrm>
          <a:prstGeom prst="rect">
            <a:avLst/>
          </a:prstGeom>
          <a:noFill/>
        </p:spPr>
        <p:txBody>
          <a:bodyPr wrap="square" lIns="18288" tIns="18288" rIns="18288" bIns="18288" anchor="t">
            <a:spAutoFit/>
          </a:bodyPr>
          <a:lstStyle/>
          <a:p>
            <a:pPr marL="0" indent="0" algn="ctr">
              <a:buNone/>
            </a:pPr>
            <a:r>
              <a:rPr sz="1200" b="0">
                <a:solidFill>
                  <a:srgbClr val="262626"/>
                </a:solidFill>
              </a:rPr>
              <a:t>Sensor node</a:t>
            </a:r>
          </a:p>
        </p:txBody>
      </p:sp>
      <p:sp>
        <p:nvSpPr>
          <p:cNvPr id="17" name="Oval 16"/>
          <p:cNvSpPr/>
          <p:nvPr/>
        </p:nvSpPr>
        <p:spPr>
          <a:xfrm>
            <a:off x="8101583" y="3931920"/>
            <a:ext cx="256032" cy="256032"/>
          </a:xfrm>
          <a:prstGeom prst="ellipse">
            <a:avLst/>
          </a:prstGeom>
          <a:solidFill>
            <a:srgbClr val="FFFFFF"/>
          </a:solidFill>
          <a:ln w="22225">
            <a:solidFill>
              <a:srgbClr val="1F497D"/>
            </a:solidFill>
          </a:ln>
          <a:effectLst/>
        </p:spPr>
        <p:txBody>
          <a:bodyPr rtlCol="0" anchor="ctr"/>
          <a:lstStyle/>
          <a:p>
            <a:pPr algn="ctr"/>
            <a:endParaRPr/>
          </a:p>
        </p:txBody>
      </p:sp>
      <p:cxnSp>
        <p:nvCxnSpPr>
          <p:cNvPr id="18" name="Connector 17"/>
          <p:cNvCxnSpPr/>
          <p:nvPr/>
        </p:nvCxnSpPr>
        <p:spPr>
          <a:xfrm>
            <a:off x="8229600" y="4187952"/>
            <a:ext cx="0" cy="384048"/>
          </a:xfrm>
          <a:prstGeom prst="line">
            <a:avLst/>
          </a:prstGeom>
          <a:ln w="22225">
            <a:solidFill>
              <a:srgbClr val="1F497D"/>
            </a:solidFill>
          </a:ln>
        </p:spPr>
      </p:cxnSp>
      <p:cxnSp>
        <p:nvCxnSpPr>
          <p:cNvPr id="19" name="Connector 18"/>
          <p:cNvCxnSpPr/>
          <p:nvPr/>
        </p:nvCxnSpPr>
        <p:spPr>
          <a:xfrm>
            <a:off x="8010144" y="4315968"/>
            <a:ext cx="438912" cy="0"/>
          </a:xfrm>
          <a:prstGeom prst="line">
            <a:avLst/>
          </a:prstGeom>
          <a:ln w="22225">
            <a:solidFill>
              <a:srgbClr val="1F497D"/>
            </a:solidFill>
          </a:ln>
        </p:spPr>
      </p:cxnSp>
      <p:cxnSp>
        <p:nvCxnSpPr>
          <p:cNvPr id="20" name="Connector 19"/>
          <p:cNvCxnSpPr/>
          <p:nvPr/>
        </p:nvCxnSpPr>
        <p:spPr>
          <a:xfrm flipH="1">
            <a:off x="8046720" y="4572000"/>
            <a:ext cx="182880" cy="274320"/>
          </a:xfrm>
          <a:prstGeom prst="line">
            <a:avLst/>
          </a:prstGeom>
          <a:ln w="22225">
            <a:solidFill>
              <a:srgbClr val="1F497D"/>
            </a:solidFill>
          </a:ln>
        </p:spPr>
      </p:cxnSp>
      <p:cxnSp>
        <p:nvCxnSpPr>
          <p:cNvPr id="21" name="Connector 20"/>
          <p:cNvCxnSpPr/>
          <p:nvPr/>
        </p:nvCxnSpPr>
        <p:spPr>
          <a:xfrm>
            <a:off x="8229600" y="4572000"/>
            <a:ext cx="182880" cy="274320"/>
          </a:xfrm>
          <a:prstGeom prst="line">
            <a:avLst/>
          </a:prstGeom>
          <a:ln w="22225">
            <a:solidFill>
              <a:srgbClr val="1F497D"/>
            </a:solidFill>
          </a:ln>
        </p:spPr>
      </p:cxnSp>
      <p:sp>
        <p:nvSpPr>
          <p:cNvPr id="22" name="TextBox 21"/>
          <p:cNvSpPr txBox="1"/>
          <p:nvPr/>
        </p:nvSpPr>
        <p:spPr>
          <a:xfrm>
            <a:off x="7543800" y="4864608"/>
            <a:ext cx="1371600" cy="457200"/>
          </a:xfrm>
          <a:prstGeom prst="rect">
            <a:avLst/>
          </a:prstGeom>
          <a:noFill/>
        </p:spPr>
        <p:txBody>
          <a:bodyPr wrap="square" lIns="18288" tIns="18288" rIns="18288" bIns="18288" anchor="t">
            <a:spAutoFit/>
          </a:bodyPr>
          <a:lstStyle/>
          <a:p>
            <a:pPr marL="0" indent="0" algn="ctr">
              <a:buNone/>
            </a:pPr>
            <a:r>
              <a:rPr sz="1200" b="0">
                <a:solidFill>
                  <a:srgbClr val="262626"/>
                </a:solidFill>
              </a:rPr>
              <a:t>Facilities staff</a:t>
            </a:r>
          </a:p>
        </p:txBody>
      </p:sp>
      <p:sp>
        <p:nvSpPr>
          <p:cNvPr id="23" name="Oval 22"/>
          <p:cNvSpPr/>
          <p:nvPr/>
        </p:nvSpPr>
        <p:spPr>
          <a:xfrm>
            <a:off x="2423160" y="2743200"/>
            <a:ext cx="1920240" cy="731520"/>
          </a:xfrm>
          <a:prstGeom prst="ellipse">
            <a:avLst/>
          </a:prstGeom>
          <a:solidFill>
            <a:srgbClr val="DCE6F2"/>
          </a:solidFill>
          <a:ln w="19050">
            <a:solidFill>
              <a:srgbClr val="1F497D"/>
            </a:solidFill>
          </a:ln>
          <a:effectLst/>
        </p:spPr>
        <p:txBody>
          <a:bodyPr wrap="square" lIns="27432" tIns="27432" rIns="27432" bIns="27432" rtlCol="0" anchor="ctr"/>
          <a:lstStyle/>
          <a:p>
            <a:pPr marL="0" indent="0" algn="ctr">
              <a:buNone/>
            </a:pPr>
            <a:r>
              <a:rPr sz="1300" b="1" dirty="0">
                <a:solidFill>
                  <a:srgbClr val="262626"/>
                </a:solidFill>
              </a:rPr>
              <a:t>Book study room</a:t>
            </a:r>
          </a:p>
        </p:txBody>
      </p:sp>
      <p:sp>
        <p:nvSpPr>
          <p:cNvPr id="24" name="Oval 23"/>
          <p:cNvSpPr/>
          <p:nvPr/>
        </p:nvSpPr>
        <p:spPr>
          <a:xfrm>
            <a:off x="5029200" y="1783080"/>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Check availability</a:t>
            </a:r>
          </a:p>
        </p:txBody>
      </p:sp>
      <p:sp>
        <p:nvSpPr>
          <p:cNvPr id="25" name="Oval 24"/>
          <p:cNvSpPr/>
          <p:nvPr/>
        </p:nvSpPr>
        <p:spPr>
          <a:xfrm>
            <a:off x="5029200" y="3017520"/>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Sign in</a:t>
            </a:r>
          </a:p>
        </p:txBody>
      </p:sp>
      <p:sp>
        <p:nvSpPr>
          <p:cNvPr id="26" name="Oval 25"/>
          <p:cNvSpPr/>
          <p:nvPr/>
        </p:nvSpPr>
        <p:spPr>
          <a:xfrm>
            <a:off x="2423160" y="4297679"/>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Join waiting list</a:t>
            </a:r>
          </a:p>
        </p:txBody>
      </p:sp>
      <p:sp>
        <p:nvSpPr>
          <p:cNvPr id="27" name="Oval 26"/>
          <p:cNvSpPr/>
          <p:nvPr/>
        </p:nvSpPr>
        <p:spPr>
          <a:xfrm>
            <a:off x="5029200" y="4343400"/>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Report faulty sensor</a:t>
            </a:r>
          </a:p>
        </p:txBody>
      </p:sp>
      <p:cxnSp>
        <p:nvCxnSpPr>
          <p:cNvPr id="28" name="Connector 27"/>
          <p:cNvCxnSpPr/>
          <p:nvPr/>
        </p:nvCxnSpPr>
        <p:spPr>
          <a:xfrm>
            <a:off x="1143000" y="3108960"/>
            <a:ext cx="1280160" cy="0"/>
          </a:xfrm>
          <a:prstGeom prst="line">
            <a:avLst/>
          </a:prstGeom>
          <a:ln w="19050">
            <a:solidFill>
              <a:srgbClr val="262626"/>
            </a:solidFill>
          </a:ln>
        </p:spPr>
      </p:cxnSp>
      <p:cxnSp>
        <p:nvCxnSpPr>
          <p:cNvPr id="29" name="Connector 28"/>
          <p:cNvCxnSpPr/>
          <p:nvPr/>
        </p:nvCxnSpPr>
        <p:spPr>
          <a:xfrm flipH="1">
            <a:off x="6949440" y="2011680"/>
            <a:ext cx="1051560" cy="137160"/>
          </a:xfrm>
          <a:prstGeom prst="line">
            <a:avLst/>
          </a:prstGeom>
          <a:ln w="19050">
            <a:solidFill>
              <a:srgbClr val="262626"/>
            </a:solidFill>
          </a:ln>
        </p:spPr>
      </p:cxnSp>
      <p:cxnSp>
        <p:nvCxnSpPr>
          <p:cNvPr id="30" name="Connector 29"/>
          <p:cNvCxnSpPr/>
          <p:nvPr/>
        </p:nvCxnSpPr>
        <p:spPr>
          <a:xfrm flipH="1">
            <a:off x="6949440" y="4526280"/>
            <a:ext cx="1051560" cy="182880"/>
          </a:xfrm>
          <a:prstGeom prst="line">
            <a:avLst/>
          </a:prstGeom>
          <a:ln w="19050">
            <a:solidFill>
              <a:srgbClr val="262626"/>
            </a:solidFill>
          </a:ln>
        </p:spPr>
      </p:cxnSp>
      <p:cxnSp>
        <p:nvCxnSpPr>
          <p:cNvPr id="31" name="Connector 30"/>
          <p:cNvCxnSpPr/>
          <p:nvPr/>
        </p:nvCxnSpPr>
        <p:spPr>
          <a:xfrm flipV="1">
            <a:off x="4297680" y="2286000"/>
            <a:ext cx="731520" cy="640080"/>
          </a:xfrm>
          <a:prstGeom prst="line">
            <a:avLst/>
          </a:prstGeom>
          <a:ln w="19050">
            <a:solidFill>
              <a:srgbClr val="262626"/>
            </a:solidFill>
            <a:prstDash val="dash"/>
            <a:tailEnd type="triangle" w="med" len="med"/>
          </a:ln>
        </p:spPr>
      </p:cxnSp>
      <p:cxnSp>
        <p:nvCxnSpPr>
          <p:cNvPr id="32" name="Connector 31"/>
          <p:cNvCxnSpPr/>
          <p:nvPr/>
        </p:nvCxnSpPr>
        <p:spPr>
          <a:xfrm>
            <a:off x="4343400" y="3200400"/>
            <a:ext cx="685800" cy="137160"/>
          </a:xfrm>
          <a:prstGeom prst="line">
            <a:avLst/>
          </a:prstGeom>
          <a:ln w="19050">
            <a:solidFill>
              <a:srgbClr val="262626"/>
            </a:solidFill>
            <a:prstDash val="dash"/>
            <a:tailEnd type="triangle" w="med" len="med"/>
          </a:ln>
        </p:spPr>
      </p:cxnSp>
      <p:cxnSp>
        <p:nvCxnSpPr>
          <p:cNvPr id="33" name="Connector 32"/>
          <p:cNvCxnSpPr/>
          <p:nvPr/>
        </p:nvCxnSpPr>
        <p:spPr>
          <a:xfrm flipV="1">
            <a:off x="3383280" y="3474720"/>
            <a:ext cx="0" cy="822960"/>
          </a:xfrm>
          <a:prstGeom prst="line">
            <a:avLst/>
          </a:prstGeom>
          <a:ln w="19050">
            <a:solidFill>
              <a:srgbClr val="262626"/>
            </a:solidFill>
            <a:prstDash val="dash"/>
            <a:tailEnd type="triangle" w="med" len="med"/>
          </a:ln>
        </p:spPr>
      </p:cxnSp>
      <p:sp>
        <p:nvSpPr>
          <p:cNvPr id="34" name="TextBox 33"/>
          <p:cNvSpPr txBox="1"/>
          <p:nvPr/>
        </p:nvSpPr>
        <p:spPr>
          <a:xfrm>
            <a:off x="4206240" y="2331720"/>
            <a:ext cx="914400" cy="274320"/>
          </a:xfrm>
          <a:prstGeom prst="rect">
            <a:avLst/>
          </a:prstGeom>
          <a:noFill/>
        </p:spPr>
        <p:txBody>
          <a:bodyPr wrap="square" lIns="9144" tIns="9144" rIns="9144" bIns="9144" anchor="t">
            <a:spAutoFit/>
          </a:bodyPr>
          <a:lstStyle/>
          <a:p>
            <a:pPr marL="0" indent="0" algn="l">
              <a:buNone/>
            </a:pPr>
            <a:r>
              <a:rPr sz="1000" b="0" i="1">
                <a:solidFill>
                  <a:srgbClr val="595959"/>
                </a:solidFill>
              </a:rPr>
              <a:t>«include»</a:t>
            </a:r>
          </a:p>
        </p:txBody>
      </p:sp>
      <p:sp>
        <p:nvSpPr>
          <p:cNvPr id="35" name="TextBox 34"/>
          <p:cNvSpPr txBox="1"/>
          <p:nvPr/>
        </p:nvSpPr>
        <p:spPr>
          <a:xfrm>
            <a:off x="4343400" y="3401568"/>
            <a:ext cx="914400" cy="274320"/>
          </a:xfrm>
          <a:prstGeom prst="rect">
            <a:avLst/>
          </a:prstGeom>
          <a:noFill/>
        </p:spPr>
        <p:txBody>
          <a:bodyPr wrap="square" lIns="9144" tIns="9144" rIns="9144" bIns="9144" anchor="t">
            <a:spAutoFit/>
          </a:bodyPr>
          <a:lstStyle/>
          <a:p>
            <a:pPr marL="0" indent="0" algn="l">
              <a:buNone/>
            </a:pPr>
            <a:r>
              <a:rPr sz="1000" b="0" i="1">
                <a:solidFill>
                  <a:srgbClr val="595959"/>
                </a:solidFill>
              </a:rPr>
              <a:t>«include»</a:t>
            </a:r>
          </a:p>
        </p:txBody>
      </p:sp>
      <p:sp>
        <p:nvSpPr>
          <p:cNvPr id="36" name="TextBox 35"/>
          <p:cNvSpPr txBox="1"/>
          <p:nvPr/>
        </p:nvSpPr>
        <p:spPr>
          <a:xfrm>
            <a:off x="3474720" y="3840480"/>
            <a:ext cx="914400" cy="274320"/>
          </a:xfrm>
          <a:prstGeom prst="rect">
            <a:avLst/>
          </a:prstGeom>
          <a:noFill/>
        </p:spPr>
        <p:txBody>
          <a:bodyPr wrap="square" lIns="9144" tIns="9144" rIns="9144" bIns="9144" anchor="t">
            <a:spAutoFit/>
          </a:bodyPr>
          <a:lstStyle/>
          <a:p>
            <a:pPr marL="0" indent="0" algn="l">
              <a:buNone/>
            </a:pPr>
            <a:r>
              <a:rPr sz="1000" b="0" i="1">
                <a:solidFill>
                  <a:srgbClr val="595959"/>
                </a:solidFill>
              </a:rPr>
              <a:t>«extend»</a:t>
            </a:r>
          </a:p>
        </p:txBody>
      </p:sp>
      <p:sp>
        <p:nvSpPr>
          <p:cNvPr id="37" name="TextBox 36"/>
          <p:cNvSpPr txBox="1"/>
          <p:nvPr/>
        </p:nvSpPr>
        <p:spPr>
          <a:xfrm>
            <a:off x="457200" y="5623560"/>
            <a:ext cx="8229600" cy="640080"/>
          </a:xfrm>
          <a:prstGeom prst="rect">
            <a:avLst/>
          </a:prstGeom>
          <a:noFill/>
        </p:spPr>
        <p:txBody>
          <a:bodyPr wrap="square" lIns="73152" tIns="54864" rIns="73152" bIns="54864" anchor="ctr">
            <a:spAutoFit/>
          </a:bodyPr>
          <a:lstStyle/>
          <a:p>
            <a:pPr marL="0" indent="0" algn="l">
              <a:buNone/>
            </a:pPr>
            <a:r>
              <a:rPr sz="1400" b="1">
                <a:solidFill>
                  <a:srgbClr val="595959"/>
                </a:solidFill>
              </a:rPr>
              <a:t>«include»: </a:t>
            </a:r>
            <a:r>
              <a:rPr sz="1400" b="0">
                <a:solidFill>
                  <a:srgbClr val="595959"/>
                </a:solidFill>
              </a:rPr>
              <a:t>always part of the goal.  </a:t>
            </a:r>
            <a:r>
              <a:rPr sz="1400" b="1">
                <a:solidFill>
                  <a:srgbClr val="595959"/>
                </a:solidFill>
              </a:rPr>
              <a:t>«extend»: </a:t>
            </a:r>
            <a:r>
              <a:rPr sz="1400" b="0">
                <a:solidFill>
                  <a:srgbClr val="595959"/>
                </a:solidFill>
              </a:rPr>
              <a:t>optional or exceptional behaviour. Keep diagrams high-level; put detailed logic in 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 Case Anatomy</a:t>
            </a:r>
          </a:p>
        </p:txBody>
      </p:sp>
      <p:sp>
        <p:nvSpPr>
          <p:cNvPr id="3" name="Rectangle 2"/>
          <p:cNvSpPr/>
          <p:nvPr/>
        </p:nvSpPr>
        <p:spPr>
          <a:xfrm>
            <a:off x="457200" y="1188720"/>
            <a:ext cx="4000500" cy="1417320"/>
          </a:xfrm>
          <a:prstGeom prst="rect">
            <a:avLst/>
          </a:prstGeom>
          <a:solidFill>
            <a:srgbClr val="DCE6F2"/>
          </a:solidFill>
          <a:ln>
            <a:noFill/>
          </a:ln>
          <a:effectLst/>
        </p:spPr>
        <p:txBody>
          <a:bodyPr rtlCol="0" anchor="ctr"/>
          <a:lstStyle/>
          <a:p>
            <a:pPr algn="ctr"/>
            <a:endParaRPr/>
          </a:p>
        </p:txBody>
      </p:sp>
      <p:sp>
        <p:nvSpPr>
          <p:cNvPr id="4" name="Oval 3"/>
          <p:cNvSpPr/>
          <p:nvPr/>
        </p:nvSpPr>
        <p:spPr>
          <a:xfrm>
            <a:off x="594360" y="13258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1</a:t>
            </a:r>
          </a:p>
        </p:txBody>
      </p:sp>
      <p:sp>
        <p:nvSpPr>
          <p:cNvPr id="5" name="TextBox 4"/>
          <p:cNvSpPr txBox="1"/>
          <p:nvPr/>
        </p:nvSpPr>
        <p:spPr>
          <a:xfrm>
            <a:off x="1188720" y="12801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Name and identifier</a:t>
            </a:r>
          </a:p>
        </p:txBody>
      </p:sp>
      <p:sp>
        <p:nvSpPr>
          <p:cNvPr id="6" name="TextBox 5"/>
          <p:cNvSpPr txBox="1"/>
          <p:nvPr/>
        </p:nvSpPr>
        <p:spPr>
          <a:xfrm>
            <a:off x="640080" y="19659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verb + noun, e.g. UC-03 Book study room</a:t>
            </a:r>
          </a:p>
        </p:txBody>
      </p:sp>
      <p:sp>
        <p:nvSpPr>
          <p:cNvPr id="7" name="Rectangle 6"/>
          <p:cNvSpPr/>
          <p:nvPr/>
        </p:nvSpPr>
        <p:spPr>
          <a:xfrm>
            <a:off x="4686300" y="1188720"/>
            <a:ext cx="4000500" cy="1417320"/>
          </a:xfrm>
          <a:prstGeom prst="rect">
            <a:avLst/>
          </a:prstGeom>
          <a:solidFill>
            <a:srgbClr val="DCE6F2"/>
          </a:solidFill>
          <a:ln>
            <a:noFill/>
          </a:ln>
          <a:effectLst/>
        </p:spPr>
        <p:txBody>
          <a:bodyPr rtlCol="0" anchor="ctr"/>
          <a:lstStyle/>
          <a:p>
            <a:pPr algn="ctr"/>
            <a:endParaRPr/>
          </a:p>
        </p:txBody>
      </p:sp>
      <p:sp>
        <p:nvSpPr>
          <p:cNvPr id="8" name="Oval 7"/>
          <p:cNvSpPr/>
          <p:nvPr/>
        </p:nvSpPr>
        <p:spPr>
          <a:xfrm>
            <a:off x="4823460" y="13258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2</a:t>
            </a:r>
          </a:p>
        </p:txBody>
      </p:sp>
      <p:sp>
        <p:nvSpPr>
          <p:cNvPr id="9" name="TextBox 8"/>
          <p:cNvSpPr txBox="1"/>
          <p:nvPr/>
        </p:nvSpPr>
        <p:spPr>
          <a:xfrm>
            <a:off x="5417820" y="12801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Actors and stakeholders</a:t>
            </a:r>
          </a:p>
        </p:txBody>
      </p:sp>
      <p:sp>
        <p:nvSpPr>
          <p:cNvPr id="10" name="TextBox 9"/>
          <p:cNvSpPr txBox="1"/>
          <p:nvPr/>
        </p:nvSpPr>
        <p:spPr>
          <a:xfrm>
            <a:off x="4869180" y="19659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who acts, and who else cares</a:t>
            </a:r>
          </a:p>
        </p:txBody>
      </p:sp>
      <p:sp>
        <p:nvSpPr>
          <p:cNvPr id="11" name="Rectangle 10"/>
          <p:cNvSpPr/>
          <p:nvPr/>
        </p:nvSpPr>
        <p:spPr>
          <a:xfrm>
            <a:off x="457200" y="2788920"/>
            <a:ext cx="4000500" cy="1417320"/>
          </a:xfrm>
          <a:prstGeom prst="rect">
            <a:avLst/>
          </a:prstGeom>
          <a:solidFill>
            <a:srgbClr val="DCE6F2"/>
          </a:solidFill>
          <a:ln>
            <a:noFill/>
          </a:ln>
          <a:effectLst/>
        </p:spPr>
        <p:txBody>
          <a:bodyPr rtlCol="0" anchor="ctr"/>
          <a:lstStyle/>
          <a:p>
            <a:pPr algn="ctr"/>
            <a:endParaRPr/>
          </a:p>
        </p:txBody>
      </p:sp>
      <p:sp>
        <p:nvSpPr>
          <p:cNvPr id="12" name="Oval 11"/>
          <p:cNvSpPr/>
          <p:nvPr/>
        </p:nvSpPr>
        <p:spPr>
          <a:xfrm>
            <a:off x="594360" y="2926079"/>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3</a:t>
            </a:r>
          </a:p>
        </p:txBody>
      </p:sp>
      <p:sp>
        <p:nvSpPr>
          <p:cNvPr id="13" name="TextBox 12"/>
          <p:cNvSpPr txBox="1"/>
          <p:nvPr/>
        </p:nvSpPr>
        <p:spPr>
          <a:xfrm>
            <a:off x="1188720" y="28803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Preconditions and triggers</a:t>
            </a:r>
          </a:p>
        </p:txBody>
      </p:sp>
      <p:sp>
        <p:nvSpPr>
          <p:cNvPr id="14" name="TextBox 13"/>
          <p:cNvSpPr txBox="1"/>
          <p:nvPr/>
        </p:nvSpPr>
        <p:spPr>
          <a:xfrm>
            <a:off x="640080" y="35661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what must be true first; what starts it</a:t>
            </a:r>
          </a:p>
        </p:txBody>
      </p:sp>
      <p:sp>
        <p:nvSpPr>
          <p:cNvPr id="15" name="Rectangle 14"/>
          <p:cNvSpPr/>
          <p:nvPr/>
        </p:nvSpPr>
        <p:spPr>
          <a:xfrm>
            <a:off x="4686300" y="2788920"/>
            <a:ext cx="4000500" cy="1417320"/>
          </a:xfrm>
          <a:prstGeom prst="rect">
            <a:avLst/>
          </a:prstGeom>
          <a:solidFill>
            <a:srgbClr val="DCE6F2"/>
          </a:solidFill>
          <a:ln>
            <a:noFill/>
          </a:ln>
          <a:effectLst/>
        </p:spPr>
        <p:txBody>
          <a:bodyPr rtlCol="0" anchor="ctr"/>
          <a:lstStyle/>
          <a:p>
            <a:pPr algn="ctr"/>
            <a:endParaRPr/>
          </a:p>
        </p:txBody>
      </p:sp>
      <p:sp>
        <p:nvSpPr>
          <p:cNvPr id="16" name="Oval 15"/>
          <p:cNvSpPr/>
          <p:nvPr/>
        </p:nvSpPr>
        <p:spPr>
          <a:xfrm>
            <a:off x="4823460" y="2926079"/>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4</a:t>
            </a:r>
          </a:p>
        </p:txBody>
      </p:sp>
      <p:sp>
        <p:nvSpPr>
          <p:cNvPr id="17" name="TextBox 16"/>
          <p:cNvSpPr txBox="1"/>
          <p:nvPr/>
        </p:nvSpPr>
        <p:spPr>
          <a:xfrm>
            <a:off x="5417820" y="28803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Main success scenario</a:t>
            </a:r>
          </a:p>
        </p:txBody>
      </p:sp>
      <p:sp>
        <p:nvSpPr>
          <p:cNvPr id="18" name="TextBox 17"/>
          <p:cNvSpPr txBox="1"/>
          <p:nvPr/>
        </p:nvSpPr>
        <p:spPr>
          <a:xfrm>
            <a:off x="4869180" y="35661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numbered steps: actor intention, system response</a:t>
            </a:r>
          </a:p>
        </p:txBody>
      </p:sp>
      <p:sp>
        <p:nvSpPr>
          <p:cNvPr id="19" name="Rectangle 18"/>
          <p:cNvSpPr/>
          <p:nvPr/>
        </p:nvSpPr>
        <p:spPr>
          <a:xfrm>
            <a:off x="457200" y="4389120"/>
            <a:ext cx="4000500" cy="1417320"/>
          </a:xfrm>
          <a:prstGeom prst="rect">
            <a:avLst/>
          </a:prstGeom>
          <a:solidFill>
            <a:srgbClr val="DCE6F2"/>
          </a:solidFill>
          <a:ln>
            <a:noFill/>
          </a:ln>
          <a:effectLst/>
        </p:spPr>
        <p:txBody>
          <a:bodyPr rtlCol="0" anchor="ctr"/>
          <a:lstStyle/>
          <a:p>
            <a:pPr algn="ctr"/>
            <a:endParaRPr/>
          </a:p>
        </p:txBody>
      </p:sp>
      <p:sp>
        <p:nvSpPr>
          <p:cNvPr id="20" name="Oval 19"/>
          <p:cNvSpPr/>
          <p:nvPr/>
        </p:nvSpPr>
        <p:spPr>
          <a:xfrm>
            <a:off x="594360" y="45262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5</a:t>
            </a:r>
          </a:p>
        </p:txBody>
      </p:sp>
      <p:sp>
        <p:nvSpPr>
          <p:cNvPr id="21" name="TextBox 20"/>
          <p:cNvSpPr txBox="1"/>
          <p:nvPr/>
        </p:nvSpPr>
        <p:spPr>
          <a:xfrm>
            <a:off x="1188720" y="4480559"/>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Alternative flows and exceptions</a:t>
            </a:r>
          </a:p>
        </p:txBody>
      </p:sp>
      <p:sp>
        <p:nvSpPr>
          <p:cNvPr id="22" name="TextBox 21"/>
          <p:cNvSpPr txBox="1"/>
          <p:nvPr/>
        </p:nvSpPr>
        <p:spPr>
          <a:xfrm>
            <a:off x="640080" y="5166359"/>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what if: errors and other choices</a:t>
            </a:r>
          </a:p>
        </p:txBody>
      </p:sp>
      <p:sp>
        <p:nvSpPr>
          <p:cNvPr id="23" name="Rectangle 22"/>
          <p:cNvSpPr/>
          <p:nvPr/>
        </p:nvSpPr>
        <p:spPr>
          <a:xfrm>
            <a:off x="4686300" y="4389120"/>
            <a:ext cx="4000500" cy="1417320"/>
          </a:xfrm>
          <a:prstGeom prst="rect">
            <a:avLst/>
          </a:prstGeom>
          <a:solidFill>
            <a:srgbClr val="DCE6F2"/>
          </a:solidFill>
          <a:ln>
            <a:noFill/>
          </a:ln>
          <a:effectLst/>
        </p:spPr>
        <p:txBody>
          <a:bodyPr rtlCol="0" anchor="ctr"/>
          <a:lstStyle/>
          <a:p>
            <a:pPr algn="ctr"/>
            <a:endParaRPr/>
          </a:p>
        </p:txBody>
      </p:sp>
      <p:sp>
        <p:nvSpPr>
          <p:cNvPr id="24" name="Oval 23"/>
          <p:cNvSpPr/>
          <p:nvPr/>
        </p:nvSpPr>
        <p:spPr>
          <a:xfrm>
            <a:off x="4823460" y="45262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6</a:t>
            </a:r>
          </a:p>
        </p:txBody>
      </p:sp>
      <p:sp>
        <p:nvSpPr>
          <p:cNvPr id="25" name="TextBox 24"/>
          <p:cNvSpPr txBox="1"/>
          <p:nvPr/>
        </p:nvSpPr>
        <p:spPr>
          <a:xfrm>
            <a:off x="5417820" y="4480559"/>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Postconditions and business rules</a:t>
            </a:r>
          </a:p>
        </p:txBody>
      </p:sp>
      <p:sp>
        <p:nvSpPr>
          <p:cNvPr id="26" name="TextBox 25"/>
          <p:cNvSpPr txBox="1"/>
          <p:nvPr/>
        </p:nvSpPr>
        <p:spPr>
          <a:xfrm>
            <a:off x="4869180" y="5166359"/>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what is true afterwards; rules that always apply</a:t>
            </a:r>
          </a:p>
        </p:txBody>
      </p:sp>
      <p:sp>
        <p:nvSpPr>
          <p:cNvPr id="27" name="TextBox 26"/>
          <p:cNvSpPr txBox="1"/>
          <p:nvPr/>
        </p:nvSpPr>
        <p:spPr>
          <a:xfrm>
            <a:off x="457200" y="5852160"/>
            <a:ext cx="8229600" cy="411480"/>
          </a:xfrm>
          <a:prstGeom prst="rect">
            <a:avLst/>
          </a:prstGeom>
          <a:noFill/>
        </p:spPr>
        <p:txBody>
          <a:bodyPr wrap="square" lIns="73152" tIns="54864" rIns="73152" bIns="54864" anchor="ctr">
            <a:spAutoFit/>
          </a:bodyPr>
          <a:lstStyle/>
          <a:p>
            <a:pPr marL="0" indent="0" algn="ctr">
              <a:buNone/>
            </a:pPr>
            <a:r>
              <a:rPr sz="1400" b="0" i="1">
                <a:solidFill>
                  <a:srgbClr val="595959"/>
                </a:solidFill>
              </a:rPr>
              <a:t>Describe intentions ("student selects a time"), not clicks ("student clicks the blue button").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 Case Levels</a:t>
            </a:r>
          </a:p>
        </p:txBody>
      </p:sp>
      <p:sp>
        <p:nvSpPr>
          <p:cNvPr id="3" name="Rectangle 2"/>
          <p:cNvSpPr/>
          <p:nvPr/>
        </p:nvSpPr>
        <p:spPr>
          <a:xfrm>
            <a:off x="457200" y="1188720"/>
            <a:ext cx="8229600" cy="123444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188720"/>
            <a:ext cx="2194560" cy="1234440"/>
          </a:xfrm>
          <a:prstGeom prst="rect">
            <a:avLst/>
          </a:prstGeom>
          <a:noFill/>
        </p:spPr>
        <p:txBody>
          <a:bodyPr wrap="square" lIns="73152" tIns="54864" rIns="73152" bIns="54864" anchor="ctr">
            <a:spAutoFit/>
          </a:bodyPr>
          <a:lstStyle/>
          <a:p>
            <a:pPr marL="0" indent="0" algn="l">
              <a:spcAft>
                <a:spcPts val="100"/>
              </a:spcAft>
              <a:buNone/>
            </a:pPr>
            <a:r>
              <a:rPr sz="2100" b="1">
                <a:solidFill>
                  <a:srgbClr val="1F497D"/>
                </a:solidFill>
              </a:rPr>
              <a:t>Summary</a:t>
            </a:r>
          </a:p>
          <a:p>
            <a:pPr marL="0" indent="0" algn="l">
              <a:buNone/>
            </a:pPr>
            <a:r>
              <a:rPr sz="1400" b="0">
                <a:solidFill>
                  <a:srgbClr val="595959"/>
                </a:solidFill>
              </a:rPr>
              <a:t>cloud, kite</a:t>
            </a:r>
          </a:p>
        </p:txBody>
      </p:sp>
      <p:sp>
        <p:nvSpPr>
          <p:cNvPr id="5" name="TextBox 4"/>
          <p:cNvSpPr txBox="1"/>
          <p:nvPr/>
        </p:nvSpPr>
        <p:spPr>
          <a:xfrm>
            <a:off x="2834640" y="1234440"/>
            <a:ext cx="5760720" cy="1143000"/>
          </a:xfrm>
          <a:prstGeom prst="rect">
            <a:avLst/>
          </a:prstGeom>
          <a:noFill/>
        </p:spPr>
        <p:txBody>
          <a:bodyPr wrap="square" lIns="73152" tIns="54864" rIns="73152" bIns="54864" anchor="ctr">
            <a:spAutoFit/>
          </a:bodyPr>
          <a:lstStyle/>
          <a:p>
            <a:pPr marL="0" indent="0" algn="l">
              <a:spcAft>
                <a:spcPts val="400"/>
              </a:spcAft>
              <a:buNone/>
            </a:pPr>
            <a:r>
              <a:rPr sz="1600" b="0">
                <a:solidFill>
                  <a:srgbClr val="262626"/>
                </a:solidFill>
              </a:rPr>
              <a:t>Strategic, multi-session goals. Give context but need decomposing.</a:t>
            </a:r>
          </a:p>
          <a:p>
            <a:pPr marL="0" indent="0" algn="l">
              <a:buNone/>
            </a:pPr>
            <a:r>
              <a:rPr sz="1500" b="1">
                <a:solidFill>
                  <a:srgbClr val="262626"/>
                </a:solidFill>
              </a:rPr>
              <a:t>e.g. Manage campus study space</a:t>
            </a:r>
          </a:p>
        </p:txBody>
      </p:sp>
      <p:sp>
        <p:nvSpPr>
          <p:cNvPr id="6" name="Rectangle 5"/>
          <p:cNvSpPr/>
          <p:nvPr/>
        </p:nvSpPr>
        <p:spPr>
          <a:xfrm>
            <a:off x="457200" y="2560320"/>
            <a:ext cx="8229600" cy="1234440"/>
          </a:xfrm>
          <a:prstGeom prst="rect">
            <a:avLst/>
          </a:prstGeom>
          <a:solidFill>
            <a:srgbClr val="1F497D"/>
          </a:solidFill>
          <a:ln>
            <a:noFill/>
          </a:ln>
          <a:effectLst/>
        </p:spPr>
        <p:txBody>
          <a:bodyPr rtlCol="0" anchor="ctr"/>
          <a:lstStyle/>
          <a:p>
            <a:pPr algn="ctr"/>
            <a:endParaRPr/>
          </a:p>
        </p:txBody>
      </p:sp>
      <p:sp>
        <p:nvSpPr>
          <p:cNvPr id="7" name="TextBox 6"/>
          <p:cNvSpPr txBox="1"/>
          <p:nvPr/>
        </p:nvSpPr>
        <p:spPr>
          <a:xfrm>
            <a:off x="594360" y="2560320"/>
            <a:ext cx="2194560" cy="1234440"/>
          </a:xfrm>
          <a:prstGeom prst="rect">
            <a:avLst/>
          </a:prstGeom>
          <a:noFill/>
        </p:spPr>
        <p:txBody>
          <a:bodyPr wrap="square" lIns="73152" tIns="54864" rIns="73152" bIns="54864" anchor="ctr">
            <a:spAutoFit/>
          </a:bodyPr>
          <a:lstStyle/>
          <a:p>
            <a:pPr marL="0" indent="0" algn="l">
              <a:spcAft>
                <a:spcPts val="100"/>
              </a:spcAft>
              <a:buNone/>
            </a:pPr>
            <a:r>
              <a:rPr sz="2100" b="1">
                <a:solidFill>
                  <a:srgbClr val="FFFFFF"/>
                </a:solidFill>
              </a:rPr>
              <a:t>User goal</a:t>
            </a:r>
          </a:p>
          <a:p>
            <a:pPr marL="0" indent="0" algn="l">
              <a:buNone/>
            </a:pPr>
            <a:r>
              <a:rPr sz="1400" b="0">
                <a:solidFill>
                  <a:srgbClr val="FFFFFF"/>
                </a:solidFill>
              </a:rPr>
              <a:t>sea level</a:t>
            </a:r>
          </a:p>
        </p:txBody>
      </p:sp>
      <p:sp>
        <p:nvSpPr>
          <p:cNvPr id="8" name="TextBox 7"/>
          <p:cNvSpPr txBox="1"/>
          <p:nvPr/>
        </p:nvSpPr>
        <p:spPr>
          <a:xfrm>
            <a:off x="2834640" y="2606039"/>
            <a:ext cx="5760720" cy="1143000"/>
          </a:xfrm>
          <a:prstGeom prst="rect">
            <a:avLst/>
          </a:prstGeom>
          <a:noFill/>
        </p:spPr>
        <p:txBody>
          <a:bodyPr wrap="square" lIns="73152" tIns="54864" rIns="73152" bIns="54864" anchor="ctr">
            <a:spAutoFit/>
          </a:bodyPr>
          <a:lstStyle/>
          <a:p>
            <a:pPr marL="0" indent="0" algn="l">
              <a:spcAft>
                <a:spcPts val="400"/>
              </a:spcAft>
              <a:buNone/>
            </a:pPr>
            <a:r>
              <a:rPr sz="1600" b="0">
                <a:solidFill>
                  <a:srgbClr val="FFFFFF"/>
                </a:solidFill>
              </a:rPr>
              <a:t>One actor, one sitting, clear value. The primary focus for specifications.</a:t>
            </a:r>
          </a:p>
          <a:p>
            <a:pPr marL="0" indent="0" algn="l">
              <a:buNone/>
            </a:pPr>
            <a:r>
              <a:rPr sz="1500" b="1">
                <a:solidFill>
                  <a:srgbClr val="FFFFFF"/>
                </a:solidFill>
              </a:rPr>
              <a:t>e.g. Book a study room</a:t>
            </a:r>
          </a:p>
        </p:txBody>
      </p:sp>
      <p:sp>
        <p:nvSpPr>
          <p:cNvPr id="9" name="Rectangle 8"/>
          <p:cNvSpPr/>
          <p:nvPr/>
        </p:nvSpPr>
        <p:spPr>
          <a:xfrm>
            <a:off x="457200" y="3931920"/>
            <a:ext cx="8229600" cy="123444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594360" y="3931920"/>
            <a:ext cx="2194560" cy="1234440"/>
          </a:xfrm>
          <a:prstGeom prst="rect">
            <a:avLst/>
          </a:prstGeom>
          <a:noFill/>
        </p:spPr>
        <p:txBody>
          <a:bodyPr wrap="square" lIns="73152" tIns="54864" rIns="73152" bIns="54864" anchor="ctr">
            <a:spAutoFit/>
          </a:bodyPr>
          <a:lstStyle/>
          <a:p>
            <a:pPr marL="0" indent="0" algn="l">
              <a:spcAft>
                <a:spcPts val="100"/>
              </a:spcAft>
              <a:buNone/>
            </a:pPr>
            <a:r>
              <a:rPr sz="2100" b="1">
                <a:solidFill>
                  <a:srgbClr val="31859C"/>
                </a:solidFill>
              </a:rPr>
              <a:t>Subfunction</a:t>
            </a:r>
          </a:p>
          <a:p>
            <a:pPr marL="0" indent="0" algn="l">
              <a:buNone/>
            </a:pPr>
            <a:r>
              <a:rPr sz="1400" b="0">
                <a:solidFill>
                  <a:srgbClr val="595959"/>
                </a:solidFill>
              </a:rPr>
              <a:t>fish</a:t>
            </a:r>
          </a:p>
        </p:txBody>
      </p:sp>
      <p:sp>
        <p:nvSpPr>
          <p:cNvPr id="11" name="TextBox 10"/>
          <p:cNvSpPr txBox="1"/>
          <p:nvPr/>
        </p:nvSpPr>
        <p:spPr>
          <a:xfrm>
            <a:off x="2834640" y="3977639"/>
            <a:ext cx="5760720" cy="1143000"/>
          </a:xfrm>
          <a:prstGeom prst="rect">
            <a:avLst/>
          </a:prstGeom>
          <a:noFill/>
        </p:spPr>
        <p:txBody>
          <a:bodyPr wrap="square" lIns="73152" tIns="54864" rIns="73152" bIns="54864" anchor="ctr">
            <a:spAutoFit/>
          </a:bodyPr>
          <a:lstStyle/>
          <a:p>
            <a:pPr marL="0" indent="0" algn="l">
              <a:spcAft>
                <a:spcPts val="400"/>
              </a:spcAft>
              <a:buNone/>
            </a:pPr>
            <a:r>
              <a:rPr sz="1600" b="0">
                <a:solidFill>
                  <a:srgbClr val="262626"/>
                </a:solidFill>
              </a:rPr>
              <a:t>Supporting steps, reused by several use cases.</a:t>
            </a:r>
          </a:p>
          <a:p>
            <a:pPr marL="0" indent="0" algn="l">
              <a:buNone/>
            </a:pPr>
            <a:r>
              <a:rPr sz="1500" b="1">
                <a:solidFill>
                  <a:srgbClr val="262626"/>
                </a:solidFill>
              </a:rPr>
              <a:t>e.g. Check availability, Sign in</a:t>
            </a:r>
          </a:p>
        </p:txBody>
      </p:sp>
      <p:sp>
        <p:nvSpPr>
          <p:cNvPr id="12" name="Rectangle 11"/>
          <p:cNvSpPr/>
          <p:nvPr/>
        </p:nvSpPr>
        <p:spPr>
          <a:xfrm>
            <a:off x="457200" y="5394960"/>
            <a:ext cx="8229600" cy="822960"/>
          </a:xfrm>
          <a:prstGeom prst="rect">
            <a:avLst/>
          </a:prstGeom>
          <a:solidFill>
            <a:srgbClr val="F2DCDB"/>
          </a:solidFill>
          <a:ln>
            <a:noFill/>
          </a:ln>
          <a:effectLst/>
        </p:spPr>
        <p:txBody>
          <a:bodyPr wrap="square" lIns="182880" tIns="54864" rIns="182880" bIns="54864" rtlCol="0" anchor="ctr"/>
          <a:lstStyle/>
          <a:p>
            <a:pPr marL="0" indent="0" algn="l">
              <a:buNone/>
            </a:pPr>
            <a:r>
              <a:rPr sz="1600" b="1">
                <a:solidFill>
                  <a:srgbClr val="A93226"/>
                </a:solidFill>
              </a:rPr>
              <a:t>Too low (clam): </a:t>
            </a:r>
            <a:r>
              <a:rPr sz="1600" b="0">
                <a:solidFill>
                  <a:srgbClr val="262626"/>
                </a:solidFill>
              </a:rPr>
              <a:t>"Type the student ID" is a step inside another use case, not a use case of its 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Worked Example: Book a Study Room</a:t>
            </a:r>
          </a:p>
        </p:txBody>
      </p:sp>
      <p:sp>
        <p:nvSpPr>
          <p:cNvPr id="3" name="TextBox 2"/>
          <p:cNvSpPr txBox="1"/>
          <p:nvPr/>
        </p:nvSpPr>
        <p:spPr>
          <a:xfrm>
            <a:off x="365760" y="1097280"/>
            <a:ext cx="2651760" cy="365760"/>
          </a:xfrm>
          <a:prstGeom prst="rect">
            <a:avLst/>
          </a:prstGeom>
          <a:noFill/>
        </p:spPr>
        <p:txBody>
          <a:bodyPr wrap="square" lIns="73152" tIns="54864" rIns="73152" bIns="54864" anchor="t">
            <a:spAutoFit/>
          </a:bodyPr>
          <a:lstStyle/>
          <a:p>
            <a:pPr marL="0" indent="0" algn="l">
              <a:buNone/>
            </a:pPr>
            <a:r>
              <a:rPr sz="1600" b="1">
                <a:solidFill>
                  <a:srgbClr val="1F497D"/>
                </a:solidFill>
              </a:rPr>
              <a:t>Context</a:t>
            </a:r>
          </a:p>
        </p:txBody>
      </p:sp>
      <p:sp>
        <p:nvSpPr>
          <p:cNvPr id="4" name="TextBox 3"/>
          <p:cNvSpPr txBox="1"/>
          <p:nvPr/>
        </p:nvSpPr>
        <p:spPr>
          <a:xfrm>
            <a:off x="365760" y="1463040"/>
            <a:ext cx="2651760" cy="32918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1">
                <a:solidFill>
                  <a:srgbClr val="262626"/>
                </a:solidFill>
              </a:rPr>
              <a:t>Primary actor: </a:t>
            </a:r>
            <a:r>
              <a:rPr sz="1500" b="0">
                <a:solidFill>
                  <a:srgbClr val="262626"/>
                </a:solidFill>
              </a:rPr>
              <a:t>student</a:t>
            </a:r>
          </a:p>
          <a:p>
            <a:pPr marL="285750" indent="-285750" algn="l">
              <a:spcAft>
                <a:spcPts val="300"/>
              </a:spcAft>
              <a:buFont typeface="Arial"/>
              <a:buChar char="•"/>
            </a:pPr>
            <a:r>
              <a:rPr sz="1500" b="1">
                <a:solidFill>
                  <a:srgbClr val="262626"/>
                </a:solidFill>
              </a:rPr>
              <a:t>Stakeholders: </a:t>
            </a:r>
            <a:r>
              <a:rPr sz="1500" b="0">
                <a:solidFill>
                  <a:srgbClr val="262626"/>
                </a:solidFill>
              </a:rPr>
              <a:t>facilities, timetabling</a:t>
            </a:r>
          </a:p>
          <a:p>
            <a:pPr marL="285750" indent="-285750" algn="l">
              <a:spcAft>
                <a:spcPts val="300"/>
              </a:spcAft>
              <a:buFont typeface="Arial"/>
              <a:buChar char="•"/>
            </a:pPr>
            <a:r>
              <a:rPr sz="1500" b="1">
                <a:solidFill>
                  <a:srgbClr val="262626"/>
                </a:solidFill>
              </a:rPr>
              <a:t>Precondition: </a:t>
            </a:r>
            <a:r>
              <a:rPr sz="1500" b="0">
                <a:solidFill>
                  <a:srgbClr val="262626"/>
                </a:solidFill>
              </a:rPr>
              <a:t>student is signed in</a:t>
            </a:r>
          </a:p>
          <a:p>
            <a:pPr marL="285750" indent="-285750" algn="l">
              <a:buFont typeface="Arial"/>
              <a:buChar char="•"/>
            </a:pPr>
            <a:r>
              <a:rPr sz="1500" b="1">
                <a:solidFill>
                  <a:srgbClr val="262626"/>
                </a:solidFill>
              </a:rPr>
              <a:t>Trigger: </a:t>
            </a:r>
            <a:r>
              <a:rPr sz="1500" b="0">
                <a:solidFill>
                  <a:srgbClr val="262626"/>
                </a:solidFill>
              </a:rPr>
              <a:t>student selects "Book a room"</a:t>
            </a:r>
          </a:p>
        </p:txBody>
      </p:sp>
      <p:sp>
        <p:nvSpPr>
          <p:cNvPr id="5" name="TextBox 4"/>
          <p:cNvSpPr txBox="1"/>
          <p:nvPr/>
        </p:nvSpPr>
        <p:spPr>
          <a:xfrm>
            <a:off x="3108960" y="1097280"/>
            <a:ext cx="3108960" cy="365760"/>
          </a:xfrm>
          <a:prstGeom prst="rect">
            <a:avLst/>
          </a:prstGeom>
          <a:noFill/>
        </p:spPr>
        <p:txBody>
          <a:bodyPr wrap="square" lIns="73152" tIns="54864" rIns="73152" bIns="54864" anchor="t">
            <a:spAutoFit/>
          </a:bodyPr>
          <a:lstStyle/>
          <a:p>
            <a:pPr marL="0" indent="0" algn="l">
              <a:buNone/>
            </a:pPr>
            <a:r>
              <a:rPr sz="1600" b="1">
                <a:solidFill>
                  <a:srgbClr val="1F497D"/>
                </a:solidFill>
              </a:rPr>
              <a:t>Main success scenario</a:t>
            </a:r>
          </a:p>
        </p:txBody>
      </p:sp>
      <p:sp>
        <p:nvSpPr>
          <p:cNvPr id="6" name="TextBox 5"/>
          <p:cNvSpPr txBox="1"/>
          <p:nvPr/>
        </p:nvSpPr>
        <p:spPr>
          <a:xfrm>
            <a:off x="3108960" y="1463040"/>
            <a:ext cx="3108960" cy="3383280"/>
          </a:xfrm>
          <a:prstGeom prst="rect">
            <a:avLst/>
          </a:prstGeom>
          <a:noFill/>
        </p:spPr>
        <p:txBody>
          <a:bodyPr wrap="square" lIns="73152" tIns="54864" rIns="73152" bIns="54864" anchor="t">
            <a:spAutoFit/>
          </a:bodyPr>
          <a:lstStyle/>
          <a:p>
            <a:pPr marL="285750" indent="-285750" algn="l">
              <a:spcAft>
                <a:spcPts val="300"/>
              </a:spcAft>
              <a:buFont typeface="+mj-lt"/>
              <a:buAutoNum type="arabicPeriod"/>
            </a:pPr>
            <a:r>
              <a:rPr sz="1500" b="0">
                <a:solidFill>
                  <a:srgbClr val="262626"/>
                </a:solidFill>
              </a:rPr>
              <a:t>System lists rooms and current availability.</a:t>
            </a:r>
          </a:p>
          <a:p>
            <a:pPr marL="285750" indent="-285750" algn="l">
              <a:spcAft>
                <a:spcPts val="300"/>
              </a:spcAft>
              <a:buFont typeface="+mj-lt"/>
              <a:buAutoNum type="arabicPeriod"/>
            </a:pPr>
            <a:r>
              <a:rPr sz="1500" b="0">
                <a:solidFill>
                  <a:srgbClr val="262626"/>
                </a:solidFill>
              </a:rPr>
              <a:t>Student selects a room and time slot.</a:t>
            </a:r>
          </a:p>
          <a:p>
            <a:pPr marL="285750" indent="-285750" algn="l">
              <a:spcAft>
                <a:spcPts val="300"/>
              </a:spcAft>
              <a:buFont typeface="+mj-lt"/>
              <a:buAutoNum type="arabicPeriod"/>
            </a:pPr>
            <a:r>
              <a:rPr sz="1500" b="0">
                <a:solidFill>
                  <a:srgbClr val="262626"/>
                </a:solidFill>
              </a:rPr>
              <a:t>System checks the booking rules.</a:t>
            </a:r>
          </a:p>
          <a:p>
            <a:pPr marL="285750" indent="-285750" algn="l">
              <a:spcAft>
                <a:spcPts val="300"/>
              </a:spcAft>
              <a:buFont typeface="+mj-lt"/>
              <a:buAutoNum type="arabicPeriod"/>
            </a:pPr>
            <a:r>
              <a:rPr sz="1500" b="0">
                <a:solidFill>
                  <a:srgbClr val="262626"/>
                </a:solidFill>
              </a:rPr>
              <a:t>System presents a summary.</a:t>
            </a:r>
          </a:p>
          <a:p>
            <a:pPr marL="285750" indent="-285750" algn="l">
              <a:spcAft>
                <a:spcPts val="300"/>
              </a:spcAft>
              <a:buFont typeface="+mj-lt"/>
              <a:buAutoNum type="arabicPeriod"/>
            </a:pPr>
            <a:r>
              <a:rPr sz="1500" b="0">
                <a:solidFill>
                  <a:srgbClr val="262626"/>
                </a:solidFill>
              </a:rPr>
              <a:t>Student confirms.</a:t>
            </a:r>
          </a:p>
          <a:p>
            <a:pPr marL="285750" indent="-285750" algn="l">
              <a:spcAft>
                <a:spcPts val="300"/>
              </a:spcAft>
              <a:buFont typeface="+mj-lt"/>
              <a:buAutoNum type="arabicPeriod"/>
            </a:pPr>
            <a:r>
              <a:rPr sz="1500" b="0">
                <a:solidFill>
                  <a:srgbClr val="262626"/>
                </a:solidFill>
              </a:rPr>
              <a:t>System records the booking and marks the slot taken.</a:t>
            </a:r>
          </a:p>
          <a:p>
            <a:pPr marL="285750" indent="-285750" algn="l">
              <a:spcAft>
                <a:spcPts val="300"/>
              </a:spcAft>
              <a:buFont typeface="+mj-lt"/>
              <a:buAutoNum type="arabicPeriod"/>
            </a:pPr>
            <a:r>
              <a:rPr sz="1500" b="0">
                <a:solidFill>
                  <a:srgbClr val="262626"/>
                </a:solidFill>
              </a:rPr>
              <a:t>System sends a confirmation.</a:t>
            </a:r>
          </a:p>
        </p:txBody>
      </p:sp>
      <p:sp>
        <p:nvSpPr>
          <p:cNvPr id="7" name="TextBox 6"/>
          <p:cNvSpPr txBox="1"/>
          <p:nvPr/>
        </p:nvSpPr>
        <p:spPr>
          <a:xfrm>
            <a:off x="6309360" y="1097280"/>
            <a:ext cx="2560320" cy="365760"/>
          </a:xfrm>
          <a:prstGeom prst="rect">
            <a:avLst/>
          </a:prstGeom>
          <a:noFill/>
        </p:spPr>
        <p:txBody>
          <a:bodyPr wrap="square" lIns="73152" tIns="54864" rIns="73152" bIns="54864" anchor="t">
            <a:spAutoFit/>
          </a:bodyPr>
          <a:lstStyle/>
          <a:p>
            <a:pPr marL="0" indent="0" algn="l">
              <a:buNone/>
            </a:pPr>
            <a:r>
              <a:rPr sz="1600" b="1">
                <a:solidFill>
                  <a:srgbClr val="1F497D"/>
                </a:solidFill>
              </a:rPr>
              <a:t>Alternative flows</a:t>
            </a:r>
          </a:p>
        </p:txBody>
      </p:sp>
      <p:sp>
        <p:nvSpPr>
          <p:cNvPr id="8" name="TextBox 7"/>
          <p:cNvSpPr txBox="1"/>
          <p:nvPr/>
        </p:nvSpPr>
        <p:spPr>
          <a:xfrm>
            <a:off x="6309360" y="1463040"/>
            <a:ext cx="2560320" cy="338328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0">
                <a:solidFill>
                  <a:srgbClr val="262626"/>
                </a:solidFill>
              </a:rPr>
              <a:t>No room free: offer the waiting list.</a:t>
            </a:r>
          </a:p>
          <a:p>
            <a:pPr marL="285750" indent="-285750" algn="l">
              <a:spcAft>
                <a:spcPts val="300"/>
              </a:spcAft>
              <a:buFont typeface="Arial"/>
              <a:buChar char="•"/>
            </a:pPr>
            <a:r>
              <a:rPr sz="1500" b="0">
                <a:solidFill>
                  <a:srgbClr val="262626"/>
                </a:solidFill>
              </a:rPr>
              <a:t>Outside opening hours: show error, return to step 2.</a:t>
            </a:r>
          </a:p>
          <a:p>
            <a:pPr marL="285750" indent="-285750" algn="l">
              <a:buFont typeface="Arial"/>
              <a:buChar char="•"/>
            </a:pPr>
            <a:r>
              <a:rPr sz="1500" b="0">
                <a:solidFill>
                  <a:srgbClr val="262626"/>
                </a:solidFill>
              </a:rPr>
              <a:t>Sensor offline: show "status unknown", allow booking.</a:t>
            </a:r>
          </a:p>
        </p:txBody>
      </p:sp>
      <p:sp>
        <p:nvSpPr>
          <p:cNvPr id="9" name="Rectangle 8"/>
          <p:cNvSpPr/>
          <p:nvPr/>
        </p:nvSpPr>
        <p:spPr>
          <a:xfrm>
            <a:off x="365760" y="5120640"/>
            <a:ext cx="8412480" cy="100584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Business rules: </a:t>
            </a:r>
            <a:r>
              <a:rPr sz="1600" b="0">
                <a:solidFill>
                  <a:srgbClr val="262626"/>
                </a:solidFill>
              </a:rPr>
              <a:t>maximum 2 hours per booking; 3 bookings per week; cancel at least 15 minutes before the start.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1520"/>
            <a:ext cx="8458200" cy="822960"/>
          </a:xfrm>
        </p:spPr>
        <p:txBody>
          <a:bodyPr/>
          <a:lstStyle/>
          <a:p>
            <a:r>
              <a:rPr sz="3000" b="1" dirty="0">
                <a:solidFill>
                  <a:schemeClr val="tx2"/>
                </a:solidFill>
              </a:rPr>
              <a:t>Exercise: Which level?</a:t>
            </a:r>
          </a:p>
        </p:txBody>
      </p:sp>
      <p:sp>
        <p:nvSpPr>
          <p:cNvPr id="3" name="Content Placeholder 2"/>
          <p:cNvSpPr>
            <a:spLocks noGrp="1"/>
          </p:cNvSpPr>
          <p:nvPr>
            <p:ph sz="quarter" idx="13"/>
          </p:nvPr>
        </p:nvSpPr>
        <p:spPr>
          <a:xfrm>
            <a:off x="3246120" y="1737360"/>
            <a:ext cx="5532120" cy="4480560"/>
          </a:xfrm>
        </p:spPr>
        <p:txBody>
          <a:bodyPr wrap="square"/>
          <a:lstStyle/>
          <a:p>
            <a:pPr marL="0" indent="0">
              <a:spcAft>
                <a:spcPts val="200"/>
              </a:spcAft>
              <a:buNone/>
            </a:pPr>
            <a:r>
              <a:rPr sz="1800" b="1" dirty="0">
                <a:solidFill>
                  <a:srgbClr val="1F497D"/>
                </a:solidFill>
              </a:rPr>
              <a:t>Vote on </a:t>
            </a:r>
            <a:r>
              <a:rPr sz="1800" b="1" dirty="0" err="1">
                <a:solidFill>
                  <a:srgbClr val="1F497D"/>
                </a:solidFill>
              </a:rPr>
              <a:t>Vevox</a:t>
            </a:r>
            <a:endParaRPr sz="1800" b="1" dirty="0">
              <a:solidFill>
                <a:srgbClr val="1F497D"/>
              </a:solidFill>
            </a:endParaRPr>
          </a:p>
          <a:p>
            <a:pPr marL="0" indent="0">
              <a:spcAft>
                <a:spcPts val="800"/>
              </a:spcAft>
              <a:buNone/>
            </a:pPr>
            <a:r>
              <a:rPr sz="1500" b="0" dirty="0">
                <a:solidFill>
                  <a:srgbClr val="595959"/>
                </a:solidFill>
              </a:rPr>
              <a:t>Summary, user goal, subfunction, or too low to be a use case?</a:t>
            </a:r>
          </a:p>
          <a:p>
            <a:pPr marL="285750" indent="-285750">
              <a:spcAft>
                <a:spcPts val="300"/>
              </a:spcAft>
              <a:buFont typeface="+mj-lt"/>
              <a:buAutoNum type="arabicPeriod"/>
            </a:pPr>
            <a:r>
              <a:rPr sz="1800" b="0" dirty="0">
                <a:solidFill>
                  <a:srgbClr val="262626"/>
                </a:solidFill>
              </a:rPr>
              <a:t>Manage campus study space.</a:t>
            </a:r>
          </a:p>
          <a:p>
            <a:pPr marL="285750" indent="-285750">
              <a:spcAft>
                <a:spcPts val="300"/>
              </a:spcAft>
              <a:buFont typeface="+mj-lt"/>
              <a:buAutoNum type="arabicPeriod"/>
            </a:pPr>
            <a:r>
              <a:rPr sz="1800" b="0" dirty="0">
                <a:solidFill>
                  <a:srgbClr val="262626"/>
                </a:solidFill>
              </a:rPr>
              <a:t>Book a study room.</a:t>
            </a:r>
          </a:p>
          <a:p>
            <a:pPr marL="285750" indent="-285750">
              <a:spcAft>
                <a:spcPts val="300"/>
              </a:spcAft>
              <a:buFont typeface="+mj-lt"/>
              <a:buAutoNum type="arabicPeriod"/>
            </a:pPr>
            <a:r>
              <a:rPr sz="1800" b="0" dirty="0">
                <a:solidFill>
                  <a:srgbClr val="262626"/>
                </a:solidFill>
              </a:rPr>
              <a:t>Validate a booking against the rules.</a:t>
            </a:r>
          </a:p>
          <a:p>
            <a:pPr marL="285750" indent="-285750">
              <a:spcAft>
                <a:spcPts val="300"/>
              </a:spcAft>
              <a:buFont typeface="+mj-lt"/>
              <a:buAutoNum type="arabicPeriod"/>
            </a:pPr>
            <a:r>
              <a:rPr sz="1800" b="0" dirty="0">
                <a:solidFill>
                  <a:srgbClr val="262626"/>
                </a:solidFill>
              </a:rPr>
              <a:t>Cancel a booking.</a:t>
            </a:r>
          </a:p>
          <a:p>
            <a:pPr marL="285750" indent="-285750">
              <a:spcAft>
                <a:spcPts val="300"/>
              </a:spcAft>
              <a:buFont typeface="+mj-lt"/>
              <a:buAutoNum type="arabicPeriod"/>
            </a:pPr>
            <a:r>
              <a:rPr sz="1800" b="0" dirty="0">
                <a:solidFill>
                  <a:srgbClr val="262626"/>
                </a:solidFill>
              </a:rPr>
              <a:t>Reduce energy use across all campus buildings.</a:t>
            </a:r>
          </a:p>
          <a:p>
            <a:pPr marL="285750" indent="-285750">
              <a:spcAft>
                <a:spcPts val="300"/>
              </a:spcAft>
              <a:buFont typeface="+mj-lt"/>
              <a:buAutoNum type="arabicPeriod"/>
            </a:pPr>
            <a:r>
              <a:rPr sz="1800" b="0" dirty="0">
                <a:solidFill>
                  <a:srgbClr val="262626"/>
                </a:solidFill>
              </a:rPr>
              <a:t>Type the student ID into the form.</a:t>
            </a:r>
          </a:p>
        </p:txBody>
      </p:sp>
      <p:sp>
        <p:nvSpPr>
          <p:cNvPr id="4" name="Rectangle 3"/>
          <p:cNvSpPr/>
          <p:nvPr/>
        </p:nvSpPr>
        <p:spPr>
          <a:xfrm>
            <a:off x="914400" y="228600"/>
            <a:ext cx="7315200" cy="502920"/>
          </a:xfrm>
          <a:prstGeom prst="rect">
            <a:avLst/>
          </a:prstGeom>
          <a:solidFill>
            <a:srgbClr val="D7E4BD"/>
          </a:solidFill>
          <a:ln>
            <a:noFill/>
          </a:ln>
          <a:effectLst/>
        </p:spPr>
        <p:txBody>
          <a:bodyPr wrap="square" lIns="73152" tIns="54864" rIns="73152" bIns="54864" rtlCol="0" anchor="ctr"/>
          <a:lstStyle/>
          <a:p>
            <a:pPr marL="0" indent="0" algn="ctr">
              <a:buNone/>
            </a:pPr>
            <a:r>
              <a:rPr sz="2600" b="1">
                <a:solidFill>
                  <a:srgbClr val="000000"/>
                </a:solidFill>
              </a:rPr>
              <a:t>Let's think and reflect</a:t>
            </a:r>
          </a:p>
        </p:txBody>
      </p:sp>
      <p:pic>
        <p:nvPicPr>
          <p:cNvPr id="10" name="Picture 9">
            <a:extLst>
              <a:ext uri="{FF2B5EF4-FFF2-40B4-BE49-F238E27FC236}">
                <a16:creationId xmlns:a16="http://schemas.microsoft.com/office/drawing/2014/main" id="{C9AFAC12-7989-A592-B4AD-F21A31344A5D}"/>
              </a:ext>
            </a:extLst>
          </p:cNvPr>
          <p:cNvPicPr>
            <a:picLocks noChangeAspect="1"/>
          </p:cNvPicPr>
          <p:nvPr/>
        </p:nvPicPr>
        <p:blipFill>
          <a:blip r:embed="rId3"/>
          <a:stretch>
            <a:fillRect/>
          </a:stretch>
        </p:blipFill>
        <p:spPr>
          <a:xfrm>
            <a:off x="468630" y="1505871"/>
            <a:ext cx="2411730" cy="4712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Which level? Discussion</a:t>
            </a:r>
          </a:p>
        </p:txBody>
      </p:sp>
      <p:graphicFrame>
        <p:nvGraphicFramePr>
          <p:cNvPr id="3" name="Table 2"/>
          <p:cNvGraphicFramePr>
            <a:graphicFrameLocks noGrp="1"/>
          </p:cNvGraphicFramePr>
          <p:nvPr/>
        </p:nvGraphicFramePr>
        <p:xfrm>
          <a:off x="457200" y="1188720"/>
          <a:ext cx="8229599" cy="3968496"/>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566928">
                <a:tc>
                  <a:txBody>
                    <a:bodyPr/>
                    <a:lstStyle/>
                    <a:p>
                      <a:pPr marL="0" indent="0">
                        <a:buNone/>
                      </a:pPr>
                      <a:r>
                        <a:rPr sz="1500" b="1">
                          <a:solidFill>
                            <a:srgbClr val="FFFFFF"/>
                          </a:solidFill>
                        </a:rPr>
                        <a:t>#</a:t>
                      </a:r>
                    </a:p>
                  </a:txBody>
                  <a:tcPr marL="73152" marR="73152" marT="36576" marB="36576" anchor="ctr">
                    <a:solidFill>
                      <a:srgbClr val="1F497D"/>
                    </a:solidFill>
                  </a:tcPr>
                </a:tc>
                <a:tc>
                  <a:txBody>
                    <a:bodyPr/>
                    <a:lstStyle/>
                    <a:p>
                      <a:pPr marL="0" indent="0">
                        <a:buNone/>
                      </a:pPr>
                      <a:r>
                        <a:rPr sz="1500" b="1">
                          <a:solidFill>
                            <a:srgbClr val="FFFFFF"/>
                          </a:solidFill>
                        </a:rPr>
                        <a:t>Goal</a:t>
                      </a:r>
                    </a:p>
                  </a:txBody>
                  <a:tcPr marL="73152" marR="73152" marT="36576" marB="36576" anchor="ctr">
                    <a:solidFill>
                      <a:srgbClr val="1F497D"/>
                    </a:solidFill>
                  </a:tcPr>
                </a:tc>
                <a:tc>
                  <a:txBody>
                    <a:bodyPr/>
                    <a:lstStyle/>
                    <a:p>
                      <a:pPr marL="0" indent="0">
                        <a:buNone/>
                      </a:pPr>
                      <a:r>
                        <a:rPr sz="1500" b="1">
                          <a:solidFill>
                            <a:srgbClr val="FFFFFF"/>
                          </a:solidFill>
                        </a:rPr>
                        <a:t>Level</a:t>
                      </a:r>
                    </a:p>
                  </a:txBody>
                  <a:tcPr marL="73152" marR="73152" marT="36576" marB="36576" anchor="ctr">
                    <a:solidFill>
                      <a:srgbClr val="1F497D"/>
                    </a:solidFill>
                  </a:tcPr>
                </a:tc>
                <a:tc>
                  <a:txBody>
                    <a:bodyPr/>
                    <a:lstStyle/>
                    <a:p>
                      <a:pPr marL="0" indent="0">
                        <a:buNone/>
                      </a:pPr>
                      <a:r>
                        <a:rPr sz="1500" b="1">
                          <a:solidFill>
                            <a:srgbClr val="FFFFFF"/>
                          </a:solidFill>
                        </a:rPr>
                        <a:t>Why</a:t>
                      </a:r>
                    </a:p>
                  </a:txBody>
                  <a:tcPr marL="73152" marR="73152" marT="36576" marB="36576" anchor="ctr">
                    <a:solidFill>
                      <a:srgbClr val="1F497D"/>
                    </a:solidFill>
                  </a:tcPr>
                </a:tc>
                <a:extLst>
                  <a:ext uri="{0D108BD9-81ED-4DB2-BD59-A6C34878D82A}">
                    <a16:rowId xmlns:a16="http://schemas.microsoft.com/office/drawing/2014/main" val="10000"/>
                  </a:ext>
                </a:extLst>
              </a:tr>
              <a:tr h="566928">
                <a:tc>
                  <a:txBody>
                    <a:bodyPr/>
                    <a:lstStyle/>
                    <a:p>
                      <a:pPr marL="0" indent="0">
                        <a:buNone/>
                      </a:pPr>
                      <a:r>
                        <a:rPr sz="1500" b="0">
                          <a:solidFill>
                            <a:srgbClr val="262626"/>
                          </a:solidFill>
                        </a:rPr>
                        <a:t>1</a:t>
                      </a:r>
                    </a:p>
                  </a:txBody>
                  <a:tcPr marL="73152" marR="73152" marT="36576" marB="36576" anchor="ctr">
                    <a:solidFill>
                      <a:srgbClr val="FFFFFF"/>
                    </a:solidFill>
                  </a:tcPr>
                </a:tc>
                <a:tc>
                  <a:txBody>
                    <a:bodyPr/>
                    <a:lstStyle/>
                    <a:p>
                      <a:pPr marL="0" indent="0">
                        <a:buNone/>
                      </a:pPr>
                      <a:r>
                        <a:rPr sz="1500" b="0">
                          <a:solidFill>
                            <a:srgbClr val="262626"/>
                          </a:solidFill>
                        </a:rPr>
                        <a:t>Manage campus study space</a:t>
                      </a:r>
                    </a:p>
                  </a:txBody>
                  <a:tcPr marL="73152" marR="73152" marT="36576" marB="36576" anchor="ctr">
                    <a:solidFill>
                      <a:srgbClr val="FFFFFF"/>
                    </a:solidFill>
                  </a:tcPr>
                </a:tc>
                <a:tc>
                  <a:txBody>
                    <a:bodyPr/>
                    <a:lstStyle/>
                    <a:p>
                      <a:pPr marL="0" indent="0">
                        <a:buNone/>
                      </a:pPr>
                      <a:r>
                        <a:rPr sz="1500" b="0" dirty="0">
                          <a:solidFill>
                            <a:srgbClr val="262626"/>
                          </a:solidFill>
                        </a:rPr>
                        <a:t>Summary</a:t>
                      </a:r>
                    </a:p>
                  </a:txBody>
                  <a:tcPr marL="73152" marR="73152" marT="36576" marB="36576" anchor="ctr">
                    <a:solidFill>
                      <a:srgbClr val="FFFFFF"/>
                    </a:solidFill>
                  </a:tcPr>
                </a:tc>
                <a:tc>
                  <a:txBody>
                    <a:bodyPr/>
                    <a:lstStyle/>
                    <a:p>
                      <a:pPr marL="0" indent="0">
                        <a:buNone/>
                      </a:pPr>
                      <a:r>
                        <a:rPr sz="1500" b="0">
                          <a:solidFill>
                            <a:srgbClr val="262626"/>
                          </a:solidFill>
                        </a:rPr>
                        <a:t>Many user goals over weeks</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pPr marL="0" indent="0">
                        <a:buNone/>
                      </a:pPr>
                      <a:r>
                        <a:rPr sz="1500" b="0">
                          <a:solidFill>
                            <a:srgbClr val="262626"/>
                          </a:solidFill>
                        </a:rPr>
                        <a:t>2</a:t>
                      </a:r>
                    </a:p>
                  </a:txBody>
                  <a:tcPr marL="73152" marR="73152" marT="36576" marB="36576" anchor="ctr">
                    <a:solidFill>
                      <a:srgbClr val="F2F2F2"/>
                    </a:solidFill>
                  </a:tcPr>
                </a:tc>
                <a:tc>
                  <a:txBody>
                    <a:bodyPr/>
                    <a:lstStyle/>
                    <a:p>
                      <a:pPr marL="0" indent="0">
                        <a:buNone/>
                      </a:pPr>
                      <a:r>
                        <a:rPr sz="1500" b="0">
                          <a:solidFill>
                            <a:srgbClr val="262626"/>
                          </a:solidFill>
                        </a:rPr>
                        <a:t>Book a study room</a:t>
                      </a:r>
                    </a:p>
                  </a:txBody>
                  <a:tcPr marL="73152" marR="73152" marT="36576" marB="36576" anchor="ctr">
                    <a:solidFill>
                      <a:srgbClr val="F2F2F2"/>
                    </a:solidFill>
                  </a:tcPr>
                </a:tc>
                <a:tc>
                  <a:txBody>
                    <a:bodyPr/>
                    <a:lstStyle/>
                    <a:p>
                      <a:pPr marL="0" indent="0">
                        <a:buNone/>
                      </a:pPr>
                      <a:r>
                        <a:rPr sz="1500" b="0" dirty="0">
                          <a:solidFill>
                            <a:srgbClr val="262626"/>
                          </a:solidFill>
                        </a:rPr>
                        <a:t>User goal</a:t>
                      </a:r>
                    </a:p>
                  </a:txBody>
                  <a:tcPr marL="73152" marR="73152" marT="36576" marB="36576" anchor="ctr">
                    <a:solidFill>
                      <a:srgbClr val="F2F2F2"/>
                    </a:solidFill>
                  </a:tcPr>
                </a:tc>
                <a:tc>
                  <a:txBody>
                    <a:bodyPr/>
                    <a:lstStyle/>
                    <a:p>
                      <a:pPr marL="0" indent="0">
                        <a:buNone/>
                      </a:pPr>
                      <a:r>
                        <a:rPr sz="1500" b="0">
                          <a:solidFill>
                            <a:srgbClr val="262626"/>
                          </a:solidFill>
                        </a:rPr>
                        <a:t>One sitting, clear value</a:t>
                      </a:r>
                    </a:p>
                  </a:txBody>
                  <a:tcPr marL="73152" marR="73152" marT="36576" marB="36576" anchor="ctr">
                    <a:solidFill>
                      <a:srgbClr val="F2F2F2"/>
                    </a:solidFill>
                  </a:tcPr>
                </a:tc>
                <a:extLst>
                  <a:ext uri="{0D108BD9-81ED-4DB2-BD59-A6C34878D82A}">
                    <a16:rowId xmlns:a16="http://schemas.microsoft.com/office/drawing/2014/main" val="10002"/>
                  </a:ext>
                </a:extLst>
              </a:tr>
              <a:tr h="566928">
                <a:tc>
                  <a:txBody>
                    <a:bodyPr/>
                    <a:lstStyle/>
                    <a:p>
                      <a:pPr marL="0" indent="0">
                        <a:buNone/>
                      </a:pPr>
                      <a:r>
                        <a:rPr sz="1500" b="0">
                          <a:solidFill>
                            <a:srgbClr val="262626"/>
                          </a:solidFill>
                        </a:rPr>
                        <a:t>3</a:t>
                      </a:r>
                    </a:p>
                  </a:txBody>
                  <a:tcPr marL="73152" marR="73152" marT="36576" marB="36576" anchor="ctr">
                    <a:solidFill>
                      <a:srgbClr val="FFFFFF"/>
                    </a:solidFill>
                  </a:tcPr>
                </a:tc>
                <a:tc>
                  <a:txBody>
                    <a:bodyPr/>
                    <a:lstStyle/>
                    <a:p>
                      <a:pPr marL="0" indent="0">
                        <a:buNone/>
                      </a:pPr>
                      <a:r>
                        <a:rPr sz="1500" b="0">
                          <a:solidFill>
                            <a:srgbClr val="262626"/>
                          </a:solidFill>
                        </a:rPr>
                        <a:t>Validate a booking</a:t>
                      </a:r>
                    </a:p>
                  </a:txBody>
                  <a:tcPr marL="73152" marR="73152" marT="36576" marB="36576" anchor="ctr">
                    <a:solidFill>
                      <a:srgbClr val="FFFFFF"/>
                    </a:solidFill>
                  </a:tcPr>
                </a:tc>
                <a:tc>
                  <a:txBody>
                    <a:bodyPr/>
                    <a:lstStyle/>
                    <a:p>
                      <a:pPr marL="0" indent="0">
                        <a:buNone/>
                      </a:pPr>
                      <a:r>
                        <a:rPr sz="1500" b="0" dirty="0">
                          <a:solidFill>
                            <a:srgbClr val="262626"/>
                          </a:solidFill>
                        </a:rPr>
                        <a:t>Subfunction</a:t>
                      </a:r>
                    </a:p>
                  </a:txBody>
                  <a:tcPr marL="73152" marR="73152" marT="36576" marB="36576" anchor="ctr">
                    <a:solidFill>
                      <a:srgbClr val="FFFFFF"/>
                    </a:solidFill>
                  </a:tcPr>
                </a:tc>
                <a:tc>
                  <a:txBody>
                    <a:bodyPr/>
                    <a:lstStyle/>
                    <a:p>
                      <a:pPr marL="0" indent="0">
                        <a:buNone/>
                      </a:pPr>
                      <a:r>
                        <a:rPr sz="1500" b="0">
                          <a:solidFill>
                            <a:srgbClr val="262626"/>
                          </a:solidFill>
                        </a:rPr>
                        <a:t>Supports booking and changing</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pPr marL="0" indent="0">
                        <a:buNone/>
                      </a:pPr>
                      <a:r>
                        <a:rPr sz="1500" b="0">
                          <a:solidFill>
                            <a:srgbClr val="262626"/>
                          </a:solidFill>
                        </a:rPr>
                        <a:t>4</a:t>
                      </a:r>
                    </a:p>
                  </a:txBody>
                  <a:tcPr marL="73152" marR="73152" marT="36576" marB="36576" anchor="ctr">
                    <a:solidFill>
                      <a:srgbClr val="F2F2F2"/>
                    </a:solidFill>
                  </a:tcPr>
                </a:tc>
                <a:tc>
                  <a:txBody>
                    <a:bodyPr/>
                    <a:lstStyle/>
                    <a:p>
                      <a:pPr marL="0" indent="0">
                        <a:buNone/>
                      </a:pPr>
                      <a:r>
                        <a:rPr sz="1500" b="0">
                          <a:solidFill>
                            <a:srgbClr val="262626"/>
                          </a:solidFill>
                        </a:rPr>
                        <a:t>Cancel a booking</a:t>
                      </a:r>
                    </a:p>
                  </a:txBody>
                  <a:tcPr marL="73152" marR="73152" marT="36576" marB="36576" anchor="ctr">
                    <a:solidFill>
                      <a:srgbClr val="F2F2F2"/>
                    </a:solidFill>
                  </a:tcPr>
                </a:tc>
                <a:tc>
                  <a:txBody>
                    <a:bodyPr/>
                    <a:lstStyle/>
                    <a:p>
                      <a:pPr marL="0" indent="0">
                        <a:buNone/>
                      </a:pPr>
                      <a:r>
                        <a:rPr sz="1500" b="0" dirty="0">
                          <a:solidFill>
                            <a:srgbClr val="262626"/>
                          </a:solidFill>
                        </a:rPr>
                        <a:t>User goal</a:t>
                      </a:r>
                    </a:p>
                  </a:txBody>
                  <a:tcPr marL="73152" marR="73152" marT="36576" marB="36576" anchor="ctr">
                    <a:solidFill>
                      <a:srgbClr val="F2F2F2"/>
                    </a:solidFill>
                  </a:tcPr>
                </a:tc>
                <a:tc>
                  <a:txBody>
                    <a:bodyPr/>
                    <a:lstStyle/>
                    <a:p>
                      <a:pPr marL="0" indent="0">
                        <a:buNone/>
                      </a:pPr>
                      <a:r>
                        <a:rPr sz="1500" b="0">
                          <a:solidFill>
                            <a:srgbClr val="262626"/>
                          </a:solidFill>
                        </a:rPr>
                        <a:t>One sitting; frees the room</a:t>
                      </a:r>
                    </a:p>
                  </a:txBody>
                  <a:tcPr marL="73152" marR="73152" marT="36576" marB="36576" anchor="ctr">
                    <a:solidFill>
                      <a:srgbClr val="F2F2F2"/>
                    </a:solidFill>
                  </a:tcPr>
                </a:tc>
                <a:extLst>
                  <a:ext uri="{0D108BD9-81ED-4DB2-BD59-A6C34878D82A}">
                    <a16:rowId xmlns:a16="http://schemas.microsoft.com/office/drawing/2014/main" val="10004"/>
                  </a:ext>
                </a:extLst>
              </a:tr>
              <a:tr h="566928">
                <a:tc>
                  <a:txBody>
                    <a:bodyPr/>
                    <a:lstStyle/>
                    <a:p>
                      <a:pPr marL="0" indent="0">
                        <a:buNone/>
                      </a:pPr>
                      <a:r>
                        <a:rPr sz="1500" b="0">
                          <a:solidFill>
                            <a:srgbClr val="262626"/>
                          </a:solidFill>
                        </a:rPr>
                        <a:t>5</a:t>
                      </a:r>
                    </a:p>
                  </a:txBody>
                  <a:tcPr marL="73152" marR="73152" marT="36576" marB="36576" anchor="ctr">
                    <a:solidFill>
                      <a:srgbClr val="FFFFFF"/>
                    </a:solidFill>
                  </a:tcPr>
                </a:tc>
                <a:tc>
                  <a:txBody>
                    <a:bodyPr/>
                    <a:lstStyle/>
                    <a:p>
                      <a:pPr marL="0" indent="0">
                        <a:buNone/>
                      </a:pPr>
                      <a:r>
                        <a:rPr sz="1500" b="0">
                          <a:solidFill>
                            <a:srgbClr val="262626"/>
                          </a:solidFill>
                        </a:rPr>
                        <a:t>Reduce campus energy use</a:t>
                      </a:r>
                    </a:p>
                  </a:txBody>
                  <a:tcPr marL="73152" marR="73152" marT="36576" marB="36576" anchor="ctr">
                    <a:solidFill>
                      <a:srgbClr val="FFFFFF"/>
                    </a:solidFill>
                  </a:tcPr>
                </a:tc>
                <a:tc>
                  <a:txBody>
                    <a:bodyPr/>
                    <a:lstStyle/>
                    <a:p>
                      <a:pPr marL="0" indent="0">
                        <a:buNone/>
                      </a:pPr>
                      <a:r>
                        <a:rPr sz="1500" b="0" dirty="0">
                          <a:solidFill>
                            <a:srgbClr val="262626"/>
                          </a:solidFill>
                        </a:rPr>
                        <a:t>Summary</a:t>
                      </a:r>
                    </a:p>
                  </a:txBody>
                  <a:tcPr marL="73152" marR="73152" marT="36576" marB="36576" anchor="ctr">
                    <a:solidFill>
                      <a:srgbClr val="FFFFFF"/>
                    </a:solidFill>
                  </a:tcPr>
                </a:tc>
                <a:tc>
                  <a:txBody>
                    <a:bodyPr/>
                    <a:lstStyle/>
                    <a:p>
                      <a:pPr marL="0" indent="0">
                        <a:buNone/>
                      </a:pPr>
                      <a:r>
                        <a:rPr sz="1500" b="0">
                          <a:solidFill>
                            <a:srgbClr val="262626"/>
                          </a:solidFill>
                        </a:rPr>
                        <a:t>Strategic, many systems</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pPr marL="0" indent="0">
                        <a:buNone/>
                      </a:pPr>
                      <a:r>
                        <a:rPr sz="1500" b="0">
                          <a:solidFill>
                            <a:srgbClr val="262626"/>
                          </a:solidFill>
                        </a:rPr>
                        <a:t>6</a:t>
                      </a:r>
                    </a:p>
                  </a:txBody>
                  <a:tcPr marL="73152" marR="73152" marT="36576" marB="36576" anchor="ctr">
                    <a:solidFill>
                      <a:srgbClr val="F2F2F2"/>
                    </a:solidFill>
                  </a:tcPr>
                </a:tc>
                <a:tc>
                  <a:txBody>
                    <a:bodyPr/>
                    <a:lstStyle/>
                    <a:p>
                      <a:pPr marL="0" indent="0">
                        <a:buNone/>
                      </a:pPr>
                      <a:r>
                        <a:rPr sz="1500" b="0">
                          <a:solidFill>
                            <a:srgbClr val="262626"/>
                          </a:solidFill>
                        </a:rPr>
                        <a:t>Type the student ID</a:t>
                      </a:r>
                    </a:p>
                  </a:txBody>
                  <a:tcPr marL="73152" marR="73152" marT="36576" marB="36576" anchor="ctr">
                    <a:solidFill>
                      <a:srgbClr val="F2F2F2"/>
                    </a:solidFill>
                  </a:tcPr>
                </a:tc>
                <a:tc>
                  <a:txBody>
                    <a:bodyPr/>
                    <a:lstStyle/>
                    <a:p>
                      <a:pPr marL="0" indent="0">
                        <a:buNone/>
                      </a:pPr>
                      <a:r>
                        <a:rPr sz="1500" b="0" dirty="0">
                          <a:solidFill>
                            <a:srgbClr val="262626"/>
                          </a:solidFill>
                        </a:rPr>
                        <a:t>Too low</a:t>
                      </a:r>
                    </a:p>
                  </a:txBody>
                  <a:tcPr marL="73152" marR="73152" marT="36576" marB="36576" anchor="ctr">
                    <a:solidFill>
                      <a:srgbClr val="F2F2F2"/>
                    </a:solidFill>
                  </a:tcPr>
                </a:tc>
                <a:tc>
                  <a:txBody>
                    <a:bodyPr/>
                    <a:lstStyle/>
                    <a:p>
                      <a:pPr marL="0" indent="0">
                        <a:buNone/>
                      </a:pPr>
                      <a:r>
                        <a:rPr sz="1500" b="0" dirty="0">
                          <a:solidFill>
                            <a:srgbClr val="262626"/>
                          </a:solidFill>
                        </a:rPr>
                        <a:t>A step in another use case</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457200" y="534924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User-goal test: </a:t>
            </a:r>
            <a:r>
              <a:rPr sz="1600" b="0">
                <a:solidFill>
                  <a:srgbClr val="262626"/>
                </a:solidFill>
              </a:rPr>
              <a:t>can the actor walk away satisfied after one sitting? If it is only a piece of that, it is a subfunction; if it spans days, it is a summary.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Personas: What and Why</a:t>
            </a:r>
          </a:p>
        </p:txBody>
      </p:sp>
      <p:sp>
        <p:nvSpPr>
          <p:cNvPr id="3" name="Rectangle 2"/>
          <p:cNvSpPr/>
          <p:nvPr/>
        </p:nvSpPr>
        <p:spPr>
          <a:xfrm>
            <a:off x="457200" y="1143000"/>
            <a:ext cx="8229600" cy="1097280"/>
          </a:xfrm>
          <a:prstGeom prst="rect">
            <a:avLst/>
          </a:prstGeom>
          <a:solidFill>
            <a:srgbClr val="DCE6F2"/>
          </a:solidFill>
          <a:ln>
            <a:noFill/>
          </a:ln>
          <a:effectLst/>
        </p:spPr>
        <p:txBody>
          <a:bodyPr wrap="square" lIns="182880" tIns="54864" rIns="182880" bIns="54864" rtlCol="0" anchor="ctr"/>
          <a:lstStyle/>
          <a:p>
            <a:pPr marL="0" indent="0" algn="l">
              <a:buNone/>
            </a:pPr>
            <a:r>
              <a:rPr sz="1800" b="0">
                <a:solidFill>
                  <a:srgbClr val="262626"/>
                </a:solidFill>
              </a:rPr>
              <a:t>A persona is a fictional but evidence-based profile of a group of typical users, used to make design decisions about real people.</a:t>
            </a:r>
          </a:p>
        </p:txBody>
      </p:sp>
      <p:sp>
        <p:nvSpPr>
          <p:cNvPr id="4" name="Rectangle 3"/>
          <p:cNvSpPr/>
          <p:nvPr/>
        </p:nvSpPr>
        <p:spPr>
          <a:xfrm>
            <a:off x="457200" y="2423160"/>
            <a:ext cx="4023360" cy="1645920"/>
          </a:xfrm>
          <a:prstGeom prst="rect">
            <a:avLst/>
          </a:prstGeom>
          <a:solidFill>
            <a:srgbClr val="F2F2F2"/>
          </a:solidFill>
          <a:ln>
            <a:noFill/>
          </a:ln>
          <a:effectLst/>
        </p:spPr>
        <p:txBody>
          <a:bodyPr wrap="square" lIns="182880" tIns="54864" rIns="182880" bIns="54864" rtlCol="0" anchor="ctr"/>
          <a:lstStyle/>
          <a:p>
            <a:pPr marL="0" indent="0" algn="l">
              <a:spcAft>
                <a:spcPts val="400"/>
              </a:spcAft>
              <a:buNone/>
            </a:pPr>
            <a:r>
              <a:rPr sz="1900" b="1">
                <a:solidFill>
                  <a:srgbClr val="1F497D"/>
                </a:solidFill>
              </a:rPr>
              <a:t>Use cases: behaviour</a:t>
            </a:r>
          </a:p>
          <a:p>
            <a:pPr marL="0" indent="0" algn="l">
              <a:buNone/>
            </a:pPr>
            <a:r>
              <a:rPr sz="1600" b="0">
                <a:solidFill>
                  <a:srgbClr val="262626"/>
                </a:solidFill>
              </a:rPr>
              <a:t>What the system does for an actor to reach a goal. Text, testable.</a:t>
            </a:r>
          </a:p>
        </p:txBody>
      </p:sp>
      <p:sp>
        <p:nvSpPr>
          <p:cNvPr id="5" name="Rectangle 4"/>
          <p:cNvSpPr/>
          <p:nvPr/>
        </p:nvSpPr>
        <p:spPr>
          <a:xfrm>
            <a:off x="4663440" y="2423160"/>
            <a:ext cx="4023360" cy="1645920"/>
          </a:xfrm>
          <a:prstGeom prst="rect">
            <a:avLst/>
          </a:prstGeom>
          <a:solidFill>
            <a:srgbClr val="DAEEF3"/>
          </a:solidFill>
          <a:ln>
            <a:noFill/>
          </a:ln>
          <a:effectLst/>
        </p:spPr>
        <p:txBody>
          <a:bodyPr wrap="square" lIns="182880" tIns="54864" rIns="182880" bIns="54864" rtlCol="0" anchor="ctr"/>
          <a:lstStyle/>
          <a:p>
            <a:pPr marL="0" indent="0" algn="l">
              <a:spcAft>
                <a:spcPts val="400"/>
              </a:spcAft>
              <a:buNone/>
            </a:pPr>
            <a:r>
              <a:rPr sz="1900" b="1">
                <a:solidFill>
                  <a:srgbClr val="31859C"/>
                </a:solidFill>
              </a:rPr>
              <a:t>Personas: context</a:t>
            </a:r>
          </a:p>
          <a:p>
            <a:pPr marL="0" indent="0" algn="l">
              <a:buNone/>
            </a:pPr>
            <a:r>
              <a:rPr sz="1600" b="0">
                <a:solidFill>
                  <a:srgbClr val="262626"/>
                </a:solidFill>
              </a:rPr>
              <a:t>Who the users are and why they act: goals, frustrations, situation.</a:t>
            </a:r>
          </a:p>
        </p:txBody>
      </p:sp>
      <p:sp>
        <p:nvSpPr>
          <p:cNvPr id="6" name="Rectangle 5"/>
          <p:cNvSpPr/>
          <p:nvPr/>
        </p:nvSpPr>
        <p:spPr>
          <a:xfrm>
            <a:off x="457200" y="4251960"/>
            <a:ext cx="2621280" cy="822960"/>
          </a:xfrm>
          <a:prstGeom prst="rect">
            <a:avLst/>
          </a:prstGeom>
          <a:solidFill>
            <a:srgbClr val="FFFFFF"/>
          </a:solidFill>
          <a:ln w="12700">
            <a:solidFill>
              <a:srgbClr val="BFBFBF"/>
            </a:solidFill>
          </a:ln>
          <a:effectLst/>
        </p:spPr>
        <p:txBody>
          <a:bodyPr wrap="square" lIns="73152" tIns="54864" rIns="73152" bIns="54864" rtlCol="0" anchor="ctr"/>
          <a:lstStyle/>
          <a:p>
            <a:pPr marL="0" indent="0" algn="ctr">
              <a:buNone/>
            </a:pPr>
            <a:r>
              <a:rPr sz="1500" b="1">
                <a:solidFill>
                  <a:srgbClr val="1F497D"/>
                </a:solidFill>
              </a:rPr>
              <a:t>Keep users in view</a:t>
            </a:r>
          </a:p>
        </p:txBody>
      </p:sp>
      <p:sp>
        <p:nvSpPr>
          <p:cNvPr id="7" name="Rectangle 6"/>
          <p:cNvSpPr/>
          <p:nvPr/>
        </p:nvSpPr>
        <p:spPr>
          <a:xfrm>
            <a:off x="3261360" y="4251960"/>
            <a:ext cx="2621280" cy="822960"/>
          </a:xfrm>
          <a:prstGeom prst="rect">
            <a:avLst/>
          </a:prstGeom>
          <a:solidFill>
            <a:srgbClr val="FFFFFF"/>
          </a:solidFill>
          <a:ln w="12700">
            <a:solidFill>
              <a:srgbClr val="BFBFBF"/>
            </a:solidFill>
          </a:ln>
          <a:effectLst/>
        </p:spPr>
        <p:txBody>
          <a:bodyPr wrap="square" lIns="73152" tIns="54864" rIns="73152" bIns="54864" rtlCol="0" anchor="ctr"/>
          <a:lstStyle/>
          <a:p>
            <a:pPr marL="0" indent="0" algn="ctr">
              <a:buNone/>
            </a:pPr>
            <a:r>
              <a:rPr sz="1500" b="1">
                <a:solidFill>
                  <a:srgbClr val="1F497D"/>
                </a:solidFill>
              </a:rPr>
              <a:t>Align the team</a:t>
            </a:r>
          </a:p>
        </p:txBody>
      </p:sp>
      <p:sp>
        <p:nvSpPr>
          <p:cNvPr id="8" name="Rectangle 7"/>
          <p:cNvSpPr/>
          <p:nvPr/>
        </p:nvSpPr>
        <p:spPr>
          <a:xfrm>
            <a:off x="6065520" y="4251960"/>
            <a:ext cx="2621280" cy="822960"/>
          </a:xfrm>
          <a:prstGeom prst="rect">
            <a:avLst/>
          </a:prstGeom>
          <a:solidFill>
            <a:srgbClr val="FFFFFF"/>
          </a:solidFill>
          <a:ln w="12700">
            <a:solidFill>
              <a:srgbClr val="BFBFBF"/>
            </a:solidFill>
          </a:ln>
          <a:effectLst/>
        </p:spPr>
        <p:txBody>
          <a:bodyPr wrap="square" lIns="73152" tIns="54864" rIns="73152" bIns="54864" rtlCol="0" anchor="ctr"/>
          <a:lstStyle/>
          <a:p>
            <a:pPr marL="0" indent="0" algn="ctr">
              <a:buNone/>
            </a:pPr>
            <a:r>
              <a:rPr sz="1500" b="1">
                <a:solidFill>
                  <a:srgbClr val="1F497D"/>
                </a:solidFill>
              </a:rPr>
              <a:t>Test decisions: "Would Priya manage this?"</a:t>
            </a:r>
          </a:p>
        </p:txBody>
      </p:sp>
      <p:sp>
        <p:nvSpPr>
          <p:cNvPr id="9" name="TextBox 8"/>
          <p:cNvSpPr txBox="1"/>
          <p:nvPr/>
        </p:nvSpPr>
        <p:spPr>
          <a:xfrm>
            <a:off x="457200" y="5303520"/>
            <a:ext cx="8229600" cy="914400"/>
          </a:xfrm>
          <a:prstGeom prst="rect">
            <a:avLst/>
          </a:prstGeom>
          <a:noFill/>
        </p:spPr>
        <p:txBody>
          <a:bodyPr wrap="square" lIns="73152" tIns="54864" rIns="73152" bIns="54864" anchor="ctr">
            <a:spAutoFit/>
          </a:bodyPr>
          <a:lstStyle/>
          <a:p>
            <a:pPr marL="0" indent="0" algn="ctr">
              <a:buNone/>
            </a:pPr>
            <a:r>
              <a:rPr sz="1600" b="0" i="1">
                <a:solidFill>
                  <a:srgbClr val="A93226"/>
                </a:solidFill>
              </a:rPr>
              <a:t>A persona is not an average user and not a stereotype: every attribute should trace back to research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Building Personas from Research Data</a:t>
            </a:r>
          </a:p>
        </p:txBody>
      </p:sp>
      <p:sp>
        <p:nvSpPr>
          <p:cNvPr id="3" name="Oval 2"/>
          <p:cNvSpPr/>
          <p:nvPr/>
        </p:nvSpPr>
        <p:spPr>
          <a:xfrm>
            <a:off x="502920" y="128016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1</a:t>
            </a:r>
          </a:p>
        </p:txBody>
      </p:sp>
      <p:sp>
        <p:nvSpPr>
          <p:cNvPr id="4" name="TextBox 3"/>
          <p:cNvSpPr txBox="1"/>
          <p:nvPr/>
        </p:nvSpPr>
        <p:spPr>
          <a:xfrm>
            <a:off x="1280160" y="118872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Collect data</a:t>
            </a:r>
          </a:p>
        </p:txBody>
      </p:sp>
      <p:sp>
        <p:nvSpPr>
          <p:cNvPr id="5" name="TextBox 4"/>
          <p:cNvSpPr txBox="1"/>
          <p:nvPr/>
        </p:nvSpPr>
        <p:spPr>
          <a:xfrm>
            <a:off x="3474720" y="118872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interviews, surveys, observation, usage analytics</a:t>
            </a:r>
          </a:p>
        </p:txBody>
      </p:sp>
      <p:sp>
        <p:nvSpPr>
          <p:cNvPr id="6" name="Down Arrow 5"/>
          <p:cNvSpPr/>
          <p:nvPr/>
        </p:nvSpPr>
        <p:spPr>
          <a:xfrm>
            <a:off x="685800" y="1828800"/>
            <a:ext cx="182880" cy="228600"/>
          </a:xfrm>
          <a:prstGeom prst="downArrow">
            <a:avLst/>
          </a:prstGeom>
          <a:solidFill>
            <a:srgbClr val="1F497D"/>
          </a:solidFill>
          <a:ln>
            <a:noFill/>
          </a:ln>
          <a:effectLst/>
        </p:spPr>
        <p:txBody>
          <a:bodyPr rtlCol="0" anchor="ctr"/>
          <a:lstStyle/>
          <a:p>
            <a:pPr algn="ctr"/>
            <a:endParaRPr/>
          </a:p>
        </p:txBody>
      </p:sp>
      <p:sp>
        <p:nvSpPr>
          <p:cNvPr id="7" name="Oval 6"/>
          <p:cNvSpPr/>
          <p:nvPr/>
        </p:nvSpPr>
        <p:spPr>
          <a:xfrm>
            <a:off x="502920" y="214884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2</a:t>
            </a:r>
          </a:p>
        </p:txBody>
      </p:sp>
      <p:sp>
        <p:nvSpPr>
          <p:cNvPr id="8" name="TextBox 7"/>
          <p:cNvSpPr txBox="1"/>
          <p:nvPr/>
        </p:nvSpPr>
        <p:spPr>
          <a:xfrm>
            <a:off x="1280160" y="205740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Find patterns</a:t>
            </a:r>
          </a:p>
        </p:txBody>
      </p:sp>
      <p:sp>
        <p:nvSpPr>
          <p:cNvPr id="9" name="TextBox 8"/>
          <p:cNvSpPr txBox="1"/>
          <p:nvPr/>
        </p:nvSpPr>
        <p:spPr>
          <a:xfrm>
            <a:off x="3474720" y="205740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cluster goals, behaviours and contexts (affinity mapping)</a:t>
            </a:r>
          </a:p>
        </p:txBody>
      </p:sp>
      <p:sp>
        <p:nvSpPr>
          <p:cNvPr id="10" name="Down Arrow 9"/>
          <p:cNvSpPr/>
          <p:nvPr/>
        </p:nvSpPr>
        <p:spPr>
          <a:xfrm>
            <a:off x="685800" y="2697480"/>
            <a:ext cx="182880" cy="228600"/>
          </a:xfrm>
          <a:prstGeom prst="downArrow">
            <a:avLst/>
          </a:prstGeom>
          <a:solidFill>
            <a:srgbClr val="1F497D"/>
          </a:solidFill>
          <a:ln>
            <a:noFill/>
          </a:ln>
          <a:effectLst/>
        </p:spPr>
        <p:txBody>
          <a:bodyPr rtlCol="0" anchor="ctr"/>
          <a:lstStyle/>
          <a:p>
            <a:pPr algn="ctr"/>
            <a:endParaRPr/>
          </a:p>
        </p:txBody>
      </p:sp>
      <p:sp>
        <p:nvSpPr>
          <p:cNvPr id="11" name="Oval 10"/>
          <p:cNvSpPr/>
          <p:nvPr/>
        </p:nvSpPr>
        <p:spPr>
          <a:xfrm>
            <a:off x="502920" y="301752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3</a:t>
            </a:r>
          </a:p>
        </p:txBody>
      </p:sp>
      <p:sp>
        <p:nvSpPr>
          <p:cNvPr id="12" name="TextBox 11"/>
          <p:cNvSpPr txBox="1"/>
          <p:nvPr/>
        </p:nvSpPr>
        <p:spPr>
          <a:xfrm>
            <a:off x="1280160" y="292608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Draft</a:t>
            </a:r>
          </a:p>
        </p:txBody>
      </p:sp>
      <p:sp>
        <p:nvSpPr>
          <p:cNvPr id="13" name="TextBox 12"/>
          <p:cNvSpPr txBox="1"/>
          <p:nvPr/>
        </p:nvSpPr>
        <p:spPr>
          <a:xfrm>
            <a:off x="3474720" y="292608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name, goals, frustrations, context, a representative quote</a:t>
            </a:r>
          </a:p>
        </p:txBody>
      </p:sp>
      <p:sp>
        <p:nvSpPr>
          <p:cNvPr id="14" name="Down Arrow 13"/>
          <p:cNvSpPr/>
          <p:nvPr/>
        </p:nvSpPr>
        <p:spPr>
          <a:xfrm>
            <a:off x="685800" y="3566160"/>
            <a:ext cx="182880" cy="228600"/>
          </a:xfrm>
          <a:prstGeom prst="downArrow">
            <a:avLst/>
          </a:prstGeom>
          <a:solidFill>
            <a:srgbClr val="1F497D"/>
          </a:solidFill>
          <a:ln>
            <a:noFill/>
          </a:ln>
          <a:effectLst/>
        </p:spPr>
        <p:txBody>
          <a:bodyPr rtlCol="0" anchor="ctr"/>
          <a:lstStyle/>
          <a:p>
            <a:pPr algn="ctr"/>
            <a:endParaRPr/>
          </a:p>
        </p:txBody>
      </p:sp>
      <p:sp>
        <p:nvSpPr>
          <p:cNvPr id="15" name="Oval 14"/>
          <p:cNvSpPr/>
          <p:nvPr/>
        </p:nvSpPr>
        <p:spPr>
          <a:xfrm>
            <a:off x="502920" y="3886199"/>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4</a:t>
            </a:r>
          </a:p>
        </p:txBody>
      </p:sp>
      <p:sp>
        <p:nvSpPr>
          <p:cNvPr id="16" name="TextBox 15"/>
          <p:cNvSpPr txBox="1"/>
          <p:nvPr/>
        </p:nvSpPr>
        <p:spPr>
          <a:xfrm>
            <a:off x="1280160" y="3794759"/>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Validate</a:t>
            </a:r>
          </a:p>
        </p:txBody>
      </p:sp>
      <p:sp>
        <p:nvSpPr>
          <p:cNvPr id="17" name="TextBox 16"/>
          <p:cNvSpPr txBox="1"/>
          <p:nvPr/>
        </p:nvSpPr>
        <p:spPr>
          <a:xfrm>
            <a:off x="3474720" y="3794759"/>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check with real users; remove invented detail</a:t>
            </a:r>
          </a:p>
        </p:txBody>
      </p:sp>
      <p:sp>
        <p:nvSpPr>
          <p:cNvPr id="18" name="Down Arrow 17"/>
          <p:cNvSpPr/>
          <p:nvPr/>
        </p:nvSpPr>
        <p:spPr>
          <a:xfrm>
            <a:off x="685800" y="4434840"/>
            <a:ext cx="182880" cy="228600"/>
          </a:xfrm>
          <a:prstGeom prst="downArrow">
            <a:avLst/>
          </a:prstGeom>
          <a:solidFill>
            <a:srgbClr val="1F497D"/>
          </a:solidFill>
          <a:ln>
            <a:noFill/>
          </a:ln>
          <a:effectLst/>
        </p:spPr>
        <p:txBody>
          <a:bodyPr rtlCol="0" anchor="ctr"/>
          <a:lstStyle/>
          <a:p>
            <a:pPr algn="ctr"/>
            <a:endParaRPr/>
          </a:p>
        </p:txBody>
      </p:sp>
      <p:sp>
        <p:nvSpPr>
          <p:cNvPr id="19" name="Oval 18"/>
          <p:cNvSpPr/>
          <p:nvPr/>
        </p:nvSpPr>
        <p:spPr>
          <a:xfrm>
            <a:off x="502920" y="4754879"/>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5</a:t>
            </a:r>
          </a:p>
        </p:txBody>
      </p:sp>
      <p:sp>
        <p:nvSpPr>
          <p:cNvPr id="20" name="TextBox 19"/>
          <p:cNvSpPr txBox="1"/>
          <p:nvPr/>
        </p:nvSpPr>
        <p:spPr>
          <a:xfrm>
            <a:off x="1280160" y="466344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Use and review</a:t>
            </a:r>
          </a:p>
        </p:txBody>
      </p:sp>
      <p:sp>
        <p:nvSpPr>
          <p:cNvPr id="21" name="TextBox 20"/>
          <p:cNvSpPr txBox="1"/>
          <p:nvPr/>
        </p:nvSpPr>
        <p:spPr>
          <a:xfrm>
            <a:off x="3474720" y="466344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refer to it in decisions; update or retire it when stale</a:t>
            </a:r>
          </a:p>
        </p:txBody>
      </p:sp>
      <p:sp>
        <p:nvSpPr>
          <p:cNvPr id="22" name="TextBox 21"/>
          <p:cNvSpPr txBox="1"/>
          <p:nvPr/>
        </p:nvSpPr>
        <p:spPr>
          <a:xfrm>
            <a:off x="457200" y="5623560"/>
            <a:ext cx="8229600" cy="594360"/>
          </a:xfrm>
          <a:prstGeom prst="rect">
            <a:avLst/>
          </a:prstGeom>
          <a:noFill/>
        </p:spPr>
        <p:txBody>
          <a:bodyPr wrap="square" lIns="73152" tIns="54864" rIns="73152" bIns="54864" anchor="ctr">
            <a:spAutoFit/>
          </a:bodyPr>
          <a:lstStyle/>
          <a:p>
            <a:pPr marL="0" indent="0" algn="ctr">
              <a:buNone/>
            </a:pPr>
            <a:r>
              <a:rPr sz="1700" b="1">
                <a:solidFill>
                  <a:srgbClr val="1F497D"/>
                </a:solidFill>
              </a:rPr>
              <a:t>Evidence first: if you cannot point to the data behind an attribute, leave it 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Example Persona: Priya</a:t>
            </a:r>
          </a:p>
        </p:txBody>
      </p:sp>
      <p:sp>
        <p:nvSpPr>
          <p:cNvPr id="3" name="Rectangle 2"/>
          <p:cNvSpPr/>
          <p:nvPr/>
        </p:nvSpPr>
        <p:spPr>
          <a:xfrm>
            <a:off x="457200" y="1143000"/>
            <a:ext cx="8229600" cy="5029200"/>
          </a:xfrm>
          <a:prstGeom prst="rect">
            <a:avLst/>
          </a:prstGeom>
          <a:solidFill>
            <a:srgbClr val="F2F2F2"/>
          </a:solidFill>
          <a:ln>
            <a:noFill/>
          </a:ln>
          <a:effectLst/>
        </p:spPr>
        <p:txBody>
          <a:bodyPr rtlCol="0" anchor="ctr"/>
          <a:lstStyle/>
          <a:p>
            <a:pPr algn="ctr"/>
            <a:endParaRPr/>
          </a:p>
        </p:txBody>
      </p:sp>
      <p:sp>
        <p:nvSpPr>
          <p:cNvPr id="4" name="Oval 3"/>
          <p:cNvSpPr/>
          <p:nvPr/>
        </p:nvSpPr>
        <p:spPr>
          <a:xfrm>
            <a:off x="685800" y="1371600"/>
            <a:ext cx="1188720" cy="1188720"/>
          </a:xfrm>
          <a:prstGeom prst="ellipse">
            <a:avLst/>
          </a:prstGeom>
          <a:solidFill>
            <a:srgbClr val="1F497D"/>
          </a:solidFill>
          <a:ln>
            <a:noFill/>
          </a:ln>
          <a:effectLst/>
        </p:spPr>
        <p:txBody>
          <a:bodyPr rtlCol="0" anchor="ctr"/>
          <a:lstStyle/>
          <a:p>
            <a:pPr algn="ctr"/>
            <a:endParaRPr/>
          </a:p>
        </p:txBody>
      </p:sp>
      <p:sp>
        <p:nvSpPr>
          <p:cNvPr id="5" name="TextBox 4"/>
          <p:cNvSpPr txBox="1"/>
          <p:nvPr/>
        </p:nvSpPr>
        <p:spPr>
          <a:xfrm>
            <a:off x="685800" y="1371600"/>
            <a:ext cx="1188720" cy="1188720"/>
          </a:xfrm>
          <a:prstGeom prst="rect">
            <a:avLst/>
          </a:prstGeom>
          <a:noFill/>
        </p:spPr>
        <p:txBody>
          <a:bodyPr wrap="square" lIns="73152" tIns="54864" rIns="73152" bIns="54864" anchor="ctr">
            <a:spAutoFit/>
          </a:bodyPr>
          <a:lstStyle/>
          <a:p>
            <a:pPr marL="0" indent="0" algn="ctr">
              <a:buNone/>
            </a:pPr>
            <a:r>
              <a:rPr sz="4800" b="1">
                <a:solidFill>
                  <a:srgbClr val="FFFFFF"/>
                </a:solidFill>
              </a:rPr>
              <a:t>P</a:t>
            </a:r>
          </a:p>
        </p:txBody>
      </p:sp>
      <p:sp>
        <p:nvSpPr>
          <p:cNvPr id="6" name="TextBox 5"/>
          <p:cNvSpPr txBox="1"/>
          <p:nvPr/>
        </p:nvSpPr>
        <p:spPr>
          <a:xfrm>
            <a:off x="594360" y="2697480"/>
            <a:ext cx="2377440" cy="2377440"/>
          </a:xfrm>
          <a:prstGeom prst="rect">
            <a:avLst/>
          </a:prstGeom>
          <a:noFill/>
        </p:spPr>
        <p:txBody>
          <a:bodyPr wrap="square" lIns="73152" tIns="54864" rIns="73152" bIns="54864" anchor="t">
            <a:spAutoFit/>
          </a:bodyPr>
          <a:lstStyle/>
          <a:p>
            <a:pPr marL="0" indent="0" algn="l">
              <a:spcAft>
                <a:spcPts val="200"/>
              </a:spcAft>
              <a:buNone/>
            </a:pPr>
            <a:r>
              <a:rPr sz="2200" b="1">
                <a:solidFill>
                  <a:srgbClr val="1F497D"/>
                </a:solidFill>
              </a:rPr>
              <a:t>Priya, 20</a:t>
            </a:r>
          </a:p>
          <a:p>
            <a:pPr marL="0" indent="0" algn="l">
              <a:spcAft>
                <a:spcPts val="800"/>
              </a:spcAft>
              <a:buNone/>
            </a:pPr>
            <a:r>
              <a:rPr sz="1500" b="0">
                <a:solidFill>
                  <a:srgbClr val="262626"/>
                </a:solidFill>
              </a:rPr>
              <a:t>2nd-year engineering student</a:t>
            </a:r>
          </a:p>
          <a:p>
            <a:pPr marL="285750" indent="-285750" algn="l">
              <a:spcAft>
                <a:spcPts val="200"/>
              </a:spcAft>
              <a:buFont typeface="Arial"/>
              <a:buChar char="•"/>
            </a:pPr>
            <a:r>
              <a:rPr sz="1400" b="0">
                <a:solidFill>
                  <a:srgbClr val="262626"/>
                </a:solidFill>
              </a:rPr>
              <a:t>Screen reader user</a:t>
            </a:r>
          </a:p>
          <a:p>
            <a:pPr marL="285750" indent="-285750" algn="l">
              <a:spcAft>
                <a:spcPts val="200"/>
              </a:spcAft>
              <a:buFont typeface="Arial"/>
              <a:buChar char="•"/>
            </a:pPr>
            <a:r>
              <a:rPr sz="1400" b="0">
                <a:solidFill>
                  <a:srgbClr val="262626"/>
                </a:solidFill>
              </a:rPr>
              <a:t>Commutes 30 minutes</a:t>
            </a:r>
          </a:p>
          <a:p>
            <a:pPr marL="285750" indent="-285750" algn="l">
              <a:buFont typeface="Arial"/>
              <a:buChar char="•"/>
            </a:pPr>
            <a:r>
              <a:rPr sz="1400" b="0">
                <a:solidFill>
                  <a:srgbClr val="262626"/>
                </a:solidFill>
              </a:rPr>
              <a:t>Studies in 2 to 3 hour blocks</a:t>
            </a:r>
          </a:p>
        </p:txBody>
      </p:sp>
      <p:sp>
        <p:nvSpPr>
          <p:cNvPr id="7" name="TextBox 6"/>
          <p:cNvSpPr txBox="1"/>
          <p:nvPr/>
        </p:nvSpPr>
        <p:spPr>
          <a:xfrm>
            <a:off x="3108960" y="1280160"/>
            <a:ext cx="5394960" cy="365760"/>
          </a:xfrm>
          <a:prstGeom prst="rect">
            <a:avLst/>
          </a:prstGeom>
          <a:noFill/>
        </p:spPr>
        <p:txBody>
          <a:bodyPr wrap="square" lIns="73152" tIns="54864" rIns="73152" bIns="54864" anchor="t">
            <a:spAutoFit/>
          </a:bodyPr>
          <a:lstStyle/>
          <a:p>
            <a:pPr marL="0" indent="0" algn="l">
              <a:buNone/>
            </a:pPr>
            <a:r>
              <a:rPr sz="1700" b="1">
                <a:solidFill>
                  <a:srgbClr val="1F497D"/>
                </a:solidFill>
              </a:rPr>
              <a:t>Goals</a:t>
            </a:r>
          </a:p>
        </p:txBody>
      </p:sp>
      <p:sp>
        <p:nvSpPr>
          <p:cNvPr id="8" name="TextBox 7"/>
          <p:cNvSpPr txBox="1"/>
          <p:nvPr/>
        </p:nvSpPr>
        <p:spPr>
          <a:xfrm>
            <a:off x="3108960" y="1645919"/>
            <a:ext cx="5394960" cy="100584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500" b="0">
                <a:solidFill>
                  <a:srgbClr val="262626"/>
                </a:solidFill>
              </a:rPr>
              <a:t>Find a quiet, step-free room without wasting a journey.</a:t>
            </a:r>
          </a:p>
          <a:p>
            <a:pPr marL="285750" indent="-285750" algn="l">
              <a:spcAft>
                <a:spcPts val="200"/>
              </a:spcAft>
              <a:buFont typeface="Arial"/>
              <a:buChar char="•"/>
            </a:pPr>
            <a:r>
              <a:rPr sz="1500" b="0">
                <a:solidFill>
                  <a:srgbClr val="262626"/>
                </a:solidFill>
              </a:rPr>
              <a:t>Book by keyboard and screen reader in under two minutes.</a:t>
            </a:r>
          </a:p>
        </p:txBody>
      </p:sp>
      <p:sp>
        <p:nvSpPr>
          <p:cNvPr id="9" name="TextBox 8"/>
          <p:cNvSpPr txBox="1"/>
          <p:nvPr/>
        </p:nvSpPr>
        <p:spPr>
          <a:xfrm>
            <a:off x="3108960" y="2743200"/>
            <a:ext cx="5394960" cy="365760"/>
          </a:xfrm>
          <a:prstGeom prst="rect">
            <a:avLst/>
          </a:prstGeom>
          <a:noFill/>
        </p:spPr>
        <p:txBody>
          <a:bodyPr wrap="square" lIns="73152" tIns="54864" rIns="73152" bIns="54864" anchor="t">
            <a:spAutoFit/>
          </a:bodyPr>
          <a:lstStyle/>
          <a:p>
            <a:pPr marL="0" indent="0" algn="l">
              <a:buNone/>
            </a:pPr>
            <a:r>
              <a:rPr sz="1700" b="1">
                <a:solidFill>
                  <a:srgbClr val="1F497D"/>
                </a:solidFill>
              </a:rPr>
              <a:t>Frustrations</a:t>
            </a:r>
          </a:p>
        </p:txBody>
      </p:sp>
      <p:sp>
        <p:nvSpPr>
          <p:cNvPr id="10" name="TextBox 9"/>
          <p:cNvSpPr txBox="1"/>
          <p:nvPr/>
        </p:nvSpPr>
        <p:spPr>
          <a:xfrm>
            <a:off x="3108960" y="3108960"/>
            <a:ext cx="5394960" cy="100584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500" b="0">
                <a:solidFill>
                  <a:srgbClr val="262626"/>
                </a:solidFill>
              </a:rPr>
              <a:t>Dashboards that show room status only as colours or icons.</a:t>
            </a:r>
          </a:p>
          <a:p>
            <a:pPr marL="285750" indent="-285750" algn="l">
              <a:spcAft>
                <a:spcPts val="200"/>
              </a:spcAft>
              <a:buFont typeface="Arial"/>
              <a:buChar char="•"/>
            </a:pPr>
            <a:r>
              <a:rPr sz="1500" b="0">
                <a:solidFill>
                  <a:srgbClr val="262626"/>
                </a:solidFill>
              </a:rPr>
              <a:t>Rooms that are full or noisy on arrival.</a:t>
            </a:r>
          </a:p>
        </p:txBody>
      </p:sp>
      <p:sp>
        <p:nvSpPr>
          <p:cNvPr id="11" name="Rectangle 10"/>
          <p:cNvSpPr/>
          <p:nvPr/>
        </p:nvSpPr>
        <p:spPr>
          <a:xfrm>
            <a:off x="3108960" y="4297680"/>
            <a:ext cx="5394960" cy="777240"/>
          </a:xfrm>
          <a:prstGeom prst="rect">
            <a:avLst/>
          </a:prstGeom>
          <a:solidFill>
            <a:srgbClr val="FFFFFF"/>
          </a:solidFill>
          <a:ln w="12700">
            <a:solidFill>
              <a:srgbClr val="BFBFBF"/>
            </a:solidFill>
          </a:ln>
          <a:effectLst/>
        </p:spPr>
        <p:txBody>
          <a:bodyPr wrap="square" lIns="137160" tIns="54864" rIns="137160" bIns="54864" rtlCol="0" anchor="ctr"/>
          <a:lstStyle/>
          <a:p>
            <a:pPr marL="0" indent="0" algn="l">
              <a:buNone/>
            </a:pPr>
            <a:r>
              <a:rPr sz="1700" b="0" i="1">
                <a:solidFill>
                  <a:srgbClr val="1F497D"/>
                </a:solidFill>
              </a:rPr>
              <a:t>"I just want to know a room is free before I leave home."</a:t>
            </a:r>
          </a:p>
        </p:txBody>
      </p:sp>
      <p:sp>
        <p:nvSpPr>
          <p:cNvPr id="12" name="TextBox 11"/>
          <p:cNvSpPr txBox="1"/>
          <p:nvPr/>
        </p:nvSpPr>
        <p:spPr>
          <a:xfrm>
            <a:off x="594360" y="5349240"/>
            <a:ext cx="7955279" cy="640080"/>
          </a:xfrm>
          <a:prstGeom prst="rect">
            <a:avLst/>
          </a:prstGeom>
          <a:noFill/>
        </p:spPr>
        <p:txBody>
          <a:bodyPr wrap="square" lIns="73152" tIns="54864" rIns="73152" bIns="54864" anchor="ctr">
            <a:spAutoFit/>
          </a:bodyPr>
          <a:lstStyle/>
          <a:p>
            <a:pPr marL="0" indent="0" algn="l">
              <a:buNone/>
            </a:pPr>
            <a:r>
              <a:rPr sz="1300" b="0">
                <a:solidFill>
                  <a:srgbClr val="595959"/>
                </a:solidFill>
              </a:rPr>
              <a:t>Illustrative fictional persona, based on 8 interviews and 120 survey responses (numbers invented for the example).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Integrating Personas and Use Cases</a:t>
            </a:r>
          </a:p>
        </p:txBody>
      </p:sp>
      <p:graphicFrame>
        <p:nvGraphicFramePr>
          <p:cNvPr id="3" name="Table 2"/>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48640">
                <a:tc>
                  <a:txBody>
                    <a:bodyPr/>
                    <a:lstStyle/>
                    <a:p>
                      <a:pPr marL="0" indent="0">
                        <a:buNone/>
                      </a:pPr>
                      <a:r>
                        <a:rPr sz="1600" b="1">
                          <a:solidFill>
                            <a:srgbClr val="FFFFFF"/>
                          </a:solidFill>
                        </a:rPr>
                        <a:t>Use case</a:t>
                      </a:r>
                    </a:p>
                  </a:txBody>
                  <a:tcPr marL="73152" marR="73152" marT="36576" marB="36576" anchor="ctr">
                    <a:solidFill>
                      <a:srgbClr val="1F497D"/>
                    </a:solidFill>
                  </a:tcPr>
                </a:tc>
                <a:tc>
                  <a:txBody>
                    <a:bodyPr/>
                    <a:lstStyle/>
                    <a:p>
                      <a:pPr marL="0" indent="0">
                        <a:buNone/>
                      </a:pPr>
                      <a:r>
                        <a:rPr sz="1600" b="1">
                          <a:solidFill>
                            <a:srgbClr val="FFFFFF"/>
                          </a:solidFill>
                        </a:rPr>
                        <a:t>Priya</a:t>
                      </a:r>
                    </a:p>
                  </a:txBody>
                  <a:tcPr marL="73152" marR="73152" marT="36576" marB="36576" anchor="ctr">
                    <a:solidFill>
                      <a:srgbClr val="1F497D"/>
                    </a:solidFill>
                  </a:tcPr>
                </a:tc>
                <a:tc>
                  <a:txBody>
                    <a:bodyPr/>
                    <a:lstStyle/>
                    <a:p>
                      <a:pPr marL="0" indent="0">
                        <a:buNone/>
                      </a:pPr>
                      <a:r>
                        <a:rPr sz="1600" b="1">
                          <a:solidFill>
                            <a:srgbClr val="FFFFFF"/>
                          </a:solidFill>
                        </a:rPr>
                        <a:t>Sam</a:t>
                      </a:r>
                    </a:p>
                  </a:txBody>
                  <a:tcPr marL="73152" marR="73152" marT="36576" marB="36576" anchor="ctr">
                    <a:solidFill>
                      <a:srgbClr val="1F497D"/>
                    </a:solidFill>
                  </a:tcPr>
                </a:tc>
                <a:tc>
                  <a:txBody>
                    <a:bodyPr/>
                    <a:lstStyle/>
                    <a:p>
                      <a:pPr marL="0" indent="0">
                        <a:buNone/>
                      </a:pPr>
                      <a:r>
                        <a:rPr sz="1600" b="1">
                          <a:solidFill>
                            <a:srgbClr val="FFFFFF"/>
                          </a:solidFill>
                        </a:rPr>
                        <a:t>Alex</a:t>
                      </a:r>
                    </a:p>
                  </a:txBody>
                  <a:tcPr marL="73152" marR="73152" marT="36576" marB="36576" anchor="ctr">
                    <a:solidFill>
                      <a:srgbClr val="1F497D"/>
                    </a:solidFill>
                  </a:tcPr>
                </a:tc>
                <a:extLst>
                  <a:ext uri="{0D108BD9-81ED-4DB2-BD59-A6C34878D82A}">
                    <a16:rowId xmlns:a16="http://schemas.microsoft.com/office/drawing/2014/main" val="10000"/>
                  </a:ext>
                </a:extLst>
              </a:tr>
              <a:tr h="548640">
                <a:tc>
                  <a:txBody>
                    <a:bodyPr/>
                    <a:lstStyle/>
                    <a:p>
                      <a:pPr marL="0" indent="0">
                        <a:buNone/>
                      </a:pPr>
                      <a:r>
                        <a:rPr sz="1600" b="1">
                          <a:solidFill>
                            <a:srgbClr val="262626"/>
                          </a:solidFill>
                        </a:rPr>
                        <a:t>Book a study room</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595959"/>
                          </a:solidFill>
                        </a:rPr>
                        <a:t>-</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pPr marL="0" indent="0">
                        <a:buNone/>
                      </a:pPr>
                      <a:r>
                        <a:rPr sz="1600" b="1">
                          <a:solidFill>
                            <a:srgbClr val="262626"/>
                          </a:solidFill>
                        </a:rPr>
                        <a:t>Cancel a booking</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tc>
                  <a:txBody>
                    <a:bodyPr/>
                    <a:lstStyle/>
                    <a:p>
                      <a:pPr marL="0" indent="0" algn="ctr">
                        <a:buNone/>
                      </a:pPr>
                      <a:r>
                        <a:rPr sz="1600" b="0">
                          <a:solidFill>
                            <a:srgbClr val="595959"/>
                          </a:solidFill>
                        </a:rPr>
                        <a:t>-</a:t>
                      </a:r>
                    </a:p>
                  </a:txBody>
                  <a:tcPr marL="73152" marR="73152" marT="36576" marB="36576" anchor="ctr">
                    <a:solidFill>
                      <a:srgbClr val="F2F2F2"/>
                    </a:solidFill>
                  </a:tcPr>
                </a:tc>
                <a:extLst>
                  <a:ext uri="{0D108BD9-81ED-4DB2-BD59-A6C34878D82A}">
                    <a16:rowId xmlns:a16="http://schemas.microsoft.com/office/drawing/2014/main" val="10002"/>
                  </a:ext>
                </a:extLst>
              </a:tr>
              <a:tr h="548640">
                <a:tc>
                  <a:txBody>
                    <a:bodyPr/>
                    <a:lstStyle/>
                    <a:p>
                      <a:pPr marL="0" indent="0">
                        <a:buNone/>
                      </a:pPr>
                      <a:r>
                        <a:rPr sz="1600" b="1">
                          <a:solidFill>
                            <a:srgbClr val="262626"/>
                          </a:solidFill>
                        </a:rPr>
                        <a:t>Check availability before travelling</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pPr marL="0" indent="0">
                        <a:buNone/>
                      </a:pPr>
                      <a:r>
                        <a:rPr sz="1600" b="1">
                          <a:solidFill>
                            <a:srgbClr val="262626"/>
                          </a:solidFill>
                        </a:rPr>
                        <a:t>Report a faulty sensor</a:t>
                      </a:r>
                    </a:p>
                  </a:txBody>
                  <a:tcPr marL="73152" marR="73152" marT="36576" marB="36576" anchor="ctr">
                    <a:solidFill>
                      <a:srgbClr val="DCE6F2"/>
                    </a:solidFill>
                  </a:tcPr>
                </a:tc>
                <a:tc>
                  <a:txBody>
                    <a:bodyPr/>
                    <a:lstStyle/>
                    <a:p>
                      <a:pPr marL="0" indent="0" algn="ctr">
                        <a:buNone/>
                      </a:pPr>
                      <a:r>
                        <a:rPr sz="1600" b="0">
                          <a:solidFill>
                            <a:srgbClr val="595959"/>
                          </a:solidFill>
                        </a:rPr>
                        <a:t>-</a:t>
                      </a:r>
                    </a:p>
                  </a:txBody>
                  <a:tcPr marL="73152" marR="73152" marT="36576" marB="36576" anchor="ctr">
                    <a:solidFill>
                      <a:srgbClr val="F2F2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extLst>
                  <a:ext uri="{0D108BD9-81ED-4DB2-BD59-A6C34878D82A}">
                    <a16:rowId xmlns:a16="http://schemas.microsoft.com/office/drawing/2014/main" val="10004"/>
                  </a:ext>
                </a:extLst>
              </a:tr>
              <a:tr h="548640">
                <a:tc>
                  <a:txBody>
                    <a:bodyPr/>
                    <a:lstStyle/>
                    <a:p>
                      <a:pPr marL="0" indent="0">
                        <a:buNone/>
                      </a:pPr>
                      <a:r>
                        <a:rPr sz="1600" b="1">
                          <a:solidFill>
                            <a:srgbClr val="262626"/>
                          </a:solidFill>
                        </a:rPr>
                        <a:t>Get an audible "room free" alert</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1">
                          <a:solidFill>
                            <a:srgbClr val="E36C09"/>
                          </a:solidFill>
                        </a:rPr>
                        <a:t>Conflict</a:t>
                      </a:r>
                    </a:p>
                  </a:txBody>
                  <a:tcPr marL="73152" marR="73152" marT="36576" marB="36576" anchor="ctr">
                    <a:solidFill>
                      <a:srgbClr val="FFFFFF"/>
                    </a:solidFill>
                  </a:tcPr>
                </a:tc>
                <a:tc>
                  <a:txBody>
                    <a:bodyPr/>
                    <a:lstStyle/>
                    <a:p>
                      <a:pPr marL="0" indent="0" algn="ctr">
                        <a:buNone/>
                      </a:pPr>
                      <a:r>
                        <a:rPr sz="1600" b="0">
                          <a:solidFill>
                            <a:srgbClr val="595959"/>
                          </a:solidFill>
                        </a:rPr>
                        <a: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457200" y="4617720"/>
            <a:ext cx="8229600" cy="365760"/>
          </a:xfrm>
          <a:prstGeom prst="rect">
            <a:avLst/>
          </a:prstGeom>
          <a:noFill/>
        </p:spPr>
        <p:txBody>
          <a:bodyPr wrap="square" lIns="73152" tIns="54864" rIns="73152" bIns="54864" anchor="t">
            <a:spAutoFit/>
          </a:bodyPr>
          <a:lstStyle/>
          <a:p>
            <a:pPr marL="0" indent="0" algn="l">
              <a:buNone/>
            </a:pPr>
            <a:r>
              <a:rPr sz="1300" b="0">
                <a:solidFill>
                  <a:srgbClr val="595959"/>
                </a:solidFill>
              </a:rPr>
              <a:t>● primary   ○ occasional   - not needed.  Sam: commuter.  Alex: facilities technician.</a:t>
            </a:r>
          </a:p>
        </p:txBody>
      </p:sp>
      <p:sp>
        <p:nvSpPr>
          <p:cNvPr id="5" name="TextBox 4"/>
          <p:cNvSpPr txBox="1"/>
          <p:nvPr/>
        </p:nvSpPr>
        <p:spPr>
          <a:xfrm>
            <a:off x="457200" y="4983480"/>
            <a:ext cx="8229600" cy="128016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a:solidFill>
                  <a:srgbClr val="262626"/>
                </a:solidFill>
              </a:rPr>
              <a:t>An empty row: a use case nobody needs. An empty column: a persona nobody serves.</a:t>
            </a:r>
          </a:p>
          <a:p>
            <a:pPr marL="285750" indent="-285750" algn="l">
              <a:spcAft>
                <a:spcPts val="200"/>
              </a:spcAft>
              <a:buFont typeface="Arial"/>
              <a:buChar char="•"/>
            </a:pPr>
            <a:r>
              <a:rPr sz="1400" b="0">
                <a:solidFill>
                  <a:srgbClr val="262626"/>
                </a:solidFill>
              </a:rPr>
              <a:t>A conflict (Priya needs audio alerts; Sam studies in a silent library) is a design decision to make early.</a:t>
            </a:r>
          </a:p>
          <a:p>
            <a:pPr marL="285750" indent="-285750" algn="l">
              <a:spcAft>
                <a:spcPts val="200"/>
              </a:spcAft>
              <a:buFont typeface="Arial"/>
              <a:buChar char="•"/>
            </a:pPr>
            <a:r>
              <a:rPr sz="1400" b="0">
                <a:solidFill>
                  <a:srgbClr val="262626"/>
                </a:solidFill>
              </a:rPr>
              <a:t>A scenario tells one persona's use case as a short story in context.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Strengths and Limitations</a:t>
            </a:r>
          </a:p>
        </p:txBody>
      </p:sp>
      <p:sp>
        <p:nvSpPr>
          <p:cNvPr id="3" name="Rectangle 2"/>
          <p:cNvSpPr/>
          <p:nvPr/>
        </p:nvSpPr>
        <p:spPr>
          <a:xfrm>
            <a:off x="457200" y="1188720"/>
            <a:ext cx="4023360" cy="3566160"/>
          </a:xfrm>
          <a:prstGeom prst="rect">
            <a:avLst/>
          </a:prstGeom>
          <a:solidFill>
            <a:srgbClr val="EBF1DE"/>
          </a:solidFill>
          <a:ln>
            <a:noFill/>
          </a:ln>
          <a:effectLst/>
        </p:spPr>
        <p:txBody>
          <a:bodyPr rtlCol="0" anchor="ctr"/>
          <a:lstStyle/>
          <a:p>
            <a:pPr algn="ctr"/>
            <a:endParaRPr/>
          </a:p>
        </p:txBody>
      </p:sp>
      <p:sp>
        <p:nvSpPr>
          <p:cNvPr id="4" name="TextBox 3"/>
          <p:cNvSpPr txBox="1"/>
          <p:nvPr/>
        </p:nvSpPr>
        <p:spPr>
          <a:xfrm>
            <a:off x="594360" y="1234440"/>
            <a:ext cx="3749039" cy="457200"/>
          </a:xfrm>
          <a:prstGeom prst="rect">
            <a:avLst/>
          </a:prstGeom>
          <a:noFill/>
        </p:spPr>
        <p:txBody>
          <a:bodyPr wrap="square" lIns="73152" tIns="54864" rIns="73152" bIns="54864" anchor="ctr">
            <a:spAutoFit/>
          </a:bodyPr>
          <a:lstStyle/>
          <a:p>
            <a:pPr marL="0" indent="0" algn="l">
              <a:buNone/>
            </a:pPr>
            <a:r>
              <a:rPr sz="2000" b="1">
                <a:solidFill>
                  <a:srgbClr val="4F6228"/>
                </a:solidFill>
              </a:rPr>
              <a:t>Strengths</a:t>
            </a:r>
          </a:p>
        </p:txBody>
      </p:sp>
      <p:sp>
        <p:nvSpPr>
          <p:cNvPr id="5" name="TextBox 4"/>
          <p:cNvSpPr txBox="1"/>
          <p:nvPr/>
        </p:nvSpPr>
        <p:spPr>
          <a:xfrm>
            <a:off x="594360" y="1737360"/>
            <a:ext cx="3749039" cy="301752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1800" b="0">
                <a:solidFill>
                  <a:srgbClr val="262626"/>
                </a:solidFill>
              </a:rPr>
              <a:t>Build empathy and a shared picture of users.</a:t>
            </a:r>
          </a:p>
          <a:p>
            <a:pPr marL="285750" indent="-285750" algn="l">
              <a:spcAft>
                <a:spcPts val="500"/>
              </a:spcAft>
              <a:buFont typeface="Arial"/>
              <a:buChar char="•"/>
            </a:pPr>
            <a:r>
              <a:rPr sz="1800" b="0">
                <a:solidFill>
                  <a:srgbClr val="262626"/>
                </a:solidFill>
              </a:rPr>
              <a:t>Make behaviour concrete and testable.</a:t>
            </a:r>
          </a:p>
          <a:p>
            <a:pPr marL="285750" indent="-285750" algn="l">
              <a:spcAft>
                <a:spcPts val="500"/>
              </a:spcAft>
              <a:buFont typeface="Arial"/>
              <a:buChar char="•"/>
            </a:pPr>
            <a:r>
              <a:rPr sz="1800" b="0">
                <a:solidFill>
                  <a:srgbClr val="262626"/>
                </a:solidFill>
              </a:rPr>
              <a:t>Expose coverage gaps and conflicting needs.</a:t>
            </a:r>
          </a:p>
          <a:p>
            <a:pPr marL="285750" indent="-285750" algn="l">
              <a:spcAft>
                <a:spcPts val="500"/>
              </a:spcAft>
              <a:buFont typeface="Arial"/>
              <a:buChar char="•"/>
            </a:pPr>
            <a:r>
              <a:rPr sz="1800" b="0">
                <a:solidFill>
                  <a:srgbClr val="262626"/>
                </a:solidFill>
              </a:rPr>
              <a:t>Bridge business and technical audiences.</a:t>
            </a:r>
          </a:p>
        </p:txBody>
      </p:sp>
      <p:sp>
        <p:nvSpPr>
          <p:cNvPr id="6" name="Rectangle 5"/>
          <p:cNvSpPr/>
          <p:nvPr/>
        </p:nvSpPr>
        <p:spPr>
          <a:xfrm>
            <a:off x="4663440" y="1188720"/>
            <a:ext cx="4023360" cy="3566160"/>
          </a:xfrm>
          <a:prstGeom prst="rect">
            <a:avLst/>
          </a:prstGeom>
          <a:solidFill>
            <a:srgbClr val="FDE9D9"/>
          </a:solidFill>
          <a:ln>
            <a:noFill/>
          </a:ln>
          <a:effectLst/>
        </p:spPr>
        <p:txBody>
          <a:bodyPr rtlCol="0" anchor="ctr"/>
          <a:lstStyle/>
          <a:p>
            <a:pPr algn="ctr"/>
            <a:endParaRPr/>
          </a:p>
        </p:txBody>
      </p:sp>
      <p:sp>
        <p:nvSpPr>
          <p:cNvPr id="7" name="TextBox 6"/>
          <p:cNvSpPr txBox="1"/>
          <p:nvPr/>
        </p:nvSpPr>
        <p:spPr>
          <a:xfrm>
            <a:off x="4800600" y="1234440"/>
            <a:ext cx="3749039" cy="457200"/>
          </a:xfrm>
          <a:prstGeom prst="rect">
            <a:avLst/>
          </a:prstGeom>
          <a:noFill/>
        </p:spPr>
        <p:txBody>
          <a:bodyPr wrap="square" lIns="73152" tIns="54864" rIns="73152" bIns="54864" anchor="ctr">
            <a:spAutoFit/>
          </a:bodyPr>
          <a:lstStyle/>
          <a:p>
            <a:pPr marL="0" indent="0" algn="l">
              <a:buNone/>
            </a:pPr>
            <a:r>
              <a:rPr sz="2000" b="1">
                <a:solidFill>
                  <a:srgbClr val="E36C09"/>
                </a:solidFill>
              </a:rPr>
              <a:t>Limitations</a:t>
            </a:r>
          </a:p>
        </p:txBody>
      </p:sp>
      <p:sp>
        <p:nvSpPr>
          <p:cNvPr id="8" name="TextBox 7"/>
          <p:cNvSpPr txBox="1"/>
          <p:nvPr/>
        </p:nvSpPr>
        <p:spPr>
          <a:xfrm>
            <a:off x="4800600" y="1737360"/>
            <a:ext cx="3749039" cy="301752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1800" b="0">
                <a:solidFill>
                  <a:srgbClr val="262626"/>
                </a:solidFill>
              </a:rPr>
              <a:t>Bias and stereotype drift from invented detail.</a:t>
            </a:r>
          </a:p>
          <a:p>
            <a:pPr marL="285750" indent="-285750" algn="l">
              <a:spcAft>
                <a:spcPts val="500"/>
              </a:spcAft>
              <a:buFont typeface="Arial"/>
              <a:buChar char="•"/>
            </a:pPr>
            <a:r>
              <a:rPr sz="1800" b="0">
                <a:solidFill>
                  <a:srgbClr val="262626"/>
                </a:solidFill>
              </a:rPr>
              <a:t>Stale specifications if never reviewed.</a:t>
            </a:r>
          </a:p>
          <a:p>
            <a:pPr marL="285750" indent="-285750" algn="l">
              <a:spcAft>
                <a:spcPts val="500"/>
              </a:spcAft>
              <a:buFont typeface="Arial"/>
              <a:buChar char="•"/>
            </a:pPr>
            <a:r>
              <a:rPr sz="1800" b="0">
                <a:solidFill>
                  <a:srgbClr val="262626"/>
                </a:solidFill>
              </a:rPr>
              <a:t>Cost and over-documentation.</a:t>
            </a:r>
          </a:p>
          <a:p>
            <a:pPr marL="285750" indent="-285750" algn="l">
              <a:spcAft>
                <a:spcPts val="500"/>
              </a:spcAft>
              <a:buFont typeface="Arial"/>
              <a:buChar char="•"/>
            </a:pPr>
            <a:r>
              <a:rPr sz="1800" b="0">
                <a:solidFill>
                  <a:srgbClr val="262626"/>
                </a:solidFill>
              </a:rPr>
              <a:t>Typical users are covered; edge cases and inclusion can be missed.</a:t>
            </a:r>
          </a:p>
        </p:txBody>
      </p:sp>
      <p:sp>
        <p:nvSpPr>
          <p:cNvPr id="9" name="Rectangle 8"/>
          <p:cNvSpPr/>
          <p:nvPr/>
        </p:nvSpPr>
        <p:spPr>
          <a:xfrm>
            <a:off x="457200" y="4937760"/>
            <a:ext cx="8229600" cy="1280160"/>
          </a:xfrm>
          <a:prstGeom prst="rect">
            <a:avLst/>
          </a:prstGeom>
          <a:solidFill>
            <a:srgbClr val="DCE6F2"/>
          </a:solidFill>
          <a:ln>
            <a:noFill/>
          </a:ln>
          <a:effectLst/>
        </p:spPr>
        <p:txBody>
          <a:bodyPr wrap="square" lIns="182880" tIns="54864" rIns="182880" bIns="54864" rtlCol="0" anchor="ctr"/>
          <a:lstStyle/>
          <a:p>
            <a:pPr marL="0" indent="0" algn="l">
              <a:buNone/>
            </a:pPr>
            <a:r>
              <a:rPr sz="1700" b="1">
                <a:solidFill>
                  <a:srgbClr val="1F497D"/>
                </a:solidFill>
              </a:rPr>
              <a:t>Right-size the documentation: </a:t>
            </a:r>
            <a:r>
              <a:rPr sz="1700" b="0">
                <a:solidFill>
                  <a:srgbClr val="262626"/>
                </a:solidFill>
              </a:rPr>
              <a:t>lightweight for agile iterations, richer artefacts for regulated or high-risk domains. Plan reviews to keep insights current.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Summary and What's Next</a:t>
            </a:r>
          </a:p>
        </p:txBody>
      </p:sp>
      <p:sp>
        <p:nvSpPr>
          <p:cNvPr id="3" name="TextBox 2"/>
          <p:cNvSpPr txBox="1"/>
          <p:nvPr/>
        </p:nvSpPr>
        <p:spPr>
          <a:xfrm>
            <a:off x="457200" y="1051560"/>
            <a:ext cx="8229600" cy="19202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800" b="1">
                <a:solidFill>
                  <a:srgbClr val="1F497D"/>
                </a:solidFill>
              </a:rPr>
              <a:t>Use cases: </a:t>
            </a:r>
            <a:r>
              <a:rPr sz="1800" b="0">
                <a:solidFill>
                  <a:srgbClr val="262626"/>
                </a:solidFill>
              </a:rPr>
              <a:t>capture behaviour at the system boundary</a:t>
            </a:r>
          </a:p>
          <a:p>
            <a:pPr marL="285750" indent="-285750" algn="l">
              <a:spcAft>
                <a:spcPts val="300"/>
              </a:spcAft>
              <a:buFont typeface="Arial"/>
              <a:buChar char="•"/>
            </a:pPr>
            <a:r>
              <a:rPr sz="1800" b="1">
                <a:solidFill>
                  <a:srgbClr val="1F497D"/>
                </a:solidFill>
              </a:rPr>
              <a:t>Personas: </a:t>
            </a:r>
            <a:r>
              <a:rPr sz="1800" b="0">
                <a:solidFill>
                  <a:srgbClr val="262626"/>
                </a:solidFill>
              </a:rPr>
              <a:t>anchor it in evidence about real users</a:t>
            </a:r>
          </a:p>
          <a:p>
            <a:pPr marL="285750" indent="-285750" algn="l">
              <a:spcAft>
                <a:spcPts val="300"/>
              </a:spcAft>
              <a:buFont typeface="Arial"/>
              <a:buChar char="•"/>
            </a:pPr>
            <a:r>
              <a:rPr sz="1800" b="1">
                <a:solidFill>
                  <a:srgbClr val="1F497D"/>
                </a:solidFill>
              </a:rPr>
              <a:t>Levels: </a:t>
            </a:r>
            <a:r>
              <a:rPr sz="1800" b="0">
                <a:solidFill>
                  <a:srgbClr val="262626"/>
                </a:solidFill>
              </a:rPr>
              <a:t>specify at user-goal level, with alternative flows</a:t>
            </a:r>
          </a:p>
          <a:p>
            <a:pPr marL="285750" indent="-285750" algn="l">
              <a:spcAft>
                <a:spcPts val="300"/>
              </a:spcAft>
              <a:buFont typeface="Arial"/>
              <a:buChar char="•"/>
            </a:pPr>
            <a:r>
              <a:rPr sz="1800" b="1">
                <a:solidFill>
                  <a:srgbClr val="1F497D"/>
                </a:solidFill>
              </a:rPr>
              <a:t>Integration: </a:t>
            </a:r>
            <a:r>
              <a:rPr sz="1800" b="0">
                <a:solidFill>
                  <a:srgbClr val="262626"/>
                </a:solidFill>
              </a:rPr>
              <a:t>map personas to use cases to find gaps and conflicts</a:t>
            </a:r>
          </a:p>
          <a:p>
            <a:pPr marL="285750" indent="-285750" algn="l">
              <a:spcAft>
                <a:spcPts val="300"/>
              </a:spcAft>
              <a:buFont typeface="Arial"/>
              <a:buChar char="•"/>
            </a:pPr>
            <a:r>
              <a:rPr sz="1800" b="1">
                <a:solidFill>
                  <a:srgbClr val="1F497D"/>
                </a:solidFill>
              </a:rPr>
              <a:t>Care: </a:t>
            </a:r>
            <a:r>
              <a:rPr sz="1800" b="0">
                <a:solidFill>
                  <a:srgbClr val="262626"/>
                </a:solidFill>
              </a:rPr>
              <a:t>watch for bias, stereotypes and stale documents</a:t>
            </a:r>
          </a:p>
        </p:txBody>
      </p:sp>
      <p:sp>
        <p:nvSpPr>
          <p:cNvPr id="4" name="Rectangle 3"/>
          <p:cNvSpPr/>
          <p:nvPr/>
        </p:nvSpPr>
        <p:spPr>
          <a:xfrm>
            <a:off x="1371600" y="2971800"/>
            <a:ext cx="6400800" cy="457200"/>
          </a:xfrm>
          <a:prstGeom prst="rect">
            <a:avLst/>
          </a:prstGeom>
          <a:solidFill>
            <a:srgbClr val="D7E4BD"/>
          </a:solidFill>
          <a:ln>
            <a:noFill/>
          </a:ln>
          <a:effectLst/>
        </p:spPr>
        <p:txBody>
          <a:bodyPr wrap="square" lIns="73152" tIns="54864" rIns="73152" bIns="54864" rtlCol="0" anchor="ctr"/>
          <a:lstStyle/>
          <a:p>
            <a:pPr marL="0" indent="0" algn="ctr">
              <a:buNone/>
            </a:pPr>
            <a:r>
              <a:rPr sz="2200" b="1">
                <a:solidFill>
                  <a:srgbClr val="000000"/>
                </a:solidFill>
              </a:rPr>
              <a:t>Let's read and explore</a:t>
            </a:r>
          </a:p>
        </p:txBody>
      </p:sp>
      <p:sp>
        <p:nvSpPr>
          <p:cNvPr id="5" name="TextBox 4"/>
          <p:cNvSpPr txBox="1"/>
          <p:nvPr/>
        </p:nvSpPr>
        <p:spPr>
          <a:xfrm>
            <a:off x="640080" y="3520440"/>
            <a:ext cx="8046720" cy="192024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a:solidFill>
                  <a:srgbClr val="262626"/>
                </a:solidFill>
              </a:rPr>
              <a:t>Cockburn, A. (2001). Writing Effective Use Cases. Addison-Wesley.</a:t>
            </a:r>
          </a:p>
          <a:p>
            <a:pPr marL="285750" indent="-285750" algn="l">
              <a:spcAft>
                <a:spcPts val="200"/>
              </a:spcAft>
              <a:buFont typeface="Arial"/>
              <a:buChar char="–"/>
            </a:pPr>
            <a:r>
              <a:rPr sz="1400" b="0">
                <a:solidFill>
                  <a:srgbClr val="262626"/>
                </a:solidFill>
              </a:rPr>
              <a:t>Jacobson, I. et al. (1992). Object-Oriented Software Engineering: A Use Case Driven Approach.</a:t>
            </a:r>
          </a:p>
          <a:p>
            <a:pPr marL="285750" indent="-285750" algn="l">
              <a:spcAft>
                <a:spcPts val="200"/>
              </a:spcAft>
              <a:buFont typeface="Arial"/>
              <a:buChar char="–"/>
            </a:pPr>
            <a:r>
              <a:rPr sz="1400" b="0">
                <a:solidFill>
                  <a:srgbClr val="262626"/>
                </a:solidFill>
              </a:rPr>
              <a:t>Cooper, A. (1999). The Inmates Are Running the Asylum.</a:t>
            </a:r>
          </a:p>
          <a:p>
            <a:pPr marL="285750" indent="-285750" algn="l">
              <a:spcAft>
                <a:spcPts val="200"/>
              </a:spcAft>
              <a:buFont typeface="Arial"/>
              <a:buChar char="–"/>
            </a:pPr>
            <a:r>
              <a:rPr sz="1400" b="0">
                <a:solidFill>
                  <a:srgbClr val="262626"/>
                </a:solidFill>
              </a:rPr>
              <a:t>Pruitt, J. and Adlin, T. (2006). The Persona Lifecycle.</a:t>
            </a:r>
          </a:p>
          <a:p>
            <a:pPr marL="285750" indent="-285750" algn="l">
              <a:spcAft>
                <a:spcPts val="200"/>
              </a:spcAft>
              <a:buFont typeface="Arial"/>
              <a:buChar char="–"/>
            </a:pPr>
            <a:r>
              <a:rPr sz="1400" b="0">
                <a:solidFill>
                  <a:srgbClr val="262626"/>
                </a:solidFill>
              </a:rPr>
              <a:t>ISO 9241-210:2019. Human-centred design for interactive systems.</a:t>
            </a:r>
          </a:p>
        </p:txBody>
      </p:sp>
      <p:sp>
        <p:nvSpPr>
          <p:cNvPr id="6" name="Rectangle 5"/>
          <p:cNvSpPr/>
          <p:nvPr/>
        </p:nvSpPr>
        <p:spPr>
          <a:xfrm>
            <a:off x="457200" y="5486400"/>
            <a:ext cx="8229600" cy="68580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Next: </a:t>
            </a:r>
            <a:r>
              <a:rPr sz="1600" b="0">
                <a:solidFill>
                  <a:srgbClr val="262626"/>
                </a:solidFill>
              </a:rPr>
              <a:t>System architecture: turning requirements into components and interfaces.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600" b="1">
                <a:solidFill>
                  <a:schemeClr val="tx2"/>
                </a:solidFill>
              </a:rPr>
              <a:t>Appendix: Worked Example, Transfer Funds</a:t>
            </a:r>
          </a:p>
        </p:txBody>
      </p:sp>
      <p:sp>
        <p:nvSpPr>
          <p:cNvPr id="3" name="TextBox 2"/>
          <p:cNvSpPr txBox="1"/>
          <p:nvPr/>
        </p:nvSpPr>
        <p:spPr>
          <a:xfrm>
            <a:off x="365760" y="1097280"/>
            <a:ext cx="2651760" cy="365760"/>
          </a:xfrm>
          <a:prstGeom prst="rect">
            <a:avLst/>
          </a:prstGeom>
          <a:noFill/>
        </p:spPr>
        <p:txBody>
          <a:bodyPr wrap="square" lIns="73152" tIns="54864" rIns="73152" bIns="54864" anchor="t">
            <a:spAutoFit/>
          </a:bodyPr>
          <a:lstStyle/>
          <a:p>
            <a:pPr marL="0" indent="0" algn="l">
              <a:buNone/>
            </a:pPr>
            <a:r>
              <a:rPr sz="1600" b="1">
                <a:solidFill>
                  <a:srgbClr val="1F497D"/>
                </a:solidFill>
              </a:rPr>
              <a:t>Context</a:t>
            </a:r>
          </a:p>
        </p:txBody>
      </p:sp>
      <p:sp>
        <p:nvSpPr>
          <p:cNvPr id="4" name="TextBox 3"/>
          <p:cNvSpPr txBox="1"/>
          <p:nvPr/>
        </p:nvSpPr>
        <p:spPr>
          <a:xfrm>
            <a:off x="365760" y="1463040"/>
            <a:ext cx="2651760" cy="32918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1">
                <a:solidFill>
                  <a:srgbClr val="262626"/>
                </a:solidFill>
              </a:rPr>
              <a:t>Primary actor: </a:t>
            </a:r>
            <a:r>
              <a:rPr sz="1500" b="0">
                <a:solidFill>
                  <a:srgbClr val="262626"/>
                </a:solidFill>
              </a:rPr>
              <a:t>account holder</a:t>
            </a:r>
          </a:p>
          <a:p>
            <a:pPr marL="285750" indent="-285750" algn="l">
              <a:spcAft>
                <a:spcPts val="300"/>
              </a:spcAft>
              <a:buFont typeface="Arial"/>
              <a:buChar char="•"/>
            </a:pPr>
            <a:r>
              <a:rPr sz="1500" b="1">
                <a:solidFill>
                  <a:srgbClr val="262626"/>
                </a:solidFill>
              </a:rPr>
              <a:t>Stakeholders: </a:t>
            </a:r>
            <a:r>
              <a:rPr sz="1500" b="0">
                <a:solidFill>
                  <a:srgbClr val="262626"/>
                </a:solidFill>
              </a:rPr>
              <a:t>bank compliance, fraud monitoring</a:t>
            </a:r>
          </a:p>
          <a:p>
            <a:pPr marL="285750" indent="-285750" algn="l">
              <a:spcAft>
                <a:spcPts val="300"/>
              </a:spcAft>
              <a:buFont typeface="Arial"/>
              <a:buChar char="•"/>
            </a:pPr>
            <a:r>
              <a:rPr sz="1500" b="1">
                <a:solidFill>
                  <a:srgbClr val="262626"/>
                </a:solidFill>
              </a:rPr>
              <a:t>Preconditions: </a:t>
            </a:r>
            <a:r>
              <a:rPr sz="1500" b="0">
                <a:solidFill>
                  <a:srgbClr val="262626"/>
                </a:solidFill>
              </a:rPr>
              <a:t>authenticated user holds 2 or more accounts</a:t>
            </a:r>
          </a:p>
          <a:p>
            <a:pPr marL="285750" indent="-285750" algn="l">
              <a:buFont typeface="Arial"/>
              <a:buChar char="•"/>
            </a:pPr>
            <a:r>
              <a:rPr sz="1500" b="1">
                <a:solidFill>
                  <a:srgbClr val="262626"/>
                </a:solidFill>
              </a:rPr>
              <a:t>Trigger: </a:t>
            </a:r>
            <a:r>
              <a:rPr sz="1500" b="0">
                <a:solidFill>
                  <a:srgbClr val="262626"/>
                </a:solidFill>
              </a:rPr>
              <a:t>user selects "Transfer Funds"</a:t>
            </a:r>
          </a:p>
        </p:txBody>
      </p:sp>
      <p:sp>
        <p:nvSpPr>
          <p:cNvPr id="5" name="TextBox 4"/>
          <p:cNvSpPr txBox="1"/>
          <p:nvPr/>
        </p:nvSpPr>
        <p:spPr>
          <a:xfrm>
            <a:off x="3108960" y="1097280"/>
            <a:ext cx="3108960" cy="365760"/>
          </a:xfrm>
          <a:prstGeom prst="rect">
            <a:avLst/>
          </a:prstGeom>
          <a:noFill/>
        </p:spPr>
        <p:txBody>
          <a:bodyPr wrap="square" lIns="73152" tIns="54864" rIns="73152" bIns="54864" anchor="t">
            <a:spAutoFit/>
          </a:bodyPr>
          <a:lstStyle/>
          <a:p>
            <a:pPr marL="0" indent="0" algn="l">
              <a:buNone/>
            </a:pPr>
            <a:r>
              <a:rPr sz="1600" b="1">
                <a:solidFill>
                  <a:srgbClr val="1F497D"/>
                </a:solidFill>
              </a:rPr>
              <a:t>Main success scenario</a:t>
            </a:r>
          </a:p>
        </p:txBody>
      </p:sp>
      <p:sp>
        <p:nvSpPr>
          <p:cNvPr id="6" name="TextBox 5"/>
          <p:cNvSpPr txBox="1"/>
          <p:nvPr/>
        </p:nvSpPr>
        <p:spPr>
          <a:xfrm>
            <a:off x="3108960" y="1463040"/>
            <a:ext cx="3108960" cy="3383280"/>
          </a:xfrm>
          <a:prstGeom prst="rect">
            <a:avLst/>
          </a:prstGeom>
          <a:noFill/>
        </p:spPr>
        <p:txBody>
          <a:bodyPr wrap="square" lIns="73152" tIns="54864" rIns="73152" bIns="54864" anchor="t">
            <a:spAutoFit/>
          </a:bodyPr>
          <a:lstStyle/>
          <a:p>
            <a:pPr marL="285750" indent="-285750" algn="l">
              <a:spcAft>
                <a:spcPts val="300"/>
              </a:spcAft>
              <a:buFont typeface="+mj-lt"/>
              <a:buAutoNum type="arabicPeriod"/>
            </a:pPr>
            <a:r>
              <a:rPr sz="1500" b="0">
                <a:solidFill>
                  <a:srgbClr val="262626"/>
                </a:solidFill>
              </a:rPr>
              <a:t>System lists accounts and balances.</a:t>
            </a:r>
          </a:p>
          <a:p>
            <a:pPr marL="285750" indent="-285750" algn="l">
              <a:spcAft>
                <a:spcPts val="300"/>
              </a:spcAft>
              <a:buFont typeface="+mj-lt"/>
              <a:buAutoNum type="arabicPeriod"/>
            </a:pPr>
            <a:r>
              <a:rPr sz="1500" b="0">
                <a:solidFill>
                  <a:srgbClr val="262626"/>
                </a:solidFill>
              </a:rPr>
              <a:t>User selects source and destination.</a:t>
            </a:r>
          </a:p>
          <a:p>
            <a:pPr marL="285750" indent="-285750" algn="l">
              <a:spcAft>
                <a:spcPts val="300"/>
              </a:spcAft>
              <a:buFont typeface="+mj-lt"/>
              <a:buAutoNum type="arabicPeriod"/>
            </a:pPr>
            <a:r>
              <a:rPr sz="1500" b="0">
                <a:solidFill>
                  <a:srgbClr val="262626"/>
                </a:solidFill>
              </a:rPr>
              <a:t>User enters amount.</a:t>
            </a:r>
          </a:p>
          <a:p>
            <a:pPr marL="285750" indent="-285750" algn="l">
              <a:spcAft>
                <a:spcPts val="300"/>
              </a:spcAft>
              <a:buFont typeface="+mj-lt"/>
              <a:buAutoNum type="arabicPeriod"/>
            </a:pPr>
            <a:r>
              <a:rPr sz="1500" b="0">
                <a:solidFill>
                  <a:srgbClr val="262626"/>
                </a:solidFill>
              </a:rPr>
              <a:t>System validates funds.</a:t>
            </a:r>
          </a:p>
          <a:p>
            <a:pPr marL="285750" indent="-285750" algn="l">
              <a:spcAft>
                <a:spcPts val="300"/>
              </a:spcAft>
              <a:buFont typeface="+mj-lt"/>
              <a:buAutoNum type="arabicPeriod"/>
            </a:pPr>
            <a:r>
              <a:rPr sz="1500" b="0">
                <a:solidFill>
                  <a:srgbClr val="262626"/>
                </a:solidFill>
              </a:rPr>
              <a:t>System displays summary.</a:t>
            </a:r>
          </a:p>
          <a:p>
            <a:pPr marL="285750" indent="-285750" algn="l">
              <a:spcAft>
                <a:spcPts val="300"/>
              </a:spcAft>
              <a:buFont typeface="+mj-lt"/>
              <a:buAutoNum type="arabicPeriod"/>
            </a:pPr>
            <a:r>
              <a:rPr sz="1500" b="0">
                <a:solidFill>
                  <a:srgbClr val="262626"/>
                </a:solidFill>
              </a:rPr>
              <a:t>User confirms.</a:t>
            </a:r>
          </a:p>
          <a:p>
            <a:pPr marL="285750" indent="-285750" algn="l">
              <a:spcAft>
                <a:spcPts val="300"/>
              </a:spcAft>
              <a:buFont typeface="+mj-lt"/>
              <a:buAutoNum type="arabicPeriod"/>
            </a:pPr>
            <a:r>
              <a:rPr sz="1500" b="0">
                <a:solidFill>
                  <a:srgbClr val="262626"/>
                </a:solidFill>
              </a:rPr>
              <a:t>System executes transfer, updates balances, logs the transaction.</a:t>
            </a:r>
          </a:p>
        </p:txBody>
      </p:sp>
      <p:sp>
        <p:nvSpPr>
          <p:cNvPr id="7" name="TextBox 6"/>
          <p:cNvSpPr txBox="1"/>
          <p:nvPr/>
        </p:nvSpPr>
        <p:spPr>
          <a:xfrm>
            <a:off x="6309360" y="1097280"/>
            <a:ext cx="2560320" cy="365760"/>
          </a:xfrm>
          <a:prstGeom prst="rect">
            <a:avLst/>
          </a:prstGeom>
          <a:noFill/>
        </p:spPr>
        <p:txBody>
          <a:bodyPr wrap="square" lIns="73152" tIns="54864" rIns="73152" bIns="54864" anchor="t">
            <a:spAutoFit/>
          </a:bodyPr>
          <a:lstStyle/>
          <a:p>
            <a:pPr marL="0" indent="0" algn="l">
              <a:buNone/>
            </a:pPr>
            <a:r>
              <a:rPr sz="1600" b="1">
                <a:solidFill>
                  <a:srgbClr val="1F497D"/>
                </a:solidFill>
              </a:rPr>
              <a:t>Alternative flows</a:t>
            </a:r>
          </a:p>
        </p:txBody>
      </p:sp>
      <p:sp>
        <p:nvSpPr>
          <p:cNvPr id="8" name="TextBox 7"/>
          <p:cNvSpPr txBox="1"/>
          <p:nvPr/>
        </p:nvSpPr>
        <p:spPr>
          <a:xfrm>
            <a:off x="6309360" y="1463040"/>
            <a:ext cx="2560320" cy="338328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0">
                <a:solidFill>
                  <a:srgbClr val="262626"/>
                </a:solidFill>
              </a:rPr>
              <a:t>Invalid amount: display error, return to entry.</a:t>
            </a:r>
          </a:p>
          <a:p>
            <a:pPr marL="285750" indent="-285750" algn="l">
              <a:spcAft>
                <a:spcPts val="300"/>
              </a:spcAft>
              <a:buFont typeface="Arial"/>
              <a:buChar char="•"/>
            </a:pPr>
            <a:r>
              <a:rPr sz="1500" b="0">
                <a:solidFill>
                  <a:srgbClr val="262626"/>
                </a:solidFill>
              </a:rPr>
              <a:t>Insufficient funds: display balance, retry.</a:t>
            </a:r>
          </a:p>
          <a:p>
            <a:pPr marL="285750" indent="-285750" algn="l">
              <a:buFont typeface="Arial"/>
              <a:buChar char="•"/>
            </a:pPr>
            <a:r>
              <a:rPr sz="1500" b="0">
                <a:solidFill>
                  <a:srgbClr val="262626"/>
                </a:solidFill>
              </a:rPr>
              <a:t>Technical failure: roll back, log error, notify user.</a:t>
            </a:r>
          </a:p>
        </p:txBody>
      </p:sp>
      <p:sp>
        <p:nvSpPr>
          <p:cNvPr id="9" name="Rectangle 8"/>
          <p:cNvSpPr/>
          <p:nvPr/>
        </p:nvSpPr>
        <p:spPr>
          <a:xfrm>
            <a:off x="365760" y="4937760"/>
            <a:ext cx="8412480" cy="118872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Business rules: </a:t>
            </a:r>
            <a:r>
              <a:rPr sz="1600" b="0">
                <a:solidFill>
                  <a:srgbClr val="262626"/>
                </a:solidFill>
              </a:rPr>
              <a:t>daily limit £10k; transfers over £5k require step-up authentication; minimum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600" b="1">
                <a:solidFill>
                  <a:schemeClr val="tx2"/>
                </a:solidFill>
              </a:rPr>
              <a:t>Appendix: Transfer Funds as a Flow</a:t>
            </a:r>
          </a:p>
        </p:txBody>
      </p:sp>
      <p:sp>
        <p:nvSpPr>
          <p:cNvPr id="3" name="Rectangle 2"/>
          <p:cNvSpPr/>
          <p:nvPr/>
        </p:nvSpPr>
        <p:spPr>
          <a:xfrm>
            <a:off x="457200" y="128016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List accounts and balances</a:t>
            </a:r>
          </a:p>
        </p:txBody>
      </p:sp>
      <p:sp>
        <p:nvSpPr>
          <p:cNvPr id="4" name="Right Arrow 3"/>
          <p:cNvSpPr/>
          <p:nvPr/>
        </p:nvSpPr>
        <p:spPr>
          <a:xfrm>
            <a:off x="2350008" y="1581912"/>
            <a:ext cx="210312" cy="256032"/>
          </a:xfrm>
          <a:prstGeom prst="rightArrow">
            <a:avLst/>
          </a:prstGeom>
          <a:solidFill>
            <a:srgbClr val="1F497D"/>
          </a:solidFill>
          <a:ln>
            <a:noFill/>
          </a:ln>
          <a:effectLst/>
        </p:spPr>
        <p:txBody>
          <a:bodyPr rtlCol="0" anchor="ctr"/>
          <a:lstStyle/>
          <a:p>
            <a:pPr algn="ctr"/>
            <a:endParaRPr/>
          </a:p>
        </p:txBody>
      </p:sp>
      <p:sp>
        <p:nvSpPr>
          <p:cNvPr id="5" name="Rectangle 4"/>
          <p:cNvSpPr/>
          <p:nvPr/>
        </p:nvSpPr>
        <p:spPr>
          <a:xfrm>
            <a:off x="2578608" y="128016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Select source and destination</a:t>
            </a:r>
          </a:p>
        </p:txBody>
      </p:sp>
      <p:sp>
        <p:nvSpPr>
          <p:cNvPr id="6" name="Right Arrow 5"/>
          <p:cNvSpPr/>
          <p:nvPr/>
        </p:nvSpPr>
        <p:spPr>
          <a:xfrm>
            <a:off x="4471415" y="1581912"/>
            <a:ext cx="210312" cy="256032"/>
          </a:xfrm>
          <a:prstGeom prst="rightArrow">
            <a:avLst/>
          </a:prstGeom>
          <a:solidFill>
            <a:srgbClr val="1F497D"/>
          </a:solidFill>
          <a:ln>
            <a:noFill/>
          </a:ln>
          <a:effectLst/>
        </p:spPr>
        <p:txBody>
          <a:bodyPr rtlCol="0" anchor="ctr"/>
          <a:lstStyle/>
          <a:p>
            <a:pPr algn="ctr"/>
            <a:endParaRPr/>
          </a:p>
        </p:txBody>
      </p:sp>
      <p:sp>
        <p:nvSpPr>
          <p:cNvPr id="7" name="Rectangle 6"/>
          <p:cNvSpPr/>
          <p:nvPr/>
        </p:nvSpPr>
        <p:spPr>
          <a:xfrm>
            <a:off x="4700016" y="128016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Enter amount</a:t>
            </a:r>
          </a:p>
        </p:txBody>
      </p:sp>
      <p:sp>
        <p:nvSpPr>
          <p:cNvPr id="8" name="Right Arrow 7"/>
          <p:cNvSpPr/>
          <p:nvPr/>
        </p:nvSpPr>
        <p:spPr>
          <a:xfrm>
            <a:off x="6592823" y="1581912"/>
            <a:ext cx="210312" cy="256032"/>
          </a:xfrm>
          <a:prstGeom prst="rightArrow">
            <a:avLst/>
          </a:prstGeom>
          <a:solidFill>
            <a:srgbClr val="1F497D"/>
          </a:solidFill>
          <a:ln>
            <a:noFill/>
          </a:ln>
          <a:effectLst/>
        </p:spPr>
        <p:txBody>
          <a:bodyPr rtlCol="0" anchor="ctr"/>
          <a:lstStyle/>
          <a:p>
            <a:pPr algn="ctr"/>
            <a:endParaRPr/>
          </a:p>
        </p:txBody>
      </p:sp>
      <p:sp>
        <p:nvSpPr>
          <p:cNvPr id="9" name="Rectangle 8"/>
          <p:cNvSpPr/>
          <p:nvPr/>
        </p:nvSpPr>
        <p:spPr>
          <a:xfrm>
            <a:off x="6821423" y="1280160"/>
            <a:ext cx="1874519" cy="868680"/>
          </a:xfrm>
          <a:prstGeom prst="rect">
            <a:avLst/>
          </a:prstGeom>
          <a:solidFill>
            <a:srgbClr val="DAEEF3"/>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Validate funds</a:t>
            </a:r>
          </a:p>
        </p:txBody>
      </p:sp>
      <p:sp>
        <p:nvSpPr>
          <p:cNvPr id="10" name="Rectangle 9"/>
          <p:cNvSpPr/>
          <p:nvPr/>
        </p:nvSpPr>
        <p:spPr>
          <a:xfrm>
            <a:off x="457200" y="274320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Display summary</a:t>
            </a:r>
          </a:p>
        </p:txBody>
      </p:sp>
      <p:sp>
        <p:nvSpPr>
          <p:cNvPr id="11" name="Right Arrow 10"/>
          <p:cNvSpPr/>
          <p:nvPr/>
        </p:nvSpPr>
        <p:spPr>
          <a:xfrm>
            <a:off x="2350008" y="3044952"/>
            <a:ext cx="210312" cy="256032"/>
          </a:xfrm>
          <a:prstGeom prst="rightArrow">
            <a:avLst/>
          </a:prstGeom>
          <a:solidFill>
            <a:srgbClr val="1F497D"/>
          </a:solidFill>
          <a:ln>
            <a:noFill/>
          </a:ln>
          <a:effectLst/>
        </p:spPr>
        <p:txBody>
          <a:bodyPr rtlCol="0" anchor="ctr"/>
          <a:lstStyle/>
          <a:p>
            <a:pPr algn="ctr"/>
            <a:endParaRPr/>
          </a:p>
        </p:txBody>
      </p:sp>
      <p:sp>
        <p:nvSpPr>
          <p:cNvPr id="12" name="Rectangle 11"/>
          <p:cNvSpPr/>
          <p:nvPr/>
        </p:nvSpPr>
        <p:spPr>
          <a:xfrm>
            <a:off x="2578608" y="274320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Confirm transfer</a:t>
            </a:r>
          </a:p>
        </p:txBody>
      </p:sp>
      <p:sp>
        <p:nvSpPr>
          <p:cNvPr id="13" name="Right Arrow 12"/>
          <p:cNvSpPr/>
          <p:nvPr/>
        </p:nvSpPr>
        <p:spPr>
          <a:xfrm>
            <a:off x="4471415" y="3044952"/>
            <a:ext cx="210312" cy="256032"/>
          </a:xfrm>
          <a:prstGeom prst="rightArrow">
            <a:avLst/>
          </a:prstGeom>
          <a:solidFill>
            <a:srgbClr val="1F497D"/>
          </a:solidFill>
          <a:ln>
            <a:noFill/>
          </a:ln>
          <a:effectLst/>
        </p:spPr>
        <p:txBody>
          <a:bodyPr rtlCol="0" anchor="ctr"/>
          <a:lstStyle/>
          <a:p>
            <a:pPr algn="ctr"/>
            <a:endParaRPr/>
          </a:p>
        </p:txBody>
      </p:sp>
      <p:sp>
        <p:nvSpPr>
          <p:cNvPr id="14" name="Rectangle 13"/>
          <p:cNvSpPr/>
          <p:nvPr/>
        </p:nvSpPr>
        <p:spPr>
          <a:xfrm>
            <a:off x="4700016" y="2743200"/>
            <a:ext cx="1874519" cy="868680"/>
          </a:xfrm>
          <a:prstGeom prst="rect">
            <a:avLst/>
          </a:prstGeom>
          <a:solidFill>
            <a:srgbClr val="DAEEF3"/>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Process transfer</a:t>
            </a:r>
          </a:p>
        </p:txBody>
      </p:sp>
      <p:sp>
        <p:nvSpPr>
          <p:cNvPr id="15" name="Right Arrow 14"/>
          <p:cNvSpPr/>
          <p:nvPr/>
        </p:nvSpPr>
        <p:spPr>
          <a:xfrm>
            <a:off x="6592823" y="3044952"/>
            <a:ext cx="210312" cy="256032"/>
          </a:xfrm>
          <a:prstGeom prst="rightArrow">
            <a:avLst/>
          </a:prstGeom>
          <a:solidFill>
            <a:srgbClr val="1F497D"/>
          </a:solidFill>
          <a:ln>
            <a:noFill/>
          </a:ln>
          <a:effectLst/>
        </p:spPr>
        <p:txBody>
          <a:bodyPr rtlCol="0" anchor="ctr"/>
          <a:lstStyle/>
          <a:p>
            <a:pPr algn="ctr"/>
            <a:endParaRPr/>
          </a:p>
        </p:txBody>
      </p:sp>
      <p:sp>
        <p:nvSpPr>
          <p:cNvPr id="16" name="Rectangle 15"/>
          <p:cNvSpPr/>
          <p:nvPr/>
        </p:nvSpPr>
        <p:spPr>
          <a:xfrm>
            <a:off x="6821423" y="274320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Update balances and record audit log</a:t>
            </a:r>
          </a:p>
        </p:txBody>
      </p:sp>
      <p:sp>
        <p:nvSpPr>
          <p:cNvPr id="17" name="TextBox 16"/>
          <p:cNvSpPr txBox="1"/>
          <p:nvPr/>
        </p:nvSpPr>
        <p:spPr>
          <a:xfrm>
            <a:off x="457200" y="4343400"/>
            <a:ext cx="8229600" cy="502920"/>
          </a:xfrm>
          <a:prstGeom prst="rect">
            <a:avLst/>
          </a:prstGeom>
          <a:noFill/>
        </p:spPr>
        <p:txBody>
          <a:bodyPr wrap="square" lIns="73152" tIns="54864" rIns="73152" bIns="54864" anchor="ctr">
            <a:spAutoFit/>
          </a:bodyPr>
          <a:lstStyle/>
          <a:p>
            <a:pPr marL="0" indent="0" algn="l">
              <a:buNone/>
            </a:pPr>
            <a:r>
              <a:rPr sz="1300" b="1">
                <a:solidFill>
                  <a:srgbClr val="1F497D"/>
                </a:solidFill>
              </a:rPr>
              <a:t>Actors: </a:t>
            </a:r>
            <a:r>
              <a:rPr sz="1300" b="0">
                <a:solidFill>
                  <a:srgbClr val="262626"/>
                </a:solidFill>
              </a:rPr>
              <a:t>Account Holder (primary), Core Banking System (invoked by Process transfer), Fraud Monitoring, Compliance Team.</a:t>
            </a:r>
          </a:p>
        </p:txBody>
      </p:sp>
      <p:sp>
        <p:nvSpPr>
          <p:cNvPr id="18" name="Rectangle 17"/>
          <p:cNvSpPr/>
          <p:nvPr/>
        </p:nvSpPr>
        <p:spPr>
          <a:xfrm>
            <a:off x="457200" y="4937760"/>
            <a:ext cx="8229600" cy="1280160"/>
          </a:xfrm>
          <a:prstGeom prst="rect">
            <a:avLst/>
          </a:prstGeom>
          <a:solidFill>
            <a:srgbClr val="F2DCDB"/>
          </a:solidFill>
          <a:ln>
            <a:noFill/>
          </a:ln>
          <a:effectLst/>
        </p:spPr>
        <p:txBody>
          <a:bodyPr wrap="square" lIns="182880" tIns="54864" rIns="182880" bIns="54864" rtlCol="0" anchor="ctr"/>
          <a:lstStyle/>
          <a:p>
            <a:pPr marL="0" indent="0" algn="l">
              <a:buNone/>
            </a:pPr>
            <a:r>
              <a:rPr sz="1400" b="1">
                <a:solidFill>
                  <a:srgbClr val="A93226"/>
                </a:solidFill>
              </a:rPr>
              <a:t>Handle transfer errors (extends the flow): </a:t>
            </a:r>
            <a:r>
              <a:rPr sz="1400" b="0">
                <a:solidFill>
                  <a:srgbClr val="262626"/>
                </a:solidFill>
              </a:rPr>
              <a:t>invalid amount, insufficient funds or technical failure lead to an error message, then a retry prompt or escalation to support, and a record in the audit log for compliance and fraud monitoring.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Use Cases vs User Stories</a:t>
            </a:r>
          </a:p>
        </p:txBody>
      </p:sp>
      <p:graphicFrame>
        <p:nvGraphicFramePr>
          <p:cNvPr id="3" name="Table 2"/>
          <p:cNvGraphicFramePr>
            <a:graphicFrameLocks noGrp="1"/>
          </p:cNvGraphicFramePr>
          <p:nvPr/>
        </p:nvGraphicFramePr>
        <p:xfrm>
          <a:off x="457200" y="1280160"/>
          <a:ext cx="8229599" cy="41148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474719">
                  <a:extLst>
                    <a:ext uri="{9D8B030D-6E8A-4147-A177-3AD203B41FA5}">
                      <a16:colId xmlns:a16="http://schemas.microsoft.com/office/drawing/2014/main" val="20002"/>
                    </a:ext>
                  </a:extLst>
                </a:gridCol>
              </a:tblGrid>
              <a:tr h="685800">
                <a:tc>
                  <a:txBody>
                    <a:bodyPr/>
                    <a:lstStyle/>
                    <a:p>
                      <a:pPr marL="0" indent="0">
                        <a:buNone/>
                      </a:pPr>
                      <a:endParaRPr/>
                    </a:p>
                  </a:txBody>
                  <a:tcPr marL="73152" marR="73152" marT="36576" marB="36576" anchor="ctr">
                    <a:solidFill>
                      <a:srgbClr val="1F497D"/>
                    </a:solidFill>
                  </a:tcPr>
                </a:tc>
                <a:tc>
                  <a:txBody>
                    <a:bodyPr/>
                    <a:lstStyle/>
                    <a:p>
                      <a:pPr marL="0" indent="0">
                        <a:buNone/>
                      </a:pPr>
                      <a:r>
                        <a:rPr sz="1600" b="1">
                          <a:solidFill>
                            <a:srgbClr val="FFFFFF"/>
                          </a:solidFill>
                        </a:rPr>
                        <a:t>Use case</a:t>
                      </a:r>
                    </a:p>
                  </a:txBody>
                  <a:tcPr marL="73152" marR="73152" marT="36576" marB="36576" anchor="ctr">
                    <a:solidFill>
                      <a:srgbClr val="1F497D"/>
                    </a:solidFill>
                  </a:tcPr>
                </a:tc>
                <a:tc>
                  <a:txBody>
                    <a:bodyPr/>
                    <a:lstStyle/>
                    <a:p>
                      <a:pPr marL="0" indent="0">
                        <a:buNone/>
                      </a:pPr>
                      <a:r>
                        <a:rPr sz="1600" b="1">
                          <a:solidFill>
                            <a:srgbClr val="FFFFFF"/>
                          </a:solidFill>
                        </a:rPr>
                        <a:t>User story</a:t>
                      </a:r>
                    </a:p>
                  </a:txBody>
                  <a:tcPr marL="73152" marR="73152" marT="36576" marB="36576" anchor="ctr">
                    <a:solidFill>
                      <a:srgbClr val="1F497D"/>
                    </a:solidFill>
                  </a:tcPr>
                </a:tc>
                <a:extLst>
                  <a:ext uri="{0D108BD9-81ED-4DB2-BD59-A6C34878D82A}">
                    <a16:rowId xmlns:a16="http://schemas.microsoft.com/office/drawing/2014/main" val="10000"/>
                  </a:ext>
                </a:extLst>
              </a:tr>
              <a:tr h="685800">
                <a:tc>
                  <a:txBody>
                    <a:bodyPr/>
                    <a:lstStyle/>
                    <a:p>
                      <a:pPr marL="0" indent="0">
                        <a:buNone/>
                      </a:pPr>
                      <a:r>
                        <a:rPr sz="1600" b="1">
                          <a:solidFill>
                            <a:srgbClr val="262626"/>
                          </a:solidFill>
                        </a:rPr>
                        <a:t>Form</a:t>
                      </a:r>
                    </a:p>
                  </a:txBody>
                  <a:tcPr marL="73152" marR="73152" marT="36576" marB="36576" anchor="ctr">
                    <a:solidFill>
                      <a:srgbClr val="DCE6F2"/>
                    </a:solidFill>
                  </a:tcPr>
                </a:tc>
                <a:tc>
                  <a:txBody>
                    <a:bodyPr/>
                    <a:lstStyle/>
                    <a:p>
                      <a:pPr marL="0" indent="0">
                        <a:buNone/>
                      </a:pPr>
                      <a:r>
                        <a:rPr sz="1600" b="0">
                          <a:solidFill>
                            <a:srgbClr val="262626"/>
                          </a:solidFill>
                        </a:rPr>
                        <a:t>Structured scenario with steps and flows</a:t>
                      </a:r>
                    </a:p>
                  </a:txBody>
                  <a:tcPr marL="73152" marR="73152" marT="36576" marB="36576" anchor="ctr">
                    <a:solidFill>
                      <a:srgbClr val="FFFFFF"/>
                    </a:solidFill>
                  </a:tcPr>
                </a:tc>
                <a:tc>
                  <a:txBody>
                    <a:bodyPr/>
                    <a:lstStyle/>
                    <a:p>
                      <a:pPr marL="0" indent="0">
                        <a:buNone/>
                      </a:pPr>
                      <a:r>
                        <a:rPr sz="1600" b="0">
                          <a:solidFill>
                            <a:srgbClr val="262626"/>
                          </a:solidFill>
                        </a:rPr>
                        <a:t>"As a [user], I want [function], so that [goal]."</a:t>
                      </a:r>
                    </a:p>
                  </a:txBody>
                  <a:tcPr marL="73152" marR="73152" marT="36576" marB="36576" anchor="ctr">
                    <a:solidFill>
                      <a:srgbClr val="FFFFFF"/>
                    </a:solidFill>
                  </a:tcPr>
                </a:tc>
                <a:extLst>
                  <a:ext uri="{0D108BD9-81ED-4DB2-BD59-A6C34878D82A}">
                    <a16:rowId xmlns:a16="http://schemas.microsoft.com/office/drawing/2014/main" val="10001"/>
                  </a:ext>
                </a:extLst>
              </a:tr>
              <a:tr h="685800">
                <a:tc>
                  <a:txBody>
                    <a:bodyPr/>
                    <a:lstStyle/>
                    <a:p>
                      <a:pPr marL="0" indent="0">
                        <a:buNone/>
                      </a:pPr>
                      <a:r>
                        <a:rPr sz="1600" b="1">
                          <a:solidFill>
                            <a:srgbClr val="262626"/>
                          </a:solidFill>
                        </a:rPr>
                        <a:t>Level</a:t>
                      </a:r>
                    </a:p>
                  </a:txBody>
                  <a:tcPr marL="73152" marR="73152" marT="36576" marB="36576" anchor="ctr">
                    <a:solidFill>
                      <a:srgbClr val="DCE6F2"/>
                    </a:solidFill>
                  </a:tcPr>
                </a:tc>
                <a:tc>
                  <a:txBody>
                    <a:bodyPr/>
                    <a:lstStyle/>
                    <a:p>
                      <a:pPr marL="0" indent="0">
                        <a:buNone/>
                      </a:pPr>
                      <a:r>
                        <a:rPr sz="1600" b="0">
                          <a:solidFill>
                            <a:srgbClr val="262626"/>
                          </a:solidFill>
                        </a:rPr>
                        <a:t>Usually one user goal</a:t>
                      </a:r>
                    </a:p>
                  </a:txBody>
                  <a:tcPr marL="73152" marR="73152" marT="36576" marB="36576" anchor="ctr">
                    <a:solidFill>
                      <a:srgbClr val="F2F2F2"/>
                    </a:solidFill>
                  </a:tcPr>
                </a:tc>
                <a:tc>
                  <a:txBody>
                    <a:bodyPr/>
                    <a:lstStyle/>
                    <a:p>
                      <a:pPr marL="0" indent="0">
                        <a:buNone/>
                      </a:pPr>
                      <a:r>
                        <a:rPr sz="1600" b="0">
                          <a:solidFill>
                            <a:srgbClr val="262626"/>
                          </a:solidFill>
                        </a:rPr>
                        <a:t>A small slice of a goal</a:t>
                      </a:r>
                    </a:p>
                  </a:txBody>
                  <a:tcPr marL="73152" marR="73152" marT="36576" marB="36576" anchor="ctr">
                    <a:solidFill>
                      <a:srgbClr val="F2F2F2"/>
                    </a:solidFill>
                  </a:tcPr>
                </a:tc>
                <a:extLst>
                  <a:ext uri="{0D108BD9-81ED-4DB2-BD59-A6C34878D82A}">
                    <a16:rowId xmlns:a16="http://schemas.microsoft.com/office/drawing/2014/main" val="10002"/>
                  </a:ext>
                </a:extLst>
              </a:tr>
              <a:tr h="685800">
                <a:tc>
                  <a:txBody>
                    <a:bodyPr/>
                    <a:lstStyle/>
                    <a:p>
                      <a:pPr marL="0" indent="0">
                        <a:buNone/>
                      </a:pPr>
                      <a:r>
                        <a:rPr sz="1600" b="1">
                          <a:solidFill>
                            <a:srgbClr val="262626"/>
                          </a:solidFill>
                        </a:rPr>
                        <a:t>Detail</a:t>
                      </a:r>
                    </a:p>
                  </a:txBody>
                  <a:tcPr marL="73152" marR="73152" marT="36576" marB="36576" anchor="ctr">
                    <a:solidFill>
                      <a:srgbClr val="DCE6F2"/>
                    </a:solidFill>
                  </a:tcPr>
                </a:tc>
                <a:tc>
                  <a:txBody>
                    <a:bodyPr/>
                    <a:lstStyle/>
                    <a:p>
                      <a:pPr marL="0" indent="0">
                        <a:buNone/>
                      </a:pPr>
                      <a:r>
                        <a:rPr sz="1600" b="0">
                          <a:solidFill>
                            <a:srgbClr val="262626"/>
                          </a:solidFill>
                        </a:rPr>
                        <a:t>Preconditions, flows, business rules</a:t>
                      </a:r>
                    </a:p>
                  </a:txBody>
                  <a:tcPr marL="73152" marR="73152" marT="36576" marB="36576" anchor="ctr">
                    <a:solidFill>
                      <a:srgbClr val="FFFFFF"/>
                    </a:solidFill>
                  </a:tcPr>
                </a:tc>
                <a:tc>
                  <a:txBody>
                    <a:bodyPr/>
                    <a:lstStyle/>
                    <a:p>
                      <a:pPr marL="0" indent="0">
                        <a:buNone/>
                      </a:pPr>
                      <a:r>
                        <a:rPr sz="1600" b="0">
                          <a:solidFill>
                            <a:srgbClr val="262626"/>
                          </a:solidFill>
                        </a:rPr>
                        <a:t>Conversation plus acceptance criteria</a:t>
                      </a:r>
                    </a:p>
                  </a:txBody>
                  <a:tcPr marL="73152" marR="73152" marT="36576" marB="36576" anchor="ctr">
                    <a:solidFill>
                      <a:srgbClr val="FFFFFF"/>
                    </a:solidFill>
                  </a:tcPr>
                </a:tc>
                <a:extLst>
                  <a:ext uri="{0D108BD9-81ED-4DB2-BD59-A6C34878D82A}">
                    <a16:rowId xmlns:a16="http://schemas.microsoft.com/office/drawing/2014/main" val="10003"/>
                  </a:ext>
                </a:extLst>
              </a:tr>
              <a:tr h="685800">
                <a:tc>
                  <a:txBody>
                    <a:bodyPr/>
                    <a:lstStyle/>
                    <a:p>
                      <a:pPr marL="0" indent="0">
                        <a:buNone/>
                      </a:pPr>
                      <a:r>
                        <a:rPr sz="1600" b="1">
                          <a:solidFill>
                            <a:srgbClr val="262626"/>
                          </a:solidFill>
                        </a:rPr>
                        <a:t>Best for</a:t>
                      </a:r>
                    </a:p>
                  </a:txBody>
                  <a:tcPr marL="73152" marR="73152" marT="36576" marB="36576" anchor="ctr">
                    <a:solidFill>
                      <a:srgbClr val="DCE6F2"/>
                    </a:solidFill>
                  </a:tcPr>
                </a:tc>
                <a:tc>
                  <a:txBody>
                    <a:bodyPr/>
                    <a:lstStyle/>
                    <a:p>
                      <a:pPr marL="0" indent="0">
                        <a:buNone/>
                      </a:pPr>
                      <a:r>
                        <a:rPr sz="1600" b="0">
                          <a:solidFill>
                            <a:srgbClr val="262626"/>
                          </a:solidFill>
                        </a:rPr>
                        <a:t>Multi-actor, regulated, complex interactions</a:t>
                      </a:r>
                    </a:p>
                  </a:txBody>
                  <a:tcPr marL="73152" marR="73152" marT="36576" marB="36576" anchor="ctr">
                    <a:solidFill>
                      <a:srgbClr val="F2F2F2"/>
                    </a:solidFill>
                  </a:tcPr>
                </a:tc>
                <a:tc>
                  <a:txBody>
                    <a:bodyPr/>
                    <a:lstStyle/>
                    <a:p>
                      <a:pPr marL="0" indent="0">
                        <a:buNone/>
                      </a:pPr>
                      <a:r>
                        <a:rPr sz="1600" b="0">
                          <a:solidFill>
                            <a:srgbClr val="262626"/>
                          </a:solidFill>
                        </a:rPr>
                        <a:t>Agile teams iterating quickly</a:t>
                      </a:r>
                    </a:p>
                  </a:txBody>
                  <a:tcPr marL="73152" marR="73152" marT="36576" marB="36576" anchor="ctr">
                    <a:solidFill>
                      <a:srgbClr val="F2F2F2"/>
                    </a:solidFill>
                  </a:tcPr>
                </a:tc>
                <a:extLst>
                  <a:ext uri="{0D108BD9-81ED-4DB2-BD59-A6C34878D82A}">
                    <a16:rowId xmlns:a16="http://schemas.microsoft.com/office/drawing/2014/main" val="10004"/>
                  </a:ext>
                </a:extLst>
              </a:tr>
              <a:tr h="685800">
                <a:tc>
                  <a:txBody>
                    <a:bodyPr/>
                    <a:lstStyle/>
                    <a:p>
                      <a:pPr marL="0" indent="0">
                        <a:buNone/>
                      </a:pPr>
                      <a:r>
                        <a:rPr sz="1600" b="1">
                          <a:solidFill>
                            <a:srgbClr val="262626"/>
                          </a:solidFill>
                        </a:rPr>
                        <a:t>Weakness</a:t>
                      </a:r>
                    </a:p>
                  </a:txBody>
                  <a:tcPr marL="73152" marR="73152" marT="36576" marB="36576" anchor="ctr">
                    <a:solidFill>
                      <a:srgbClr val="DCE6F2"/>
                    </a:solidFill>
                  </a:tcPr>
                </a:tc>
                <a:tc>
                  <a:txBody>
                    <a:bodyPr/>
                    <a:lstStyle/>
                    <a:p>
                      <a:pPr marL="0" indent="0">
                        <a:buNone/>
                      </a:pPr>
                      <a:r>
                        <a:rPr sz="1600" b="0">
                          <a:solidFill>
                            <a:srgbClr val="262626"/>
                          </a:solidFill>
                        </a:rPr>
                        <a:t>Heavier to write and maintain</a:t>
                      </a:r>
                    </a:p>
                  </a:txBody>
                  <a:tcPr marL="73152" marR="73152" marT="36576" marB="36576" anchor="ctr">
                    <a:solidFill>
                      <a:srgbClr val="FFFFFF"/>
                    </a:solidFill>
                  </a:tcPr>
                </a:tc>
                <a:tc>
                  <a:txBody>
                    <a:bodyPr/>
                    <a:lstStyle/>
                    <a:p>
                      <a:pPr marL="0" indent="0">
                        <a:buNone/>
                      </a:pPr>
                      <a:r>
                        <a:rPr sz="1600" b="0">
                          <a:solidFill>
                            <a:srgbClr val="262626"/>
                          </a:solidFill>
                        </a:rPr>
                        <a:t>The big picture can be lost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Future Directions</a:t>
            </a:r>
          </a:p>
        </p:txBody>
      </p:sp>
      <p:sp>
        <p:nvSpPr>
          <p:cNvPr id="3" name="TextBox 2"/>
          <p:cNvSpPr txBox="1"/>
          <p:nvPr/>
        </p:nvSpPr>
        <p:spPr>
          <a:xfrm>
            <a:off x="457200" y="1280160"/>
            <a:ext cx="8229600" cy="4846320"/>
          </a:xfrm>
          <a:prstGeom prst="rect">
            <a:avLst/>
          </a:prstGeom>
          <a:noFill/>
        </p:spPr>
        <p:txBody>
          <a:bodyPr wrap="square" lIns="73152" tIns="54864" rIns="73152" bIns="54864" anchor="t">
            <a:spAutoFit/>
          </a:bodyPr>
          <a:lstStyle/>
          <a:p>
            <a:pPr marL="285750" indent="-285750" algn="l">
              <a:spcAft>
                <a:spcPts val="1400"/>
              </a:spcAft>
              <a:buFont typeface="Arial"/>
              <a:buChar char="•"/>
            </a:pPr>
            <a:r>
              <a:rPr sz="1900" b="1">
                <a:solidFill>
                  <a:srgbClr val="1F497D"/>
                </a:solidFill>
              </a:rPr>
              <a:t>Living personas: </a:t>
            </a:r>
            <a:r>
              <a:rPr sz="1900" b="0">
                <a:solidFill>
                  <a:srgbClr val="262626"/>
                </a:solidFill>
              </a:rPr>
              <a:t>update them with analytics and feedback rather than filing them away.</a:t>
            </a:r>
          </a:p>
          <a:p>
            <a:pPr marL="285750" indent="-285750" algn="l">
              <a:spcAft>
                <a:spcPts val="1400"/>
              </a:spcAft>
              <a:buFont typeface="Arial"/>
              <a:buChar char="•"/>
            </a:pPr>
            <a:r>
              <a:rPr sz="1900" b="1">
                <a:solidFill>
                  <a:srgbClr val="1F497D"/>
                </a:solidFill>
              </a:rPr>
              <a:t>AI-assisted drafting: </a:t>
            </a:r>
            <a:r>
              <a:rPr sz="1900" b="0">
                <a:solidFill>
                  <a:srgbClr val="262626"/>
                </a:solidFill>
              </a:rPr>
              <a:t>language models can draft personas or use cases, but treat the output as a hypothesis, validate it with real users, and never paste personal interview data into public tools.</a:t>
            </a:r>
          </a:p>
          <a:p>
            <a:pPr marL="285750" indent="-285750" algn="l">
              <a:spcAft>
                <a:spcPts val="1400"/>
              </a:spcAft>
              <a:buFont typeface="Arial"/>
              <a:buChar char="•"/>
            </a:pPr>
            <a:r>
              <a:rPr sz="1900" b="1">
                <a:solidFill>
                  <a:srgbClr val="1F497D"/>
                </a:solidFill>
              </a:rPr>
              <a:t>Inclusive design from the start: </a:t>
            </a:r>
            <a:r>
              <a:rPr sz="1900" b="0">
                <a:solidFill>
                  <a:srgbClr val="262626"/>
                </a:solidFill>
              </a:rPr>
              <a:t>include accessibility needs and edge cases in the persona set.</a:t>
            </a:r>
          </a:p>
          <a:p>
            <a:pPr marL="285750" indent="-285750" algn="l">
              <a:spcAft>
                <a:spcPts val="1400"/>
              </a:spcAft>
              <a:buFont typeface="Arial"/>
              <a:buChar char="•"/>
            </a:pPr>
            <a:r>
              <a:rPr sz="1900" b="1">
                <a:solidFill>
                  <a:srgbClr val="1F497D"/>
                </a:solidFill>
              </a:rPr>
              <a:t>Continuous discovery: </a:t>
            </a:r>
            <a:r>
              <a:rPr sz="1900" b="0">
                <a:solidFill>
                  <a:srgbClr val="262626"/>
                </a:solidFill>
              </a:rPr>
              <a:t>keep talking to users after launch.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02DFA9-1A7F-384F-9364-52518B21DDA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27750</TotalTime>
  <Words>3154</Words>
  <Application>Microsoft Macintosh PowerPoint</Application>
  <PresentationFormat>On-screen Show (4:3)</PresentationFormat>
  <Paragraphs>334</Paragraphs>
  <Slides>24</Slides>
  <Notes>24</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AICE2005 - Systematic Design  Use Cases and Personas</vt:lpstr>
      <vt:lpstr>Week Overview</vt:lpstr>
      <vt:lpstr>PowerPoint Presentation</vt:lpstr>
      <vt:lpstr>Recap: Lectures 1 and 2</vt:lpstr>
      <vt:lpstr>Lecture 3 Overview</vt:lpstr>
      <vt:lpstr>Why Requirements Still Fail</vt:lpstr>
      <vt:lpstr>User-Centred Design Foundations</vt:lpstr>
      <vt:lpstr>Use Cases: What and Why</vt:lpstr>
      <vt:lpstr>A Use Case Diagram: Smart Study Room</vt:lpstr>
      <vt:lpstr>Use Case Anatomy</vt:lpstr>
      <vt:lpstr>Use Case Levels</vt:lpstr>
      <vt:lpstr>Worked Example: Book a Study Room</vt:lpstr>
      <vt:lpstr>Exercise: Which level?</vt:lpstr>
      <vt:lpstr>Which level? Discussion</vt:lpstr>
      <vt:lpstr>Personas: What and Why</vt:lpstr>
      <vt:lpstr>Building Personas from Research Data</vt:lpstr>
      <vt:lpstr>Example Persona: Priya</vt:lpstr>
      <vt:lpstr>Integrating Personas and Use Cases</vt:lpstr>
      <vt:lpstr>Strengths and Limitations</vt:lpstr>
      <vt:lpstr>Summary and What's Next</vt:lpstr>
      <vt:lpstr>Appendix: Worked Example, Transfer Funds</vt:lpstr>
      <vt:lpstr>Appendix: Transfer Funds as a Flow</vt:lpstr>
      <vt:lpstr>Appendix: Use Cases vs User Stories</vt:lpstr>
      <vt:lpstr>Appendix: Future Directions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Asieh Salehi Fathabadi</cp:lastModifiedBy>
  <cp:revision>48</cp:revision>
  <dcterms:created xsi:type="dcterms:W3CDTF">2013-01-27T09:14:16Z</dcterms:created>
  <dcterms:modified xsi:type="dcterms:W3CDTF">2026-09-21T19:01:36Z</dcterms:modified>
  <cp:category/>
</cp:coreProperties>
</file>