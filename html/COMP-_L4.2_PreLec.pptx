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360" r:id="rId3"/>
    <p:sldId id="302" r:id="rId4"/>
    <p:sldId id="340" r:id="rId5"/>
    <p:sldId id="264" r:id="rId6"/>
    <p:sldId id="265" r:id="rId7"/>
    <p:sldId id="341" r:id="rId8"/>
    <p:sldId id="266" r:id="rId9"/>
    <p:sldId id="272" r:id="rId10"/>
    <p:sldId id="268" r:id="rId11"/>
    <p:sldId id="269" r:id="rId12"/>
    <p:sldId id="344" r:id="rId13"/>
    <p:sldId id="343" r:id="rId14"/>
    <p:sldId id="345" r:id="rId15"/>
    <p:sldId id="346" r:id="rId16"/>
    <p:sldId id="347" r:id="rId17"/>
    <p:sldId id="305" r:id="rId18"/>
    <p:sldId id="306" r:id="rId19"/>
    <p:sldId id="350" r:id="rId20"/>
    <p:sldId id="271" r:id="rId21"/>
    <p:sldId id="348" r:id="rId22"/>
    <p:sldId id="351" r:id="rId23"/>
    <p:sldId id="352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885"/>
    <p:restoredTop sz="96534"/>
  </p:normalViewPr>
  <p:slideViewPr>
    <p:cSldViewPr snapToGrid="0" snapToObjects="1">
      <p:cViewPr varScale="1">
        <p:scale>
          <a:sx n="160" d="100"/>
          <a:sy n="160" d="100"/>
        </p:scale>
        <p:origin x="2248" y="488"/>
      </p:cViewPr>
      <p:guideLst>
        <p:guide orient="horz" pos="216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001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3C0760-A542-FE4F-8EBF-B1B1FB6407CD}" type="datetimeFigureOut">
              <a:rPr lang="en-001" smtClean="0"/>
              <a:t>13/10/2026</a:t>
            </a:fld>
            <a:endParaRPr lang="en-001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001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00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FDD410-6F06-0944-A7D6-EF8BD4B59FCF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775020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14ABC-3DF9-14A1-558D-27CD5442A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B35630-22EC-96E0-E751-C288B1B405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7941BE-1137-4836-72BB-742789939A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Real-World Examples:</a:t>
            </a:r>
          </a:p>
          <a:p>
            <a:endParaRPr lang="en-US" sz="1200" dirty="0"/>
          </a:p>
          <a:p>
            <a:r>
              <a:rPr lang="en-US" sz="1200" dirty="0"/>
              <a:t>Smart Card OS: B Method (</a:t>
            </a:r>
            <a:r>
              <a:rPr lang="en-US" sz="1200" dirty="0" err="1"/>
              <a:t>Gemplus</a:t>
            </a:r>
            <a:r>
              <a:rPr lang="en-US" sz="1200" dirty="0"/>
              <a:t>, Schlumberger)</a:t>
            </a:r>
          </a:p>
          <a:p>
            <a:r>
              <a:rPr lang="en-US" sz="1200" dirty="0"/>
              <a:t>Railway Interlocking: B Method (RATP, SNCF)</a:t>
            </a:r>
          </a:p>
          <a:p>
            <a:r>
              <a:rPr lang="en-US" sz="1200" dirty="0"/>
              <a:t>Metro Automation: Event-B (Paris Line 14, Copenhagen Metro)</a:t>
            </a:r>
          </a:p>
          <a:p>
            <a:r>
              <a:rPr lang="en-US" sz="1200" dirty="0"/>
              <a:t>Communication Protocols: CSP (TCP/IP verification)</a:t>
            </a:r>
          </a:p>
          <a:p>
            <a:endParaRPr lang="en-001" dirty="0"/>
          </a:p>
          <a:p>
            <a:endParaRPr lang="en-001" dirty="0"/>
          </a:p>
          <a:p>
            <a:r>
              <a:rPr lang="en-US" sz="1200" dirty="0"/>
              <a:t>Use Z When: Complex data structures, Database systems, Information systems, Security policies, Sequential algorithms</a:t>
            </a:r>
          </a:p>
          <a:p>
            <a:r>
              <a:rPr lang="en-US" sz="1200" dirty="0"/>
              <a:t>Use B Method When: Sequential systems requiring correctness proof, Safety-critical software development, Step-by-step refinement needed, Code generation required</a:t>
            </a:r>
          </a:p>
          <a:p>
            <a:r>
              <a:rPr lang="en-US" sz="1200" dirty="0"/>
              <a:t>Use Event-B When: Distributed or concurrent systems, Event-driven architectures, Multiple refinement levels needed, Proof automation required, Complex state machines</a:t>
            </a:r>
          </a:p>
          <a:p>
            <a:r>
              <a:rPr lang="en-US" sz="1200" dirty="0"/>
              <a:t>Use CSP When: Communication protocols, Concurrent process interaction, Deadlock analysis, Hardware design verification</a:t>
            </a:r>
          </a:p>
          <a:p>
            <a:endParaRPr lang="en-00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FF8B34-4B6C-CC0F-C30D-2D8279822A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DD410-6F06-0944-A7D6-EF8BD4B59FCF}" type="slidenum">
              <a:rPr lang="en-001" smtClean="0"/>
              <a:t>12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6440789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</a:t>
            </a:r>
            <a:r>
              <a:rPr lang="en-001" dirty="0"/>
              <a:t>afety req prevents hazards</a:t>
            </a:r>
            <a:br>
              <a:rPr lang="en-001" dirty="0"/>
            </a:br>
            <a:r>
              <a:rPr lang="en-US" dirty="0"/>
              <a:t>The doors shall open within 2 seconds to improve passenger throughput: performance req</a:t>
            </a:r>
            <a:br>
              <a:rPr lang="en-US" dirty="0"/>
            </a:br>
            <a:r>
              <a:rPr lang="en-US" dirty="0"/>
              <a:t>The controller shall log all door events for later analysis: maintenance req</a:t>
            </a:r>
            <a:br>
              <a:rPr lang="en-US" dirty="0"/>
            </a:br>
            <a:r>
              <a:rPr lang="en-US" dirty="0"/>
              <a:t>The system shall provide real-time data to the passenger: functional </a:t>
            </a:r>
            <a:r>
              <a:rPr lang="en-US" dirty="0" err="1"/>
              <a:t>convinience</a:t>
            </a:r>
            <a:endParaRPr lang="en-00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DD410-6F06-0944-A7D6-EF8BD4B59FCF}" type="slidenum">
              <a:rPr lang="en-001" smtClean="0"/>
              <a:t>15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602841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6"/>
            <a:ext cx="58293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4406901"/>
            <a:ext cx="58293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2906713"/>
            <a:ext cx="58293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1"/>
            <a:ext cx="302895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1"/>
            <a:ext cx="302895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1535113"/>
            <a:ext cx="3031331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2174875"/>
            <a:ext cx="3031331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5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1"/>
            <a:ext cx="3833813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1"/>
            <a:ext cx="2256235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9"/>
            <a:ext cx="154305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9"/>
            <a:ext cx="451485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vox basic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72F2E-3F20-0DC0-CFA3-D11D49B01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DD3D74-F972-E096-E828-44B6C11A3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3657D-8E22-4681-BD7E-16E8F6F56673}" type="datetimeFigureOut">
              <a:rPr lang="en-FI" smtClean="0"/>
              <a:t>10/13/26</a:t>
            </a:fld>
            <a:endParaRPr lang="en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87A18-8950-3A86-D6FB-14BF0F08B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D9F6BC-1B26-1DC3-0C4B-4C12F07C7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D3D6-B89C-4D82-B254-B84B3D342745}" type="slidenum">
              <a:rPr lang="en-FI" smtClean="0"/>
              <a:t>‹#›</a:t>
            </a:fld>
            <a:endParaRPr lang="en-FI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CADAFE8-3608-FDE7-C3ED-12BD6811F72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8650" y="1798320"/>
            <a:ext cx="7886700" cy="4429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970544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1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1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1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1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Logo" descr="University of Southampton logo">
            <a:extLst>
              <a:ext uri="{FF2B5EF4-FFF2-40B4-BE49-F238E27FC236}">
                <a16:creationId xmlns:a16="http://schemas.microsoft.com/office/drawing/2014/main" id="{60EBC0D3-D2FE-A6C7-BF78-AADE6EC5E47F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7406640" y="6384033"/>
            <a:ext cx="1371600" cy="291086"/>
          </a:xfrm>
          <a:prstGeom prst="rect">
            <a:avLst/>
          </a:prstGeom>
        </p:spPr>
      </p:pic>
      <p:sp>
        <p:nvSpPr>
          <p:cNvPr id="8" name="Footer slide number">
            <a:extLst>
              <a:ext uri="{FF2B5EF4-FFF2-40B4-BE49-F238E27FC236}">
                <a16:creationId xmlns:a16="http://schemas.microsoft.com/office/drawing/2014/main" id="{06678808-4BB4-8FC4-413E-0478C5D19BFE}"/>
              </a:ext>
            </a:extLst>
          </p:cNvPr>
          <p:cNvSpPr txBox="1"/>
          <p:nvPr userDrawn="1"/>
        </p:nvSpPr>
        <p:spPr>
          <a:xfrm>
            <a:off x="365760" y="6384033"/>
            <a:ext cx="457200" cy="29108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fld id="{B6F15528-21DE-4FAA-801E-634DDDAF4B2B}" type="slidenum">
              <a:rPr lang="en-GB" sz="1400" dirty="0">
                <a:solidFill>
                  <a:srgbClr val="1F497D"/>
                </a:solidFill>
              </a:rPr>
              <a:t>‹#›</a:t>
            </a:fld>
            <a:endParaRPr lang="en-GB" sz="1400" dirty="0">
              <a:solidFill>
                <a:srgbClr val="1F497D"/>
              </a:solidFill>
            </a:endParaRPr>
          </a:p>
        </p:txBody>
      </p:sp>
      <p:sp>
        <p:nvSpPr>
          <p:cNvPr id="9" name="Footer SEAtS">
            <a:extLst>
              <a:ext uri="{FF2B5EF4-FFF2-40B4-BE49-F238E27FC236}">
                <a16:creationId xmlns:a16="http://schemas.microsoft.com/office/drawing/2014/main" id="{08F4D601-2AE5-44DB-96FE-44BAA11B0BC8}"/>
              </a:ext>
            </a:extLst>
          </p:cNvPr>
          <p:cNvSpPr txBox="1"/>
          <p:nvPr userDrawn="1"/>
        </p:nvSpPr>
        <p:spPr>
          <a:xfrm>
            <a:off x="742950" y="6430390"/>
            <a:ext cx="3200400" cy="29108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b="1" dirty="0">
                <a:solidFill>
                  <a:srgbClr val="1F497D"/>
                </a:solidFill>
              </a:rPr>
              <a:t>SEAtS | 612352</a:t>
            </a:r>
          </a:p>
          <a:p>
            <a:r>
              <a:rPr lang="en-GB" sz="800" b="1" dirty="0">
                <a:solidFill>
                  <a:srgbClr val="8C8C8C"/>
                </a:solidFill>
              </a:rPr>
              <a:t>© University of Southampton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wiki.event-b.org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7219" y="2034652"/>
            <a:ext cx="8297693" cy="1102519"/>
          </a:xfrm>
        </p:spPr>
        <p:txBody>
          <a:bodyPr>
            <a:noAutofit/>
          </a:bodyPr>
          <a:lstStyle/>
          <a:p>
            <a:r>
              <a:rPr lang="en-US" sz="4000" dirty="0"/>
              <a:t>	AICE2005 - Systematic Design</a:t>
            </a:r>
            <a:br>
              <a:rPr lang="en-US" sz="4000" dirty="0"/>
            </a:br>
            <a:br>
              <a:rPr lang="en-US" sz="4000" dirty="0"/>
            </a:br>
            <a:r>
              <a:rPr sz="4000" b="1" dirty="0">
                <a:solidFill>
                  <a:schemeClr val="tx2"/>
                </a:solidFill>
              </a:rPr>
              <a:t>Formal Specification and Verification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15766" y="4088354"/>
            <a:ext cx="4800600" cy="131445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Asieh Salehi Fathabadi</a:t>
            </a:r>
          </a:p>
          <a:p>
            <a:r>
              <a:rPr dirty="0"/>
              <a:t>University of Southampton</a:t>
            </a:r>
            <a:endParaRPr lang="en-US" dirty="0"/>
          </a:p>
          <a:p>
            <a:r>
              <a:rPr lang="en-001" dirty="0"/>
              <a:t>2025-2026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F5C85-6D97-9BBC-E860-B33390751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FE2C8-D8FB-88DC-FA26-CA05FB759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0"/>
            <a:ext cx="8090980" cy="1143000"/>
          </a:xfrm>
        </p:spPr>
        <p:txBody>
          <a:bodyPr/>
          <a:lstStyle/>
          <a:p>
            <a:r>
              <a:rPr b="1" dirty="0">
                <a:solidFill>
                  <a:schemeClr val="tx2"/>
                </a:solidFill>
              </a:rPr>
              <a:t>Course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EC062-771F-46D9-6BBE-9899CDCD42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899" y="1325563"/>
            <a:ext cx="8090981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200" dirty="0"/>
          </a:p>
          <a:p>
            <a:r>
              <a:rPr sz="2200" dirty="0"/>
              <a:t>Lecture 1: Introduction to Formal Methods </a:t>
            </a:r>
          </a:p>
          <a:p>
            <a:r>
              <a:rPr sz="2200" dirty="0">
                <a:solidFill>
                  <a:schemeClr val="tx2"/>
                </a:solidFill>
              </a:rPr>
              <a:t>Lecture 2: Formal Specification Techniques </a:t>
            </a:r>
          </a:p>
          <a:p>
            <a:r>
              <a:rPr sz="2200" dirty="0"/>
              <a:t>Lecture 3: Mathematical Foundations </a:t>
            </a:r>
          </a:p>
          <a:p>
            <a:r>
              <a:rPr sz="2200" dirty="0"/>
              <a:t>Lecture 4: Formal Verification Methods </a:t>
            </a:r>
          </a:p>
          <a:p>
            <a:r>
              <a:rPr sz="2200" dirty="0"/>
              <a:t>Lecture 5: Tools and Applications </a:t>
            </a:r>
          </a:p>
        </p:txBody>
      </p:sp>
    </p:spTree>
    <p:extLst>
      <p:ext uri="{BB962C8B-B14F-4D97-AF65-F5344CB8AC3E}">
        <p14:creationId xmlns:p14="http://schemas.microsoft.com/office/powerpoint/2010/main" val="3370844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1F76250-E8D7-6B82-DD61-62A0671A8A75}"/>
              </a:ext>
            </a:extLst>
          </p:cNvPr>
          <p:cNvSpPr txBox="1"/>
          <p:nvPr/>
        </p:nvSpPr>
        <p:spPr>
          <a:xfrm>
            <a:off x="492939" y="1951672"/>
            <a:ext cx="793777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solidFill>
                  <a:schemeClr val="tx2"/>
                </a:solidFill>
              </a:rPr>
              <a:t>LECTURE 2: </a:t>
            </a:r>
          </a:p>
          <a:p>
            <a:pPr algn="ctr"/>
            <a:endParaRPr lang="en-US" sz="3000" b="1" dirty="0">
              <a:solidFill>
                <a:schemeClr val="tx2"/>
              </a:solidFill>
            </a:endParaRPr>
          </a:p>
          <a:p>
            <a:pPr algn="ctr"/>
            <a:r>
              <a:rPr lang="en-US" sz="3000" b="1" dirty="0">
                <a:solidFill>
                  <a:schemeClr val="tx2"/>
                </a:solidFill>
              </a:rPr>
              <a:t>FORMAL SPECIFICATION TECHNIQUES</a:t>
            </a:r>
          </a:p>
        </p:txBody>
      </p:sp>
      <p:pic>
        <p:nvPicPr>
          <p:cNvPr id="3" name="Picture 2" descr="A qr code with a few black squares&#10;&#10;AI-generated content may be incorrect.">
            <a:extLst>
              <a:ext uri="{FF2B5EF4-FFF2-40B4-BE49-F238E27FC236}">
                <a16:creationId xmlns:a16="http://schemas.microsoft.com/office/drawing/2014/main" id="{96DB18B7-87D8-04B2-6251-D6500EB27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832" y="3541889"/>
            <a:ext cx="2261983" cy="22788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FC89A7-87B9-D020-8764-D0AE32FB9FCE}"/>
              </a:ext>
            </a:extLst>
          </p:cNvPr>
          <p:cNvSpPr txBox="1"/>
          <p:nvPr/>
        </p:nvSpPr>
        <p:spPr>
          <a:xfrm>
            <a:off x="3900201" y="5820727"/>
            <a:ext cx="11232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001" sz="2400" dirty="0"/>
              <a:t>612352</a:t>
            </a:r>
          </a:p>
        </p:txBody>
      </p:sp>
    </p:spTree>
    <p:extLst>
      <p:ext uri="{BB962C8B-B14F-4D97-AF65-F5344CB8AC3E}">
        <p14:creationId xmlns:p14="http://schemas.microsoft.com/office/powerpoint/2010/main" val="687359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B789-4267-BB7C-7B2C-4083ABCDB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932" y="0"/>
            <a:ext cx="8632135" cy="1143000"/>
          </a:xfrm>
        </p:spPr>
        <p:txBody>
          <a:bodyPr/>
          <a:lstStyle/>
          <a:p>
            <a:r>
              <a:rPr lang="en-001" b="1" dirty="0">
                <a:solidFill>
                  <a:schemeClr val="tx2"/>
                </a:solidFill>
              </a:rPr>
              <a:t>Recap: Formal Methods (FM)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4D639-B5C0-64DE-04C0-F12DD56F1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058" y="1600201"/>
            <a:ext cx="8801101" cy="4525963"/>
          </a:xfrm>
        </p:spPr>
        <p:txBody>
          <a:bodyPr/>
          <a:lstStyle/>
          <a:p>
            <a:r>
              <a:rPr lang="en-001" b="1" dirty="0"/>
              <a:t>What is a Formal Method (</a:t>
            </a:r>
            <a:r>
              <a:rPr lang="en-001" sz="2800" b="1" dirty="0">
                <a:solidFill>
                  <a:schemeClr val="tx2"/>
                </a:solidFill>
              </a:rPr>
              <a:t>FM</a:t>
            </a:r>
            <a:r>
              <a:rPr lang="en-001" b="1" dirty="0"/>
              <a:t>): </a:t>
            </a:r>
          </a:p>
          <a:p>
            <a:pPr marL="0" indent="0">
              <a:buNone/>
            </a:pPr>
            <a:r>
              <a:rPr lang="en-001" dirty="0"/>
              <a:t>     mathematical techniques to specify and verify sw and hw systems </a:t>
            </a:r>
          </a:p>
          <a:p>
            <a:r>
              <a:rPr lang="en-001" b="1" dirty="0"/>
              <a:t>Why </a:t>
            </a:r>
            <a:r>
              <a:rPr lang="en-001" b="1" dirty="0">
                <a:solidFill>
                  <a:schemeClr val="tx2"/>
                </a:solidFill>
              </a:rPr>
              <a:t>FM</a:t>
            </a:r>
            <a:r>
              <a:rPr lang="en-001" b="1" dirty="0"/>
              <a:t>: </a:t>
            </a:r>
          </a:p>
          <a:p>
            <a:pPr marL="0" indent="0">
              <a:buNone/>
            </a:pPr>
            <a:r>
              <a:rPr lang="en-001" dirty="0"/>
              <a:t>    earlier bug detection</a:t>
            </a:r>
          </a:p>
          <a:p>
            <a:r>
              <a:rPr lang="en-001" b="1" dirty="0"/>
              <a:t>When</a:t>
            </a:r>
            <a:r>
              <a:rPr lang="en-001" b="1" dirty="0">
                <a:solidFill>
                  <a:schemeClr val="tx2"/>
                </a:solidFill>
              </a:rPr>
              <a:t> FM</a:t>
            </a:r>
            <a:r>
              <a:rPr lang="en-001" b="1" dirty="0"/>
              <a:t>: </a:t>
            </a:r>
          </a:p>
          <a:p>
            <a:pPr marL="0" indent="0">
              <a:buNone/>
            </a:pPr>
            <a:r>
              <a:rPr lang="en-001" dirty="0"/>
              <a:t>    Safety-critical and Security-critical Systems</a:t>
            </a:r>
          </a:p>
          <a:p>
            <a:r>
              <a:rPr lang="en-001" b="1" dirty="0"/>
              <a:t>Types of </a:t>
            </a:r>
            <a:r>
              <a:rPr lang="en-001" b="1" dirty="0">
                <a:solidFill>
                  <a:schemeClr val="tx2"/>
                </a:solidFill>
              </a:rPr>
              <a:t>FM</a:t>
            </a:r>
            <a:r>
              <a:rPr lang="en-001" b="1" dirty="0"/>
              <a:t>: </a:t>
            </a:r>
          </a:p>
          <a:p>
            <a:pPr marL="0" indent="0">
              <a:buNone/>
            </a:pPr>
            <a:r>
              <a:rPr lang="en-001" dirty="0"/>
              <a:t>     Z, B, Event-B, CPS, TLA, …</a:t>
            </a:r>
          </a:p>
          <a:p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3965401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628" y="0"/>
            <a:ext cx="8626002" cy="1143000"/>
          </a:xfrm>
        </p:spPr>
        <p:txBody>
          <a:bodyPr/>
          <a:lstStyle/>
          <a:p>
            <a:r>
              <a:rPr b="1" dirty="0">
                <a:solidFill>
                  <a:schemeClr val="tx2"/>
                </a:solidFill>
              </a:rPr>
              <a:t>Lecture 2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2628" y="1325563"/>
            <a:ext cx="8626002" cy="4525963"/>
          </a:xfrm>
        </p:spPr>
        <p:txBody>
          <a:bodyPr>
            <a:noAutofit/>
          </a:bodyPr>
          <a:lstStyle/>
          <a:p>
            <a:r>
              <a:rPr sz="2200" dirty="0"/>
              <a:t>Review &amp; Specification Fundamentals</a:t>
            </a:r>
          </a:p>
          <a:p>
            <a:r>
              <a:rPr sz="2200" dirty="0"/>
              <a:t>Event-B</a:t>
            </a:r>
            <a:r>
              <a:rPr lang="en-US" sz="2200" dirty="0"/>
              <a:t> Modelling</a:t>
            </a:r>
            <a:r>
              <a:rPr sz="2200" dirty="0"/>
              <a:t> </a:t>
            </a:r>
            <a:r>
              <a:rPr lang="en-US" sz="2200" dirty="0"/>
              <a:t>(Platform Screen Door Control System</a:t>
            </a:r>
            <a:r>
              <a:rPr sz="2200" dirty="0"/>
              <a:t>)</a:t>
            </a:r>
            <a:endParaRPr lang="en-US" sz="2200" dirty="0"/>
          </a:p>
          <a:p>
            <a:r>
              <a:rPr lang="en-001" sz="2200" dirty="0"/>
              <a:t>B, Z and CSP Review</a:t>
            </a:r>
            <a:endParaRPr sz="2200" dirty="0"/>
          </a:p>
          <a:p>
            <a:r>
              <a:rPr sz="2200" dirty="0"/>
              <a:t>Comparison &amp; Selection</a:t>
            </a:r>
          </a:p>
          <a:p>
            <a:endParaRPr sz="2200" dirty="0"/>
          </a:p>
          <a:p>
            <a:pPr marL="0" indent="0">
              <a:buNone/>
            </a:pPr>
            <a:r>
              <a:rPr sz="2200" b="1" dirty="0"/>
              <a:t>Learning Objectives:</a:t>
            </a:r>
          </a:p>
          <a:p>
            <a:endParaRPr sz="2200" dirty="0"/>
          </a:p>
          <a:p>
            <a:r>
              <a:rPr sz="2200" dirty="0"/>
              <a:t>Understand components of formal specifications</a:t>
            </a:r>
          </a:p>
          <a:p>
            <a:r>
              <a:rPr sz="2200" dirty="0"/>
              <a:t>Write </a:t>
            </a:r>
            <a:r>
              <a:rPr lang="en-US" sz="2200" dirty="0"/>
              <a:t>basic </a:t>
            </a:r>
            <a:r>
              <a:rPr sz="2200" dirty="0"/>
              <a:t>Event-B specifications</a:t>
            </a:r>
          </a:p>
          <a:p>
            <a:r>
              <a:rPr sz="2200" dirty="0"/>
              <a:t>Model systems using </a:t>
            </a:r>
            <a:r>
              <a:rPr lang="en-US" sz="2200" dirty="0"/>
              <a:t>Event-B </a:t>
            </a:r>
            <a:r>
              <a:rPr sz="2200" dirty="0"/>
              <a:t>refinement approach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956" y="0"/>
            <a:ext cx="8480088" cy="1143000"/>
          </a:xfrm>
        </p:spPr>
        <p:txBody>
          <a:bodyPr/>
          <a:lstStyle/>
          <a:p>
            <a:r>
              <a:rPr b="1" dirty="0">
                <a:solidFill>
                  <a:schemeClr val="tx2"/>
                </a:solidFill>
              </a:rPr>
              <a:t>Formal Specification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956" y="1325563"/>
            <a:ext cx="8672896" cy="45259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sz="2200" b="1" dirty="0">
                <a:solidFill>
                  <a:schemeClr val="tx2"/>
                </a:solidFill>
              </a:rPr>
              <a:t>What is a Formal Specification?</a:t>
            </a:r>
            <a:r>
              <a:rPr lang="en-US" sz="2200" b="1" dirty="0">
                <a:solidFill>
                  <a:schemeClr val="tx2"/>
                </a:solidFill>
              </a:rPr>
              <a:t> </a:t>
            </a:r>
            <a:r>
              <a:rPr sz="2200" dirty="0">
                <a:solidFill>
                  <a:schemeClr val="tx2"/>
                </a:solidFill>
              </a:rPr>
              <a:t>"A mathematical description of a system's intended behavior, expressed in precise mathematical notation."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2000" b="1" dirty="0"/>
              <a:t>Benefits:</a:t>
            </a:r>
          </a:p>
          <a:p>
            <a:pPr marL="0" indent="0">
              <a:buNone/>
            </a:pPr>
            <a:endParaRPr lang="en-US" sz="2000" b="1" dirty="0"/>
          </a:p>
          <a:p>
            <a:r>
              <a:rPr lang="en-US" sz="2000" b="1" dirty="0">
                <a:solidFill>
                  <a:schemeClr val="tx2"/>
                </a:solidFill>
              </a:rPr>
              <a:t>Precision</a:t>
            </a:r>
            <a:r>
              <a:rPr lang="en-US" sz="2000" dirty="0"/>
              <a:t>: Eliminate ambiguity in requirements</a:t>
            </a:r>
          </a:p>
          <a:p>
            <a:r>
              <a:rPr lang="en-US" sz="2000" dirty="0"/>
              <a:t>Early </a:t>
            </a:r>
            <a:r>
              <a:rPr lang="en-US" sz="2000" b="1" dirty="0">
                <a:solidFill>
                  <a:schemeClr val="tx2"/>
                </a:solidFill>
              </a:rPr>
              <a:t>Validation</a:t>
            </a:r>
            <a:r>
              <a:rPr lang="en-US" sz="2000" dirty="0"/>
              <a:t>: Stakeholder review before implementation</a:t>
            </a:r>
          </a:p>
          <a:p>
            <a:r>
              <a:rPr lang="en-US" sz="2000" b="1" dirty="0">
                <a:solidFill>
                  <a:schemeClr val="tx2"/>
                </a:solidFill>
              </a:rPr>
              <a:t>Verification</a:t>
            </a:r>
            <a:r>
              <a:rPr lang="en-US" sz="2000" dirty="0"/>
              <a:t> Basis: Foundation for mathematical proofs</a:t>
            </a:r>
          </a:p>
          <a:p>
            <a:r>
              <a:rPr lang="en-US" sz="2000" dirty="0"/>
              <a:t>Test Generation: Automated test case generation</a:t>
            </a:r>
          </a:p>
          <a:p>
            <a:r>
              <a:rPr lang="en-US" sz="2000" b="1" dirty="0">
                <a:solidFill>
                  <a:schemeClr val="tx2"/>
                </a:solidFill>
              </a:rPr>
              <a:t>Refinement</a:t>
            </a:r>
            <a:r>
              <a:rPr lang="en-US" sz="2000" dirty="0"/>
              <a:t>: Gradual development from abstract to concrete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6C76A-DFCC-0D23-984D-E95314510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07234-C6F1-7E40-C2B0-2473BA12E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956" y="0"/>
            <a:ext cx="8480088" cy="1143000"/>
          </a:xfrm>
        </p:spPr>
        <p:txBody>
          <a:bodyPr/>
          <a:lstStyle/>
          <a:p>
            <a:r>
              <a:rPr b="1" dirty="0">
                <a:solidFill>
                  <a:schemeClr val="tx2"/>
                </a:solidFill>
              </a:rPr>
              <a:t>Formal Specification Fundamentals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D5F4F-A0E7-ECB8-2302-24695AD4C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955" y="1325563"/>
            <a:ext cx="8712653" cy="45259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sz="2200" b="1" dirty="0">
                <a:solidFill>
                  <a:schemeClr val="tx2"/>
                </a:solidFill>
              </a:rPr>
              <a:t>What is a Formal Specification?</a:t>
            </a:r>
            <a:r>
              <a:rPr lang="en-US" sz="2200" b="1" dirty="0">
                <a:solidFill>
                  <a:schemeClr val="tx2"/>
                </a:solidFill>
              </a:rPr>
              <a:t> </a:t>
            </a:r>
            <a:r>
              <a:rPr sz="2200" dirty="0">
                <a:solidFill>
                  <a:schemeClr val="tx2"/>
                </a:solidFill>
              </a:rPr>
              <a:t>"A mathematical description of a system's intended behavior, expressed in precise mathematical notation."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r>
              <a:rPr sz="2000" b="1" dirty="0"/>
              <a:t>Core Components:</a:t>
            </a:r>
            <a:endParaRPr lang="en-US" sz="2000" b="1" dirty="0"/>
          </a:p>
          <a:p>
            <a:pPr marL="0" indent="0">
              <a:buNone/>
            </a:pPr>
            <a:endParaRPr sz="2000" b="1" dirty="0"/>
          </a:p>
          <a:p>
            <a:r>
              <a:rPr sz="2000" b="1" dirty="0">
                <a:solidFill>
                  <a:schemeClr val="tx2"/>
                </a:solidFill>
              </a:rPr>
              <a:t>State Space</a:t>
            </a:r>
            <a:r>
              <a:rPr sz="2000" dirty="0"/>
              <a:t>: Define all possible system states</a:t>
            </a:r>
          </a:p>
          <a:p>
            <a:r>
              <a:rPr sz="2000" b="1" dirty="0">
                <a:solidFill>
                  <a:schemeClr val="tx2"/>
                </a:solidFill>
              </a:rPr>
              <a:t>Operations</a:t>
            </a:r>
            <a:r>
              <a:rPr sz="2000" dirty="0"/>
              <a:t>: Define how state changes</a:t>
            </a:r>
          </a:p>
          <a:p>
            <a:r>
              <a:rPr sz="2000" b="1" dirty="0">
                <a:solidFill>
                  <a:schemeClr val="tx2"/>
                </a:solidFill>
              </a:rPr>
              <a:t>Invariants</a:t>
            </a:r>
            <a:r>
              <a:rPr sz="2000" dirty="0"/>
              <a:t>: Properties that always hold</a:t>
            </a:r>
          </a:p>
          <a:p>
            <a:r>
              <a:rPr sz="2000" b="1" dirty="0">
                <a:solidFill>
                  <a:schemeClr val="tx2"/>
                </a:solidFill>
              </a:rPr>
              <a:t>Pre/Post-conditions</a:t>
            </a:r>
            <a:r>
              <a:rPr sz="2000" dirty="0"/>
              <a:t>: Operation constraints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646647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899" y="0"/>
            <a:ext cx="8606547" cy="1143000"/>
          </a:xfrm>
        </p:spPr>
        <p:txBody>
          <a:bodyPr/>
          <a:lstStyle/>
          <a:p>
            <a:r>
              <a:rPr b="1" dirty="0">
                <a:solidFill>
                  <a:schemeClr val="tx2"/>
                </a:solidFill>
              </a:rPr>
              <a:t>Z Notation</a:t>
            </a:r>
            <a:r>
              <a:rPr lang="en-US" b="1" dirty="0">
                <a:solidFill>
                  <a:schemeClr val="tx2"/>
                </a:solidFill>
              </a:rPr>
              <a:t> Overview</a:t>
            </a:r>
            <a:endParaRPr b="1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899" y="1325563"/>
            <a:ext cx="8606547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800" b="1" dirty="0"/>
              <a:t>What is Z Notation?</a:t>
            </a:r>
          </a:p>
          <a:p>
            <a:r>
              <a:rPr sz="1800" dirty="0"/>
              <a:t>Developed: Oxford University, 1980s</a:t>
            </a:r>
          </a:p>
          <a:p>
            <a:r>
              <a:rPr sz="1800" dirty="0"/>
              <a:t>Foundation: Set theory and first-order predicate logic</a:t>
            </a:r>
          </a:p>
          <a:p>
            <a:r>
              <a:rPr sz="1800" dirty="0"/>
              <a:t>Strength: Rich mathematical notation, data-intensive systems</a:t>
            </a:r>
          </a:p>
          <a:p>
            <a:endParaRPr sz="1800" dirty="0"/>
          </a:p>
          <a:p>
            <a:pPr marL="0" indent="0">
              <a:buNone/>
            </a:pPr>
            <a:r>
              <a:rPr sz="1800" b="1" dirty="0"/>
              <a:t>Basic Z Elements:</a:t>
            </a:r>
          </a:p>
          <a:p>
            <a:r>
              <a:rPr sz="1800" dirty="0"/>
              <a:t>Set membership: x ∈ S</a:t>
            </a:r>
          </a:p>
          <a:p>
            <a:r>
              <a:rPr sz="1800" dirty="0"/>
              <a:t>Power set: </a:t>
            </a:r>
            <a:r>
              <a:rPr sz="1800" dirty="0" err="1"/>
              <a:t>ℙ</a:t>
            </a:r>
            <a:r>
              <a:rPr sz="1800" dirty="0"/>
              <a:t> S</a:t>
            </a:r>
          </a:p>
          <a:p>
            <a:r>
              <a:rPr sz="1800" dirty="0"/>
              <a:t>Cartesian product: A × B</a:t>
            </a:r>
          </a:p>
          <a:p>
            <a:r>
              <a:rPr sz="1800" dirty="0"/>
              <a:t>Relation: A ↔ B</a:t>
            </a:r>
          </a:p>
          <a:p>
            <a:r>
              <a:rPr sz="1800" dirty="0"/>
              <a:t>Function: A → B</a:t>
            </a:r>
          </a:p>
          <a:p>
            <a:pPr marL="0" indent="0">
              <a:buNone/>
            </a:pPr>
            <a:endParaRPr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1972B3-2AC8-9498-FFDF-3FCC185D0005}"/>
              </a:ext>
            </a:extLst>
          </p:cNvPr>
          <p:cNvSpPr txBox="1"/>
          <p:nvPr/>
        </p:nvSpPr>
        <p:spPr>
          <a:xfrm>
            <a:off x="2692764" y="5532437"/>
            <a:ext cx="602808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rgbClr val="003399"/>
                </a:solidFill>
                <a:latin typeface="Consolas"/>
              </a:rPr>
              <a:t>SchemaName</a:t>
            </a:r>
            <a:endParaRPr lang="en-US" sz="1800" b="1" dirty="0">
              <a:solidFill>
                <a:srgbClr val="003399"/>
              </a:solidFill>
              <a:latin typeface="Consolas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/>
              </a:rPr>
              <a:t>  declarations   </a:t>
            </a:r>
            <a:r>
              <a:rPr lang="en-US" sz="1800" i="1" dirty="0">
                <a:solidFill>
                  <a:srgbClr val="646464"/>
                </a:solidFill>
                <a:latin typeface="Consolas"/>
              </a:rPr>
              <a:t>-- variable declarations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/>
              </a:rPr>
              <a:t>  predicates     </a:t>
            </a:r>
            <a:r>
              <a:rPr lang="en-US" sz="1800" i="1" dirty="0">
                <a:solidFill>
                  <a:srgbClr val="646464"/>
                </a:solidFill>
                <a:latin typeface="Consolas"/>
              </a:rPr>
              <a:t>-- constraints and properties</a:t>
            </a:r>
          </a:p>
        </p:txBody>
      </p:sp>
    </p:spTree>
    <p:extLst>
      <p:ext uri="{BB962C8B-B14F-4D97-AF65-F5344CB8AC3E}">
        <p14:creationId xmlns:p14="http://schemas.microsoft.com/office/powerpoint/2010/main" val="1599854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375" y="0"/>
            <a:ext cx="8267700" cy="1143000"/>
          </a:xfrm>
        </p:spPr>
        <p:txBody>
          <a:bodyPr>
            <a:normAutofit/>
          </a:bodyPr>
          <a:lstStyle/>
          <a:p>
            <a:r>
              <a:rPr b="1" dirty="0">
                <a:solidFill>
                  <a:schemeClr val="tx2"/>
                </a:solidFill>
              </a:rPr>
              <a:t>Communicating Sequential Processes</a:t>
            </a:r>
            <a:br>
              <a:rPr lang="en-US" b="1" dirty="0">
                <a:solidFill>
                  <a:schemeClr val="tx2"/>
                </a:solidFill>
              </a:rPr>
            </a:br>
            <a:r>
              <a:rPr lang="en-001" b="1" dirty="0">
                <a:solidFill>
                  <a:schemeClr val="tx2"/>
                </a:solidFill>
              </a:rPr>
              <a:t>CPS Overview</a:t>
            </a:r>
            <a:endParaRPr b="1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375" y="1325564"/>
            <a:ext cx="8267700" cy="194151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800" b="1" dirty="0"/>
              <a:t>What is CSP?</a:t>
            </a:r>
          </a:p>
          <a:p>
            <a:r>
              <a:rPr sz="1800" dirty="0"/>
              <a:t>Developed: Tony Hoare (197</a:t>
            </a:r>
            <a:r>
              <a:rPr lang="en-US" sz="1800" dirty="0"/>
              <a:t>0</a:t>
            </a:r>
            <a:r>
              <a:rPr sz="1800" dirty="0"/>
              <a:t>,</a:t>
            </a:r>
            <a:r>
              <a:rPr lang="en-US" sz="1800" dirty="0"/>
              <a:t>-</a:t>
            </a:r>
            <a:r>
              <a:rPr sz="1800" dirty="0"/>
              <a:t>198</a:t>
            </a:r>
            <a:r>
              <a:rPr lang="en-US" sz="1800" dirty="0"/>
              <a:t>0</a:t>
            </a:r>
            <a:r>
              <a:rPr sz="1800" dirty="0"/>
              <a:t>)</a:t>
            </a:r>
          </a:p>
          <a:p>
            <a:r>
              <a:rPr sz="1800" dirty="0"/>
              <a:t>Focus: Concurrent systems and communication patterns</a:t>
            </a:r>
          </a:p>
          <a:p>
            <a:r>
              <a:rPr sz="1800" dirty="0"/>
              <a:t>Philosophy: "Processes communicate through synchronized events"</a:t>
            </a:r>
          </a:p>
          <a:p>
            <a:r>
              <a:rPr sz="1800" dirty="0"/>
              <a:t>Applications: Distributed systems, protocols, hardware design</a:t>
            </a:r>
          </a:p>
          <a:p>
            <a:endParaRPr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34DEB6-62D8-D4CA-6D62-AA20987AEE6F}"/>
              </a:ext>
            </a:extLst>
          </p:cNvPr>
          <p:cNvSpPr txBox="1"/>
          <p:nvPr/>
        </p:nvSpPr>
        <p:spPr>
          <a:xfrm>
            <a:off x="862137" y="3590926"/>
            <a:ext cx="7419726" cy="181596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lIns="0" tIns="0" rIns="0" bIns="0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111827"/>
                </a:solidFill>
                <a:latin typeface="Consolas"/>
              </a:rPr>
              <a:t> 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111827"/>
                </a:solidFill>
                <a:latin typeface="Consolas"/>
              </a:rPr>
              <a:t>   </a:t>
            </a:r>
            <a:r>
              <a:rPr dirty="0">
                <a:solidFill>
                  <a:srgbClr val="111827"/>
                </a:solidFill>
                <a:latin typeface="Consolas"/>
              </a:rPr>
              <a:t>Prefix: a </a:t>
            </a:r>
            <a:r>
              <a:rPr dirty="0">
                <a:solidFill>
                  <a:srgbClr val="7C3AED"/>
                </a:solidFill>
                <a:latin typeface="Cambria Math"/>
              </a:rPr>
              <a:t>→</a:t>
            </a:r>
            <a:r>
              <a:rPr dirty="0">
                <a:solidFill>
                  <a:srgbClr val="111827"/>
                </a:solidFill>
                <a:latin typeface="Consolas"/>
              </a:rPr>
              <a:t> </a:t>
            </a:r>
            <a:r>
              <a:rPr dirty="0">
                <a:solidFill>
                  <a:srgbClr val="059669"/>
                </a:solidFill>
                <a:latin typeface="Consolas"/>
              </a:rPr>
              <a:t>P</a:t>
            </a:r>
            <a:r>
              <a:rPr dirty="0">
                <a:solidFill>
                  <a:srgbClr val="111827"/>
                </a:solidFill>
                <a:latin typeface="Consolas"/>
              </a:rPr>
              <a:t> </a:t>
            </a:r>
            <a:r>
              <a:rPr dirty="0">
                <a:solidFill>
                  <a:srgbClr val="7C3AED"/>
                </a:solidFill>
                <a:latin typeface="Cambria Math"/>
              </a:rPr>
              <a:t>(</a:t>
            </a:r>
            <a:r>
              <a:rPr dirty="0">
                <a:solidFill>
                  <a:srgbClr val="111827"/>
                </a:solidFill>
                <a:latin typeface="Consolas"/>
              </a:rPr>
              <a:t>Do event a</a:t>
            </a:r>
            <a:r>
              <a:rPr dirty="0">
                <a:solidFill>
                  <a:srgbClr val="7C3AED"/>
                </a:solidFill>
                <a:latin typeface="Cambria Math"/>
              </a:rPr>
              <a:t>,</a:t>
            </a:r>
            <a:r>
              <a:rPr dirty="0">
                <a:solidFill>
                  <a:srgbClr val="111827"/>
                </a:solidFill>
                <a:latin typeface="Consolas"/>
              </a:rPr>
              <a:t> then behave as </a:t>
            </a:r>
            <a:r>
              <a:rPr dirty="0">
                <a:solidFill>
                  <a:srgbClr val="059669"/>
                </a:solidFill>
                <a:latin typeface="Consolas"/>
              </a:rPr>
              <a:t>P</a:t>
            </a:r>
            <a:r>
              <a:rPr dirty="0">
                <a:solidFill>
                  <a:srgbClr val="7C3AED"/>
                </a:solidFill>
                <a:latin typeface="Cambria Math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111827"/>
                </a:solidFill>
                <a:latin typeface="Consolas"/>
              </a:rPr>
              <a:t>   </a:t>
            </a:r>
            <a:r>
              <a:rPr dirty="0">
                <a:solidFill>
                  <a:srgbClr val="111827"/>
                </a:solidFill>
                <a:latin typeface="Consolas"/>
              </a:rPr>
              <a:t>Choice: </a:t>
            </a:r>
            <a:r>
              <a:rPr dirty="0">
                <a:solidFill>
                  <a:srgbClr val="059669"/>
                </a:solidFill>
                <a:latin typeface="Consolas"/>
              </a:rPr>
              <a:t>P</a:t>
            </a:r>
            <a:r>
              <a:rPr dirty="0">
                <a:solidFill>
                  <a:srgbClr val="111827"/>
                </a:solidFill>
                <a:latin typeface="Consolas"/>
              </a:rPr>
              <a:t> </a:t>
            </a:r>
            <a:r>
              <a:rPr dirty="0">
                <a:solidFill>
                  <a:srgbClr val="7C3AED"/>
                </a:solidFill>
                <a:latin typeface="Cambria Math"/>
              </a:rPr>
              <a:t>□</a:t>
            </a:r>
            <a:r>
              <a:rPr dirty="0">
                <a:solidFill>
                  <a:srgbClr val="111827"/>
                </a:solidFill>
                <a:latin typeface="Consolas"/>
              </a:rPr>
              <a:t> </a:t>
            </a:r>
            <a:r>
              <a:rPr dirty="0">
                <a:solidFill>
                  <a:srgbClr val="059669"/>
                </a:solidFill>
                <a:latin typeface="Consolas"/>
              </a:rPr>
              <a:t>Q</a:t>
            </a:r>
            <a:r>
              <a:rPr dirty="0">
                <a:solidFill>
                  <a:srgbClr val="111827"/>
                </a:solidFill>
                <a:latin typeface="Consolas"/>
              </a:rPr>
              <a:t> </a:t>
            </a:r>
            <a:r>
              <a:rPr dirty="0">
                <a:solidFill>
                  <a:srgbClr val="7C3AED"/>
                </a:solidFill>
                <a:latin typeface="Cambria Math"/>
              </a:rPr>
              <a:t>(</a:t>
            </a:r>
            <a:r>
              <a:rPr dirty="0">
                <a:solidFill>
                  <a:srgbClr val="111827"/>
                </a:solidFill>
                <a:latin typeface="Consolas"/>
              </a:rPr>
              <a:t>External choice between </a:t>
            </a:r>
            <a:r>
              <a:rPr dirty="0">
                <a:solidFill>
                  <a:srgbClr val="059669"/>
                </a:solidFill>
                <a:latin typeface="Consolas"/>
              </a:rPr>
              <a:t>P</a:t>
            </a:r>
            <a:r>
              <a:rPr dirty="0">
                <a:solidFill>
                  <a:srgbClr val="111827"/>
                </a:solidFill>
                <a:latin typeface="Consolas"/>
              </a:rPr>
              <a:t> and </a:t>
            </a:r>
            <a:r>
              <a:rPr dirty="0">
                <a:solidFill>
                  <a:srgbClr val="059669"/>
                </a:solidFill>
                <a:latin typeface="Consolas"/>
              </a:rPr>
              <a:t>Q</a:t>
            </a:r>
            <a:r>
              <a:rPr dirty="0">
                <a:solidFill>
                  <a:srgbClr val="7C3AED"/>
                </a:solidFill>
                <a:latin typeface="Cambria Math"/>
              </a:rPr>
              <a:t>)</a:t>
            </a:r>
            <a:endParaRPr lang="en-US" dirty="0">
              <a:solidFill>
                <a:srgbClr val="7C3AED"/>
              </a:solidFill>
              <a:latin typeface="Cambria Math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7C3AED"/>
                </a:solidFill>
                <a:latin typeface="Cambria Math"/>
              </a:rPr>
              <a:t>       </a:t>
            </a:r>
            <a:r>
              <a:rPr dirty="0">
                <a:solidFill>
                  <a:srgbClr val="111827"/>
                </a:solidFill>
                <a:latin typeface="Consolas"/>
              </a:rPr>
              <a:t>Sequential: </a:t>
            </a:r>
            <a:r>
              <a:rPr dirty="0">
                <a:solidFill>
                  <a:srgbClr val="059669"/>
                </a:solidFill>
                <a:latin typeface="Consolas"/>
              </a:rPr>
              <a:t>P</a:t>
            </a:r>
            <a:r>
              <a:rPr dirty="0">
                <a:solidFill>
                  <a:srgbClr val="111827"/>
                </a:solidFill>
                <a:latin typeface="Consolas"/>
              </a:rPr>
              <a:t> </a:t>
            </a:r>
            <a:r>
              <a:rPr dirty="0">
                <a:solidFill>
                  <a:srgbClr val="7C3AED"/>
                </a:solidFill>
                <a:latin typeface="Cambria Math"/>
              </a:rPr>
              <a:t>;</a:t>
            </a:r>
            <a:r>
              <a:rPr dirty="0">
                <a:solidFill>
                  <a:srgbClr val="111827"/>
                </a:solidFill>
                <a:latin typeface="Consolas"/>
              </a:rPr>
              <a:t> </a:t>
            </a:r>
            <a:r>
              <a:rPr dirty="0">
                <a:solidFill>
                  <a:srgbClr val="059669"/>
                </a:solidFill>
                <a:latin typeface="Consolas"/>
              </a:rPr>
              <a:t>Q</a:t>
            </a:r>
            <a:r>
              <a:rPr dirty="0">
                <a:solidFill>
                  <a:srgbClr val="111827"/>
                </a:solidFill>
                <a:latin typeface="Consolas"/>
              </a:rPr>
              <a:t> </a:t>
            </a:r>
            <a:r>
              <a:rPr dirty="0">
                <a:solidFill>
                  <a:srgbClr val="7C3AED"/>
                </a:solidFill>
                <a:latin typeface="Cambria Math"/>
              </a:rPr>
              <a:t>(</a:t>
            </a:r>
            <a:r>
              <a:rPr dirty="0">
                <a:solidFill>
                  <a:srgbClr val="111827"/>
                </a:solidFill>
                <a:latin typeface="Consolas"/>
              </a:rPr>
              <a:t>Do </a:t>
            </a:r>
            <a:r>
              <a:rPr dirty="0">
                <a:solidFill>
                  <a:srgbClr val="059669"/>
                </a:solidFill>
                <a:latin typeface="Consolas"/>
              </a:rPr>
              <a:t>P</a:t>
            </a:r>
            <a:r>
              <a:rPr dirty="0">
                <a:solidFill>
                  <a:srgbClr val="111827"/>
                </a:solidFill>
                <a:latin typeface="Consolas"/>
              </a:rPr>
              <a:t> then </a:t>
            </a:r>
            <a:r>
              <a:rPr dirty="0">
                <a:solidFill>
                  <a:srgbClr val="059669"/>
                </a:solidFill>
                <a:latin typeface="Consolas"/>
              </a:rPr>
              <a:t>Q</a:t>
            </a:r>
            <a:r>
              <a:rPr dirty="0">
                <a:solidFill>
                  <a:srgbClr val="7C3AED"/>
                </a:solidFill>
                <a:latin typeface="Cambria Math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111827"/>
                </a:solidFill>
                <a:latin typeface="Consolas"/>
              </a:rPr>
              <a:t>   </a:t>
            </a:r>
            <a:r>
              <a:rPr dirty="0">
                <a:solidFill>
                  <a:srgbClr val="111827"/>
                </a:solidFill>
                <a:latin typeface="Consolas"/>
              </a:rPr>
              <a:t>Parallel: </a:t>
            </a:r>
            <a:r>
              <a:rPr dirty="0">
                <a:solidFill>
                  <a:srgbClr val="059669"/>
                </a:solidFill>
                <a:latin typeface="Consolas"/>
              </a:rPr>
              <a:t>P</a:t>
            </a:r>
            <a:r>
              <a:rPr dirty="0">
                <a:solidFill>
                  <a:srgbClr val="111827"/>
                </a:solidFill>
                <a:latin typeface="Consolas"/>
              </a:rPr>
              <a:t> </a:t>
            </a:r>
            <a:r>
              <a:rPr dirty="0">
                <a:solidFill>
                  <a:srgbClr val="7C3AED"/>
                </a:solidFill>
                <a:latin typeface="Cambria Math"/>
              </a:rPr>
              <a:t>||</a:t>
            </a:r>
            <a:r>
              <a:rPr dirty="0">
                <a:solidFill>
                  <a:srgbClr val="111827"/>
                </a:solidFill>
                <a:latin typeface="Consolas"/>
              </a:rPr>
              <a:t> </a:t>
            </a:r>
            <a:r>
              <a:rPr dirty="0">
                <a:solidFill>
                  <a:srgbClr val="059669"/>
                </a:solidFill>
                <a:latin typeface="Consolas"/>
              </a:rPr>
              <a:t>Q</a:t>
            </a:r>
            <a:r>
              <a:rPr dirty="0">
                <a:solidFill>
                  <a:srgbClr val="111827"/>
                </a:solidFill>
                <a:latin typeface="Consolas"/>
              </a:rPr>
              <a:t> </a:t>
            </a:r>
            <a:r>
              <a:rPr dirty="0">
                <a:solidFill>
                  <a:srgbClr val="7C3AED"/>
                </a:solidFill>
                <a:latin typeface="Cambria Math"/>
              </a:rPr>
              <a:t>(</a:t>
            </a:r>
            <a:r>
              <a:rPr dirty="0">
                <a:solidFill>
                  <a:srgbClr val="059669"/>
                </a:solidFill>
                <a:latin typeface="Consolas"/>
              </a:rPr>
              <a:t>P</a:t>
            </a:r>
            <a:r>
              <a:rPr dirty="0">
                <a:solidFill>
                  <a:srgbClr val="111827"/>
                </a:solidFill>
                <a:latin typeface="Consolas"/>
              </a:rPr>
              <a:t> and </a:t>
            </a:r>
            <a:r>
              <a:rPr dirty="0">
                <a:solidFill>
                  <a:srgbClr val="059669"/>
                </a:solidFill>
                <a:latin typeface="Consolas"/>
              </a:rPr>
              <a:t>Q</a:t>
            </a:r>
            <a:r>
              <a:rPr dirty="0">
                <a:solidFill>
                  <a:srgbClr val="111827"/>
                </a:solidFill>
                <a:latin typeface="Consolas"/>
              </a:rPr>
              <a:t> synchronize on common events</a:t>
            </a:r>
            <a:r>
              <a:rPr dirty="0">
                <a:solidFill>
                  <a:srgbClr val="7C3AED"/>
                </a:solidFill>
                <a:latin typeface="Cambria Math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111827"/>
                </a:solidFill>
                <a:latin typeface="Consolas"/>
              </a:rPr>
              <a:t>   </a:t>
            </a:r>
            <a:r>
              <a:rPr dirty="0">
                <a:solidFill>
                  <a:srgbClr val="111827"/>
                </a:solidFill>
                <a:latin typeface="Consolas"/>
              </a:rPr>
              <a:t>Interleaving: </a:t>
            </a:r>
            <a:r>
              <a:rPr dirty="0">
                <a:solidFill>
                  <a:srgbClr val="059669"/>
                </a:solidFill>
                <a:latin typeface="Consolas"/>
              </a:rPr>
              <a:t>P</a:t>
            </a:r>
            <a:r>
              <a:rPr dirty="0">
                <a:solidFill>
                  <a:srgbClr val="111827"/>
                </a:solidFill>
                <a:latin typeface="Consolas"/>
              </a:rPr>
              <a:t> </a:t>
            </a:r>
            <a:r>
              <a:rPr dirty="0">
                <a:solidFill>
                  <a:srgbClr val="7C3AED"/>
                </a:solidFill>
                <a:latin typeface="Cambria Math"/>
              </a:rPr>
              <a:t>|||</a:t>
            </a:r>
            <a:r>
              <a:rPr dirty="0">
                <a:solidFill>
                  <a:srgbClr val="111827"/>
                </a:solidFill>
                <a:latin typeface="Consolas"/>
              </a:rPr>
              <a:t> </a:t>
            </a:r>
            <a:r>
              <a:rPr dirty="0">
                <a:solidFill>
                  <a:srgbClr val="059669"/>
                </a:solidFill>
                <a:latin typeface="Consolas"/>
              </a:rPr>
              <a:t>Q</a:t>
            </a:r>
            <a:r>
              <a:rPr dirty="0">
                <a:solidFill>
                  <a:srgbClr val="111827"/>
                </a:solidFill>
                <a:latin typeface="Consolas"/>
              </a:rPr>
              <a:t> </a:t>
            </a:r>
            <a:r>
              <a:rPr dirty="0">
                <a:solidFill>
                  <a:srgbClr val="7C3AED"/>
                </a:solidFill>
                <a:latin typeface="Cambria Math"/>
              </a:rPr>
              <a:t>(</a:t>
            </a:r>
            <a:r>
              <a:rPr dirty="0">
                <a:solidFill>
                  <a:srgbClr val="059669"/>
                </a:solidFill>
                <a:latin typeface="Consolas"/>
              </a:rPr>
              <a:t>P</a:t>
            </a:r>
            <a:r>
              <a:rPr dirty="0">
                <a:solidFill>
                  <a:srgbClr val="111827"/>
                </a:solidFill>
                <a:latin typeface="Consolas"/>
              </a:rPr>
              <a:t> and </a:t>
            </a:r>
            <a:r>
              <a:rPr dirty="0">
                <a:solidFill>
                  <a:srgbClr val="059669"/>
                </a:solidFill>
                <a:latin typeface="Consolas"/>
              </a:rPr>
              <a:t>Q</a:t>
            </a:r>
            <a:r>
              <a:rPr dirty="0">
                <a:solidFill>
                  <a:srgbClr val="111827"/>
                </a:solidFill>
                <a:latin typeface="Consolas"/>
              </a:rPr>
              <a:t> run independently</a:t>
            </a:r>
            <a:r>
              <a:rPr dirty="0">
                <a:solidFill>
                  <a:srgbClr val="7C3AED"/>
                </a:solidFill>
                <a:latin typeface="Cambria Math"/>
              </a:rPr>
              <a:t>)</a:t>
            </a:r>
            <a:r>
              <a:rPr lang="en-US" dirty="0">
                <a:solidFill>
                  <a:srgbClr val="7C3AED"/>
                </a:solidFill>
                <a:latin typeface="Cambria Math"/>
              </a:rPr>
              <a:t>.    </a:t>
            </a:r>
            <a:endParaRPr dirty="0">
              <a:solidFill>
                <a:srgbClr val="7C3AED"/>
              </a:solidFill>
              <a:latin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2170409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650" y="74613"/>
            <a:ext cx="8648700" cy="1143000"/>
          </a:xfrm>
        </p:spPr>
        <p:txBody>
          <a:bodyPr/>
          <a:lstStyle/>
          <a:p>
            <a:r>
              <a:rPr b="1" dirty="0">
                <a:solidFill>
                  <a:schemeClr val="tx2"/>
                </a:solidFill>
              </a:rPr>
              <a:t>B Method</a:t>
            </a:r>
            <a:r>
              <a:rPr lang="en-US" b="1" dirty="0">
                <a:solidFill>
                  <a:schemeClr val="tx2"/>
                </a:solidFill>
              </a:rPr>
              <a:t> Overview</a:t>
            </a:r>
            <a:endParaRPr b="1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7650" y="1400176"/>
            <a:ext cx="86487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800" b="1" dirty="0"/>
              <a:t>What is the B Method?</a:t>
            </a:r>
          </a:p>
          <a:p>
            <a:r>
              <a:rPr sz="1800" dirty="0"/>
              <a:t>Developed: Jean-Raymond Abrial (1980s-1990s)</a:t>
            </a:r>
          </a:p>
          <a:p>
            <a:r>
              <a:rPr sz="1800" dirty="0"/>
              <a:t>Foundation: </a:t>
            </a:r>
            <a:r>
              <a:rPr sz="1800" b="1" dirty="0">
                <a:solidFill>
                  <a:schemeClr val="tx2"/>
                </a:solidFill>
              </a:rPr>
              <a:t>Set theory, predicate logic, refinement</a:t>
            </a:r>
          </a:p>
          <a:p>
            <a:r>
              <a:rPr sz="1800" dirty="0"/>
              <a:t>Key Feature: </a:t>
            </a:r>
            <a:r>
              <a:rPr sz="1800" b="1" dirty="0">
                <a:solidFill>
                  <a:schemeClr val="tx2"/>
                </a:solidFill>
              </a:rPr>
              <a:t>Stepwise refinement from abstract to concrete</a:t>
            </a:r>
          </a:p>
          <a:p>
            <a:r>
              <a:rPr sz="1800" dirty="0"/>
              <a:t>Tools: </a:t>
            </a:r>
            <a:r>
              <a:rPr sz="1800" dirty="0" err="1"/>
              <a:t>AtelierB</a:t>
            </a:r>
            <a:r>
              <a:rPr sz="1800" dirty="0"/>
              <a:t>, </a:t>
            </a:r>
            <a:r>
              <a:rPr sz="1800" dirty="0" err="1"/>
              <a:t>ProB</a:t>
            </a:r>
            <a:endParaRPr sz="1800" dirty="0"/>
          </a:p>
          <a:p>
            <a:endParaRPr sz="1800" dirty="0"/>
          </a:p>
          <a:p>
            <a:pPr marL="0" indent="0">
              <a:buNone/>
            </a:pPr>
            <a:r>
              <a:rPr sz="1800" b="1" dirty="0"/>
              <a:t>B Method Philosophy:</a:t>
            </a:r>
          </a:p>
          <a:p>
            <a:r>
              <a:rPr sz="1800" b="1" dirty="0">
                <a:solidFill>
                  <a:schemeClr val="tx2"/>
                </a:solidFill>
              </a:rPr>
              <a:t>Abstract</a:t>
            </a:r>
            <a:r>
              <a:rPr sz="1800" dirty="0"/>
              <a:t> Specification: High-level system behavior</a:t>
            </a:r>
          </a:p>
          <a:p>
            <a:r>
              <a:rPr sz="1800" b="1" dirty="0">
                <a:solidFill>
                  <a:schemeClr val="tx2"/>
                </a:solidFill>
              </a:rPr>
              <a:t>Refinement</a:t>
            </a:r>
            <a:r>
              <a:rPr sz="1800" dirty="0"/>
              <a:t> Steps: Gradual introduction of implementation details</a:t>
            </a:r>
          </a:p>
          <a:p>
            <a:r>
              <a:rPr sz="1800" b="1" dirty="0">
                <a:solidFill>
                  <a:schemeClr val="tx2"/>
                </a:solidFill>
              </a:rPr>
              <a:t>Proof Obligations</a:t>
            </a:r>
            <a:r>
              <a:rPr sz="1800" dirty="0"/>
              <a:t>: Mathematical verification at each step</a:t>
            </a:r>
          </a:p>
          <a:p>
            <a:r>
              <a:rPr sz="1800" dirty="0"/>
              <a:t>Code Generation: Automatic generation from final refinement</a:t>
            </a:r>
            <a:endParaRPr lang="en-US" sz="1800" dirty="0"/>
          </a:p>
          <a:p>
            <a:endParaRPr lang="en-001" sz="1800" dirty="0"/>
          </a:p>
          <a:p>
            <a:pPr marL="0" indent="0">
              <a:buNone/>
            </a:pPr>
            <a:endParaRPr sz="1800" dirty="0"/>
          </a:p>
          <a:p>
            <a:endParaRPr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458200" cy="1143000"/>
          </a:xfrm>
        </p:spPr>
        <p:txBody>
          <a:bodyPr/>
          <a:lstStyle/>
          <a:p>
            <a:r>
              <a:rPr b="1" dirty="0">
                <a:solidFill>
                  <a:schemeClr val="tx2"/>
                </a:solidFill>
              </a:rPr>
              <a:t>Event-B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09701"/>
            <a:ext cx="84582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800" b="1" dirty="0"/>
              <a:t>What is Event-B?</a:t>
            </a:r>
          </a:p>
          <a:p>
            <a:r>
              <a:rPr sz="1800" dirty="0"/>
              <a:t>Evolution: Modern version of B Method (2000s)</a:t>
            </a:r>
          </a:p>
          <a:p>
            <a:r>
              <a:rPr sz="1800" dirty="0"/>
              <a:t>Creator: Jean-Raymond Abrial</a:t>
            </a:r>
          </a:p>
          <a:p>
            <a:r>
              <a:rPr sz="1800" dirty="0"/>
              <a:t>Focus: Event-driven systems, concurrency, distribution</a:t>
            </a:r>
          </a:p>
          <a:p>
            <a:r>
              <a:rPr sz="1800" dirty="0"/>
              <a:t>Tool: </a:t>
            </a:r>
            <a:r>
              <a:rPr sz="1800" b="1" dirty="0">
                <a:solidFill>
                  <a:schemeClr val="tx2"/>
                </a:solidFill>
              </a:rPr>
              <a:t>Rodin</a:t>
            </a:r>
            <a:r>
              <a:rPr sz="1800" dirty="0"/>
              <a:t> Platform (Eclipse-based)</a:t>
            </a:r>
          </a:p>
          <a:p>
            <a:r>
              <a:rPr sz="1800" dirty="0"/>
              <a:t>Strengths: </a:t>
            </a:r>
            <a:r>
              <a:rPr sz="1800" b="1" dirty="0">
                <a:solidFill>
                  <a:schemeClr val="tx2"/>
                </a:solidFill>
              </a:rPr>
              <a:t>Refinement, proof automation, model animation</a:t>
            </a:r>
          </a:p>
          <a:p>
            <a:endParaRPr sz="1800" dirty="0"/>
          </a:p>
          <a:p>
            <a:pPr marL="0" indent="0">
              <a:buNone/>
            </a:pPr>
            <a:r>
              <a:rPr sz="1800" b="1" dirty="0"/>
              <a:t>Event-B Structure:</a:t>
            </a:r>
          </a:p>
          <a:p>
            <a:r>
              <a:rPr sz="1800" b="1" dirty="0">
                <a:solidFill>
                  <a:schemeClr val="tx2"/>
                </a:solidFill>
              </a:rPr>
              <a:t>Context</a:t>
            </a:r>
            <a:r>
              <a:rPr sz="1800" dirty="0"/>
              <a:t>: Static elements (sets, constants, axioms)</a:t>
            </a:r>
          </a:p>
          <a:p>
            <a:r>
              <a:rPr sz="1800" b="1" dirty="0">
                <a:solidFill>
                  <a:schemeClr val="tx2"/>
                </a:solidFill>
              </a:rPr>
              <a:t>Machine</a:t>
            </a:r>
            <a:r>
              <a:rPr sz="1800" dirty="0"/>
              <a:t>: Dynamic elements (variables, invariants, events)</a:t>
            </a:r>
          </a:p>
          <a:p>
            <a:r>
              <a:rPr sz="1800" b="1" dirty="0">
                <a:solidFill>
                  <a:schemeClr val="tx2"/>
                </a:solidFill>
              </a:rPr>
              <a:t>Refinement: Step-by-step development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66FB3-4181-0FDD-B474-05FB28C54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BC744-145C-C248-5674-565C1FF36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62" y="0"/>
            <a:ext cx="8524875" cy="1143000"/>
          </a:xfrm>
        </p:spPr>
        <p:txBody>
          <a:bodyPr/>
          <a:lstStyle/>
          <a:p>
            <a:r>
              <a:rPr lang="en-US" b="1">
                <a:solidFill>
                  <a:schemeClr val="tx2"/>
                </a:solidFill>
              </a:rPr>
              <a:t>Formal Methods Comparison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07EBC9-8503-057D-4288-B130BCE313B8}"/>
              </a:ext>
            </a:extLst>
          </p:cNvPr>
          <p:cNvSpPr txBox="1"/>
          <p:nvPr/>
        </p:nvSpPr>
        <p:spPr>
          <a:xfrm>
            <a:off x="149087" y="6470373"/>
            <a:ext cx="85779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001" sz="1000" i="1"/>
              <a:t>* </a:t>
            </a:r>
            <a:r>
              <a:rPr lang="en-US" sz="1000" i="1"/>
              <a:t>This comparison is only a guideline, in practice, the choice of formal method depends on the system’s nature, the domain’s criticality, and the available expertise.</a:t>
            </a:r>
            <a:endParaRPr lang="en-001" sz="1000" i="1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152AE36-61E5-0ABE-1ADF-FD33DE632B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6426"/>
              </p:ext>
            </p:extLst>
          </p:nvPr>
        </p:nvGraphicFramePr>
        <p:xfrm>
          <a:off x="448391" y="1143000"/>
          <a:ext cx="8386044" cy="50426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97674">
                  <a:extLst>
                    <a:ext uri="{9D8B030D-6E8A-4147-A177-3AD203B41FA5}">
                      <a16:colId xmlns:a16="http://schemas.microsoft.com/office/drawing/2014/main" val="1108376926"/>
                    </a:ext>
                  </a:extLst>
                </a:gridCol>
                <a:gridCol w="1397674">
                  <a:extLst>
                    <a:ext uri="{9D8B030D-6E8A-4147-A177-3AD203B41FA5}">
                      <a16:colId xmlns:a16="http://schemas.microsoft.com/office/drawing/2014/main" val="376010433"/>
                    </a:ext>
                  </a:extLst>
                </a:gridCol>
                <a:gridCol w="1397674">
                  <a:extLst>
                    <a:ext uri="{9D8B030D-6E8A-4147-A177-3AD203B41FA5}">
                      <a16:colId xmlns:a16="http://schemas.microsoft.com/office/drawing/2014/main" val="113668925"/>
                    </a:ext>
                  </a:extLst>
                </a:gridCol>
                <a:gridCol w="1397674">
                  <a:extLst>
                    <a:ext uri="{9D8B030D-6E8A-4147-A177-3AD203B41FA5}">
                      <a16:colId xmlns:a16="http://schemas.microsoft.com/office/drawing/2014/main" val="234426263"/>
                    </a:ext>
                  </a:extLst>
                </a:gridCol>
                <a:gridCol w="1397674">
                  <a:extLst>
                    <a:ext uri="{9D8B030D-6E8A-4147-A177-3AD203B41FA5}">
                      <a16:colId xmlns:a16="http://schemas.microsoft.com/office/drawing/2014/main" val="1530858136"/>
                    </a:ext>
                  </a:extLst>
                </a:gridCol>
                <a:gridCol w="1397674">
                  <a:extLst>
                    <a:ext uri="{9D8B030D-6E8A-4147-A177-3AD203B41FA5}">
                      <a16:colId xmlns:a16="http://schemas.microsoft.com/office/drawing/2014/main" val="1241026098"/>
                    </a:ext>
                  </a:extLst>
                </a:gridCol>
              </a:tblGrid>
              <a:tr h="414323">
                <a:tc>
                  <a:txBody>
                    <a:bodyPr/>
                    <a:lstStyle/>
                    <a:p>
                      <a:r>
                        <a:rPr lang="en-US" sz="1400" b="1"/>
                        <a:t>Method</a:t>
                      </a:r>
                      <a:endParaRPr lang="en-US" sz="1400"/>
                    </a:p>
                  </a:txBody>
                  <a:tcPr marL="72706" marR="72706" marT="36353" marB="36353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Core Idea</a:t>
                      </a:r>
                      <a:endParaRPr lang="en-US" sz="1400"/>
                    </a:p>
                  </a:txBody>
                  <a:tcPr marL="72706" marR="72706" marT="36353" marB="36353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System Type</a:t>
                      </a:r>
                      <a:endParaRPr lang="en-US" sz="1400"/>
                    </a:p>
                  </a:txBody>
                  <a:tcPr marL="72706" marR="72706" marT="36353" marB="36353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Verification</a:t>
                      </a:r>
                      <a:endParaRPr lang="en-US" sz="1400"/>
                    </a:p>
                  </a:txBody>
                  <a:tcPr marL="72706" marR="72706" marT="36353" marB="36353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Strengths</a:t>
                      </a:r>
                      <a:endParaRPr lang="en-US" sz="1400"/>
                    </a:p>
                  </a:txBody>
                  <a:tcPr marL="72706" marR="72706" marT="36353" marB="36353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Challenges</a:t>
                      </a:r>
                      <a:endParaRPr lang="en-US" sz="1400"/>
                    </a:p>
                  </a:txBody>
                  <a:tcPr marL="72706" marR="72706" marT="36353" marB="36353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1290260"/>
                  </a:ext>
                </a:extLst>
              </a:tr>
              <a:tr h="925054">
                <a:tc>
                  <a:txBody>
                    <a:bodyPr/>
                    <a:lstStyle/>
                    <a:p>
                      <a:r>
                        <a:rPr lang="en-US" sz="1400" b="1"/>
                        <a:t>Z Notation</a:t>
                      </a:r>
                      <a:endParaRPr lang="en-US" sz="1400"/>
                    </a:p>
                  </a:txBody>
                  <a:tcPr marL="72706" marR="72706" marT="36353" marB="36353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Mathematical specification using sets and logic</a:t>
                      </a:r>
                    </a:p>
                  </a:txBody>
                  <a:tcPr marL="72706" marR="72706" marT="36353" marB="36353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Data-intensive, sequential</a:t>
                      </a:r>
                    </a:p>
                  </a:txBody>
                  <a:tcPr marL="72706" marR="72706" marT="36353" marB="36353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Theorem proving</a:t>
                      </a:r>
                    </a:p>
                  </a:txBody>
                  <a:tcPr marL="72706" marR="72706" marT="36353" marB="36353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Precise data modeling</a:t>
                      </a:r>
                    </a:p>
                  </a:txBody>
                  <a:tcPr marL="72706" marR="72706" marT="36353" marB="36353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High learning curve</a:t>
                      </a:r>
                    </a:p>
                  </a:txBody>
                  <a:tcPr marL="72706" marR="72706" marT="36353" marB="36353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1367542"/>
                  </a:ext>
                </a:extLst>
              </a:tr>
              <a:tr h="925054">
                <a:tc>
                  <a:txBody>
                    <a:bodyPr/>
                    <a:lstStyle/>
                    <a:p>
                      <a:r>
                        <a:rPr lang="en-US" sz="1400" b="1"/>
                        <a:t>B / Event-B</a:t>
                      </a:r>
                      <a:endParaRPr lang="en-US" sz="1400"/>
                    </a:p>
                  </a:txBody>
                  <a:tcPr marL="72706" marR="72706" marT="36353" marB="36353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Set-theoretic models with refinement</a:t>
                      </a:r>
                    </a:p>
                  </a:txBody>
                  <a:tcPr marL="72706" marR="72706" marT="36353" marB="36353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Safety-critical, reactive</a:t>
                      </a:r>
                    </a:p>
                  </a:txBody>
                  <a:tcPr marL="72706" marR="72706" marT="36353" marB="36353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Proof obligations, model checking</a:t>
                      </a:r>
                    </a:p>
                  </a:txBody>
                  <a:tcPr marL="72706" marR="72706" marT="36353" marB="36353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Refinement &amp; tool support (Rodin, ProB)</a:t>
                      </a:r>
                    </a:p>
                  </a:txBody>
                  <a:tcPr marL="72706" marR="72706" marT="36353" marB="36353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Requires discipline in proof management</a:t>
                      </a:r>
                    </a:p>
                  </a:txBody>
                  <a:tcPr marL="72706" marR="72706" marT="36353" marB="36353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002260"/>
                  </a:ext>
                </a:extLst>
              </a:tr>
              <a:tr h="924827">
                <a:tc>
                  <a:txBody>
                    <a:bodyPr/>
                    <a:lstStyle/>
                    <a:p>
                      <a:r>
                        <a:rPr lang="en-US" sz="1400" b="1"/>
                        <a:t>CSP</a:t>
                      </a:r>
                      <a:endParaRPr lang="en-US" sz="1400"/>
                    </a:p>
                  </a:txBody>
                  <a:tcPr marL="72706" marR="72706" marT="36353" marB="36353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Processes communicate via events</a:t>
                      </a:r>
                    </a:p>
                  </a:txBody>
                  <a:tcPr marL="72706" marR="72706" marT="36353" marB="36353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Concurrent / distributed systems</a:t>
                      </a:r>
                    </a:p>
                  </a:txBody>
                  <a:tcPr marL="72706" marR="72706" marT="36353" marB="36353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Model checking (FDR, PAT)</a:t>
                      </a:r>
                    </a:p>
                  </a:txBody>
                  <a:tcPr marL="72706" marR="72706" marT="36353" marB="36353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Models concurrency, detects deadlocks</a:t>
                      </a:r>
                    </a:p>
                  </a:txBody>
                  <a:tcPr marL="72706" marR="72706" marT="36353" marB="36353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Abstracts away data handling</a:t>
                      </a:r>
                    </a:p>
                  </a:txBody>
                  <a:tcPr marL="72706" marR="72706" marT="36353" marB="36353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3528872"/>
                  </a:ext>
                </a:extLst>
              </a:tr>
              <a:tr h="924827">
                <a:tc>
                  <a:txBody>
                    <a:bodyPr/>
                    <a:lstStyle/>
                    <a:p>
                      <a:r>
                        <a:rPr lang="en-US" sz="1400" b="1"/>
                        <a:t>VDM</a:t>
                      </a:r>
                      <a:endParaRPr lang="en-US" sz="1400"/>
                    </a:p>
                  </a:txBody>
                  <a:tcPr marL="72706" marR="72706" marT="36353" marB="36353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State + operation-based modeling</a:t>
                      </a:r>
                    </a:p>
                  </a:txBody>
                  <a:tcPr marL="72706" marR="72706" marT="36353" marB="36353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Sequential control systems</a:t>
                      </a:r>
                    </a:p>
                  </a:txBody>
                  <a:tcPr marL="72706" marR="72706" marT="36353" marB="36353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Theorem proving / testing</a:t>
                      </a:r>
                    </a:p>
                  </a:txBody>
                  <a:tcPr marL="72706" marR="72706" marT="36353" marB="36353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Stepwise refinement to code</a:t>
                      </a:r>
                    </a:p>
                  </a:txBody>
                  <a:tcPr marL="72706" marR="72706" marT="36353" marB="36353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Smaller tool ecosystem</a:t>
                      </a:r>
                    </a:p>
                  </a:txBody>
                  <a:tcPr marL="72706" marR="72706" marT="36353" marB="36353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7912251"/>
                  </a:ext>
                </a:extLst>
              </a:tr>
              <a:tr h="925054">
                <a:tc>
                  <a:txBody>
                    <a:bodyPr/>
                    <a:lstStyle/>
                    <a:p>
                      <a:r>
                        <a:rPr lang="en-US" sz="1400" b="1"/>
                        <a:t>TLA+</a:t>
                      </a:r>
                      <a:endParaRPr lang="en-US" sz="1400"/>
                    </a:p>
                  </a:txBody>
                  <a:tcPr marL="72706" marR="72706" marT="36353" marB="36353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Temporal logic over states</a:t>
                      </a:r>
                    </a:p>
                  </a:txBody>
                  <a:tcPr marL="72706" marR="72706" marT="36353" marB="36353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Distributed protocols, AI coordination</a:t>
                      </a:r>
                    </a:p>
                  </a:txBody>
                  <a:tcPr marL="72706" marR="72706" marT="36353" marB="36353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Model checking, theorem proving</a:t>
                      </a:r>
                    </a:p>
                  </a:txBody>
                  <a:tcPr marL="72706" marR="72706" marT="36353" marB="36353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Strong for liveness &amp; concurrency</a:t>
                      </a:r>
                    </a:p>
                  </a:txBody>
                  <a:tcPr marL="72706" marR="72706" marT="36353" marB="36353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Temporal logic is abstract and symbolic</a:t>
                      </a:r>
                    </a:p>
                  </a:txBody>
                  <a:tcPr marL="72706" marR="72706" marT="36353" marB="36353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8718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40934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5C130-7882-9CD4-3C76-5B877DEB7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963" y="1192696"/>
            <a:ext cx="3187976" cy="1143000"/>
          </a:xfrm>
        </p:spPr>
        <p:txBody>
          <a:bodyPr>
            <a:normAutofit fontScale="90000"/>
          </a:bodyPr>
          <a:lstStyle/>
          <a:p>
            <a:r>
              <a:rPr lang="en-001" b="1" dirty="0">
                <a:solidFill>
                  <a:schemeClr val="tx2"/>
                </a:solidFill>
              </a:rPr>
              <a:t>Case Study: </a:t>
            </a:r>
            <a:r>
              <a:rPr lang="en-US" b="1" dirty="0">
                <a:solidFill>
                  <a:schemeClr val="tx2"/>
                </a:solidFill>
              </a:rPr>
              <a:t>Platform Screen Door Control System</a:t>
            </a:r>
            <a:endParaRPr lang="en-001" b="1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ED8C6-90E4-935F-9C5F-554E810E1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963" y="2951922"/>
            <a:ext cx="3187976" cy="3061252"/>
          </a:xfrm>
          <a:ln>
            <a:solidFill>
              <a:schemeClr val="tx2"/>
            </a:solidFill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600" dirty="0">
                <a:solidFill>
                  <a:schemeClr val="tx2"/>
                </a:solidFill>
              </a:rPr>
              <a:t>Automated metro platforms use </a:t>
            </a:r>
            <a:r>
              <a:rPr lang="en-US" sz="2600" b="1" dirty="0">
                <a:solidFill>
                  <a:schemeClr val="tx2"/>
                </a:solidFill>
              </a:rPr>
              <a:t>screen doors</a:t>
            </a:r>
            <a:r>
              <a:rPr lang="en-US" sz="2600" dirty="0">
                <a:solidFill>
                  <a:schemeClr val="tx2"/>
                </a:solidFill>
              </a:rPr>
              <a:t> to protect passengers and synchronize with train operations.</a:t>
            </a:r>
          </a:p>
          <a:p>
            <a:endParaRPr lang="en-001" dirty="0"/>
          </a:p>
        </p:txBody>
      </p:sp>
      <p:pic>
        <p:nvPicPr>
          <p:cNvPr id="7" name="Picture 6" descr="A person and person standing in front of a train&#10;&#10;AI-generated content may be incorrect.">
            <a:extLst>
              <a:ext uri="{FF2B5EF4-FFF2-40B4-BE49-F238E27FC236}">
                <a16:creationId xmlns:a16="http://schemas.microsoft.com/office/drawing/2014/main" id="{876231E8-0335-3E05-4503-2622753BA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4378" y="779670"/>
            <a:ext cx="5298659" cy="52986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9586BE6-58D3-1FBA-6056-E3AA668D723A}"/>
              </a:ext>
            </a:extLst>
          </p:cNvPr>
          <p:cNvSpPr txBox="1"/>
          <p:nvPr/>
        </p:nvSpPr>
        <p:spPr>
          <a:xfrm>
            <a:off x="4939748" y="6078329"/>
            <a:ext cx="19928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001" sz="1000" i="1" dirty="0"/>
              <a:t>* </a:t>
            </a:r>
            <a:r>
              <a:rPr lang="en-US" sz="1000" i="1" dirty="0"/>
              <a:t>T</a:t>
            </a:r>
            <a:r>
              <a:rPr lang="en-001" sz="1000" i="1" dirty="0"/>
              <a:t>he figure is guided AI-generated</a:t>
            </a:r>
          </a:p>
        </p:txBody>
      </p:sp>
    </p:spTree>
    <p:extLst>
      <p:ext uri="{BB962C8B-B14F-4D97-AF65-F5344CB8AC3E}">
        <p14:creationId xmlns:p14="http://schemas.microsoft.com/office/powerpoint/2010/main" val="27519622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1E1B8-8ABE-1E7F-79FC-1678E752F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B7E66-52D3-70D2-FF1E-EBD0A40F5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024" y="0"/>
            <a:ext cx="8763828" cy="1143000"/>
          </a:xfrm>
        </p:spPr>
        <p:txBody>
          <a:bodyPr/>
          <a:lstStyle/>
          <a:p>
            <a:r>
              <a:rPr lang="en-001" b="1" dirty="0">
                <a:solidFill>
                  <a:schemeClr val="tx2"/>
                </a:solidFill>
              </a:rPr>
              <a:t>Case Study: </a:t>
            </a:r>
            <a:r>
              <a:rPr lang="en-US" b="1" dirty="0">
                <a:solidFill>
                  <a:schemeClr val="tx2"/>
                </a:solidFill>
              </a:rPr>
              <a:t>Platform Screen Door Control System</a:t>
            </a:r>
            <a:endParaRPr lang="en-001" b="1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078B8-544B-DAE9-1B2D-6BC1927C68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043609"/>
            <a:ext cx="8661952" cy="508255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System Elements</a:t>
            </a:r>
          </a:p>
          <a:p>
            <a:r>
              <a:rPr lang="en-US" b="1" dirty="0"/>
              <a:t>Trains:</a:t>
            </a:r>
            <a:r>
              <a:rPr lang="en-US" dirty="0"/>
              <a:t> approach, stop, and depart from platforms.</a:t>
            </a:r>
          </a:p>
          <a:p>
            <a:r>
              <a:rPr lang="en-US" b="1" dirty="0"/>
              <a:t>Platforms:</a:t>
            </a:r>
            <a:r>
              <a:rPr lang="en-US" dirty="0"/>
              <a:t> each has multiple </a:t>
            </a:r>
            <a:r>
              <a:rPr lang="en-US" b="1" dirty="0"/>
              <a:t>screen doors</a:t>
            </a:r>
            <a:r>
              <a:rPr lang="en-US" dirty="0"/>
              <a:t>.</a:t>
            </a:r>
          </a:p>
          <a:p>
            <a:r>
              <a:rPr lang="en-US" b="1" dirty="0"/>
              <a:t>Controller:</a:t>
            </a:r>
            <a:r>
              <a:rPr lang="en-US" dirty="0"/>
              <a:t> monitors train position and door states.</a:t>
            </a:r>
          </a:p>
          <a:p>
            <a:r>
              <a:rPr lang="en-US" b="1" dirty="0"/>
              <a:t>Emergency System:</a:t>
            </a:r>
            <a:r>
              <a:rPr lang="en-US" dirty="0"/>
              <a:t> allows manual intervention in abnormal situations.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Intended Operation</a:t>
            </a:r>
          </a:p>
          <a:p>
            <a:r>
              <a:rPr lang="en-US" dirty="0"/>
              <a:t>Train arrives (detected by sensors).</a:t>
            </a:r>
          </a:p>
          <a:p>
            <a:r>
              <a:rPr lang="en-US" dirty="0"/>
              <a:t>Train stops at a designated platform position.</a:t>
            </a:r>
          </a:p>
          <a:p>
            <a:r>
              <a:rPr lang="en-US" dirty="0"/>
              <a:t>Platform doors open only when train doors are aligned.</a:t>
            </a:r>
          </a:p>
          <a:p>
            <a:r>
              <a:rPr lang="en-US" dirty="0"/>
              <a:t>Before departure, all platform doors must close.</a:t>
            </a:r>
          </a:p>
          <a:p>
            <a:r>
              <a:rPr lang="en-US" dirty="0"/>
              <a:t>During emergencies, system must remain in or move to a </a:t>
            </a:r>
            <a:r>
              <a:rPr lang="en-US" sz="2600" b="1" dirty="0">
                <a:solidFill>
                  <a:schemeClr val="tx2"/>
                </a:solidFill>
              </a:rPr>
              <a:t>safe state</a:t>
            </a:r>
            <a:r>
              <a:rPr lang="en-US" dirty="0"/>
              <a:t>.</a:t>
            </a:r>
          </a:p>
          <a:p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37321845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3953F-30A6-B138-EAE2-631859E28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E1AC1-ACB7-96FC-5A17-D99D7CF5E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174" y="789526"/>
            <a:ext cx="8645652" cy="1143000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Safety Requirement Identification</a:t>
            </a:r>
            <a:endParaRPr lang="en-001" b="1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0E4D7E-CBD7-4FB1-ACA9-F35F1A8126E4}"/>
              </a:ext>
            </a:extLst>
          </p:cNvPr>
          <p:cNvSpPr txBox="1"/>
          <p:nvPr/>
        </p:nvSpPr>
        <p:spPr>
          <a:xfrm>
            <a:off x="3894332" y="1805528"/>
            <a:ext cx="50004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001" b="1" dirty="0">
                <a:solidFill>
                  <a:schemeClr val="tx2"/>
                </a:solidFill>
              </a:rPr>
              <a:t>Case Study: </a:t>
            </a:r>
            <a:r>
              <a:rPr lang="en-US" b="1" dirty="0">
                <a:solidFill>
                  <a:schemeClr val="tx2"/>
                </a:solidFill>
              </a:rPr>
              <a:t>Platform Screen Door Control System</a:t>
            </a:r>
            <a:endParaRPr lang="en-US" b="1" dirty="0"/>
          </a:p>
          <a:p>
            <a:pPr algn="ctr"/>
            <a:endParaRPr lang="en-US" b="1" dirty="0"/>
          </a:p>
          <a:p>
            <a:pPr algn="ctr"/>
            <a:r>
              <a:rPr lang="en-US" b="1" dirty="0"/>
              <a:t>System Goal:</a:t>
            </a:r>
            <a:br>
              <a:rPr lang="en-US" dirty="0"/>
            </a:br>
            <a:r>
              <a:rPr lang="en-US" dirty="0"/>
              <a:t>Ensure passenger safety at station platforms.</a:t>
            </a:r>
            <a:endParaRPr lang="en-00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EE13E3-77DD-35BB-8FF2-7AB872707BAC}"/>
              </a:ext>
            </a:extLst>
          </p:cNvPr>
          <p:cNvSpPr txBox="1"/>
          <p:nvPr/>
        </p:nvSpPr>
        <p:spPr>
          <a:xfrm>
            <a:off x="998098" y="270192"/>
            <a:ext cx="7022779" cy="5232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800" b="1" dirty="0"/>
              <a:t>Let's think and reflect</a:t>
            </a:r>
          </a:p>
        </p:txBody>
      </p:sp>
      <p:pic>
        <p:nvPicPr>
          <p:cNvPr id="10" name="Picture 9" descr="A screenshot of a qr code&#10;&#10;AI-generated content may be incorrect.">
            <a:extLst>
              <a:ext uri="{FF2B5EF4-FFF2-40B4-BE49-F238E27FC236}">
                <a16:creationId xmlns:a16="http://schemas.microsoft.com/office/drawing/2014/main" id="{8DA50DD6-E96A-33A6-8451-99A806AF94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287" y="1786831"/>
            <a:ext cx="2958933" cy="4818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8908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BC36A-7FD1-D792-E565-990AD5B66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9D305-5F60-4F46-C731-484CF5F4C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024" y="0"/>
            <a:ext cx="8763828" cy="1143000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Safety Requirement Identification</a:t>
            </a:r>
            <a:endParaRPr lang="en-001" b="1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9F0F8-D8C6-8CE4-7595-4720ADE5BF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043609"/>
            <a:ext cx="8661952" cy="5082555"/>
          </a:xfrm>
        </p:spPr>
        <p:txBody>
          <a:bodyPr>
            <a:normAutofit/>
          </a:bodyPr>
          <a:lstStyle/>
          <a:p>
            <a:endParaRPr lang="en-US" b="1" dirty="0"/>
          </a:p>
          <a:p>
            <a:r>
              <a:rPr lang="en-US" b="1" dirty="0"/>
              <a:t>SR-1</a:t>
            </a:r>
            <a:r>
              <a:rPr lang="en-US" dirty="0"/>
              <a:t>: Doors shall open </a:t>
            </a:r>
            <a:r>
              <a:rPr lang="en-US" i="1" dirty="0"/>
              <a:t>only</a:t>
            </a:r>
            <a:r>
              <a:rPr lang="en-US" dirty="0"/>
              <a:t> when a train is stopped at the platform.</a:t>
            </a:r>
          </a:p>
          <a:p>
            <a:r>
              <a:rPr lang="en-US" b="1" dirty="0"/>
              <a:t>SR-2</a:t>
            </a:r>
            <a:r>
              <a:rPr lang="en-US" dirty="0"/>
              <a:t>: Doors shall remain </a:t>
            </a:r>
            <a:r>
              <a:rPr lang="en-US" i="1" dirty="0"/>
              <a:t>closed</a:t>
            </a:r>
            <a:r>
              <a:rPr lang="en-US" dirty="0"/>
              <a:t> whenever no train is present.</a:t>
            </a:r>
          </a:p>
          <a:p>
            <a:r>
              <a:rPr lang="en-US" b="1" dirty="0"/>
              <a:t>SR-3</a:t>
            </a:r>
            <a:r>
              <a:rPr lang="en-US" dirty="0"/>
              <a:t>: Doors shall close before train departure.</a:t>
            </a:r>
          </a:p>
          <a:p>
            <a:r>
              <a:rPr lang="en-US" b="1" dirty="0"/>
              <a:t>SR-4</a:t>
            </a:r>
            <a:r>
              <a:rPr lang="en-US" dirty="0"/>
              <a:t>: In emergency mode, doors can be manually overridden.</a:t>
            </a:r>
          </a:p>
          <a:p>
            <a:r>
              <a:rPr lang="en-US" b="1" dirty="0"/>
              <a:t>SR-5</a:t>
            </a:r>
            <a:r>
              <a:rPr lang="en-US" dirty="0"/>
              <a:t>: No unsafe or undefined state (e.g., open doors + moving train).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chemeClr val="tx2"/>
                </a:solidFill>
              </a:rPr>
              <a:t>These become your </a:t>
            </a:r>
            <a:r>
              <a:rPr lang="en-US" b="1" i="1" dirty="0">
                <a:solidFill>
                  <a:schemeClr val="tx2"/>
                </a:solidFill>
              </a:rPr>
              <a:t>safety invariants</a:t>
            </a:r>
            <a:r>
              <a:rPr lang="en-US" b="1" dirty="0">
                <a:solidFill>
                  <a:schemeClr val="tx2"/>
                </a:solidFill>
              </a:rPr>
              <a:t> in Event-B.</a:t>
            </a:r>
          </a:p>
          <a:p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36000131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D6A4D-CA98-06F7-5ABB-0B760BE84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0"/>
            <a:ext cx="8572500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Event-B Notation Basics</a:t>
            </a:r>
            <a:endParaRPr lang="en-001" b="1" dirty="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F2929C-77CE-A57A-5F28-41D2A207ACDD}"/>
              </a:ext>
            </a:extLst>
          </p:cNvPr>
          <p:cNvSpPr txBox="1"/>
          <p:nvPr/>
        </p:nvSpPr>
        <p:spPr>
          <a:xfrm>
            <a:off x="4572000" y="1344168"/>
            <a:ext cx="4427220" cy="47584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lIns="0" tIns="0" rIns="0" bIns="0">
            <a:normAutofit/>
          </a:bodyPr>
          <a:lstStyle/>
          <a:p>
            <a:pPr lvl="1"/>
            <a:endParaRPr lang="en-US" sz="2200" dirty="0">
              <a:solidFill>
                <a:srgbClr val="4338CA"/>
              </a:solidFill>
            </a:endParaRPr>
          </a:p>
          <a:p>
            <a:pPr lvl="1"/>
            <a:r>
              <a:rPr lang="en-US" sz="2200" dirty="0">
                <a:solidFill>
                  <a:srgbClr val="4338CA"/>
                </a:solidFill>
              </a:rPr>
              <a:t>MACHINE  </a:t>
            </a:r>
            <a:r>
              <a:rPr lang="en-US" sz="2200" dirty="0" err="1"/>
              <a:t>MachineName</a:t>
            </a:r>
            <a:endParaRPr lang="en-US" sz="2200" dirty="0"/>
          </a:p>
          <a:p>
            <a:pPr lvl="1"/>
            <a:r>
              <a:rPr lang="en-US" sz="2200" dirty="0">
                <a:solidFill>
                  <a:srgbClr val="4338CA"/>
                </a:solidFill>
              </a:rPr>
              <a:t>SEES</a:t>
            </a:r>
          </a:p>
          <a:p>
            <a:pPr lvl="1"/>
            <a:r>
              <a:rPr lang="en-US" sz="2200" dirty="0">
                <a:solidFill>
                  <a:srgbClr val="4338CA"/>
                </a:solidFill>
              </a:rPr>
              <a:t>    </a:t>
            </a:r>
            <a:r>
              <a:rPr lang="en-US" sz="2200" dirty="0" err="1"/>
              <a:t>ContextName</a:t>
            </a:r>
            <a:endParaRPr lang="en-US" sz="2200" dirty="0"/>
          </a:p>
          <a:p>
            <a:pPr lvl="1"/>
            <a:endParaRPr lang="en-US" sz="2200" dirty="0"/>
          </a:p>
          <a:p>
            <a:pPr lvl="1"/>
            <a:r>
              <a:rPr lang="en-US" sz="2200" dirty="0">
                <a:solidFill>
                  <a:srgbClr val="4338CA"/>
                </a:solidFill>
              </a:rPr>
              <a:t>VARIABLES</a:t>
            </a:r>
          </a:p>
          <a:p>
            <a:pPr lvl="1"/>
            <a:r>
              <a:rPr lang="en-US" sz="2200" dirty="0">
                <a:solidFill>
                  <a:srgbClr val="4338CA"/>
                </a:solidFill>
              </a:rPr>
              <a:t>    </a:t>
            </a:r>
            <a:r>
              <a:rPr lang="en-US" sz="2200" dirty="0" err="1"/>
              <a:t>state_variables</a:t>
            </a:r>
            <a:endParaRPr lang="en-US" sz="2200" dirty="0"/>
          </a:p>
          <a:p>
            <a:pPr lvl="1"/>
            <a:r>
              <a:rPr lang="en-US" sz="2200" dirty="0">
                <a:solidFill>
                  <a:srgbClr val="4338CA"/>
                </a:solidFill>
              </a:rPr>
              <a:t>INVARIANTS</a:t>
            </a:r>
          </a:p>
          <a:p>
            <a:pPr lvl="1"/>
            <a:r>
              <a:rPr lang="en-US" sz="2200" dirty="0">
                <a:solidFill>
                  <a:srgbClr val="4338CA"/>
                </a:solidFill>
              </a:rPr>
              <a:t>    </a:t>
            </a:r>
            <a:r>
              <a:rPr lang="en-US" sz="2200" dirty="0" err="1"/>
              <a:t>properties_that_always_hold</a:t>
            </a:r>
            <a:endParaRPr lang="en-US" sz="2200" dirty="0"/>
          </a:p>
          <a:p>
            <a:pPr lvl="1"/>
            <a:r>
              <a:rPr lang="en-US" sz="2200" dirty="0">
                <a:solidFill>
                  <a:srgbClr val="4338CA"/>
                </a:solidFill>
              </a:rPr>
              <a:t>INITIALISATION</a:t>
            </a:r>
          </a:p>
          <a:p>
            <a:pPr lvl="1"/>
            <a:r>
              <a:rPr lang="en-US" sz="2200" dirty="0">
                <a:solidFill>
                  <a:srgbClr val="4338CA"/>
                </a:solidFill>
              </a:rPr>
              <a:t>    </a:t>
            </a:r>
            <a:r>
              <a:rPr lang="en-US" sz="2200" dirty="0" err="1"/>
              <a:t>initial_state_definition</a:t>
            </a:r>
            <a:endParaRPr lang="en-US" sz="2200" dirty="0"/>
          </a:p>
          <a:p>
            <a:pPr lvl="1"/>
            <a:r>
              <a:rPr lang="en-US" sz="2200" dirty="0">
                <a:solidFill>
                  <a:srgbClr val="4338CA"/>
                </a:solidFill>
              </a:rPr>
              <a:t>EVENTS</a:t>
            </a:r>
          </a:p>
          <a:p>
            <a:pPr lvl="1"/>
            <a:r>
              <a:rPr lang="en-US" sz="2200" dirty="0">
                <a:solidFill>
                  <a:srgbClr val="4338CA"/>
                </a:solidFill>
              </a:rPr>
              <a:t>    </a:t>
            </a:r>
            <a:r>
              <a:rPr lang="en-US" sz="2200" dirty="0" err="1"/>
              <a:t>operation_definitions</a:t>
            </a:r>
            <a:endParaRPr lang="en-US" sz="2200" dirty="0"/>
          </a:p>
          <a:p>
            <a:pPr lvl="1"/>
            <a:r>
              <a:rPr lang="en-US" sz="2200" dirty="0">
                <a:solidFill>
                  <a:srgbClr val="4338CA"/>
                </a:solidFill>
              </a:rPr>
              <a:t>END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151D66-14A8-240E-0761-D3C71E87EAC4}"/>
              </a:ext>
            </a:extLst>
          </p:cNvPr>
          <p:cNvSpPr txBox="1"/>
          <p:nvPr/>
        </p:nvSpPr>
        <p:spPr>
          <a:xfrm>
            <a:off x="144780" y="1344168"/>
            <a:ext cx="4176920" cy="31781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lIns="0" tIns="0" rIns="0" bIns="0">
            <a:normAutofit/>
          </a:bodyPr>
          <a:lstStyle/>
          <a:p>
            <a:pPr lvl="1"/>
            <a:endParaRPr lang="en-US" sz="2200" dirty="0">
              <a:solidFill>
                <a:srgbClr val="4338CA"/>
              </a:solidFill>
            </a:endParaRPr>
          </a:p>
          <a:p>
            <a:pPr lvl="1"/>
            <a:r>
              <a:rPr lang="en-US" sz="2200" dirty="0">
                <a:solidFill>
                  <a:srgbClr val="4338CA"/>
                </a:solidFill>
              </a:rPr>
              <a:t>CONTEXT  </a:t>
            </a:r>
            <a:r>
              <a:rPr lang="en-US" sz="2200" dirty="0" err="1"/>
              <a:t>ContextName</a:t>
            </a:r>
            <a:endParaRPr lang="en-US" sz="2200" dirty="0"/>
          </a:p>
          <a:p>
            <a:pPr lvl="1"/>
            <a:r>
              <a:rPr lang="en-US" sz="2200" dirty="0">
                <a:solidFill>
                  <a:srgbClr val="4338CA"/>
                </a:solidFill>
              </a:rPr>
              <a:t>SETS</a:t>
            </a:r>
          </a:p>
          <a:p>
            <a:pPr lvl="1"/>
            <a:r>
              <a:rPr lang="en-US" sz="2200" dirty="0">
                <a:solidFill>
                  <a:srgbClr val="4338CA"/>
                </a:solidFill>
              </a:rPr>
              <a:t>    </a:t>
            </a:r>
            <a:r>
              <a:rPr lang="en-US" sz="2200" dirty="0" err="1"/>
              <a:t>BasicTypes</a:t>
            </a:r>
            <a:endParaRPr lang="en-US" sz="2200" dirty="0"/>
          </a:p>
          <a:p>
            <a:pPr lvl="1"/>
            <a:r>
              <a:rPr lang="en-US" sz="2200" dirty="0">
                <a:solidFill>
                  <a:srgbClr val="4338CA"/>
                </a:solidFill>
              </a:rPr>
              <a:t>CONSTANTS</a:t>
            </a:r>
          </a:p>
          <a:p>
            <a:pPr lvl="1"/>
            <a:r>
              <a:rPr lang="en-US" sz="2200" dirty="0">
                <a:solidFill>
                  <a:srgbClr val="4338CA"/>
                </a:solidFill>
              </a:rPr>
              <a:t>    </a:t>
            </a:r>
            <a:r>
              <a:rPr lang="en-US" sz="2200" dirty="0"/>
              <a:t>constants</a:t>
            </a:r>
          </a:p>
          <a:p>
            <a:pPr lvl="1"/>
            <a:r>
              <a:rPr lang="en-US" sz="2200" dirty="0">
                <a:solidFill>
                  <a:srgbClr val="4338CA"/>
                </a:solidFill>
              </a:rPr>
              <a:t>AXIOMS</a:t>
            </a:r>
          </a:p>
          <a:p>
            <a:pPr lvl="1"/>
            <a:r>
              <a:rPr lang="en-US" sz="2200" dirty="0">
                <a:solidFill>
                  <a:srgbClr val="4338CA"/>
                </a:solidFill>
              </a:rPr>
              <a:t>    </a:t>
            </a:r>
            <a:r>
              <a:rPr lang="en-US" sz="2200" dirty="0" err="1"/>
              <a:t>properties_that_always_hold</a:t>
            </a:r>
            <a:endParaRPr lang="en-US" sz="2200" dirty="0"/>
          </a:p>
          <a:p>
            <a:pPr lvl="1"/>
            <a:r>
              <a:rPr lang="en-US" sz="2200" dirty="0">
                <a:solidFill>
                  <a:srgbClr val="4338CA"/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764641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8736E-E299-7596-385B-A4EA740D1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987" y="0"/>
            <a:ext cx="8582025" cy="1143000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Context Definition (Event-B CONTEXT)</a:t>
            </a:r>
            <a:endParaRPr lang="en-001" b="1" dirty="0">
              <a:solidFill>
                <a:schemeClr val="tx2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38E60D-D48A-5F59-3EED-DD9A7C379323}"/>
              </a:ext>
            </a:extLst>
          </p:cNvPr>
          <p:cNvSpPr txBox="1"/>
          <p:nvPr/>
        </p:nvSpPr>
        <p:spPr>
          <a:xfrm>
            <a:off x="1297056" y="1486478"/>
            <a:ext cx="6251715" cy="286232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CONTEXT</a:t>
            </a:r>
            <a:r>
              <a:rPr lang="en-US" dirty="0"/>
              <a:t> DoorContext </a:t>
            </a:r>
          </a:p>
          <a:p>
            <a:endParaRPr lang="en-US" dirty="0"/>
          </a:p>
          <a:p>
            <a:r>
              <a:rPr lang="en-US" b="1" dirty="0">
                <a:solidFill>
                  <a:srgbClr val="0070C0"/>
                </a:solidFill>
              </a:rPr>
              <a:t>SETS</a:t>
            </a:r>
            <a:r>
              <a:rPr lang="en-US" dirty="0"/>
              <a:t> DOOR_STATE TRAIN_STATE </a:t>
            </a:r>
          </a:p>
          <a:p>
            <a:endParaRPr lang="en-US" dirty="0"/>
          </a:p>
          <a:p>
            <a:r>
              <a:rPr lang="en-US" b="1" dirty="0">
                <a:solidFill>
                  <a:srgbClr val="0070C0"/>
                </a:solidFill>
              </a:rPr>
              <a:t>CONSTANTS</a:t>
            </a:r>
            <a:r>
              <a:rPr lang="en-US" dirty="0"/>
              <a:t> OPEN, CLOSED, PRESENT, ABSENT, MOVING </a:t>
            </a:r>
          </a:p>
          <a:p>
            <a:r>
              <a:rPr lang="en-US" b="1" dirty="0">
                <a:solidFill>
                  <a:srgbClr val="0070C0"/>
                </a:solidFill>
              </a:rPr>
              <a:t>AXIOMS</a:t>
            </a:r>
            <a:r>
              <a:rPr lang="en-US" dirty="0"/>
              <a:t> </a:t>
            </a:r>
          </a:p>
          <a:p>
            <a:r>
              <a:rPr lang="en-US" dirty="0"/>
              <a:t>	partition(DOOR_STATE, {OPEN}, {CLOSED}) 	partition(TRAIN_STATE, {PRESENT}, {ABSENT}, {MOVING})</a:t>
            </a:r>
          </a:p>
          <a:p>
            <a:endParaRPr lang="en-US" dirty="0"/>
          </a:p>
          <a:p>
            <a:r>
              <a:rPr lang="en-US" b="1" dirty="0">
                <a:solidFill>
                  <a:srgbClr val="0070C0"/>
                </a:solidFill>
              </a:rPr>
              <a:t>END</a:t>
            </a:r>
            <a:endParaRPr lang="en-001" b="1" dirty="0">
              <a:solidFill>
                <a:srgbClr val="0070C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39E1A8-6E17-38E8-86DB-19BF02142996}"/>
              </a:ext>
            </a:extLst>
          </p:cNvPr>
          <p:cNvSpPr txBox="1"/>
          <p:nvPr/>
        </p:nvSpPr>
        <p:spPr>
          <a:xfrm>
            <a:off x="1654865" y="5017579"/>
            <a:ext cx="5252831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Defines the static types (sets) and constants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15455D-7BCD-A451-039F-DF4E3AF6ED07}"/>
              </a:ext>
            </a:extLst>
          </p:cNvPr>
          <p:cNvSpPr txBox="1"/>
          <p:nvPr/>
        </p:nvSpPr>
        <p:spPr>
          <a:xfrm>
            <a:off x="1654864" y="5686358"/>
            <a:ext cx="5252831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“partition” ensures states are mutually exclusive</a:t>
            </a:r>
            <a:endParaRPr lang="en-001" sz="2000" dirty="0"/>
          </a:p>
        </p:txBody>
      </p:sp>
    </p:spTree>
    <p:extLst>
      <p:ext uri="{BB962C8B-B14F-4D97-AF65-F5344CB8AC3E}">
        <p14:creationId xmlns:p14="http://schemas.microsoft.com/office/powerpoint/2010/main" val="10674527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D1238-12AA-29F8-0644-EBFE6C46E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8350F-5D53-F6D6-6F8F-FF8A93A46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871" y="-258417"/>
            <a:ext cx="8582025" cy="1143000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Abstract Machine: Safety Logic</a:t>
            </a:r>
            <a:endParaRPr lang="en-001" b="1" dirty="0">
              <a:solidFill>
                <a:schemeClr val="tx2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95B1DA-E64F-0ACC-9847-E281319C7340}"/>
              </a:ext>
            </a:extLst>
          </p:cNvPr>
          <p:cNvSpPr txBox="1"/>
          <p:nvPr/>
        </p:nvSpPr>
        <p:spPr>
          <a:xfrm>
            <a:off x="446841" y="626814"/>
            <a:ext cx="5153440" cy="424731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MACHINE</a:t>
            </a:r>
            <a:r>
              <a:rPr lang="en-US" dirty="0"/>
              <a:t> DoorControl </a:t>
            </a:r>
          </a:p>
          <a:p>
            <a:endParaRPr lang="en-US" dirty="0"/>
          </a:p>
          <a:p>
            <a:r>
              <a:rPr lang="en-US" b="1" dirty="0">
                <a:solidFill>
                  <a:srgbClr val="0070C0"/>
                </a:solidFill>
              </a:rPr>
              <a:t>SEES</a:t>
            </a:r>
            <a:r>
              <a:rPr lang="en-US" dirty="0"/>
              <a:t> DoorContext </a:t>
            </a:r>
          </a:p>
          <a:p>
            <a:endParaRPr lang="en-US" dirty="0"/>
          </a:p>
          <a:p>
            <a:r>
              <a:rPr lang="en-US" b="1" dirty="0">
                <a:solidFill>
                  <a:srgbClr val="0070C0"/>
                </a:solidFill>
              </a:rPr>
              <a:t>VARIABLES</a:t>
            </a:r>
            <a:r>
              <a:rPr lang="en-US" dirty="0"/>
              <a:t> door train </a:t>
            </a:r>
          </a:p>
          <a:p>
            <a:endParaRPr lang="en-US" dirty="0"/>
          </a:p>
          <a:p>
            <a:r>
              <a:rPr lang="en-US" b="1" dirty="0">
                <a:solidFill>
                  <a:srgbClr val="0070C0"/>
                </a:solidFill>
              </a:rPr>
              <a:t>INVARIANTS</a:t>
            </a:r>
            <a:r>
              <a:rPr lang="en-US" dirty="0"/>
              <a:t> </a:t>
            </a:r>
          </a:p>
          <a:p>
            <a:r>
              <a:rPr lang="en-US" dirty="0"/>
              <a:t>	door ∈ DOOR_STATE </a:t>
            </a:r>
          </a:p>
          <a:p>
            <a:r>
              <a:rPr lang="en-US" dirty="0"/>
              <a:t>	train ∈ TRAIN_STATE </a:t>
            </a:r>
          </a:p>
          <a:p>
            <a:r>
              <a:rPr lang="en-US" dirty="0"/>
              <a:t>	door = OPEN ⇒ train = PRESENT    // SR-1, SR-2 </a:t>
            </a:r>
          </a:p>
          <a:p>
            <a:r>
              <a:rPr lang="en-US" dirty="0"/>
              <a:t>	train = MOVING ⇒ door = CLOSED    // SR-5 </a:t>
            </a:r>
          </a:p>
          <a:p>
            <a:endParaRPr lang="en-US" dirty="0"/>
          </a:p>
          <a:p>
            <a:r>
              <a:rPr lang="en-US" b="1" dirty="0">
                <a:solidFill>
                  <a:srgbClr val="0070C0"/>
                </a:solidFill>
              </a:rPr>
              <a:t>INITIALISATION</a:t>
            </a:r>
            <a:r>
              <a:rPr lang="en-US" dirty="0"/>
              <a:t> </a:t>
            </a:r>
          </a:p>
          <a:p>
            <a:r>
              <a:rPr lang="en-US" dirty="0"/>
              <a:t>	door := CLOSED </a:t>
            </a:r>
          </a:p>
          <a:p>
            <a:r>
              <a:rPr lang="en-US" dirty="0"/>
              <a:t>	train := ABSENT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E2C5E4-94F4-5509-A221-833593B7F0B9}"/>
              </a:ext>
            </a:extLst>
          </p:cNvPr>
          <p:cNvSpPr txBox="1"/>
          <p:nvPr/>
        </p:nvSpPr>
        <p:spPr>
          <a:xfrm>
            <a:off x="5600281" y="626705"/>
            <a:ext cx="3165615" cy="646330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EVENTS</a:t>
            </a:r>
            <a:r>
              <a:rPr lang="en-US" dirty="0"/>
              <a:t> </a:t>
            </a:r>
          </a:p>
          <a:p>
            <a:r>
              <a:rPr lang="en-US" dirty="0"/>
              <a:t>OpenDoors ≙ </a:t>
            </a:r>
            <a:r>
              <a:rPr lang="en-US" b="1" dirty="0">
                <a:solidFill>
                  <a:srgbClr val="0070C0"/>
                </a:solidFill>
              </a:rPr>
              <a:t>when</a:t>
            </a:r>
            <a:r>
              <a:rPr lang="en-US" dirty="0"/>
              <a:t> </a:t>
            </a:r>
          </a:p>
          <a:p>
            <a:r>
              <a:rPr lang="en-US" dirty="0"/>
              <a:t>	train = PRESENT </a:t>
            </a:r>
            <a:r>
              <a:rPr lang="en-US" b="1" dirty="0">
                <a:solidFill>
                  <a:srgbClr val="0070C0"/>
                </a:solidFill>
              </a:rPr>
              <a:t>then</a:t>
            </a:r>
            <a:r>
              <a:rPr lang="en-US" dirty="0"/>
              <a:t> </a:t>
            </a:r>
          </a:p>
          <a:p>
            <a:r>
              <a:rPr lang="en-US" dirty="0"/>
              <a:t>	door := OPEN </a:t>
            </a:r>
          </a:p>
          <a:p>
            <a:r>
              <a:rPr lang="en-US" b="1" dirty="0">
                <a:solidFill>
                  <a:srgbClr val="0070C0"/>
                </a:solidFill>
              </a:rPr>
              <a:t>end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CloseDoors ≙ </a:t>
            </a:r>
          </a:p>
          <a:p>
            <a:r>
              <a:rPr lang="en-US" dirty="0"/>
              <a:t>	</a:t>
            </a:r>
            <a:r>
              <a:rPr lang="en-US" b="1" dirty="0">
                <a:solidFill>
                  <a:srgbClr val="0070C0"/>
                </a:solidFill>
              </a:rPr>
              <a:t>any</a:t>
            </a:r>
            <a:r>
              <a:rPr lang="en-US" dirty="0"/>
              <a:t> t </a:t>
            </a:r>
            <a:r>
              <a:rPr lang="en-US" b="1" dirty="0">
                <a:solidFill>
                  <a:srgbClr val="0070C0"/>
                </a:solidFill>
              </a:rPr>
              <a:t>where</a:t>
            </a:r>
            <a:r>
              <a:rPr lang="en-US" dirty="0"/>
              <a:t> </a:t>
            </a:r>
          </a:p>
          <a:p>
            <a:r>
              <a:rPr lang="en-US" dirty="0"/>
              <a:t>	 door = OPEN </a:t>
            </a:r>
          </a:p>
          <a:p>
            <a:r>
              <a:rPr lang="en-US" dirty="0"/>
              <a:t>	t ∈ TRAIN_STATE </a:t>
            </a:r>
            <a:r>
              <a:rPr lang="en-US" b="1" dirty="0">
                <a:solidFill>
                  <a:srgbClr val="0070C0"/>
                </a:solidFill>
              </a:rPr>
              <a:t>then</a:t>
            </a:r>
            <a:r>
              <a:rPr lang="en-US" dirty="0"/>
              <a:t> </a:t>
            </a:r>
          </a:p>
          <a:p>
            <a:r>
              <a:rPr lang="en-US" dirty="0"/>
              <a:t>	door := CLOSED </a:t>
            </a:r>
          </a:p>
          <a:p>
            <a:r>
              <a:rPr lang="en-US" b="1" dirty="0">
                <a:solidFill>
                  <a:srgbClr val="0070C0"/>
                </a:solidFill>
              </a:rPr>
              <a:t>end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TrainArrives ≙ </a:t>
            </a:r>
            <a:r>
              <a:rPr lang="en-US" b="1" dirty="0">
                <a:solidFill>
                  <a:srgbClr val="0070C0"/>
                </a:solidFill>
              </a:rPr>
              <a:t>when</a:t>
            </a:r>
            <a:r>
              <a:rPr lang="en-US" dirty="0"/>
              <a:t> </a:t>
            </a:r>
          </a:p>
          <a:p>
            <a:r>
              <a:rPr lang="en-US" dirty="0"/>
              <a:t>	train = ABSENT </a:t>
            </a:r>
            <a:r>
              <a:rPr lang="en-US" b="1" dirty="0">
                <a:solidFill>
                  <a:srgbClr val="0070C0"/>
                </a:solidFill>
              </a:rPr>
              <a:t>then</a:t>
            </a:r>
            <a:r>
              <a:rPr lang="en-US" dirty="0"/>
              <a:t> </a:t>
            </a:r>
          </a:p>
          <a:p>
            <a:r>
              <a:rPr lang="en-US" dirty="0"/>
              <a:t>	train := PRESENT </a:t>
            </a:r>
          </a:p>
          <a:p>
            <a:r>
              <a:rPr lang="en-US" b="1" dirty="0">
                <a:solidFill>
                  <a:srgbClr val="0070C0"/>
                </a:solidFill>
              </a:rPr>
              <a:t>end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TrainDeparts ≙ </a:t>
            </a:r>
            <a:r>
              <a:rPr lang="en-US" b="1" dirty="0">
                <a:solidFill>
                  <a:srgbClr val="0070C0"/>
                </a:solidFill>
              </a:rPr>
              <a:t>when</a:t>
            </a:r>
            <a:r>
              <a:rPr lang="en-US" dirty="0"/>
              <a:t> </a:t>
            </a:r>
          </a:p>
          <a:p>
            <a:r>
              <a:rPr lang="en-US" dirty="0"/>
              <a:t>	door = CLOSED </a:t>
            </a:r>
            <a:r>
              <a:rPr lang="en-US" b="1" dirty="0">
                <a:solidFill>
                  <a:srgbClr val="0070C0"/>
                </a:solidFill>
              </a:rPr>
              <a:t>then</a:t>
            </a:r>
            <a:r>
              <a:rPr lang="en-US" dirty="0"/>
              <a:t> </a:t>
            </a:r>
          </a:p>
          <a:p>
            <a:r>
              <a:rPr lang="en-US" dirty="0"/>
              <a:t>	train := MOVING </a:t>
            </a:r>
          </a:p>
          <a:p>
            <a:r>
              <a:rPr lang="en-US" b="1" dirty="0">
                <a:solidFill>
                  <a:srgbClr val="0070C0"/>
                </a:solidFill>
              </a:rPr>
              <a:t>end</a:t>
            </a:r>
            <a:r>
              <a:rPr lang="en-US" dirty="0"/>
              <a:t> </a:t>
            </a:r>
          </a:p>
          <a:p>
            <a:r>
              <a:rPr lang="en-US" b="1" dirty="0">
                <a:solidFill>
                  <a:srgbClr val="0070C0"/>
                </a:solidFill>
              </a:rPr>
              <a:t>END</a:t>
            </a:r>
            <a:endParaRPr lang="en-001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99572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8612" y="0"/>
            <a:ext cx="8486775" cy="1143000"/>
          </a:xfrm>
        </p:spPr>
        <p:txBody>
          <a:bodyPr/>
          <a:lstStyle/>
          <a:p>
            <a:r>
              <a:rPr b="1" dirty="0">
                <a:solidFill>
                  <a:schemeClr val="tx2"/>
                </a:solidFill>
              </a:rPr>
              <a:t>Event-B </a:t>
            </a:r>
            <a:r>
              <a:rPr lang="en-US" b="1" dirty="0">
                <a:solidFill>
                  <a:schemeClr val="tx2"/>
                </a:solidFill>
              </a:rPr>
              <a:t>Structure</a:t>
            </a:r>
            <a:endParaRPr b="1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612" y="949569"/>
            <a:ext cx="8586787" cy="5510866"/>
          </a:xfrm>
        </p:spPr>
        <p:txBody>
          <a:bodyPr>
            <a:noAutofit/>
          </a:bodyPr>
          <a:lstStyle/>
          <a:p>
            <a:r>
              <a:rPr lang="en-US" sz="2000" b="1" dirty="0">
                <a:solidFill>
                  <a:schemeClr val="tx2"/>
                </a:solidFill>
              </a:rPr>
              <a:t>Context</a:t>
            </a:r>
            <a:r>
              <a:rPr lang="en-US" sz="2000" dirty="0"/>
              <a:t> </a:t>
            </a:r>
            <a:r>
              <a:rPr lang="en-US" sz="2000" i="1" dirty="0"/>
              <a:t>(Static, domain facts)</a:t>
            </a:r>
            <a:endParaRPr lang="en-US" sz="2000" dirty="0"/>
          </a:p>
          <a:p>
            <a:pPr lvl="1"/>
            <a:r>
              <a:rPr lang="en-US" sz="2000" b="1" dirty="0"/>
              <a:t>SETS:</a:t>
            </a:r>
            <a:r>
              <a:rPr lang="en-US" sz="2000" dirty="0"/>
              <a:t> Abstract types </a:t>
            </a:r>
          </a:p>
          <a:p>
            <a:pPr lvl="1"/>
            <a:r>
              <a:rPr lang="en-US" sz="2000" b="1" dirty="0"/>
              <a:t>CONSTANTS:</a:t>
            </a:r>
            <a:r>
              <a:rPr lang="en-US" sz="2000" dirty="0"/>
              <a:t> Named domain values </a:t>
            </a:r>
          </a:p>
          <a:p>
            <a:pPr lvl="1"/>
            <a:r>
              <a:rPr lang="en-US" sz="2000" b="1" dirty="0"/>
              <a:t>AXIOMS:</a:t>
            </a:r>
            <a:r>
              <a:rPr lang="en-US" sz="2000" dirty="0"/>
              <a:t> Properties over sets/constants (type definitions, constraints)</a:t>
            </a:r>
          </a:p>
          <a:p>
            <a:r>
              <a:rPr lang="en-US" sz="2000" b="1" dirty="0">
                <a:solidFill>
                  <a:schemeClr val="tx2"/>
                </a:solidFill>
              </a:rPr>
              <a:t>Machine</a:t>
            </a:r>
            <a:r>
              <a:rPr lang="en-US" sz="2000" dirty="0"/>
              <a:t> </a:t>
            </a:r>
            <a:r>
              <a:rPr lang="en-US" sz="2000" i="1" dirty="0"/>
              <a:t>(Dynamic, system behavior)</a:t>
            </a:r>
            <a:endParaRPr lang="en-US" sz="2000" dirty="0"/>
          </a:p>
          <a:p>
            <a:pPr lvl="1"/>
            <a:r>
              <a:rPr lang="en-US" sz="2000" b="1" dirty="0"/>
              <a:t>SEES:</a:t>
            </a:r>
            <a:r>
              <a:rPr lang="en-US" sz="2000" dirty="0"/>
              <a:t> Links to one or more Contexts</a:t>
            </a:r>
          </a:p>
          <a:p>
            <a:pPr lvl="1"/>
            <a:r>
              <a:rPr lang="en-US" sz="2000" b="1" dirty="0"/>
              <a:t>VARIABLES (state):</a:t>
            </a:r>
            <a:r>
              <a:rPr lang="en-US" sz="2000" dirty="0"/>
              <a:t> System state components</a:t>
            </a:r>
          </a:p>
          <a:p>
            <a:pPr lvl="1"/>
            <a:r>
              <a:rPr lang="en-US" sz="2000" b="1" dirty="0"/>
              <a:t>INVARIANTS:</a:t>
            </a:r>
            <a:r>
              <a:rPr lang="en-US" sz="2000" dirty="0"/>
              <a:t> Properties that </a:t>
            </a:r>
            <a:r>
              <a:rPr lang="en-US" sz="2000" b="1" dirty="0"/>
              <a:t>must always hold</a:t>
            </a:r>
            <a:r>
              <a:rPr lang="en-US" sz="2000" dirty="0"/>
              <a:t> for the variables, before and after every event</a:t>
            </a:r>
          </a:p>
          <a:p>
            <a:r>
              <a:rPr lang="en-US" sz="2000" b="1" dirty="0">
                <a:solidFill>
                  <a:schemeClr val="tx2"/>
                </a:solidFill>
              </a:rPr>
              <a:t>INITIALISATION</a:t>
            </a:r>
            <a:r>
              <a:rPr lang="en-US" sz="2000" b="1" dirty="0"/>
              <a:t>:</a:t>
            </a:r>
            <a:r>
              <a:rPr lang="en-US" sz="2000" dirty="0"/>
              <a:t> Assigns the initial state satisfying the invariants</a:t>
            </a:r>
          </a:p>
          <a:p>
            <a:r>
              <a:rPr lang="en-US" sz="2000" b="1" dirty="0">
                <a:solidFill>
                  <a:schemeClr val="tx2"/>
                </a:solidFill>
              </a:rPr>
              <a:t>EVENTS</a:t>
            </a:r>
            <a:r>
              <a:rPr lang="en-US" sz="2000" b="1" dirty="0"/>
              <a:t>:</a:t>
            </a:r>
            <a:r>
              <a:rPr lang="en-US" sz="2000" dirty="0"/>
              <a:t> Possible state transitions </a:t>
            </a:r>
            <a:r>
              <a:rPr lang="en-US" sz="2000" i="1" dirty="0"/>
              <a:t>(How behavior is modelled)</a:t>
            </a:r>
            <a:endParaRPr lang="en-US" sz="2000" dirty="0"/>
          </a:p>
          <a:p>
            <a:pPr lvl="1"/>
            <a:r>
              <a:rPr lang="en-US" sz="2000" b="1" dirty="0"/>
              <a:t>Guards:</a:t>
            </a:r>
            <a:r>
              <a:rPr lang="en-US" sz="2000" dirty="0"/>
              <a:t> Conditions enabling the event (when it is allowed)</a:t>
            </a:r>
          </a:p>
          <a:p>
            <a:pPr lvl="1"/>
            <a:r>
              <a:rPr lang="en-US" sz="2000" b="1" dirty="0"/>
              <a:t>Actions:</a:t>
            </a:r>
            <a:r>
              <a:rPr lang="en-US" sz="2000" dirty="0"/>
              <a:t> State updates</a:t>
            </a:r>
          </a:p>
          <a:p>
            <a:pPr lvl="1"/>
            <a:r>
              <a:rPr lang="en-US" sz="2000" b="1" dirty="0"/>
              <a:t>ANY / WHERE:</a:t>
            </a:r>
            <a:r>
              <a:rPr lang="en-US" sz="2000" dirty="0"/>
              <a:t> (optional) Binds local parameters with constraints</a:t>
            </a:r>
          </a:p>
          <a:p>
            <a:endParaRPr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F16DD-EFBB-3761-56DD-68ED751A2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3A1DA-0E6A-99BA-5F50-51F7BDBB9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871" y="-258417"/>
            <a:ext cx="8582025" cy="1143000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Abstract Machine: Safety Logic</a:t>
            </a:r>
            <a:endParaRPr lang="en-001" b="1" dirty="0">
              <a:solidFill>
                <a:schemeClr val="tx2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6048B6-1270-6C9A-569D-C2C8358EAFDB}"/>
              </a:ext>
            </a:extLst>
          </p:cNvPr>
          <p:cNvSpPr txBox="1"/>
          <p:nvPr/>
        </p:nvSpPr>
        <p:spPr>
          <a:xfrm>
            <a:off x="446841" y="626814"/>
            <a:ext cx="5153440" cy="424731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MACHINE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DoorControl </a:t>
            </a:r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SEES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DoorContext </a:t>
            </a:r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VARIABLES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door train </a:t>
            </a:r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INVARIANTS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door ∈ DOOR_STATE 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train ∈ TRAIN_STATE 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  <a:r>
              <a:rPr lang="en-US" b="1" dirty="0">
                <a:highlight>
                  <a:srgbClr val="00FF00"/>
                </a:highlight>
              </a:rPr>
              <a:t>door = OPEN ⇒ train = PRESENT    // SR-1, SR-2 </a:t>
            </a:r>
          </a:p>
          <a:p>
            <a:r>
              <a:rPr lang="en-US" b="1" dirty="0">
                <a:highlight>
                  <a:srgbClr val="00FF00"/>
                </a:highlight>
              </a:rPr>
              <a:t>	train = MOVING ⇒ door = CLOSED    // SR-5 </a:t>
            </a:r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INITIALISATION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door := CLOSED 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train := ABSENT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C76D8B-12BB-461E-1EF2-6417E512A85B}"/>
              </a:ext>
            </a:extLst>
          </p:cNvPr>
          <p:cNvSpPr txBox="1"/>
          <p:nvPr/>
        </p:nvSpPr>
        <p:spPr>
          <a:xfrm>
            <a:off x="5600281" y="636753"/>
            <a:ext cx="3165615" cy="6186309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EVENTS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r>
              <a:rPr lang="en-US" dirty="0">
                <a:highlight>
                  <a:srgbClr val="00FF00"/>
                </a:highlight>
              </a:rPr>
              <a:t>OpenDoors</a:t>
            </a:r>
            <a:r>
              <a:rPr lang="en-US" dirty="0"/>
              <a:t> ≙ </a:t>
            </a:r>
            <a:r>
              <a:rPr lang="en-US" b="1" dirty="0">
                <a:highlight>
                  <a:srgbClr val="00FF00"/>
                </a:highlight>
              </a:rPr>
              <a:t>when </a:t>
            </a:r>
          </a:p>
          <a:p>
            <a:r>
              <a:rPr lang="en-US" b="1" dirty="0">
                <a:highlight>
                  <a:srgbClr val="00FF00"/>
                </a:highlight>
              </a:rPr>
              <a:t>	train = PRESENT then </a:t>
            </a:r>
          </a:p>
          <a:p>
            <a:r>
              <a:rPr lang="en-US" dirty="0"/>
              <a:t>	</a:t>
            </a:r>
            <a:r>
              <a:rPr lang="en-US" dirty="0">
                <a:highlight>
                  <a:srgbClr val="00FF00"/>
                </a:highlight>
              </a:rPr>
              <a:t>door := OPEN </a:t>
            </a:r>
          </a:p>
          <a:p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end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CloseDoors ≙ 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any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t 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where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	t ∈ TRAIN_STATE 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	door := CLOSED </a:t>
            </a:r>
          </a:p>
          <a:p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end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TrainArrives ≙ 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when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train = ABSENT 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train := PRESENT </a:t>
            </a:r>
          </a:p>
          <a:p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end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TrainDeparts ≙ 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when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door = CLOSED 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train := MOVING </a:t>
            </a:r>
          </a:p>
          <a:p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end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END</a:t>
            </a:r>
            <a:endParaRPr lang="en-001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BD0103-E428-D82B-A34E-8C947D938AFC}"/>
              </a:ext>
            </a:extLst>
          </p:cNvPr>
          <p:cNvSpPr txBox="1"/>
          <p:nvPr/>
        </p:nvSpPr>
        <p:spPr>
          <a:xfrm>
            <a:off x="414537" y="1840624"/>
            <a:ext cx="7186411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</a:rPr>
              <a:t>`OpenDoors` can only fire when `train = PRESENT`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4221B6-54A9-1847-1AF3-150A5F8C567F}"/>
              </a:ext>
            </a:extLst>
          </p:cNvPr>
          <p:cNvSpPr txBox="1"/>
          <p:nvPr/>
        </p:nvSpPr>
        <p:spPr>
          <a:xfrm>
            <a:off x="414536" y="3823324"/>
            <a:ext cx="7186411" cy="70788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</a:rPr>
              <a:t>SR-1 &amp; SR-2: Ensures doors stay closed when no train </a:t>
            </a:r>
          </a:p>
          <a:p>
            <a:pPr algn="ctr"/>
            <a:r>
              <a:rPr lang="en-US" sz="2000" b="1" dirty="0">
                <a:solidFill>
                  <a:srgbClr val="00B050"/>
                </a:solidFill>
              </a:rPr>
              <a:t>SR-5: Prevents the unsafe state of open doors + moving train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E85B4B-2BFB-EFB4-39A4-301EBD515524}"/>
              </a:ext>
            </a:extLst>
          </p:cNvPr>
          <p:cNvSpPr txBox="1"/>
          <p:nvPr/>
        </p:nvSpPr>
        <p:spPr>
          <a:xfrm>
            <a:off x="414539" y="974719"/>
            <a:ext cx="5238851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Events model possible behaviors of the 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3A66DE-C989-3459-3AE0-C33E175C7382}"/>
              </a:ext>
            </a:extLst>
          </p:cNvPr>
          <p:cNvSpPr txBox="1"/>
          <p:nvPr/>
        </p:nvSpPr>
        <p:spPr>
          <a:xfrm>
            <a:off x="414536" y="2330870"/>
            <a:ext cx="7186411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</a:rPr>
              <a:t>The ‘then’ clauses change the state of door to ‘open’</a:t>
            </a:r>
          </a:p>
        </p:txBody>
      </p:sp>
    </p:spTree>
    <p:extLst>
      <p:ext uri="{BB962C8B-B14F-4D97-AF65-F5344CB8AC3E}">
        <p14:creationId xmlns:p14="http://schemas.microsoft.com/office/powerpoint/2010/main" val="15027280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6CFB4-14D7-5395-3B6C-6B34AC33C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89D74-F467-3EC0-9A20-998BB8000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871" y="-258417"/>
            <a:ext cx="8582025" cy="1143000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Refinement (Adding Implementation Detail)</a:t>
            </a:r>
            <a:endParaRPr lang="en-001" b="1" dirty="0">
              <a:solidFill>
                <a:schemeClr val="tx2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B31287-083E-DDD3-07A7-E781BD61519E}"/>
              </a:ext>
            </a:extLst>
          </p:cNvPr>
          <p:cNvSpPr txBox="1"/>
          <p:nvPr/>
        </p:nvSpPr>
        <p:spPr>
          <a:xfrm>
            <a:off x="378104" y="680728"/>
            <a:ext cx="4463089" cy="632480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sz="1500" b="1" dirty="0">
                <a:solidFill>
                  <a:srgbClr val="0070C0"/>
                </a:solidFill>
              </a:rPr>
              <a:t>MACHINE</a:t>
            </a:r>
            <a:r>
              <a:rPr lang="en-US" sz="1500" dirty="0"/>
              <a:t> DoorControl_R1 </a:t>
            </a:r>
            <a:r>
              <a:rPr lang="en-US" sz="1500" b="1" dirty="0">
                <a:solidFill>
                  <a:srgbClr val="0070C0"/>
                </a:solidFill>
              </a:rPr>
              <a:t>REFINES</a:t>
            </a:r>
            <a:r>
              <a:rPr lang="en-US" sz="1500" dirty="0"/>
              <a:t> DoorControl </a:t>
            </a:r>
            <a:endParaRPr lang="en-US" sz="1500" b="1" dirty="0">
              <a:solidFill>
                <a:srgbClr val="0070C0"/>
              </a:solidFill>
            </a:endParaRPr>
          </a:p>
          <a:p>
            <a:r>
              <a:rPr lang="en-US" sz="1500" b="1" dirty="0">
                <a:solidFill>
                  <a:srgbClr val="0070C0"/>
                </a:solidFill>
              </a:rPr>
              <a:t>VARIABLES</a:t>
            </a:r>
            <a:r>
              <a:rPr lang="en-US" sz="1500" dirty="0"/>
              <a:t> door train sensor </a:t>
            </a:r>
          </a:p>
          <a:p>
            <a:r>
              <a:rPr lang="en-US" sz="1500" b="1" dirty="0">
                <a:solidFill>
                  <a:srgbClr val="0070C0"/>
                </a:solidFill>
              </a:rPr>
              <a:t>INVARIANTS</a:t>
            </a:r>
            <a:r>
              <a:rPr lang="en-US" sz="1500" dirty="0"/>
              <a:t> </a:t>
            </a:r>
          </a:p>
          <a:p>
            <a:r>
              <a:rPr lang="en-US" sz="1500" dirty="0"/>
              <a:t>	sensor ∈ BOOL </a:t>
            </a:r>
          </a:p>
          <a:p>
            <a:r>
              <a:rPr lang="en-US" sz="1500" dirty="0"/>
              <a:t>	</a:t>
            </a:r>
            <a:r>
              <a:rPr lang="en-US" sz="1500" dirty="0">
                <a:highlight>
                  <a:srgbClr val="00FF00"/>
                </a:highlight>
              </a:rPr>
              <a:t>sensor = TRUE ⇔ train ∈ {PRESENT} </a:t>
            </a:r>
          </a:p>
          <a:p>
            <a:r>
              <a:rPr lang="en-US" sz="1500" b="1" dirty="0">
                <a:solidFill>
                  <a:srgbClr val="0070C0"/>
                </a:solidFill>
              </a:rPr>
              <a:t>EVENTS</a:t>
            </a:r>
            <a:r>
              <a:rPr lang="en-US" sz="1500" dirty="0"/>
              <a:t> </a:t>
            </a:r>
          </a:p>
          <a:p>
            <a:r>
              <a:rPr lang="en-US" sz="1500" dirty="0"/>
              <a:t>OpenDoors </a:t>
            </a:r>
            <a:r>
              <a:rPr lang="en-US" sz="1500" b="1" dirty="0">
                <a:solidFill>
                  <a:srgbClr val="0070C0"/>
                </a:solidFill>
              </a:rPr>
              <a:t>refines</a:t>
            </a:r>
            <a:r>
              <a:rPr lang="en-US" sz="1500" dirty="0"/>
              <a:t> OpenDoors ≙ </a:t>
            </a:r>
            <a:r>
              <a:rPr lang="en-US" sz="1500" b="1" dirty="0">
                <a:solidFill>
                  <a:srgbClr val="0070C0"/>
                </a:solidFill>
              </a:rPr>
              <a:t>when</a:t>
            </a:r>
            <a:r>
              <a:rPr lang="en-US" sz="1500" dirty="0"/>
              <a:t> </a:t>
            </a:r>
          </a:p>
          <a:p>
            <a:r>
              <a:rPr lang="en-US" sz="1500" dirty="0"/>
              <a:t>	</a:t>
            </a:r>
            <a:r>
              <a:rPr lang="en-US" sz="1500" dirty="0">
                <a:highlight>
                  <a:srgbClr val="00FF00"/>
                </a:highlight>
              </a:rPr>
              <a:t>sensor = TRUE </a:t>
            </a:r>
          </a:p>
          <a:p>
            <a:r>
              <a:rPr lang="en-US" sz="1500" dirty="0"/>
              <a:t>	train = PRESENT </a:t>
            </a:r>
            <a:r>
              <a:rPr lang="en-US" sz="1500" b="1" dirty="0">
                <a:solidFill>
                  <a:srgbClr val="0070C0"/>
                </a:solidFill>
              </a:rPr>
              <a:t>then</a:t>
            </a:r>
            <a:r>
              <a:rPr lang="en-US" sz="1500" dirty="0"/>
              <a:t> </a:t>
            </a:r>
          </a:p>
          <a:p>
            <a:r>
              <a:rPr lang="en-US" sz="1500" dirty="0"/>
              <a:t>	door := OPEN </a:t>
            </a:r>
            <a:r>
              <a:rPr lang="en-US" sz="1500" b="1" dirty="0">
                <a:solidFill>
                  <a:srgbClr val="0070C0"/>
                </a:solidFill>
              </a:rPr>
              <a:t>end</a:t>
            </a:r>
            <a:r>
              <a:rPr lang="en-US" sz="1500" dirty="0"/>
              <a:t> </a:t>
            </a:r>
          </a:p>
          <a:p>
            <a:r>
              <a:rPr lang="en-US" sz="1500" dirty="0"/>
              <a:t>CloseDoors </a:t>
            </a:r>
            <a:r>
              <a:rPr lang="en-US" sz="1500" b="1" dirty="0">
                <a:solidFill>
                  <a:srgbClr val="0070C0"/>
                </a:solidFill>
              </a:rPr>
              <a:t>refines</a:t>
            </a:r>
            <a:r>
              <a:rPr lang="en-US" sz="1500" dirty="0"/>
              <a:t> CloseDoors ≙ </a:t>
            </a:r>
            <a:r>
              <a:rPr lang="en-US" sz="1500" b="1" dirty="0">
                <a:solidFill>
                  <a:srgbClr val="0070C0"/>
                </a:solidFill>
              </a:rPr>
              <a:t>any</a:t>
            </a:r>
            <a:r>
              <a:rPr lang="en-US" sz="1500" dirty="0"/>
              <a:t> t </a:t>
            </a:r>
            <a:r>
              <a:rPr lang="en-US" sz="1500" b="1" dirty="0">
                <a:solidFill>
                  <a:srgbClr val="0070C0"/>
                </a:solidFill>
              </a:rPr>
              <a:t>where</a:t>
            </a:r>
            <a:r>
              <a:rPr lang="en-US" sz="1500" dirty="0"/>
              <a:t> </a:t>
            </a:r>
          </a:p>
          <a:p>
            <a:r>
              <a:rPr lang="en-US" sz="1500" dirty="0"/>
              <a:t>	door = OPEN </a:t>
            </a:r>
          </a:p>
          <a:p>
            <a:r>
              <a:rPr lang="en-US" sz="1500" dirty="0"/>
              <a:t>	t ∈ TRAIN_STATE </a:t>
            </a:r>
            <a:r>
              <a:rPr lang="en-US" sz="1500" b="1" dirty="0">
                <a:solidFill>
                  <a:srgbClr val="0070C0"/>
                </a:solidFill>
              </a:rPr>
              <a:t>then</a:t>
            </a:r>
            <a:r>
              <a:rPr lang="en-US" sz="1500" dirty="0"/>
              <a:t> </a:t>
            </a:r>
          </a:p>
          <a:p>
            <a:r>
              <a:rPr lang="en-US" sz="1500" dirty="0"/>
              <a:t>	door := CLOSED </a:t>
            </a:r>
            <a:r>
              <a:rPr lang="en-US" sz="1500" b="1" dirty="0">
                <a:solidFill>
                  <a:srgbClr val="0070C0"/>
                </a:solidFill>
              </a:rPr>
              <a:t>end</a:t>
            </a:r>
            <a:r>
              <a:rPr lang="en-US" sz="1500" dirty="0"/>
              <a:t> </a:t>
            </a:r>
          </a:p>
          <a:p>
            <a:r>
              <a:rPr lang="en-US" sz="1500" dirty="0"/>
              <a:t>TrainArrives </a:t>
            </a:r>
            <a:r>
              <a:rPr lang="en-US" sz="1500" b="1" dirty="0">
                <a:solidFill>
                  <a:srgbClr val="0070C0"/>
                </a:solidFill>
              </a:rPr>
              <a:t>refines</a:t>
            </a:r>
            <a:r>
              <a:rPr lang="en-US" sz="1500" dirty="0"/>
              <a:t> TrainArrives ≙ </a:t>
            </a:r>
            <a:r>
              <a:rPr lang="en-US" sz="1500" b="1" dirty="0">
                <a:solidFill>
                  <a:srgbClr val="0070C0"/>
                </a:solidFill>
              </a:rPr>
              <a:t>when</a:t>
            </a:r>
            <a:r>
              <a:rPr lang="en-US" sz="1500" dirty="0"/>
              <a:t> </a:t>
            </a:r>
          </a:p>
          <a:p>
            <a:r>
              <a:rPr lang="en-US" sz="1500" dirty="0"/>
              <a:t>	train = ABSENT </a:t>
            </a:r>
            <a:r>
              <a:rPr lang="en-US" sz="1500" b="1" dirty="0">
                <a:solidFill>
                  <a:srgbClr val="0070C0"/>
                </a:solidFill>
              </a:rPr>
              <a:t>then</a:t>
            </a:r>
            <a:r>
              <a:rPr lang="en-US" sz="1500" dirty="0"/>
              <a:t> </a:t>
            </a:r>
          </a:p>
          <a:p>
            <a:r>
              <a:rPr lang="en-US" sz="1500" dirty="0"/>
              <a:t>	train := PRESENT </a:t>
            </a:r>
            <a:r>
              <a:rPr lang="en-US" sz="1500" b="1" dirty="0">
                <a:solidFill>
                  <a:srgbClr val="0070C0"/>
                </a:solidFill>
              </a:rPr>
              <a:t>end</a:t>
            </a:r>
            <a:r>
              <a:rPr lang="en-US" sz="1500" dirty="0"/>
              <a:t> </a:t>
            </a:r>
          </a:p>
          <a:p>
            <a:r>
              <a:rPr lang="en-US" sz="1500" dirty="0"/>
              <a:t>TrainDeparts </a:t>
            </a:r>
            <a:r>
              <a:rPr lang="en-US" sz="1500" b="1" dirty="0">
                <a:solidFill>
                  <a:srgbClr val="0070C0"/>
                </a:solidFill>
              </a:rPr>
              <a:t>refines</a:t>
            </a:r>
            <a:r>
              <a:rPr lang="en-US" sz="1500" dirty="0"/>
              <a:t> TrainDeparts ≙ </a:t>
            </a:r>
            <a:r>
              <a:rPr lang="en-US" sz="1500" b="1" dirty="0">
                <a:solidFill>
                  <a:srgbClr val="0070C0"/>
                </a:solidFill>
              </a:rPr>
              <a:t>when</a:t>
            </a:r>
            <a:r>
              <a:rPr lang="en-US" sz="1500" dirty="0"/>
              <a:t> </a:t>
            </a:r>
          </a:p>
          <a:p>
            <a:r>
              <a:rPr lang="en-US" sz="1500" dirty="0"/>
              <a:t>	door = CLOSED then </a:t>
            </a:r>
          </a:p>
          <a:p>
            <a:r>
              <a:rPr lang="en-US" sz="1500" dirty="0"/>
              <a:t>	train := MOVING</a:t>
            </a:r>
          </a:p>
          <a:p>
            <a:r>
              <a:rPr lang="en-US" sz="1500" dirty="0"/>
              <a:t>	 </a:t>
            </a:r>
            <a:r>
              <a:rPr lang="en-US" sz="1500" dirty="0">
                <a:highlight>
                  <a:srgbClr val="00FF00"/>
                </a:highlight>
              </a:rPr>
              <a:t>sensor := FALSE </a:t>
            </a:r>
            <a:r>
              <a:rPr lang="en-US" sz="1500" b="1" dirty="0">
                <a:solidFill>
                  <a:srgbClr val="0070C0"/>
                </a:solidFill>
              </a:rPr>
              <a:t>end</a:t>
            </a:r>
            <a:r>
              <a:rPr lang="en-US" sz="1500" dirty="0"/>
              <a:t> </a:t>
            </a:r>
          </a:p>
          <a:p>
            <a:r>
              <a:rPr lang="en-US" sz="1500" dirty="0" err="1">
                <a:highlight>
                  <a:srgbClr val="00FF00"/>
                </a:highlight>
              </a:rPr>
              <a:t>DetectTrain</a:t>
            </a:r>
            <a:r>
              <a:rPr lang="en-US" sz="1500" dirty="0"/>
              <a:t> ≙ </a:t>
            </a:r>
            <a:r>
              <a:rPr lang="en-US" sz="1500" b="1" dirty="0">
                <a:solidFill>
                  <a:srgbClr val="0070C0"/>
                </a:solidFill>
              </a:rPr>
              <a:t>when</a:t>
            </a:r>
            <a:r>
              <a:rPr lang="en-US" sz="1500" dirty="0"/>
              <a:t>  // new event </a:t>
            </a:r>
          </a:p>
          <a:p>
            <a:r>
              <a:rPr lang="en-US" sz="1500" dirty="0"/>
              <a:t>	sensor = FALSE </a:t>
            </a:r>
          </a:p>
          <a:p>
            <a:r>
              <a:rPr lang="en-US" sz="1500" dirty="0"/>
              <a:t>           train = PRESENT </a:t>
            </a:r>
            <a:r>
              <a:rPr lang="en-US" sz="1500" b="1" dirty="0">
                <a:solidFill>
                  <a:srgbClr val="0070C0"/>
                </a:solidFill>
              </a:rPr>
              <a:t>then</a:t>
            </a:r>
            <a:endParaRPr lang="en-US" sz="1500" dirty="0"/>
          </a:p>
          <a:p>
            <a:r>
              <a:rPr lang="en-US" sz="1500" dirty="0"/>
              <a:t>	 sensor := TRUE </a:t>
            </a:r>
            <a:r>
              <a:rPr lang="en-US" sz="1500" b="1" dirty="0">
                <a:solidFill>
                  <a:srgbClr val="0070C0"/>
                </a:solidFill>
              </a:rPr>
              <a:t>end</a:t>
            </a:r>
            <a:r>
              <a:rPr lang="en-US" sz="1500" dirty="0"/>
              <a:t> </a:t>
            </a:r>
          </a:p>
          <a:p>
            <a:r>
              <a:rPr lang="en-US" sz="1500" b="1" dirty="0">
                <a:solidFill>
                  <a:srgbClr val="0070C0"/>
                </a:solidFill>
              </a:rPr>
              <a:t>END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FE3E36-E6D8-79D0-F92D-CF64443C40FD}"/>
              </a:ext>
            </a:extLst>
          </p:cNvPr>
          <p:cNvSpPr txBox="1"/>
          <p:nvPr/>
        </p:nvSpPr>
        <p:spPr>
          <a:xfrm>
            <a:off x="4989443" y="557241"/>
            <a:ext cx="4039423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Introduces </a:t>
            </a:r>
            <a:r>
              <a:rPr lang="en-US" b="1" dirty="0"/>
              <a:t>sensor variable </a:t>
            </a:r>
            <a:r>
              <a:rPr lang="en-US" dirty="0"/>
              <a:t>representing physical train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B050"/>
                </a:solidFill>
              </a:rPr>
              <a:t> </a:t>
            </a:r>
            <a:r>
              <a:rPr lang="en-US" sz="2000" b="1" dirty="0">
                <a:solidFill>
                  <a:srgbClr val="00B050"/>
                </a:solidFill>
              </a:rPr>
              <a:t>Gluing invariant</a:t>
            </a:r>
            <a:r>
              <a:rPr lang="en-US" sz="2000" dirty="0">
                <a:solidFill>
                  <a:srgbClr val="00B050"/>
                </a:solidFill>
              </a:rPr>
              <a:t> links abstract and concrete 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Events refined to include sensor checks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New event “</a:t>
            </a:r>
            <a:r>
              <a:rPr lang="en-US" dirty="0" err="1"/>
              <a:t>DetectTrain</a:t>
            </a:r>
            <a:r>
              <a:rPr lang="en-US" dirty="0"/>
              <a:t>” models sensor activation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Rodin tool will generate proof obligations to verify safety is preserved (more on Lecture 4)</a:t>
            </a:r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24154898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1AD06-0533-7B54-8E2D-B18D94F49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F805A-017C-12F1-8523-68B87D404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0"/>
            <a:ext cx="8636508" cy="1143000"/>
          </a:xfrm>
        </p:spPr>
        <p:txBody>
          <a:bodyPr/>
          <a:lstStyle/>
          <a:p>
            <a:r>
              <a:rPr lang="en-001" b="1" dirty="0">
                <a:solidFill>
                  <a:schemeClr val="tx2"/>
                </a:solidFill>
              </a:rPr>
              <a:t>Summery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15446-F4B9-504F-0992-5E896B9396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261873"/>
            <a:ext cx="8636508" cy="4608260"/>
          </a:xfrm>
        </p:spPr>
        <p:txBody>
          <a:bodyPr>
            <a:normAutofit fontScale="92500"/>
          </a:bodyPr>
          <a:lstStyle/>
          <a:p>
            <a:r>
              <a:rPr lang="en-001" b="1" dirty="0"/>
              <a:t>Overview of :  </a:t>
            </a:r>
            <a:r>
              <a:rPr lang="en-001" dirty="0"/>
              <a:t>Z, CPS, B, Event-B</a:t>
            </a:r>
          </a:p>
          <a:p>
            <a:r>
              <a:rPr lang="en-001" b="1" dirty="0"/>
              <a:t>Safety Requirement </a:t>
            </a:r>
            <a:r>
              <a:rPr lang="en-001" dirty="0"/>
              <a:t>identification</a:t>
            </a:r>
          </a:p>
          <a:p>
            <a:r>
              <a:rPr lang="en-001" b="1" dirty="0"/>
              <a:t>Safety properties </a:t>
            </a:r>
            <a:r>
              <a:rPr lang="en-001" dirty="0"/>
              <a:t>specification</a:t>
            </a:r>
          </a:p>
          <a:p>
            <a:r>
              <a:rPr lang="en-001" b="1" dirty="0"/>
              <a:t>First Event-B model </a:t>
            </a:r>
            <a:r>
              <a:rPr lang="en-001" dirty="0"/>
              <a:t>construction</a:t>
            </a:r>
          </a:p>
          <a:p>
            <a:endParaRPr lang="en-001" dirty="0"/>
          </a:p>
          <a:p>
            <a:endParaRPr lang="en-001" dirty="0">
              <a:solidFill>
                <a:schemeClr val="tx2"/>
              </a:solidFill>
            </a:endParaRPr>
          </a:p>
          <a:p>
            <a:endParaRPr lang="en-001" dirty="0">
              <a:solidFill>
                <a:schemeClr val="tx2"/>
              </a:solidFill>
            </a:endParaRPr>
          </a:p>
          <a:p>
            <a:pPr marL="342900" lvl="1" indent="0">
              <a:buNone/>
            </a:pPr>
            <a:endParaRPr lang="en-US" dirty="0"/>
          </a:p>
          <a:p>
            <a:pPr lvl="1"/>
            <a:r>
              <a:rPr lang="en-US" dirty="0"/>
              <a:t>Modeling in Event-B: System and Software Engineering </a:t>
            </a:r>
          </a:p>
          <a:p>
            <a:pPr marL="342900" lvl="1" indent="0">
              <a:buNone/>
            </a:pPr>
            <a:r>
              <a:rPr lang="en-US" dirty="0"/>
              <a:t>    by Jean-Raymond Abrial</a:t>
            </a:r>
          </a:p>
          <a:p>
            <a:pPr lvl="1"/>
            <a:r>
              <a:rPr lang="en-US" dirty="0">
                <a:hlinkClick r:id="rId2"/>
              </a:rPr>
              <a:t>https://wiki.event-b.org/</a:t>
            </a:r>
            <a:endParaRPr lang="en-US" dirty="0"/>
          </a:p>
          <a:p>
            <a:pPr lvl="1"/>
            <a:r>
              <a:rPr lang="en-US" dirty="0"/>
              <a:t>Systems Engineering Principles and Practice, Alexander </a:t>
            </a:r>
            <a:r>
              <a:rPr lang="en-US" dirty="0" err="1"/>
              <a:t>Kossiakoff</a:t>
            </a:r>
            <a:r>
              <a:rPr lang="en-US" dirty="0"/>
              <a:t> et. al., 2011</a:t>
            </a:r>
          </a:p>
          <a:p>
            <a:pPr lvl="1"/>
            <a:endParaRPr lang="en-US" dirty="0"/>
          </a:p>
          <a:p>
            <a:pPr lvl="1"/>
            <a:endParaRPr lang="en-001" dirty="0"/>
          </a:p>
          <a:p>
            <a:endParaRPr lang="en-00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48A55C-D9AC-04FD-3504-C2EDE380A47D}"/>
              </a:ext>
            </a:extLst>
          </p:cNvPr>
          <p:cNvSpPr txBox="1"/>
          <p:nvPr/>
        </p:nvSpPr>
        <p:spPr>
          <a:xfrm>
            <a:off x="992533" y="3566003"/>
            <a:ext cx="6619774" cy="40011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000" b="1" dirty="0"/>
              <a:t>Let’s read and explore</a:t>
            </a:r>
          </a:p>
        </p:txBody>
      </p:sp>
    </p:spTree>
    <p:extLst>
      <p:ext uri="{BB962C8B-B14F-4D97-AF65-F5344CB8AC3E}">
        <p14:creationId xmlns:p14="http://schemas.microsoft.com/office/powerpoint/2010/main" val="2958716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002DFA9-1A7F-384F-9364-52518B21DDAB}">
  <we:reference id="3e0fcce7-415c-4081-926c-b4e449c650e4" version="1.1.0.2" store="EXCatalog" storeType="EXCatalog"/>
  <we:alternateReferences>
    <we:reference id="WA200004709" version="1.1.0.2" store="en-GB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27406</TotalTime>
  <Words>1951</Words>
  <Application>Microsoft Macintosh PowerPoint</Application>
  <PresentationFormat>On-screen Show (4:3)</PresentationFormat>
  <Paragraphs>374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Arial</vt:lpstr>
      <vt:lpstr>Calibri</vt:lpstr>
      <vt:lpstr>Cambria Math</vt:lpstr>
      <vt:lpstr>Consolas</vt:lpstr>
      <vt:lpstr>Office Theme</vt:lpstr>
      <vt:lpstr> AICE2005 - Systematic Design  Formal Specification and Verification</vt:lpstr>
      <vt:lpstr>Course Introduction</vt:lpstr>
      <vt:lpstr>PowerPoint Presentation</vt:lpstr>
      <vt:lpstr>Recap: Formal Methods (FM) </vt:lpstr>
      <vt:lpstr>Lecture 2 Overview</vt:lpstr>
      <vt:lpstr>Formal Specification Fundamentals</vt:lpstr>
      <vt:lpstr>Formal Specification Fundamentals</vt:lpstr>
      <vt:lpstr>Z Notation Overview</vt:lpstr>
      <vt:lpstr>Communicating Sequential Processes CPS Overview</vt:lpstr>
      <vt:lpstr>B Method Overview</vt:lpstr>
      <vt:lpstr>Event-B Introduction</vt:lpstr>
      <vt:lpstr>Formal Methods Comparison</vt:lpstr>
      <vt:lpstr>Case Study: Platform Screen Door Control System</vt:lpstr>
      <vt:lpstr>Case Study: Platform Screen Door Control System</vt:lpstr>
      <vt:lpstr>Safety Requirement Identification</vt:lpstr>
      <vt:lpstr>Safety Requirement Identification</vt:lpstr>
      <vt:lpstr>Event-B Notation Basics</vt:lpstr>
      <vt:lpstr>Context Definition (Event-B CONTEXT)</vt:lpstr>
      <vt:lpstr>Abstract Machine: Safety Logic</vt:lpstr>
      <vt:lpstr>Event-B Structure</vt:lpstr>
      <vt:lpstr>Abstract Machine: Safety Logic</vt:lpstr>
      <vt:lpstr>Refinement (Adding Implementation Detail)</vt:lpstr>
      <vt:lpstr>Summery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Asieh Salehi Fathabadi</cp:lastModifiedBy>
  <cp:revision>44</cp:revision>
  <dcterms:created xsi:type="dcterms:W3CDTF">2013-01-27T09:14:16Z</dcterms:created>
  <dcterms:modified xsi:type="dcterms:W3CDTF">2026-10-13T14:15:40Z</dcterms:modified>
  <cp:category/>
</cp:coreProperties>
</file>