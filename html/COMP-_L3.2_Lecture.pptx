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slides/_rels/slide15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7.xml.rels" ContentType="application/vnd.openxmlformats-package.relationships+xml"/>
  <Override PartName="/ppt/slides/_rels/slide29.xml.rels" ContentType="application/vnd.openxmlformats-package.relationships+xml"/>
  <Override PartName="/ppt/slides/_rels/slide2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0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1558800"/>
            <a:ext cx="1036296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Introduction to Systematic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2454120"/>
            <a:ext cx="65214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of Multi-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3349440"/>
            <a:ext cx="800352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Component Systems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"/>
          <p:cNvSpPr/>
          <p:nvPr/>
        </p:nvSpPr>
        <p:spPr>
          <a:xfrm>
            <a:off x="4305240" y="2266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3"/>
                  <a:pt x="105" y="186"/>
                  <a:pt x="92" y="186"/>
                </a:cubicBezTo>
                <a:cubicBezTo>
                  <a:pt x="80" y="186"/>
                  <a:pt x="68" y="183"/>
                  <a:pt x="57" y="179"/>
                </a:cubicBezTo>
                <a:cubicBezTo>
                  <a:pt x="45" y="174"/>
                  <a:pt x="35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5" y="18"/>
                  <a:pt x="45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1"/>
                  <a:pt x="149" y="18"/>
                  <a:pt x="158" y="27"/>
                </a:cubicBezTo>
                <a:cubicBezTo>
                  <a:pt x="167" y="35"/>
                  <a:pt x="174" y="45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095720" y="1717920"/>
            <a:ext cx="444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the end of this lecture, you will be able to: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502160" y="2175120"/>
            <a:ext cx="6553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 the diﬀerences between monolithic and distributed design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4305240" y="2933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4"/>
                  <a:pt x="35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5" y="18"/>
                  <a:pt x="45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1"/>
                  <a:pt x="149" y="18"/>
                  <a:pt x="158" y="27"/>
                </a:cubicBezTo>
                <a:cubicBezTo>
                  <a:pt x="167" y="35"/>
                  <a:pt x="174" y="45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02160" y="2480040"/>
            <a:ext cx="1197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approaches.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4305240" y="3286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3"/>
                  <a:pt x="105" y="186"/>
                  <a:pt x="92" y="186"/>
                </a:cubicBezTo>
                <a:cubicBezTo>
                  <a:pt x="80" y="186"/>
                  <a:pt x="68" y="183"/>
                  <a:pt x="57" y="179"/>
                </a:cubicBezTo>
                <a:cubicBezTo>
                  <a:pt x="45" y="174"/>
                  <a:pt x="35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1"/>
                  <a:pt x="149" y="18"/>
                  <a:pt x="158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502160" y="2841840"/>
            <a:ext cx="5807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Describe the key principles of a systematic design process.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502160" y="3194280"/>
            <a:ext cx="6690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the importance of interfaces and coordination in distributed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4305240" y="3943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7" y="151"/>
                  <a:pt x="158" y="159"/>
                </a:cubicBezTo>
                <a:cubicBezTo>
                  <a:pt x="149" y="168"/>
                  <a:pt x="139" y="175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5"/>
                  <a:pt x="35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9"/>
                  <a:pt x="45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8" y="7"/>
                </a:cubicBezTo>
                <a:cubicBezTo>
                  <a:pt x="139" y="12"/>
                  <a:pt x="149" y="19"/>
                  <a:pt x="158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502160" y="3499200"/>
            <a:ext cx="2092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development.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2160" y="3851640"/>
            <a:ext cx="6811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Evaluate tools and methods used to support the systematic design of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4305240" y="46098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7" y="151"/>
                  <a:pt x="158" y="159"/>
                </a:cubicBezTo>
                <a:cubicBezTo>
                  <a:pt x="149" y="168"/>
                  <a:pt x="139" y="175"/>
                  <a:pt x="128" y="179"/>
                </a:cubicBezTo>
                <a:cubicBezTo>
                  <a:pt x="116" y="184"/>
                  <a:pt x="105" y="187"/>
                  <a:pt x="92" y="187"/>
                </a:cubicBezTo>
                <a:cubicBezTo>
                  <a:pt x="80" y="187"/>
                  <a:pt x="68" y="184"/>
                  <a:pt x="57" y="179"/>
                </a:cubicBezTo>
                <a:cubicBezTo>
                  <a:pt x="45" y="175"/>
                  <a:pt x="35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9"/>
                  <a:pt x="45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8" y="7"/>
                </a:cubicBezTo>
                <a:cubicBezTo>
                  <a:pt x="139" y="12"/>
                  <a:pt x="149" y="19"/>
                  <a:pt x="158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502160" y="4156560"/>
            <a:ext cx="1763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complex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502160" y="4518360"/>
            <a:ext cx="5951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Apply a systematic design process to a simpliﬁed real-world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502160" y="4823280"/>
            <a:ext cx="2121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engineering problem.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646920" y="381960"/>
            <a:ext cx="2772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Intended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658800" y="1296360"/>
            <a:ext cx="2748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Learning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55040" y="2210760"/>
            <a:ext cx="315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Outcomes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766440" y="1680840"/>
            <a:ext cx="10658880" cy="991080"/>
          </a:xfrm>
          <a:custGeom>
            <a:avLst/>
            <a:gdLst/>
            <a:ahLst/>
            <a:rect l="0" t="0" r="r" b="b"/>
            <a:pathLst>
              <a:path w="29608" h="2753">
                <a:moveTo>
                  <a:pt x="0" y="2608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08"/>
                </a:lnTo>
                <a:cubicBezTo>
                  <a:pt x="29608" y="2617"/>
                  <a:pt x="29607" y="2627"/>
                  <a:pt x="29605" y="2636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2"/>
                  <a:pt x="29589" y="2680"/>
                  <a:pt x="29584" y="2688"/>
                </a:cubicBezTo>
                <a:cubicBezTo>
                  <a:pt x="29578" y="2696"/>
                  <a:pt x="29572" y="2704"/>
                  <a:pt x="29566" y="2710"/>
                </a:cubicBezTo>
                <a:cubicBezTo>
                  <a:pt x="29559" y="2717"/>
                  <a:pt x="29552" y="2723"/>
                  <a:pt x="29544" y="2729"/>
                </a:cubicBezTo>
                <a:cubicBezTo>
                  <a:pt x="29536" y="2734"/>
                  <a:pt x="29527" y="2738"/>
                  <a:pt x="29518" y="2742"/>
                </a:cubicBezTo>
                <a:cubicBezTo>
                  <a:pt x="29510" y="2746"/>
                  <a:pt x="29501" y="2748"/>
                  <a:pt x="29491" y="2750"/>
                </a:cubicBezTo>
                <a:cubicBezTo>
                  <a:pt x="29482" y="2752"/>
                  <a:pt x="29472" y="2753"/>
                  <a:pt x="29463" y="2753"/>
                </a:cubicBezTo>
                <a:lnTo>
                  <a:pt x="146" y="2753"/>
                </a:lnTo>
                <a:cubicBezTo>
                  <a:pt x="136" y="2753"/>
                  <a:pt x="127" y="2752"/>
                  <a:pt x="118" y="2750"/>
                </a:cubicBezTo>
                <a:cubicBezTo>
                  <a:pt x="108" y="2748"/>
                  <a:pt x="99" y="2746"/>
                  <a:pt x="90" y="2742"/>
                </a:cubicBezTo>
                <a:cubicBezTo>
                  <a:pt x="81" y="2738"/>
                  <a:pt x="73" y="2734"/>
                  <a:pt x="65" y="2729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4"/>
                  <a:pt x="30" y="2696"/>
                  <a:pt x="25" y="2688"/>
                </a:cubicBezTo>
                <a:cubicBezTo>
                  <a:pt x="20" y="2680"/>
                  <a:pt x="15" y="2672"/>
                  <a:pt x="11" y="2663"/>
                </a:cubicBezTo>
                <a:cubicBezTo>
                  <a:pt x="8" y="2654"/>
                  <a:pt x="5" y="2645"/>
                  <a:pt x="3" y="2636"/>
                </a:cubicBezTo>
                <a:cubicBezTo>
                  <a:pt x="1" y="2627"/>
                  <a:pt x="0" y="2617"/>
                  <a:pt x="0" y="2608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766440" y="1680840"/>
            <a:ext cx="10658880" cy="991080"/>
          </a:xfrm>
          <a:custGeom>
            <a:avLst/>
            <a:gdLst/>
            <a:ahLst/>
            <a:rect l="0" t="0" r="r" b="b"/>
            <a:pathLst>
              <a:path fill="none" w="29608" h="2753">
                <a:moveTo>
                  <a:pt x="0" y="2608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08"/>
                </a:lnTo>
                <a:cubicBezTo>
                  <a:pt x="29608" y="2617"/>
                  <a:pt x="29607" y="2627"/>
                  <a:pt x="29605" y="2636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2"/>
                  <a:pt x="29589" y="2680"/>
                  <a:pt x="29584" y="2688"/>
                </a:cubicBezTo>
                <a:cubicBezTo>
                  <a:pt x="29578" y="2696"/>
                  <a:pt x="29572" y="2704"/>
                  <a:pt x="29566" y="2710"/>
                </a:cubicBezTo>
                <a:cubicBezTo>
                  <a:pt x="29559" y="2717"/>
                  <a:pt x="29552" y="2723"/>
                  <a:pt x="29544" y="2729"/>
                </a:cubicBezTo>
                <a:cubicBezTo>
                  <a:pt x="29536" y="2734"/>
                  <a:pt x="29527" y="2738"/>
                  <a:pt x="29518" y="2742"/>
                </a:cubicBezTo>
                <a:cubicBezTo>
                  <a:pt x="29510" y="2746"/>
                  <a:pt x="29501" y="2748"/>
                  <a:pt x="29491" y="2750"/>
                </a:cubicBezTo>
                <a:cubicBezTo>
                  <a:pt x="29482" y="2752"/>
                  <a:pt x="29472" y="2753"/>
                  <a:pt x="29463" y="2753"/>
                </a:cubicBezTo>
                <a:lnTo>
                  <a:pt x="146" y="2753"/>
                </a:lnTo>
                <a:cubicBezTo>
                  <a:pt x="136" y="2753"/>
                  <a:pt x="127" y="2752"/>
                  <a:pt x="118" y="2750"/>
                </a:cubicBezTo>
                <a:cubicBezTo>
                  <a:pt x="108" y="2748"/>
                  <a:pt x="99" y="2746"/>
                  <a:pt x="90" y="2742"/>
                </a:cubicBezTo>
                <a:cubicBezTo>
                  <a:pt x="81" y="2738"/>
                  <a:pt x="73" y="2734"/>
                  <a:pt x="65" y="2729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4"/>
                  <a:pt x="30" y="2696"/>
                  <a:pt x="25" y="2688"/>
                </a:cubicBezTo>
                <a:cubicBezTo>
                  <a:pt x="20" y="2680"/>
                  <a:pt x="15" y="2672"/>
                  <a:pt x="11" y="2663"/>
                </a:cubicBezTo>
                <a:cubicBezTo>
                  <a:pt x="8" y="2654"/>
                  <a:pt x="5" y="2645"/>
                  <a:pt x="3" y="2636"/>
                </a:cubicBezTo>
                <a:cubicBezTo>
                  <a:pt x="1" y="2627"/>
                  <a:pt x="0" y="2617"/>
                  <a:pt x="0" y="2608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62120" y="372600"/>
            <a:ext cx="99957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Vocabulary: Four Related Terms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942840" y="189540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4"/>
                </a:moveTo>
                <a:cubicBezTo>
                  <a:pt x="530" y="282"/>
                  <a:pt x="528" y="300"/>
                  <a:pt x="525" y="317"/>
                </a:cubicBezTo>
                <a:cubicBezTo>
                  <a:pt x="522" y="334"/>
                  <a:pt x="517" y="350"/>
                  <a:pt x="510" y="367"/>
                </a:cubicBezTo>
                <a:cubicBezTo>
                  <a:pt x="503" y="383"/>
                  <a:pt x="495" y="398"/>
                  <a:pt x="485" y="412"/>
                </a:cubicBezTo>
                <a:cubicBezTo>
                  <a:pt x="476" y="427"/>
                  <a:pt x="465" y="440"/>
                  <a:pt x="453" y="452"/>
                </a:cubicBezTo>
                <a:cubicBezTo>
                  <a:pt x="440" y="465"/>
                  <a:pt x="427" y="476"/>
                  <a:pt x="412" y="485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6"/>
                  <a:pt x="334" y="521"/>
                  <a:pt x="317" y="525"/>
                </a:cubicBezTo>
                <a:cubicBezTo>
                  <a:pt x="300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7" y="485"/>
                </a:cubicBezTo>
                <a:cubicBezTo>
                  <a:pt x="103" y="476"/>
                  <a:pt x="90" y="465"/>
                  <a:pt x="77" y="452"/>
                </a:cubicBezTo>
                <a:cubicBezTo>
                  <a:pt x="65" y="440"/>
                  <a:pt x="54" y="427"/>
                  <a:pt x="44" y="412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0"/>
                  <a:pt x="8" y="334"/>
                  <a:pt x="5" y="317"/>
                </a:cubicBezTo>
                <a:cubicBezTo>
                  <a:pt x="2" y="300"/>
                  <a:pt x="0" y="282"/>
                  <a:pt x="0" y="264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ubicBezTo>
                  <a:pt x="282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2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5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4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1037880" y="195228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23760" y="2280600"/>
            <a:ext cx="5144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Knowledge about how systems work (general knowledge).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766440" y="2795400"/>
            <a:ext cx="10658880" cy="1000440"/>
          </a:xfrm>
          <a:custGeom>
            <a:avLst/>
            <a:gdLst/>
            <a:ahLst/>
            <a:rect l="0" t="0" r="r" b="b"/>
            <a:pathLst>
              <a:path w="29608" h="2779">
                <a:moveTo>
                  <a:pt x="0" y="263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7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34"/>
                </a:lnTo>
                <a:cubicBezTo>
                  <a:pt x="29608" y="2643"/>
                  <a:pt x="29607" y="2653"/>
                  <a:pt x="29605" y="2662"/>
                </a:cubicBezTo>
                <a:cubicBezTo>
                  <a:pt x="29604" y="2671"/>
                  <a:pt x="29601" y="2680"/>
                  <a:pt x="29597" y="2689"/>
                </a:cubicBezTo>
                <a:cubicBezTo>
                  <a:pt x="29594" y="2698"/>
                  <a:pt x="29589" y="2707"/>
                  <a:pt x="29584" y="2714"/>
                </a:cubicBezTo>
                <a:cubicBezTo>
                  <a:pt x="29578" y="2722"/>
                  <a:pt x="29572" y="2730"/>
                  <a:pt x="29566" y="2737"/>
                </a:cubicBezTo>
                <a:cubicBezTo>
                  <a:pt x="29559" y="2743"/>
                  <a:pt x="29552" y="2749"/>
                  <a:pt x="29544" y="2755"/>
                </a:cubicBezTo>
                <a:cubicBezTo>
                  <a:pt x="29536" y="2760"/>
                  <a:pt x="29527" y="2764"/>
                  <a:pt x="29518" y="2768"/>
                </a:cubicBezTo>
                <a:cubicBezTo>
                  <a:pt x="29510" y="2772"/>
                  <a:pt x="29501" y="2774"/>
                  <a:pt x="29491" y="2776"/>
                </a:cubicBezTo>
                <a:cubicBezTo>
                  <a:pt x="29482" y="2778"/>
                  <a:pt x="29472" y="2779"/>
                  <a:pt x="29463" y="2779"/>
                </a:cubicBezTo>
                <a:lnTo>
                  <a:pt x="146" y="2779"/>
                </a:lnTo>
                <a:cubicBezTo>
                  <a:pt x="136" y="2779"/>
                  <a:pt x="127" y="2778"/>
                  <a:pt x="118" y="2776"/>
                </a:cubicBezTo>
                <a:cubicBezTo>
                  <a:pt x="108" y="2774"/>
                  <a:pt x="99" y="2772"/>
                  <a:pt x="90" y="2768"/>
                </a:cubicBezTo>
                <a:cubicBezTo>
                  <a:pt x="81" y="2764"/>
                  <a:pt x="73" y="2760"/>
                  <a:pt x="65" y="2755"/>
                </a:cubicBezTo>
                <a:cubicBezTo>
                  <a:pt x="57" y="2749"/>
                  <a:pt x="50" y="2743"/>
                  <a:pt x="43" y="2737"/>
                </a:cubicBezTo>
                <a:cubicBezTo>
                  <a:pt x="36" y="2730"/>
                  <a:pt x="30" y="2722"/>
                  <a:pt x="25" y="2714"/>
                </a:cubicBezTo>
                <a:cubicBezTo>
                  <a:pt x="20" y="2707"/>
                  <a:pt x="15" y="2698"/>
                  <a:pt x="11" y="2689"/>
                </a:cubicBezTo>
                <a:cubicBezTo>
                  <a:pt x="8" y="2680"/>
                  <a:pt x="5" y="2671"/>
                  <a:pt x="3" y="2662"/>
                </a:cubicBezTo>
                <a:cubicBezTo>
                  <a:pt x="1" y="2653"/>
                  <a:pt x="0" y="2643"/>
                  <a:pt x="0" y="263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766440" y="2795400"/>
            <a:ext cx="10658880" cy="1000440"/>
          </a:xfrm>
          <a:custGeom>
            <a:avLst/>
            <a:gdLst/>
            <a:ahLst/>
            <a:rect l="0" t="0" r="r" b="b"/>
            <a:pathLst>
              <a:path fill="none" w="29608" h="2779">
                <a:moveTo>
                  <a:pt x="0" y="263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7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34"/>
                </a:lnTo>
                <a:cubicBezTo>
                  <a:pt x="29608" y="2643"/>
                  <a:pt x="29607" y="2653"/>
                  <a:pt x="29605" y="2662"/>
                </a:cubicBezTo>
                <a:cubicBezTo>
                  <a:pt x="29604" y="2671"/>
                  <a:pt x="29601" y="2680"/>
                  <a:pt x="29597" y="2689"/>
                </a:cubicBezTo>
                <a:cubicBezTo>
                  <a:pt x="29594" y="2698"/>
                  <a:pt x="29589" y="2707"/>
                  <a:pt x="29584" y="2714"/>
                </a:cubicBezTo>
                <a:cubicBezTo>
                  <a:pt x="29578" y="2722"/>
                  <a:pt x="29572" y="2730"/>
                  <a:pt x="29566" y="2737"/>
                </a:cubicBezTo>
                <a:cubicBezTo>
                  <a:pt x="29559" y="2743"/>
                  <a:pt x="29552" y="2749"/>
                  <a:pt x="29544" y="2755"/>
                </a:cubicBezTo>
                <a:cubicBezTo>
                  <a:pt x="29536" y="2760"/>
                  <a:pt x="29527" y="2764"/>
                  <a:pt x="29518" y="2768"/>
                </a:cubicBezTo>
                <a:cubicBezTo>
                  <a:pt x="29510" y="2772"/>
                  <a:pt x="29501" y="2774"/>
                  <a:pt x="29491" y="2776"/>
                </a:cubicBezTo>
                <a:cubicBezTo>
                  <a:pt x="29482" y="2778"/>
                  <a:pt x="29472" y="2779"/>
                  <a:pt x="29463" y="2779"/>
                </a:cubicBezTo>
                <a:lnTo>
                  <a:pt x="146" y="2779"/>
                </a:lnTo>
                <a:cubicBezTo>
                  <a:pt x="136" y="2779"/>
                  <a:pt x="127" y="2778"/>
                  <a:pt x="118" y="2776"/>
                </a:cubicBezTo>
                <a:cubicBezTo>
                  <a:pt x="108" y="2774"/>
                  <a:pt x="99" y="2772"/>
                  <a:pt x="90" y="2768"/>
                </a:cubicBezTo>
                <a:cubicBezTo>
                  <a:pt x="81" y="2764"/>
                  <a:pt x="73" y="2760"/>
                  <a:pt x="65" y="2755"/>
                </a:cubicBezTo>
                <a:cubicBezTo>
                  <a:pt x="57" y="2749"/>
                  <a:pt x="50" y="2743"/>
                  <a:pt x="43" y="2737"/>
                </a:cubicBezTo>
                <a:cubicBezTo>
                  <a:pt x="36" y="2730"/>
                  <a:pt x="30" y="2722"/>
                  <a:pt x="25" y="2714"/>
                </a:cubicBezTo>
                <a:cubicBezTo>
                  <a:pt x="20" y="2707"/>
                  <a:pt x="15" y="2698"/>
                  <a:pt x="11" y="2689"/>
                </a:cubicBezTo>
                <a:cubicBezTo>
                  <a:pt x="8" y="2680"/>
                  <a:pt x="5" y="2671"/>
                  <a:pt x="3" y="2662"/>
                </a:cubicBezTo>
                <a:cubicBezTo>
                  <a:pt x="1" y="2653"/>
                  <a:pt x="0" y="2643"/>
                  <a:pt x="0" y="263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203120" y="1883880"/>
            <a:ext cx="1742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 Theory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923760" y="3404520"/>
            <a:ext cx="12218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Diagnosing a 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2189160" y="3404520"/>
            <a:ext cx="691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9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speciﬁc</a:t>
            </a:r>
            <a:endParaRPr b="0" lang="en-US" sz="14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42840" y="300960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7"/>
                </a:cubicBezTo>
                <a:cubicBezTo>
                  <a:pt x="522" y="334"/>
                  <a:pt x="517" y="350"/>
                  <a:pt x="510" y="366"/>
                </a:cubicBezTo>
                <a:cubicBezTo>
                  <a:pt x="503" y="383"/>
                  <a:pt x="495" y="398"/>
                  <a:pt x="485" y="413"/>
                </a:cubicBezTo>
                <a:cubicBezTo>
                  <a:pt x="476" y="427"/>
                  <a:pt x="465" y="441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6"/>
                  <a:pt x="383" y="504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2" y="530"/>
                  <a:pt x="264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6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6"/>
                </a:cubicBezTo>
                <a:cubicBezTo>
                  <a:pt x="13" y="350"/>
                  <a:pt x="8" y="334"/>
                  <a:pt x="5" y="317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8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6"/>
                  <a:pt x="103" y="55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5"/>
                </a:cubicBezTo>
                <a:cubicBezTo>
                  <a:pt x="334" y="9"/>
                  <a:pt x="351" y="14"/>
                  <a:pt x="367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6"/>
                  <a:pt x="525" y="213"/>
                </a:cubicBezTo>
                <a:cubicBezTo>
                  <a:pt x="528" y="230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1037880" y="306684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813400" y="3404520"/>
            <a:ext cx="2830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problem using that knowledge.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66440" y="3919320"/>
            <a:ext cx="10658880" cy="991080"/>
          </a:xfrm>
          <a:custGeom>
            <a:avLst/>
            <a:gdLst/>
            <a:ahLst/>
            <a:rect l="0" t="0" r="r" b="b"/>
            <a:pathLst>
              <a:path w="29608" h="2753">
                <a:moveTo>
                  <a:pt x="0" y="260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07"/>
                </a:lnTo>
                <a:cubicBezTo>
                  <a:pt x="29608" y="2617"/>
                  <a:pt x="29607" y="2626"/>
                  <a:pt x="29605" y="2636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2"/>
                  <a:pt x="29589" y="2680"/>
                  <a:pt x="29584" y="2688"/>
                </a:cubicBezTo>
                <a:cubicBezTo>
                  <a:pt x="29578" y="2696"/>
                  <a:pt x="29572" y="2703"/>
                  <a:pt x="29566" y="2710"/>
                </a:cubicBezTo>
                <a:cubicBezTo>
                  <a:pt x="29559" y="2717"/>
                  <a:pt x="29552" y="2723"/>
                  <a:pt x="29544" y="2728"/>
                </a:cubicBezTo>
                <a:cubicBezTo>
                  <a:pt x="29536" y="2734"/>
                  <a:pt x="29527" y="2738"/>
                  <a:pt x="29518" y="2742"/>
                </a:cubicBezTo>
                <a:cubicBezTo>
                  <a:pt x="29510" y="2745"/>
                  <a:pt x="29501" y="2748"/>
                  <a:pt x="29491" y="2750"/>
                </a:cubicBezTo>
                <a:cubicBezTo>
                  <a:pt x="29482" y="2752"/>
                  <a:pt x="29472" y="2753"/>
                  <a:pt x="29463" y="2753"/>
                </a:cubicBezTo>
                <a:lnTo>
                  <a:pt x="146" y="2753"/>
                </a:lnTo>
                <a:cubicBezTo>
                  <a:pt x="136" y="2753"/>
                  <a:pt x="127" y="2752"/>
                  <a:pt x="118" y="2750"/>
                </a:cubicBezTo>
                <a:cubicBezTo>
                  <a:pt x="108" y="2748"/>
                  <a:pt x="99" y="2745"/>
                  <a:pt x="90" y="2742"/>
                </a:cubicBezTo>
                <a:cubicBezTo>
                  <a:pt x="81" y="2738"/>
                  <a:pt x="73" y="2734"/>
                  <a:pt x="65" y="2728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3"/>
                  <a:pt x="30" y="2696"/>
                  <a:pt x="25" y="2688"/>
                </a:cubicBezTo>
                <a:cubicBezTo>
                  <a:pt x="20" y="2680"/>
                  <a:pt x="15" y="2672"/>
                  <a:pt x="11" y="2663"/>
                </a:cubicBezTo>
                <a:cubicBezTo>
                  <a:pt x="8" y="2654"/>
                  <a:pt x="5" y="2645"/>
                  <a:pt x="3" y="2636"/>
                </a:cubicBezTo>
                <a:cubicBezTo>
                  <a:pt x="1" y="2626"/>
                  <a:pt x="0" y="2617"/>
                  <a:pt x="0" y="260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66440" y="3919320"/>
            <a:ext cx="10658880" cy="991080"/>
          </a:xfrm>
          <a:custGeom>
            <a:avLst/>
            <a:gdLst/>
            <a:ahLst/>
            <a:rect l="0" t="0" r="r" b="b"/>
            <a:pathLst>
              <a:path fill="none" w="29608" h="2753">
                <a:moveTo>
                  <a:pt x="0" y="260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1"/>
                </a:cubicBezTo>
                <a:cubicBezTo>
                  <a:pt x="29527" y="15"/>
                  <a:pt x="29536" y="19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49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7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2607"/>
                </a:lnTo>
                <a:cubicBezTo>
                  <a:pt x="29608" y="2617"/>
                  <a:pt x="29607" y="2626"/>
                  <a:pt x="29605" y="2636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2"/>
                  <a:pt x="29589" y="2680"/>
                  <a:pt x="29584" y="2688"/>
                </a:cubicBezTo>
                <a:cubicBezTo>
                  <a:pt x="29578" y="2696"/>
                  <a:pt x="29572" y="2703"/>
                  <a:pt x="29566" y="2710"/>
                </a:cubicBezTo>
                <a:cubicBezTo>
                  <a:pt x="29559" y="2717"/>
                  <a:pt x="29552" y="2723"/>
                  <a:pt x="29544" y="2728"/>
                </a:cubicBezTo>
                <a:cubicBezTo>
                  <a:pt x="29536" y="2734"/>
                  <a:pt x="29527" y="2738"/>
                  <a:pt x="29518" y="2742"/>
                </a:cubicBezTo>
                <a:cubicBezTo>
                  <a:pt x="29510" y="2745"/>
                  <a:pt x="29501" y="2748"/>
                  <a:pt x="29491" y="2750"/>
                </a:cubicBezTo>
                <a:cubicBezTo>
                  <a:pt x="29482" y="2752"/>
                  <a:pt x="29472" y="2753"/>
                  <a:pt x="29463" y="2753"/>
                </a:cubicBezTo>
                <a:lnTo>
                  <a:pt x="146" y="2753"/>
                </a:lnTo>
                <a:cubicBezTo>
                  <a:pt x="136" y="2753"/>
                  <a:pt x="127" y="2752"/>
                  <a:pt x="118" y="2750"/>
                </a:cubicBezTo>
                <a:cubicBezTo>
                  <a:pt x="108" y="2748"/>
                  <a:pt x="99" y="2745"/>
                  <a:pt x="90" y="2742"/>
                </a:cubicBezTo>
                <a:cubicBezTo>
                  <a:pt x="81" y="2738"/>
                  <a:pt x="73" y="2734"/>
                  <a:pt x="65" y="2728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3"/>
                  <a:pt x="30" y="2696"/>
                  <a:pt x="25" y="2688"/>
                </a:cubicBezTo>
                <a:cubicBezTo>
                  <a:pt x="20" y="2680"/>
                  <a:pt x="15" y="2672"/>
                  <a:pt x="11" y="2663"/>
                </a:cubicBezTo>
                <a:cubicBezTo>
                  <a:pt x="8" y="2654"/>
                  <a:pt x="5" y="2645"/>
                  <a:pt x="3" y="2636"/>
                </a:cubicBezTo>
                <a:cubicBezTo>
                  <a:pt x="1" y="2626"/>
                  <a:pt x="0" y="2617"/>
                  <a:pt x="0" y="260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203120" y="2998440"/>
            <a:ext cx="2098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Systems Thinking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942840" y="4133520"/>
            <a:ext cx="190800" cy="191160"/>
          </a:xfrm>
          <a:custGeom>
            <a:avLst/>
            <a:gdLst/>
            <a:ahLst/>
            <a:rect l="0" t="0" r="r" b="b"/>
            <a:pathLst>
              <a:path fill="none" w="530" h="531">
                <a:moveTo>
                  <a:pt x="530" y="265"/>
                </a:moveTo>
                <a:cubicBezTo>
                  <a:pt x="530" y="282"/>
                  <a:pt x="528" y="300"/>
                  <a:pt x="525" y="317"/>
                </a:cubicBezTo>
                <a:cubicBezTo>
                  <a:pt x="522" y="334"/>
                  <a:pt x="517" y="350"/>
                  <a:pt x="510" y="366"/>
                </a:cubicBezTo>
                <a:cubicBezTo>
                  <a:pt x="503" y="382"/>
                  <a:pt x="495" y="398"/>
                  <a:pt x="485" y="412"/>
                </a:cubicBezTo>
                <a:cubicBezTo>
                  <a:pt x="476" y="427"/>
                  <a:pt x="465" y="441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6"/>
                  <a:pt x="383" y="504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2" y="531"/>
                  <a:pt x="264" y="531"/>
                </a:cubicBezTo>
                <a:cubicBezTo>
                  <a:pt x="247" y="531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6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2"/>
                </a:cubicBezTo>
                <a:cubicBezTo>
                  <a:pt x="35" y="398"/>
                  <a:pt x="27" y="382"/>
                  <a:pt x="20" y="366"/>
                </a:cubicBezTo>
                <a:cubicBezTo>
                  <a:pt x="13" y="350"/>
                  <a:pt x="8" y="334"/>
                  <a:pt x="5" y="317"/>
                </a:cubicBezTo>
                <a:cubicBezTo>
                  <a:pt x="2" y="300"/>
                  <a:pt x="0" y="282"/>
                  <a:pt x="0" y="265"/>
                </a:cubicBezTo>
                <a:cubicBezTo>
                  <a:pt x="0" y="248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4"/>
                  <a:pt x="65" y="90"/>
                  <a:pt x="77" y="78"/>
                </a:cubicBezTo>
                <a:cubicBezTo>
                  <a:pt x="90" y="66"/>
                  <a:pt x="103" y="55"/>
                  <a:pt x="117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79" y="14"/>
                  <a:pt x="196" y="9"/>
                  <a:pt x="213" y="6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6"/>
                </a:cubicBezTo>
                <a:cubicBezTo>
                  <a:pt x="334" y="9"/>
                  <a:pt x="351" y="14"/>
                  <a:pt x="367" y="21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0"/>
                  <a:pt x="476" y="104"/>
                  <a:pt x="485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6"/>
                  <a:pt x="525" y="213"/>
                </a:cubicBezTo>
                <a:cubicBezTo>
                  <a:pt x="528" y="230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1037880" y="419076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23760" y="4519080"/>
            <a:ext cx="6963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Designing solutions that account for the whole system and its feedback loops.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66440" y="5033880"/>
            <a:ext cx="10658880" cy="990720"/>
          </a:xfrm>
          <a:custGeom>
            <a:avLst/>
            <a:gdLst/>
            <a:ahLst/>
            <a:rect l="0" t="0" r="r" b="b"/>
            <a:pathLst>
              <a:path w="29608" h="2752">
                <a:moveTo>
                  <a:pt x="0" y="260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2607"/>
                </a:lnTo>
                <a:cubicBezTo>
                  <a:pt x="29608" y="2616"/>
                  <a:pt x="29607" y="2626"/>
                  <a:pt x="29605" y="2635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1"/>
                  <a:pt x="29589" y="2680"/>
                  <a:pt x="29584" y="2688"/>
                </a:cubicBezTo>
                <a:cubicBezTo>
                  <a:pt x="29578" y="2696"/>
                  <a:pt x="29572" y="2703"/>
                  <a:pt x="29566" y="2710"/>
                </a:cubicBezTo>
                <a:cubicBezTo>
                  <a:pt x="29559" y="2717"/>
                  <a:pt x="29552" y="2723"/>
                  <a:pt x="29544" y="2728"/>
                </a:cubicBezTo>
                <a:cubicBezTo>
                  <a:pt x="29536" y="2733"/>
                  <a:pt x="29527" y="2738"/>
                  <a:pt x="29518" y="2741"/>
                </a:cubicBezTo>
                <a:cubicBezTo>
                  <a:pt x="29510" y="2745"/>
                  <a:pt x="29501" y="2748"/>
                  <a:pt x="29491" y="2750"/>
                </a:cubicBezTo>
                <a:cubicBezTo>
                  <a:pt x="29482" y="2751"/>
                  <a:pt x="29472" y="2752"/>
                  <a:pt x="29463" y="2752"/>
                </a:cubicBezTo>
                <a:lnTo>
                  <a:pt x="146" y="2752"/>
                </a:lnTo>
                <a:cubicBezTo>
                  <a:pt x="136" y="2752"/>
                  <a:pt x="127" y="2751"/>
                  <a:pt x="118" y="2750"/>
                </a:cubicBezTo>
                <a:cubicBezTo>
                  <a:pt x="108" y="2748"/>
                  <a:pt x="99" y="2745"/>
                  <a:pt x="90" y="2741"/>
                </a:cubicBezTo>
                <a:cubicBezTo>
                  <a:pt x="81" y="2738"/>
                  <a:pt x="73" y="2733"/>
                  <a:pt x="65" y="2728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3"/>
                  <a:pt x="30" y="2696"/>
                  <a:pt x="25" y="2688"/>
                </a:cubicBezTo>
                <a:cubicBezTo>
                  <a:pt x="20" y="2680"/>
                  <a:pt x="15" y="2671"/>
                  <a:pt x="11" y="2663"/>
                </a:cubicBezTo>
                <a:cubicBezTo>
                  <a:pt x="8" y="2654"/>
                  <a:pt x="5" y="2645"/>
                  <a:pt x="3" y="2635"/>
                </a:cubicBezTo>
                <a:cubicBezTo>
                  <a:pt x="1" y="2626"/>
                  <a:pt x="0" y="2616"/>
                  <a:pt x="0" y="2607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66440" y="5033880"/>
            <a:ext cx="10658880" cy="990720"/>
          </a:xfrm>
          <a:custGeom>
            <a:avLst/>
            <a:gdLst/>
            <a:ahLst/>
            <a:rect l="0" t="0" r="r" b="b"/>
            <a:pathLst>
              <a:path fill="none" w="29608" h="2752">
                <a:moveTo>
                  <a:pt x="0" y="260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4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6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7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2607"/>
                </a:lnTo>
                <a:cubicBezTo>
                  <a:pt x="29608" y="2616"/>
                  <a:pt x="29607" y="2626"/>
                  <a:pt x="29605" y="2635"/>
                </a:cubicBezTo>
                <a:cubicBezTo>
                  <a:pt x="29604" y="2645"/>
                  <a:pt x="29601" y="2654"/>
                  <a:pt x="29597" y="2663"/>
                </a:cubicBezTo>
                <a:cubicBezTo>
                  <a:pt x="29594" y="2671"/>
                  <a:pt x="29589" y="2680"/>
                  <a:pt x="29584" y="2688"/>
                </a:cubicBezTo>
                <a:cubicBezTo>
                  <a:pt x="29578" y="2696"/>
                  <a:pt x="29572" y="2703"/>
                  <a:pt x="29566" y="2710"/>
                </a:cubicBezTo>
                <a:cubicBezTo>
                  <a:pt x="29559" y="2717"/>
                  <a:pt x="29552" y="2723"/>
                  <a:pt x="29544" y="2728"/>
                </a:cubicBezTo>
                <a:cubicBezTo>
                  <a:pt x="29536" y="2733"/>
                  <a:pt x="29527" y="2738"/>
                  <a:pt x="29518" y="2741"/>
                </a:cubicBezTo>
                <a:cubicBezTo>
                  <a:pt x="29510" y="2745"/>
                  <a:pt x="29501" y="2748"/>
                  <a:pt x="29491" y="2750"/>
                </a:cubicBezTo>
                <a:cubicBezTo>
                  <a:pt x="29482" y="2751"/>
                  <a:pt x="29472" y="2752"/>
                  <a:pt x="29463" y="2752"/>
                </a:cubicBezTo>
                <a:lnTo>
                  <a:pt x="146" y="2752"/>
                </a:lnTo>
                <a:cubicBezTo>
                  <a:pt x="136" y="2752"/>
                  <a:pt x="127" y="2751"/>
                  <a:pt x="118" y="2750"/>
                </a:cubicBezTo>
                <a:cubicBezTo>
                  <a:pt x="108" y="2748"/>
                  <a:pt x="99" y="2745"/>
                  <a:pt x="90" y="2741"/>
                </a:cubicBezTo>
                <a:cubicBezTo>
                  <a:pt x="81" y="2738"/>
                  <a:pt x="73" y="2733"/>
                  <a:pt x="65" y="2728"/>
                </a:cubicBezTo>
                <a:cubicBezTo>
                  <a:pt x="57" y="2723"/>
                  <a:pt x="50" y="2717"/>
                  <a:pt x="43" y="2710"/>
                </a:cubicBezTo>
                <a:cubicBezTo>
                  <a:pt x="36" y="2703"/>
                  <a:pt x="30" y="2696"/>
                  <a:pt x="25" y="2688"/>
                </a:cubicBezTo>
                <a:cubicBezTo>
                  <a:pt x="20" y="2680"/>
                  <a:pt x="15" y="2671"/>
                  <a:pt x="11" y="2663"/>
                </a:cubicBezTo>
                <a:cubicBezTo>
                  <a:pt x="8" y="2654"/>
                  <a:pt x="5" y="2645"/>
                  <a:pt x="3" y="2635"/>
                </a:cubicBezTo>
                <a:cubicBezTo>
                  <a:pt x="1" y="2626"/>
                  <a:pt x="0" y="2616"/>
                  <a:pt x="0" y="2607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203120" y="4122360"/>
            <a:ext cx="1933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Systemic 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942840" y="52480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50"/>
                  <a:pt x="510" y="366"/>
                </a:cubicBezTo>
                <a:cubicBezTo>
                  <a:pt x="503" y="382"/>
                  <a:pt x="495" y="397"/>
                  <a:pt x="485" y="412"/>
                </a:cubicBezTo>
                <a:cubicBezTo>
                  <a:pt x="476" y="426"/>
                  <a:pt x="465" y="439"/>
                  <a:pt x="453" y="452"/>
                </a:cubicBezTo>
                <a:cubicBezTo>
                  <a:pt x="440" y="464"/>
                  <a:pt x="427" y="475"/>
                  <a:pt x="412" y="485"/>
                </a:cubicBezTo>
                <a:cubicBezTo>
                  <a:pt x="398" y="494"/>
                  <a:pt x="383" y="503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2" y="530"/>
                  <a:pt x="264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4"/>
                  <a:pt x="117" y="485"/>
                </a:cubicBezTo>
                <a:cubicBezTo>
                  <a:pt x="103" y="475"/>
                  <a:pt x="90" y="464"/>
                  <a:pt x="77" y="452"/>
                </a:cubicBezTo>
                <a:cubicBezTo>
                  <a:pt x="65" y="439"/>
                  <a:pt x="54" y="426"/>
                  <a:pt x="44" y="412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5"/>
                </a:cubicBezTo>
                <a:cubicBezTo>
                  <a:pt x="334" y="9"/>
                  <a:pt x="351" y="14"/>
                  <a:pt x="367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3" y="78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1037880" y="5305320"/>
            <a:ext cx="360" cy="75960"/>
          </a:xfrm>
          <a:custGeom>
            <a:avLst/>
            <a:gdLst/>
            <a:ahLst/>
            <a:rect l="0" t="0" r="r" b="b"/>
            <a:pathLst>
              <a:path fill="none" w="1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923760" y="5643000"/>
            <a:ext cx="8163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Breaking design into orderly, methodical steps — doesn't by itself require systems thinking.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203120" y="5236920"/>
            <a:ext cx="2160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Systematic 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876240" y="1492920"/>
            <a:ext cx="344052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Systemic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76240" y="2388960"/>
            <a:ext cx="9640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 design approach that integrates systems thinking into the design process to address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876240" y="2760120"/>
            <a:ext cx="9874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complex, interconnected, socio-technical challenges involving multiple stakeholders and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76240" y="3122280"/>
            <a:ext cx="25052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dynamic relationships.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1085760" y="42382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7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876240" y="3636720"/>
            <a:ext cx="2137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Key characteristics: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085760" y="45907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282680" y="4146840"/>
            <a:ext cx="6740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Emphasises relationships, feedback loops, and emergent behaviours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1085760" y="4952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282680" y="4499280"/>
            <a:ext cx="4575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Integrates qualitative and quantitative analysis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1085760" y="5305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4" y="139"/>
                  <a:pt x="168" y="149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282680" y="4861440"/>
            <a:ext cx="7227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Focused on sense-making and co-creation in messy, real-world contexts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282680" y="5213880"/>
            <a:ext cx="7612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Often applied to sustainability, healthcare, policy, education, and ecosystems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76240" y="372600"/>
            <a:ext cx="18651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Recap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876240" y="1436040"/>
            <a:ext cx="56282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Systemic Design Principles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1085760" y="2933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76240" y="2331720"/>
            <a:ext cx="5074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 common systemic design mindset includes: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1085760" y="3286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82680" y="2841840"/>
            <a:ext cx="3210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Acknowledging interconnections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1085760" y="3638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4" y="139"/>
                  <a:pt x="168" y="149"/>
                  <a:pt x="159" y="158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8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282680" y="3194280"/>
            <a:ext cx="3042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Redeﬁning waste as a resource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1085760" y="4000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282680" y="3546720"/>
            <a:ext cx="3423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Designing self-organising systems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282680" y="3908880"/>
            <a:ext cx="5108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Using feedback as a guide to adaptive improvement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876240" y="4379400"/>
            <a:ext cx="10107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These mindsets are increasingly important as engineers face challenges that are not purely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876240" y="4741560"/>
            <a:ext cx="9163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technical but socio-technical, requiring both human and machine systems to work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876240" y="5103360"/>
            <a:ext cx="15807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harmoniously.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876240" y="540360"/>
            <a:ext cx="384480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Systematic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876240" y="1436400"/>
            <a:ext cx="9507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Systematic Design is a structured approach that decomposes systems into interacting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876240" y="1798200"/>
            <a:ext cx="91645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components, applying design principles to manage intricate challenges eﬀectively.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025280" y="2499120"/>
            <a:ext cx="257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282680" y="2474640"/>
            <a:ext cx="9633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Structured: Following repeatable processes with deﬁned stages and checkpoints rather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82680" y="2836440"/>
            <a:ext cx="8856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than intuitive approaches. This ensures consistency and quality across projects.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025280" y="3375360"/>
            <a:ext cx="257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282680" y="3350880"/>
            <a:ext cx="9764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Decomposable: Breaking complex problems into manageable sub-problems that can be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282680" y="3722400"/>
            <a:ext cx="7874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addressed independently, while maintaining awareness of interactions.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025280" y="4261320"/>
            <a:ext cx="257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282680" y="4236480"/>
            <a:ext cx="9386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Iterative: Embracing feedback loops to continuously reﬁne designs based on testing,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282680" y="4608000"/>
            <a:ext cx="8045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simulation, and stakeholder input throughout the development lifecycle.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876240" y="5274720"/>
            <a:ext cx="10036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Systematic design is crucial for managing complexity, coordinating distributed teams, and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876240" y="5636880"/>
            <a:ext cx="105415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ensuring that each subsystem contributes eﬀectively to the global performance objectives. It is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876240" y="6008400"/>
            <a:ext cx="5350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not simply a way to document a design process.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1085760" y="1685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876240" y="702360"/>
            <a:ext cx="403092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Key Characteristics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1085760" y="20383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4" y="139"/>
                  <a:pt x="168" y="149"/>
                  <a:pt x="159" y="158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8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282680" y="1594080"/>
            <a:ext cx="9353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Emphasises phased processes (e.g., requirements → architecture → implementation → testing)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1085760" y="23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82680" y="1946520"/>
            <a:ext cx="9180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Often used in engineering and software development (e.g., V-model, waterfall models, MBSE)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085760" y="27428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30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8" y="151"/>
                  <a:pt x="11" y="141"/>
                  <a:pt x="7" y="130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7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282680" y="2298960"/>
            <a:ext cx="6624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Supports modularisation, documentation, and project management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282680" y="2651400"/>
            <a:ext cx="5190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about rigour and discipline in the design workﬂow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876240" y="3122280"/>
            <a:ext cx="88405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It stands in contrast to systemic design and systems thinking, which emphasise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876240" y="3493800"/>
            <a:ext cx="10458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interconnections, feedback loops, and emergent behaviour in messy, socio-technical contexts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876240" y="3855600"/>
            <a:ext cx="10348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rather than phased rigour, and to ad hoc design approaches, which rely on designer intuition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876240" y="4227120"/>
            <a:ext cx="6166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and past experience without structured methodologies.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876240" y="4741560"/>
            <a:ext cx="10444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In multi-component systems, systematic design becomes essential because complexity grows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876240" y="5103360"/>
            <a:ext cx="10549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exponentially with each additional component, and it draws on the practical toolkit captured in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876240" y="5474880"/>
            <a:ext cx="10024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"Systematic Design Principles" and the monolithic vs distributed design choice for how the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876240" y="5836680"/>
            <a:ext cx="3635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resulting process is coordinated.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876240" y="1855080"/>
            <a:ext cx="1040616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Where systematic design is process-oriented and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876240" y="2359800"/>
            <a:ext cx="1029888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phased, systemic design is relationship-oriented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876240" y="2864520"/>
            <a:ext cx="100364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and participatory, making it the bridge between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876240" y="3378960"/>
            <a:ext cx="957528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systems thinking (the analytical lens) and the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876240" y="3883680"/>
            <a:ext cx="978552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structured discipline of systematic design (the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876240" y="4388760"/>
            <a:ext cx="369036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delivery process).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876240" y="1169280"/>
            <a:ext cx="891432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It is a foundational approach that ensures: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1025280" y="2061000"/>
            <a:ext cx="1212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Reliability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025280" y="2413440"/>
            <a:ext cx="1237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Scalability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025280" y="2765880"/>
            <a:ext cx="1335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876240" y="3236400"/>
            <a:ext cx="102859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are establisahed across subsystems when applied to multi-component systems. It integrates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876240" y="3607920"/>
            <a:ext cx="7686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concepts from systems </a:t>
            </a:r>
            <a:r>
              <a:rPr b="1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engineering, software, and product design.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76240" y="4122360"/>
            <a:ext cx="9784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Systematic design stands in contrast to ad hoc design approaches, which rely heavily 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76240" y="4484160"/>
            <a:ext cx="82058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designer intuition and past experience without structured methodologies.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876240" y="5008320"/>
            <a:ext cx="100285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In multi-component systems, systematic design becomes essential due to the exponential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876240" y="5370120"/>
            <a:ext cx="60548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growth in complexity with each additional component.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"/>
          <p:cNvSpPr/>
          <p:nvPr/>
        </p:nvSpPr>
        <p:spPr>
          <a:xfrm>
            <a:off x="771480" y="200016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4305240" y="200016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771480" y="235260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4305240" y="235260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771480" y="270504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4305240" y="270504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771480" y="305748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4305240" y="305748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771480" y="340992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4305240" y="340992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771480" y="3762360"/>
            <a:ext cx="3534120" cy="581040"/>
          </a:xfrm>
          <a:custGeom>
            <a:avLst/>
            <a:gdLst/>
            <a:ahLst/>
            <a:rect l="0" t="0" r="r" b="b"/>
            <a:pathLst>
              <a:path w="9817" h="1614">
                <a:moveTo>
                  <a:pt x="0" y="0"/>
                </a:moveTo>
                <a:lnTo>
                  <a:pt x="9817" y="0"/>
                </a:lnTo>
                <a:lnTo>
                  <a:pt x="9817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4305240" y="3762360"/>
            <a:ext cx="7124760" cy="581040"/>
          </a:xfrm>
          <a:custGeom>
            <a:avLst/>
            <a:gdLst/>
            <a:ahLst/>
            <a:rect l="0" t="0" r="r" b="b"/>
            <a:pathLst>
              <a:path w="19791" h="1614">
                <a:moveTo>
                  <a:pt x="0" y="0"/>
                </a:moveTo>
                <a:lnTo>
                  <a:pt x="19791" y="0"/>
                </a:lnTo>
                <a:lnTo>
                  <a:pt x="19791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771480" y="434304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4305240" y="434304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771480" y="469548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4305240" y="469548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771480" y="5047920"/>
            <a:ext cx="3534120" cy="581400"/>
          </a:xfrm>
          <a:custGeom>
            <a:avLst/>
            <a:gdLst/>
            <a:ahLst/>
            <a:rect l="0" t="0" r="r" b="b"/>
            <a:pathLst>
              <a:path w="9817" h="1615">
                <a:moveTo>
                  <a:pt x="0" y="0"/>
                </a:moveTo>
                <a:lnTo>
                  <a:pt x="9817" y="0"/>
                </a:lnTo>
                <a:lnTo>
                  <a:pt x="981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4305240" y="5047920"/>
            <a:ext cx="7124760" cy="581400"/>
          </a:xfrm>
          <a:custGeom>
            <a:avLst/>
            <a:gdLst/>
            <a:ahLst/>
            <a:rect l="0" t="0" r="r" b="b"/>
            <a:pathLst>
              <a:path w="19791" h="1615">
                <a:moveTo>
                  <a:pt x="0" y="0"/>
                </a:moveTo>
                <a:lnTo>
                  <a:pt x="19791" y="0"/>
                </a:lnTo>
                <a:lnTo>
                  <a:pt x="1979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771480" y="5628960"/>
            <a:ext cx="3534120" cy="352800"/>
          </a:xfrm>
          <a:custGeom>
            <a:avLst/>
            <a:gdLst/>
            <a:ahLst/>
            <a:rect l="0" t="0" r="r" b="b"/>
            <a:pathLst>
              <a:path w="9817" h="980">
                <a:moveTo>
                  <a:pt x="0" y="0"/>
                </a:moveTo>
                <a:lnTo>
                  <a:pt x="9817" y="0"/>
                </a:lnTo>
                <a:lnTo>
                  <a:pt x="981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4305240" y="5628960"/>
            <a:ext cx="7124760" cy="352800"/>
          </a:xfrm>
          <a:custGeom>
            <a:avLst/>
            <a:gdLst/>
            <a:ahLst/>
            <a:rect l="0" t="0" r="r" b="b"/>
            <a:pathLst>
              <a:path w="19791" h="980">
                <a:moveTo>
                  <a:pt x="0" y="0"/>
                </a:moveTo>
                <a:lnTo>
                  <a:pt x="19791" y="0"/>
                </a:lnTo>
                <a:lnTo>
                  <a:pt x="19791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771480" y="5981400"/>
            <a:ext cx="3534120" cy="581400"/>
          </a:xfrm>
          <a:custGeom>
            <a:avLst/>
            <a:gdLst/>
            <a:ahLst/>
            <a:rect l="0" t="0" r="r" b="b"/>
            <a:pathLst>
              <a:path w="9817" h="1615">
                <a:moveTo>
                  <a:pt x="0" y="0"/>
                </a:moveTo>
                <a:lnTo>
                  <a:pt x="9817" y="0"/>
                </a:lnTo>
                <a:lnTo>
                  <a:pt x="981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4305240" y="5981400"/>
            <a:ext cx="7124760" cy="581400"/>
          </a:xfrm>
          <a:custGeom>
            <a:avLst/>
            <a:gdLst/>
            <a:ahLst/>
            <a:rect l="0" t="0" r="r" b="b"/>
            <a:pathLst>
              <a:path w="19791" h="1615">
                <a:moveTo>
                  <a:pt x="0" y="0"/>
                </a:moveTo>
                <a:lnTo>
                  <a:pt x="19791" y="0"/>
                </a:lnTo>
                <a:lnTo>
                  <a:pt x="1979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761760" y="199044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761760" y="199044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4305240" y="199044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4314600" y="1990440"/>
            <a:ext cx="7115400" cy="10080"/>
          </a:xfrm>
          <a:custGeom>
            <a:avLst/>
            <a:gdLst/>
            <a:ahLst/>
            <a:rect l="0" t="0" r="r" b="b"/>
            <a:pathLst>
              <a:path w="19765" h="28">
                <a:moveTo>
                  <a:pt x="0" y="0"/>
                </a:moveTo>
                <a:lnTo>
                  <a:pt x="19765" y="0"/>
                </a:lnTo>
                <a:lnTo>
                  <a:pt x="197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11420280" y="199044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61760" y="234288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4314600" y="2342880"/>
            <a:ext cx="7115400" cy="10080"/>
          </a:xfrm>
          <a:custGeom>
            <a:avLst/>
            <a:gdLst/>
            <a:ahLst/>
            <a:rect l="0" t="0" r="r" b="b"/>
            <a:pathLst>
              <a:path w="19765" h="28">
                <a:moveTo>
                  <a:pt x="0" y="0"/>
                </a:moveTo>
                <a:lnTo>
                  <a:pt x="19765" y="0"/>
                </a:lnTo>
                <a:lnTo>
                  <a:pt x="197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761760" y="235260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4305240" y="235260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1420280" y="235260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761760" y="27050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761760" y="269532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4305240" y="2705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4314600" y="2695320"/>
            <a:ext cx="7115400" cy="10080"/>
          </a:xfrm>
          <a:custGeom>
            <a:avLst/>
            <a:gdLst/>
            <a:ahLst/>
            <a:rect l="0" t="0" r="r" b="b"/>
            <a:pathLst>
              <a:path w="19765" h="28">
                <a:moveTo>
                  <a:pt x="0" y="0"/>
                </a:moveTo>
                <a:lnTo>
                  <a:pt x="19765" y="0"/>
                </a:lnTo>
                <a:lnTo>
                  <a:pt x="197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1420280" y="2705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761760" y="30574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761760" y="304776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4305240" y="30574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4314600" y="3047760"/>
            <a:ext cx="7115400" cy="10080"/>
          </a:xfrm>
          <a:custGeom>
            <a:avLst/>
            <a:gdLst/>
            <a:ahLst/>
            <a:rect l="0" t="0" r="r" b="b"/>
            <a:pathLst>
              <a:path w="19765" h="28">
                <a:moveTo>
                  <a:pt x="0" y="0"/>
                </a:moveTo>
                <a:lnTo>
                  <a:pt x="19765" y="0"/>
                </a:lnTo>
                <a:lnTo>
                  <a:pt x="197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11420280" y="30574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761760" y="340992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761760" y="340020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4305240" y="34099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4314600" y="3400200"/>
            <a:ext cx="7115400" cy="10080"/>
          </a:xfrm>
          <a:custGeom>
            <a:avLst/>
            <a:gdLst/>
            <a:ahLst/>
            <a:rect l="0" t="0" r="r" b="b"/>
            <a:pathLst>
              <a:path w="19765" h="28">
                <a:moveTo>
                  <a:pt x="0" y="0"/>
                </a:moveTo>
                <a:lnTo>
                  <a:pt x="19765" y="0"/>
                </a:lnTo>
                <a:lnTo>
                  <a:pt x="197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11420280" y="34099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761760" y="3762360"/>
            <a:ext cx="10080" cy="581040"/>
          </a:xfrm>
          <a:custGeom>
            <a:avLst/>
            <a:gdLst/>
            <a:ahLst/>
            <a:rect l="0" t="0" r="r" b="b"/>
            <a:pathLst>
              <a:path w="28" h="1614">
                <a:moveTo>
                  <a:pt x="0" y="0"/>
                </a:moveTo>
                <a:lnTo>
                  <a:pt x="28" y="0"/>
                </a:lnTo>
                <a:lnTo>
                  <a:pt x="28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761760" y="3752640"/>
            <a:ext cx="3553200" cy="10080"/>
          </a:xfrm>
          <a:custGeom>
            <a:avLst/>
            <a:gdLst/>
            <a:ahLst/>
            <a:rect l="0" t="0" r="r" b="b"/>
            <a:pathLst>
              <a:path w="9870" h="28">
                <a:moveTo>
                  <a:pt x="0" y="0"/>
                </a:moveTo>
                <a:lnTo>
                  <a:pt x="9870" y="0"/>
                </a:lnTo>
                <a:lnTo>
                  <a:pt x="987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4305240" y="3762360"/>
            <a:ext cx="9720" cy="581040"/>
          </a:xfrm>
          <a:custGeom>
            <a:avLst/>
            <a:gdLst/>
            <a:ahLst/>
            <a:rect l="0" t="0" r="r" b="b"/>
            <a:pathLst>
              <a:path w="27" h="1614">
                <a:moveTo>
                  <a:pt x="0" y="0"/>
                </a:moveTo>
                <a:lnTo>
                  <a:pt x="27" y="0"/>
                </a:lnTo>
                <a:lnTo>
                  <a:pt x="27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4314600" y="3752640"/>
            <a:ext cx="7115400" cy="10080"/>
          </a:xfrm>
          <a:custGeom>
            <a:avLst/>
            <a:gdLst/>
            <a:ahLst/>
            <a:rect l="0" t="0" r="r" b="b"/>
            <a:pathLst>
              <a:path w="19765" h="28">
                <a:moveTo>
                  <a:pt x="0" y="0"/>
                </a:moveTo>
                <a:lnTo>
                  <a:pt x="19765" y="0"/>
                </a:lnTo>
                <a:lnTo>
                  <a:pt x="197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1420280" y="3762360"/>
            <a:ext cx="9720" cy="581040"/>
          </a:xfrm>
          <a:custGeom>
            <a:avLst/>
            <a:gdLst/>
            <a:ahLst/>
            <a:rect l="0" t="0" r="r" b="b"/>
            <a:pathLst>
              <a:path w="27" h="1614">
                <a:moveTo>
                  <a:pt x="0" y="0"/>
                </a:moveTo>
                <a:lnTo>
                  <a:pt x="27" y="0"/>
                </a:lnTo>
                <a:lnTo>
                  <a:pt x="27" y="1614"/>
                </a:lnTo>
                <a:lnTo>
                  <a:pt x="0" y="161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61760" y="43430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761760" y="433368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4305240" y="4343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4314600" y="4333680"/>
            <a:ext cx="7115400" cy="9720"/>
          </a:xfrm>
          <a:custGeom>
            <a:avLst/>
            <a:gdLst/>
            <a:ahLst/>
            <a:rect l="0" t="0" r="r" b="b"/>
            <a:pathLst>
              <a:path w="19765" h="27">
                <a:moveTo>
                  <a:pt x="0" y="0"/>
                </a:moveTo>
                <a:lnTo>
                  <a:pt x="19765" y="0"/>
                </a:lnTo>
                <a:lnTo>
                  <a:pt x="197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1420280" y="4343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761760" y="46954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61760" y="468612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4305240" y="46954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4314600" y="4686120"/>
            <a:ext cx="7115400" cy="9720"/>
          </a:xfrm>
          <a:custGeom>
            <a:avLst/>
            <a:gdLst/>
            <a:ahLst/>
            <a:rect l="0" t="0" r="r" b="b"/>
            <a:pathLst>
              <a:path w="19765" h="27">
                <a:moveTo>
                  <a:pt x="0" y="0"/>
                </a:moveTo>
                <a:lnTo>
                  <a:pt x="19765" y="0"/>
                </a:lnTo>
                <a:lnTo>
                  <a:pt x="197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1420280" y="46954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61760" y="504792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761760" y="503856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4305240" y="50479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4314600" y="5038560"/>
            <a:ext cx="7115400" cy="9720"/>
          </a:xfrm>
          <a:custGeom>
            <a:avLst/>
            <a:gdLst/>
            <a:ahLst/>
            <a:rect l="0" t="0" r="r" b="b"/>
            <a:pathLst>
              <a:path w="19765" h="27">
                <a:moveTo>
                  <a:pt x="0" y="0"/>
                </a:moveTo>
                <a:lnTo>
                  <a:pt x="19765" y="0"/>
                </a:lnTo>
                <a:lnTo>
                  <a:pt x="197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11420280" y="504792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761760" y="562896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761760" y="561960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4305240" y="562896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4314600" y="5619600"/>
            <a:ext cx="7115400" cy="9720"/>
          </a:xfrm>
          <a:custGeom>
            <a:avLst/>
            <a:gdLst/>
            <a:ahLst/>
            <a:rect l="0" t="0" r="r" b="b"/>
            <a:pathLst>
              <a:path w="19765" h="27">
                <a:moveTo>
                  <a:pt x="0" y="0"/>
                </a:moveTo>
                <a:lnTo>
                  <a:pt x="19765" y="0"/>
                </a:lnTo>
                <a:lnTo>
                  <a:pt x="197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1420280" y="562896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761760" y="598140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28" y="0"/>
                </a:lnTo>
                <a:lnTo>
                  <a:pt x="28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761760" y="597204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4305240" y="598140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4314600" y="5972040"/>
            <a:ext cx="7115400" cy="9720"/>
          </a:xfrm>
          <a:custGeom>
            <a:avLst/>
            <a:gdLst/>
            <a:ahLst/>
            <a:rect l="0" t="0" r="r" b="b"/>
            <a:pathLst>
              <a:path w="19765" h="27">
                <a:moveTo>
                  <a:pt x="0" y="0"/>
                </a:moveTo>
                <a:lnTo>
                  <a:pt x="19765" y="0"/>
                </a:lnTo>
                <a:lnTo>
                  <a:pt x="197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1420280" y="598140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27" y="0"/>
                </a:lnTo>
                <a:lnTo>
                  <a:pt x="27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61760" y="6553080"/>
            <a:ext cx="3553200" cy="9720"/>
          </a:xfrm>
          <a:custGeom>
            <a:avLst/>
            <a:gdLst/>
            <a:ahLst/>
            <a:rect l="0" t="0" r="r" b="b"/>
            <a:pathLst>
              <a:path w="9870" h="27">
                <a:moveTo>
                  <a:pt x="0" y="0"/>
                </a:moveTo>
                <a:lnTo>
                  <a:pt x="9870" y="0"/>
                </a:lnTo>
                <a:lnTo>
                  <a:pt x="987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4314600" y="6553080"/>
            <a:ext cx="7115400" cy="9720"/>
          </a:xfrm>
          <a:custGeom>
            <a:avLst/>
            <a:gdLst/>
            <a:ahLst/>
            <a:rect l="0" t="0" r="r" b="b"/>
            <a:pathLst>
              <a:path w="19765" h="27">
                <a:moveTo>
                  <a:pt x="0" y="0"/>
                </a:moveTo>
                <a:lnTo>
                  <a:pt x="19765" y="0"/>
                </a:lnTo>
                <a:lnTo>
                  <a:pt x="197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762120" y="1382760"/>
            <a:ext cx="48556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Key Principles of Systematic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196360" y="2081520"/>
            <a:ext cx="6836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Principle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7414200" y="2081520"/>
            <a:ext cx="9068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Description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905040" y="2433960"/>
            <a:ext cx="24184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Structured Process Orientation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4447080" y="2433960"/>
            <a:ext cx="66146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Follow a deﬁned, repeatable sequence of design stages to ensure clarity and consistency.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905040" y="2786400"/>
            <a:ext cx="18777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 Decomposition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4447080" y="2786400"/>
            <a:ext cx="6275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Break the system into manageable subsystems or components to reduce complexity.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05040" y="3138840"/>
            <a:ext cx="18918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Function-Driven Design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447080" y="3138840"/>
            <a:ext cx="59454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Begin with the desired functions and derive solutions that fulﬁll those functions.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905040" y="3491280"/>
            <a:ext cx="32032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Space Exploration and Evaluation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4447080" y="3491280"/>
            <a:ext cx="64011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Generate multiple design alternatives and evaluate them using clear, objective criteria.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905040" y="3843720"/>
            <a:ext cx="27777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Interface Deﬁnition and Integration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905040" y="4072320"/>
            <a:ext cx="6836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Planning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4447080" y="3843720"/>
            <a:ext cx="63010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Clearly deﬁne interfaces between components to ensure compatibility and successful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447080" y="4072320"/>
            <a:ext cx="8604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integration.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905040" y="4424760"/>
            <a:ext cx="2063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Requirements Traceability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4447080" y="4424760"/>
            <a:ext cx="58341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Link every design decision back to a functional or non-functional requirement.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05040" y="4777200"/>
            <a:ext cx="32353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Iterative Reﬁnement and Feedback Loops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4447080" y="4777200"/>
            <a:ext cx="55882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 test results and stakeholder feedback to iteratively improve the design.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905040" y="5129640"/>
            <a:ext cx="2455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Documentation and Knowledge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905040" y="5358240"/>
            <a:ext cx="10069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Management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447080" y="5129640"/>
            <a:ext cx="64011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Maintain thorough records of decisions, risks, trade-oﬀs, and changes throughout the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4447080" y="5358240"/>
            <a:ext cx="619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process.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05040" y="5710680"/>
            <a:ext cx="27939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for Lifecycle Considerations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4447080" y="5710680"/>
            <a:ext cx="57142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Consider manufacturability, maintainability, and sustainability from the start.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905040" y="6177240"/>
            <a:ext cx="2529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 of Formal Tools and Models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447080" y="6062760"/>
            <a:ext cx="62542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Apply CAD, SysML, simulation, and modelling tools to support rigour, precision, and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4447080" y="6291360"/>
            <a:ext cx="11898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communication.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8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876240" y="1978920"/>
            <a:ext cx="67280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Social Media Algorithm Example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876240" y="2874600"/>
            <a:ext cx="6759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 social media platform contains three coupled components: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025280" y="3385080"/>
            <a:ext cx="8274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recommendation algorithm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learns from user engagement, ranks content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1025280" y="3737520"/>
            <a:ext cx="8129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User behaviour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users see recommendations and decide what to engage with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025280" y="4089960"/>
            <a:ext cx="8630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Content ecosystem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— posts, creators, discourse shaped by what algorithms amplify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876240" y="4560480"/>
            <a:ext cx="6172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These are not independent. They form a feedback loop.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1106720" y="239040"/>
            <a:ext cx="596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799920" y="6343560"/>
            <a:ext cx="381240" cy="304920"/>
          </a:xfrm>
          <a:custGeom>
            <a:avLst/>
            <a:gdLst/>
            <a:ahLst/>
            <a:rect l="0" t="0" r="r" b="b"/>
            <a:pathLst>
              <a:path w="1059" h="847">
                <a:moveTo>
                  <a:pt x="0" y="423"/>
                </a:move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1" y="188"/>
                </a:cubicBezTo>
                <a:cubicBezTo>
                  <a:pt x="87" y="165"/>
                  <a:pt x="104" y="143"/>
                  <a:pt x="124" y="124"/>
                </a:cubicBezTo>
                <a:cubicBezTo>
                  <a:pt x="144" y="104"/>
                  <a:pt x="165" y="87"/>
                  <a:pt x="188" y="71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1"/>
                  <a:pt x="313" y="13"/>
                  <a:pt x="341" y="8"/>
                </a:cubicBezTo>
                <a:cubicBezTo>
                  <a:pt x="368" y="2"/>
                  <a:pt x="396" y="0"/>
                  <a:pt x="423" y="0"/>
                </a:cubicBezTo>
                <a:lnTo>
                  <a:pt x="636" y="0"/>
                </a:lnTo>
                <a:cubicBezTo>
                  <a:pt x="664" y="0"/>
                  <a:pt x="691" y="2"/>
                  <a:pt x="719" y="8"/>
                </a:cubicBezTo>
                <a:cubicBezTo>
                  <a:pt x="746" y="13"/>
                  <a:pt x="772" y="21"/>
                  <a:pt x="798" y="32"/>
                </a:cubicBezTo>
                <a:cubicBezTo>
                  <a:pt x="824" y="43"/>
                  <a:pt x="848" y="56"/>
                  <a:pt x="871" y="71"/>
                </a:cubicBezTo>
                <a:cubicBezTo>
                  <a:pt x="894" y="87"/>
                  <a:pt x="916" y="104"/>
                  <a:pt x="935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3" y="211"/>
                  <a:pt x="1016" y="235"/>
                  <a:pt x="1027" y="261"/>
                </a:cubicBezTo>
                <a:cubicBezTo>
                  <a:pt x="1038" y="287"/>
                  <a:pt x="1046" y="313"/>
                  <a:pt x="1051" y="340"/>
                </a:cubicBezTo>
                <a:cubicBezTo>
                  <a:pt x="1057" y="368"/>
                  <a:pt x="1059" y="395"/>
                  <a:pt x="1059" y="423"/>
                </a:cubicBezTo>
                <a:cubicBezTo>
                  <a:pt x="1059" y="451"/>
                  <a:pt x="1057" y="478"/>
                  <a:pt x="1051" y="506"/>
                </a:cubicBezTo>
                <a:cubicBezTo>
                  <a:pt x="1046" y="533"/>
                  <a:pt x="1038" y="559"/>
                  <a:pt x="1027" y="586"/>
                </a:cubicBezTo>
                <a:cubicBezTo>
                  <a:pt x="1016" y="612"/>
                  <a:pt x="1003" y="636"/>
                  <a:pt x="988" y="659"/>
                </a:cubicBezTo>
                <a:cubicBezTo>
                  <a:pt x="973" y="682"/>
                  <a:pt x="955" y="704"/>
                  <a:pt x="935" y="723"/>
                </a:cubicBezTo>
                <a:cubicBezTo>
                  <a:pt x="916" y="743"/>
                  <a:pt x="894" y="761"/>
                  <a:pt x="871" y="776"/>
                </a:cubicBezTo>
                <a:cubicBezTo>
                  <a:pt x="848" y="792"/>
                  <a:pt x="824" y="805"/>
                  <a:pt x="798" y="815"/>
                </a:cubicBezTo>
                <a:cubicBezTo>
                  <a:pt x="772" y="826"/>
                  <a:pt x="746" y="834"/>
                  <a:pt x="719" y="839"/>
                </a:cubicBezTo>
                <a:cubicBezTo>
                  <a:pt x="691" y="845"/>
                  <a:pt x="664" y="847"/>
                  <a:pt x="636" y="847"/>
                </a:cubicBezTo>
                <a:lnTo>
                  <a:pt x="423" y="847"/>
                </a:lnTo>
                <a:cubicBezTo>
                  <a:pt x="396" y="847"/>
                  <a:pt x="368" y="845"/>
                  <a:pt x="341" y="839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4" y="704"/>
                  <a:pt x="87" y="682"/>
                  <a:pt x="71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59"/>
                  <a:pt x="14" y="533"/>
                  <a:pt x="8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7624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876240" y="378720"/>
            <a:ext cx="279756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How It Works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876240" y="1274400"/>
            <a:ext cx="9008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Initial state: </a:t>
            </a:r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Algorithm recommends diverse content based on past engagement.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1085760" y="23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876240" y="1788840"/>
            <a:ext cx="2718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Positive feedback loop: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1085760" y="27428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30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8" y="151"/>
                  <a:pt x="11" y="141"/>
                  <a:pt x="7" y="130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7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282680" y="2298960"/>
            <a:ext cx="602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User engages with political content (likes, shares, comments)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085760" y="30952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30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8" y="151"/>
                  <a:pt x="11" y="141"/>
                  <a:pt x="7" y="130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1" y="47"/>
                  <a:pt x="18" y="37"/>
                  <a:pt x="27" y="29"/>
                </a:cubicBezTo>
                <a:cubicBezTo>
                  <a:pt x="36" y="20"/>
                  <a:pt x="47" y="13"/>
                  <a:pt x="58" y="9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9"/>
                </a:cubicBezTo>
                <a:cubicBezTo>
                  <a:pt x="140" y="13"/>
                  <a:pt x="150" y="20"/>
                  <a:pt x="159" y="29"/>
                </a:cubicBezTo>
                <a:cubicBezTo>
                  <a:pt x="168" y="37"/>
                  <a:pt x="174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282680" y="2651400"/>
            <a:ext cx="4789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Algorithm learns: this user likes political content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085760" y="3457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282680" y="3003840"/>
            <a:ext cx="5724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Algorithm recommends more political content to this user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1085760" y="3809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1282680" y="3366000"/>
            <a:ext cx="5007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More political engagement trains algorithm further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1282680" y="3718440"/>
            <a:ext cx="5064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Algorithm recommends even more political content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876240" y="4188960"/>
            <a:ext cx="9460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Emergence: </a:t>
            </a:r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After weeks, the user's feed contains nearly only political content—often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76240" y="4551120"/>
            <a:ext cx="98884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increasingly extreme versions. No engineer programmed polarization. No single decision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876240" y="4922280"/>
            <a:ext cx="9441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caused it. It emerged from the feedback loop between algorithm and user behaviour.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876240" y="5436720"/>
            <a:ext cx="10101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System-level eﬀect: </a:t>
            </a:r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Across millions of users, this creates ﬁlter bubbles, where people see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876240" y="5798880"/>
            <a:ext cx="10414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only views that conﬁrm their existing beliefs. Discourse fragments. Misinformation spreads in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876240" y="6170040"/>
            <a:ext cx="4111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bubbles. Trust in institutions erodes.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11106720" y="239040"/>
            <a:ext cx="596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799920" y="6343560"/>
            <a:ext cx="381240" cy="304920"/>
          </a:xfrm>
          <a:custGeom>
            <a:avLst/>
            <a:gdLst/>
            <a:ahLst/>
            <a:rect l="0" t="0" r="r" b="b"/>
            <a:pathLst>
              <a:path w="1059" h="847">
                <a:moveTo>
                  <a:pt x="0" y="423"/>
                </a:move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1" y="188"/>
                </a:cubicBezTo>
                <a:cubicBezTo>
                  <a:pt x="87" y="165"/>
                  <a:pt x="104" y="143"/>
                  <a:pt x="124" y="124"/>
                </a:cubicBezTo>
                <a:cubicBezTo>
                  <a:pt x="144" y="104"/>
                  <a:pt x="165" y="87"/>
                  <a:pt x="188" y="71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1"/>
                  <a:pt x="313" y="13"/>
                  <a:pt x="341" y="8"/>
                </a:cubicBezTo>
                <a:cubicBezTo>
                  <a:pt x="368" y="2"/>
                  <a:pt x="396" y="0"/>
                  <a:pt x="423" y="0"/>
                </a:cubicBezTo>
                <a:lnTo>
                  <a:pt x="636" y="0"/>
                </a:lnTo>
                <a:cubicBezTo>
                  <a:pt x="664" y="0"/>
                  <a:pt x="691" y="2"/>
                  <a:pt x="719" y="8"/>
                </a:cubicBezTo>
                <a:cubicBezTo>
                  <a:pt x="746" y="13"/>
                  <a:pt x="772" y="21"/>
                  <a:pt x="798" y="32"/>
                </a:cubicBezTo>
                <a:cubicBezTo>
                  <a:pt x="824" y="43"/>
                  <a:pt x="848" y="56"/>
                  <a:pt x="871" y="71"/>
                </a:cubicBezTo>
                <a:cubicBezTo>
                  <a:pt x="894" y="87"/>
                  <a:pt x="916" y="104"/>
                  <a:pt x="935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3" y="211"/>
                  <a:pt x="1016" y="235"/>
                  <a:pt x="1027" y="261"/>
                </a:cubicBezTo>
                <a:cubicBezTo>
                  <a:pt x="1038" y="287"/>
                  <a:pt x="1046" y="313"/>
                  <a:pt x="1051" y="340"/>
                </a:cubicBezTo>
                <a:cubicBezTo>
                  <a:pt x="1057" y="368"/>
                  <a:pt x="1059" y="395"/>
                  <a:pt x="1059" y="423"/>
                </a:cubicBezTo>
                <a:cubicBezTo>
                  <a:pt x="1059" y="451"/>
                  <a:pt x="1057" y="478"/>
                  <a:pt x="1051" y="506"/>
                </a:cubicBezTo>
                <a:cubicBezTo>
                  <a:pt x="1046" y="533"/>
                  <a:pt x="1038" y="559"/>
                  <a:pt x="1027" y="586"/>
                </a:cubicBezTo>
                <a:cubicBezTo>
                  <a:pt x="1016" y="612"/>
                  <a:pt x="1003" y="636"/>
                  <a:pt x="988" y="659"/>
                </a:cubicBezTo>
                <a:cubicBezTo>
                  <a:pt x="973" y="682"/>
                  <a:pt x="955" y="704"/>
                  <a:pt x="935" y="723"/>
                </a:cubicBezTo>
                <a:cubicBezTo>
                  <a:pt x="916" y="743"/>
                  <a:pt x="894" y="761"/>
                  <a:pt x="871" y="776"/>
                </a:cubicBezTo>
                <a:cubicBezTo>
                  <a:pt x="848" y="792"/>
                  <a:pt x="824" y="805"/>
                  <a:pt x="798" y="815"/>
                </a:cubicBezTo>
                <a:cubicBezTo>
                  <a:pt x="772" y="826"/>
                  <a:pt x="746" y="834"/>
                  <a:pt x="719" y="839"/>
                </a:cubicBezTo>
                <a:cubicBezTo>
                  <a:pt x="691" y="845"/>
                  <a:pt x="664" y="847"/>
                  <a:pt x="636" y="847"/>
                </a:cubicBezTo>
                <a:lnTo>
                  <a:pt x="423" y="847"/>
                </a:lnTo>
                <a:cubicBezTo>
                  <a:pt x="396" y="847"/>
                  <a:pt x="368" y="845"/>
                  <a:pt x="341" y="839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4" y="704"/>
                  <a:pt x="87" y="682"/>
                  <a:pt x="71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59"/>
                  <a:pt x="14" y="533"/>
                  <a:pt x="8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87624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876240" y="2083680"/>
            <a:ext cx="641880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Traditional Thinking Fails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1085760" y="3581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876240" y="2988720"/>
            <a:ext cx="5067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Optimizing the algorithm alone won't ﬁx this: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282680" y="3489840"/>
            <a:ext cx="9199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Tweaking recommendations to "show more diverse content" is ignored if users ignore it (user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1085760" y="42382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7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282680" y="3794400"/>
            <a:ext cx="3126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behaviour is part of the system)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1085760" y="4600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6"/>
                  <a:pt x="0" y="93"/>
                </a:cubicBezTo>
                <a:cubicBezTo>
                  <a:pt x="0" y="81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282680" y="4146840"/>
            <a:ext cx="9147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Removing engagement signals changes incentives but creates new feedback loops elsewhere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1282680" y="4509000"/>
            <a:ext cx="7456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Individual features work ﬁne in isolation; system behaviour is unpredictable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1106720" y="239040"/>
            <a:ext cx="596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799920" y="6343560"/>
            <a:ext cx="381240" cy="304920"/>
          </a:xfrm>
          <a:custGeom>
            <a:avLst/>
            <a:gdLst/>
            <a:ahLst/>
            <a:rect l="0" t="0" r="r" b="b"/>
            <a:pathLst>
              <a:path w="1059" h="847">
                <a:moveTo>
                  <a:pt x="0" y="423"/>
                </a:move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1" y="188"/>
                </a:cubicBezTo>
                <a:cubicBezTo>
                  <a:pt x="87" y="165"/>
                  <a:pt x="104" y="143"/>
                  <a:pt x="124" y="124"/>
                </a:cubicBezTo>
                <a:cubicBezTo>
                  <a:pt x="144" y="104"/>
                  <a:pt x="165" y="87"/>
                  <a:pt x="188" y="71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1"/>
                  <a:pt x="313" y="13"/>
                  <a:pt x="341" y="8"/>
                </a:cubicBezTo>
                <a:cubicBezTo>
                  <a:pt x="368" y="2"/>
                  <a:pt x="396" y="0"/>
                  <a:pt x="423" y="0"/>
                </a:cubicBezTo>
                <a:lnTo>
                  <a:pt x="636" y="0"/>
                </a:lnTo>
                <a:cubicBezTo>
                  <a:pt x="664" y="0"/>
                  <a:pt x="691" y="2"/>
                  <a:pt x="719" y="8"/>
                </a:cubicBezTo>
                <a:cubicBezTo>
                  <a:pt x="746" y="13"/>
                  <a:pt x="772" y="21"/>
                  <a:pt x="798" y="32"/>
                </a:cubicBezTo>
                <a:cubicBezTo>
                  <a:pt x="824" y="43"/>
                  <a:pt x="848" y="56"/>
                  <a:pt x="871" y="71"/>
                </a:cubicBezTo>
                <a:cubicBezTo>
                  <a:pt x="894" y="87"/>
                  <a:pt x="916" y="104"/>
                  <a:pt x="935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3" y="211"/>
                  <a:pt x="1016" y="235"/>
                  <a:pt x="1027" y="261"/>
                </a:cubicBezTo>
                <a:cubicBezTo>
                  <a:pt x="1038" y="287"/>
                  <a:pt x="1046" y="313"/>
                  <a:pt x="1051" y="340"/>
                </a:cubicBezTo>
                <a:cubicBezTo>
                  <a:pt x="1057" y="368"/>
                  <a:pt x="1059" y="395"/>
                  <a:pt x="1059" y="423"/>
                </a:cubicBezTo>
                <a:cubicBezTo>
                  <a:pt x="1059" y="451"/>
                  <a:pt x="1057" y="478"/>
                  <a:pt x="1051" y="506"/>
                </a:cubicBezTo>
                <a:cubicBezTo>
                  <a:pt x="1046" y="533"/>
                  <a:pt x="1038" y="559"/>
                  <a:pt x="1027" y="586"/>
                </a:cubicBezTo>
                <a:cubicBezTo>
                  <a:pt x="1016" y="612"/>
                  <a:pt x="1003" y="636"/>
                  <a:pt x="988" y="659"/>
                </a:cubicBezTo>
                <a:cubicBezTo>
                  <a:pt x="973" y="682"/>
                  <a:pt x="955" y="704"/>
                  <a:pt x="935" y="723"/>
                </a:cubicBezTo>
                <a:cubicBezTo>
                  <a:pt x="916" y="743"/>
                  <a:pt x="894" y="761"/>
                  <a:pt x="871" y="776"/>
                </a:cubicBezTo>
                <a:cubicBezTo>
                  <a:pt x="848" y="792"/>
                  <a:pt x="824" y="805"/>
                  <a:pt x="798" y="815"/>
                </a:cubicBezTo>
                <a:cubicBezTo>
                  <a:pt x="772" y="826"/>
                  <a:pt x="746" y="834"/>
                  <a:pt x="719" y="839"/>
                </a:cubicBezTo>
                <a:cubicBezTo>
                  <a:pt x="691" y="845"/>
                  <a:pt x="664" y="847"/>
                  <a:pt x="636" y="847"/>
                </a:cubicBezTo>
                <a:lnTo>
                  <a:pt x="423" y="847"/>
                </a:lnTo>
                <a:cubicBezTo>
                  <a:pt x="396" y="847"/>
                  <a:pt x="368" y="845"/>
                  <a:pt x="341" y="839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4" y="704"/>
                  <a:pt x="87" y="682"/>
                  <a:pt x="71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59"/>
                  <a:pt x="14" y="533"/>
                  <a:pt x="8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87624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876240" y="1283400"/>
            <a:ext cx="562068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System Theory Insight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76240" y="2179080"/>
            <a:ext cx="99360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You cannot understand the algorithm's impact without understanding the user-algorithm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76240" y="2541240"/>
            <a:ext cx="9840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feedback loop as a single system. The algorithm and user behaviour are interdependent.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876240" y="2912760"/>
            <a:ext cx="9851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Change one part and you destabilize the whole. Emergent behaviours (polarization, ﬁlter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876240" y="3274560"/>
            <a:ext cx="6483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bubbles) come from the system, not from any component.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085760" y="4390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876240" y="3789000"/>
            <a:ext cx="3920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Solutions require systems thinking: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1282680" y="4299480"/>
            <a:ext cx="9310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Add negative feedback (e.g., expose users to opposing views, but measure actual engagement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085760" y="504792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1282680" y="4604040"/>
            <a:ext cx="876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changes)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085760" y="54003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282680" y="4956480"/>
            <a:ext cx="7640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Change incentive structures across the entire platform, not just the algorithm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282680" y="5308920"/>
            <a:ext cx="5606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Monitor emergent behaviours, not just algorithm metrics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1106720" y="239040"/>
            <a:ext cx="596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799920" y="6343560"/>
            <a:ext cx="381240" cy="304920"/>
          </a:xfrm>
          <a:custGeom>
            <a:avLst/>
            <a:gdLst/>
            <a:ahLst/>
            <a:rect l="0" t="0" r="r" b="b"/>
            <a:pathLst>
              <a:path w="1059" h="847">
                <a:moveTo>
                  <a:pt x="0" y="423"/>
                </a:move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1" y="188"/>
                </a:cubicBezTo>
                <a:cubicBezTo>
                  <a:pt x="87" y="165"/>
                  <a:pt x="104" y="143"/>
                  <a:pt x="124" y="124"/>
                </a:cubicBezTo>
                <a:cubicBezTo>
                  <a:pt x="144" y="104"/>
                  <a:pt x="165" y="87"/>
                  <a:pt x="188" y="71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1"/>
                  <a:pt x="313" y="13"/>
                  <a:pt x="341" y="8"/>
                </a:cubicBezTo>
                <a:cubicBezTo>
                  <a:pt x="368" y="2"/>
                  <a:pt x="396" y="0"/>
                  <a:pt x="423" y="0"/>
                </a:cubicBezTo>
                <a:lnTo>
                  <a:pt x="636" y="0"/>
                </a:lnTo>
                <a:cubicBezTo>
                  <a:pt x="664" y="0"/>
                  <a:pt x="691" y="2"/>
                  <a:pt x="719" y="8"/>
                </a:cubicBezTo>
                <a:cubicBezTo>
                  <a:pt x="746" y="13"/>
                  <a:pt x="772" y="21"/>
                  <a:pt x="798" y="32"/>
                </a:cubicBezTo>
                <a:cubicBezTo>
                  <a:pt x="824" y="43"/>
                  <a:pt x="848" y="56"/>
                  <a:pt x="871" y="71"/>
                </a:cubicBezTo>
                <a:cubicBezTo>
                  <a:pt x="894" y="87"/>
                  <a:pt x="916" y="104"/>
                  <a:pt x="935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3" y="211"/>
                  <a:pt x="1016" y="235"/>
                  <a:pt x="1027" y="261"/>
                </a:cubicBezTo>
                <a:cubicBezTo>
                  <a:pt x="1038" y="287"/>
                  <a:pt x="1046" y="313"/>
                  <a:pt x="1051" y="340"/>
                </a:cubicBezTo>
                <a:cubicBezTo>
                  <a:pt x="1057" y="368"/>
                  <a:pt x="1059" y="395"/>
                  <a:pt x="1059" y="423"/>
                </a:cubicBezTo>
                <a:cubicBezTo>
                  <a:pt x="1059" y="451"/>
                  <a:pt x="1057" y="478"/>
                  <a:pt x="1051" y="506"/>
                </a:cubicBezTo>
                <a:cubicBezTo>
                  <a:pt x="1046" y="533"/>
                  <a:pt x="1038" y="559"/>
                  <a:pt x="1027" y="586"/>
                </a:cubicBezTo>
                <a:cubicBezTo>
                  <a:pt x="1016" y="612"/>
                  <a:pt x="1003" y="636"/>
                  <a:pt x="988" y="659"/>
                </a:cubicBezTo>
                <a:cubicBezTo>
                  <a:pt x="973" y="682"/>
                  <a:pt x="955" y="704"/>
                  <a:pt x="935" y="723"/>
                </a:cubicBezTo>
                <a:cubicBezTo>
                  <a:pt x="916" y="743"/>
                  <a:pt x="894" y="761"/>
                  <a:pt x="871" y="776"/>
                </a:cubicBezTo>
                <a:cubicBezTo>
                  <a:pt x="848" y="792"/>
                  <a:pt x="824" y="805"/>
                  <a:pt x="798" y="815"/>
                </a:cubicBezTo>
                <a:cubicBezTo>
                  <a:pt x="772" y="826"/>
                  <a:pt x="746" y="834"/>
                  <a:pt x="719" y="839"/>
                </a:cubicBezTo>
                <a:cubicBezTo>
                  <a:pt x="691" y="845"/>
                  <a:pt x="664" y="847"/>
                  <a:pt x="636" y="847"/>
                </a:cubicBezTo>
                <a:lnTo>
                  <a:pt x="423" y="847"/>
                </a:lnTo>
                <a:cubicBezTo>
                  <a:pt x="396" y="847"/>
                  <a:pt x="368" y="845"/>
                  <a:pt x="341" y="839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4" y="704"/>
                  <a:pt x="87" y="682"/>
                  <a:pt x="71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59"/>
                  <a:pt x="14" y="533"/>
                  <a:pt x="8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87624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876240" y="712080"/>
            <a:ext cx="97898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Worked Example: A Systemic Redesign Process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876240" y="1607760"/>
            <a:ext cx="2778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Where systems-thinking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3709080" y="1607760"/>
            <a:ext cx="11520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diagnoses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4775400" y="1607760"/>
            <a:ext cx="60145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 the algorithm/user feedback loop that produces ﬁlter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76240" y="1969560"/>
            <a:ext cx="29462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bubbles , systemic design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3877200" y="1969560"/>
            <a:ext cx="316080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redesigns the whole system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1085760" y="25714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6" y="168"/>
                  <a:pt x="27" y="158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6899760" y="1969560"/>
            <a:ext cx="2646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, not just the algorithm: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1085760" y="2923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1282680" y="2480040"/>
            <a:ext cx="6120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Change recommendation weights to penalise extreme content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1085760" y="32763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70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282680" y="2832480"/>
            <a:ext cx="6828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Redesign the UI to surface opposing viewpoints and trigger reﬂection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1085760" y="3638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6"/>
                  <a:pt x="179" y="128"/>
                </a:cubicBezTo>
                <a:cubicBezTo>
                  <a:pt x="174" y="139"/>
                  <a:pt x="168" y="149"/>
                  <a:pt x="159" y="158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8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6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1282680" y="3184920"/>
            <a:ext cx="6810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Change creator incentives from engagement-maximisation to quality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085760" y="3990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4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4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1282680" y="3546720"/>
            <a:ext cx="8658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Add circuit breakers that inject diverse content when a feed becomes too homogeneous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282680" y="3899160"/>
            <a:ext cx="5968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Monitor for emergent polarisation across the whole platform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876240" y="4370040"/>
            <a:ext cx="3411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These interventions only work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4342320" y="4370040"/>
            <a:ext cx="969840" cy="27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together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231160" y="4370040"/>
            <a:ext cx="5923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: changing the algorithm without changing incentives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876240" y="4731840"/>
            <a:ext cx="10233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still lets creators game the system; showing opposing views without changing the algorithm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876240" y="5103360"/>
            <a:ext cx="10303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gets them ignored. Systemic design means designing across the system, not one component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876240" y="5465520"/>
            <a:ext cx="98312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at a time — systematic-design for how the same scenario looks run as a phased process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876240" y="5836680"/>
            <a:ext cx="880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instead.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1106720" y="239040"/>
            <a:ext cx="596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799920" y="6343560"/>
            <a:ext cx="381240" cy="304920"/>
          </a:xfrm>
          <a:custGeom>
            <a:avLst/>
            <a:gdLst/>
            <a:ahLst/>
            <a:rect l="0" t="0" r="r" b="b"/>
            <a:pathLst>
              <a:path w="1059" h="847">
                <a:moveTo>
                  <a:pt x="0" y="423"/>
                </a:move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1" y="188"/>
                </a:cubicBezTo>
                <a:cubicBezTo>
                  <a:pt x="87" y="165"/>
                  <a:pt x="104" y="143"/>
                  <a:pt x="124" y="124"/>
                </a:cubicBezTo>
                <a:cubicBezTo>
                  <a:pt x="144" y="104"/>
                  <a:pt x="165" y="87"/>
                  <a:pt x="188" y="71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1"/>
                  <a:pt x="313" y="13"/>
                  <a:pt x="341" y="8"/>
                </a:cubicBezTo>
                <a:cubicBezTo>
                  <a:pt x="368" y="2"/>
                  <a:pt x="396" y="0"/>
                  <a:pt x="423" y="0"/>
                </a:cubicBezTo>
                <a:lnTo>
                  <a:pt x="636" y="0"/>
                </a:lnTo>
                <a:cubicBezTo>
                  <a:pt x="664" y="0"/>
                  <a:pt x="691" y="2"/>
                  <a:pt x="719" y="8"/>
                </a:cubicBezTo>
                <a:cubicBezTo>
                  <a:pt x="746" y="13"/>
                  <a:pt x="772" y="21"/>
                  <a:pt x="798" y="32"/>
                </a:cubicBezTo>
                <a:cubicBezTo>
                  <a:pt x="824" y="43"/>
                  <a:pt x="848" y="56"/>
                  <a:pt x="871" y="71"/>
                </a:cubicBezTo>
                <a:cubicBezTo>
                  <a:pt x="894" y="87"/>
                  <a:pt x="916" y="104"/>
                  <a:pt x="935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3" y="211"/>
                  <a:pt x="1016" y="235"/>
                  <a:pt x="1027" y="261"/>
                </a:cubicBezTo>
                <a:cubicBezTo>
                  <a:pt x="1038" y="287"/>
                  <a:pt x="1046" y="313"/>
                  <a:pt x="1051" y="340"/>
                </a:cubicBezTo>
                <a:cubicBezTo>
                  <a:pt x="1057" y="368"/>
                  <a:pt x="1059" y="395"/>
                  <a:pt x="1059" y="423"/>
                </a:cubicBezTo>
                <a:cubicBezTo>
                  <a:pt x="1059" y="451"/>
                  <a:pt x="1057" y="478"/>
                  <a:pt x="1051" y="506"/>
                </a:cubicBezTo>
                <a:cubicBezTo>
                  <a:pt x="1046" y="533"/>
                  <a:pt x="1038" y="559"/>
                  <a:pt x="1027" y="586"/>
                </a:cubicBezTo>
                <a:cubicBezTo>
                  <a:pt x="1016" y="612"/>
                  <a:pt x="1003" y="636"/>
                  <a:pt x="988" y="659"/>
                </a:cubicBezTo>
                <a:cubicBezTo>
                  <a:pt x="973" y="682"/>
                  <a:pt x="955" y="704"/>
                  <a:pt x="935" y="723"/>
                </a:cubicBezTo>
                <a:cubicBezTo>
                  <a:pt x="916" y="743"/>
                  <a:pt x="894" y="761"/>
                  <a:pt x="871" y="776"/>
                </a:cubicBezTo>
                <a:cubicBezTo>
                  <a:pt x="848" y="792"/>
                  <a:pt x="824" y="805"/>
                  <a:pt x="798" y="815"/>
                </a:cubicBezTo>
                <a:cubicBezTo>
                  <a:pt x="772" y="826"/>
                  <a:pt x="746" y="834"/>
                  <a:pt x="719" y="839"/>
                </a:cubicBezTo>
                <a:cubicBezTo>
                  <a:pt x="691" y="845"/>
                  <a:pt x="664" y="847"/>
                  <a:pt x="636" y="847"/>
                </a:cubicBezTo>
                <a:lnTo>
                  <a:pt x="423" y="847"/>
                </a:lnTo>
                <a:cubicBezTo>
                  <a:pt x="396" y="847"/>
                  <a:pt x="368" y="845"/>
                  <a:pt x="341" y="839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4" y="704"/>
                  <a:pt x="87" y="682"/>
                  <a:pt x="71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59"/>
                  <a:pt x="14" y="533"/>
                  <a:pt x="8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87624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876240" y="902520"/>
            <a:ext cx="1019412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Worked Example: A Systematic Redesign Process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876240" y="1798200"/>
            <a:ext cx="10524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Continuing the same scenario as systemic-design's worked example, a systematic approach 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876240" y="2160360"/>
            <a:ext cx="7505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redesigning a recommender system looks like an ordered checklist: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1025280" y="2670480"/>
            <a:ext cx="4685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Audit the current recommendation algorithm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1025280" y="3022920"/>
            <a:ext cx="3413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a new weighting scheme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1025280" y="3375360"/>
            <a:ext cx="3009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Build A/B test infrastructure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1025280" y="3737520"/>
            <a:ext cx="2798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Run tests on 10% of users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1025280" y="4089960"/>
            <a:ext cx="3156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Measure engagement metrics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025280" y="4442040"/>
            <a:ext cx="3718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Roll out to 100% if metrics improve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876240" y="4912920"/>
            <a:ext cx="105062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Each step is methodical and auditable — but, taken alone, isolated: step 1 doesn't show how it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876240" y="5284440"/>
            <a:ext cx="104248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aﬀects step 4, or how improving one metric breaks another part of the system. That's the gap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876240" y="5646240"/>
            <a:ext cx="26618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systemic-design closes.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1106720" y="239040"/>
            <a:ext cx="59616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EXAMPLE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799920" y="6343560"/>
            <a:ext cx="381240" cy="304920"/>
          </a:xfrm>
          <a:custGeom>
            <a:avLst/>
            <a:gdLst/>
            <a:ahLst/>
            <a:rect l="0" t="0" r="r" b="b"/>
            <a:pathLst>
              <a:path w="1059" h="847">
                <a:moveTo>
                  <a:pt x="0" y="423"/>
                </a:move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1" y="188"/>
                </a:cubicBezTo>
                <a:cubicBezTo>
                  <a:pt x="87" y="165"/>
                  <a:pt x="104" y="143"/>
                  <a:pt x="124" y="124"/>
                </a:cubicBezTo>
                <a:cubicBezTo>
                  <a:pt x="144" y="104"/>
                  <a:pt x="165" y="87"/>
                  <a:pt x="188" y="71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1"/>
                  <a:pt x="313" y="13"/>
                  <a:pt x="341" y="8"/>
                </a:cubicBezTo>
                <a:cubicBezTo>
                  <a:pt x="368" y="2"/>
                  <a:pt x="396" y="0"/>
                  <a:pt x="423" y="0"/>
                </a:cubicBezTo>
                <a:lnTo>
                  <a:pt x="636" y="0"/>
                </a:lnTo>
                <a:cubicBezTo>
                  <a:pt x="664" y="0"/>
                  <a:pt x="691" y="2"/>
                  <a:pt x="719" y="8"/>
                </a:cubicBezTo>
                <a:cubicBezTo>
                  <a:pt x="746" y="13"/>
                  <a:pt x="772" y="21"/>
                  <a:pt x="798" y="32"/>
                </a:cubicBezTo>
                <a:cubicBezTo>
                  <a:pt x="824" y="43"/>
                  <a:pt x="848" y="56"/>
                  <a:pt x="871" y="71"/>
                </a:cubicBezTo>
                <a:cubicBezTo>
                  <a:pt x="894" y="87"/>
                  <a:pt x="916" y="104"/>
                  <a:pt x="935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3" y="211"/>
                  <a:pt x="1016" y="235"/>
                  <a:pt x="1027" y="261"/>
                </a:cubicBezTo>
                <a:cubicBezTo>
                  <a:pt x="1038" y="287"/>
                  <a:pt x="1046" y="313"/>
                  <a:pt x="1051" y="340"/>
                </a:cubicBezTo>
                <a:cubicBezTo>
                  <a:pt x="1057" y="368"/>
                  <a:pt x="1059" y="395"/>
                  <a:pt x="1059" y="423"/>
                </a:cubicBezTo>
                <a:cubicBezTo>
                  <a:pt x="1059" y="451"/>
                  <a:pt x="1057" y="478"/>
                  <a:pt x="1051" y="506"/>
                </a:cubicBezTo>
                <a:cubicBezTo>
                  <a:pt x="1046" y="533"/>
                  <a:pt x="1038" y="559"/>
                  <a:pt x="1027" y="586"/>
                </a:cubicBezTo>
                <a:cubicBezTo>
                  <a:pt x="1016" y="612"/>
                  <a:pt x="1003" y="636"/>
                  <a:pt x="988" y="659"/>
                </a:cubicBezTo>
                <a:cubicBezTo>
                  <a:pt x="973" y="682"/>
                  <a:pt x="955" y="704"/>
                  <a:pt x="935" y="723"/>
                </a:cubicBezTo>
                <a:cubicBezTo>
                  <a:pt x="916" y="743"/>
                  <a:pt x="894" y="761"/>
                  <a:pt x="871" y="776"/>
                </a:cubicBezTo>
                <a:cubicBezTo>
                  <a:pt x="848" y="792"/>
                  <a:pt x="824" y="805"/>
                  <a:pt x="798" y="815"/>
                </a:cubicBezTo>
                <a:cubicBezTo>
                  <a:pt x="772" y="826"/>
                  <a:pt x="746" y="834"/>
                  <a:pt x="719" y="839"/>
                </a:cubicBezTo>
                <a:cubicBezTo>
                  <a:pt x="691" y="845"/>
                  <a:pt x="664" y="847"/>
                  <a:pt x="636" y="847"/>
                </a:cubicBezTo>
                <a:lnTo>
                  <a:pt x="423" y="847"/>
                </a:lnTo>
                <a:cubicBezTo>
                  <a:pt x="396" y="847"/>
                  <a:pt x="368" y="845"/>
                  <a:pt x="341" y="839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4" y="704"/>
                  <a:pt x="87" y="682"/>
                  <a:pt x="71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59"/>
                  <a:pt x="14" y="533"/>
                  <a:pt x="8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35252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87624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7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"/>
          <p:cNvSpPr txBox="1"/>
          <p:nvPr/>
        </p:nvSpPr>
        <p:spPr>
          <a:xfrm>
            <a:off x="762120" y="3527640"/>
            <a:ext cx="10583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Recall from the Systems Thinking lecture: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systemic design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accounts for the whole system and its feedback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762120" y="3832560"/>
            <a:ext cx="10366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loops;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systematic design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breaks it into orderly, methodical steps. This lecture goes deep on the second.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762120" y="-8280"/>
            <a:ext cx="9613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Recap: Systemic vs. Systematic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762120" y="753480"/>
            <a:ext cx="21866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3" name=""/>
          <p:cNvSpPr txBox="1"/>
          <p:nvPr/>
        </p:nvSpPr>
        <p:spPr>
          <a:xfrm>
            <a:off x="762120" y="2251440"/>
            <a:ext cx="7326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systematic design process can be represented in the following stages: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911160" y="2708640"/>
            <a:ext cx="6716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Inquiry – Understand system context, user needs, and constraints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911160" y="3070440"/>
            <a:ext cx="9858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Framing &amp; Requirements Gathering – Deﬁne the scope, boundaries, and stakeholder expectations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911160" y="3422880"/>
            <a:ext cx="10095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Architecture &amp; Interface Deﬁnition – Decompose system into components; deﬁne interaction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1168200" y="3727800"/>
            <a:ext cx="908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contracts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911160" y="4080240"/>
            <a:ext cx="9823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Component Design &amp; Optimisation – Apply appropriate methods (e.g., FEA, simulation, surrogate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1168200" y="4385160"/>
            <a:ext cx="1048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modelling)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911160" y="4737600"/>
            <a:ext cx="9680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Integration &amp; Testing – Assemble components, verify performance against system requirements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911160" y="5099400"/>
            <a:ext cx="7652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Feedback &amp; Iteration – Use simulation and real-world data to reﬁne models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62120" y="-8280"/>
            <a:ext cx="8371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Systematic Design Process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762120" y="753480"/>
            <a:ext cx="2941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Overview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"/>
          <p:cNvSpPr txBox="1"/>
          <p:nvPr/>
        </p:nvSpPr>
        <p:spPr>
          <a:xfrm>
            <a:off x="762120" y="2480040"/>
            <a:ext cx="7050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support these phases, engineers and designers use a range of tools: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762120" y="-8280"/>
            <a:ext cx="89874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Tools Supporting Systematic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766440" y="3024000"/>
            <a:ext cx="3486600" cy="1029240"/>
          </a:xfrm>
          <a:custGeom>
            <a:avLst/>
            <a:gdLst/>
            <a:ahLst/>
            <a:rect l="0" t="0" r="r" b="b"/>
            <a:pathLst>
              <a:path w="9685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2713"/>
                </a:lnTo>
                <a:cubicBezTo>
                  <a:pt x="9685" y="2723"/>
                  <a:pt x="9684" y="2732"/>
                  <a:pt x="9682" y="2741"/>
                </a:cubicBezTo>
                <a:cubicBezTo>
                  <a:pt x="9680" y="2751"/>
                  <a:pt x="9678" y="2760"/>
                  <a:pt x="9674" y="2769"/>
                </a:cubicBezTo>
                <a:cubicBezTo>
                  <a:pt x="9670" y="2778"/>
                  <a:pt x="9666" y="2786"/>
                  <a:pt x="9661" y="2794"/>
                </a:cubicBezTo>
                <a:cubicBezTo>
                  <a:pt x="9655" y="2802"/>
                  <a:pt x="9649" y="2809"/>
                  <a:pt x="9643" y="2816"/>
                </a:cubicBezTo>
                <a:cubicBezTo>
                  <a:pt x="9636" y="2823"/>
                  <a:pt x="9628" y="2829"/>
                  <a:pt x="9620" y="2834"/>
                </a:cubicBezTo>
                <a:cubicBezTo>
                  <a:pt x="9613" y="2839"/>
                  <a:pt x="9604" y="2844"/>
                  <a:pt x="9595" y="2847"/>
                </a:cubicBezTo>
                <a:cubicBezTo>
                  <a:pt x="9586" y="2851"/>
                  <a:pt x="9577" y="2854"/>
                  <a:pt x="9568" y="2856"/>
                </a:cubicBezTo>
                <a:cubicBezTo>
                  <a:pt x="9559" y="2858"/>
                  <a:pt x="9549" y="2859"/>
                  <a:pt x="9540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8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20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766440" y="3024000"/>
            <a:ext cx="3486600" cy="1029240"/>
          </a:xfrm>
          <a:custGeom>
            <a:avLst/>
            <a:gdLst/>
            <a:ahLst/>
            <a:rect l="0" t="0" r="r" b="b"/>
            <a:pathLst>
              <a:path fill="none" w="9685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2713"/>
                </a:lnTo>
                <a:cubicBezTo>
                  <a:pt x="9685" y="2723"/>
                  <a:pt x="9684" y="2732"/>
                  <a:pt x="9682" y="2741"/>
                </a:cubicBezTo>
                <a:cubicBezTo>
                  <a:pt x="9680" y="2751"/>
                  <a:pt x="9678" y="2760"/>
                  <a:pt x="9674" y="2769"/>
                </a:cubicBezTo>
                <a:cubicBezTo>
                  <a:pt x="9670" y="2778"/>
                  <a:pt x="9666" y="2786"/>
                  <a:pt x="9661" y="2794"/>
                </a:cubicBezTo>
                <a:cubicBezTo>
                  <a:pt x="9655" y="2802"/>
                  <a:pt x="9649" y="2809"/>
                  <a:pt x="9643" y="2816"/>
                </a:cubicBezTo>
                <a:cubicBezTo>
                  <a:pt x="9636" y="2823"/>
                  <a:pt x="9628" y="2829"/>
                  <a:pt x="9620" y="2834"/>
                </a:cubicBezTo>
                <a:cubicBezTo>
                  <a:pt x="9613" y="2839"/>
                  <a:pt x="9604" y="2844"/>
                  <a:pt x="9595" y="2847"/>
                </a:cubicBezTo>
                <a:cubicBezTo>
                  <a:pt x="9586" y="2851"/>
                  <a:pt x="9577" y="2854"/>
                  <a:pt x="9568" y="2856"/>
                </a:cubicBezTo>
                <a:cubicBezTo>
                  <a:pt x="9559" y="2858"/>
                  <a:pt x="9549" y="2859"/>
                  <a:pt x="9540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8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20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923760" y="323820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5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49"/>
                  <a:pt x="1059" y="159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5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7"/>
                </a:cubicBezTo>
                <a:cubicBezTo>
                  <a:pt x="952" y="761"/>
                  <a:pt x="942" y="764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60" y="769"/>
                </a:lnTo>
                <a:cubicBezTo>
                  <a:pt x="149" y="769"/>
                  <a:pt x="139" y="768"/>
                  <a:pt x="129" y="766"/>
                </a:cubicBezTo>
                <a:cubicBezTo>
                  <a:pt x="119" y="764"/>
                  <a:pt x="109" y="761"/>
                  <a:pt x="99" y="757"/>
                </a:cubicBezTo>
                <a:cubicBezTo>
                  <a:pt x="89" y="753"/>
                  <a:pt x="79" y="748"/>
                  <a:pt x="71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762120" y="753480"/>
            <a:ext cx="21866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971280" y="323712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1)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1305360" y="3227760"/>
            <a:ext cx="27972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Prediction / surrogate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4357440" y="3024000"/>
            <a:ext cx="3476880" cy="1029240"/>
          </a:xfrm>
          <a:custGeom>
            <a:avLst/>
            <a:gdLst/>
            <a:ahLst/>
            <a:rect l="0" t="0" r="r" b="b"/>
            <a:pathLst>
              <a:path w="9658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2713"/>
                </a:lnTo>
                <a:cubicBezTo>
                  <a:pt x="9658" y="2723"/>
                  <a:pt x="9658" y="2732"/>
                  <a:pt x="9656" y="2741"/>
                </a:cubicBezTo>
                <a:cubicBezTo>
                  <a:pt x="9654" y="2751"/>
                  <a:pt x="9651" y="2760"/>
                  <a:pt x="9647" y="2769"/>
                </a:cubicBezTo>
                <a:cubicBezTo>
                  <a:pt x="9644" y="2778"/>
                  <a:pt x="9639" y="2786"/>
                  <a:pt x="9634" y="2794"/>
                </a:cubicBezTo>
                <a:cubicBezTo>
                  <a:pt x="9629" y="2802"/>
                  <a:pt x="9623" y="2809"/>
                  <a:pt x="9616" y="2816"/>
                </a:cubicBezTo>
                <a:cubicBezTo>
                  <a:pt x="9609" y="2823"/>
                  <a:pt x="9602" y="2829"/>
                  <a:pt x="9594" y="2834"/>
                </a:cubicBezTo>
                <a:cubicBezTo>
                  <a:pt x="9586" y="2839"/>
                  <a:pt x="9577" y="2844"/>
                  <a:pt x="9569" y="2847"/>
                </a:cubicBezTo>
                <a:cubicBezTo>
                  <a:pt x="9560" y="2851"/>
                  <a:pt x="9551" y="2854"/>
                  <a:pt x="9541" y="2856"/>
                </a:cubicBezTo>
                <a:cubicBezTo>
                  <a:pt x="9532" y="2858"/>
                  <a:pt x="9523" y="2859"/>
                  <a:pt x="9513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7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19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4357440" y="3024000"/>
            <a:ext cx="3476880" cy="1029240"/>
          </a:xfrm>
          <a:custGeom>
            <a:avLst/>
            <a:gdLst/>
            <a:ahLst/>
            <a:rect l="0" t="0" r="r" b="b"/>
            <a:pathLst>
              <a:path fill="none" w="9658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2713"/>
                </a:lnTo>
                <a:cubicBezTo>
                  <a:pt x="9658" y="2723"/>
                  <a:pt x="9658" y="2732"/>
                  <a:pt x="9656" y="2741"/>
                </a:cubicBezTo>
                <a:cubicBezTo>
                  <a:pt x="9654" y="2751"/>
                  <a:pt x="9651" y="2760"/>
                  <a:pt x="9647" y="2769"/>
                </a:cubicBezTo>
                <a:cubicBezTo>
                  <a:pt x="9644" y="2778"/>
                  <a:pt x="9639" y="2786"/>
                  <a:pt x="9634" y="2794"/>
                </a:cubicBezTo>
                <a:cubicBezTo>
                  <a:pt x="9629" y="2802"/>
                  <a:pt x="9623" y="2809"/>
                  <a:pt x="9616" y="2816"/>
                </a:cubicBezTo>
                <a:cubicBezTo>
                  <a:pt x="9609" y="2823"/>
                  <a:pt x="9602" y="2829"/>
                  <a:pt x="9594" y="2834"/>
                </a:cubicBezTo>
                <a:cubicBezTo>
                  <a:pt x="9586" y="2839"/>
                  <a:pt x="9577" y="2844"/>
                  <a:pt x="9569" y="2847"/>
                </a:cubicBezTo>
                <a:cubicBezTo>
                  <a:pt x="9560" y="2851"/>
                  <a:pt x="9551" y="2854"/>
                  <a:pt x="9541" y="2856"/>
                </a:cubicBezTo>
                <a:cubicBezTo>
                  <a:pt x="9532" y="2858"/>
                  <a:pt x="9523" y="2859"/>
                  <a:pt x="9513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7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19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4514760" y="323820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900" y="0"/>
                </a:lnTo>
                <a:cubicBezTo>
                  <a:pt x="911" y="0"/>
                  <a:pt x="921" y="1"/>
                  <a:pt x="931" y="3"/>
                </a:cubicBezTo>
                <a:cubicBezTo>
                  <a:pt x="942" y="5"/>
                  <a:pt x="951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5" y="39"/>
                  <a:pt x="1013" y="47"/>
                </a:cubicBezTo>
                <a:cubicBezTo>
                  <a:pt x="1020" y="54"/>
                  <a:pt x="1027" y="62"/>
                  <a:pt x="1032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49"/>
                  <a:pt x="1059" y="159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2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5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7"/>
                </a:cubicBezTo>
                <a:cubicBezTo>
                  <a:pt x="951" y="761"/>
                  <a:pt x="942" y="764"/>
                  <a:pt x="931" y="766"/>
                </a:cubicBezTo>
                <a:cubicBezTo>
                  <a:pt x="921" y="768"/>
                  <a:pt x="911" y="769"/>
                  <a:pt x="900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8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5"/>
                  <a:pt x="32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923760" y="3532320"/>
            <a:ext cx="8917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models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4559040" y="323712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2)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893120" y="3227760"/>
            <a:ext cx="16758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Optimization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7939080" y="3024000"/>
            <a:ext cx="3486240" cy="1029240"/>
          </a:xfrm>
          <a:custGeom>
            <a:avLst/>
            <a:gdLst/>
            <a:ahLst/>
            <a:rect l="0" t="0" r="r" b="b"/>
            <a:pathLst>
              <a:path w="9684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2713"/>
                </a:lnTo>
                <a:cubicBezTo>
                  <a:pt x="9684" y="2723"/>
                  <a:pt x="9683" y="2732"/>
                  <a:pt x="9681" y="2741"/>
                </a:cubicBezTo>
                <a:cubicBezTo>
                  <a:pt x="9680" y="2751"/>
                  <a:pt x="9677" y="2760"/>
                  <a:pt x="9673" y="2769"/>
                </a:cubicBezTo>
                <a:cubicBezTo>
                  <a:pt x="9670" y="2778"/>
                  <a:pt x="9665" y="2786"/>
                  <a:pt x="9660" y="2794"/>
                </a:cubicBezTo>
                <a:cubicBezTo>
                  <a:pt x="9654" y="2802"/>
                  <a:pt x="9648" y="2809"/>
                  <a:pt x="9642" y="2816"/>
                </a:cubicBezTo>
                <a:cubicBezTo>
                  <a:pt x="9635" y="2823"/>
                  <a:pt x="9628" y="2829"/>
                  <a:pt x="9620" y="2834"/>
                </a:cubicBezTo>
                <a:cubicBezTo>
                  <a:pt x="9612" y="2839"/>
                  <a:pt x="9603" y="2844"/>
                  <a:pt x="9594" y="2847"/>
                </a:cubicBezTo>
                <a:cubicBezTo>
                  <a:pt x="9586" y="2851"/>
                  <a:pt x="9577" y="2854"/>
                  <a:pt x="9567" y="2856"/>
                </a:cubicBezTo>
                <a:cubicBezTo>
                  <a:pt x="9558" y="2858"/>
                  <a:pt x="9548" y="2859"/>
                  <a:pt x="9539" y="2859"/>
                </a:cubicBezTo>
                <a:lnTo>
                  <a:pt x="145" y="2859"/>
                </a:lnTo>
                <a:cubicBezTo>
                  <a:pt x="135" y="2859"/>
                  <a:pt x="126" y="2858"/>
                  <a:pt x="117" y="2856"/>
                </a:cubicBezTo>
                <a:cubicBezTo>
                  <a:pt x="107" y="2854"/>
                  <a:pt x="98" y="2851"/>
                  <a:pt x="89" y="2847"/>
                </a:cubicBezTo>
                <a:cubicBezTo>
                  <a:pt x="81" y="2844"/>
                  <a:pt x="72" y="2839"/>
                  <a:pt x="64" y="2834"/>
                </a:cubicBezTo>
                <a:cubicBezTo>
                  <a:pt x="56" y="2829"/>
                  <a:pt x="49" y="2823"/>
                  <a:pt x="42" y="2816"/>
                </a:cubicBezTo>
                <a:cubicBezTo>
                  <a:pt x="35" y="2809"/>
                  <a:pt x="29" y="2802"/>
                  <a:pt x="24" y="2794"/>
                </a:cubicBezTo>
                <a:cubicBezTo>
                  <a:pt x="19" y="2786"/>
                  <a:pt x="14" y="2778"/>
                  <a:pt x="11" y="2769"/>
                </a:cubicBezTo>
                <a:cubicBezTo>
                  <a:pt x="7" y="2760"/>
                  <a:pt x="4" y="2751"/>
                  <a:pt x="2" y="2741"/>
                </a:cubicBezTo>
                <a:cubicBezTo>
                  <a:pt x="0" y="2732"/>
                  <a:pt x="0" y="2723"/>
                  <a:pt x="0" y="271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7939080" y="3024000"/>
            <a:ext cx="3486240" cy="1029240"/>
          </a:xfrm>
          <a:custGeom>
            <a:avLst/>
            <a:gdLst/>
            <a:ahLst/>
            <a:rect l="0" t="0" r="r" b="b"/>
            <a:pathLst>
              <a:path fill="none" w="9684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2713"/>
                </a:lnTo>
                <a:cubicBezTo>
                  <a:pt x="9684" y="2723"/>
                  <a:pt x="9683" y="2732"/>
                  <a:pt x="9681" y="2741"/>
                </a:cubicBezTo>
                <a:cubicBezTo>
                  <a:pt x="9680" y="2751"/>
                  <a:pt x="9677" y="2760"/>
                  <a:pt x="9673" y="2769"/>
                </a:cubicBezTo>
                <a:cubicBezTo>
                  <a:pt x="9670" y="2778"/>
                  <a:pt x="9665" y="2786"/>
                  <a:pt x="9660" y="2794"/>
                </a:cubicBezTo>
                <a:cubicBezTo>
                  <a:pt x="9654" y="2802"/>
                  <a:pt x="9648" y="2809"/>
                  <a:pt x="9642" y="2816"/>
                </a:cubicBezTo>
                <a:cubicBezTo>
                  <a:pt x="9635" y="2823"/>
                  <a:pt x="9628" y="2829"/>
                  <a:pt x="9620" y="2834"/>
                </a:cubicBezTo>
                <a:cubicBezTo>
                  <a:pt x="9612" y="2839"/>
                  <a:pt x="9603" y="2844"/>
                  <a:pt x="9594" y="2847"/>
                </a:cubicBezTo>
                <a:cubicBezTo>
                  <a:pt x="9586" y="2851"/>
                  <a:pt x="9577" y="2854"/>
                  <a:pt x="9567" y="2856"/>
                </a:cubicBezTo>
                <a:cubicBezTo>
                  <a:pt x="9558" y="2858"/>
                  <a:pt x="9548" y="2859"/>
                  <a:pt x="9539" y="2859"/>
                </a:cubicBezTo>
                <a:lnTo>
                  <a:pt x="145" y="2859"/>
                </a:lnTo>
                <a:cubicBezTo>
                  <a:pt x="135" y="2859"/>
                  <a:pt x="126" y="2858"/>
                  <a:pt x="117" y="2856"/>
                </a:cubicBezTo>
                <a:cubicBezTo>
                  <a:pt x="107" y="2854"/>
                  <a:pt x="98" y="2851"/>
                  <a:pt x="89" y="2847"/>
                </a:cubicBezTo>
                <a:cubicBezTo>
                  <a:pt x="81" y="2844"/>
                  <a:pt x="72" y="2839"/>
                  <a:pt x="64" y="2834"/>
                </a:cubicBezTo>
                <a:cubicBezTo>
                  <a:pt x="56" y="2829"/>
                  <a:pt x="49" y="2823"/>
                  <a:pt x="42" y="2816"/>
                </a:cubicBezTo>
                <a:cubicBezTo>
                  <a:pt x="35" y="2809"/>
                  <a:pt x="29" y="2802"/>
                  <a:pt x="24" y="2794"/>
                </a:cubicBezTo>
                <a:cubicBezTo>
                  <a:pt x="19" y="2786"/>
                  <a:pt x="14" y="2778"/>
                  <a:pt x="11" y="2769"/>
                </a:cubicBezTo>
                <a:cubicBezTo>
                  <a:pt x="7" y="2760"/>
                  <a:pt x="4" y="2751"/>
                  <a:pt x="2" y="2741"/>
                </a:cubicBezTo>
                <a:cubicBezTo>
                  <a:pt x="0" y="2732"/>
                  <a:pt x="0" y="2723"/>
                  <a:pt x="0" y="271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8096040" y="323820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8" y="33"/>
                  <a:pt x="1006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49"/>
                  <a:pt x="1059" y="159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6" y="729"/>
                  <a:pt x="998" y="736"/>
                  <a:pt x="989" y="742"/>
                </a:cubicBezTo>
                <a:cubicBezTo>
                  <a:pt x="980" y="748"/>
                  <a:pt x="971" y="753"/>
                  <a:pt x="961" y="757"/>
                </a:cubicBezTo>
                <a:cubicBezTo>
                  <a:pt x="952" y="761"/>
                  <a:pt x="942" y="764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59" y="769"/>
                </a:lnTo>
                <a:cubicBezTo>
                  <a:pt x="148" y="769"/>
                  <a:pt x="138" y="768"/>
                  <a:pt x="128" y="766"/>
                </a:cubicBezTo>
                <a:cubicBezTo>
                  <a:pt x="118" y="764"/>
                  <a:pt x="108" y="761"/>
                  <a:pt x="98" y="757"/>
                </a:cubicBezTo>
                <a:cubicBezTo>
                  <a:pt x="88" y="753"/>
                  <a:pt x="79" y="748"/>
                  <a:pt x="71" y="742"/>
                </a:cubicBezTo>
                <a:cubicBezTo>
                  <a:pt x="62" y="736"/>
                  <a:pt x="54" y="729"/>
                  <a:pt x="47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511880" y="3532320"/>
            <a:ext cx="13647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Algorithms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8146800" y="323712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3)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8480520" y="3227760"/>
            <a:ext cx="19094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Simulation and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766440" y="4290840"/>
            <a:ext cx="4677120" cy="733680"/>
          </a:xfrm>
          <a:custGeom>
            <a:avLst/>
            <a:gdLst/>
            <a:ahLst/>
            <a:rect l="0" t="0" r="r" b="b"/>
            <a:pathLst>
              <a:path w="12992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2847" y="0"/>
                </a:lnTo>
                <a:cubicBezTo>
                  <a:pt x="12856" y="0"/>
                  <a:pt x="12866" y="1"/>
                  <a:pt x="12875" y="3"/>
                </a:cubicBezTo>
                <a:cubicBezTo>
                  <a:pt x="12885" y="5"/>
                  <a:pt x="12894" y="7"/>
                  <a:pt x="12903" y="11"/>
                </a:cubicBezTo>
                <a:cubicBezTo>
                  <a:pt x="12911" y="15"/>
                  <a:pt x="12920" y="19"/>
                  <a:pt x="12928" y="25"/>
                </a:cubicBezTo>
                <a:cubicBezTo>
                  <a:pt x="12936" y="30"/>
                  <a:pt x="12943" y="36"/>
                  <a:pt x="12950" y="43"/>
                </a:cubicBezTo>
                <a:cubicBezTo>
                  <a:pt x="12957" y="49"/>
                  <a:pt x="12963" y="57"/>
                  <a:pt x="12968" y="65"/>
                </a:cubicBezTo>
                <a:cubicBezTo>
                  <a:pt x="12973" y="73"/>
                  <a:pt x="12978" y="81"/>
                  <a:pt x="12981" y="90"/>
                </a:cubicBezTo>
                <a:cubicBezTo>
                  <a:pt x="12985" y="99"/>
                  <a:pt x="12988" y="108"/>
                  <a:pt x="12990" y="117"/>
                </a:cubicBezTo>
                <a:cubicBezTo>
                  <a:pt x="12992" y="126"/>
                  <a:pt x="12992" y="136"/>
                  <a:pt x="12992" y="145"/>
                </a:cubicBezTo>
                <a:lnTo>
                  <a:pt x="12992" y="1893"/>
                </a:lnTo>
                <a:cubicBezTo>
                  <a:pt x="12992" y="1902"/>
                  <a:pt x="12992" y="1912"/>
                  <a:pt x="12990" y="1921"/>
                </a:cubicBezTo>
                <a:cubicBezTo>
                  <a:pt x="12988" y="1931"/>
                  <a:pt x="12985" y="1940"/>
                  <a:pt x="12981" y="1948"/>
                </a:cubicBezTo>
                <a:cubicBezTo>
                  <a:pt x="12978" y="1957"/>
                  <a:pt x="12973" y="1966"/>
                  <a:pt x="12968" y="1974"/>
                </a:cubicBezTo>
                <a:cubicBezTo>
                  <a:pt x="12963" y="1982"/>
                  <a:pt x="12957" y="1989"/>
                  <a:pt x="12950" y="1996"/>
                </a:cubicBezTo>
                <a:cubicBezTo>
                  <a:pt x="12943" y="2002"/>
                  <a:pt x="12936" y="2008"/>
                  <a:pt x="12928" y="2014"/>
                </a:cubicBezTo>
                <a:cubicBezTo>
                  <a:pt x="12920" y="2019"/>
                  <a:pt x="12911" y="2024"/>
                  <a:pt x="12903" y="2027"/>
                </a:cubicBezTo>
                <a:cubicBezTo>
                  <a:pt x="12894" y="2031"/>
                  <a:pt x="12885" y="2034"/>
                  <a:pt x="12875" y="2035"/>
                </a:cubicBezTo>
                <a:cubicBezTo>
                  <a:pt x="12866" y="2037"/>
                  <a:pt x="12856" y="2038"/>
                  <a:pt x="12847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1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766440" y="4290840"/>
            <a:ext cx="4677120" cy="733680"/>
          </a:xfrm>
          <a:custGeom>
            <a:avLst/>
            <a:gdLst/>
            <a:ahLst/>
            <a:rect l="0" t="0" r="r" b="b"/>
            <a:pathLst>
              <a:path fill="none" w="12992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2847" y="0"/>
                </a:lnTo>
                <a:cubicBezTo>
                  <a:pt x="12856" y="0"/>
                  <a:pt x="12866" y="1"/>
                  <a:pt x="12875" y="3"/>
                </a:cubicBezTo>
                <a:cubicBezTo>
                  <a:pt x="12885" y="5"/>
                  <a:pt x="12894" y="7"/>
                  <a:pt x="12903" y="11"/>
                </a:cubicBezTo>
                <a:cubicBezTo>
                  <a:pt x="12911" y="15"/>
                  <a:pt x="12920" y="19"/>
                  <a:pt x="12928" y="25"/>
                </a:cubicBezTo>
                <a:cubicBezTo>
                  <a:pt x="12936" y="30"/>
                  <a:pt x="12943" y="36"/>
                  <a:pt x="12950" y="43"/>
                </a:cubicBezTo>
                <a:cubicBezTo>
                  <a:pt x="12957" y="49"/>
                  <a:pt x="12963" y="57"/>
                  <a:pt x="12968" y="65"/>
                </a:cubicBezTo>
                <a:cubicBezTo>
                  <a:pt x="12973" y="73"/>
                  <a:pt x="12978" y="81"/>
                  <a:pt x="12981" y="90"/>
                </a:cubicBezTo>
                <a:cubicBezTo>
                  <a:pt x="12985" y="99"/>
                  <a:pt x="12988" y="108"/>
                  <a:pt x="12990" y="117"/>
                </a:cubicBezTo>
                <a:cubicBezTo>
                  <a:pt x="12992" y="126"/>
                  <a:pt x="12992" y="136"/>
                  <a:pt x="12992" y="145"/>
                </a:cubicBezTo>
                <a:lnTo>
                  <a:pt x="12992" y="1893"/>
                </a:lnTo>
                <a:cubicBezTo>
                  <a:pt x="12992" y="1902"/>
                  <a:pt x="12992" y="1912"/>
                  <a:pt x="12990" y="1921"/>
                </a:cubicBezTo>
                <a:cubicBezTo>
                  <a:pt x="12988" y="1931"/>
                  <a:pt x="12985" y="1940"/>
                  <a:pt x="12981" y="1948"/>
                </a:cubicBezTo>
                <a:cubicBezTo>
                  <a:pt x="12978" y="1957"/>
                  <a:pt x="12973" y="1966"/>
                  <a:pt x="12968" y="1974"/>
                </a:cubicBezTo>
                <a:cubicBezTo>
                  <a:pt x="12963" y="1982"/>
                  <a:pt x="12957" y="1989"/>
                  <a:pt x="12950" y="1996"/>
                </a:cubicBezTo>
                <a:cubicBezTo>
                  <a:pt x="12943" y="2002"/>
                  <a:pt x="12936" y="2008"/>
                  <a:pt x="12928" y="2014"/>
                </a:cubicBezTo>
                <a:cubicBezTo>
                  <a:pt x="12920" y="2019"/>
                  <a:pt x="12911" y="2024"/>
                  <a:pt x="12903" y="2027"/>
                </a:cubicBezTo>
                <a:cubicBezTo>
                  <a:pt x="12894" y="2031"/>
                  <a:pt x="12885" y="2034"/>
                  <a:pt x="12875" y="2035"/>
                </a:cubicBezTo>
                <a:cubicBezTo>
                  <a:pt x="12866" y="2037"/>
                  <a:pt x="12856" y="2038"/>
                  <a:pt x="12847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1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923760" y="450504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60"/>
                </a:lnTo>
                <a:cubicBezTo>
                  <a:pt x="0" y="150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5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50"/>
                  <a:pt x="1059" y="160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5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6"/>
                </a:cubicBezTo>
                <a:cubicBezTo>
                  <a:pt x="952" y="760"/>
                  <a:pt x="942" y="763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60" y="769"/>
                </a:lnTo>
                <a:cubicBezTo>
                  <a:pt x="149" y="769"/>
                  <a:pt x="139" y="768"/>
                  <a:pt x="129" y="766"/>
                </a:cubicBezTo>
                <a:cubicBezTo>
                  <a:pt x="119" y="763"/>
                  <a:pt x="109" y="760"/>
                  <a:pt x="99" y="756"/>
                </a:cubicBezTo>
                <a:cubicBezTo>
                  <a:pt x="89" y="753"/>
                  <a:pt x="79" y="748"/>
                  <a:pt x="71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8099280" y="3532320"/>
            <a:ext cx="12402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Validation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971280" y="450360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4)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5547960" y="4290840"/>
            <a:ext cx="5877360" cy="733680"/>
          </a:xfrm>
          <a:custGeom>
            <a:avLst/>
            <a:gdLst/>
            <a:ahLst/>
            <a:rect l="0" t="0" r="r" b="b"/>
            <a:pathLst>
              <a:path w="16326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6181" y="0"/>
                </a:lnTo>
                <a:cubicBezTo>
                  <a:pt x="16190" y="0"/>
                  <a:pt x="16200" y="1"/>
                  <a:pt x="16209" y="3"/>
                </a:cubicBezTo>
                <a:cubicBezTo>
                  <a:pt x="16219" y="5"/>
                  <a:pt x="16228" y="7"/>
                  <a:pt x="16236" y="11"/>
                </a:cubicBezTo>
                <a:cubicBezTo>
                  <a:pt x="16245" y="15"/>
                  <a:pt x="16254" y="19"/>
                  <a:pt x="16262" y="25"/>
                </a:cubicBezTo>
                <a:cubicBezTo>
                  <a:pt x="16270" y="30"/>
                  <a:pt x="16277" y="36"/>
                  <a:pt x="16284" y="43"/>
                </a:cubicBezTo>
                <a:cubicBezTo>
                  <a:pt x="16290" y="49"/>
                  <a:pt x="16296" y="57"/>
                  <a:pt x="16302" y="65"/>
                </a:cubicBezTo>
                <a:cubicBezTo>
                  <a:pt x="16307" y="73"/>
                  <a:pt x="16312" y="81"/>
                  <a:pt x="16315" y="90"/>
                </a:cubicBezTo>
                <a:cubicBezTo>
                  <a:pt x="16319" y="99"/>
                  <a:pt x="16322" y="108"/>
                  <a:pt x="16323" y="117"/>
                </a:cubicBezTo>
                <a:cubicBezTo>
                  <a:pt x="16325" y="126"/>
                  <a:pt x="16326" y="136"/>
                  <a:pt x="16326" y="145"/>
                </a:cubicBezTo>
                <a:lnTo>
                  <a:pt x="16326" y="1893"/>
                </a:lnTo>
                <a:cubicBezTo>
                  <a:pt x="16326" y="1902"/>
                  <a:pt x="16325" y="1912"/>
                  <a:pt x="16323" y="1921"/>
                </a:cubicBezTo>
                <a:cubicBezTo>
                  <a:pt x="16322" y="1931"/>
                  <a:pt x="16319" y="1940"/>
                  <a:pt x="16315" y="1948"/>
                </a:cubicBezTo>
                <a:cubicBezTo>
                  <a:pt x="16312" y="1957"/>
                  <a:pt x="16307" y="1966"/>
                  <a:pt x="16302" y="1974"/>
                </a:cubicBezTo>
                <a:cubicBezTo>
                  <a:pt x="16296" y="1982"/>
                  <a:pt x="16290" y="1989"/>
                  <a:pt x="16284" y="1996"/>
                </a:cubicBezTo>
                <a:cubicBezTo>
                  <a:pt x="16277" y="2002"/>
                  <a:pt x="16270" y="2008"/>
                  <a:pt x="16262" y="2014"/>
                </a:cubicBezTo>
                <a:cubicBezTo>
                  <a:pt x="16254" y="2019"/>
                  <a:pt x="16245" y="2024"/>
                  <a:pt x="16236" y="2027"/>
                </a:cubicBezTo>
                <a:cubicBezTo>
                  <a:pt x="16228" y="2031"/>
                  <a:pt x="16219" y="2034"/>
                  <a:pt x="16209" y="2035"/>
                </a:cubicBezTo>
                <a:cubicBezTo>
                  <a:pt x="16200" y="2037"/>
                  <a:pt x="16190" y="2038"/>
                  <a:pt x="16181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2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5547960" y="4290840"/>
            <a:ext cx="5877360" cy="733680"/>
          </a:xfrm>
          <a:custGeom>
            <a:avLst/>
            <a:gdLst/>
            <a:ahLst/>
            <a:rect l="0" t="0" r="r" b="b"/>
            <a:pathLst>
              <a:path fill="none" w="16326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6181" y="0"/>
                </a:lnTo>
                <a:cubicBezTo>
                  <a:pt x="16190" y="0"/>
                  <a:pt x="16200" y="1"/>
                  <a:pt x="16209" y="3"/>
                </a:cubicBezTo>
                <a:cubicBezTo>
                  <a:pt x="16219" y="5"/>
                  <a:pt x="16228" y="7"/>
                  <a:pt x="16236" y="11"/>
                </a:cubicBezTo>
                <a:cubicBezTo>
                  <a:pt x="16245" y="15"/>
                  <a:pt x="16254" y="19"/>
                  <a:pt x="16262" y="25"/>
                </a:cubicBezTo>
                <a:cubicBezTo>
                  <a:pt x="16270" y="30"/>
                  <a:pt x="16277" y="36"/>
                  <a:pt x="16284" y="43"/>
                </a:cubicBezTo>
                <a:cubicBezTo>
                  <a:pt x="16290" y="49"/>
                  <a:pt x="16296" y="57"/>
                  <a:pt x="16302" y="65"/>
                </a:cubicBezTo>
                <a:cubicBezTo>
                  <a:pt x="16307" y="73"/>
                  <a:pt x="16312" y="81"/>
                  <a:pt x="16315" y="90"/>
                </a:cubicBezTo>
                <a:cubicBezTo>
                  <a:pt x="16319" y="99"/>
                  <a:pt x="16322" y="108"/>
                  <a:pt x="16323" y="117"/>
                </a:cubicBezTo>
                <a:cubicBezTo>
                  <a:pt x="16325" y="126"/>
                  <a:pt x="16326" y="136"/>
                  <a:pt x="16326" y="145"/>
                </a:cubicBezTo>
                <a:lnTo>
                  <a:pt x="16326" y="1893"/>
                </a:lnTo>
                <a:cubicBezTo>
                  <a:pt x="16326" y="1902"/>
                  <a:pt x="16325" y="1912"/>
                  <a:pt x="16323" y="1921"/>
                </a:cubicBezTo>
                <a:cubicBezTo>
                  <a:pt x="16322" y="1931"/>
                  <a:pt x="16319" y="1940"/>
                  <a:pt x="16315" y="1948"/>
                </a:cubicBezTo>
                <a:cubicBezTo>
                  <a:pt x="16312" y="1957"/>
                  <a:pt x="16307" y="1966"/>
                  <a:pt x="16302" y="1974"/>
                </a:cubicBezTo>
                <a:cubicBezTo>
                  <a:pt x="16296" y="1982"/>
                  <a:pt x="16290" y="1989"/>
                  <a:pt x="16284" y="1996"/>
                </a:cubicBezTo>
                <a:cubicBezTo>
                  <a:pt x="16277" y="2002"/>
                  <a:pt x="16270" y="2008"/>
                  <a:pt x="16262" y="2014"/>
                </a:cubicBezTo>
                <a:cubicBezTo>
                  <a:pt x="16254" y="2019"/>
                  <a:pt x="16245" y="2024"/>
                  <a:pt x="16236" y="2027"/>
                </a:cubicBezTo>
                <a:cubicBezTo>
                  <a:pt x="16228" y="2031"/>
                  <a:pt x="16219" y="2034"/>
                  <a:pt x="16209" y="2035"/>
                </a:cubicBezTo>
                <a:cubicBezTo>
                  <a:pt x="16200" y="2037"/>
                  <a:pt x="16190" y="2038"/>
                  <a:pt x="16181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2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5705280" y="450504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60"/>
                </a:lnTo>
                <a:cubicBezTo>
                  <a:pt x="0" y="150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6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50"/>
                  <a:pt x="1059" y="160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6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6"/>
                </a:cubicBezTo>
                <a:cubicBezTo>
                  <a:pt x="952" y="760"/>
                  <a:pt x="942" y="763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59" y="769"/>
                </a:lnTo>
                <a:cubicBezTo>
                  <a:pt x="148" y="769"/>
                  <a:pt x="138" y="768"/>
                  <a:pt x="128" y="766"/>
                </a:cubicBezTo>
                <a:cubicBezTo>
                  <a:pt x="118" y="763"/>
                  <a:pt x="108" y="760"/>
                  <a:pt x="98" y="756"/>
                </a:cubicBezTo>
                <a:cubicBezTo>
                  <a:pt x="88" y="753"/>
                  <a:pt x="79" y="748"/>
                  <a:pt x="71" y="742"/>
                </a:cubicBezTo>
                <a:cubicBezTo>
                  <a:pt x="62" y="736"/>
                  <a:pt x="54" y="729"/>
                  <a:pt x="47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1305360" y="4494600"/>
            <a:ext cx="28512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System Mapping Tools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5752080" y="450360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5)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085800" y="4494600"/>
            <a:ext cx="40532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Prototyping and Implementation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"/>
          <p:cNvSpPr txBox="1"/>
          <p:nvPr/>
        </p:nvSpPr>
        <p:spPr>
          <a:xfrm>
            <a:off x="762120" y="1937160"/>
            <a:ext cx="10420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multi-component system is composed of physically or functionally distinct elements that work together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762120" y="2242080"/>
            <a:ext cx="9282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deliver a complete functionality. Eﬀective system design requires balancing these elements: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911160" y="2699280"/>
            <a:ext cx="6146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System-level requirements that address the overall purpose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911160" y="3051720"/>
            <a:ext cx="6355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Component-level speciﬁcations that drive individual elements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911160" y="3404160"/>
            <a:ext cx="4745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Interface deﬁnitions that ensure compatibility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762120" y="3830760"/>
            <a:ext cx="202752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Drivers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911160" y="4347000"/>
            <a:ext cx="5091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Performance metrics (speed, accuracy, eﬃciency)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911160" y="4708800"/>
            <a:ext cx="5442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Cost constraints (materials, manufacturing, lifecycle)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911160" y="5061240"/>
            <a:ext cx="5668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Modularity requirements (maintenance, upgradeability)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911160" y="5413680"/>
            <a:ext cx="2891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Time-to-market pressures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762120" y="-8280"/>
            <a:ext cx="104436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Understanding Multi-Component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762120" y="753480"/>
            <a:ext cx="2589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6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"/>
          <p:cNvSpPr/>
          <p:nvPr/>
        </p:nvSpPr>
        <p:spPr>
          <a:xfrm>
            <a:off x="3105000" y="196200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5714640" y="196200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3105000" y="231444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5714640" y="231444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3105000" y="266688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5714640" y="266688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3105000" y="301932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5714640" y="301932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3105000" y="337176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5714640" y="337176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3105000" y="372420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5714640" y="372420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105000" y="407664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5714640" y="407664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3105000" y="442908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5714640" y="442908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3105000" y="478152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5714640" y="478152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3105000" y="5133960"/>
            <a:ext cx="2610000" cy="352440"/>
          </a:xfrm>
          <a:custGeom>
            <a:avLst/>
            <a:gdLst/>
            <a:ahLst/>
            <a:rect l="0" t="0" r="r" b="b"/>
            <a:pathLst>
              <a:path w="7250" h="979">
                <a:moveTo>
                  <a:pt x="0" y="0"/>
                </a:moveTo>
                <a:lnTo>
                  <a:pt x="7250" y="0"/>
                </a:lnTo>
                <a:lnTo>
                  <a:pt x="7250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5714640" y="5133960"/>
            <a:ext cx="3372480" cy="352440"/>
          </a:xfrm>
          <a:custGeom>
            <a:avLst/>
            <a:gdLst/>
            <a:ahLst/>
            <a:rect l="0" t="0" r="r" b="b"/>
            <a:pathLst>
              <a:path w="9368" h="979">
                <a:moveTo>
                  <a:pt x="0" y="0"/>
                </a:moveTo>
                <a:lnTo>
                  <a:pt x="9368" y="0"/>
                </a:lnTo>
                <a:lnTo>
                  <a:pt x="9368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3105000" y="548604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5714640" y="548604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3095280" y="195228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3095280" y="195228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5705280" y="195228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5714640" y="195228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9086760" y="195228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3095280" y="230472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5714640" y="230472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3095280" y="23144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5705280" y="23144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9086760" y="23144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3095280" y="26668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3095280" y="265716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5705280" y="26668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5714640" y="265716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9086760" y="26668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3095280" y="301932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3095280" y="300960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5705280" y="30193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5714640" y="300960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9086760" y="30193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3095280" y="337176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3095280" y="336204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5705280" y="337176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5714640" y="336204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9086760" y="337176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3095280" y="372420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3095280" y="371448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5705280" y="372420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5714640" y="371448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9086760" y="372420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3095280" y="40766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3095280" y="406692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5705280" y="40766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5714640" y="406692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9086760" y="40766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3095280" y="44290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3095280" y="441936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5705280" y="44290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5714640" y="441936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9086760" y="44290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3095280" y="478152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3095280" y="477180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5705280" y="47815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5714640" y="477180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9086760" y="47815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3095280" y="5133960"/>
            <a:ext cx="10080" cy="352440"/>
          </a:xfrm>
          <a:custGeom>
            <a:avLst/>
            <a:gdLst/>
            <a:ahLst/>
            <a:rect l="0" t="0" r="r" b="b"/>
            <a:pathLst>
              <a:path w="28" h="979">
                <a:moveTo>
                  <a:pt x="0" y="0"/>
                </a:moveTo>
                <a:lnTo>
                  <a:pt x="28" y="0"/>
                </a:lnTo>
                <a:lnTo>
                  <a:pt x="28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3095280" y="5124240"/>
            <a:ext cx="2619720" cy="10440"/>
          </a:xfrm>
          <a:custGeom>
            <a:avLst/>
            <a:gdLst/>
            <a:ahLst/>
            <a:rect l="0" t="0" r="r" b="b"/>
            <a:pathLst>
              <a:path w="7277" h="29">
                <a:moveTo>
                  <a:pt x="0" y="0"/>
                </a:moveTo>
                <a:lnTo>
                  <a:pt x="7277" y="0"/>
                </a:lnTo>
                <a:lnTo>
                  <a:pt x="7277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5705280" y="5133960"/>
            <a:ext cx="9720" cy="352440"/>
          </a:xfrm>
          <a:custGeom>
            <a:avLst/>
            <a:gdLst/>
            <a:ahLst/>
            <a:rect l="0" t="0" r="r" b="b"/>
            <a:pathLst>
              <a:path w="27" h="979">
                <a:moveTo>
                  <a:pt x="0" y="0"/>
                </a:moveTo>
                <a:lnTo>
                  <a:pt x="27" y="0"/>
                </a:lnTo>
                <a:lnTo>
                  <a:pt x="2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5714640" y="5124240"/>
            <a:ext cx="3381840" cy="10440"/>
          </a:xfrm>
          <a:custGeom>
            <a:avLst/>
            <a:gdLst/>
            <a:ahLst/>
            <a:rect l="0" t="0" r="r" b="b"/>
            <a:pathLst>
              <a:path w="9394" h="29">
                <a:moveTo>
                  <a:pt x="0" y="0"/>
                </a:moveTo>
                <a:lnTo>
                  <a:pt x="9394" y="0"/>
                </a:lnTo>
                <a:lnTo>
                  <a:pt x="9394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9086760" y="5133960"/>
            <a:ext cx="9720" cy="352440"/>
          </a:xfrm>
          <a:custGeom>
            <a:avLst/>
            <a:gdLst/>
            <a:ahLst/>
            <a:rect l="0" t="0" r="r" b="b"/>
            <a:pathLst>
              <a:path w="27" h="979">
                <a:moveTo>
                  <a:pt x="0" y="0"/>
                </a:moveTo>
                <a:lnTo>
                  <a:pt x="27" y="0"/>
                </a:lnTo>
                <a:lnTo>
                  <a:pt x="2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3095280" y="54860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3095280" y="547668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5705280" y="5486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5714640" y="5476680"/>
            <a:ext cx="3381840" cy="9720"/>
          </a:xfrm>
          <a:custGeom>
            <a:avLst/>
            <a:gdLst/>
            <a:ahLst/>
            <a:rect l="0" t="0" r="r" b="b"/>
            <a:pathLst>
              <a:path w="9394" h="27">
                <a:moveTo>
                  <a:pt x="0" y="0"/>
                </a:moveTo>
                <a:lnTo>
                  <a:pt x="9394" y="0"/>
                </a:lnTo>
                <a:lnTo>
                  <a:pt x="93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9086760" y="5486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3095280" y="582912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5714640" y="5829120"/>
            <a:ext cx="3381840" cy="9720"/>
          </a:xfrm>
          <a:custGeom>
            <a:avLst/>
            <a:gdLst/>
            <a:ahLst/>
            <a:rect l="0" t="0" r="r" b="b"/>
            <a:pathLst>
              <a:path w="9394" h="27">
                <a:moveTo>
                  <a:pt x="0" y="0"/>
                </a:moveTo>
                <a:lnTo>
                  <a:pt x="9394" y="0"/>
                </a:lnTo>
                <a:lnTo>
                  <a:pt x="93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020840" y="2043360"/>
            <a:ext cx="7772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Challenge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7134840" y="2043360"/>
            <a:ext cx="5324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Impact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3242520" y="2395800"/>
            <a:ext cx="15076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Interface complexity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5852160" y="2395800"/>
            <a:ext cx="2014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Integration failures, rework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3242520" y="2748240"/>
            <a:ext cx="2333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Cross-disciplinary coordination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5852160" y="2748240"/>
            <a:ext cx="30978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Misalignment, communication breakdown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3242520" y="3100680"/>
            <a:ext cx="17906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Requirements instability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5852160" y="3100680"/>
            <a:ext cx="15897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churn, rework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3242520" y="3453120"/>
            <a:ext cx="738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Scalability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5852160" y="3453120"/>
            <a:ext cx="26647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Process overhead and design delays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3242520" y="3805560"/>
            <a:ext cx="19864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Limited design exploration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5852160" y="3805560"/>
            <a:ext cx="2383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Missed innovation opportunities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3242520" y="4158000"/>
            <a:ext cx="1188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Tool integration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5852160" y="4158000"/>
            <a:ext cx="1719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Ineﬃciencies, data loss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3242520" y="4510440"/>
            <a:ext cx="15080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Change propagation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5852160" y="4510440"/>
            <a:ext cx="2261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System-wide knock-on eﬀects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3242520" y="4862880"/>
            <a:ext cx="14554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Testing bottlenecks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852160" y="4862880"/>
            <a:ext cx="27140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Undetected errors, delayed feedback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3242520" y="5215320"/>
            <a:ext cx="18676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Traceability management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852160" y="5215320"/>
            <a:ext cx="18633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High documentation cost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3242520" y="5567760"/>
            <a:ext cx="10854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Human factors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5852160" y="5567760"/>
            <a:ext cx="23641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Non-compliance, lack of buy-in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762120" y="-8280"/>
            <a:ext cx="10211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Challenges in Systematic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762120" y="753480"/>
            <a:ext cx="9232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of Multi-Component Systems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7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2" name=""/>
          <p:cNvSpPr txBox="1"/>
          <p:nvPr/>
        </p:nvSpPr>
        <p:spPr>
          <a:xfrm>
            <a:off x="762120" y="1680120"/>
            <a:ext cx="10376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key challenge in multi-component systems is managing the interfaces between components. Interfaces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762120" y="1984680"/>
            <a:ext cx="933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deﬁne how data, energy, or force is exchanged between components and are critical to system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762120" y="2289600"/>
            <a:ext cx="1290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functionality.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762120" y="5366160"/>
            <a:ext cx="10312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allows each component to be optimized independently, However, such decomposition risks missing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762120" y="5671080"/>
            <a:ext cx="6805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globally optimal solutions or producing physically infeasible designs.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766440" y="2833560"/>
            <a:ext cx="3486600" cy="2381400"/>
          </a:xfrm>
          <a:custGeom>
            <a:avLst/>
            <a:gdLst/>
            <a:ahLst/>
            <a:rect l="0" t="0" r="r" b="b"/>
            <a:pathLst>
              <a:path w="9685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4"/>
                </a:cubicBezTo>
                <a:cubicBezTo>
                  <a:pt x="9628" y="30"/>
                  <a:pt x="9636" y="36"/>
                  <a:pt x="9643" y="42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2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6"/>
                  <a:pt x="9685" y="136"/>
                  <a:pt x="9685" y="145"/>
                </a:cubicBezTo>
                <a:lnTo>
                  <a:pt x="9685" y="6470"/>
                </a:lnTo>
                <a:cubicBezTo>
                  <a:pt x="9685" y="6479"/>
                  <a:pt x="9684" y="6489"/>
                  <a:pt x="9682" y="6498"/>
                </a:cubicBezTo>
                <a:cubicBezTo>
                  <a:pt x="9680" y="6508"/>
                  <a:pt x="9678" y="6517"/>
                  <a:pt x="9674" y="6526"/>
                </a:cubicBezTo>
                <a:cubicBezTo>
                  <a:pt x="9670" y="6534"/>
                  <a:pt x="9666" y="6543"/>
                  <a:pt x="9661" y="6551"/>
                </a:cubicBezTo>
                <a:cubicBezTo>
                  <a:pt x="9655" y="6559"/>
                  <a:pt x="9649" y="6566"/>
                  <a:pt x="9643" y="6573"/>
                </a:cubicBezTo>
                <a:cubicBezTo>
                  <a:pt x="9636" y="6580"/>
                  <a:pt x="9628" y="6586"/>
                  <a:pt x="9620" y="6591"/>
                </a:cubicBezTo>
                <a:cubicBezTo>
                  <a:pt x="9613" y="6596"/>
                  <a:pt x="9604" y="6601"/>
                  <a:pt x="9595" y="6604"/>
                </a:cubicBezTo>
                <a:cubicBezTo>
                  <a:pt x="9586" y="6608"/>
                  <a:pt x="9577" y="6611"/>
                  <a:pt x="9568" y="6613"/>
                </a:cubicBezTo>
                <a:cubicBezTo>
                  <a:pt x="9559" y="6615"/>
                  <a:pt x="9549" y="6615"/>
                  <a:pt x="9540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8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20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766440" y="2833560"/>
            <a:ext cx="3486600" cy="2381400"/>
          </a:xfrm>
          <a:custGeom>
            <a:avLst/>
            <a:gdLst/>
            <a:ahLst/>
            <a:rect l="0" t="0" r="r" b="b"/>
            <a:pathLst>
              <a:path fill="none" w="9685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4"/>
                </a:cubicBezTo>
                <a:cubicBezTo>
                  <a:pt x="9628" y="30"/>
                  <a:pt x="9636" y="36"/>
                  <a:pt x="9643" y="42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2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6"/>
                  <a:pt x="9685" y="136"/>
                  <a:pt x="9685" y="145"/>
                </a:cubicBezTo>
                <a:lnTo>
                  <a:pt x="9685" y="6470"/>
                </a:lnTo>
                <a:cubicBezTo>
                  <a:pt x="9685" y="6479"/>
                  <a:pt x="9684" y="6489"/>
                  <a:pt x="9682" y="6498"/>
                </a:cubicBezTo>
                <a:cubicBezTo>
                  <a:pt x="9680" y="6508"/>
                  <a:pt x="9678" y="6517"/>
                  <a:pt x="9674" y="6526"/>
                </a:cubicBezTo>
                <a:cubicBezTo>
                  <a:pt x="9670" y="6534"/>
                  <a:pt x="9666" y="6543"/>
                  <a:pt x="9661" y="6551"/>
                </a:cubicBezTo>
                <a:cubicBezTo>
                  <a:pt x="9655" y="6559"/>
                  <a:pt x="9649" y="6566"/>
                  <a:pt x="9643" y="6573"/>
                </a:cubicBezTo>
                <a:cubicBezTo>
                  <a:pt x="9636" y="6580"/>
                  <a:pt x="9628" y="6586"/>
                  <a:pt x="9620" y="6591"/>
                </a:cubicBezTo>
                <a:cubicBezTo>
                  <a:pt x="9613" y="6596"/>
                  <a:pt x="9604" y="6601"/>
                  <a:pt x="9595" y="6604"/>
                </a:cubicBezTo>
                <a:cubicBezTo>
                  <a:pt x="9586" y="6608"/>
                  <a:pt x="9577" y="6611"/>
                  <a:pt x="9568" y="6613"/>
                </a:cubicBezTo>
                <a:cubicBezTo>
                  <a:pt x="9559" y="6615"/>
                  <a:pt x="9549" y="6615"/>
                  <a:pt x="9540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8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20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762120" y="372600"/>
            <a:ext cx="64033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Interface complexity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923760" y="3728520"/>
            <a:ext cx="2759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 mechanical design, interface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923760" y="4004640"/>
            <a:ext cx="2791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stiﬀness matrices describe how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923760" y="4271400"/>
            <a:ext cx="2598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forces and displacements are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923760" y="4547520"/>
            <a:ext cx="2302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related across component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942840" y="31906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50"/>
                  <a:pt x="510" y="366"/>
                </a:cubicBezTo>
                <a:cubicBezTo>
                  <a:pt x="503" y="382"/>
                  <a:pt x="495" y="398"/>
                  <a:pt x="485" y="413"/>
                </a:cubicBezTo>
                <a:cubicBezTo>
                  <a:pt x="476" y="427"/>
                  <a:pt x="465" y="440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2" y="530"/>
                  <a:pt x="264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7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5"/>
                </a:cubicBezTo>
                <a:cubicBezTo>
                  <a:pt x="334" y="9"/>
                  <a:pt x="351" y="14"/>
                  <a:pt x="367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3" y="78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1037880" y="3247920"/>
            <a:ext cx="360" cy="75960"/>
          </a:xfrm>
          <a:custGeom>
            <a:avLst/>
            <a:gdLst/>
            <a:ahLst/>
            <a:rect l="0" t="0" r="r" b="b"/>
            <a:pathLst>
              <a:path fill="none" w="1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923760" y="4823640"/>
            <a:ext cx="1051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boundaries.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1203120" y="3036600"/>
            <a:ext cx="1303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Mechanical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4357440" y="2833560"/>
            <a:ext cx="3476880" cy="2381400"/>
          </a:xfrm>
          <a:custGeom>
            <a:avLst/>
            <a:gdLst/>
            <a:ahLst/>
            <a:rect l="0" t="0" r="r" b="b"/>
            <a:pathLst>
              <a:path w="9658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4"/>
                </a:cubicBezTo>
                <a:cubicBezTo>
                  <a:pt x="9602" y="30"/>
                  <a:pt x="9609" y="36"/>
                  <a:pt x="9616" y="42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2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6"/>
                  <a:pt x="9658" y="136"/>
                  <a:pt x="9658" y="145"/>
                </a:cubicBezTo>
                <a:lnTo>
                  <a:pt x="9658" y="6470"/>
                </a:lnTo>
                <a:cubicBezTo>
                  <a:pt x="9658" y="6479"/>
                  <a:pt x="9658" y="6489"/>
                  <a:pt x="9656" y="6498"/>
                </a:cubicBezTo>
                <a:cubicBezTo>
                  <a:pt x="9654" y="6508"/>
                  <a:pt x="9651" y="6517"/>
                  <a:pt x="9647" y="6526"/>
                </a:cubicBezTo>
                <a:cubicBezTo>
                  <a:pt x="9644" y="6534"/>
                  <a:pt x="9639" y="6543"/>
                  <a:pt x="9634" y="6551"/>
                </a:cubicBezTo>
                <a:cubicBezTo>
                  <a:pt x="9629" y="6559"/>
                  <a:pt x="9623" y="6566"/>
                  <a:pt x="9616" y="6573"/>
                </a:cubicBezTo>
                <a:cubicBezTo>
                  <a:pt x="9609" y="6580"/>
                  <a:pt x="9602" y="6586"/>
                  <a:pt x="9594" y="6591"/>
                </a:cubicBezTo>
                <a:cubicBezTo>
                  <a:pt x="9586" y="6596"/>
                  <a:pt x="9577" y="6601"/>
                  <a:pt x="9569" y="6604"/>
                </a:cubicBezTo>
                <a:cubicBezTo>
                  <a:pt x="9560" y="6608"/>
                  <a:pt x="9551" y="6611"/>
                  <a:pt x="9541" y="6613"/>
                </a:cubicBezTo>
                <a:cubicBezTo>
                  <a:pt x="9532" y="6615"/>
                  <a:pt x="9523" y="6615"/>
                  <a:pt x="9513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7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19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4357440" y="2833560"/>
            <a:ext cx="3476880" cy="2381400"/>
          </a:xfrm>
          <a:custGeom>
            <a:avLst/>
            <a:gdLst/>
            <a:ahLst/>
            <a:rect l="0" t="0" r="r" b="b"/>
            <a:pathLst>
              <a:path fill="none" w="9658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4"/>
                </a:cubicBezTo>
                <a:cubicBezTo>
                  <a:pt x="9602" y="30"/>
                  <a:pt x="9609" y="36"/>
                  <a:pt x="9616" y="42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2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6"/>
                  <a:pt x="9658" y="136"/>
                  <a:pt x="9658" y="145"/>
                </a:cubicBezTo>
                <a:lnTo>
                  <a:pt x="9658" y="6470"/>
                </a:lnTo>
                <a:cubicBezTo>
                  <a:pt x="9658" y="6479"/>
                  <a:pt x="9658" y="6489"/>
                  <a:pt x="9656" y="6498"/>
                </a:cubicBezTo>
                <a:cubicBezTo>
                  <a:pt x="9654" y="6508"/>
                  <a:pt x="9651" y="6517"/>
                  <a:pt x="9647" y="6526"/>
                </a:cubicBezTo>
                <a:cubicBezTo>
                  <a:pt x="9644" y="6534"/>
                  <a:pt x="9639" y="6543"/>
                  <a:pt x="9634" y="6551"/>
                </a:cubicBezTo>
                <a:cubicBezTo>
                  <a:pt x="9629" y="6559"/>
                  <a:pt x="9623" y="6566"/>
                  <a:pt x="9616" y="6573"/>
                </a:cubicBezTo>
                <a:cubicBezTo>
                  <a:pt x="9609" y="6580"/>
                  <a:pt x="9602" y="6586"/>
                  <a:pt x="9594" y="6591"/>
                </a:cubicBezTo>
                <a:cubicBezTo>
                  <a:pt x="9586" y="6596"/>
                  <a:pt x="9577" y="6601"/>
                  <a:pt x="9569" y="6604"/>
                </a:cubicBezTo>
                <a:cubicBezTo>
                  <a:pt x="9560" y="6608"/>
                  <a:pt x="9551" y="6611"/>
                  <a:pt x="9541" y="6613"/>
                </a:cubicBezTo>
                <a:cubicBezTo>
                  <a:pt x="9532" y="6615"/>
                  <a:pt x="9523" y="6615"/>
                  <a:pt x="9513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7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19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1203120" y="3322080"/>
            <a:ext cx="820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4511880" y="3728520"/>
            <a:ext cx="2855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 software systems, APIs deﬁne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4533840" y="31906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1" y="333"/>
                  <a:pt x="516" y="350"/>
                  <a:pt x="510" y="366"/>
                </a:cubicBezTo>
                <a:cubicBezTo>
                  <a:pt x="503" y="382"/>
                  <a:pt x="495" y="398"/>
                  <a:pt x="485" y="413"/>
                </a:cubicBezTo>
                <a:cubicBezTo>
                  <a:pt x="476" y="427"/>
                  <a:pt x="465" y="440"/>
                  <a:pt x="452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6" y="510"/>
                </a:cubicBezTo>
                <a:cubicBezTo>
                  <a:pt x="349" y="517"/>
                  <a:pt x="333" y="522"/>
                  <a:pt x="316" y="525"/>
                </a:cubicBezTo>
                <a:cubicBezTo>
                  <a:pt x="299" y="529"/>
                  <a:pt x="282" y="530"/>
                  <a:pt x="264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89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6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1" y="299"/>
                  <a:pt x="0" y="282"/>
                  <a:pt x="0" y="265"/>
                </a:cubicBez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299" y="2"/>
                  <a:pt x="316" y="5"/>
                </a:cubicBezTo>
                <a:cubicBezTo>
                  <a:pt x="333" y="9"/>
                  <a:pt x="349" y="14"/>
                  <a:pt x="366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2" y="78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6" y="179"/>
                  <a:pt x="521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4628880" y="3247920"/>
            <a:ext cx="360" cy="75960"/>
          </a:xfrm>
          <a:custGeom>
            <a:avLst/>
            <a:gdLst/>
            <a:ahLst/>
            <a:rect l="0" t="0" r="r" b="b"/>
            <a:pathLst>
              <a:path fill="none" w="1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4511880" y="4004640"/>
            <a:ext cx="3029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function calls and data structures.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4791240" y="3036600"/>
            <a:ext cx="1034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Software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7939080" y="2833560"/>
            <a:ext cx="3486240" cy="2381400"/>
          </a:xfrm>
          <a:custGeom>
            <a:avLst/>
            <a:gdLst/>
            <a:ahLst/>
            <a:rect l="0" t="0" r="r" b="b"/>
            <a:pathLst>
              <a:path w="9684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2"/>
                  <a:pt x="24" y="65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4"/>
                </a:cubicBezTo>
                <a:cubicBezTo>
                  <a:pt x="9628" y="30"/>
                  <a:pt x="9635" y="36"/>
                  <a:pt x="9642" y="42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2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6"/>
                  <a:pt x="9684" y="136"/>
                  <a:pt x="9684" y="145"/>
                </a:cubicBezTo>
                <a:lnTo>
                  <a:pt x="9684" y="6470"/>
                </a:lnTo>
                <a:cubicBezTo>
                  <a:pt x="9684" y="6479"/>
                  <a:pt x="9683" y="6489"/>
                  <a:pt x="9681" y="6498"/>
                </a:cubicBezTo>
                <a:cubicBezTo>
                  <a:pt x="9680" y="6508"/>
                  <a:pt x="9677" y="6517"/>
                  <a:pt x="9673" y="6526"/>
                </a:cubicBezTo>
                <a:cubicBezTo>
                  <a:pt x="9670" y="6534"/>
                  <a:pt x="9665" y="6543"/>
                  <a:pt x="9660" y="6551"/>
                </a:cubicBezTo>
                <a:cubicBezTo>
                  <a:pt x="9654" y="6559"/>
                  <a:pt x="9648" y="6566"/>
                  <a:pt x="9642" y="6573"/>
                </a:cubicBezTo>
                <a:cubicBezTo>
                  <a:pt x="9635" y="6580"/>
                  <a:pt x="9628" y="6586"/>
                  <a:pt x="9620" y="6591"/>
                </a:cubicBezTo>
                <a:cubicBezTo>
                  <a:pt x="9612" y="6596"/>
                  <a:pt x="9603" y="6601"/>
                  <a:pt x="9594" y="6604"/>
                </a:cubicBezTo>
                <a:cubicBezTo>
                  <a:pt x="9586" y="6608"/>
                  <a:pt x="9577" y="6611"/>
                  <a:pt x="9567" y="6613"/>
                </a:cubicBezTo>
                <a:cubicBezTo>
                  <a:pt x="9558" y="6615"/>
                  <a:pt x="9548" y="6615"/>
                  <a:pt x="9539" y="6615"/>
                </a:cubicBezTo>
                <a:lnTo>
                  <a:pt x="145" y="6615"/>
                </a:lnTo>
                <a:cubicBezTo>
                  <a:pt x="135" y="6615"/>
                  <a:pt x="126" y="6615"/>
                  <a:pt x="117" y="6613"/>
                </a:cubicBezTo>
                <a:cubicBezTo>
                  <a:pt x="107" y="6611"/>
                  <a:pt x="98" y="6608"/>
                  <a:pt x="89" y="6604"/>
                </a:cubicBezTo>
                <a:cubicBezTo>
                  <a:pt x="81" y="6601"/>
                  <a:pt x="72" y="6596"/>
                  <a:pt x="64" y="6591"/>
                </a:cubicBezTo>
                <a:cubicBezTo>
                  <a:pt x="56" y="6586"/>
                  <a:pt x="49" y="6580"/>
                  <a:pt x="42" y="6573"/>
                </a:cubicBezTo>
                <a:cubicBezTo>
                  <a:pt x="35" y="6566"/>
                  <a:pt x="29" y="6559"/>
                  <a:pt x="24" y="6551"/>
                </a:cubicBezTo>
                <a:cubicBezTo>
                  <a:pt x="19" y="6543"/>
                  <a:pt x="14" y="6534"/>
                  <a:pt x="11" y="6526"/>
                </a:cubicBezTo>
                <a:cubicBezTo>
                  <a:pt x="7" y="6517"/>
                  <a:pt x="4" y="6508"/>
                  <a:pt x="2" y="6498"/>
                </a:cubicBezTo>
                <a:cubicBezTo>
                  <a:pt x="0" y="6489"/>
                  <a:pt x="0" y="6479"/>
                  <a:pt x="0" y="647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7939080" y="2833560"/>
            <a:ext cx="3486240" cy="2381400"/>
          </a:xfrm>
          <a:custGeom>
            <a:avLst/>
            <a:gdLst/>
            <a:ahLst/>
            <a:rect l="0" t="0" r="r" b="b"/>
            <a:pathLst>
              <a:path fill="none" w="9684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2"/>
                  <a:pt x="24" y="65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4"/>
                </a:cubicBezTo>
                <a:cubicBezTo>
                  <a:pt x="9628" y="30"/>
                  <a:pt x="9635" y="36"/>
                  <a:pt x="9642" y="42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2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6"/>
                  <a:pt x="9684" y="136"/>
                  <a:pt x="9684" y="145"/>
                </a:cubicBezTo>
                <a:lnTo>
                  <a:pt x="9684" y="6470"/>
                </a:lnTo>
                <a:cubicBezTo>
                  <a:pt x="9684" y="6479"/>
                  <a:pt x="9683" y="6489"/>
                  <a:pt x="9681" y="6498"/>
                </a:cubicBezTo>
                <a:cubicBezTo>
                  <a:pt x="9680" y="6508"/>
                  <a:pt x="9677" y="6517"/>
                  <a:pt x="9673" y="6526"/>
                </a:cubicBezTo>
                <a:cubicBezTo>
                  <a:pt x="9670" y="6534"/>
                  <a:pt x="9665" y="6543"/>
                  <a:pt x="9660" y="6551"/>
                </a:cubicBezTo>
                <a:cubicBezTo>
                  <a:pt x="9654" y="6559"/>
                  <a:pt x="9648" y="6566"/>
                  <a:pt x="9642" y="6573"/>
                </a:cubicBezTo>
                <a:cubicBezTo>
                  <a:pt x="9635" y="6580"/>
                  <a:pt x="9628" y="6586"/>
                  <a:pt x="9620" y="6591"/>
                </a:cubicBezTo>
                <a:cubicBezTo>
                  <a:pt x="9612" y="6596"/>
                  <a:pt x="9603" y="6601"/>
                  <a:pt x="9594" y="6604"/>
                </a:cubicBezTo>
                <a:cubicBezTo>
                  <a:pt x="9586" y="6608"/>
                  <a:pt x="9577" y="6611"/>
                  <a:pt x="9567" y="6613"/>
                </a:cubicBezTo>
                <a:cubicBezTo>
                  <a:pt x="9558" y="6615"/>
                  <a:pt x="9548" y="6615"/>
                  <a:pt x="9539" y="6615"/>
                </a:cubicBezTo>
                <a:lnTo>
                  <a:pt x="145" y="6615"/>
                </a:lnTo>
                <a:cubicBezTo>
                  <a:pt x="135" y="6615"/>
                  <a:pt x="126" y="6615"/>
                  <a:pt x="117" y="6613"/>
                </a:cubicBezTo>
                <a:cubicBezTo>
                  <a:pt x="107" y="6611"/>
                  <a:pt x="98" y="6608"/>
                  <a:pt x="89" y="6604"/>
                </a:cubicBezTo>
                <a:cubicBezTo>
                  <a:pt x="81" y="6601"/>
                  <a:pt x="72" y="6596"/>
                  <a:pt x="64" y="6591"/>
                </a:cubicBezTo>
                <a:cubicBezTo>
                  <a:pt x="56" y="6586"/>
                  <a:pt x="49" y="6580"/>
                  <a:pt x="42" y="6573"/>
                </a:cubicBezTo>
                <a:cubicBezTo>
                  <a:pt x="35" y="6566"/>
                  <a:pt x="29" y="6559"/>
                  <a:pt x="24" y="6551"/>
                </a:cubicBezTo>
                <a:cubicBezTo>
                  <a:pt x="19" y="6543"/>
                  <a:pt x="14" y="6534"/>
                  <a:pt x="11" y="6526"/>
                </a:cubicBezTo>
                <a:cubicBezTo>
                  <a:pt x="7" y="6517"/>
                  <a:pt x="4" y="6508"/>
                  <a:pt x="2" y="6498"/>
                </a:cubicBezTo>
                <a:cubicBezTo>
                  <a:pt x="0" y="6489"/>
                  <a:pt x="0" y="6479"/>
                  <a:pt x="0" y="647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4791240" y="3322080"/>
            <a:ext cx="971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8099280" y="3728520"/>
            <a:ext cx="2886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 embedded systems, protocols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8115120" y="31906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50"/>
                  <a:pt x="510" y="366"/>
                </a:cubicBezTo>
                <a:cubicBezTo>
                  <a:pt x="503" y="382"/>
                  <a:pt x="495" y="398"/>
                  <a:pt x="486" y="413"/>
                </a:cubicBezTo>
                <a:cubicBezTo>
                  <a:pt x="476" y="427"/>
                  <a:pt x="464" y="440"/>
                  <a:pt x="452" y="453"/>
                </a:cubicBezTo>
                <a:cubicBezTo>
                  <a:pt x="439" y="465"/>
                  <a:pt x="426" y="476"/>
                  <a:pt x="412" y="486"/>
                </a:cubicBezTo>
                <a:cubicBezTo>
                  <a:pt x="397" y="495"/>
                  <a:pt x="382" y="503"/>
                  <a:pt x="366" y="510"/>
                </a:cubicBezTo>
                <a:cubicBezTo>
                  <a:pt x="350" y="517"/>
                  <a:pt x="333" y="522"/>
                  <a:pt x="316" y="525"/>
                </a:cubicBezTo>
                <a:cubicBezTo>
                  <a:pt x="299" y="529"/>
                  <a:pt x="282" y="530"/>
                  <a:pt x="265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8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5" y="413"/>
                </a:cubicBezTo>
                <a:cubicBezTo>
                  <a:pt x="35" y="398"/>
                  <a:pt x="27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cubicBezTo>
                  <a:pt x="282" y="0"/>
                  <a:pt x="299" y="2"/>
                  <a:pt x="316" y="5"/>
                </a:cubicBezTo>
                <a:cubicBezTo>
                  <a:pt x="333" y="9"/>
                  <a:pt x="350" y="14"/>
                  <a:pt x="366" y="20"/>
                </a:cubicBezTo>
                <a:cubicBezTo>
                  <a:pt x="382" y="27"/>
                  <a:pt x="397" y="35"/>
                  <a:pt x="412" y="45"/>
                </a:cubicBezTo>
                <a:cubicBezTo>
                  <a:pt x="426" y="54"/>
                  <a:pt x="439" y="65"/>
                  <a:pt x="452" y="78"/>
                </a:cubicBezTo>
                <a:cubicBezTo>
                  <a:pt x="464" y="90"/>
                  <a:pt x="476" y="103"/>
                  <a:pt x="486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8210520" y="324792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8099280" y="4004640"/>
            <a:ext cx="3161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govern timing and synchronization.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8378640" y="3036600"/>
            <a:ext cx="1233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Embedded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8378640" y="3322080"/>
            <a:ext cx="971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1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3" name=""/>
          <p:cNvSpPr txBox="1"/>
          <p:nvPr/>
        </p:nvSpPr>
        <p:spPr>
          <a:xfrm>
            <a:off x="762120" y="4823280"/>
            <a:ext cx="10559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shift from global to local design parallels organisational design: individual teams can work on parts as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762120" y="5127840"/>
            <a:ext cx="5349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long as shared protocols and interfaces are respected.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766440" y="2309760"/>
            <a:ext cx="5277240" cy="2362320"/>
          </a:xfrm>
          <a:custGeom>
            <a:avLst/>
            <a:gdLst/>
            <a:ahLst/>
            <a:rect l="0" t="0" r="r" b="b"/>
            <a:pathLst>
              <a:path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7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8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766440" y="2309760"/>
            <a:ext cx="5277240" cy="2362320"/>
          </a:xfrm>
          <a:custGeom>
            <a:avLst/>
            <a:gdLst/>
            <a:ahLst/>
            <a:rect l="0" t="0" r="r" b="b"/>
            <a:pathLst>
              <a:path fill="none"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7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8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762120" y="372600"/>
            <a:ext cx="103557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Monolithic vs Distributed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923760" y="2909160"/>
            <a:ext cx="4750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Monolithic design approaches attempt to optimize all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923760" y="3185640"/>
            <a:ext cx="4480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variables simultaneously in a single, tightly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923760" y="3461760"/>
            <a:ext cx="4058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integrated process. This has the advantage of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923760" y="3737880"/>
            <a:ext cx="4541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potentially achieving globally optimal solutions but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923760" y="4014000"/>
            <a:ext cx="4200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suﬀers from scalability issues and coordination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/>
          <p:nvPr/>
        </p:nvSpPr>
        <p:spPr>
          <a:xfrm>
            <a:off x="1000080" y="2523960"/>
            <a:ext cx="76320" cy="38520"/>
          </a:xfrm>
          <a:custGeom>
            <a:avLst/>
            <a:gdLst/>
            <a:ahLst/>
            <a:rect l="0" t="0" r="r" b="b"/>
            <a:pathLst>
              <a:path fill="none" w="212" h="107">
                <a:moveTo>
                  <a:pt x="26" y="0"/>
                </a:moveTo>
                <a:lnTo>
                  <a:pt x="186" y="0"/>
                </a:lnTo>
                <a:cubicBezTo>
                  <a:pt x="193" y="0"/>
                  <a:pt x="199" y="3"/>
                  <a:pt x="205" y="8"/>
                </a:cubicBezTo>
                <a:cubicBezTo>
                  <a:pt x="210" y="13"/>
                  <a:pt x="212" y="19"/>
                  <a:pt x="212" y="26"/>
                </a:cubicBezTo>
                <a:lnTo>
                  <a:pt x="212" y="80"/>
                </a:lnTo>
                <a:cubicBezTo>
                  <a:pt x="212" y="88"/>
                  <a:pt x="210" y="94"/>
                  <a:pt x="205" y="99"/>
                </a:cubicBezTo>
                <a:cubicBezTo>
                  <a:pt x="199" y="104"/>
                  <a:pt x="193" y="107"/>
                  <a:pt x="186" y="107"/>
                </a:cubicBezTo>
                <a:lnTo>
                  <a:pt x="26" y="107"/>
                </a:lnTo>
                <a:cubicBezTo>
                  <a:pt x="19" y="107"/>
                  <a:pt x="13" y="104"/>
                  <a:pt x="7" y="99"/>
                </a:cubicBezTo>
                <a:cubicBezTo>
                  <a:pt x="2" y="94"/>
                  <a:pt x="0" y="88"/>
                  <a:pt x="0" y="80"/>
                </a:cubicBezTo>
                <a:lnTo>
                  <a:pt x="0" y="26"/>
                </a:lnTo>
                <a:cubicBezTo>
                  <a:pt x="0" y="19"/>
                  <a:pt x="2" y="13"/>
                  <a:pt x="7" y="8"/>
                </a:cubicBezTo>
                <a:cubicBezTo>
                  <a:pt x="13" y="3"/>
                  <a:pt x="19" y="0"/>
                  <a:pt x="26" y="0"/>
                </a:cubicBez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961920" y="2543040"/>
            <a:ext cx="152640" cy="171720"/>
          </a:xfrm>
          <a:custGeom>
            <a:avLst/>
            <a:gdLst/>
            <a:ahLst/>
            <a:rect l="0" t="0" r="r" b="b"/>
            <a:pathLst>
              <a:path fill="none" w="424" h="477">
                <a:moveTo>
                  <a:pt x="318" y="0"/>
                </a:moveTo>
                <a:lnTo>
                  <a:pt x="371" y="0"/>
                </a:lnTo>
                <a:cubicBezTo>
                  <a:pt x="378" y="0"/>
                  <a:pt x="385" y="1"/>
                  <a:pt x="391" y="4"/>
                </a:cubicBezTo>
                <a:cubicBezTo>
                  <a:pt x="398" y="7"/>
                  <a:pt x="404" y="10"/>
                  <a:pt x="409" y="15"/>
                </a:cubicBezTo>
                <a:cubicBezTo>
                  <a:pt x="414" y="20"/>
                  <a:pt x="417" y="26"/>
                  <a:pt x="420" y="33"/>
                </a:cubicBezTo>
                <a:cubicBezTo>
                  <a:pt x="423" y="39"/>
                  <a:pt x="424" y="46"/>
                  <a:pt x="424" y="53"/>
                </a:cubicBezTo>
                <a:lnTo>
                  <a:pt x="424" y="424"/>
                </a:lnTo>
                <a:cubicBezTo>
                  <a:pt x="424" y="431"/>
                  <a:pt x="423" y="438"/>
                  <a:pt x="420" y="444"/>
                </a:cubicBezTo>
                <a:cubicBezTo>
                  <a:pt x="417" y="451"/>
                  <a:pt x="414" y="457"/>
                  <a:pt x="409" y="462"/>
                </a:cubicBezTo>
                <a:cubicBezTo>
                  <a:pt x="404" y="467"/>
                  <a:pt x="398" y="470"/>
                  <a:pt x="391" y="473"/>
                </a:cubicBezTo>
                <a:cubicBezTo>
                  <a:pt x="385" y="476"/>
                  <a:pt x="378" y="477"/>
                  <a:pt x="371" y="477"/>
                </a:cubicBezTo>
                <a:lnTo>
                  <a:pt x="53" y="477"/>
                </a:lnTo>
                <a:cubicBezTo>
                  <a:pt x="46" y="477"/>
                  <a:pt x="39" y="476"/>
                  <a:pt x="32" y="473"/>
                </a:cubicBezTo>
                <a:cubicBezTo>
                  <a:pt x="26" y="470"/>
                  <a:pt x="20" y="467"/>
                  <a:pt x="15" y="462"/>
                </a:cubicBezTo>
                <a:cubicBezTo>
                  <a:pt x="10" y="457"/>
                  <a:pt x="7" y="451"/>
                  <a:pt x="4" y="444"/>
                </a:cubicBezTo>
                <a:cubicBezTo>
                  <a:pt x="1" y="438"/>
                  <a:pt x="0" y="431"/>
                  <a:pt x="0" y="424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lnTo>
                  <a:pt x="107" y="0"/>
                </a:lnTo>
                <a:moveTo>
                  <a:pt x="212" y="185"/>
                </a:moveTo>
                <a:lnTo>
                  <a:pt x="318" y="185"/>
                </a:lnTo>
                <a:moveTo>
                  <a:pt x="212" y="318"/>
                </a:moveTo>
                <a:lnTo>
                  <a:pt x="318" y="318"/>
                </a:lnTo>
                <a:moveTo>
                  <a:pt x="107" y="185"/>
                </a:moveTo>
                <a:moveTo>
                  <a:pt x="107" y="318"/>
                </a:move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923760" y="4280760"/>
            <a:ext cx="1980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challenges in practice.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6148080" y="2309760"/>
            <a:ext cx="5277240" cy="2362320"/>
          </a:xfrm>
          <a:custGeom>
            <a:avLst/>
            <a:gdLst/>
            <a:ahLst/>
            <a:rect l="0" t="0" r="r" b="b"/>
            <a:pathLst>
              <a:path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6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7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6148080" y="2309760"/>
            <a:ext cx="5277240" cy="2362320"/>
          </a:xfrm>
          <a:custGeom>
            <a:avLst/>
            <a:gdLst/>
            <a:ahLst/>
            <a:rect l="0" t="0" r="r" b="b"/>
            <a:pathLst>
              <a:path fill="none"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6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7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1203120" y="2512440"/>
            <a:ext cx="2103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16c4c2"/>
                </a:solidFill>
                <a:effectLst/>
                <a:uFillTx/>
                <a:latin typeface="LucidaGrande"/>
                <a:ea typeface="LucidaGrande"/>
              </a:rPr>
              <a:t>Monolithic 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6305400" y="2909160"/>
            <a:ext cx="4596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Distributed design optimization, on the other hand,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305400" y="3185640"/>
            <a:ext cx="3912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decomposes the global design problem into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6305400" y="3461760"/>
            <a:ext cx="4571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subproblems, each associated with a component 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6305400" y="3737880"/>
            <a:ext cx="4988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subsystem. Coordination is then required to ensure that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6305400" y="4014000"/>
            <a:ext cx="4906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subproblem solutions are compatible and converge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6381720" y="2523960"/>
            <a:ext cx="76320" cy="38520"/>
          </a:xfrm>
          <a:custGeom>
            <a:avLst/>
            <a:gdLst/>
            <a:ahLst/>
            <a:rect l="0" t="0" r="r" b="b"/>
            <a:pathLst>
              <a:path fill="none" w="212" h="107">
                <a:moveTo>
                  <a:pt x="26" y="0"/>
                </a:moveTo>
                <a:lnTo>
                  <a:pt x="186" y="0"/>
                </a:lnTo>
                <a:cubicBezTo>
                  <a:pt x="193" y="0"/>
                  <a:pt x="199" y="3"/>
                  <a:pt x="204" y="8"/>
                </a:cubicBezTo>
                <a:cubicBezTo>
                  <a:pt x="210" y="13"/>
                  <a:pt x="212" y="19"/>
                  <a:pt x="212" y="26"/>
                </a:cubicBezTo>
                <a:lnTo>
                  <a:pt x="212" y="80"/>
                </a:lnTo>
                <a:cubicBezTo>
                  <a:pt x="212" y="88"/>
                  <a:pt x="210" y="94"/>
                  <a:pt x="204" y="99"/>
                </a:cubicBezTo>
                <a:cubicBezTo>
                  <a:pt x="199" y="104"/>
                  <a:pt x="193" y="107"/>
                  <a:pt x="186" y="107"/>
                </a:cubicBezTo>
                <a:lnTo>
                  <a:pt x="26" y="107"/>
                </a:lnTo>
                <a:cubicBezTo>
                  <a:pt x="19" y="107"/>
                  <a:pt x="12" y="104"/>
                  <a:pt x="7" y="99"/>
                </a:cubicBezTo>
                <a:cubicBezTo>
                  <a:pt x="2" y="94"/>
                  <a:pt x="0" y="88"/>
                  <a:pt x="0" y="80"/>
                </a:cubicBezTo>
                <a:lnTo>
                  <a:pt x="0" y="26"/>
                </a:lnTo>
                <a:cubicBezTo>
                  <a:pt x="0" y="19"/>
                  <a:pt x="2" y="13"/>
                  <a:pt x="7" y="8"/>
                </a:cubicBezTo>
                <a:cubicBezTo>
                  <a:pt x="12" y="3"/>
                  <a:pt x="19" y="0"/>
                  <a:pt x="26" y="0"/>
                </a:cubicBez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6343560" y="2543040"/>
            <a:ext cx="152640" cy="171720"/>
          </a:xfrm>
          <a:custGeom>
            <a:avLst/>
            <a:gdLst/>
            <a:ahLst/>
            <a:rect l="0" t="0" r="r" b="b"/>
            <a:pathLst>
              <a:path fill="none" w="424" h="477">
                <a:moveTo>
                  <a:pt x="317" y="0"/>
                </a:moveTo>
                <a:lnTo>
                  <a:pt x="371" y="0"/>
                </a:lnTo>
                <a:cubicBezTo>
                  <a:pt x="378" y="0"/>
                  <a:pt x="385" y="1"/>
                  <a:pt x="391" y="4"/>
                </a:cubicBezTo>
                <a:cubicBezTo>
                  <a:pt x="398" y="7"/>
                  <a:pt x="404" y="10"/>
                  <a:pt x="409" y="15"/>
                </a:cubicBezTo>
                <a:cubicBezTo>
                  <a:pt x="414" y="20"/>
                  <a:pt x="417" y="26"/>
                  <a:pt x="420" y="33"/>
                </a:cubicBezTo>
                <a:cubicBezTo>
                  <a:pt x="423" y="39"/>
                  <a:pt x="424" y="46"/>
                  <a:pt x="424" y="53"/>
                </a:cubicBezTo>
                <a:lnTo>
                  <a:pt x="424" y="424"/>
                </a:lnTo>
                <a:cubicBezTo>
                  <a:pt x="424" y="431"/>
                  <a:pt x="423" y="438"/>
                  <a:pt x="420" y="444"/>
                </a:cubicBezTo>
                <a:cubicBezTo>
                  <a:pt x="417" y="451"/>
                  <a:pt x="414" y="457"/>
                  <a:pt x="409" y="462"/>
                </a:cubicBezTo>
                <a:cubicBezTo>
                  <a:pt x="404" y="467"/>
                  <a:pt x="398" y="470"/>
                  <a:pt x="391" y="473"/>
                </a:cubicBezTo>
                <a:cubicBezTo>
                  <a:pt x="385" y="476"/>
                  <a:pt x="378" y="477"/>
                  <a:pt x="371" y="477"/>
                </a:cubicBezTo>
                <a:lnTo>
                  <a:pt x="53" y="477"/>
                </a:lnTo>
                <a:cubicBezTo>
                  <a:pt x="46" y="477"/>
                  <a:pt x="39" y="476"/>
                  <a:pt x="32" y="473"/>
                </a:cubicBezTo>
                <a:cubicBezTo>
                  <a:pt x="26" y="470"/>
                  <a:pt x="20" y="467"/>
                  <a:pt x="15" y="462"/>
                </a:cubicBezTo>
                <a:cubicBezTo>
                  <a:pt x="10" y="457"/>
                  <a:pt x="6" y="451"/>
                  <a:pt x="4" y="444"/>
                </a:cubicBezTo>
                <a:cubicBezTo>
                  <a:pt x="1" y="438"/>
                  <a:pt x="0" y="431"/>
                  <a:pt x="0" y="424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6" y="26"/>
                  <a:pt x="10" y="20"/>
                  <a:pt x="15" y="15"/>
                </a:cubicBezTo>
                <a:cubicBezTo>
                  <a:pt x="20" y="10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lnTo>
                  <a:pt x="106" y="0"/>
                </a:lnTo>
                <a:moveTo>
                  <a:pt x="211" y="185"/>
                </a:moveTo>
                <a:lnTo>
                  <a:pt x="317" y="185"/>
                </a:lnTo>
                <a:moveTo>
                  <a:pt x="211" y="318"/>
                </a:moveTo>
                <a:lnTo>
                  <a:pt x="317" y="318"/>
                </a:lnTo>
                <a:moveTo>
                  <a:pt x="106" y="185"/>
                </a:moveTo>
                <a:moveTo>
                  <a:pt x="106" y="318"/>
                </a:move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6305400" y="4280760"/>
            <a:ext cx="2450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a system-level optimum.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6584760" y="2512440"/>
            <a:ext cx="2201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16c4c2"/>
                </a:solidFill>
                <a:effectLst/>
                <a:uFillTx/>
                <a:latin typeface="LucidaGrande"/>
                <a:ea typeface="LucidaGrande"/>
              </a:rPr>
              <a:t>Distributed 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6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6862680" y="2557440"/>
            <a:ext cx="5324760" cy="2990880"/>
          </a:xfrm>
          <a:custGeom>
            <a:avLst/>
            <a:gdLst/>
            <a:ahLst/>
            <a:rect l="0" t="0" r="r" b="b"/>
            <a:pathLst>
              <a:path fill="none" w="14791" h="8308">
                <a:moveTo>
                  <a:pt x="0" y="0"/>
                </a:moveTo>
                <a:lnTo>
                  <a:pt x="14791" y="0"/>
                </a:lnTo>
                <a:lnTo>
                  <a:pt x="14791" y="8308"/>
                </a:lnTo>
                <a:lnTo>
                  <a:pt x="0" y="8308"/>
                </a:lnTo>
                <a:lnTo>
                  <a:pt x="0" y="0"/>
                </a:lnTo>
              </a:path>
            </a:pathLst>
          </a:custGeom>
          <a:ln w="9360">
            <a:solidFill>
              <a:srgbClr val="00000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14818" y="0"/>
                </a:move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lnTo>
                  <a:pt x="14818" y="0"/>
                </a:lnTo>
                <a:moveTo>
                  <a:pt x="14792" y="27"/>
                </a:moveTo>
                <a:lnTo>
                  <a:pt x="27" y="27"/>
                </a:lnTo>
                <a:lnTo>
                  <a:pt x="27" y="8309"/>
                </a:lnTo>
                <a:lnTo>
                  <a:pt x="14792" y="8309"/>
                </a:lnTo>
                <a:lnTo>
                  <a:pt x="14792" y="27"/>
                </a:lnTo>
                <a:close/>
              </a:path>
            </a:pathLst>
          </a:custGeom>
          <a:solidFill>
            <a:srgbClr val="000000">
              <a:alpha val="1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6857640" y="2552400"/>
            <a:ext cx="5334480" cy="3000960"/>
          </a:xfrm>
          <a:custGeom>
            <a:avLst/>
            <a:gdLst/>
            <a:ahLst/>
            <a:rect l="0" t="0" r="r" b="b"/>
            <a:pathLst>
              <a:path w="14818" h="8336">
                <a:moveTo>
                  <a:pt x="0" y="0"/>
                </a:moveTo>
                <a:lnTo>
                  <a:pt x="14818" y="0"/>
                </a:lnTo>
                <a:lnTo>
                  <a:pt x="14818" y="8336"/>
                </a:lnTo>
                <a:lnTo>
                  <a:pt x="0" y="83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858000" y="2078280"/>
            <a:ext cx="38487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Is it about keep things cool?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7498080" y="3067560"/>
            <a:ext cx="148320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Video player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7498080" y="3429720"/>
            <a:ext cx="152784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configuration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7498080" y="3791520"/>
            <a:ext cx="56376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error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7495920" y="4686120"/>
            <a:ext cx="1781640" cy="343080"/>
          </a:xfrm>
          <a:custGeom>
            <a:avLst/>
            <a:gdLst/>
            <a:ahLst/>
            <a:rect l="0" t="0" r="r" b="b"/>
            <a:pathLst>
              <a:path w="4949" h="953">
                <a:moveTo>
                  <a:pt x="0" y="476"/>
                </a:moveTo>
                <a:cubicBezTo>
                  <a:pt x="0" y="445"/>
                  <a:pt x="3" y="414"/>
                  <a:pt x="9" y="383"/>
                </a:cubicBezTo>
                <a:cubicBezTo>
                  <a:pt x="15" y="353"/>
                  <a:pt x="24" y="323"/>
                  <a:pt x="36" y="294"/>
                </a:cubicBezTo>
                <a:cubicBezTo>
                  <a:pt x="48" y="265"/>
                  <a:pt x="63" y="238"/>
                  <a:pt x="80" y="212"/>
                </a:cubicBezTo>
                <a:cubicBezTo>
                  <a:pt x="98" y="186"/>
                  <a:pt x="118" y="162"/>
                  <a:pt x="140" y="139"/>
                </a:cubicBezTo>
                <a:cubicBezTo>
                  <a:pt x="162" y="117"/>
                  <a:pt x="186" y="98"/>
                  <a:pt x="212" y="80"/>
                </a:cubicBezTo>
                <a:cubicBezTo>
                  <a:pt x="238" y="63"/>
                  <a:pt x="265" y="48"/>
                  <a:pt x="294" y="36"/>
                </a:cubicBezTo>
                <a:cubicBezTo>
                  <a:pt x="323" y="24"/>
                  <a:pt x="353" y="15"/>
                  <a:pt x="384" y="9"/>
                </a:cubicBezTo>
                <a:cubicBezTo>
                  <a:pt x="414" y="3"/>
                  <a:pt x="445" y="0"/>
                  <a:pt x="476" y="0"/>
                </a:cubicBezTo>
                <a:lnTo>
                  <a:pt x="4473" y="0"/>
                </a:lnTo>
                <a:cubicBezTo>
                  <a:pt x="4504" y="0"/>
                  <a:pt x="4535" y="3"/>
                  <a:pt x="4566" y="9"/>
                </a:cubicBezTo>
                <a:cubicBezTo>
                  <a:pt x="4596" y="15"/>
                  <a:pt x="4626" y="24"/>
                  <a:pt x="4655" y="36"/>
                </a:cubicBezTo>
                <a:cubicBezTo>
                  <a:pt x="4684" y="48"/>
                  <a:pt x="4711" y="63"/>
                  <a:pt x="4737" y="80"/>
                </a:cubicBezTo>
                <a:cubicBezTo>
                  <a:pt x="4763" y="98"/>
                  <a:pt x="4787" y="117"/>
                  <a:pt x="4809" y="139"/>
                </a:cubicBezTo>
                <a:cubicBezTo>
                  <a:pt x="4832" y="162"/>
                  <a:pt x="4851" y="186"/>
                  <a:pt x="4869" y="212"/>
                </a:cubicBezTo>
                <a:cubicBezTo>
                  <a:pt x="4886" y="238"/>
                  <a:pt x="4901" y="265"/>
                  <a:pt x="4913" y="294"/>
                </a:cubicBezTo>
                <a:cubicBezTo>
                  <a:pt x="4925" y="323"/>
                  <a:pt x="4934" y="353"/>
                  <a:pt x="4940" y="383"/>
                </a:cubicBezTo>
                <a:cubicBezTo>
                  <a:pt x="4946" y="414"/>
                  <a:pt x="4949" y="445"/>
                  <a:pt x="4949" y="476"/>
                </a:cubicBezTo>
                <a:cubicBezTo>
                  <a:pt x="4949" y="508"/>
                  <a:pt x="4946" y="538"/>
                  <a:pt x="4940" y="569"/>
                </a:cubicBezTo>
                <a:cubicBezTo>
                  <a:pt x="4934" y="600"/>
                  <a:pt x="4925" y="630"/>
                  <a:pt x="4913" y="659"/>
                </a:cubicBezTo>
                <a:cubicBezTo>
                  <a:pt x="4901" y="687"/>
                  <a:pt x="4886" y="715"/>
                  <a:pt x="4869" y="741"/>
                </a:cubicBezTo>
                <a:cubicBezTo>
                  <a:pt x="4851" y="767"/>
                  <a:pt x="4832" y="792"/>
                  <a:pt x="4809" y="814"/>
                </a:cubicBezTo>
                <a:cubicBezTo>
                  <a:pt x="4787" y="836"/>
                  <a:pt x="4763" y="856"/>
                  <a:pt x="4737" y="873"/>
                </a:cubicBezTo>
                <a:cubicBezTo>
                  <a:pt x="4711" y="891"/>
                  <a:pt x="4684" y="905"/>
                  <a:pt x="4655" y="917"/>
                </a:cubicBezTo>
                <a:cubicBezTo>
                  <a:pt x="4626" y="929"/>
                  <a:pt x="4596" y="938"/>
                  <a:pt x="4566" y="944"/>
                </a:cubicBezTo>
                <a:cubicBezTo>
                  <a:pt x="4535" y="950"/>
                  <a:pt x="4504" y="953"/>
                  <a:pt x="4473" y="953"/>
                </a:cubicBezTo>
                <a:lnTo>
                  <a:pt x="476" y="953"/>
                </a:lnTo>
                <a:cubicBezTo>
                  <a:pt x="445" y="953"/>
                  <a:pt x="414" y="950"/>
                  <a:pt x="384" y="944"/>
                </a:cubicBezTo>
                <a:cubicBezTo>
                  <a:pt x="353" y="938"/>
                  <a:pt x="323" y="929"/>
                  <a:pt x="294" y="917"/>
                </a:cubicBezTo>
                <a:cubicBezTo>
                  <a:pt x="265" y="905"/>
                  <a:pt x="238" y="891"/>
                  <a:pt x="212" y="873"/>
                </a:cubicBezTo>
                <a:cubicBezTo>
                  <a:pt x="186" y="856"/>
                  <a:pt x="162" y="836"/>
                  <a:pt x="140" y="814"/>
                </a:cubicBezTo>
                <a:cubicBezTo>
                  <a:pt x="118" y="792"/>
                  <a:pt x="98" y="767"/>
                  <a:pt x="80" y="741"/>
                </a:cubicBezTo>
                <a:cubicBezTo>
                  <a:pt x="63" y="715"/>
                  <a:pt x="48" y="687"/>
                  <a:pt x="36" y="659"/>
                </a:cubicBezTo>
                <a:cubicBezTo>
                  <a:pt x="24" y="630"/>
                  <a:pt x="15" y="600"/>
                  <a:pt x="9" y="569"/>
                </a:cubicBezTo>
                <a:cubicBezTo>
                  <a:pt x="3" y="538"/>
                  <a:pt x="0" y="508"/>
                  <a:pt x="0" y="4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7498080" y="4313880"/>
            <a:ext cx="63612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Error 153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7495920" y="5105160"/>
            <a:ext cx="981360" cy="343440"/>
          </a:xfrm>
          <a:custGeom>
            <a:avLst/>
            <a:gdLst/>
            <a:ahLst/>
            <a:rect l="0" t="0" r="r" b="b"/>
            <a:pathLst>
              <a:path w="2726" h="954">
                <a:moveTo>
                  <a:pt x="0" y="476"/>
                </a:moveTo>
                <a:cubicBezTo>
                  <a:pt x="0" y="445"/>
                  <a:pt x="3" y="414"/>
                  <a:pt x="9" y="384"/>
                </a:cubicBezTo>
                <a:cubicBezTo>
                  <a:pt x="15" y="353"/>
                  <a:pt x="24" y="323"/>
                  <a:pt x="36" y="294"/>
                </a:cubicBezTo>
                <a:cubicBezTo>
                  <a:pt x="48" y="265"/>
                  <a:pt x="63" y="238"/>
                  <a:pt x="80" y="212"/>
                </a:cubicBezTo>
                <a:cubicBezTo>
                  <a:pt x="98" y="186"/>
                  <a:pt x="118" y="162"/>
                  <a:pt x="140" y="140"/>
                </a:cubicBezTo>
                <a:cubicBezTo>
                  <a:pt x="162" y="118"/>
                  <a:pt x="186" y="98"/>
                  <a:pt x="212" y="80"/>
                </a:cubicBezTo>
                <a:cubicBezTo>
                  <a:pt x="238" y="63"/>
                  <a:pt x="265" y="48"/>
                  <a:pt x="294" y="36"/>
                </a:cubicBezTo>
                <a:cubicBezTo>
                  <a:pt x="323" y="24"/>
                  <a:pt x="353" y="15"/>
                  <a:pt x="384" y="9"/>
                </a:cubicBezTo>
                <a:cubicBezTo>
                  <a:pt x="414" y="3"/>
                  <a:pt x="445" y="0"/>
                  <a:pt x="476" y="0"/>
                </a:cubicBezTo>
                <a:lnTo>
                  <a:pt x="2249" y="0"/>
                </a:lnTo>
                <a:cubicBezTo>
                  <a:pt x="2280" y="0"/>
                  <a:pt x="2311" y="3"/>
                  <a:pt x="2343" y="9"/>
                </a:cubicBezTo>
                <a:cubicBezTo>
                  <a:pt x="2374" y="15"/>
                  <a:pt x="2404" y="24"/>
                  <a:pt x="2432" y="36"/>
                </a:cubicBezTo>
                <a:cubicBezTo>
                  <a:pt x="2461" y="48"/>
                  <a:pt x="2489" y="63"/>
                  <a:pt x="2515" y="80"/>
                </a:cubicBezTo>
                <a:cubicBezTo>
                  <a:pt x="2541" y="98"/>
                  <a:pt x="2565" y="118"/>
                  <a:pt x="2587" y="140"/>
                </a:cubicBezTo>
                <a:cubicBezTo>
                  <a:pt x="2609" y="162"/>
                  <a:pt x="2629" y="186"/>
                  <a:pt x="2646" y="212"/>
                </a:cubicBezTo>
                <a:cubicBezTo>
                  <a:pt x="2664" y="238"/>
                  <a:pt x="2678" y="265"/>
                  <a:pt x="2690" y="294"/>
                </a:cubicBezTo>
                <a:cubicBezTo>
                  <a:pt x="2702" y="323"/>
                  <a:pt x="2711" y="353"/>
                  <a:pt x="2717" y="384"/>
                </a:cubicBezTo>
                <a:cubicBezTo>
                  <a:pt x="2723" y="414"/>
                  <a:pt x="2726" y="445"/>
                  <a:pt x="2726" y="476"/>
                </a:cubicBezTo>
                <a:cubicBezTo>
                  <a:pt x="2726" y="508"/>
                  <a:pt x="2723" y="539"/>
                  <a:pt x="2717" y="569"/>
                </a:cubicBezTo>
                <a:cubicBezTo>
                  <a:pt x="2711" y="601"/>
                  <a:pt x="2702" y="631"/>
                  <a:pt x="2690" y="660"/>
                </a:cubicBezTo>
                <a:cubicBezTo>
                  <a:pt x="2678" y="689"/>
                  <a:pt x="2664" y="716"/>
                  <a:pt x="2646" y="742"/>
                </a:cubicBezTo>
                <a:cubicBezTo>
                  <a:pt x="2629" y="768"/>
                  <a:pt x="2609" y="792"/>
                  <a:pt x="2587" y="814"/>
                </a:cubicBezTo>
                <a:cubicBezTo>
                  <a:pt x="2565" y="836"/>
                  <a:pt x="2541" y="856"/>
                  <a:pt x="2515" y="873"/>
                </a:cubicBezTo>
                <a:cubicBezTo>
                  <a:pt x="2489" y="891"/>
                  <a:pt x="2461" y="905"/>
                  <a:pt x="2432" y="917"/>
                </a:cubicBezTo>
                <a:cubicBezTo>
                  <a:pt x="2404" y="929"/>
                  <a:pt x="2374" y="938"/>
                  <a:pt x="2343" y="945"/>
                </a:cubicBezTo>
                <a:cubicBezTo>
                  <a:pt x="2311" y="951"/>
                  <a:pt x="2280" y="954"/>
                  <a:pt x="2249" y="954"/>
                </a:cubicBezTo>
                <a:lnTo>
                  <a:pt x="476" y="954"/>
                </a:lnTo>
                <a:cubicBezTo>
                  <a:pt x="445" y="954"/>
                  <a:pt x="414" y="951"/>
                  <a:pt x="384" y="945"/>
                </a:cubicBezTo>
                <a:cubicBezTo>
                  <a:pt x="353" y="938"/>
                  <a:pt x="323" y="929"/>
                  <a:pt x="294" y="917"/>
                </a:cubicBezTo>
                <a:cubicBezTo>
                  <a:pt x="265" y="905"/>
                  <a:pt x="238" y="891"/>
                  <a:pt x="212" y="873"/>
                </a:cubicBezTo>
                <a:cubicBezTo>
                  <a:pt x="186" y="856"/>
                  <a:pt x="162" y="836"/>
                  <a:pt x="140" y="814"/>
                </a:cubicBezTo>
                <a:cubicBezTo>
                  <a:pt x="118" y="792"/>
                  <a:pt x="98" y="768"/>
                  <a:pt x="80" y="742"/>
                </a:cubicBezTo>
                <a:cubicBezTo>
                  <a:pt x="63" y="716"/>
                  <a:pt x="48" y="689"/>
                  <a:pt x="36" y="660"/>
                </a:cubicBezTo>
                <a:cubicBezTo>
                  <a:pt x="24" y="631"/>
                  <a:pt x="15" y="601"/>
                  <a:pt x="9" y="569"/>
                </a:cubicBezTo>
                <a:cubicBezTo>
                  <a:pt x="3" y="539"/>
                  <a:pt x="0" y="508"/>
                  <a:pt x="0" y="47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7650360" y="4762800"/>
            <a:ext cx="148968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Roboto"/>
                <a:ea typeface="Roboto"/>
              </a:rPr>
              <a:t>Watch video on YouTube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11343960" y="5209920"/>
            <a:ext cx="771840" cy="267120"/>
          </a:xfrm>
          <a:custGeom>
            <a:avLst/>
            <a:gdLst/>
            <a:ahLst/>
            <a:rect l="0" t="0" r="r" b="b"/>
            <a:pathLst>
              <a:path w="2144" h="742">
                <a:moveTo>
                  <a:pt x="0" y="424"/>
                </a:moveTo>
                <a:lnTo>
                  <a:pt x="0" y="318"/>
                </a:lnTo>
                <a:cubicBezTo>
                  <a:pt x="0" y="297"/>
                  <a:pt x="2" y="276"/>
                  <a:pt x="6" y="256"/>
                </a:cubicBezTo>
                <a:cubicBezTo>
                  <a:pt x="11" y="235"/>
                  <a:pt x="17" y="215"/>
                  <a:pt x="25" y="196"/>
                </a:cubicBezTo>
                <a:cubicBezTo>
                  <a:pt x="33" y="177"/>
                  <a:pt x="42" y="159"/>
                  <a:pt x="54" y="141"/>
                </a:cubicBezTo>
                <a:cubicBezTo>
                  <a:pt x="65" y="124"/>
                  <a:pt x="79" y="108"/>
                  <a:pt x="93" y="93"/>
                </a:cubicBezTo>
                <a:cubicBezTo>
                  <a:pt x="108" y="78"/>
                  <a:pt x="124" y="65"/>
                  <a:pt x="141" y="54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6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1827" y="0"/>
                </a:lnTo>
                <a:cubicBezTo>
                  <a:pt x="1848" y="0"/>
                  <a:pt x="1868" y="2"/>
                  <a:pt x="1889" y="6"/>
                </a:cubicBezTo>
                <a:cubicBezTo>
                  <a:pt x="1909" y="10"/>
                  <a:pt x="1929" y="16"/>
                  <a:pt x="1948" y="24"/>
                </a:cubicBezTo>
                <a:cubicBezTo>
                  <a:pt x="1968" y="32"/>
                  <a:pt x="1986" y="42"/>
                  <a:pt x="2003" y="54"/>
                </a:cubicBezTo>
                <a:cubicBezTo>
                  <a:pt x="2021" y="65"/>
                  <a:pt x="2037" y="78"/>
                  <a:pt x="2052" y="93"/>
                </a:cubicBezTo>
                <a:cubicBezTo>
                  <a:pt x="2066" y="108"/>
                  <a:pt x="2079" y="124"/>
                  <a:pt x="2091" y="141"/>
                </a:cubicBezTo>
                <a:cubicBezTo>
                  <a:pt x="2103" y="159"/>
                  <a:pt x="2112" y="177"/>
                  <a:pt x="2120" y="196"/>
                </a:cubicBezTo>
                <a:cubicBezTo>
                  <a:pt x="2128" y="215"/>
                  <a:pt x="2134" y="235"/>
                  <a:pt x="2138" y="256"/>
                </a:cubicBezTo>
                <a:cubicBezTo>
                  <a:pt x="2142" y="276"/>
                  <a:pt x="2144" y="297"/>
                  <a:pt x="2144" y="318"/>
                </a:cubicBezTo>
                <a:lnTo>
                  <a:pt x="2144" y="424"/>
                </a:lnTo>
                <a:cubicBezTo>
                  <a:pt x="2144" y="444"/>
                  <a:pt x="2142" y="465"/>
                  <a:pt x="2138" y="485"/>
                </a:cubicBezTo>
                <a:cubicBezTo>
                  <a:pt x="2134" y="506"/>
                  <a:pt x="2128" y="526"/>
                  <a:pt x="2120" y="545"/>
                </a:cubicBezTo>
                <a:cubicBezTo>
                  <a:pt x="2112" y="564"/>
                  <a:pt x="2103" y="583"/>
                  <a:pt x="2091" y="600"/>
                </a:cubicBezTo>
                <a:cubicBezTo>
                  <a:pt x="2079" y="617"/>
                  <a:pt x="2066" y="633"/>
                  <a:pt x="2052" y="648"/>
                </a:cubicBezTo>
                <a:cubicBezTo>
                  <a:pt x="2037" y="663"/>
                  <a:pt x="2021" y="676"/>
                  <a:pt x="2003" y="688"/>
                </a:cubicBezTo>
                <a:cubicBezTo>
                  <a:pt x="1986" y="700"/>
                  <a:pt x="1968" y="710"/>
                  <a:pt x="1948" y="718"/>
                </a:cubicBezTo>
                <a:cubicBezTo>
                  <a:pt x="1929" y="726"/>
                  <a:pt x="1909" y="732"/>
                  <a:pt x="1889" y="736"/>
                </a:cubicBezTo>
                <a:cubicBezTo>
                  <a:pt x="1868" y="740"/>
                  <a:pt x="1848" y="742"/>
                  <a:pt x="1827" y="742"/>
                </a:cubicBezTo>
                <a:lnTo>
                  <a:pt x="318" y="742"/>
                </a:lnTo>
                <a:cubicBezTo>
                  <a:pt x="297" y="742"/>
                  <a:pt x="276" y="740"/>
                  <a:pt x="256" y="736"/>
                </a:cubicBezTo>
                <a:cubicBezTo>
                  <a:pt x="235" y="732"/>
                  <a:pt x="216" y="726"/>
                  <a:pt x="196" y="718"/>
                </a:cubicBezTo>
                <a:cubicBezTo>
                  <a:pt x="177" y="710"/>
                  <a:pt x="159" y="700"/>
                  <a:pt x="141" y="688"/>
                </a:cubicBezTo>
                <a:cubicBezTo>
                  <a:pt x="124" y="676"/>
                  <a:pt x="108" y="663"/>
                  <a:pt x="93" y="648"/>
                </a:cubicBezTo>
                <a:cubicBezTo>
                  <a:pt x="79" y="633"/>
                  <a:pt x="65" y="617"/>
                  <a:pt x="54" y="600"/>
                </a:cubicBezTo>
                <a:cubicBezTo>
                  <a:pt x="42" y="583"/>
                  <a:pt x="33" y="564"/>
                  <a:pt x="25" y="545"/>
                </a:cubicBezTo>
                <a:cubicBezTo>
                  <a:pt x="17" y="526"/>
                  <a:pt x="11" y="506"/>
                  <a:pt x="6" y="485"/>
                </a:cubicBezTo>
                <a:cubicBezTo>
                  <a:pt x="2" y="465"/>
                  <a:pt x="0" y="444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650360" y="5181840"/>
            <a:ext cx="67860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Learn more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11457360" y="5248440"/>
            <a:ext cx="553320" cy="178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ababab"/>
                </a:solidFill>
                <a:effectLst/>
                <a:uFillTx/>
                <a:latin typeface="Roboto"/>
                <a:ea typeface="Roboto"/>
              </a:rPr>
              <a:t>Error 153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733428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6858000" y="372600"/>
            <a:ext cx="34513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Case Study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733428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7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7" name=""/>
          <p:cNvSpPr txBox="1"/>
          <p:nvPr/>
        </p:nvSpPr>
        <p:spPr>
          <a:xfrm>
            <a:off x="762120" y="1783080"/>
            <a:ext cx="268344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Bullet Proof Fridges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762120" y="5537520"/>
            <a:ext cx="8636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built with heavy steel, thick insulation, and very long lifespans (some lasted 40+ years).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766440" y="2385720"/>
            <a:ext cx="3486600" cy="3000960"/>
          </a:xfrm>
          <a:custGeom>
            <a:avLst/>
            <a:gdLst/>
            <a:ahLst/>
            <a:rect l="0" t="0" r="r" b="b"/>
            <a:pathLst>
              <a:path w="9685" h="8336">
                <a:moveTo>
                  <a:pt x="0" y="819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8"/>
                  <a:pt x="9595" y="11"/>
                </a:cubicBezTo>
                <a:cubicBezTo>
                  <a:pt x="9604" y="15"/>
                  <a:pt x="9613" y="20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50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8190"/>
                </a:lnTo>
                <a:cubicBezTo>
                  <a:pt x="9685" y="8200"/>
                  <a:pt x="9684" y="8209"/>
                  <a:pt x="9682" y="8219"/>
                </a:cubicBezTo>
                <a:cubicBezTo>
                  <a:pt x="9680" y="8228"/>
                  <a:pt x="9678" y="8237"/>
                  <a:pt x="9674" y="8246"/>
                </a:cubicBezTo>
                <a:cubicBezTo>
                  <a:pt x="9670" y="8255"/>
                  <a:pt x="9666" y="8263"/>
                  <a:pt x="9661" y="8271"/>
                </a:cubicBezTo>
                <a:cubicBezTo>
                  <a:pt x="9655" y="8279"/>
                  <a:pt x="9649" y="8286"/>
                  <a:pt x="9643" y="8293"/>
                </a:cubicBezTo>
                <a:cubicBezTo>
                  <a:pt x="9636" y="8300"/>
                  <a:pt x="9628" y="8306"/>
                  <a:pt x="9620" y="8311"/>
                </a:cubicBezTo>
                <a:cubicBezTo>
                  <a:pt x="9613" y="8316"/>
                  <a:pt x="9604" y="8321"/>
                  <a:pt x="9595" y="8325"/>
                </a:cubicBezTo>
                <a:cubicBezTo>
                  <a:pt x="9586" y="8328"/>
                  <a:pt x="9577" y="8331"/>
                  <a:pt x="9568" y="8333"/>
                </a:cubicBezTo>
                <a:cubicBezTo>
                  <a:pt x="9559" y="8335"/>
                  <a:pt x="9549" y="8336"/>
                  <a:pt x="9540" y="8336"/>
                </a:cubicBezTo>
                <a:lnTo>
                  <a:pt x="146" y="8336"/>
                </a:lnTo>
                <a:cubicBezTo>
                  <a:pt x="136" y="8336"/>
                  <a:pt x="127" y="8335"/>
                  <a:pt x="118" y="8333"/>
                </a:cubicBezTo>
                <a:cubicBezTo>
                  <a:pt x="108" y="8331"/>
                  <a:pt x="99" y="8328"/>
                  <a:pt x="90" y="8325"/>
                </a:cubicBezTo>
                <a:cubicBezTo>
                  <a:pt x="81" y="8321"/>
                  <a:pt x="73" y="8316"/>
                  <a:pt x="65" y="8311"/>
                </a:cubicBezTo>
                <a:cubicBezTo>
                  <a:pt x="57" y="8306"/>
                  <a:pt x="50" y="8300"/>
                  <a:pt x="43" y="8293"/>
                </a:cubicBezTo>
                <a:cubicBezTo>
                  <a:pt x="36" y="8286"/>
                  <a:pt x="30" y="8279"/>
                  <a:pt x="25" y="8271"/>
                </a:cubicBezTo>
                <a:cubicBezTo>
                  <a:pt x="20" y="8263"/>
                  <a:pt x="15" y="8255"/>
                  <a:pt x="11" y="8246"/>
                </a:cubicBezTo>
                <a:cubicBezTo>
                  <a:pt x="8" y="8237"/>
                  <a:pt x="5" y="8228"/>
                  <a:pt x="3" y="8219"/>
                </a:cubicBezTo>
                <a:cubicBezTo>
                  <a:pt x="1" y="8209"/>
                  <a:pt x="0" y="8200"/>
                  <a:pt x="0" y="819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766440" y="2385720"/>
            <a:ext cx="3486600" cy="3000960"/>
          </a:xfrm>
          <a:custGeom>
            <a:avLst/>
            <a:gdLst/>
            <a:ahLst/>
            <a:rect l="0" t="0" r="r" b="b"/>
            <a:pathLst>
              <a:path fill="none" w="9685" h="8336">
                <a:moveTo>
                  <a:pt x="0" y="819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8"/>
                  <a:pt x="9595" y="11"/>
                </a:cubicBezTo>
                <a:cubicBezTo>
                  <a:pt x="9604" y="15"/>
                  <a:pt x="9613" y="20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50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8190"/>
                </a:lnTo>
                <a:cubicBezTo>
                  <a:pt x="9685" y="8200"/>
                  <a:pt x="9684" y="8209"/>
                  <a:pt x="9682" y="8219"/>
                </a:cubicBezTo>
                <a:cubicBezTo>
                  <a:pt x="9680" y="8228"/>
                  <a:pt x="9678" y="8237"/>
                  <a:pt x="9674" y="8246"/>
                </a:cubicBezTo>
                <a:cubicBezTo>
                  <a:pt x="9670" y="8255"/>
                  <a:pt x="9666" y="8263"/>
                  <a:pt x="9661" y="8271"/>
                </a:cubicBezTo>
                <a:cubicBezTo>
                  <a:pt x="9655" y="8279"/>
                  <a:pt x="9649" y="8286"/>
                  <a:pt x="9643" y="8293"/>
                </a:cubicBezTo>
                <a:cubicBezTo>
                  <a:pt x="9636" y="8300"/>
                  <a:pt x="9628" y="8306"/>
                  <a:pt x="9620" y="8311"/>
                </a:cubicBezTo>
                <a:cubicBezTo>
                  <a:pt x="9613" y="8316"/>
                  <a:pt x="9604" y="8321"/>
                  <a:pt x="9595" y="8325"/>
                </a:cubicBezTo>
                <a:cubicBezTo>
                  <a:pt x="9586" y="8328"/>
                  <a:pt x="9577" y="8331"/>
                  <a:pt x="9568" y="8333"/>
                </a:cubicBezTo>
                <a:cubicBezTo>
                  <a:pt x="9559" y="8335"/>
                  <a:pt x="9549" y="8336"/>
                  <a:pt x="9540" y="8336"/>
                </a:cubicBezTo>
                <a:lnTo>
                  <a:pt x="146" y="8336"/>
                </a:lnTo>
                <a:cubicBezTo>
                  <a:pt x="136" y="8336"/>
                  <a:pt x="127" y="8335"/>
                  <a:pt x="118" y="8333"/>
                </a:cubicBezTo>
                <a:cubicBezTo>
                  <a:pt x="108" y="8331"/>
                  <a:pt x="99" y="8328"/>
                  <a:pt x="90" y="8325"/>
                </a:cubicBezTo>
                <a:cubicBezTo>
                  <a:pt x="81" y="8321"/>
                  <a:pt x="73" y="8316"/>
                  <a:pt x="65" y="8311"/>
                </a:cubicBezTo>
                <a:cubicBezTo>
                  <a:pt x="57" y="8306"/>
                  <a:pt x="50" y="8300"/>
                  <a:pt x="43" y="8293"/>
                </a:cubicBezTo>
                <a:cubicBezTo>
                  <a:pt x="36" y="8286"/>
                  <a:pt x="30" y="8279"/>
                  <a:pt x="25" y="8271"/>
                </a:cubicBezTo>
                <a:cubicBezTo>
                  <a:pt x="20" y="8263"/>
                  <a:pt x="15" y="8255"/>
                  <a:pt x="11" y="8246"/>
                </a:cubicBezTo>
                <a:cubicBezTo>
                  <a:pt x="8" y="8237"/>
                  <a:pt x="5" y="8228"/>
                  <a:pt x="3" y="8219"/>
                </a:cubicBezTo>
                <a:cubicBezTo>
                  <a:pt x="1" y="8209"/>
                  <a:pt x="0" y="8200"/>
                  <a:pt x="0" y="819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1104840" y="307656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3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8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1289520" y="2985480"/>
            <a:ext cx="2749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First household electric fridges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1289520" y="3261600"/>
            <a:ext cx="2804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became commercially available,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/>
          <p:nvPr/>
        </p:nvSpPr>
        <p:spPr>
          <a:xfrm>
            <a:off x="1104840" y="395280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1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7"/>
                  <a:pt x="40" y="11"/>
                  <a:pt x="50" y="7"/>
                </a:cubicBezTo>
                <a:cubicBezTo>
                  <a:pt x="59" y="3"/>
                  <a:pt x="70" y="0"/>
                  <a:pt x="80" y="0"/>
                </a:cubicBezTo>
                <a:cubicBezTo>
                  <a:pt x="91" y="0"/>
                  <a:pt x="101" y="3"/>
                  <a:pt x="110" y="7"/>
                </a:cubicBezTo>
                <a:cubicBezTo>
                  <a:pt x="120" y="11"/>
                  <a:pt x="129" y="17"/>
                  <a:pt x="136" y="24"/>
                </a:cubicBezTo>
                <a:cubicBezTo>
                  <a:pt x="144" y="31"/>
                  <a:pt x="149" y="40"/>
                  <a:pt x="153" y="50"/>
                </a:cubicBezTo>
                <a:cubicBezTo>
                  <a:pt x="157" y="59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289520" y="3538080"/>
            <a:ext cx="1719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replacing iceboxes.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1289520" y="3861720"/>
            <a:ext cx="2588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Introduced sealed refrigerant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289520" y="4128480"/>
            <a:ext cx="2607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 (using toxic gases at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1104840" y="48193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1289520" y="4404600"/>
            <a:ext cx="1962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ﬁrst, later safer ones).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1289520" y="4728600"/>
            <a:ext cx="2156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Improved food safety by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942840" y="26002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4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49"/>
                  <a:pt x="510" y="365"/>
                </a:cubicBezTo>
                <a:cubicBezTo>
                  <a:pt x="503" y="382"/>
                  <a:pt x="495" y="397"/>
                  <a:pt x="485" y="411"/>
                </a:cubicBezTo>
                <a:cubicBezTo>
                  <a:pt x="476" y="426"/>
                  <a:pt x="465" y="439"/>
                  <a:pt x="453" y="452"/>
                </a:cubicBezTo>
                <a:cubicBezTo>
                  <a:pt x="440" y="465"/>
                  <a:pt x="427" y="476"/>
                  <a:pt x="412" y="485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6"/>
                  <a:pt x="334" y="521"/>
                  <a:pt x="317" y="525"/>
                </a:cubicBezTo>
                <a:cubicBezTo>
                  <a:pt x="300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7" y="485"/>
                </a:cubicBezTo>
                <a:cubicBezTo>
                  <a:pt x="103" y="476"/>
                  <a:pt x="90" y="465"/>
                  <a:pt x="77" y="452"/>
                </a:cubicBezTo>
                <a:cubicBezTo>
                  <a:pt x="65" y="439"/>
                  <a:pt x="54" y="426"/>
                  <a:pt x="44" y="411"/>
                </a:cubicBezTo>
                <a:cubicBezTo>
                  <a:pt x="35" y="397"/>
                  <a:pt x="27" y="382"/>
                  <a:pt x="20" y="365"/>
                </a:cubicBezTo>
                <a:cubicBezTo>
                  <a:pt x="13" y="349"/>
                  <a:pt x="8" y="333"/>
                  <a:pt x="5" y="316"/>
                </a:cubicBezTo>
                <a:cubicBezTo>
                  <a:pt x="2" y="299"/>
                  <a:pt x="0" y="282"/>
                  <a:pt x="0" y="264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ubicBezTo>
                  <a:pt x="282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2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5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4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1037880" y="265716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1289520" y="5004720"/>
            <a:ext cx="1539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slowing spoilage.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4357440" y="2385720"/>
            <a:ext cx="3476880" cy="3000960"/>
          </a:xfrm>
          <a:custGeom>
            <a:avLst/>
            <a:gdLst/>
            <a:ahLst/>
            <a:rect l="0" t="0" r="r" b="b"/>
            <a:pathLst>
              <a:path w="9658" h="8336">
                <a:moveTo>
                  <a:pt x="0" y="819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8"/>
                  <a:pt x="9569" y="11"/>
                </a:cubicBezTo>
                <a:cubicBezTo>
                  <a:pt x="9577" y="15"/>
                  <a:pt x="9586" y="20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50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8190"/>
                </a:lnTo>
                <a:cubicBezTo>
                  <a:pt x="9658" y="8200"/>
                  <a:pt x="9658" y="8209"/>
                  <a:pt x="9656" y="8219"/>
                </a:cubicBezTo>
                <a:cubicBezTo>
                  <a:pt x="9654" y="8228"/>
                  <a:pt x="9651" y="8237"/>
                  <a:pt x="9647" y="8246"/>
                </a:cubicBezTo>
                <a:cubicBezTo>
                  <a:pt x="9644" y="8255"/>
                  <a:pt x="9639" y="8263"/>
                  <a:pt x="9634" y="8271"/>
                </a:cubicBezTo>
                <a:cubicBezTo>
                  <a:pt x="9629" y="8279"/>
                  <a:pt x="9623" y="8286"/>
                  <a:pt x="9616" y="8293"/>
                </a:cubicBezTo>
                <a:cubicBezTo>
                  <a:pt x="9609" y="8300"/>
                  <a:pt x="9602" y="8306"/>
                  <a:pt x="9594" y="8311"/>
                </a:cubicBezTo>
                <a:cubicBezTo>
                  <a:pt x="9586" y="8316"/>
                  <a:pt x="9577" y="8321"/>
                  <a:pt x="9569" y="8325"/>
                </a:cubicBezTo>
                <a:cubicBezTo>
                  <a:pt x="9560" y="8328"/>
                  <a:pt x="9551" y="8331"/>
                  <a:pt x="9541" y="8333"/>
                </a:cubicBezTo>
                <a:cubicBezTo>
                  <a:pt x="9532" y="8335"/>
                  <a:pt x="9523" y="8336"/>
                  <a:pt x="9513" y="8336"/>
                </a:cubicBezTo>
                <a:lnTo>
                  <a:pt x="146" y="8336"/>
                </a:lnTo>
                <a:cubicBezTo>
                  <a:pt x="136" y="8336"/>
                  <a:pt x="127" y="8335"/>
                  <a:pt x="117" y="8333"/>
                </a:cubicBezTo>
                <a:cubicBezTo>
                  <a:pt x="108" y="8331"/>
                  <a:pt x="99" y="8328"/>
                  <a:pt x="90" y="8325"/>
                </a:cubicBezTo>
                <a:cubicBezTo>
                  <a:pt x="81" y="8321"/>
                  <a:pt x="73" y="8316"/>
                  <a:pt x="65" y="8311"/>
                </a:cubicBezTo>
                <a:cubicBezTo>
                  <a:pt x="57" y="8306"/>
                  <a:pt x="50" y="8300"/>
                  <a:pt x="43" y="8293"/>
                </a:cubicBezTo>
                <a:cubicBezTo>
                  <a:pt x="36" y="8286"/>
                  <a:pt x="30" y="8279"/>
                  <a:pt x="25" y="8271"/>
                </a:cubicBezTo>
                <a:cubicBezTo>
                  <a:pt x="19" y="8263"/>
                  <a:pt x="15" y="8255"/>
                  <a:pt x="11" y="8246"/>
                </a:cubicBezTo>
                <a:cubicBezTo>
                  <a:pt x="8" y="8237"/>
                  <a:pt x="5" y="8228"/>
                  <a:pt x="3" y="8219"/>
                </a:cubicBezTo>
                <a:cubicBezTo>
                  <a:pt x="1" y="8209"/>
                  <a:pt x="0" y="8200"/>
                  <a:pt x="0" y="819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4357440" y="2385720"/>
            <a:ext cx="3476880" cy="3000960"/>
          </a:xfrm>
          <a:custGeom>
            <a:avLst/>
            <a:gdLst/>
            <a:ahLst/>
            <a:rect l="0" t="0" r="r" b="b"/>
            <a:pathLst>
              <a:path fill="none" w="9658" h="8336">
                <a:moveTo>
                  <a:pt x="0" y="8190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8"/>
                  <a:pt x="9569" y="11"/>
                </a:cubicBezTo>
                <a:cubicBezTo>
                  <a:pt x="9577" y="15"/>
                  <a:pt x="9586" y="20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50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8190"/>
                </a:lnTo>
                <a:cubicBezTo>
                  <a:pt x="9658" y="8200"/>
                  <a:pt x="9658" y="8209"/>
                  <a:pt x="9656" y="8219"/>
                </a:cubicBezTo>
                <a:cubicBezTo>
                  <a:pt x="9654" y="8228"/>
                  <a:pt x="9651" y="8237"/>
                  <a:pt x="9647" y="8246"/>
                </a:cubicBezTo>
                <a:cubicBezTo>
                  <a:pt x="9644" y="8255"/>
                  <a:pt x="9639" y="8263"/>
                  <a:pt x="9634" y="8271"/>
                </a:cubicBezTo>
                <a:cubicBezTo>
                  <a:pt x="9629" y="8279"/>
                  <a:pt x="9623" y="8286"/>
                  <a:pt x="9616" y="8293"/>
                </a:cubicBezTo>
                <a:cubicBezTo>
                  <a:pt x="9609" y="8300"/>
                  <a:pt x="9602" y="8306"/>
                  <a:pt x="9594" y="8311"/>
                </a:cubicBezTo>
                <a:cubicBezTo>
                  <a:pt x="9586" y="8316"/>
                  <a:pt x="9577" y="8321"/>
                  <a:pt x="9569" y="8325"/>
                </a:cubicBezTo>
                <a:cubicBezTo>
                  <a:pt x="9560" y="8328"/>
                  <a:pt x="9551" y="8331"/>
                  <a:pt x="9541" y="8333"/>
                </a:cubicBezTo>
                <a:cubicBezTo>
                  <a:pt x="9532" y="8335"/>
                  <a:pt x="9523" y="8336"/>
                  <a:pt x="9513" y="8336"/>
                </a:cubicBezTo>
                <a:lnTo>
                  <a:pt x="146" y="8336"/>
                </a:lnTo>
                <a:cubicBezTo>
                  <a:pt x="136" y="8336"/>
                  <a:pt x="127" y="8335"/>
                  <a:pt x="117" y="8333"/>
                </a:cubicBezTo>
                <a:cubicBezTo>
                  <a:pt x="108" y="8331"/>
                  <a:pt x="99" y="8328"/>
                  <a:pt x="90" y="8325"/>
                </a:cubicBezTo>
                <a:cubicBezTo>
                  <a:pt x="81" y="8321"/>
                  <a:pt x="73" y="8316"/>
                  <a:pt x="65" y="8311"/>
                </a:cubicBezTo>
                <a:cubicBezTo>
                  <a:pt x="57" y="8306"/>
                  <a:pt x="50" y="8300"/>
                  <a:pt x="43" y="8293"/>
                </a:cubicBezTo>
                <a:cubicBezTo>
                  <a:pt x="36" y="8286"/>
                  <a:pt x="30" y="8279"/>
                  <a:pt x="25" y="8271"/>
                </a:cubicBezTo>
                <a:cubicBezTo>
                  <a:pt x="19" y="8263"/>
                  <a:pt x="15" y="8255"/>
                  <a:pt x="11" y="8246"/>
                </a:cubicBezTo>
                <a:cubicBezTo>
                  <a:pt x="8" y="8237"/>
                  <a:pt x="5" y="8228"/>
                  <a:pt x="3" y="8219"/>
                </a:cubicBezTo>
                <a:cubicBezTo>
                  <a:pt x="1" y="8209"/>
                  <a:pt x="0" y="8200"/>
                  <a:pt x="0" y="819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4695480" y="3076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49" y="120"/>
                  <a:pt x="143" y="129"/>
                  <a:pt x="136" y="136"/>
                </a:cubicBezTo>
                <a:cubicBezTo>
                  <a:pt x="129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3" y="30"/>
                  <a:pt x="149" y="39"/>
                  <a:pt x="154" y="49"/>
                </a:cubicBezTo>
                <a:cubicBezTo>
                  <a:pt x="158" y="58"/>
                  <a:pt x="160" y="69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203120" y="2588760"/>
            <a:ext cx="1352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1920s, 30's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4877280" y="2985480"/>
            <a:ext cx="2551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Mass adoption after WWII, as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4877280" y="3261600"/>
            <a:ext cx="2681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manufacturing shifted back 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4695480" y="39528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49" y="120"/>
                  <a:pt x="143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0" y="3"/>
                  <a:pt x="110" y="7"/>
                </a:cubicBezTo>
                <a:cubicBezTo>
                  <a:pt x="120" y="11"/>
                  <a:pt x="129" y="17"/>
                  <a:pt x="136" y="24"/>
                </a:cubicBezTo>
                <a:cubicBezTo>
                  <a:pt x="143" y="31"/>
                  <a:pt x="149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4877280" y="3538080"/>
            <a:ext cx="1537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consumer goods.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4877280" y="3861720"/>
            <a:ext cx="2739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More reliable compressors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4695480" y="4543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49" y="121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1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4877280" y="4128480"/>
            <a:ext cx="2270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safer refrigerants (Freon).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4877280" y="4452480"/>
            <a:ext cx="2414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First freezer compartments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4877280" y="4728600"/>
            <a:ext cx="2579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introduced for limited frozen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4533840" y="26002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4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1" y="333"/>
                  <a:pt x="516" y="349"/>
                  <a:pt x="510" y="365"/>
                </a:cubicBezTo>
                <a:cubicBezTo>
                  <a:pt x="503" y="382"/>
                  <a:pt x="495" y="397"/>
                  <a:pt x="485" y="411"/>
                </a:cubicBezTo>
                <a:cubicBezTo>
                  <a:pt x="476" y="426"/>
                  <a:pt x="465" y="439"/>
                  <a:pt x="452" y="452"/>
                </a:cubicBezTo>
                <a:cubicBezTo>
                  <a:pt x="440" y="465"/>
                  <a:pt x="427" y="476"/>
                  <a:pt x="412" y="485"/>
                </a:cubicBezTo>
                <a:cubicBezTo>
                  <a:pt x="398" y="495"/>
                  <a:pt x="383" y="503"/>
                  <a:pt x="366" y="510"/>
                </a:cubicBezTo>
                <a:cubicBezTo>
                  <a:pt x="349" y="516"/>
                  <a:pt x="333" y="521"/>
                  <a:pt x="316" y="525"/>
                </a:cubicBezTo>
                <a:cubicBezTo>
                  <a:pt x="299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7" y="485"/>
                </a:cubicBezTo>
                <a:cubicBezTo>
                  <a:pt x="103" y="476"/>
                  <a:pt x="89" y="465"/>
                  <a:pt x="77" y="452"/>
                </a:cubicBezTo>
                <a:cubicBezTo>
                  <a:pt x="65" y="439"/>
                  <a:pt x="54" y="426"/>
                  <a:pt x="44" y="411"/>
                </a:cubicBezTo>
                <a:cubicBezTo>
                  <a:pt x="35" y="397"/>
                  <a:pt x="26" y="382"/>
                  <a:pt x="20" y="365"/>
                </a:cubicBezTo>
                <a:cubicBezTo>
                  <a:pt x="13" y="349"/>
                  <a:pt x="8" y="333"/>
                  <a:pt x="5" y="316"/>
                </a:cubicBezTo>
                <a:cubicBezTo>
                  <a:pt x="1" y="299"/>
                  <a:pt x="0" y="282"/>
                  <a:pt x="0" y="264"/>
                </a:cubicBez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89" y="65"/>
                  <a:pt x="103" y="54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ubicBezTo>
                  <a:pt x="282" y="0"/>
                  <a:pt x="299" y="1"/>
                  <a:pt x="316" y="5"/>
                </a:cubicBezTo>
                <a:cubicBezTo>
                  <a:pt x="333" y="8"/>
                  <a:pt x="349" y="13"/>
                  <a:pt x="366" y="20"/>
                </a:cubicBezTo>
                <a:cubicBezTo>
                  <a:pt x="383" y="26"/>
                  <a:pt x="398" y="35"/>
                  <a:pt x="412" y="44"/>
                </a:cubicBezTo>
                <a:cubicBezTo>
                  <a:pt x="427" y="54"/>
                  <a:pt x="440" y="65"/>
                  <a:pt x="452" y="77"/>
                </a:cubicBezTo>
                <a:cubicBezTo>
                  <a:pt x="465" y="89"/>
                  <a:pt x="476" y="103"/>
                  <a:pt x="485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6" y="179"/>
                  <a:pt x="521" y="196"/>
                  <a:pt x="525" y="213"/>
                </a:cubicBezTo>
                <a:cubicBezTo>
                  <a:pt x="528" y="230"/>
                  <a:pt x="530" y="247"/>
                  <a:pt x="530" y="264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4628880" y="265716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4877280" y="5004720"/>
            <a:ext cx="724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storage.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7939080" y="2385720"/>
            <a:ext cx="3486240" cy="3000960"/>
          </a:xfrm>
          <a:custGeom>
            <a:avLst/>
            <a:gdLst/>
            <a:ahLst/>
            <a:rect l="0" t="0" r="r" b="b"/>
            <a:pathLst>
              <a:path w="9684" h="8336">
                <a:moveTo>
                  <a:pt x="0" y="8190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8"/>
                  <a:pt x="9594" y="11"/>
                </a:cubicBezTo>
                <a:cubicBezTo>
                  <a:pt x="9603" y="15"/>
                  <a:pt x="9612" y="20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50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8190"/>
                </a:lnTo>
                <a:cubicBezTo>
                  <a:pt x="9684" y="8200"/>
                  <a:pt x="9683" y="8209"/>
                  <a:pt x="9681" y="8219"/>
                </a:cubicBezTo>
                <a:cubicBezTo>
                  <a:pt x="9680" y="8228"/>
                  <a:pt x="9677" y="8237"/>
                  <a:pt x="9673" y="8246"/>
                </a:cubicBezTo>
                <a:cubicBezTo>
                  <a:pt x="9670" y="8255"/>
                  <a:pt x="9665" y="8263"/>
                  <a:pt x="9660" y="8271"/>
                </a:cubicBezTo>
                <a:cubicBezTo>
                  <a:pt x="9654" y="8279"/>
                  <a:pt x="9648" y="8286"/>
                  <a:pt x="9642" y="8293"/>
                </a:cubicBezTo>
                <a:cubicBezTo>
                  <a:pt x="9635" y="8300"/>
                  <a:pt x="9628" y="8306"/>
                  <a:pt x="9620" y="8311"/>
                </a:cubicBezTo>
                <a:cubicBezTo>
                  <a:pt x="9612" y="8316"/>
                  <a:pt x="9603" y="8321"/>
                  <a:pt x="9594" y="8325"/>
                </a:cubicBezTo>
                <a:cubicBezTo>
                  <a:pt x="9586" y="8328"/>
                  <a:pt x="9577" y="8331"/>
                  <a:pt x="9567" y="8333"/>
                </a:cubicBezTo>
                <a:cubicBezTo>
                  <a:pt x="9558" y="8335"/>
                  <a:pt x="9548" y="8336"/>
                  <a:pt x="9539" y="8336"/>
                </a:cubicBezTo>
                <a:lnTo>
                  <a:pt x="145" y="8336"/>
                </a:lnTo>
                <a:cubicBezTo>
                  <a:pt x="135" y="8336"/>
                  <a:pt x="126" y="8335"/>
                  <a:pt x="117" y="8333"/>
                </a:cubicBezTo>
                <a:cubicBezTo>
                  <a:pt x="107" y="8331"/>
                  <a:pt x="98" y="8328"/>
                  <a:pt x="89" y="8325"/>
                </a:cubicBezTo>
                <a:cubicBezTo>
                  <a:pt x="81" y="8321"/>
                  <a:pt x="72" y="8316"/>
                  <a:pt x="64" y="8311"/>
                </a:cubicBezTo>
                <a:cubicBezTo>
                  <a:pt x="56" y="8306"/>
                  <a:pt x="49" y="8300"/>
                  <a:pt x="42" y="8293"/>
                </a:cubicBezTo>
                <a:cubicBezTo>
                  <a:pt x="35" y="8286"/>
                  <a:pt x="29" y="8279"/>
                  <a:pt x="24" y="8271"/>
                </a:cubicBezTo>
                <a:cubicBezTo>
                  <a:pt x="19" y="8263"/>
                  <a:pt x="14" y="8255"/>
                  <a:pt x="11" y="8246"/>
                </a:cubicBezTo>
                <a:cubicBezTo>
                  <a:pt x="7" y="8237"/>
                  <a:pt x="4" y="8228"/>
                  <a:pt x="2" y="8219"/>
                </a:cubicBezTo>
                <a:cubicBezTo>
                  <a:pt x="0" y="8209"/>
                  <a:pt x="0" y="8200"/>
                  <a:pt x="0" y="819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7939080" y="2385720"/>
            <a:ext cx="3486240" cy="3000960"/>
          </a:xfrm>
          <a:custGeom>
            <a:avLst/>
            <a:gdLst/>
            <a:ahLst/>
            <a:rect l="0" t="0" r="r" b="b"/>
            <a:pathLst>
              <a:path fill="none" w="9684" h="8336">
                <a:moveTo>
                  <a:pt x="0" y="8190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8"/>
                  <a:pt x="9594" y="11"/>
                </a:cubicBezTo>
                <a:cubicBezTo>
                  <a:pt x="9603" y="15"/>
                  <a:pt x="9612" y="20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50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8190"/>
                </a:lnTo>
                <a:cubicBezTo>
                  <a:pt x="9684" y="8200"/>
                  <a:pt x="9683" y="8209"/>
                  <a:pt x="9681" y="8219"/>
                </a:cubicBezTo>
                <a:cubicBezTo>
                  <a:pt x="9680" y="8228"/>
                  <a:pt x="9677" y="8237"/>
                  <a:pt x="9673" y="8246"/>
                </a:cubicBezTo>
                <a:cubicBezTo>
                  <a:pt x="9670" y="8255"/>
                  <a:pt x="9665" y="8263"/>
                  <a:pt x="9660" y="8271"/>
                </a:cubicBezTo>
                <a:cubicBezTo>
                  <a:pt x="9654" y="8279"/>
                  <a:pt x="9648" y="8286"/>
                  <a:pt x="9642" y="8293"/>
                </a:cubicBezTo>
                <a:cubicBezTo>
                  <a:pt x="9635" y="8300"/>
                  <a:pt x="9628" y="8306"/>
                  <a:pt x="9620" y="8311"/>
                </a:cubicBezTo>
                <a:cubicBezTo>
                  <a:pt x="9612" y="8316"/>
                  <a:pt x="9603" y="8321"/>
                  <a:pt x="9594" y="8325"/>
                </a:cubicBezTo>
                <a:cubicBezTo>
                  <a:pt x="9586" y="8328"/>
                  <a:pt x="9577" y="8331"/>
                  <a:pt x="9567" y="8333"/>
                </a:cubicBezTo>
                <a:cubicBezTo>
                  <a:pt x="9558" y="8335"/>
                  <a:pt x="9548" y="8336"/>
                  <a:pt x="9539" y="8336"/>
                </a:cubicBezTo>
                <a:lnTo>
                  <a:pt x="145" y="8336"/>
                </a:lnTo>
                <a:cubicBezTo>
                  <a:pt x="135" y="8336"/>
                  <a:pt x="126" y="8335"/>
                  <a:pt x="117" y="8333"/>
                </a:cubicBezTo>
                <a:cubicBezTo>
                  <a:pt x="107" y="8331"/>
                  <a:pt x="98" y="8328"/>
                  <a:pt x="89" y="8325"/>
                </a:cubicBezTo>
                <a:cubicBezTo>
                  <a:pt x="81" y="8321"/>
                  <a:pt x="72" y="8316"/>
                  <a:pt x="64" y="8311"/>
                </a:cubicBezTo>
                <a:cubicBezTo>
                  <a:pt x="56" y="8306"/>
                  <a:pt x="49" y="8300"/>
                  <a:pt x="42" y="8293"/>
                </a:cubicBezTo>
                <a:cubicBezTo>
                  <a:pt x="35" y="8286"/>
                  <a:pt x="29" y="8279"/>
                  <a:pt x="24" y="8271"/>
                </a:cubicBezTo>
                <a:cubicBezTo>
                  <a:pt x="19" y="8263"/>
                  <a:pt x="14" y="8255"/>
                  <a:pt x="11" y="8246"/>
                </a:cubicBezTo>
                <a:cubicBezTo>
                  <a:pt x="7" y="8237"/>
                  <a:pt x="4" y="8228"/>
                  <a:pt x="2" y="8219"/>
                </a:cubicBezTo>
                <a:cubicBezTo>
                  <a:pt x="0" y="8209"/>
                  <a:pt x="0" y="8200"/>
                  <a:pt x="0" y="819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8286480" y="3076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8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4791240" y="258876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1940s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8465040" y="2985480"/>
            <a:ext cx="2366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Fridges became a staple in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8286480" y="3676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3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8465040" y="3261600"/>
            <a:ext cx="1856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middle-class homes.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465040" y="3585600"/>
            <a:ext cx="2306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Chrome ﬁnishes, rounded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8465040" y="3861720"/>
            <a:ext cx="2579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designs, and interior lighting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8286480" y="4543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8465040" y="4128480"/>
            <a:ext cx="6066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added.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8465040" y="4452480"/>
            <a:ext cx="2772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Larger freezer sections allowed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115120" y="26002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4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49"/>
                  <a:pt x="510" y="365"/>
                </a:cubicBezTo>
                <a:cubicBezTo>
                  <a:pt x="503" y="382"/>
                  <a:pt x="495" y="397"/>
                  <a:pt x="486" y="411"/>
                </a:cubicBezTo>
                <a:cubicBezTo>
                  <a:pt x="476" y="426"/>
                  <a:pt x="464" y="439"/>
                  <a:pt x="452" y="452"/>
                </a:cubicBezTo>
                <a:cubicBezTo>
                  <a:pt x="439" y="465"/>
                  <a:pt x="426" y="476"/>
                  <a:pt x="412" y="485"/>
                </a:cubicBezTo>
                <a:cubicBezTo>
                  <a:pt x="397" y="495"/>
                  <a:pt x="382" y="503"/>
                  <a:pt x="366" y="510"/>
                </a:cubicBezTo>
                <a:cubicBezTo>
                  <a:pt x="350" y="516"/>
                  <a:pt x="333" y="521"/>
                  <a:pt x="316" y="525"/>
                </a:cubicBezTo>
                <a:cubicBezTo>
                  <a:pt x="299" y="528"/>
                  <a:pt x="282" y="530"/>
                  <a:pt x="265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5"/>
                  <a:pt x="118" y="485"/>
                </a:cubicBezTo>
                <a:cubicBezTo>
                  <a:pt x="103" y="476"/>
                  <a:pt x="90" y="465"/>
                  <a:pt x="77" y="452"/>
                </a:cubicBezTo>
                <a:cubicBezTo>
                  <a:pt x="65" y="439"/>
                  <a:pt x="54" y="426"/>
                  <a:pt x="45" y="411"/>
                </a:cubicBezTo>
                <a:cubicBezTo>
                  <a:pt x="35" y="397"/>
                  <a:pt x="27" y="382"/>
                  <a:pt x="20" y="365"/>
                </a:cubicBezTo>
                <a:cubicBezTo>
                  <a:pt x="13" y="349"/>
                  <a:pt x="8" y="333"/>
                  <a:pt x="5" y="316"/>
                </a:cubicBezTo>
                <a:cubicBezTo>
                  <a:pt x="2" y="299"/>
                  <a:pt x="0" y="282"/>
                  <a:pt x="0" y="264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cubicBezTo>
                  <a:pt x="282" y="0"/>
                  <a:pt x="299" y="1"/>
                  <a:pt x="316" y="5"/>
                </a:cubicBezTo>
                <a:cubicBezTo>
                  <a:pt x="333" y="8"/>
                  <a:pt x="350" y="13"/>
                  <a:pt x="366" y="20"/>
                </a:cubicBezTo>
                <a:cubicBezTo>
                  <a:pt x="382" y="26"/>
                  <a:pt x="397" y="35"/>
                  <a:pt x="412" y="44"/>
                </a:cubicBezTo>
                <a:cubicBezTo>
                  <a:pt x="426" y="54"/>
                  <a:pt x="439" y="65"/>
                  <a:pt x="452" y="77"/>
                </a:cubicBezTo>
                <a:cubicBezTo>
                  <a:pt x="464" y="89"/>
                  <a:pt x="476" y="103"/>
                  <a:pt x="486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4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8210520" y="2657160"/>
            <a:ext cx="0" cy="76320"/>
          </a:xfrm>
          <a:custGeom>
            <a:avLst/>
            <a:gdLst/>
            <a:ahLst/>
            <a:rect l="0" t="0" r="r" b="b"/>
            <a:pathLst>
              <a:path fill="none" w="0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8465040" y="4728600"/>
            <a:ext cx="2611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frozen food markets to grow.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8379000" y="258876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1950s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3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4" name=""/>
          <p:cNvSpPr txBox="1"/>
          <p:nvPr/>
        </p:nvSpPr>
        <p:spPr>
          <a:xfrm>
            <a:off x="762120" y="1764000"/>
            <a:ext cx="25383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Cheap Fridges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762120" y="5251680"/>
            <a:ext cx="10320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Slightly lower quailty but designs shifted toward convenience and style (ice makers, side-by-side doors),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762120" y="5556600"/>
            <a:ext cx="3624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which sometimes reduced durability.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766440" y="2366640"/>
            <a:ext cx="3486600" cy="2734200"/>
          </a:xfrm>
          <a:custGeom>
            <a:avLst/>
            <a:gdLst/>
            <a:ahLst/>
            <a:rect l="0" t="0" r="r" b="b"/>
            <a:pathLst>
              <a:path w="9685" h="7595">
                <a:moveTo>
                  <a:pt x="0" y="744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8"/>
                  <a:pt x="9595" y="11"/>
                </a:cubicBezTo>
                <a:cubicBezTo>
                  <a:pt x="9604" y="15"/>
                  <a:pt x="9613" y="20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50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8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7449"/>
                </a:lnTo>
                <a:cubicBezTo>
                  <a:pt x="9685" y="7459"/>
                  <a:pt x="9684" y="7468"/>
                  <a:pt x="9682" y="7478"/>
                </a:cubicBezTo>
                <a:cubicBezTo>
                  <a:pt x="9680" y="7487"/>
                  <a:pt x="9678" y="7496"/>
                  <a:pt x="9674" y="7505"/>
                </a:cubicBezTo>
                <a:cubicBezTo>
                  <a:pt x="9670" y="7514"/>
                  <a:pt x="9666" y="7522"/>
                  <a:pt x="9661" y="7530"/>
                </a:cubicBezTo>
                <a:cubicBezTo>
                  <a:pt x="9655" y="7538"/>
                  <a:pt x="9649" y="7546"/>
                  <a:pt x="9643" y="7552"/>
                </a:cubicBezTo>
                <a:cubicBezTo>
                  <a:pt x="9636" y="7559"/>
                  <a:pt x="9628" y="7565"/>
                  <a:pt x="9620" y="7570"/>
                </a:cubicBezTo>
                <a:cubicBezTo>
                  <a:pt x="9613" y="7576"/>
                  <a:pt x="9604" y="7580"/>
                  <a:pt x="9595" y="7584"/>
                </a:cubicBezTo>
                <a:cubicBezTo>
                  <a:pt x="9586" y="7588"/>
                  <a:pt x="9577" y="7590"/>
                  <a:pt x="9568" y="7592"/>
                </a:cubicBezTo>
                <a:cubicBezTo>
                  <a:pt x="9559" y="7594"/>
                  <a:pt x="9549" y="7595"/>
                  <a:pt x="9540" y="7595"/>
                </a:cubicBezTo>
                <a:lnTo>
                  <a:pt x="146" y="7595"/>
                </a:lnTo>
                <a:cubicBezTo>
                  <a:pt x="136" y="7595"/>
                  <a:pt x="127" y="7594"/>
                  <a:pt x="118" y="7592"/>
                </a:cubicBezTo>
                <a:cubicBezTo>
                  <a:pt x="108" y="7590"/>
                  <a:pt x="99" y="7588"/>
                  <a:pt x="90" y="7584"/>
                </a:cubicBezTo>
                <a:cubicBezTo>
                  <a:pt x="81" y="7580"/>
                  <a:pt x="73" y="7576"/>
                  <a:pt x="65" y="7570"/>
                </a:cubicBezTo>
                <a:cubicBezTo>
                  <a:pt x="57" y="7565"/>
                  <a:pt x="50" y="7559"/>
                  <a:pt x="43" y="7552"/>
                </a:cubicBezTo>
                <a:cubicBezTo>
                  <a:pt x="36" y="7546"/>
                  <a:pt x="30" y="7538"/>
                  <a:pt x="25" y="7530"/>
                </a:cubicBezTo>
                <a:cubicBezTo>
                  <a:pt x="20" y="7522"/>
                  <a:pt x="15" y="7514"/>
                  <a:pt x="11" y="7505"/>
                </a:cubicBezTo>
                <a:cubicBezTo>
                  <a:pt x="8" y="7496"/>
                  <a:pt x="5" y="7487"/>
                  <a:pt x="3" y="7478"/>
                </a:cubicBezTo>
                <a:cubicBezTo>
                  <a:pt x="1" y="7468"/>
                  <a:pt x="0" y="7459"/>
                  <a:pt x="0" y="7449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766440" y="2366640"/>
            <a:ext cx="3486600" cy="2734200"/>
          </a:xfrm>
          <a:custGeom>
            <a:avLst/>
            <a:gdLst/>
            <a:ahLst/>
            <a:rect l="0" t="0" r="r" b="b"/>
            <a:pathLst>
              <a:path fill="none" w="9685" h="7595">
                <a:moveTo>
                  <a:pt x="0" y="744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8"/>
                  <a:pt x="9595" y="11"/>
                </a:cubicBezTo>
                <a:cubicBezTo>
                  <a:pt x="9604" y="15"/>
                  <a:pt x="9613" y="20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50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8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7449"/>
                </a:lnTo>
                <a:cubicBezTo>
                  <a:pt x="9685" y="7459"/>
                  <a:pt x="9684" y="7468"/>
                  <a:pt x="9682" y="7478"/>
                </a:cubicBezTo>
                <a:cubicBezTo>
                  <a:pt x="9680" y="7487"/>
                  <a:pt x="9678" y="7496"/>
                  <a:pt x="9674" y="7505"/>
                </a:cubicBezTo>
                <a:cubicBezTo>
                  <a:pt x="9670" y="7514"/>
                  <a:pt x="9666" y="7522"/>
                  <a:pt x="9661" y="7530"/>
                </a:cubicBezTo>
                <a:cubicBezTo>
                  <a:pt x="9655" y="7538"/>
                  <a:pt x="9649" y="7546"/>
                  <a:pt x="9643" y="7552"/>
                </a:cubicBezTo>
                <a:cubicBezTo>
                  <a:pt x="9636" y="7559"/>
                  <a:pt x="9628" y="7565"/>
                  <a:pt x="9620" y="7570"/>
                </a:cubicBezTo>
                <a:cubicBezTo>
                  <a:pt x="9613" y="7576"/>
                  <a:pt x="9604" y="7580"/>
                  <a:pt x="9595" y="7584"/>
                </a:cubicBezTo>
                <a:cubicBezTo>
                  <a:pt x="9586" y="7588"/>
                  <a:pt x="9577" y="7590"/>
                  <a:pt x="9568" y="7592"/>
                </a:cubicBezTo>
                <a:cubicBezTo>
                  <a:pt x="9559" y="7594"/>
                  <a:pt x="9549" y="7595"/>
                  <a:pt x="9540" y="7595"/>
                </a:cubicBezTo>
                <a:lnTo>
                  <a:pt x="146" y="7595"/>
                </a:lnTo>
                <a:cubicBezTo>
                  <a:pt x="136" y="7595"/>
                  <a:pt x="127" y="7594"/>
                  <a:pt x="118" y="7592"/>
                </a:cubicBezTo>
                <a:cubicBezTo>
                  <a:pt x="108" y="7590"/>
                  <a:pt x="99" y="7588"/>
                  <a:pt x="90" y="7584"/>
                </a:cubicBezTo>
                <a:cubicBezTo>
                  <a:pt x="81" y="7580"/>
                  <a:pt x="73" y="7576"/>
                  <a:pt x="65" y="7570"/>
                </a:cubicBezTo>
                <a:cubicBezTo>
                  <a:pt x="57" y="7565"/>
                  <a:pt x="50" y="7559"/>
                  <a:pt x="43" y="7552"/>
                </a:cubicBezTo>
                <a:cubicBezTo>
                  <a:pt x="36" y="7546"/>
                  <a:pt x="30" y="7538"/>
                  <a:pt x="25" y="7530"/>
                </a:cubicBezTo>
                <a:cubicBezTo>
                  <a:pt x="20" y="7522"/>
                  <a:pt x="15" y="7514"/>
                  <a:pt x="11" y="7505"/>
                </a:cubicBezTo>
                <a:cubicBezTo>
                  <a:pt x="8" y="7496"/>
                  <a:pt x="5" y="7487"/>
                  <a:pt x="3" y="7478"/>
                </a:cubicBezTo>
                <a:cubicBezTo>
                  <a:pt x="1" y="7468"/>
                  <a:pt x="0" y="7459"/>
                  <a:pt x="0" y="7449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1104840" y="30668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1289520" y="2975760"/>
            <a:ext cx="2739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Automatic defrosting (no more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1104840" y="36572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2"/>
                  <a:pt x="153" y="111"/>
                </a:cubicBezTo>
                <a:cubicBezTo>
                  <a:pt x="149" y="121"/>
                  <a:pt x="144" y="130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1"/>
                  <a:pt x="24" y="24"/>
                </a:cubicBezTo>
                <a:cubicBezTo>
                  <a:pt x="31" y="16"/>
                  <a:pt x="40" y="11"/>
                  <a:pt x="50" y="7"/>
                </a:cubicBezTo>
                <a:cubicBezTo>
                  <a:pt x="59" y="3"/>
                  <a:pt x="70" y="0"/>
                  <a:pt x="80" y="0"/>
                </a:cubicBezTo>
                <a:cubicBezTo>
                  <a:pt x="91" y="0"/>
                  <a:pt x="101" y="3"/>
                  <a:pt x="110" y="7"/>
                </a:cubicBezTo>
                <a:cubicBezTo>
                  <a:pt x="120" y="11"/>
                  <a:pt x="129" y="16"/>
                  <a:pt x="136" y="24"/>
                </a:cubicBezTo>
                <a:cubicBezTo>
                  <a:pt x="144" y="31"/>
                  <a:pt x="149" y="41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1289520" y="3252240"/>
            <a:ext cx="1892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manual ice scraping).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1289520" y="3566520"/>
            <a:ext cx="2512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Adjustable shelves and door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1104840" y="425736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4" y="31"/>
                  <a:pt x="149" y="40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1289520" y="3842640"/>
            <a:ext cx="724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storage.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289520" y="4166640"/>
            <a:ext cx="2536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More eﬃcient insulation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1289520" y="4433400"/>
            <a:ext cx="2569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compressors reduced energy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942840" y="258120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4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49"/>
                  <a:pt x="510" y="366"/>
                </a:cubicBezTo>
                <a:cubicBezTo>
                  <a:pt x="503" y="382"/>
                  <a:pt x="495" y="397"/>
                  <a:pt x="485" y="411"/>
                </a:cubicBezTo>
                <a:cubicBezTo>
                  <a:pt x="476" y="426"/>
                  <a:pt x="465" y="439"/>
                  <a:pt x="453" y="451"/>
                </a:cubicBezTo>
                <a:cubicBezTo>
                  <a:pt x="440" y="464"/>
                  <a:pt x="427" y="475"/>
                  <a:pt x="412" y="484"/>
                </a:cubicBezTo>
                <a:cubicBezTo>
                  <a:pt x="398" y="494"/>
                  <a:pt x="383" y="503"/>
                  <a:pt x="367" y="510"/>
                </a:cubicBezTo>
                <a:cubicBezTo>
                  <a:pt x="351" y="516"/>
                  <a:pt x="334" y="521"/>
                  <a:pt x="317" y="525"/>
                </a:cubicBezTo>
                <a:cubicBezTo>
                  <a:pt x="300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4"/>
                  <a:pt x="117" y="484"/>
                </a:cubicBezTo>
                <a:cubicBezTo>
                  <a:pt x="103" y="475"/>
                  <a:pt x="90" y="464"/>
                  <a:pt x="77" y="451"/>
                </a:cubicBezTo>
                <a:cubicBezTo>
                  <a:pt x="65" y="439"/>
                  <a:pt x="54" y="426"/>
                  <a:pt x="44" y="411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3" y="349"/>
                  <a:pt x="8" y="333"/>
                  <a:pt x="5" y="316"/>
                </a:cubicBezTo>
                <a:cubicBezTo>
                  <a:pt x="2" y="299"/>
                  <a:pt x="0" y="282"/>
                  <a:pt x="0" y="264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ubicBezTo>
                  <a:pt x="282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2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5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4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1037880" y="263808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1289520" y="4709520"/>
            <a:ext cx="2870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 compared to earlier models.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4357440" y="2366640"/>
            <a:ext cx="3476880" cy="2734200"/>
          </a:xfrm>
          <a:custGeom>
            <a:avLst/>
            <a:gdLst/>
            <a:ahLst/>
            <a:rect l="0" t="0" r="r" b="b"/>
            <a:pathLst>
              <a:path w="9658" h="7595">
                <a:moveTo>
                  <a:pt x="0" y="744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8"/>
                  <a:pt x="9569" y="11"/>
                </a:cubicBezTo>
                <a:cubicBezTo>
                  <a:pt x="9577" y="15"/>
                  <a:pt x="9586" y="20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50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8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7449"/>
                </a:lnTo>
                <a:cubicBezTo>
                  <a:pt x="9658" y="7459"/>
                  <a:pt x="9658" y="7468"/>
                  <a:pt x="9656" y="7478"/>
                </a:cubicBezTo>
                <a:cubicBezTo>
                  <a:pt x="9654" y="7487"/>
                  <a:pt x="9651" y="7496"/>
                  <a:pt x="9647" y="7505"/>
                </a:cubicBezTo>
                <a:cubicBezTo>
                  <a:pt x="9644" y="7514"/>
                  <a:pt x="9639" y="7522"/>
                  <a:pt x="9634" y="7530"/>
                </a:cubicBezTo>
                <a:cubicBezTo>
                  <a:pt x="9629" y="7538"/>
                  <a:pt x="9623" y="7546"/>
                  <a:pt x="9616" y="7552"/>
                </a:cubicBezTo>
                <a:cubicBezTo>
                  <a:pt x="9609" y="7559"/>
                  <a:pt x="9602" y="7565"/>
                  <a:pt x="9594" y="7570"/>
                </a:cubicBezTo>
                <a:cubicBezTo>
                  <a:pt x="9586" y="7576"/>
                  <a:pt x="9577" y="7580"/>
                  <a:pt x="9569" y="7584"/>
                </a:cubicBezTo>
                <a:cubicBezTo>
                  <a:pt x="9560" y="7588"/>
                  <a:pt x="9551" y="7590"/>
                  <a:pt x="9541" y="7592"/>
                </a:cubicBezTo>
                <a:cubicBezTo>
                  <a:pt x="9532" y="7594"/>
                  <a:pt x="9523" y="7595"/>
                  <a:pt x="9513" y="7595"/>
                </a:cubicBezTo>
                <a:lnTo>
                  <a:pt x="146" y="7595"/>
                </a:lnTo>
                <a:cubicBezTo>
                  <a:pt x="136" y="7595"/>
                  <a:pt x="127" y="7594"/>
                  <a:pt x="117" y="7592"/>
                </a:cubicBezTo>
                <a:cubicBezTo>
                  <a:pt x="108" y="7590"/>
                  <a:pt x="99" y="7588"/>
                  <a:pt x="90" y="7584"/>
                </a:cubicBezTo>
                <a:cubicBezTo>
                  <a:pt x="81" y="7580"/>
                  <a:pt x="73" y="7576"/>
                  <a:pt x="65" y="7570"/>
                </a:cubicBezTo>
                <a:cubicBezTo>
                  <a:pt x="57" y="7565"/>
                  <a:pt x="50" y="7559"/>
                  <a:pt x="43" y="7552"/>
                </a:cubicBezTo>
                <a:cubicBezTo>
                  <a:pt x="36" y="7546"/>
                  <a:pt x="30" y="7538"/>
                  <a:pt x="25" y="7530"/>
                </a:cubicBezTo>
                <a:cubicBezTo>
                  <a:pt x="19" y="7522"/>
                  <a:pt x="15" y="7514"/>
                  <a:pt x="11" y="7505"/>
                </a:cubicBezTo>
                <a:cubicBezTo>
                  <a:pt x="8" y="7496"/>
                  <a:pt x="5" y="7487"/>
                  <a:pt x="3" y="7478"/>
                </a:cubicBezTo>
                <a:cubicBezTo>
                  <a:pt x="1" y="7468"/>
                  <a:pt x="0" y="7459"/>
                  <a:pt x="0" y="7449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4357440" y="2366640"/>
            <a:ext cx="3476880" cy="2734200"/>
          </a:xfrm>
          <a:custGeom>
            <a:avLst/>
            <a:gdLst/>
            <a:ahLst/>
            <a:rect l="0" t="0" r="r" b="b"/>
            <a:pathLst>
              <a:path fill="none" w="9658" h="7595">
                <a:moveTo>
                  <a:pt x="0" y="744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8"/>
                  <a:pt x="9569" y="11"/>
                </a:cubicBezTo>
                <a:cubicBezTo>
                  <a:pt x="9577" y="15"/>
                  <a:pt x="9586" y="20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50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8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7449"/>
                </a:lnTo>
                <a:cubicBezTo>
                  <a:pt x="9658" y="7459"/>
                  <a:pt x="9658" y="7468"/>
                  <a:pt x="9656" y="7478"/>
                </a:cubicBezTo>
                <a:cubicBezTo>
                  <a:pt x="9654" y="7487"/>
                  <a:pt x="9651" y="7496"/>
                  <a:pt x="9647" y="7505"/>
                </a:cubicBezTo>
                <a:cubicBezTo>
                  <a:pt x="9644" y="7514"/>
                  <a:pt x="9639" y="7522"/>
                  <a:pt x="9634" y="7530"/>
                </a:cubicBezTo>
                <a:cubicBezTo>
                  <a:pt x="9629" y="7538"/>
                  <a:pt x="9623" y="7546"/>
                  <a:pt x="9616" y="7552"/>
                </a:cubicBezTo>
                <a:cubicBezTo>
                  <a:pt x="9609" y="7559"/>
                  <a:pt x="9602" y="7565"/>
                  <a:pt x="9594" y="7570"/>
                </a:cubicBezTo>
                <a:cubicBezTo>
                  <a:pt x="9586" y="7576"/>
                  <a:pt x="9577" y="7580"/>
                  <a:pt x="9569" y="7584"/>
                </a:cubicBezTo>
                <a:cubicBezTo>
                  <a:pt x="9560" y="7588"/>
                  <a:pt x="9551" y="7590"/>
                  <a:pt x="9541" y="7592"/>
                </a:cubicBezTo>
                <a:cubicBezTo>
                  <a:pt x="9532" y="7594"/>
                  <a:pt x="9523" y="7595"/>
                  <a:pt x="9513" y="7595"/>
                </a:cubicBezTo>
                <a:lnTo>
                  <a:pt x="146" y="7595"/>
                </a:lnTo>
                <a:cubicBezTo>
                  <a:pt x="136" y="7595"/>
                  <a:pt x="127" y="7594"/>
                  <a:pt x="117" y="7592"/>
                </a:cubicBezTo>
                <a:cubicBezTo>
                  <a:pt x="108" y="7590"/>
                  <a:pt x="99" y="7588"/>
                  <a:pt x="90" y="7584"/>
                </a:cubicBezTo>
                <a:cubicBezTo>
                  <a:pt x="81" y="7580"/>
                  <a:pt x="73" y="7576"/>
                  <a:pt x="65" y="7570"/>
                </a:cubicBezTo>
                <a:cubicBezTo>
                  <a:pt x="57" y="7565"/>
                  <a:pt x="50" y="7559"/>
                  <a:pt x="43" y="7552"/>
                </a:cubicBezTo>
                <a:cubicBezTo>
                  <a:pt x="36" y="7546"/>
                  <a:pt x="30" y="7538"/>
                  <a:pt x="25" y="7530"/>
                </a:cubicBezTo>
                <a:cubicBezTo>
                  <a:pt x="19" y="7522"/>
                  <a:pt x="15" y="7514"/>
                  <a:pt x="11" y="7505"/>
                </a:cubicBezTo>
                <a:cubicBezTo>
                  <a:pt x="8" y="7496"/>
                  <a:pt x="5" y="7487"/>
                  <a:pt x="3" y="7478"/>
                </a:cubicBezTo>
                <a:cubicBezTo>
                  <a:pt x="1" y="7468"/>
                  <a:pt x="0" y="7459"/>
                  <a:pt x="0" y="7449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4695480" y="3066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49" y="121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1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1"/>
                  <a:pt x="149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1203120" y="256968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1960s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877280" y="2975760"/>
            <a:ext cx="2098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Energy crisis led to new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4695480" y="3657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49" y="121"/>
                  <a:pt x="143" y="130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1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1" y="41"/>
                  <a:pt x="16" y="31"/>
                  <a:pt x="24" y="24"/>
                </a:cubicBezTo>
                <a:cubicBezTo>
                  <a:pt x="31" y="16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0" y="3"/>
                  <a:pt x="110" y="7"/>
                </a:cubicBezTo>
                <a:cubicBezTo>
                  <a:pt x="120" y="11"/>
                  <a:pt x="129" y="16"/>
                  <a:pt x="136" y="24"/>
                </a:cubicBezTo>
                <a:cubicBezTo>
                  <a:pt x="143" y="31"/>
                  <a:pt x="149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4877280" y="3252240"/>
            <a:ext cx="1824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eﬃciency standards.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877280" y="3566520"/>
            <a:ext cx="2453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Introduction of tighter door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4695480" y="4257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49" y="121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1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3" y="31"/>
                  <a:pt x="149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877280" y="3842640"/>
            <a:ext cx="2715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seals and improved insulation.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877280" y="4166640"/>
            <a:ext cx="2556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More focus on durability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4533840" y="258120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4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1" y="333"/>
                  <a:pt x="516" y="349"/>
                  <a:pt x="510" y="366"/>
                </a:cubicBezTo>
                <a:cubicBezTo>
                  <a:pt x="503" y="382"/>
                  <a:pt x="495" y="397"/>
                  <a:pt x="485" y="411"/>
                </a:cubicBezTo>
                <a:cubicBezTo>
                  <a:pt x="476" y="426"/>
                  <a:pt x="465" y="439"/>
                  <a:pt x="452" y="451"/>
                </a:cubicBezTo>
                <a:cubicBezTo>
                  <a:pt x="440" y="464"/>
                  <a:pt x="427" y="475"/>
                  <a:pt x="412" y="484"/>
                </a:cubicBezTo>
                <a:cubicBezTo>
                  <a:pt x="398" y="494"/>
                  <a:pt x="383" y="503"/>
                  <a:pt x="366" y="510"/>
                </a:cubicBezTo>
                <a:cubicBezTo>
                  <a:pt x="349" y="516"/>
                  <a:pt x="333" y="521"/>
                  <a:pt x="316" y="525"/>
                </a:cubicBezTo>
                <a:cubicBezTo>
                  <a:pt x="299" y="528"/>
                  <a:pt x="282" y="530"/>
                  <a:pt x="264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4"/>
                  <a:pt x="117" y="484"/>
                </a:cubicBezTo>
                <a:cubicBezTo>
                  <a:pt x="103" y="475"/>
                  <a:pt x="89" y="464"/>
                  <a:pt x="77" y="451"/>
                </a:cubicBezTo>
                <a:cubicBezTo>
                  <a:pt x="65" y="439"/>
                  <a:pt x="54" y="426"/>
                  <a:pt x="44" y="411"/>
                </a:cubicBezTo>
                <a:cubicBezTo>
                  <a:pt x="35" y="397"/>
                  <a:pt x="26" y="382"/>
                  <a:pt x="20" y="366"/>
                </a:cubicBezTo>
                <a:cubicBezTo>
                  <a:pt x="13" y="349"/>
                  <a:pt x="8" y="333"/>
                  <a:pt x="5" y="316"/>
                </a:cubicBezTo>
                <a:cubicBezTo>
                  <a:pt x="1" y="299"/>
                  <a:pt x="0" y="282"/>
                  <a:pt x="0" y="264"/>
                </a:cubicBez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89" y="65"/>
                  <a:pt x="103" y="54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cubicBezTo>
                  <a:pt x="282" y="0"/>
                  <a:pt x="299" y="1"/>
                  <a:pt x="316" y="5"/>
                </a:cubicBezTo>
                <a:cubicBezTo>
                  <a:pt x="333" y="8"/>
                  <a:pt x="349" y="13"/>
                  <a:pt x="366" y="20"/>
                </a:cubicBezTo>
                <a:cubicBezTo>
                  <a:pt x="383" y="26"/>
                  <a:pt x="398" y="35"/>
                  <a:pt x="412" y="44"/>
                </a:cubicBezTo>
                <a:cubicBezTo>
                  <a:pt x="427" y="54"/>
                  <a:pt x="440" y="65"/>
                  <a:pt x="452" y="77"/>
                </a:cubicBezTo>
                <a:cubicBezTo>
                  <a:pt x="465" y="89"/>
                  <a:pt x="476" y="103"/>
                  <a:pt x="485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6" y="179"/>
                  <a:pt x="521" y="196"/>
                  <a:pt x="525" y="213"/>
                </a:cubicBezTo>
                <a:cubicBezTo>
                  <a:pt x="528" y="230"/>
                  <a:pt x="530" y="247"/>
                  <a:pt x="530" y="264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4628880" y="263808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877280" y="4433400"/>
            <a:ext cx="1919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safety of refrigerants.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7939080" y="2366640"/>
            <a:ext cx="3486240" cy="2734200"/>
          </a:xfrm>
          <a:custGeom>
            <a:avLst/>
            <a:gdLst/>
            <a:ahLst/>
            <a:rect l="0" t="0" r="r" b="b"/>
            <a:pathLst>
              <a:path w="9684" h="7595">
                <a:moveTo>
                  <a:pt x="0" y="7449"/>
                </a:moveTo>
                <a:lnTo>
                  <a:pt x="0" y="146"/>
                </a:lnTo>
                <a:cubicBezTo>
                  <a:pt x="0" y="136"/>
                  <a:pt x="0" y="127"/>
                  <a:pt x="2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8"/>
                  <a:pt x="9594" y="11"/>
                </a:cubicBezTo>
                <a:cubicBezTo>
                  <a:pt x="9603" y="15"/>
                  <a:pt x="9612" y="20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50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8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7449"/>
                </a:lnTo>
                <a:cubicBezTo>
                  <a:pt x="9684" y="7459"/>
                  <a:pt x="9683" y="7468"/>
                  <a:pt x="9681" y="7478"/>
                </a:cubicBezTo>
                <a:cubicBezTo>
                  <a:pt x="9680" y="7487"/>
                  <a:pt x="9677" y="7496"/>
                  <a:pt x="9673" y="7505"/>
                </a:cubicBezTo>
                <a:cubicBezTo>
                  <a:pt x="9670" y="7514"/>
                  <a:pt x="9665" y="7522"/>
                  <a:pt x="9660" y="7530"/>
                </a:cubicBezTo>
                <a:cubicBezTo>
                  <a:pt x="9654" y="7538"/>
                  <a:pt x="9648" y="7546"/>
                  <a:pt x="9642" y="7552"/>
                </a:cubicBezTo>
                <a:cubicBezTo>
                  <a:pt x="9635" y="7559"/>
                  <a:pt x="9628" y="7565"/>
                  <a:pt x="9620" y="7570"/>
                </a:cubicBezTo>
                <a:cubicBezTo>
                  <a:pt x="9612" y="7576"/>
                  <a:pt x="9603" y="7580"/>
                  <a:pt x="9594" y="7584"/>
                </a:cubicBezTo>
                <a:cubicBezTo>
                  <a:pt x="9586" y="7588"/>
                  <a:pt x="9577" y="7590"/>
                  <a:pt x="9567" y="7592"/>
                </a:cubicBezTo>
                <a:cubicBezTo>
                  <a:pt x="9558" y="7594"/>
                  <a:pt x="9548" y="7595"/>
                  <a:pt x="9539" y="7595"/>
                </a:cubicBezTo>
                <a:lnTo>
                  <a:pt x="145" y="7595"/>
                </a:lnTo>
                <a:cubicBezTo>
                  <a:pt x="135" y="7595"/>
                  <a:pt x="126" y="7594"/>
                  <a:pt x="117" y="7592"/>
                </a:cubicBezTo>
                <a:cubicBezTo>
                  <a:pt x="107" y="7590"/>
                  <a:pt x="98" y="7588"/>
                  <a:pt x="89" y="7584"/>
                </a:cubicBezTo>
                <a:cubicBezTo>
                  <a:pt x="81" y="7580"/>
                  <a:pt x="72" y="7576"/>
                  <a:pt x="64" y="7570"/>
                </a:cubicBezTo>
                <a:cubicBezTo>
                  <a:pt x="56" y="7565"/>
                  <a:pt x="49" y="7559"/>
                  <a:pt x="42" y="7552"/>
                </a:cubicBezTo>
                <a:cubicBezTo>
                  <a:pt x="35" y="7546"/>
                  <a:pt x="29" y="7538"/>
                  <a:pt x="24" y="7530"/>
                </a:cubicBezTo>
                <a:cubicBezTo>
                  <a:pt x="19" y="7522"/>
                  <a:pt x="14" y="7514"/>
                  <a:pt x="11" y="7505"/>
                </a:cubicBezTo>
                <a:cubicBezTo>
                  <a:pt x="7" y="7496"/>
                  <a:pt x="4" y="7487"/>
                  <a:pt x="2" y="7478"/>
                </a:cubicBezTo>
                <a:cubicBezTo>
                  <a:pt x="0" y="7468"/>
                  <a:pt x="0" y="7459"/>
                  <a:pt x="0" y="7449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7939080" y="2366640"/>
            <a:ext cx="3486240" cy="2734200"/>
          </a:xfrm>
          <a:custGeom>
            <a:avLst/>
            <a:gdLst/>
            <a:ahLst/>
            <a:rect l="0" t="0" r="r" b="b"/>
            <a:pathLst>
              <a:path fill="none" w="9684" h="7595">
                <a:moveTo>
                  <a:pt x="0" y="7449"/>
                </a:moveTo>
                <a:lnTo>
                  <a:pt x="0" y="146"/>
                </a:lnTo>
                <a:cubicBezTo>
                  <a:pt x="0" y="136"/>
                  <a:pt x="0" y="127"/>
                  <a:pt x="2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8"/>
                  <a:pt x="9594" y="11"/>
                </a:cubicBezTo>
                <a:cubicBezTo>
                  <a:pt x="9603" y="15"/>
                  <a:pt x="9612" y="20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50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8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7449"/>
                </a:lnTo>
                <a:cubicBezTo>
                  <a:pt x="9684" y="7459"/>
                  <a:pt x="9683" y="7468"/>
                  <a:pt x="9681" y="7478"/>
                </a:cubicBezTo>
                <a:cubicBezTo>
                  <a:pt x="9680" y="7487"/>
                  <a:pt x="9677" y="7496"/>
                  <a:pt x="9673" y="7505"/>
                </a:cubicBezTo>
                <a:cubicBezTo>
                  <a:pt x="9670" y="7514"/>
                  <a:pt x="9665" y="7522"/>
                  <a:pt x="9660" y="7530"/>
                </a:cubicBezTo>
                <a:cubicBezTo>
                  <a:pt x="9654" y="7538"/>
                  <a:pt x="9648" y="7546"/>
                  <a:pt x="9642" y="7552"/>
                </a:cubicBezTo>
                <a:cubicBezTo>
                  <a:pt x="9635" y="7559"/>
                  <a:pt x="9628" y="7565"/>
                  <a:pt x="9620" y="7570"/>
                </a:cubicBezTo>
                <a:cubicBezTo>
                  <a:pt x="9612" y="7576"/>
                  <a:pt x="9603" y="7580"/>
                  <a:pt x="9594" y="7584"/>
                </a:cubicBezTo>
                <a:cubicBezTo>
                  <a:pt x="9586" y="7588"/>
                  <a:pt x="9577" y="7590"/>
                  <a:pt x="9567" y="7592"/>
                </a:cubicBezTo>
                <a:cubicBezTo>
                  <a:pt x="9558" y="7594"/>
                  <a:pt x="9548" y="7595"/>
                  <a:pt x="9539" y="7595"/>
                </a:cubicBezTo>
                <a:lnTo>
                  <a:pt x="145" y="7595"/>
                </a:lnTo>
                <a:cubicBezTo>
                  <a:pt x="135" y="7595"/>
                  <a:pt x="126" y="7594"/>
                  <a:pt x="117" y="7592"/>
                </a:cubicBezTo>
                <a:cubicBezTo>
                  <a:pt x="107" y="7590"/>
                  <a:pt x="98" y="7588"/>
                  <a:pt x="89" y="7584"/>
                </a:cubicBezTo>
                <a:cubicBezTo>
                  <a:pt x="81" y="7580"/>
                  <a:pt x="72" y="7576"/>
                  <a:pt x="64" y="7570"/>
                </a:cubicBezTo>
                <a:cubicBezTo>
                  <a:pt x="56" y="7565"/>
                  <a:pt x="49" y="7559"/>
                  <a:pt x="42" y="7552"/>
                </a:cubicBezTo>
                <a:cubicBezTo>
                  <a:pt x="35" y="7546"/>
                  <a:pt x="29" y="7538"/>
                  <a:pt x="24" y="7530"/>
                </a:cubicBezTo>
                <a:cubicBezTo>
                  <a:pt x="19" y="7522"/>
                  <a:pt x="14" y="7514"/>
                  <a:pt x="11" y="7505"/>
                </a:cubicBezTo>
                <a:cubicBezTo>
                  <a:pt x="7" y="7496"/>
                  <a:pt x="4" y="7487"/>
                  <a:pt x="2" y="7478"/>
                </a:cubicBezTo>
                <a:cubicBezTo>
                  <a:pt x="0" y="7468"/>
                  <a:pt x="0" y="7459"/>
                  <a:pt x="0" y="7449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8286480" y="3066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4791240" y="256968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1970s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8465040" y="2975760"/>
            <a:ext cx="2461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Side-by-side fridge/freezer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8286480" y="3657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1"/>
                  <a:pt x="23" y="24"/>
                </a:cubicBezTo>
                <a:cubicBezTo>
                  <a:pt x="31" y="16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0" y="3"/>
                  <a:pt x="110" y="7"/>
                </a:cubicBezTo>
                <a:cubicBezTo>
                  <a:pt x="120" y="11"/>
                  <a:pt x="128" y="16"/>
                  <a:pt x="137" y="24"/>
                </a:cubicBezTo>
                <a:cubicBezTo>
                  <a:pt x="144" y="31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8465040" y="3252240"/>
            <a:ext cx="222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designs became popular.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8465040" y="3566520"/>
            <a:ext cx="2654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Ice and water dispensers built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8286480" y="4257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8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8465040" y="3842640"/>
            <a:ext cx="1219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into the door.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8465040" y="4166640"/>
            <a:ext cx="2121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Energy-eﬃcient models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8465040" y="4433400"/>
            <a:ext cx="22748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introduced due to stricter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8115120" y="258120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4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49"/>
                  <a:pt x="510" y="366"/>
                </a:cubicBezTo>
                <a:cubicBezTo>
                  <a:pt x="503" y="382"/>
                  <a:pt x="495" y="397"/>
                  <a:pt x="486" y="411"/>
                </a:cubicBezTo>
                <a:cubicBezTo>
                  <a:pt x="476" y="426"/>
                  <a:pt x="464" y="439"/>
                  <a:pt x="452" y="451"/>
                </a:cubicBezTo>
                <a:cubicBezTo>
                  <a:pt x="439" y="464"/>
                  <a:pt x="426" y="475"/>
                  <a:pt x="412" y="484"/>
                </a:cubicBezTo>
                <a:cubicBezTo>
                  <a:pt x="397" y="494"/>
                  <a:pt x="382" y="503"/>
                  <a:pt x="366" y="510"/>
                </a:cubicBezTo>
                <a:cubicBezTo>
                  <a:pt x="350" y="516"/>
                  <a:pt x="333" y="521"/>
                  <a:pt x="316" y="525"/>
                </a:cubicBezTo>
                <a:cubicBezTo>
                  <a:pt x="299" y="528"/>
                  <a:pt x="282" y="530"/>
                  <a:pt x="265" y="530"/>
                </a:cubicBezTo>
                <a:cubicBezTo>
                  <a:pt x="247" y="530"/>
                  <a:pt x="230" y="528"/>
                  <a:pt x="213" y="525"/>
                </a:cubicBezTo>
                <a:cubicBezTo>
                  <a:pt x="196" y="521"/>
                  <a:pt x="179" y="516"/>
                  <a:pt x="163" y="510"/>
                </a:cubicBezTo>
                <a:cubicBezTo>
                  <a:pt x="147" y="503"/>
                  <a:pt x="132" y="494"/>
                  <a:pt x="118" y="484"/>
                </a:cubicBezTo>
                <a:cubicBezTo>
                  <a:pt x="103" y="475"/>
                  <a:pt x="90" y="464"/>
                  <a:pt x="77" y="451"/>
                </a:cubicBezTo>
                <a:cubicBezTo>
                  <a:pt x="65" y="439"/>
                  <a:pt x="54" y="426"/>
                  <a:pt x="45" y="411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3" y="349"/>
                  <a:pt x="8" y="333"/>
                  <a:pt x="5" y="316"/>
                </a:cubicBezTo>
                <a:cubicBezTo>
                  <a:pt x="2" y="299"/>
                  <a:pt x="0" y="282"/>
                  <a:pt x="0" y="264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cubicBezTo>
                  <a:pt x="282" y="0"/>
                  <a:pt x="299" y="1"/>
                  <a:pt x="316" y="5"/>
                </a:cubicBezTo>
                <a:cubicBezTo>
                  <a:pt x="333" y="8"/>
                  <a:pt x="350" y="13"/>
                  <a:pt x="366" y="20"/>
                </a:cubicBezTo>
                <a:cubicBezTo>
                  <a:pt x="382" y="26"/>
                  <a:pt x="397" y="35"/>
                  <a:pt x="412" y="44"/>
                </a:cubicBezTo>
                <a:cubicBezTo>
                  <a:pt x="426" y="54"/>
                  <a:pt x="439" y="65"/>
                  <a:pt x="452" y="77"/>
                </a:cubicBezTo>
                <a:cubicBezTo>
                  <a:pt x="464" y="89"/>
                  <a:pt x="476" y="103"/>
                  <a:pt x="486" y="117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4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8210520" y="2638080"/>
            <a:ext cx="0" cy="76320"/>
          </a:xfrm>
          <a:custGeom>
            <a:avLst/>
            <a:gdLst/>
            <a:ahLst/>
            <a:rect l="0" t="0" r="r" b="b"/>
            <a:pathLst>
              <a:path fill="none" w="0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8465040" y="4709520"/>
            <a:ext cx="1056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regulations.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8378640" y="256968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1980s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8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9" name=""/>
          <p:cNvSpPr txBox="1"/>
          <p:nvPr/>
        </p:nvSpPr>
        <p:spPr>
          <a:xfrm>
            <a:off x="762120" y="1487520"/>
            <a:ext cx="32742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Compliance Fridges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762120" y="5528160"/>
            <a:ext cx="996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more electronics and plastic parts made repairs harder and sometimes reduced lifespan compared to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762120" y="5832720"/>
            <a:ext cx="2784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earlier “bulletproof” models.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766440" y="2090520"/>
            <a:ext cx="3486600" cy="3286440"/>
          </a:xfrm>
          <a:custGeom>
            <a:avLst/>
            <a:gdLst/>
            <a:ahLst/>
            <a:rect l="0" t="0" r="r" b="b"/>
            <a:pathLst>
              <a:path w="9685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8"/>
                  <a:pt x="9595" y="11"/>
                </a:cubicBezTo>
                <a:cubicBezTo>
                  <a:pt x="9604" y="15"/>
                  <a:pt x="9613" y="19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8984"/>
                </a:lnTo>
                <a:cubicBezTo>
                  <a:pt x="9685" y="8993"/>
                  <a:pt x="9684" y="9003"/>
                  <a:pt x="9682" y="9012"/>
                </a:cubicBezTo>
                <a:cubicBezTo>
                  <a:pt x="9680" y="9021"/>
                  <a:pt x="9678" y="9031"/>
                  <a:pt x="9674" y="9039"/>
                </a:cubicBezTo>
                <a:cubicBezTo>
                  <a:pt x="9670" y="9048"/>
                  <a:pt x="9666" y="9057"/>
                  <a:pt x="9661" y="9065"/>
                </a:cubicBezTo>
                <a:cubicBezTo>
                  <a:pt x="9655" y="9072"/>
                  <a:pt x="9649" y="9080"/>
                  <a:pt x="9643" y="9087"/>
                </a:cubicBezTo>
                <a:cubicBezTo>
                  <a:pt x="9636" y="9093"/>
                  <a:pt x="9628" y="9099"/>
                  <a:pt x="9620" y="9105"/>
                </a:cubicBezTo>
                <a:cubicBezTo>
                  <a:pt x="9613" y="9110"/>
                  <a:pt x="9604" y="9114"/>
                  <a:pt x="9595" y="9118"/>
                </a:cubicBezTo>
                <a:cubicBezTo>
                  <a:pt x="9586" y="9122"/>
                  <a:pt x="9577" y="9125"/>
                  <a:pt x="9568" y="9126"/>
                </a:cubicBezTo>
                <a:cubicBezTo>
                  <a:pt x="9559" y="9128"/>
                  <a:pt x="9549" y="9129"/>
                  <a:pt x="9540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8" y="9126"/>
                </a:cubicBezTo>
                <a:cubicBezTo>
                  <a:pt x="108" y="9125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50" y="9093"/>
                  <a:pt x="43" y="9087"/>
                </a:cubicBezTo>
                <a:cubicBezTo>
                  <a:pt x="36" y="9080"/>
                  <a:pt x="30" y="9072"/>
                  <a:pt x="25" y="9065"/>
                </a:cubicBezTo>
                <a:cubicBezTo>
                  <a:pt x="20" y="9057"/>
                  <a:pt x="15" y="9048"/>
                  <a:pt x="11" y="9039"/>
                </a:cubicBezTo>
                <a:cubicBezTo>
                  <a:pt x="8" y="9031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766440" y="2090520"/>
            <a:ext cx="3486600" cy="3286440"/>
          </a:xfrm>
          <a:custGeom>
            <a:avLst/>
            <a:gdLst/>
            <a:ahLst/>
            <a:rect l="0" t="0" r="r" b="b"/>
            <a:pathLst>
              <a:path fill="none" w="9685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8"/>
                  <a:pt x="9595" y="11"/>
                </a:cubicBezTo>
                <a:cubicBezTo>
                  <a:pt x="9604" y="15"/>
                  <a:pt x="9613" y="19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8984"/>
                </a:lnTo>
                <a:cubicBezTo>
                  <a:pt x="9685" y="8993"/>
                  <a:pt x="9684" y="9003"/>
                  <a:pt x="9682" y="9012"/>
                </a:cubicBezTo>
                <a:cubicBezTo>
                  <a:pt x="9680" y="9021"/>
                  <a:pt x="9678" y="9031"/>
                  <a:pt x="9674" y="9039"/>
                </a:cubicBezTo>
                <a:cubicBezTo>
                  <a:pt x="9670" y="9048"/>
                  <a:pt x="9666" y="9057"/>
                  <a:pt x="9661" y="9065"/>
                </a:cubicBezTo>
                <a:cubicBezTo>
                  <a:pt x="9655" y="9072"/>
                  <a:pt x="9649" y="9080"/>
                  <a:pt x="9643" y="9087"/>
                </a:cubicBezTo>
                <a:cubicBezTo>
                  <a:pt x="9636" y="9093"/>
                  <a:pt x="9628" y="9099"/>
                  <a:pt x="9620" y="9105"/>
                </a:cubicBezTo>
                <a:cubicBezTo>
                  <a:pt x="9613" y="9110"/>
                  <a:pt x="9604" y="9114"/>
                  <a:pt x="9595" y="9118"/>
                </a:cubicBezTo>
                <a:cubicBezTo>
                  <a:pt x="9586" y="9122"/>
                  <a:pt x="9577" y="9125"/>
                  <a:pt x="9568" y="9126"/>
                </a:cubicBezTo>
                <a:cubicBezTo>
                  <a:pt x="9559" y="9128"/>
                  <a:pt x="9549" y="9129"/>
                  <a:pt x="9540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8" y="9126"/>
                </a:cubicBezTo>
                <a:cubicBezTo>
                  <a:pt x="108" y="9125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50" y="9093"/>
                  <a:pt x="43" y="9087"/>
                </a:cubicBezTo>
                <a:cubicBezTo>
                  <a:pt x="36" y="9080"/>
                  <a:pt x="30" y="9072"/>
                  <a:pt x="25" y="9065"/>
                </a:cubicBezTo>
                <a:cubicBezTo>
                  <a:pt x="20" y="9057"/>
                  <a:pt x="15" y="9048"/>
                  <a:pt x="11" y="9039"/>
                </a:cubicBezTo>
                <a:cubicBezTo>
                  <a:pt x="8" y="9031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1104840" y="27907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9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1289520" y="2699640"/>
            <a:ext cx="2774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Microprocessor-based controls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1289520" y="2975760"/>
            <a:ext cx="2096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 precise temperature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104840" y="36572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2"/>
                  <a:pt x="153" y="111"/>
                </a:cubicBezTo>
                <a:cubicBezTo>
                  <a:pt x="149" y="121"/>
                  <a:pt x="144" y="130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1"/>
                  <a:pt x="24" y="24"/>
                </a:cubicBezTo>
                <a:cubicBezTo>
                  <a:pt x="31" y="16"/>
                  <a:pt x="40" y="11"/>
                  <a:pt x="50" y="7"/>
                </a:cubicBezTo>
                <a:cubicBezTo>
                  <a:pt x="59" y="3"/>
                  <a:pt x="70" y="0"/>
                  <a:pt x="80" y="0"/>
                </a:cubicBezTo>
                <a:cubicBezTo>
                  <a:pt x="91" y="0"/>
                  <a:pt x="101" y="3"/>
                  <a:pt x="110" y="7"/>
                </a:cubicBezTo>
                <a:cubicBezTo>
                  <a:pt x="120" y="11"/>
                  <a:pt x="129" y="16"/>
                  <a:pt x="136" y="24"/>
                </a:cubicBezTo>
                <a:cubicBezTo>
                  <a:pt x="144" y="31"/>
                  <a:pt x="149" y="41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1289520" y="3252240"/>
            <a:ext cx="963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regulation.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1289520" y="3566520"/>
            <a:ext cx="2517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 of CFC-free refrigerants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1289520" y="3842640"/>
            <a:ext cx="2256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(environmental shift after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1104840" y="45241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6"/>
                </a:cubicBezTo>
                <a:cubicBezTo>
                  <a:pt x="129" y="143"/>
                  <a:pt x="120" y="149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1289520" y="4118760"/>
            <a:ext cx="1686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Montreal Protocol).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1289520" y="4433400"/>
            <a:ext cx="2868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Better humidity control for fresh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942840" y="2304720"/>
            <a:ext cx="190800" cy="191160"/>
          </a:xfrm>
          <a:custGeom>
            <a:avLst/>
            <a:gdLst/>
            <a:ahLst/>
            <a:rect l="0" t="0" r="r" b="b"/>
            <a:pathLst>
              <a:path fill="none" w="530" h="531">
                <a:moveTo>
                  <a:pt x="530" y="266"/>
                </a:moveTo>
                <a:cubicBezTo>
                  <a:pt x="530" y="283"/>
                  <a:pt x="528" y="301"/>
                  <a:pt x="525" y="318"/>
                </a:cubicBezTo>
                <a:cubicBezTo>
                  <a:pt x="522" y="335"/>
                  <a:pt x="517" y="351"/>
                  <a:pt x="510" y="367"/>
                </a:cubicBezTo>
                <a:cubicBezTo>
                  <a:pt x="503" y="383"/>
                  <a:pt x="495" y="399"/>
                  <a:pt x="485" y="413"/>
                </a:cubicBezTo>
                <a:cubicBezTo>
                  <a:pt x="476" y="427"/>
                  <a:pt x="465" y="441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6"/>
                  <a:pt x="383" y="504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2" y="531"/>
                  <a:pt x="264" y="531"/>
                </a:cubicBezTo>
                <a:cubicBezTo>
                  <a:pt x="247" y="531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6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9"/>
                  <a:pt x="27" y="383"/>
                  <a:pt x="20" y="367"/>
                </a:cubicBezTo>
                <a:cubicBezTo>
                  <a:pt x="13" y="351"/>
                  <a:pt x="8" y="335"/>
                  <a:pt x="5" y="318"/>
                </a:cubicBezTo>
                <a:cubicBezTo>
                  <a:pt x="2" y="301"/>
                  <a:pt x="0" y="283"/>
                  <a:pt x="0" y="266"/>
                </a:cubicBezTo>
                <a:cubicBezTo>
                  <a:pt x="0" y="249"/>
                  <a:pt x="2" y="231"/>
                  <a:pt x="5" y="214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4"/>
                  <a:pt x="65" y="90"/>
                  <a:pt x="77" y="78"/>
                </a:cubicBezTo>
                <a:cubicBezTo>
                  <a:pt x="90" y="66"/>
                  <a:pt x="103" y="55"/>
                  <a:pt x="117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79" y="14"/>
                  <a:pt x="196" y="9"/>
                  <a:pt x="213" y="6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6"/>
                </a:cubicBezTo>
                <a:cubicBezTo>
                  <a:pt x="334" y="9"/>
                  <a:pt x="351" y="14"/>
                  <a:pt x="367" y="21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0"/>
                  <a:pt x="476" y="104"/>
                  <a:pt x="485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6"/>
                  <a:pt x="525" y="214"/>
                </a:cubicBezTo>
                <a:cubicBezTo>
                  <a:pt x="528" y="231"/>
                  <a:pt x="530" y="249"/>
                  <a:pt x="530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1037880" y="236196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1289520" y="4709520"/>
            <a:ext cx="785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produce.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4357440" y="2090520"/>
            <a:ext cx="3476880" cy="3286440"/>
          </a:xfrm>
          <a:custGeom>
            <a:avLst/>
            <a:gdLst/>
            <a:ahLst/>
            <a:rect l="0" t="0" r="r" b="b"/>
            <a:pathLst>
              <a:path w="9658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8"/>
                  <a:pt x="9569" y="11"/>
                </a:cubicBezTo>
                <a:cubicBezTo>
                  <a:pt x="9577" y="15"/>
                  <a:pt x="9586" y="19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8984"/>
                </a:lnTo>
                <a:cubicBezTo>
                  <a:pt x="9658" y="8993"/>
                  <a:pt x="9658" y="9003"/>
                  <a:pt x="9656" y="9012"/>
                </a:cubicBezTo>
                <a:cubicBezTo>
                  <a:pt x="9654" y="9021"/>
                  <a:pt x="9651" y="9031"/>
                  <a:pt x="9647" y="9039"/>
                </a:cubicBezTo>
                <a:cubicBezTo>
                  <a:pt x="9644" y="9048"/>
                  <a:pt x="9639" y="9057"/>
                  <a:pt x="9634" y="9065"/>
                </a:cubicBezTo>
                <a:cubicBezTo>
                  <a:pt x="9629" y="9072"/>
                  <a:pt x="9623" y="9080"/>
                  <a:pt x="9616" y="9087"/>
                </a:cubicBezTo>
                <a:cubicBezTo>
                  <a:pt x="9609" y="9093"/>
                  <a:pt x="9602" y="9099"/>
                  <a:pt x="9594" y="9105"/>
                </a:cubicBezTo>
                <a:cubicBezTo>
                  <a:pt x="9586" y="9110"/>
                  <a:pt x="9577" y="9114"/>
                  <a:pt x="9569" y="9118"/>
                </a:cubicBezTo>
                <a:cubicBezTo>
                  <a:pt x="9560" y="9122"/>
                  <a:pt x="9551" y="9125"/>
                  <a:pt x="9541" y="9126"/>
                </a:cubicBezTo>
                <a:cubicBezTo>
                  <a:pt x="9532" y="9128"/>
                  <a:pt x="9523" y="9129"/>
                  <a:pt x="9513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5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50" y="9093"/>
                  <a:pt x="43" y="9087"/>
                </a:cubicBezTo>
                <a:cubicBezTo>
                  <a:pt x="36" y="9080"/>
                  <a:pt x="30" y="9072"/>
                  <a:pt x="25" y="9065"/>
                </a:cubicBezTo>
                <a:cubicBezTo>
                  <a:pt x="19" y="9057"/>
                  <a:pt x="15" y="9048"/>
                  <a:pt x="11" y="9039"/>
                </a:cubicBezTo>
                <a:cubicBezTo>
                  <a:pt x="8" y="9031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4357440" y="2090520"/>
            <a:ext cx="3476880" cy="3286440"/>
          </a:xfrm>
          <a:custGeom>
            <a:avLst/>
            <a:gdLst/>
            <a:ahLst/>
            <a:rect l="0" t="0" r="r" b="b"/>
            <a:pathLst>
              <a:path fill="none" w="9658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8"/>
                  <a:pt x="9569" y="11"/>
                </a:cubicBezTo>
                <a:cubicBezTo>
                  <a:pt x="9577" y="15"/>
                  <a:pt x="9586" y="19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8984"/>
                </a:lnTo>
                <a:cubicBezTo>
                  <a:pt x="9658" y="8993"/>
                  <a:pt x="9658" y="9003"/>
                  <a:pt x="9656" y="9012"/>
                </a:cubicBezTo>
                <a:cubicBezTo>
                  <a:pt x="9654" y="9021"/>
                  <a:pt x="9651" y="9031"/>
                  <a:pt x="9647" y="9039"/>
                </a:cubicBezTo>
                <a:cubicBezTo>
                  <a:pt x="9644" y="9048"/>
                  <a:pt x="9639" y="9057"/>
                  <a:pt x="9634" y="9065"/>
                </a:cubicBezTo>
                <a:cubicBezTo>
                  <a:pt x="9629" y="9072"/>
                  <a:pt x="9623" y="9080"/>
                  <a:pt x="9616" y="9087"/>
                </a:cubicBezTo>
                <a:cubicBezTo>
                  <a:pt x="9609" y="9093"/>
                  <a:pt x="9602" y="9099"/>
                  <a:pt x="9594" y="9105"/>
                </a:cubicBezTo>
                <a:cubicBezTo>
                  <a:pt x="9586" y="9110"/>
                  <a:pt x="9577" y="9114"/>
                  <a:pt x="9569" y="9118"/>
                </a:cubicBezTo>
                <a:cubicBezTo>
                  <a:pt x="9560" y="9122"/>
                  <a:pt x="9551" y="9125"/>
                  <a:pt x="9541" y="9126"/>
                </a:cubicBezTo>
                <a:cubicBezTo>
                  <a:pt x="9532" y="9128"/>
                  <a:pt x="9523" y="9129"/>
                  <a:pt x="9513" y="9129"/>
                </a:cubicBezTo>
                <a:lnTo>
                  <a:pt x="146" y="9129"/>
                </a:lnTo>
                <a:cubicBezTo>
                  <a:pt x="136" y="9129"/>
                  <a:pt x="127" y="9128"/>
                  <a:pt x="117" y="9126"/>
                </a:cubicBezTo>
                <a:cubicBezTo>
                  <a:pt x="108" y="9125"/>
                  <a:pt x="99" y="9122"/>
                  <a:pt x="90" y="9118"/>
                </a:cubicBezTo>
                <a:cubicBezTo>
                  <a:pt x="81" y="9114"/>
                  <a:pt x="73" y="9110"/>
                  <a:pt x="65" y="9105"/>
                </a:cubicBezTo>
                <a:cubicBezTo>
                  <a:pt x="57" y="9099"/>
                  <a:pt x="50" y="9093"/>
                  <a:pt x="43" y="9087"/>
                </a:cubicBezTo>
                <a:cubicBezTo>
                  <a:pt x="36" y="9080"/>
                  <a:pt x="30" y="9072"/>
                  <a:pt x="25" y="9065"/>
                </a:cubicBezTo>
                <a:cubicBezTo>
                  <a:pt x="19" y="9057"/>
                  <a:pt x="15" y="9048"/>
                  <a:pt x="11" y="9039"/>
                </a:cubicBezTo>
                <a:cubicBezTo>
                  <a:pt x="8" y="9031"/>
                  <a:pt x="5" y="9021"/>
                  <a:pt x="3" y="9012"/>
                </a:cubicBezTo>
                <a:cubicBezTo>
                  <a:pt x="1" y="9003"/>
                  <a:pt x="0" y="8993"/>
                  <a:pt x="0" y="898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4695480" y="2790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49" y="120"/>
                  <a:pt x="143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3" y="30"/>
                  <a:pt x="149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1203120" y="229356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1990s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4877280" y="2699640"/>
            <a:ext cx="2642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Sleeker designs with stainless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4695480" y="3381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49" y="121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1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1" y="40"/>
                  <a:pt x="16" y="32"/>
                  <a:pt x="24" y="24"/>
                </a:cubicBezTo>
                <a:cubicBezTo>
                  <a:pt x="31" y="17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1"/>
                  <a:pt x="129" y="17"/>
                  <a:pt x="136" y="24"/>
                </a:cubicBezTo>
                <a:cubicBezTo>
                  <a:pt x="143" y="32"/>
                  <a:pt x="149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4877280" y="2975760"/>
            <a:ext cx="1220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steel ﬁnishes.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4877280" y="3290400"/>
            <a:ext cx="2467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Multi-zone cooling systems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4877280" y="3566520"/>
            <a:ext cx="2373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(diﬀerent temperatures for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4695480" y="4257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49" y="121"/>
                  <a:pt x="143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1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9" y="16"/>
                  <a:pt x="136" y="24"/>
                </a:cubicBezTo>
                <a:cubicBezTo>
                  <a:pt x="143" y="31"/>
                  <a:pt x="149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4877280" y="3842640"/>
            <a:ext cx="2217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diﬀerent compartments).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877280" y="4166640"/>
            <a:ext cx="2664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Introduction of energy ratings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4877280" y="4433400"/>
            <a:ext cx="2052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eco-labels guiding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4533840" y="2304720"/>
            <a:ext cx="190800" cy="191160"/>
          </a:xfrm>
          <a:custGeom>
            <a:avLst/>
            <a:gdLst/>
            <a:ahLst/>
            <a:rect l="0" t="0" r="r" b="b"/>
            <a:pathLst>
              <a:path fill="none" w="530" h="531">
                <a:moveTo>
                  <a:pt x="530" y="266"/>
                </a:moveTo>
                <a:cubicBezTo>
                  <a:pt x="530" y="283"/>
                  <a:pt x="528" y="301"/>
                  <a:pt x="525" y="318"/>
                </a:cubicBezTo>
                <a:cubicBezTo>
                  <a:pt x="521" y="335"/>
                  <a:pt x="516" y="351"/>
                  <a:pt x="510" y="367"/>
                </a:cubicBezTo>
                <a:cubicBezTo>
                  <a:pt x="503" y="383"/>
                  <a:pt x="495" y="399"/>
                  <a:pt x="485" y="413"/>
                </a:cubicBezTo>
                <a:cubicBezTo>
                  <a:pt x="476" y="427"/>
                  <a:pt x="465" y="441"/>
                  <a:pt x="452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6"/>
                  <a:pt x="383" y="504"/>
                  <a:pt x="366" y="510"/>
                </a:cubicBezTo>
                <a:cubicBezTo>
                  <a:pt x="349" y="517"/>
                  <a:pt x="333" y="522"/>
                  <a:pt x="316" y="525"/>
                </a:cubicBezTo>
                <a:cubicBezTo>
                  <a:pt x="299" y="529"/>
                  <a:pt x="282" y="531"/>
                  <a:pt x="264" y="531"/>
                </a:cubicBezTo>
                <a:cubicBezTo>
                  <a:pt x="247" y="531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6"/>
                  <a:pt x="117" y="486"/>
                </a:cubicBezTo>
                <a:cubicBezTo>
                  <a:pt x="103" y="476"/>
                  <a:pt x="89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9"/>
                  <a:pt x="26" y="383"/>
                  <a:pt x="20" y="367"/>
                </a:cubicBezTo>
                <a:cubicBezTo>
                  <a:pt x="13" y="351"/>
                  <a:pt x="8" y="335"/>
                  <a:pt x="5" y="318"/>
                </a:cubicBezTo>
                <a:cubicBezTo>
                  <a:pt x="1" y="301"/>
                  <a:pt x="0" y="283"/>
                  <a:pt x="0" y="266"/>
                </a:cubicBezTo>
                <a:cubicBezTo>
                  <a:pt x="0" y="249"/>
                  <a:pt x="1" y="231"/>
                  <a:pt x="5" y="214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6" y="148"/>
                  <a:pt x="35" y="132"/>
                  <a:pt x="44" y="118"/>
                </a:cubicBezTo>
                <a:cubicBezTo>
                  <a:pt x="54" y="104"/>
                  <a:pt x="65" y="90"/>
                  <a:pt x="77" y="78"/>
                </a:cubicBezTo>
                <a:cubicBezTo>
                  <a:pt x="89" y="66"/>
                  <a:pt x="103" y="55"/>
                  <a:pt x="117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79" y="14"/>
                  <a:pt x="196" y="9"/>
                  <a:pt x="213" y="6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299" y="2"/>
                  <a:pt x="316" y="6"/>
                </a:cubicBezTo>
                <a:cubicBezTo>
                  <a:pt x="333" y="9"/>
                  <a:pt x="349" y="14"/>
                  <a:pt x="366" y="21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5"/>
                  <a:pt x="440" y="66"/>
                  <a:pt x="452" y="78"/>
                </a:cubicBezTo>
                <a:cubicBezTo>
                  <a:pt x="465" y="90"/>
                  <a:pt x="476" y="104"/>
                  <a:pt x="485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6" y="180"/>
                  <a:pt x="521" y="196"/>
                  <a:pt x="525" y="214"/>
                </a:cubicBezTo>
                <a:cubicBezTo>
                  <a:pt x="528" y="231"/>
                  <a:pt x="530" y="249"/>
                  <a:pt x="530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4628880" y="2361960"/>
            <a:ext cx="360" cy="76320"/>
          </a:xfrm>
          <a:custGeom>
            <a:avLst/>
            <a:gdLst/>
            <a:ahLst/>
            <a:rect l="0" t="0" r="r" b="b"/>
            <a:pathLst>
              <a:path fill="none" w="1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4877280" y="4709520"/>
            <a:ext cx="1558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consumer choice.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7939080" y="2090520"/>
            <a:ext cx="3486240" cy="3286440"/>
          </a:xfrm>
          <a:custGeom>
            <a:avLst/>
            <a:gdLst/>
            <a:ahLst/>
            <a:rect l="0" t="0" r="r" b="b"/>
            <a:pathLst>
              <a:path w="9684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8"/>
                  <a:pt x="9594" y="11"/>
                </a:cubicBezTo>
                <a:cubicBezTo>
                  <a:pt x="9603" y="15"/>
                  <a:pt x="9612" y="19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8984"/>
                </a:lnTo>
                <a:cubicBezTo>
                  <a:pt x="9684" y="8993"/>
                  <a:pt x="9683" y="9003"/>
                  <a:pt x="9681" y="9012"/>
                </a:cubicBezTo>
                <a:cubicBezTo>
                  <a:pt x="9680" y="9021"/>
                  <a:pt x="9677" y="9031"/>
                  <a:pt x="9673" y="9039"/>
                </a:cubicBezTo>
                <a:cubicBezTo>
                  <a:pt x="9670" y="9048"/>
                  <a:pt x="9665" y="9057"/>
                  <a:pt x="9660" y="9065"/>
                </a:cubicBezTo>
                <a:cubicBezTo>
                  <a:pt x="9654" y="9072"/>
                  <a:pt x="9648" y="9080"/>
                  <a:pt x="9642" y="9087"/>
                </a:cubicBezTo>
                <a:cubicBezTo>
                  <a:pt x="9635" y="9093"/>
                  <a:pt x="9628" y="9099"/>
                  <a:pt x="9620" y="9105"/>
                </a:cubicBezTo>
                <a:cubicBezTo>
                  <a:pt x="9612" y="9110"/>
                  <a:pt x="9603" y="9114"/>
                  <a:pt x="9594" y="9118"/>
                </a:cubicBezTo>
                <a:cubicBezTo>
                  <a:pt x="9586" y="9122"/>
                  <a:pt x="9577" y="9125"/>
                  <a:pt x="9567" y="9126"/>
                </a:cubicBezTo>
                <a:cubicBezTo>
                  <a:pt x="9558" y="9128"/>
                  <a:pt x="9548" y="9129"/>
                  <a:pt x="9539" y="9129"/>
                </a:cubicBezTo>
                <a:lnTo>
                  <a:pt x="145" y="9129"/>
                </a:lnTo>
                <a:cubicBezTo>
                  <a:pt x="135" y="9129"/>
                  <a:pt x="126" y="9128"/>
                  <a:pt x="117" y="9126"/>
                </a:cubicBezTo>
                <a:cubicBezTo>
                  <a:pt x="107" y="9125"/>
                  <a:pt x="98" y="9122"/>
                  <a:pt x="89" y="9118"/>
                </a:cubicBezTo>
                <a:cubicBezTo>
                  <a:pt x="81" y="9114"/>
                  <a:pt x="72" y="9110"/>
                  <a:pt x="64" y="9105"/>
                </a:cubicBezTo>
                <a:cubicBezTo>
                  <a:pt x="56" y="9099"/>
                  <a:pt x="49" y="9093"/>
                  <a:pt x="42" y="9087"/>
                </a:cubicBezTo>
                <a:cubicBezTo>
                  <a:pt x="35" y="9080"/>
                  <a:pt x="29" y="9072"/>
                  <a:pt x="24" y="9065"/>
                </a:cubicBezTo>
                <a:cubicBezTo>
                  <a:pt x="19" y="9057"/>
                  <a:pt x="14" y="9048"/>
                  <a:pt x="11" y="9039"/>
                </a:cubicBezTo>
                <a:cubicBezTo>
                  <a:pt x="7" y="9031"/>
                  <a:pt x="4" y="9021"/>
                  <a:pt x="2" y="9012"/>
                </a:cubicBezTo>
                <a:cubicBezTo>
                  <a:pt x="0" y="9003"/>
                  <a:pt x="0" y="8993"/>
                  <a:pt x="0" y="898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7939080" y="2090520"/>
            <a:ext cx="3486240" cy="3286440"/>
          </a:xfrm>
          <a:custGeom>
            <a:avLst/>
            <a:gdLst/>
            <a:ahLst/>
            <a:rect l="0" t="0" r="r" b="b"/>
            <a:pathLst>
              <a:path fill="none" w="9684" h="9129">
                <a:moveTo>
                  <a:pt x="0" y="8984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8"/>
                  <a:pt x="9594" y="11"/>
                </a:cubicBezTo>
                <a:cubicBezTo>
                  <a:pt x="9603" y="15"/>
                  <a:pt x="9612" y="19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8984"/>
                </a:lnTo>
                <a:cubicBezTo>
                  <a:pt x="9684" y="8993"/>
                  <a:pt x="9683" y="9003"/>
                  <a:pt x="9681" y="9012"/>
                </a:cubicBezTo>
                <a:cubicBezTo>
                  <a:pt x="9680" y="9021"/>
                  <a:pt x="9677" y="9031"/>
                  <a:pt x="9673" y="9039"/>
                </a:cubicBezTo>
                <a:cubicBezTo>
                  <a:pt x="9670" y="9048"/>
                  <a:pt x="9665" y="9057"/>
                  <a:pt x="9660" y="9065"/>
                </a:cubicBezTo>
                <a:cubicBezTo>
                  <a:pt x="9654" y="9072"/>
                  <a:pt x="9648" y="9080"/>
                  <a:pt x="9642" y="9087"/>
                </a:cubicBezTo>
                <a:cubicBezTo>
                  <a:pt x="9635" y="9093"/>
                  <a:pt x="9628" y="9099"/>
                  <a:pt x="9620" y="9105"/>
                </a:cubicBezTo>
                <a:cubicBezTo>
                  <a:pt x="9612" y="9110"/>
                  <a:pt x="9603" y="9114"/>
                  <a:pt x="9594" y="9118"/>
                </a:cubicBezTo>
                <a:cubicBezTo>
                  <a:pt x="9586" y="9122"/>
                  <a:pt x="9577" y="9125"/>
                  <a:pt x="9567" y="9126"/>
                </a:cubicBezTo>
                <a:cubicBezTo>
                  <a:pt x="9558" y="9128"/>
                  <a:pt x="9548" y="9129"/>
                  <a:pt x="9539" y="9129"/>
                </a:cubicBezTo>
                <a:lnTo>
                  <a:pt x="145" y="9129"/>
                </a:lnTo>
                <a:cubicBezTo>
                  <a:pt x="135" y="9129"/>
                  <a:pt x="126" y="9128"/>
                  <a:pt x="117" y="9126"/>
                </a:cubicBezTo>
                <a:cubicBezTo>
                  <a:pt x="107" y="9125"/>
                  <a:pt x="98" y="9122"/>
                  <a:pt x="89" y="9118"/>
                </a:cubicBezTo>
                <a:cubicBezTo>
                  <a:pt x="81" y="9114"/>
                  <a:pt x="72" y="9110"/>
                  <a:pt x="64" y="9105"/>
                </a:cubicBezTo>
                <a:cubicBezTo>
                  <a:pt x="56" y="9099"/>
                  <a:pt x="49" y="9093"/>
                  <a:pt x="42" y="9087"/>
                </a:cubicBezTo>
                <a:cubicBezTo>
                  <a:pt x="35" y="9080"/>
                  <a:pt x="29" y="9072"/>
                  <a:pt x="24" y="9065"/>
                </a:cubicBezTo>
                <a:cubicBezTo>
                  <a:pt x="19" y="9057"/>
                  <a:pt x="14" y="9048"/>
                  <a:pt x="11" y="9039"/>
                </a:cubicBezTo>
                <a:cubicBezTo>
                  <a:pt x="7" y="9031"/>
                  <a:pt x="4" y="9021"/>
                  <a:pt x="2" y="9012"/>
                </a:cubicBezTo>
                <a:cubicBezTo>
                  <a:pt x="0" y="9003"/>
                  <a:pt x="0" y="8993"/>
                  <a:pt x="0" y="898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8286480" y="2790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8" y="144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4790880" y="229356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2000s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8465040" y="2699640"/>
            <a:ext cx="2662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Wi-Fi-enabled “smart fridges”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8465040" y="2975760"/>
            <a:ext cx="25178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with touchscreens, cameras,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8465040" y="3252240"/>
            <a:ext cx="1688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connectivity 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8286480" y="3933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8" y="144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465040" y="3519000"/>
            <a:ext cx="1216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smartphones.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8465040" y="3842640"/>
            <a:ext cx="2188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Inverter compressors for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8286480" y="4524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8" y="143"/>
                  <a:pt x="120" y="149"/>
                  <a:pt x="110" y="154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49"/>
                  <a:pt x="31" y="143"/>
                  <a:pt x="23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8465040" y="4118760"/>
            <a:ext cx="2741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quieter, more eﬃcient cooling.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8465040" y="4433400"/>
            <a:ext cx="2355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LED lighting and advanced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8465040" y="4709520"/>
            <a:ext cx="2539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insulation further cut energy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8115120" y="2304720"/>
            <a:ext cx="190800" cy="191160"/>
          </a:xfrm>
          <a:custGeom>
            <a:avLst/>
            <a:gdLst/>
            <a:ahLst/>
            <a:rect l="0" t="0" r="r" b="b"/>
            <a:pathLst>
              <a:path fill="none" w="530" h="531">
                <a:moveTo>
                  <a:pt x="530" y="266"/>
                </a:moveTo>
                <a:cubicBezTo>
                  <a:pt x="530" y="283"/>
                  <a:pt x="528" y="301"/>
                  <a:pt x="525" y="318"/>
                </a:cubicBezTo>
                <a:cubicBezTo>
                  <a:pt x="522" y="335"/>
                  <a:pt x="517" y="351"/>
                  <a:pt x="510" y="367"/>
                </a:cubicBezTo>
                <a:cubicBezTo>
                  <a:pt x="503" y="383"/>
                  <a:pt x="495" y="399"/>
                  <a:pt x="486" y="413"/>
                </a:cubicBezTo>
                <a:cubicBezTo>
                  <a:pt x="476" y="427"/>
                  <a:pt x="464" y="441"/>
                  <a:pt x="452" y="453"/>
                </a:cubicBezTo>
                <a:cubicBezTo>
                  <a:pt x="439" y="465"/>
                  <a:pt x="426" y="476"/>
                  <a:pt x="412" y="486"/>
                </a:cubicBezTo>
                <a:cubicBezTo>
                  <a:pt x="397" y="496"/>
                  <a:pt x="382" y="504"/>
                  <a:pt x="366" y="510"/>
                </a:cubicBezTo>
                <a:cubicBezTo>
                  <a:pt x="350" y="517"/>
                  <a:pt x="333" y="522"/>
                  <a:pt x="316" y="525"/>
                </a:cubicBezTo>
                <a:cubicBezTo>
                  <a:pt x="299" y="529"/>
                  <a:pt x="282" y="531"/>
                  <a:pt x="265" y="531"/>
                </a:cubicBezTo>
                <a:cubicBezTo>
                  <a:pt x="247" y="531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6"/>
                  <a:pt x="118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5" y="413"/>
                </a:cubicBezTo>
                <a:cubicBezTo>
                  <a:pt x="35" y="399"/>
                  <a:pt x="27" y="383"/>
                  <a:pt x="20" y="367"/>
                </a:cubicBezTo>
                <a:cubicBezTo>
                  <a:pt x="13" y="351"/>
                  <a:pt x="8" y="335"/>
                  <a:pt x="5" y="318"/>
                </a:cubicBezTo>
                <a:cubicBezTo>
                  <a:pt x="2" y="301"/>
                  <a:pt x="0" y="283"/>
                  <a:pt x="0" y="266"/>
                </a:cubicBezTo>
                <a:cubicBezTo>
                  <a:pt x="0" y="249"/>
                  <a:pt x="2" y="231"/>
                  <a:pt x="5" y="214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4"/>
                  <a:pt x="65" y="90"/>
                  <a:pt x="77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7" y="27"/>
                  <a:pt x="163" y="21"/>
                </a:cubicBezTo>
                <a:cubicBezTo>
                  <a:pt x="179" y="14"/>
                  <a:pt x="196" y="9"/>
                  <a:pt x="213" y="6"/>
                </a:cubicBezTo>
                <a:cubicBezTo>
                  <a:pt x="230" y="2"/>
                  <a:pt x="247" y="0"/>
                  <a:pt x="265" y="0"/>
                </a:cubicBezTo>
                <a:cubicBezTo>
                  <a:pt x="282" y="0"/>
                  <a:pt x="299" y="2"/>
                  <a:pt x="316" y="6"/>
                </a:cubicBezTo>
                <a:cubicBezTo>
                  <a:pt x="333" y="9"/>
                  <a:pt x="350" y="14"/>
                  <a:pt x="366" y="21"/>
                </a:cubicBezTo>
                <a:cubicBezTo>
                  <a:pt x="382" y="27"/>
                  <a:pt x="397" y="35"/>
                  <a:pt x="412" y="45"/>
                </a:cubicBezTo>
                <a:cubicBezTo>
                  <a:pt x="426" y="55"/>
                  <a:pt x="439" y="66"/>
                  <a:pt x="452" y="78"/>
                </a:cubicBezTo>
                <a:cubicBezTo>
                  <a:pt x="464" y="90"/>
                  <a:pt x="476" y="104"/>
                  <a:pt x="486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6"/>
                  <a:pt x="525" y="214"/>
                </a:cubicBezTo>
                <a:cubicBezTo>
                  <a:pt x="528" y="231"/>
                  <a:pt x="530" y="249"/>
                  <a:pt x="530" y="266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8210520" y="2361960"/>
            <a:ext cx="0" cy="76320"/>
          </a:xfrm>
          <a:custGeom>
            <a:avLst/>
            <a:gdLst/>
            <a:ahLst/>
            <a:rect l="0" t="0" r="r" b="b"/>
            <a:pathLst>
              <a:path fill="none" w="0" h="212">
                <a:moveTo>
                  <a:pt x="0" y="212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8465040" y="4985640"/>
            <a:ext cx="367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8378640" y="2293560"/>
            <a:ext cx="733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2010s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4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9" name=""/>
          <p:cNvSpPr/>
          <p:nvPr/>
        </p:nvSpPr>
        <p:spPr>
          <a:xfrm>
            <a:off x="571320" y="761760"/>
            <a:ext cx="11049480" cy="5410440"/>
          </a:xfrm>
          <a:custGeom>
            <a:avLst/>
            <a:gdLst/>
            <a:ahLst/>
            <a:rect l="0" t="0" r="r" b="b"/>
            <a:pathLst>
              <a:path w="30693" h="15029">
                <a:moveTo>
                  <a:pt x="0" y="0"/>
                </a:moveTo>
                <a:lnTo>
                  <a:pt x="30693" y="0"/>
                </a:lnTo>
                <a:lnTo>
                  <a:pt x="30693" y="15029"/>
                </a:lnTo>
                <a:lnTo>
                  <a:pt x="0" y="150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50" name="" descr=""/>
          <p:cNvPicPr/>
          <p:nvPr/>
        </p:nvPicPr>
        <p:blipFill>
          <a:blip r:embed="rId2"/>
          <a:stretch/>
        </p:blipFill>
        <p:spPr>
          <a:xfrm>
            <a:off x="5753160" y="296244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5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9" name=""/>
          <p:cNvSpPr txBox="1"/>
          <p:nvPr/>
        </p:nvSpPr>
        <p:spPr>
          <a:xfrm>
            <a:off x="762120" y="2765880"/>
            <a:ext cx="10334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Systematic design provides a structured and methodical way to manage the complexity inherent in large,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762120" y="3070440"/>
            <a:ext cx="2658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multi-component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762120" y="3527640"/>
            <a:ext cx="10583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 is both a mindset and a methodology, drawing from systems thinking, optimisation, and domain-speciﬁc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762120" y="3832560"/>
            <a:ext cx="2178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engineering practices.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762120" y="4280400"/>
            <a:ext cx="10563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integrating stakeholder needs, technical constraints, and adaptive feedback, systematic design becomes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762120" y="4584960"/>
            <a:ext cx="8902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essential not just for building systems that work, but for building systems that can evolve.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264726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762120" y="372600"/>
            <a:ext cx="3480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1238400" y="6569280"/>
            <a:ext cx="317484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7659aa0 | © 06.10.2026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973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4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857160" y="3123720"/>
            <a:ext cx="57556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Universtity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