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29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3.xml.rels" ContentType="application/vnd.openxmlformats-package.relationships+xml"/>
  <Override PartName="/ppt/slides/_rels/slide30.xml.rels" ContentType="application/vnd.openxmlformats-package.relationships+xml"/>
  <Override PartName="/ppt/slides/_rels/slide5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32.xml.rels" ContentType="application/vnd.openxmlformats-package.relationships+xml"/>
  <Override PartName="/ppt/slides/_rels/slide7.xml.rels" ContentType="application/vnd.openxmlformats-package.relationships+xml"/>
  <Override PartName="/ppt/slides/_rels/slide28.xml.rels" ContentType="application/vnd.openxmlformats-package.relationships+xml"/>
  <Override PartName="/ppt/slides/_rels/slide23.xml.rels" ContentType="application/vnd.openxmlformats-package.relationships+xml"/>
  <Override PartName="/ppt/slides/_rels/slide31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8.xml" ContentType="application/vnd.openxmlformats-officedocument.presentationml.slide+xml"/>
  <Override PartName="/ppt/slides/slide2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31.xml" ContentType="application/vnd.openxmlformats-officedocument.presentationml.slide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32.xml" ContentType="application/vnd.openxmlformats-officedocument.presentationml.slide+xml"/>
  <Override PartName="/ppt/slides/slide27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 txBox="1"/>
          <p:nvPr/>
        </p:nvSpPr>
        <p:spPr>
          <a:xfrm>
            <a:off x="762120" y="5183640"/>
            <a:ext cx="1905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62120" y="1558800"/>
            <a:ext cx="1036296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Introduction to Systematic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62120" y="2454120"/>
            <a:ext cx="652140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Design of Multi-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62120" y="3349440"/>
            <a:ext cx="800352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Component Systems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"/>
          <p:cNvSpPr/>
          <p:nvPr/>
        </p:nvSpPr>
        <p:spPr>
          <a:xfrm>
            <a:off x="4305240" y="2266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4" y="140"/>
                  <a:pt x="167" y="150"/>
                  <a:pt x="158" y="159"/>
                </a:cubicBezTo>
                <a:cubicBezTo>
                  <a:pt x="149" y="167"/>
                  <a:pt x="139" y="174"/>
                  <a:pt x="128" y="179"/>
                </a:cubicBezTo>
                <a:cubicBezTo>
                  <a:pt x="116" y="183"/>
                  <a:pt x="105" y="186"/>
                  <a:pt x="92" y="186"/>
                </a:cubicBezTo>
                <a:cubicBezTo>
                  <a:pt x="80" y="186"/>
                  <a:pt x="68" y="183"/>
                  <a:pt x="57" y="179"/>
                </a:cubicBezTo>
                <a:cubicBezTo>
                  <a:pt x="45" y="174"/>
                  <a:pt x="35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5" y="18"/>
                  <a:pt x="45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1"/>
                  <a:pt x="149" y="18"/>
                  <a:pt x="158" y="27"/>
                </a:cubicBezTo>
                <a:cubicBezTo>
                  <a:pt x="167" y="35"/>
                  <a:pt x="174" y="45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095720" y="1717920"/>
            <a:ext cx="4448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By the end of this lecture, you will be able to: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502160" y="2175120"/>
            <a:ext cx="6553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Identify the diﬀerences between monolithic and distributed design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4305240" y="2933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7" y="150"/>
                  <a:pt x="158" y="159"/>
                </a:cubicBezTo>
                <a:cubicBezTo>
                  <a:pt x="149" y="167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5" y="174"/>
                  <a:pt x="35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5" y="18"/>
                  <a:pt x="45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1"/>
                  <a:pt x="149" y="18"/>
                  <a:pt x="158" y="27"/>
                </a:cubicBezTo>
                <a:cubicBezTo>
                  <a:pt x="167" y="35"/>
                  <a:pt x="174" y="45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502160" y="2480040"/>
            <a:ext cx="1197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approaches.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4305240" y="3286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7" y="150"/>
                  <a:pt x="158" y="159"/>
                </a:cubicBezTo>
                <a:cubicBezTo>
                  <a:pt x="149" y="167"/>
                  <a:pt x="139" y="174"/>
                  <a:pt x="128" y="179"/>
                </a:cubicBezTo>
                <a:cubicBezTo>
                  <a:pt x="116" y="183"/>
                  <a:pt x="105" y="186"/>
                  <a:pt x="92" y="186"/>
                </a:cubicBezTo>
                <a:cubicBezTo>
                  <a:pt x="80" y="186"/>
                  <a:pt x="68" y="183"/>
                  <a:pt x="57" y="179"/>
                </a:cubicBezTo>
                <a:cubicBezTo>
                  <a:pt x="45" y="174"/>
                  <a:pt x="35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8"/>
                  <a:pt x="45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1"/>
                  <a:pt x="149" y="18"/>
                  <a:pt x="158" y="27"/>
                </a:cubicBezTo>
                <a:cubicBezTo>
                  <a:pt x="167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502160" y="2841840"/>
            <a:ext cx="5807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Describe the key principles of a systematic design process.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502160" y="3194280"/>
            <a:ext cx="669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Explain the importance of interfaces and coordination in distributed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4305240" y="3943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7" y="151"/>
                  <a:pt x="158" y="159"/>
                </a:cubicBezTo>
                <a:cubicBezTo>
                  <a:pt x="149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5" y="175"/>
                  <a:pt x="35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49" y="19"/>
                  <a:pt x="158" y="27"/>
                </a:cubicBezTo>
                <a:cubicBezTo>
                  <a:pt x="167" y="36"/>
                  <a:pt x="174" y="46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502160" y="3499200"/>
            <a:ext cx="2092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 development.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4502160" y="3851640"/>
            <a:ext cx="6811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Evaluate tools and methods used to support the systematic design of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4305240" y="46098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7" y="151"/>
                  <a:pt x="158" y="159"/>
                </a:cubicBezTo>
                <a:cubicBezTo>
                  <a:pt x="149" y="168"/>
                  <a:pt x="139" y="175"/>
                  <a:pt x="128" y="179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79"/>
                </a:cubicBezTo>
                <a:cubicBezTo>
                  <a:pt x="45" y="175"/>
                  <a:pt x="35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49" y="19"/>
                  <a:pt x="158" y="27"/>
                </a:cubicBezTo>
                <a:cubicBezTo>
                  <a:pt x="167" y="36"/>
                  <a:pt x="174" y="46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4502160" y="4156560"/>
            <a:ext cx="176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complex systems.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502160" y="4518360"/>
            <a:ext cx="5951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Apply a systematic design process to a simpliﬁed real-world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4067280" cy="6191280"/>
          </a:xfrm>
          <a:custGeom>
            <a:avLst/>
            <a:gdLst/>
            <a:ahLst/>
            <a:rect l="0" t="0" r="r" b="b"/>
            <a:pathLst>
              <a:path w="11298" h="17198">
                <a:moveTo>
                  <a:pt x="0" y="0"/>
                </a:moveTo>
                <a:lnTo>
                  <a:pt x="11298" y="0"/>
                </a:lnTo>
                <a:lnTo>
                  <a:pt x="11298" y="17198"/>
                </a:lnTo>
                <a:lnTo>
                  <a:pt x="0" y="17198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502160" y="4823280"/>
            <a:ext cx="2121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engineering problem.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46920" y="381960"/>
            <a:ext cx="27727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Intended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58800" y="1296360"/>
            <a:ext cx="2748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Learning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55040" y="2210760"/>
            <a:ext cx="31568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Outcomes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"/>
          <p:cNvSpPr txBox="1"/>
          <p:nvPr/>
        </p:nvSpPr>
        <p:spPr>
          <a:xfrm>
            <a:off x="762120" y="3527640"/>
            <a:ext cx="1057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Modern products and systems are increasingly complex and interconnected, demanding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robust, adaptable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762120" y="3832560"/>
            <a:ext cx="6582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Scalable designs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; ad hoc approaches inherently increase risk.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762120" y="372600"/>
            <a:ext cx="59425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Problem statement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"/>
          <p:cNvSpPr txBox="1"/>
          <p:nvPr/>
        </p:nvSpPr>
        <p:spPr>
          <a:xfrm>
            <a:off x="762120" y="2613240"/>
            <a:ext cx="6448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Designing modern engineering systems often involves combining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762120" y="2918160"/>
            <a:ext cx="6624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mechanical, electrical, and software components, each with its own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62120" y="3223080"/>
            <a:ext cx="4030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functional logic and physical constraints.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762120" y="3680280"/>
            <a:ext cx="6279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robot, for example, may contain a motion controller, sensors,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762120" y="3975480"/>
            <a:ext cx="705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actuators, communication links, and onboard processing. Such systems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762120" y="4280400"/>
            <a:ext cx="6649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cannot be designed eﬀectively without breaking the problem down,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8010360" y="258120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"/>
          <p:cNvSpPr txBox="1"/>
          <p:nvPr/>
        </p:nvSpPr>
        <p:spPr>
          <a:xfrm>
            <a:off x="762120" y="4584960"/>
            <a:ext cx="5824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coordinating sub-systems, and validating their integration.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163360" y="2613240"/>
            <a:ext cx="3259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Modern engineering components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62120" y="372600"/>
            <a:ext cx="63421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Modern Engineering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"/>
          <p:cNvSpPr txBox="1"/>
          <p:nvPr/>
        </p:nvSpPr>
        <p:spPr>
          <a:xfrm>
            <a:off x="762120" y="3527640"/>
            <a:ext cx="105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Recall from the Systems Thinking lecture: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systemic design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accounts for the whole system and its feedback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762120" y="3832560"/>
            <a:ext cx="10366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loops;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systematic design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breaks it into orderly, methodical steps. This lecture goes deep on the second.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62120" y="-8280"/>
            <a:ext cx="96138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Recap: Systemic vs. Systematic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62120" y="753480"/>
            <a:ext cx="21866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Design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876240" y="1436040"/>
            <a:ext cx="344052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Systemic Design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876240" y="2331720"/>
            <a:ext cx="9640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A design approach that integrates systems thinking into the design process to address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876240" y="2703240"/>
            <a:ext cx="9874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complex, interconnected, socio-technical challenges involving multiple stakeholders and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76240" y="3065040"/>
            <a:ext cx="2505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dynamic relationships.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1085760" y="41814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6" y="167"/>
                  <a:pt x="27" y="159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6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7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76240" y="3579480"/>
            <a:ext cx="2137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Key characteristics: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1085760" y="45338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7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282680" y="4089960"/>
            <a:ext cx="6740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Emphasises relationships, feedback loops, and emergent behaviours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1085760" y="4895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8" y="149"/>
                  <a:pt x="159" y="158"/>
                </a:cubicBezTo>
                <a:cubicBezTo>
                  <a:pt x="150" y="167"/>
                  <a:pt x="140" y="174"/>
                  <a:pt x="129" y="178"/>
                </a:cubicBezTo>
                <a:cubicBezTo>
                  <a:pt x="117" y="183"/>
                  <a:pt x="106" y="186"/>
                  <a:pt x="93" y="186"/>
                </a:cubicBezTo>
                <a:cubicBezTo>
                  <a:pt x="81" y="186"/>
                  <a:pt x="69" y="183"/>
                  <a:pt x="58" y="178"/>
                </a:cubicBezTo>
                <a:cubicBezTo>
                  <a:pt x="47" y="174"/>
                  <a:pt x="36" y="167"/>
                  <a:pt x="27" y="158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7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282680" y="4442040"/>
            <a:ext cx="4575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Integrates qualitative and quantitative analysis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085760" y="5248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6" y="168"/>
                  <a:pt x="27" y="159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7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282680" y="4804200"/>
            <a:ext cx="7227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Focused on sense-making and co-creation in messy, real-world contexts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282680" y="5156640"/>
            <a:ext cx="7612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Often applied to sustainability, healthcare, policy, education, and ecosystems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35252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79992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2" y="322"/>
                  <a:pt x="7" y="298"/>
                </a:cubicBezTo>
                <a:cubicBezTo>
                  <a:pt x="12" y="274"/>
                  <a:pt x="19" y="251"/>
                  <a:pt x="28" y="228"/>
                </a:cubicBezTo>
                <a:cubicBezTo>
                  <a:pt x="38" y="206"/>
                  <a:pt x="49" y="185"/>
                  <a:pt x="62" y="164"/>
                </a:cubicBezTo>
                <a:cubicBezTo>
                  <a:pt x="76" y="144"/>
                  <a:pt x="91" y="125"/>
                  <a:pt x="108" y="108"/>
                </a:cubicBezTo>
                <a:cubicBezTo>
                  <a:pt x="126" y="91"/>
                  <a:pt x="144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1" y="0"/>
                </a:cubicBezTo>
                <a:cubicBezTo>
                  <a:pt x="396" y="0"/>
                  <a:pt x="420" y="2"/>
                  <a:pt x="444" y="7"/>
                </a:cubicBezTo>
                <a:cubicBezTo>
                  <a:pt x="468" y="12"/>
                  <a:pt x="491" y="19"/>
                  <a:pt x="513" y="28"/>
                </a:cubicBezTo>
                <a:cubicBezTo>
                  <a:pt x="536" y="37"/>
                  <a:pt x="557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1" y="125"/>
                  <a:pt x="666" y="144"/>
                  <a:pt x="679" y="164"/>
                </a:cubicBezTo>
                <a:cubicBezTo>
                  <a:pt x="693" y="185"/>
                  <a:pt x="704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39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39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4" y="641"/>
                  <a:pt x="693" y="663"/>
                  <a:pt x="679" y="683"/>
                </a:cubicBezTo>
                <a:cubicBezTo>
                  <a:pt x="666" y="703"/>
                  <a:pt x="651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7" y="798"/>
                  <a:pt x="536" y="810"/>
                  <a:pt x="513" y="819"/>
                </a:cubicBezTo>
                <a:cubicBezTo>
                  <a:pt x="491" y="829"/>
                  <a:pt x="468" y="836"/>
                  <a:pt x="444" y="840"/>
                </a:cubicBezTo>
                <a:cubicBezTo>
                  <a:pt x="420" y="845"/>
                  <a:pt x="396" y="847"/>
                  <a:pt x="371" y="847"/>
                </a:cubicBezTo>
                <a:cubicBezTo>
                  <a:pt x="346" y="847"/>
                  <a:pt x="322" y="845"/>
                  <a:pt x="298" y="840"/>
                </a:cubicBezTo>
                <a:cubicBezTo>
                  <a:pt x="274" y="836"/>
                  <a:pt x="251" y="829"/>
                  <a:pt x="229" y="819"/>
                </a:cubicBezTo>
                <a:cubicBezTo>
                  <a:pt x="206" y="810"/>
                  <a:pt x="185" y="798"/>
                  <a:pt x="165" y="785"/>
                </a:cubicBezTo>
                <a:cubicBezTo>
                  <a:pt x="144" y="771"/>
                  <a:pt x="126" y="756"/>
                  <a:pt x="108" y="739"/>
                </a:cubicBezTo>
                <a:cubicBezTo>
                  <a:pt x="91" y="722"/>
                  <a:pt x="76" y="703"/>
                  <a:pt x="62" y="683"/>
                </a:cubicBezTo>
                <a:cubicBezTo>
                  <a:pt x="49" y="663"/>
                  <a:pt x="38" y="641"/>
                  <a:pt x="28" y="619"/>
                </a:cubicBezTo>
                <a:cubicBezTo>
                  <a:pt x="19" y="596"/>
                  <a:pt x="12" y="573"/>
                  <a:pt x="7" y="548"/>
                </a:cubicBezTo>
                <a:cubicBezTo>
                  <a:pt x="2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35252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87624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76240" y="1436040"/>
            <a:ext cx="562824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Systemic Design Principles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085760" y="2933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7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876240" y="2331720"/>
            <a:ext cx="5074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A common systemic design mindset includes: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085760" y="3286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3"/>
                  <a:pt x="106" y="186"/>
                  <a:pt x="93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7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7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282680" y="2841840"/>
            <a:ext cx="3210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Acknowledging interconnections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085760" y="36385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6"/>
                  <a:pt x="179" y="128"/>
                </a:cubicBezTo>
                <a:cubicBezTo>
                  <a:pt x="174" y="139"/>
                  <a:pt x="168" y="149"/>
                  <a:pt x="159" y="158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3"/>
                  <a:pt x="106" y="186"/>
                  <a:pt x="93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7" y="174"/>
                  <a:pt x="36" y="167"/>
                  <a:pt x="27" y="158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6"/>
                  <a:pt x="0" y="104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7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282680" y="3194280"/>
            <a:ext cx="304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Redeﬁning waste as a resource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1085760" y="40003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6" y="168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7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282680" y="3546720"/>
            <a:ext cx="3423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Designing self-organising systems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282680" y="3908880"/>
            <a:ext cx="5108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Using feedback as a guide to adaptive improvement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876240" y="4379400"/>
            <a:ext cx="10107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These mindsets are increasingly important as engineers face challenges that are not purely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876240" y="4741560"/>
            <a:ext cx="9163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technical but socio-technical, requiring both human and machine systems to work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876240" y="5103360"/>
            <a:ext cx="1580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harmoniously.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35252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79992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2" y="322"/>
                  <a:pt x="7" y="298"/>
                </a:cubicBezTo>
                <a:cubicBezTo>
                  <a:pt x="12" y="274"/>
                  <a:pt x="19" y="251"/>
                  <a:pt x="28" y="228"/>
                </a:cubicBezTo>
                <a:cubicBezTo>
                  <a:pt x="38" y="206"/>
                  <a:pt x="49" y="185"/>
                  <a:pt x="62" y="164"/>
                </a:cubicBezTo>
                <a:cubicBezTo>
                  <a:pt x="76" y="144"/>
                  <a:pt x="91" y="125"/>
                  <a:pt x="108" y="108"/>
                </a:cubicBezTo>
                <a:cubicBezTo>
                  <a:pt x="126" y="91"/>
                  <a:pt x="144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1" y="0"/>
                </a:cubicBezTo>
                <a:cubicBezTo>
                  <a:pt x="396" y="0"/>
                  <a:pt x="420" y="2"/>
                  <a:pt x="444" y="7"/>
                </a:cubicBezTo>
                <a:cubicBezTo>
                  <a:pt x="468" y="12"/>
                  <a:pt x="491" y="19"/>
                  <a:pt x="513" y="28"/>
                </a:cubicBezTo>
                <a:cubicBezTo>
                  <a:pt x="536" y="37"/>
                  <a:pt x="557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1" y="125"/>
                  <a:pt x="666" y="144"/>
                  <a:pt x="679" y="164"/>
                </a:cubicBezTo>
                <a:cubicBezTo>
                  <a:pt x="693" y="185"/>
                  <a:pt x="704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39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39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4" y="641"/>
                  <a:pt x="693" y="663"/>
                  <a:pt x="679" y="683"/>
                </a:cubicBezTo>
                <a:cubicBezTo>
                  <a:pt x="666" y="703"/>
                  <a:pt x="651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7" y="798"/>
                  <a:pt x="536" y="810"/>
                  <a:pt x="513" y="819"/>
                </a:cubicBezTo>
                <a:cubicBezTo>
                  <a:pt x="491" y="829"/>
                  <a:pt x="468" y="836"/>
                  <a:pt x="444" y="840"/>
                </a:cubicBezTo>
                <a:cubicBezTo>
                  <a:pt x="420" y="845"/>
                  <a:pt x="396" y="847"/>
                  <a:pt x="371" y="847"/>
                </a:cubicBezTo>
                <a:cubicBezTo>
                  <a:pt x="346" y="847"/>
                  <a:pt x="322" y="845"/>
                  <a:pt x="298" y="840"/>
                </a:cubicBezTo>
                <a:cubicBezTo>
                  <a:pt x="274" y="836"/>
                  <a:pt x="251" y="829"/>
                  <a:pt x="229" y="819"/>
                </a:cubicBezTo>
                <a:cubicBezTo>
                  <a:pt x="206" y="810"/>
                  <a:pt x="185" y="798"/>
                  <a:pt x="165" y="785"/>
                </a:cubicBezTo>
                <a:cubicBezTo>
                  <a:pt x="144" y="771"/>
                  <a:pt x="126" y="756"/>
                  <a:pt x="108" y="739"/>
                </a:cubicBezTo>
                <a:cubicBezTo>
                  <a:pt x="91" y="722"/>
                  <a:pt x="76" y="703"/>
                  <a:pt x="62" y="683"/>
                </a:cubicBezTo>
                <a:cubicBezTo>
                  <a:pt x="49" y="663"/>
                  <a:pt x="38" y="641"/>
                  <a:pt x="28" y="619"/>
                </a:cubicBezTo>
                <a:cubicBezTo>
                  <a:pt x="19" y="596"/>
                  <a:pt x="12" y="573"/>
                  <a:pt x="7" y="548"/>
                </a:cubicBezTo>
                <a:cubicBezTo>
                  <a:pt x="2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35252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87624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876240" y="273960"/>
            <a:ext cx="979092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Worked Example: Redesigning a Recommender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876240" y="778680"/>
            <a:ext cx="149832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876240" y="1684080"/>
            <a:ext cx="3075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Where [[systems-thinking]]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4006440" y="1684080"/>
            <a:ext cx="1152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diagnoses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5072760" y="1684080"/>
            <a:ext cx="6014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 the algorithm/user feedback loop that produces ﬁlter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876240" y="2045880"/>
            <a:ext cx="7621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bubbles (see [[social-media-algorithm-feedback]]), systemic design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8552160" y="2045880"/>
            <a:ext cx="2287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redesigns the whole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931680" y="2407680"/>
            <a:ext cx="800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system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085760" y="30096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7" y="184"/>
                  <a:pt x="106" y="187"/>
                  <a:pt x="93" y="187"/>
                </a:cubicBezTo>
                <a:cubicBezTo>
                  <a:pt x="81" y="187"/>
                  <a:pt x="69" y="184"/>
                  <a:pt x="58" y="179"/>
                </a:cubicBezTo>
                <a:cubicBezTo>
                  <a:pt x="47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7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6" y="0"/>
                  <a:pt x="117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655280" y="2407680"/>
            <a:ext cx="2646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, not just the algorithm: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1085760" y="33620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1" y="47"/>
                  <a:pt x="18" y="37"/>
                  <a:pt x="27" y="28"/>
                </a:cubicBezTo>
                <a:cubicBezTo>
                  <a:pt x="36" y="20"/>
                  <a:pt x="47" y="13"/>
                  <a:pt x="58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6" y="0"/>
                  <a:pt x="117" y="3"/>
                  <a:pt x="129" y="8"/>
                </a:cubicBezTo>
                <a:cubicBezTo>
                  <a:pt x="140" y="13"/>
                  <a:pt x="150" y="20"/>
                  <a:pt x="159" y="28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282680" y="2918160"/>
            <a:ext cx="6120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Change recommendation weights to penalise extreme content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085760" y="3714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5"/>
                  <a:pt x="36" y="168"/>
                  <a:pt x="27" y="159"/>
                </a:cubicBezTo>
                <a:cubicBezTo>
                  <a:pt x="18" y="151"/>
                  <a:pt x="11" y="141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7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6" y="0"/>
                  <a:pt x="117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282680" y="3270600"/>
            <a:ext cx="6828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Redesign the UI to surface opposing viewpoints and trigger reﬂection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085760" y="4076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7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282680" y="3623040"/>
            <a:ext cx="6810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Change creator incentives from engagement-maximisation to quality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085760" y="4429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4" y="139"/>
                  <a:pt x="168" y="149"/>
                  <a:pt x="159" y="158"/>
                </a:cubicBezTo>
                <a:cubicBezTo>
                  <a:pt x="150" y="166"/>
                  <a:pt x="140" y="173"/>
                  <a:pt x="129" y="178"/>
                </a:cubicBezTo>
                <a:cubicBezTo>
                  <a:pt x="117" y="182"/>
                  <a:pt x="106" y="186"/>
                  <a:pt x="93" y="186"/>
                </a:cubicBezTo>
                <a:cubicBezTo>
                  <a:pt x="81" y="186"/>
                  <a:pt x="69" y="182"/>
                  <a:pt x="58" y="178"/>
                </a:cubicBezTo>
                <a:cubicBezTo>
                  <a:pt x="47" y="173"/>
                  <a:pt x="36" y="166"/>
                  <a:pt x="27" y="158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6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7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282680" y="3984840"/>
            <a:ext cx="8658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Add circuit breakers that inject diverse content when a feed becomes too homogeneous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282680" y="4337280"/>
            <a:ext cx="5968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Monitor for emergent polarisation across the whole platform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876240" y="4808160"/>
            <a:ext cx="3411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These interventions only work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4342320" y="4808160"/>
            <a:ext cx="9698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together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5231160" y="4808160"/>
            <a:ext cx="5923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: changing the algorithm without changing incentives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876240" y="5169960"/>
            <a:ext cx="10233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still lets creators game the system; showing opposing views without changing the algorithm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876240" y="5541480"/>
            <a:ext cx="10303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gets them ignored. Systemic design means designing across the system, not one component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876240" y="5903640"/>
            <a:ext cx="9644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at a time — see [[systematic-design]] for how the same scenario looks run as a phased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876240" y="6275160"/>
            <a:ext cx="1808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process instead.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35252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79992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2" y="322"/>
                  <a:pt x="7" y="298"/>
                </a:cubicBezTo>
                <a:cubicBezTo>
                  <a:pt x="12" y="274"/>
                  <a:pt x="19" y="251"/>
                  <a:pt x="28" y="228"/>
                </a:cubicBezTo>
                <a:cubicBezTo>
                  <a:pt x="38" y="206"/>
                  <a:pt x="49" y="185"/>
                  <a:pt x="62" y="164"/>
                </a:cubicBezTo>
                <a:cubicBezTo>
                  <a:pt x="76" y="144"/>
                  <a:pt x="91" y="125"/>
                  <a:pt x="108" y="108"/>
                </a:cubicBezTo>
                <a:cubicBezTo>
                  <a:pt x="126" y="91"/>
                  <a:pt x="144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1" y="0"/>
                </a:cubicBezTo>
                <a:cubicBezTo>
                  <a:pt x="396" y="0"/>
                  <a:pt x="420" y="2"/>
                  <a:pt x="444" y="7"/>
                </a:cubicBezTo>
                <a:cubicBezTo>
                  <a:pt x="468" y="12"/>
                  <a:pt x="491" y="19"/>
                  <a:pt x="513" y="28"/>
                </a:cubicBezTo>
                <a:cubicBezTo>
                  <a:pt x="536" y="37"/>
                  <a:pt x="557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1" y="125"/>
                  <a:pt x="666" y="144"/>
                  <a:pt x="679" y="164"/>
                </a:cubicBezTo>
                <a:cubicBezTo>
                  <a:pt x="693" y="185"/>
                  <a:pt x="704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39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39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4" y="641"/>
                  <a:pt x="693" y="663"/>
                  <a:pt x="679" y="683"/>
                </a:cubicBezTo>
                <a:cubicBezTo>
                  <a:pt x="666" y="703"/>
                  <a:pt x="651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7" y="798"/>
                  <a:pt x="536" y="810"/>
                  <a:pt x="513" y="819"/>
                </a:cubicBezTo>
                <a:cubicBezTo>
                  <a:pt x="491" y="829"/>
                  <a:pt x="468" y="836"/>
                  <a:pt x="444" y="840"/>
                </a:cubicBezTo>
                <a:cubicBezTo>
                  <a:pt x="420" y="845"/>
                  <a:pt x="396" y="847"/>
                  <a:pt x="371" y="847"/>
                </a:cubicBezTo>
                <a:cubicBezTo>
                  <a:pt x="346" y="847"/>
                  <a:pt x="322" y="845"/>
                  <a:pt x="298" y="840"/>
                </a:cubicBezTo>
                <a:cubicBezTo>
                  <a:pt x="274" y="836"/>
                  <a:pt x="251" y="829"/>
                  <a:pt x="229" y="819"/>
                </a:cubicBezTo>
                <a:cubicBezTo>
                  <a:pt x="206" y="810"/>
                  <a:pt x="185" y="798"/>
                  <a:pt x="165" y="785"/>
                </a:cubicBezTo>
                <a:cubicBezTo>
                  <a:pt x="144" y="771"/>
                  <a:pt x="126" y="756"/>
                  <a:pt x="108" y="739"/>
                </a:cubicBezTo>
                <a:cubicBezTo>
                  <a:pt x="91" y="722"/>
                  <a:pt x="76" y="703"/>
                  <a:pt x="62" y="683"/>
                </a:cubicBezTo>
                <a:cubicBezTo>
                  <a:pt x="49" y="663"/>
                  <a:pt x="38" y="641"/>
                  <a:pt x="28" y="619"/>
                </a:cubicBezTo>
                <a:cubicBezTo>
                  <a:pt x="19" y="596"/>
                  <a:pt x="12" y="573"/>
                  <a:pt x="7" y="548"/>
                </a:cubicBezTo>
                <a:cubicBezTo>
                  <a:pt x="2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35252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87624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876240" y="540360"/>
            <a:ext cx="384480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Systematic Design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876240" y="1436400"/>
            <a:ext cx="9507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Systematic Design is a structured approach that decomposes systems into interacting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876240" y="1798200"/>
            <a:ext cx="9164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components, applying design principles to manage intricate challenges eﬀectively.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025280" y="2499120"/>
            <a:ext cx="257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1282680" y="2474640"/>
            <a:ext cx="9633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Structured: Following repeatable processes with deﬁned stages and checkpoints rather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282680" y="2836440"/>
            <a:ext cx="8856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than intuitive approaches. This ensures consistency and quality across projects.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025280" y="3375360"/>
            <a:ext cx="257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282680" y="3350880"/>
            <a:ext cx="9764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Decomposable: Breaking complex problems into manageable sub-problems that can be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282680" y="3722400"/>
            <a:ext cx="7874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addressed independently, while maintaining awareness of interactions.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1025280" y="4261320"/>
            <a:ext cx="257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1282680" y="4236480"/>
            <a:ext cx="9386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Iterative: Embracing feedback loops to continuously reﬁne designs based on testing,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1282680" y="4608000"/>
            <a:ext cx="8045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simulation, and stakeholder input throughout the development lifecycle.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876240" y="5274720"/>
            <a:ext cx="10036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Systematic design is crucial for managing complexity, coordinating distributed teams, and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876240" y="5636880"/>
            <a:ext cx="10541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ensuring that each subsystem contributes eﬀectively to the global performance objectives. It 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876240" y="6008400"/>
            <a:ext cx="5350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not simply a way to document a design process.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35252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79992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2" y="322"/>
                  <a:pt x="7" y="298"/>
                </a:cubicBezTo>
                <a:cubicBezTo>
                  <a:pt x="12" y="274"/>
                  <a:pt x="19" y="251"/>
                  <a:pt x="28" y="228"/>
                </a:cubicBezTo>
                <a:cubicBezTo>
                  <a:pt x="38" y="206"/>
                  <a:pt x="49" y="185"/>
                  <a:pt x="62" y="164"/>
                </a:cubicBezTo>
                <a:cubicBezTo>
                  <a:pt x="76" y="144"/>
                  <a:pt x="91" y="125"/>
                  <a:pt x="108" y="108"/>
                </a:cubicBezTo>
                <a:cubicBezTo>
                  <a:pt x="126" y="91"/>
                  <a:pt x="144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1" y="0"/>
                </a:cubicBezTo>
                <a:cubicBezTo>
                  <a:pt x="396" y="0"/>
                  <a:pt x="420" y="2"/>
                  <a:pt x="444" y="7"/>
                </a:cubicBezTo>
                <a:cubicBezTo>
                  <a:pt x="468" y="12"/>
                  <a:pt x="491" y="19"/>
                  <a:pt x="513" y="28"/>
                </a:cubicBezTo>
                <a:cubicBezTo>
                  <a:pt x="536" y="37"/>
                  <a:pt x="557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1" y="125"/>
                  <a:pt x="666" y="144"/>
                  <a:pt x="679" y="164"/>
                </a:cubicBezTo>
                <a:cubicBezTo>
                  <a:pt x="693" y="185"/>
                  <a:pt x="704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39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39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4" y="641"/>
                  <a:pt x="693" y="663"/>
                  <a:pt x="679" y="683"/>
                </a:cubicBezTo>
                <a:cubicBezTo>
                  <a:pt x="666" y="703"/>
                  <a:pt x="651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7" y="798"/>
                  <a:pt x="536" y="810"/>
                  <a:pt x="513" y="819"/>
                </a:cubicBezTo>
                <a:cubicBezTo>
                  <a:pt x="491" y="829"/>
                  <a:pt x="468" y="836"/>
                  <a:pt x="444" y="840"/>
                </a:cubicBezTo>
                <a:cubicBezTo>
                  <a:pt x="420" y="845"/>
                  <a:pt x="396" y="847"/>
                  <a:pt x="371" y="847"/>
                </a:cubicBezTo>
                <a:cubicBezTo>
                  <a:pt x="346" y="847"/>
                  <a:pt x="322" y="845"/>
                  <a:pt x="298" y="840"/>
                </a:cubicBezTo>
                <a:cubicBezTo>
                  <a:pt x="274" y="836"/>
                  <a:pt x="251" y="829"/>
                  <a:pt x="229" y="819"/>
                </a:cubicBezTo>
                <a:cubicBezTo>
                  <a:pt x="206" y="810"/>
                  <a:pt x="185" y="798"/>
                  <a:pt x="165" y="785"/>
                </a:cubicBezTo>
                <a:cubicBezTo>
                  <a:pt x="144" y="771"/>
                  <a:pt x="126" y="756"/>
                  <a:pt x="108" y="739"/>
                </a:cubicBezTo>
                <a:cubicBezTo>
                  <a:pt x="91" y="722"/>
                  <a:pt x="76" y="703"/>
                  <a:pt x="62" y="683"/>
                </a:cubicBezTo>
                <a:cubicBezTo>
                  <a:pt x="49" y="663"/>
                  <a:pt x="38" y="641"/>
                  <a:pt x="28" y="619"/>
                </a:cubicBezTo>
                <a:cubicBezTo>
                  <a:pt x="19" y="596"/>
                  <a:pt x="12" y="573"/>
                  <a:pt x="7" y="548"/>
                </a:cubicBezTo>
                <a:cubicBezTo>
                  <a:pt x="2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135252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87624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1089000" y="0"/>
            <a:ext cx="60480" cy="19080"/>
          </a:xfrm>
          <a:custGeom>
            <a:avLst/>
            <a:gdLst/>
            <a:ahLst/>
            <a:rect l="0" t="0" r="r" b="b"/>
            <a:pathLst>
              <a:path w="168" h="53">
                <a:moveTo>
                  <a:pt x="168" y="0"/>
                </a:moveTo>
                <a:cubicBezTo>
                  <a:pt x="163" y="9"/>
                  <a:pt x="157" y="18"/>
                  <a:pt x="150" y="25"/>
                </a:cubicBezTo>
                <a:cubicBezTo>
                  <a:pt x="141" y="35"/>
                  <a:pt x="131" y="42"/>
                  <a:pt x="120" y="46"/>
                </a:cubicBezTo>
                <a:cubicBezTo>
                  <a:pt x="108" y="51"/>
                  <a:pt x="97" y="53"/>
                  <a:pt x="84" y="53"/>
                </a:cubicBezTo>
                <a:cubicBezTo>
                  <a:pt x="72" y="53"/>
                  <a:pt x="59" y="51"/>
                  <a:pt x="48" y="46"/>
                </a:cubicBezTo>
                <a:cubicBezTo>
                  <a:pt x="37" y="42"/>
                  <a:pt x="27" y="35"/>
                  <a:pt x="18" y="25"/>
                </a:cubicBezTo>
                <a:cubicBezTo>
                  <a:pt x="10" y="18"/>
                  <a:pt x="4" y="9"/>
                  <a:pt x="0" y="0"/>
                </a:cubicBezTo>
                <a:lnTo>
                  <a:pt x="168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282680" y="-139320"/>
            <a:ext cx="5190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Is about rigour and discipline in the design workﬂow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876240" y="331560"/>
            <a:ext cx="8840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It stands in contrast to systemic design and systems thinking, which emphasise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876240" y="702720"/>
            <a:ext cx="10458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interconnections, feedback loops, and emergent behaviour in messy, socio-technical contexts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876240" y="1064880"/>
            <a:ext cx="10348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rather than phased rigour, and to ad hoc design approaches, which rely on designer intuition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876240" y="1426680"/>
            <a:ext cx="6166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and past experience without structured methodologies.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876240" y="1950480"/>
            <a:ext cx="10444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In multi-component systems, systematic design becomes essential because complexity grows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876240" y="2312640"/>
            <a:ext cx="10549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exponentially with each additional component, and it draws on the practical toolkit captured 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876240" y="2684160"/>
            <a:ext cx="10024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"Systematic Design Principles" and the monolithic vs distributed design choice for how the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876240" y="3045960"/>
            <a:ext cx="3635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resulting process is coordinated.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876240" y="3560400"/>
            <a:ext cx="10032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Where systematic design is process-oriented and phased, systemic design is relationship-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876240" y="3931920"/>
            <a:ext cx="10474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oriented and participatory, making it the bridge between systems thinking (the analytical lens)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876240" y="4293720"/>
            <a:ext cx="8049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and the structured discipline of systematic design (the delivery process).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876240" y="4817520"/>
            <a:ext cx="4709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It is a foundational approach that ensures: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025280" y="5318640"/>
            <a:ext cx="121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Reliability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025280" y="5671080"/>
            <a:ext cx="1237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Scalability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025280" y="6032880"/>
            <a:ext cx="1335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876240" y="6503760"/>
            <a:ext cx="1028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are establisahed across subsystems when applied to multi-component systems. It integrates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35252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799920" y="6343560"/>
            <a:ext cx="381240" cy="304920"/>
          </a:xfrm>
          <a:custGeom>
            <a:avLst/>
            <a:gdLst/>
            <a:ahLst/>
            <a:rect l="0" t="0" r="r" b="b"/>
            <a:pathLst>
              <a:path w="1059" h="847">
                <a:moveTo>
                  <a:pt x="0" y="423"/>
                </a:move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5"/>
                  <a:pt x="56" y="211"/>
                  <a:pt x="71" y="188"/>
                </a:cubicBezTo>
                <a:cubicBezTo>
                  <a:pt x="87" y="165"/>
                  <a:pt x="104" y="143"/>
                  <a:pt x="124" y="124"/>
                </a:cubicBezTo>
                <a:cubicBezTo>
                  <a:pt x="144" y="104"/>
                  <a:pt x="165" y="87"/>
                  <a:pt x="188" y="71"/>
                </a:cubicBezTo>
                <a:cubicBezTo>
                  <a:pt x="211" y="56"/>
                  <a:pt x="236" y="43"/>
                  <a:pt x="261" y="32"/>
                </a:cubicBezTo>
                <a:cubicBezTo>
                  <a:pt x="287" y="21"/>
                  <a:pt x="313" y="13"/>
                  <a:pt x="341" y="8"/>
                </a:cubicBezTo>
                <a:cubicBezTo>
                  <a:pt x="368" y="2"/>
                  <a:pt x="396" y="0"/>
                  <a:pt x="423" y="0"/>
                </a:cubicBezTo>
                <a:lnTo>
                  <a:pt x="636" y="0"/>
                </a:lnTo>
                <a:cubicBezTo>
                  <a:pt x="664" y="0"/>
                  <a:pt x="691" y="2"/>
                  <a:pt x="719" y="8"/>
                </a:cubicBezTo>
                <a:cubicBezTo>
                  <a:pt x="746" y="13"/>
                  <a:pt x="772" y="21"/>
                  <a:pt x="798" y="32"/>
                </a:cubicBezTo>
                <a:cubicBezTo>
                  <a:pt x="824" y="43"/>
                  <a:pt x="848" y="56"/>
                  <a:pt x="871" y="71"/>
                </a:cubicBezTo>
                <a:cubicBezTo>
                  <a:pt x="894" y="87"/>
                  <a:pt x="916" y="104"/>
                  <a:pt x="935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3" y="211"/>
                  <a:pt x="1016" y="235"/>
                  <a:pt x="1027" y="261"/>
                </a:cubicBezTo>
                <a:cubicBezTo>
                  <a:pt x="1038" y="287"/>
                  <a:pt x="1046" y="313"/>
                  <a:pt x="1051" y="340"/>
                </a:cubicBezTo>
                <a:cubicBezTo>
                  <a:pt x="1057" y="368"/>
                  <a:pt x="1059" y="395"/>
                  <a:pt x="1059" y="423"/>
                </a:cubicBezTo>
                <a:cubicBezTo>
                  <a:pt x="1059" y="451"/>
                  <a:pt x="1057" y="478"/>
                  <a:pt x="1051" y="506"/>
                </a:cubicBezTo>
                <a:cubicBezTo>
                  <a:pt x="1046" y="533"/>
                  <a:pt x="1038" y="559"/>
                  <a:pt x="1027" y="586"/>
                </a:cubicBezTo>
                <a:cubicBezTo>
                  <a:pt x="1016" y="612"/>
                  <a:pt x="1003" y="636"/>
                  <a:pt x="988" y="659"/>
                </a:cubicBezTo>
                <a:cubicBezTo>
                  <a:pt x="973" y="682"/>
                  <a:pt x="955" y="704"/>
                  <a:pt x="935" y="723"/>
                </a:cubicBezTo>
                <a:cubicBezTo>
                  <a:pt x="916" y="743"/>
                  <a:pt x="894" y="761"/>
                  <a:pt x="871" y="776"/>
                </a:cubicBezTo>
                <a:cubicBezTo>
                  <a:pt x="848" y="792"/>
                  <a:pt x="824" y="805"/>
                  <a:pt x="798" y="815"/>
                </a:cubicBezTo>
                <a:cubicBezTo>
                  <a:pt x="772" y="826"/>
                  <a:pt x="746" y="834"/>
                  <a:pt x="719" y="839"/>
                </a:cubicBezTo>
                <a:cubicBezTo>
                  <a:pt x="691" y="845"/>
                  <a:pt x="664" y="847"/>
                  <a:pt x="636" y="847"/>
                </a:cubicBezTo>
                <a:lnTo>
                  <a:pt x="423" y="847"/>
                </a:lnTo>
                <a:cubicBezTo>
                  <a:pt x="396" y="847"/>
                  <a:pt x="368" y="845"/>
                  <a:pt x="341" y="839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6" y="805"/>
                  <a:pt x="211" y="792"/>
                  <a:pt x="188" y="776"/>
                </a:cubicBezTo>
                <a:cubicBezTo>
                  <a:pt x="165" y="761"/>
                  <a:pt x="144" y="743"/>
                  <a:pt x="124" y="723"/>
                </a:cubicBezTo>
                <a:cubicBezTo>
                  <a:pt x="104" y="704"/>
                  <a:pt x="87" y="682"/>
                  <a:pt x="71" y="659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59"/>
                  <a:pt x="14" y="533"/>
                  <a:pt x="8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35252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87624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885600" y="1438200"/>
            <a:ext cx="3667680" cy="428760"/>
          </a:xfrm>
          <a:custGeom>
            <a:avLst/>
            <a:gdLst/>
            <a:ahLst/>
            <a:rect l="0" t="0" r="r" b="b"/>
            <a:pathLst>
              <a:path w="10188" h="1191">
                <a:moveTo>
                  <a:pt x="0" y="0"/>
                </a:moveTo>
                <a:lnTo>
                  <a:pt x="10188" y="0"/>
                </a:lnTo>
                <a:lnTo>
                  <a:pt x="1018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4552920" y="1438200"/>
            <a:ext cx="6877080" cy="428760"/>
          </a:xfrm>
          <a:custGeom>
            <a:avLst/>
            <a:gdLst/>
            <a:ahLst/>
            <a:rect l="0" t="0" r="r" b="b"/>
            <a:pathLst>
              <a:path w="19103" h="1191">
                <a:moveTo>
                  <a:pt x="0" y="0"/>
                </a:moveTo>
                <a:lnTo>
                  <a:pt x="19103" y="0"/>
                </a:lnTo>
                <a:lnTo>
                  <a:pt x="19103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885600" y="1866600"/>
            <a:ext cx="3667680" cy="734040"/>
          </a:xfrm>
          <a:custGeom>
            <a:avLst/>
            <a:gdLst/>
            <a:ahLst/>
            <a:rect l="0" t="0" r="r" b="b"/>
            <a:pathLst>
              <a:path w="10188" h="2039">
                <a:moveTo>
                  <a:pt x="0" y="0"/>
                </a:moveTo>
                <a:lnTo>
                  <a:pt x="10188" y="0"/>
                </a:lnTo>
                <a:lnTo>
                  <a:pt x="10188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4552920" y="1866600"/>
            <a:ext cx="6877080" cy="734040"/>
          </a:xfrm>
          <a:custGeom>
            <a:avLst/>
            <a:gdLst/>
            <a:ahLst/>
            <a:rect l="0" t="0" r="r" b="b"/>
            <a:pathLst>
              <a:path w="19103" h="2039">
                <a:moveTo>
                  <a:pt x="0" y="0"/>
                </a:moveTo>
                <a:lnTo>
                  <a:pt x="19103" y="0"/>
                </a:lnTo>
                <a:lnTo>
                  <a:pt x="19103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885600" y="2600280"/>
            <a:ext cx="3667680" cy="733680"/>
          </a:xfrm>
          <a:custGeom>
            <a:avLst/>
            <a:gdLst/>
            <a:ahLst/>
            <a:rect l="0" t="0" r="r" b="b"/>
            <a:pathLst>
              <a:path w="10188" h="2038">
                <a:moveTo>
                  <a:pt x="0" y="0"/>
                </a:moveTo>
                <a:lnTo>
                  <a:pt x="10188" y="0"/>
                </a:lnTo>
                <a:lnTo>
                  <a:pt x="1018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4552920" y="2600280"/>
            <a:ext cx="6877080" cy="733680"/>
          </a:xfrm>
          <a:custGeom>
            <a:avLst/>
            <a:gdLst/>
            <a:ahLst/>
            <a:rect l="0" t="0" r="r" b="b"/>
            <a:pathLst>
              <a:path w="19103" h="2038">
                <a:moveTo>
                  <a:pt x="0" y="0"/>
                </a:moveTo>
                <a:lnTo>
                  <a:pt x="19103" y="0"/>
                </a:lnTo>
                <a:lnTo>
                  <a:pt x="19103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885600" y="3333600"/>
            <a:ext cx="3667680" cy="733680"/>
          </a:xfrm>
          <a:custGeom>
            <a:avLst/>
            <a:gdLst/>
            <a:ahLst/>
            <a:rect l="0" t="0" r="r" b="b"/>
            <a:pathLst>
              <a:path w="10188" h="2038">
                <a:moveTo>
                  <a:pt x="0" y="0"/>
                </a:moveTo>
                <a:lnTo>
                  <a:pt x="10188" y="0"/>
                </a:lnTo>
                <a:lnTo>
                  <a:pt x="1018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4552920" y="3333600"/>
            <a:ext cx="6877080" cy="733680"/>
          </a:xfrm>
          <a:custGeom>
            <a:avLst/>
            <a:gdLst/>
            <a:ahLst/>
            <a:rect l="0" t="0" r="r" b="b"/>
            <a:pathLst>
              <a:path w="19103" h="2038">
                <a:moveTo>
                  <a:pt x="0" y="0"/>
                </a:moveTo>
                <a:lnTo>
                  <a:pt x="19103" y="0"/>
                </a:lnTo>
                <a:lnTo>
                  <a:pt x="19103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885600" y="4066920"/>
            <a:ext cx="3667680" cy="724320"/>
          </a:xfrm>
          <a:custGeom>
            <a:avLst/>
            <a:gdLst/>
            <a:ahLst/>
            <a:rect l="0" t="0" r="r" b="b"/>
            <a:pathLst>
              <a:path w="10188" h="2012">
                <a:moveTo>
                  <a:pt x="0" y="0"/>
                </a:moveTo>
                <a:lnTo>
                  <a:pt x="10188" y="0"/>
                </a:lnTo>
                <a:lnTo>
                  <a:pt x="10188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4552920" y="4066920"/>
            <a:ext cx="6877080" cy="724320"/>
          </a:xfrm>
          <a:custGeom>
            <a:avLst/>
            <a:gdLst/>
            <a:ahLst/>
            <a:rect l="0" t="0" r="r" b="b"/>
            <a:pathLst>
              <a:path w="19103" h="2012">
                <a:moveTo>
                  <a:pt x="0" y="0"/>
                </a:moveTo>
                <a:lnTo>
                  <a:pt x="19103" y="0"/>
                </a:lnTo>
                <a:lnTo>
                  <a:pt x="19103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885600" y="4790880"/>
            <a:ext cx="3667680" cy="733680"/>
          </a:xfrm>
          <a:custGeom>
            <a:avLst/>
            <a:gdLst/>
            <a:ahLst/>
            <a:rect l="0" t="0" r="r" b="b"/>
            <a:pathLst>
              <a:path w="10188" h="2038">
                <a:moveTo>
                  <a:pt x="0" y="0"/>
                </a:moveTo>
                <a:lnTo>
                  <a:pt x="10188" y="0"/>
                </a:lnTo>
                <a:lnTo>
                  <a:pt x="1018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4552920" y="4790880"/>
            <a:ext cx="6877080" cy="733680"/>
          </a:xfrm>
          <a:custGeom>
            <a:avLst/>
            <a:gdLst/>
            <a:ahLst/>
            <a:rect l="0" t="0" r="r" b="b"/>
            <a:pathLst>
              <a:path w="19103" h="2038">
                <a:moveTo>
                  <a:pt x="0" y="0"/>
                </a:moveTo>
                <a:lnTo>
                  <a:pt x="19103" y="0"/>
                </a:lnTo>
                <a:lnTo>
                  <a:pt x="19103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885600" y="5524200"/>
            <a:ext cx="3667680" cy="734040"/>
          </a:xfrm>
          <a:custGeom>
            <a:avLst/>
            <a:gdLst/>
            <a:ahLst/>
            <a:rect l="0" t="0" r="r" b="b"/>
            <a:pathLst>
              <a:path w="10188" h="2039">
                <a:moveTo>
                  <a:pt x="0" y="0"/>
                </a:moveTo>
                <a:lnTo>
                  <a:pt x="10188" y="0"/>
                </a:lnTo>
                <a:lnTo>
                  <a:pt x="10188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4552920" y="5524200"/>
            <a:ext cx="6877080" cy="734040"/>
          </a:xfrm>
          <a:custGeom>
            <a:avLst/>
            <a:gdLst/>
            <a:ahLst/>
            <a:rect l="0" t="0" r="r" b="b"/>
            <a:pathLst>
              <a:path w="19103" h="2039">
                <a:moveTo>
                  <a:pt x="0" y="0"/>
                </a:moveTo>
                <a:lnTo>
                  <a:pt x="19103" y="0"/>
                </a:lnTo>
                <a:lnTo>
                  <a:pt x="19103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885600" y="6257880"/>
            <a:ext cx="3667680" cy="28800"/>
          </a:xfrm>
          <a:custGeom>
            <a:avLst/>
            <a:gdLst/>
            <a:ahLst/>
            <a:rect l="0" t="0" r="r" b="b"/>
            <a:pathLst>
              <a:path w="10188" h="80">
                <a:moveTo>
                  <a:pt x="0" y="0"/>
                </a:moveTo>
                <a:lnTo>
                  <a:pt x="10188" y="0"/>
                </a:lnTo>
                <a:lnTo>
                  <a:pt x="10188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4552920" y="6257880"/>
            <a:ext cx="6877080" cy="28800"/>
          </a:xfrm>
          <a:custGeom>
            <a:avLst/>
            <a:gdLst/>
            <a:ahLst/>
            <a:rect l="0" t="0" r="r" b="b"/>
            <a:pathLst>
              <a:path w="19103" h="80">
                <a:moveTo>
                  <a:pt x="0" y="0"/>
                </a:moveTo>
                <a:lnTo>
                  <a:pt x="19103" y="0"/>
                </a:lnTo>
                <a:lnTo>
                  <a:pt x="1910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876240" y="1428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876240" y="1428480"/>
            <a:ext cx="3677040" cy="10080"/>
          </a:xfrm>
          <a:custGeom>
            <a:avLst/>
            <a:gdLst/>
            <a:ahLst/>
            <a:rect l="0" t="0" r="r" b="b"/>
            <a:pathLst>
              <a:path w="10214" h="28">
                <a:moveTo>
                  <a:pt x="0" y="0"/>
                </a:moveTo>
                <a:lnTo>
                  <a:pt x="10214" y="0"/>
                </a:lnTo>
                <a:lnTo>
                  <a:pt x="10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4543200" y="14284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4552920" y="1428480"/>
            <a:ext cx="6877080" cy="10080"/>
          </a:xfrm>
          <a:custGeom>
            <a:avLst/>
            <a:gdLst/>
            <a:ahLst/>
            <a:rect l="0" t="0" r="r" b="b"/>
            <a:pathLst>
              <a:path w="19103" h="28">
                <a:moveTo>
                  <a:pt x="0" y="0"/>
                </a:moveTo>
                <a:lnTo>
                  <a:pt x="19103" y="0"/>
                </a:lnTo>
                <a:lnTo>
                  <a:pt x="191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11420280" y="1428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876240" y="185724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0" y="0"/>
                </a:moveTo>
                <a:lnTo>
                  <a:pt x="10214" y="0"/>
                </a:lnTo>
                <a:lnTo>
                  <a:pt x="10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4552920" y="1857240"/>
            <a:ext cx="6877080" cy="9720"/>
          </a:xfrm>
          <a:custGeom>
            <a:avLst/>
            <a:gdLst/>
            <a:ahLst/>
            <a:rect l="0" t="0" r="r" b="b"/>
            <a:pathLst>
              <a:path w="19103" h="27">
                <a:moveTo>
                  <a:pt x="0" y="0"/>
                </a:moveTo>
                <a:lnTo>
                  <a:pt x="19103" y="0"/>
                </a:lnTo>
                <a:lnTo>
                  <a:pt x="191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876240" y="1866600"/>
            <a:ext cx="9720" cy="734040"/>
          </a:xfrm>
          <a:custGeom>
            <a:avLst/>
            <a:gdLst/>
            <a:ahLst/>
            <a:rect l="0" t="0" r="r" b="b"/>
            <a:pathLst>
              <a:path w="27" h="2039">
                <a:moveTo>
                  <a:pt x="0" y="0"/>
                </a:moveTo>
                <a:lnTo>
                  <a:pt x="27" y="0"/>
                </a:lnTo>
                <a:lnTo>
                  <a:pt x="27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4543200" y="1866600"/>
            <a:ext cx="10080" cy="734040"/>
          </a:xfrm>
          <a:custGeom>
            <a:avLst/>
            <a:gdLst/>
            <a:ahLst/>
            <a:rect l="0" t="0" r="r" b="b"/>
            <a:pathLst>
              <a:path w="28" h="2039">
                <a:moveTo>
                  <a:pt x="0" y="0"/>
                </a:moveTo>
                <a:lnTo>
                  <a:pt x="28" y="0"/>
                </a:lnTo>
                <a:lnTo>
                  <a:pt x="28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1420280" y="1866600"/>
            <a:ext cx="9720" cy="734040"/>
          </a:xfrm>
          <a:custGeom>
            <a:avLst/>
            <a:gdLst/>
            <a:ahLst/>
            <a:rect l="0" t="0" r="r" b="b"/>
            <a:pathLst>
              <a:path w="27" h="2039">
                <a:moveTo>
                  <a:pt x="0" y="0"/>
                </a:moveTo>
                <a:lnTo>
                  <a:pt x="27" y="0"/>
                </a:lnTo>
                <a:lnTo>
                  <a:pt x="27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876240" y="260028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876240" y="2590560"/>
            <a:ext cx="3677040" cy="10080"/>
          </a:xfrm>
          <a:custGeom>
            <a:avLst/>
            <a:gdLst/>
            <a:ahLst/>
            <a:rect l="0" t="0" r="r" b="b"/>
            <a:pathLst>
              <a:path w="10214" h="28">
                <a:moveTo>
                  <a:pt x="0" y="0"/>
                </a:moveTo>
                <a:lnTo>
                  <a:pt x="10214" y="0"/>
                </a:lnTo>
                <a:lnTo>
                  <a:pt x="10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4543200" y="260028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4552920" y="2590560"/>
            <a:ext cx="6877080" cy="10080"/>
          </a:xfrm>
          <a:custGeom>
            <a:avLst/>
            <a:gdLst/>
            <a:ahLst/>
            <a:rect l="0" t="0" r="r" b="b"/>
            <a:pathLst>
              <a:path w="19103" h="28">
                <a:moveTo>
                  <a:pt x="0" y="0"/>
                </a:moveTo>
                <a:lnTo>
                  <a:pt x="19103" y="0"/>
                </a:lnTo>
                <a:lnTo>
                  <a:pt x="191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1420280" y="260028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876240" y="333360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876240" y="3323880"/>
            <a:ext cx="3677040" cy="10080"/>
          </a:xfrm>
          <a:custGeom>
            <a:avLst/>
            <a:gdLst/>
            <a:ahLst/>
            <a:rect l="0" t="0" r="r" b="b"/>
            <a:pathLst>
              <a:path w="10214" h="28">
                <a:moveTo>
                  <a:pt x="0" y="0"/>
                </a:moveTo>
                <a:lnTo>
                  <a:pt x="10214" y="0"/>
                </a:lnTo>
                <a:lnTo>
                  <a:pt x="10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4543200" y="333360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4552920" y="3323880"/>
            <a:ext cx="6877080" cy="10080"/>
          </a:xfrm>
          <a:custGeom>
            <a:avLst/>
            <a:gdLst/>
            <a:ahLst/>
            <a:rect l="0" t="0" r="r" b="b"/>
            <a:pathLst>
              <a:path w="19103" h="28">
                <a:moveTo>
                  <a:pt x="0" y="0"/>
                </a:moveTo>
                <a:lnTo>
                  <a:pt x="19103" y="0"/>
                </a:lnTo>
                <a:lnTo>
                  <a:pt x="191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11420280" y="333360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876240" y="406692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876240" y="405756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0" y="0"/>
                </a:moveTo>
                <a:lnTo>
                  <a:pt x="10214" y="0"/>
                </a:lnTo>
                <a:lnTo>
                  <a:pt x="10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4543200" y="406692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4552920" y="4057560"/>
            <a:ext cx="6877080" cy="9720"/>
          </a:xfrm>
          <a:custGeom>
            <a:avLst/>
            <a:gdLst/>
            <a:ahLst/>
            <a:rect l="0" t="0" r="r" b="b"/>
            <a:pathLst>
              <a:path w="19103" h="27">
                <a:moveTo>
                  <a:pt x="0" y="0"/>
                </a:moveTo>
                <a:lnTo>
                  <a:pt x="19103" y="0"/>
                </a:lnTo>
                <a:lnTo>
                  <a:pt x="191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11420280" y="406692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876240" y="4800240"/>
            <a:ext cx="9720" cy="734040"/>
          </a:xfrm>
          <a:custGeom>
            <a:avLst/>
            <a:gdLst/>
            <a:ahLst/>
            <a:rect l="0" t="0" r="r" b="b"/>
            <a:pathLst>
              <a:path w="27" h="2039">
                <a:moveTo>
                  <a:pt x="0" y="0"/>
                </a:moveTo>
                <a:lnTo>
                  <a:pt x="27" y="0"/>
                </a:lnTo>
                <a:lnTo>
                  <a:pt x="27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876240" y="479088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0" y="0"/>
                </a:moveTo>
                <a:lnTo>
                  <a:pt x="10214" y="0"/>
                </a:lnTo>
                <a:lnTo>
                  <a:pt x="10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4543200" y="4800240"/>
            <a:ext cx="10080" cy="734040"/>
          </a:xfrm>
          <a:custGeom>
            <a:avLst/>
            <a:gdLst/>
            <a:ahLst/>
            <a:rect l="0" t="0" r="r" b="b"/>
            <a:pathLst>
              <a:path w="28" h="2039">
                <a:moveTo>
                  <a:pt x="0" y="0"/>
                </a:moveTo>
                <a:lnTo>
                  <a:pt x="28" y="0"/>
                </a:lnTo>
                <a:lnTo>
                  <a:pt x="28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4552920" y="4790880"/>
            <a:ext cx="6877080" cy="9720"/>
          </a:xfrm>
          <a:custGeom>
            <a:avLst/>
            <a:gdLst/>
            <a:ahLst/>
            <a:rect l="0" t="0" r="r" b="b"/>
            <a:pathLst>
              <a:path w="19103" h="27">
                <a:moveTo>
                  <a:pt x="0" y="0"/>
                </a:moveTo>
                <a:lnTo>
                  <a:pt x="19103" y="0"/>
                </a:lnTo>
                <a:lnTo>
                  <a:pt x="191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11420280" y="4800240"/>
            <a:ext cx="9720" cy="734040"/>
          </a:xfrm>
          <a:custGeom>
            <a:avLst/>
            <a:gdLst/>
            <a:ahLst/>
            <a:rect l="0" t="0" r="r" b="b"/>
            <a:pathLst>
              <a:path w="27" h="2039">
                <a:moveTo>
                  <a:pt x="0" y="0"/>
                </a:moveTo>
                <a:lnTo>
                  <a:pt x="27" y="0"/>
                </a:lnTo>
                <a:lnTo>
                  <a:pt x="27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876240" y="553392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876240" y="5524200"/>
            <a:ext cx="3677040" cy="10080"/>
          </a:xfrm>
          <a:custGeom>
            <a:avLst/>
            <a:gdLst/>
            <a:ahLst/>
            <a:rect l="0" t="0" r="r" b="b"/>
            <a:pathLst>
              <a:path w="10214" h="28">
                <a:moveTo>
                  <a:pt x="0" y="0"/>
                </a:moveTo>
                <a:lnTo>
                  <a:pt x="10214" y="0"/>
                </a:lnTo>
                <a:lnTo>
                  <a:pt x="10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4543200" y="553392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4552920" y="5524200"/>
            <a:ext cx="6877080" cy="10080"/>
          </a:xfrm>
          <a:custGeom>
            <a:avLst/>
            <a:gdLst/>
            <a:ahLst/>
            <a:rect l="0" t="0" r="r" b="b"/>
            <a:pathLst>
              <a:path w="19103" h="28">
                <a:moveTo>
                  <a:pt x="0" y="0"/>
                </a:moveTo>
                <a:lnTo>
                  <a:pt x="19103" y="0"/>
                </a:lnTo>
                <a:lnTo>
                  <a:pt x="191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11420280" y="553392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876240" y="6267240"/>
            <a:ext cx="9720" cy="19440"/>
          </a:xfrm>
          <a:custGeom>
            <a:avLst/>
            <a:gdLst/>
            <a:ahLst/>
            <a:rect l="0" t="0" r="r" b="b"/>
            <a:pathLst>
              <a:path w="27" h="54">
                <a:moveTo>
                  <a:pt x="0" y="0"/>
                </a:moveTo>
                <a:lnTo>
                  <a:pt x="27" y="0"/>
                </a:lnTo>
                <a:lnTo>
                  <a:pt x="2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876240" y="625788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0" y="0"/>
                </a:moveTo>
                <a:lnTo>
                  <a:pt x="10214" y="0"/>
                </a:lnTo>
                <a:lnTo>
                  <a:pt x="10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4543200" y="6267240"/>
            <a:ext cx="10080" cy="19440"/>
          </a:xfrm>
          <a:custGeom>
            <a:avLst/>
            <a:gdLst/>
            <a:ahLst/>
            <a:rect l="0" t="0" r="r" b="b"/>
            <a:pathLst>
              <a:path w="28" h="54">
                <a:moveTo>
                  <a:pt x="0" y="0"/>
                </a:moveTo>
                <a:lnTo>
                  <a:pt x="28" y="0"/>
                </a:lnTo>
                <a:lnTo>
                  <a:pt x="2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4552920" y="6257880"/>
            <a:ext cx="6877080" cy="9720"/>
          </a:xfrm>
          <a:custGeom>
            <a:avLst/>
            <a:gdLst/>
            <a:ahLst/>
            <a:rect l="0" t="0" r="r" b="b"/>
            <a:pathLst>
              <a:path w="19103" h="27">
                <a:moveTo>
                  <a:pt x="0" y="0"/>
                </a:moveTo>
                <a:lnTo>
                  <a:pt x="19103" y="0"/>
                </a:lnTo>
                <a:lnTo>
                  <a:pt x="191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11420280" y="6267240"/>
            <a:ext cx="9720" cy="19440"/>
          </a:xfrm>
          <a:custGeom>
            <a:avLst/>
            <a:gdLst/>
            <a:ahLst/>
            <a:rect l="0" t="0" r="r" b="b"/>
            <a:pathLst>
              <a:path w="27" h="54">
                <a:moveTo>
                  <a:pt x="0" y="0"/>
                </a:moveTo>
                <a:lnTo>
                  <a:pt x="27" y="0"/>
                </a:lnTo>
                <a:lnTo>
                  <a:pt x="2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876240" y="578520"/>
            <a:ext cx="749340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Key Principles of Systematic Design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2260440" y="1527480"/>
            <a:ext cx="90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Principle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7383960" y="1527480"/>
            <a:ext cx="1205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Description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009800" y="2108520"/>
            <a:ext cx="3216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Structured Process Orientation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4678920" y="1956240"/>
            <a:ext cx="6433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Follow a deﬁned, repeatable sequence of design stages to ensure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4678920" y="2261160"/>
            <a:ext cx="2299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clarity and consistency.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1009800" y="2841840"/>
            <a:ext cx="2497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Problem Decomposition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4678920" y="2689560"/>
            <a:ext cx="640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Break the system into manageable subsystems or components to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4678920" y="2994480"/>
            <a:ext cx="1876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reduce complexity.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009800" y="3575520"/>
            <a:ext cx="2516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Function-Driven Design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4678920" y="3422880"/>
            <a:ext cx="62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Begin with the desired functions and derive solutions that fulﬁll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4678920" y="3727800"/>
            <a:ext cx="1589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those functions.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1009800" y="4156560"/>
            <a:ext cx="3103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 Space Exploration 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009800" y="4461120"/>
            <a:ext cx="1090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Evaluation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4678920" y="4156560"/>
            <a:ext cx="6152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Generate multiple design alternatives and evaluate them using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4678920" y="4461120"/>
            <a:ext cx="2297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clear, objective criteria.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009800" y="4889880"/>
            <a:ext cx="2470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Interface Deﬁnition 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1009800" y="5194800"/>
            <a:ext cx="213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Integration Planning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4678920" y="4889880"/>
            <a:ext cx="5530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Clearly deﬁne interfaces between components to ensure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4678920" y="5194800"/>
            <a:ext cx="3993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compatibility and successful integration.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009800" y="5775840"/>
            <a:ext cx="274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Requirements Traceability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4678920" y="5623200"/>
            <a:ext cx="6423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Link every design decision back to a functional or non-functional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4678920" y="5928120"/>
            <a:ext cx="1272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requirement.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35252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799920" y="6343560"/>
            <a:ext cx="381240" cy="304920"/>
          </a:xfrm>
          <a:custGeom>
            <a:avLst/>
            <a:gdLst/>
            <a:ahLst/>
            <a:rect l="0" t="0" r="r" b="b"/>
            <a:pathLst>
              <a:path w="1059" h="847">
                <a:moveTo>
                  <a:pt x="0" y="423"/>
                </a:move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5"/>
                  <a:pt x="56" y="211"/>
                  <a:pt x="71" y="188"/>
                </a:cubicBezTo>
                <a:cubicBezTo>
                  <a:pt x="87" y="165"/>
                  <a:pt x="104" y="143"/>
                  <a:pt x="124" y="124"/>
                </a:cubicBezTo>
                <a:cubicBezTo>
                  <a:pt x="144" y="104"/>
                  <a:pt x="165" y="87"/>
                  <a:pt x="188" y="71"/>
                </a:cubicBezTo>
                <a:cubicBezTo>
                  <a:pt x="211" y="56"/>
                  <a:pt x="236" y="43"/>
                  <a:pt x="261" y="32"/>
                </a:cubicBezTo>
                <a:cubicBezTo>
                  <a:pt x="287" y="21"/>
                  <a:pt x="313" y="13"/>
                  <a:pt x="341" y="8"/>
                </a:cubicBezTo>
                <a:cubicBezTo>
                  <a:pt x="368" y="2"/>
                  <a:pt x="396" y="0"/>
                  <a:pt x="423" y="0"/>
                </a:cubicBezTo>
                <a:lnTo>
                  <a:pt x="636" y="0"/>
                </a:lnTo>
                <a:cubicBezTo>
                  <a:pt x="664" y="0"/>
                  <a:pt x="691" y="2"/>
                  <a:pt x="719" y="8"/>
                </a:cubicBezTo>
                <a:cubicBezTo>
                  <a:pt x="746" y="13"/>
                  <a:pt x="772" y="21"/>
                  <a:pt x="798" y="32"/>
                </a:cubicBezTo>
                <a:cubicBezTo>
                  <a:pt x="824" y="43"/>
                  <a:pt x="848" y="56"/>
                  <a:pt x="871" y="71"/>
                </a:cubicBezTo>
                <a:cubicBezTo>
                  <a:pt x="894" y="87"/>
                  <a:pt x="916" y="104"/>
                  <a:pt x="935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3" y="211"/>
                  <a:pt x="1016" y="235"/>
                  <a:pt x="1027" y="261"/>
                </a:cubicBezTo>
                <a:cubicBezTo>
                  <a:pt x="1038" y="287"/>
                  <a:pt x="1046" y="313"/>
                  <a:pt x="1051" y="340"/>
                </a:cubicBezTo>
                <a:cubicBezTo>
                  <a:pt x="1057" y="368"/>
                  <a:pt x="1059" y="395"/>
                  <a:pt x="1059" y="423"/>
                </a:cubicBezTo>
                <a:cubicBezTo>
                  <a:pt x="1059" y="451"/>
                  <a:pt x="1057" y="478"/>
                  <a:pt x="1051" y="506"/>
                </a:cubicBezTo>
                <a:cubicBezTo>
                  <a:pt x="1046" y="533"/>
                  <a:pt x="1038" y="559"/>
                  <a:pt x="1027" y="586"/>
                </a:cubicBezTo>
                <a:cubicBezTo>
                  <a:pt x="1016" y="612"/>
                  <a:pt x="1003" y="636"/>
                  <a:pt x="988" y="659"/>
                </a:cubicBezTo>
                <a:cubicBezTo>
                  <a:pt x="973" y="682"/>
                  <a:pt x="955" y="704"/>
                  <a:pt x="935" y="723"/>
                </a:cubicBezTo>
                <a:cubicBezTo>
                  <a:pt x="916" y="743"/>
                  <a:pt x="894" y="761"/>
                  <a:pt x="871" y="776"/>
                </a:cubicBezTo>
                <a:cubicBezTo>
                  <a:pt x="848" y="792"/>
                  <a:pt x="824" y="805"/>
                  <a:pt x="798" y="815"/>
                </a:cubicBezTo>
                <a:cubicBezTo>
                  <a:pt x="772" y="826"/>
                  <a:pt x="746" y="834"/>
                  <a:pt x="719" y="839"/>
                </a:cubicBezTo>
                <a:cubicBezTo>
                  <a:pt x="691" y="845"/>
                  <a:pt x="664" y="847"/>
                  <a:pt x="636" y="847"/>
                </a:cubicBezTo>
                <a:lnTo>
                  <a:pt x="423" y="847"/>
                </a:lnTo>
                <a:cubicBezTo>
                  <a:pt x="396" y="847"/>
                  <a:pt x="368" y="845"/>
                  <a:pt x="341" y="839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6" y="805"/>
                  <a:pt x="211" y="792"/>
                  <a:pt x="188" y="776"/>
                </a:cubicBezTo>
                <a:cubicBezTo>
                  <a:pt x="165" y="761"/>
                  <a:pt x="144" y="743"/>
                  <a:pt x="124" y="723"/>
                </a:cubicBezTo>
                <a:cubicBezTo>
                  <a:pt x="104" y="704"/>
                  <a:pt x="87" y="682"/>
                  <a:pt x="71" y="659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59"/>
                  <a:pt x="14" y="533"/>
                  <a:pt x="8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35252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87624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876240" y="902520"/>
            <a:ext cx="1019412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Worked Example: A Systematic Redesign Process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876240" y="1798200"/>
            <a:ext cx="10524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Continuing the same scenario as [[systemic-design]]'s worked example, a systematic approach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876240" y="2160360"/>
            <a:ext cx="7803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to redesigning a recommender system looks like an ordered checklist: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025280" y="2670480"/>
            <a:ext cx="4685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Audit the current recommendation algorithm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1025280" y="3022920"/>
            <a:ext cx="3413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 a new weighting scheme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1025280" y="3375360"/>
            <a:ext cx="300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Build A/B test infrastructure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1025280" y="3737520"/>
            <a:ext cx="2798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Run tests on 10% of users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025280" y="4089960"/>
            <a:ext cx="3156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Measure engagement metrics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1025280" y="4442040"/>
            <a:ext cx="371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Roll out to 100% if metrics improve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876240" y="4912920"/>
            <a:ext cx="10506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Each step is methodical and auditable — but, taken alone, isolated: step 1 doesn't show how it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876240" y="5284440"/>
            <a:ext cx="1042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aﬀects step 4, or how improving one metric breaks another part of the system. That's the gap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876240" y="5646240"/>
            <a:ext cx="2959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[[systemic-design]] closes.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35252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799920" y="6343560"/>
            <a:ext cx="381240" cy="304920"/>
          </a:xfrm>
          <a:custGeom>
            <a:avLst/>
            <a:gdLst/>
            <a:ahLst/>
            <a:rect l="0" t="0" r="r" b="b"/>
            <a:pathLst>
              <a:path w="1059" h="847">
                <a:moveTo>
                  <a:pt x="0" y="423"/>
                </a:move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5"/>
                  <a:pt x="56" y="211"/>
                  <a:pt x="71" y="188"/>
                </a:cubicBezTo>
                <a:cubicBezTo>
                  <a:pt x="87" y="165"/>
                  <a:pt x="104" y="143"/>
                  <a:pt x="124" y="124"/>
                </a:cubicBezTo>
                <a:cubicBezTo>
                  <a:pt x="144" y="104"/>
                  <a:pt x="165" y="87"/>
                  <a:pt x="188" y="71"/>
                </a:cubicBezTo>
                <a:cubicBezTo>
                  <a:pt x="211" y="56"/>
                  <a:pt x="236" y="43"/>
                  <a:pt x="261" y="32"/>
                </a:cubicBezTo>
                <a:cubicBezTo>
                  <a:pt x="287" y="21"/>
                  <a:pt x="313" y="13"/>
                  <a:pt x="341" y="8"/>
                </a:cubicBezTo>
                <a:cubicBezTo>
                  <a:pt x="368" y="2"/>
                  <a:pt x="396" y="0"/>
                  <a:pt x="423" y="0"/>
                </a:cubicBezTo>
                <a:lnTo>
                  <a:pt x="636" y="0"/>
                </a:lnTo>
                <a:cubicBezTo>
                  <a:pt x="664" y="0"/>
                  <a:pt x="691" y="2"/>
                  <a:pt x="719" y="8"/>
                </a:cubicBezTo>
                <a:cubicBezTo>
                  <a:pt x="746" y="13"/>
                  <a:pt x="772" y="21"/>
                  <a:pt x="798" y="32"/>
                </a:cubicBezTo>
                <a:cubicBezTo>
                  <a:pt x="824" y="43"/>
                  <a:pt x="848" y="56"/>
                  <a:pt x="871" y="71"/>
                </a:cubicBezTo>
                <a:cubicBezTo>
                  <a:pt x="894" y="87"/>
                  <a:pt x="916" y="104"/>
                  <a:pt x="935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3" y="211"/>
                  <a:pt x="1016" y="235"/>
                  <a:pt x="1027" y="261"/>
                </a:cubicBezTo>
                <a:cubicBezTo>
                  <a:pt x="1038" y="287"/>
                  <a:pt x="1046" y="313"/>
                  <a:pt x="1051" y="340"/>
                </a:cubicBezTo>
                <a:cubicBezTo>
                  <a:pt x="1057" y="368"/>
                  <a:pt x="1059" y="395"/>
                  <a:pt x="1059" y="423"/>
                </a:cubicBezTo>
                <a:cubicBezTo>
                  <a:pt x="1059" y="451"/>
                  <a:pt x="1057" y="478"/>
                  <a:pt x="1051" y="506"/>
                </a:cubicBezTo>
                <a:cubicBezTo>
                  <a:pt x="1046" y="533"/>
                  <a:pt x="1038" y="559"/>
                  <a:pt x="1027" y="586"/>
                </a:cubicBezTo>
                <a:cubicBezTo>
                  <a:pt x="1016" y="612"/>
                  <a:pt x="1003" y="636"/>
                  <a:pt x="988" y="659"/>
                </a:cubicBezTo>
                <a:cubicBezTo>
                  <a:pt x="973" y="682"/>
                  <a:pt x="955" y="704"/>
                  <a:pt x="935" y="723"/>
                </a:cubicBezTo>
                <a:cubicBezTo>
                  <a:pt x="916" y="743"/>
                  <a:pt x="894" y="761"/>
                  <a:pt x="871" y="776"/>
                </a:cubicBezTo>
                <a:cubicBezTo>
                  <a:pt x="848" y="792"/>
                  <a:pt x="824" y="805"/>
                  <a:pt x="798" y="815"/>
                </a:cubicBezTo>
                <a:cubicBezTo>
                  <a:pt x="772" y="826"/>
                  <a:pt x="746" y="834"/>
                  <a:pt x="719" y="839"/>
                </a:cubicBezTo>
                <a:cubicBezTo>
                  <a:pt x="691" y="845"/>
                  <a:pt x="664" y="847"/>
                  <a:pt x="636" y="847"/>
                </a:cubicBezTo>
                <a:lnTo>
                  <a:pt x="423" y="847"/>
                </a:lnTo>
                <a:cubicBezTo>
                  <a:pt x="396" y="847"/>
                  <a:pt x="368" y="845"/>
                  <a:pt x="341" y="839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6" y="805"/>
                  <a:pt x="211" y="792"/>
                  <a:pt x="188" y="776"/>
                </a:cubicBezTo>
                <a:cubicBezTo>
                  <a:pt x="165" y="761"/>
                  <a:pt x="144" y="743"/>
                  <a:pt x="124" y="723"/>
                </a:cubicBezTo>
                <a:cubicBezTo>
                  <a:pt x="104" y="704"/>
                  <a:pt x="87" y="682"/>
                  <a:pt x="71" y="659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59"/>
                  <a:pt x="14" y="533"/>
                  <a:pt x="8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35252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87624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"/>
          <p:cNvSpPr/>
          <p:nvPr/>
        </p:nvSpPr>
        <p:spPr>
          <a:xfrm>
            <a:off x="761760" y="1380960"/>
            <a:ext cx="10668240" cy="5477040"/>
          </a:xfrm>
          <a:custGeom>
            <a:avLst/>
            <a:gdLst/>
            <a:ahLst/>
            <a:rect l="0" t="0" r="r" b="b"/>
            <a:pathLst>
              <a:path w="29634" h="15214">
                <a:moveTo>
                  <a:pt x="0" y="0"/>
                </a:moveTo>
                <a:lnTo>
                  <a:pt x="29634" y="0"/>
                </a:lnTo>
                <a:lnTo>
                  <a:pt x="29634" y="15214"/>
                </a:lnTo>
                <a:lnTo>
                  <a:pt x="0" y="152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1" name="" descr=""/>
          <p:cNvPicPr/>
          <p:nvPr/>
        </p:nvPicPr>
        <p:blipFill>
          <a:blip r:embed="rId2"/>
          <a:stretch/>
        </p:blipFill>
        <p:spPr>
          <a:xfrm>
            <a:off x="5753160" y="468612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762120" y="372600"/>
            <a:ext cx="2840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Question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"/>
          <p:cNvSpPr txBox="1"/>
          <p:nvPr/>
        </p:nvSpPr>
        <p:spPr>
          <a:xfrm>
            <a:off x="762120" y="1803960"/>
            <a:ext cx="997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Its elegance lies in its systematic approach to a singular function. This humble oﬃce tool exempliﬁes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762120" y="2108520"/>
            <a:ext cx="4264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several key principles of systematic design: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762120" y="372600"/>
            <a:ext cx="94892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Elegance of the Paperclip 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766440" y="2652480"/>
            <a:ext cx="5277240" cy="1267200"/>
          </a:xfrm>
          <a:custGeom>
            <a:avLst/>
            <a:gdLst/>
            <a:ahLst/>
            <a:rect l="0" t="0" r="r" b="b"/>
            <a:pathLst>
              <a:path w="14659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3375"/>
                </a:lnTo>
                <a:cubicBezTo>
                  <a:pt x="14659" y="3384"/>
                  <a:pt x="14658" y="3394"/>
                  <a:pt x="14657" y="3403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1"/>
                  <a:pt x="14617" y="3477"/>
                </a:cubicBezTo>
                <a:cubicBezTo>
                  <a:pt x="14610" y="3484"/>
                  <a:pt x="14603" y="3490"/>
                  <a:pt x="14595" y="3496"/>
                </a:cubicBezTo>
                <a:cubicBezTo>
                  <a:pt x="14587" y="3501"/>
                  <a:pt x="14578" y="3505"/>
                  <a:pt x="14569" y="3509"/>
                </a:cubicBezTo>
                <a:cubicBezTo>
                  <a:pt x="14561" y="3513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3"/>
                  <a:pt x="90" y="3509"/>
                </a:cubicBezTo>
                <a:cubicBezTo>
                  <a:pt x="81" y="3505"/>
                  <a:pt x="73" y="3501"/>
                  <a:pt x="65" y="3496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1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4"/>
                  <a:pt x="0" y="3384"/>
                  <a:pt x="0" y="3375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766440" y="2652480"/>
            <a:ext cx="5277240" cy="1267200"/>
          </a:xfrm>
          <a:custGeom>
            <a:avLst/>
            <a:gdLst/>
            <a:ahLst/>
            <a:rect l="0" t="0" r="r" b="b"/>
            <a:pathLst>
              <a:path fill="none" w="14659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3375"/>
                </a:lnTo>
                <a:cubicBezTo>
                  <a:pt x="14659" y="3384"/>
                  <a:pt x="14658" y="3394"/>
                  <a:pt x="14657" y="3403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1"/>
                  <a:pt x="14617" y="3477"/>
                </a:cubicBezTo>
                <a:cubicBezTo>
                  <a:pt x="14610" y="3484"/>
                  <a:pt x="14603" y="3490"/>
                  <a:pt x="14595" y="3496"/>
                </a:cubicBezTo>
                <a:cubicBezTo>
                  <a:pt x="14587" y="3501"/>
                  <a:pt x="14578" y="3505"/>
                  <a:pt x="14569" y="3509"/>
                </a:cubicBezTo>
                <a:cubicBezTo>
                  <a:pt x="14561" y="3513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3"/>
                  <a:pt x="90" y="3509"/>
                </a:cubicBezTo>
                <a:cubicBezTo>
                  <a:pt x="81" y="3505"/>
                  <a:pt x="73" y="3501"/>
                  <a:pt x="65" y="3496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1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4"/>
                  <a:pt x="0" y="3384"/>
                  <a:pt x="0" y="3375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10250640" y="352440"/>
            <a:ext cx="610200" cy="800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800" strike="noStrike" u="none">
                <a:solidFill>
                  <a:srgbClr val="0a5387"/>
                </a:solidFill>
                <a:effectLst/>
                <a:uFillTx/>
                <a:latin typeface="AppleColorEmoji"/>
                <a:ea typeface="AppleColorEmoji"/>
              </a:rPr>
              <a:t>📎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923760" y="3252240"/>
            <a:ext cx="4407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Securely holds papers together without tearing or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961920" y="290484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923760" y="3528360"/>
            <a:ext cx="4710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damaging them, fulﬁlling its core purpose ﬂawlessly.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6148080" y="2652480"/>
            <a:ext cx="5277240" cy="1267200"/>
          </a:xfrm>
          <a:custGeom>
            <a:avLst/>
            <a:gdLst/>
            <a:ahLst/>
            <a:rect l="0" t="0" r="r" b="b"/>
            <a:pathLst>
              <a:path w="14659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3375"/>
                </a:lnTo>
                <a:cubicBezTo>
                  <a:pt x="14659" y="3384"/>
                  <a:pt x="14658" y="3394"/>
                  <a:pt x="14656" y="3403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1"/>
                  <a:pt x="14617" y="3477"/>
                </a:cubicBezTo>
                <a:cubicBezTo>
                  <a:pt x="14610" y="3484"/>
                  <a:pt x="14603" y="3490"/>
                  <a:pt x="14595" y="3496"/>
                </a:cubicBezTo>
                <a:cubicBezTo>
                  <a:pt x="14587" y="3501"/>
                  <a:pt x="14578" y="3505"/>
                  <a:pt x="14569" y="3509"/>
                </a:cubicBezTo>
                <a:cubicBezTo>
                  <a:pt x="14561" y="3513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7" y="3517"/>
                </a:cubicBezTo>
                <a:cubicBezTo>
                  <a:pt x="108" y="3515"/>
                  <a:pt x="99" y="3513"/>
                  <a:pt x="90" y="3509"/>
                </a:cubicBezTo>
                <a:cubicBezTo>
                  <a:pt x="81" y="3505"/>
                  <a:pt x="73" y="3501"/>
                  <a:pt x="65" y="3496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1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4"/>
                  <a:pt x="0" y="3384"/>
                  <a:pt x="0" y="3375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6148080" y="2652480"/>
            <a:ext cx="5277240" cy="1267200"/>
          </a:xfrm>
          <a:custGeom>
            <a:avLst/>
            <a:gdLst/>
            <a:ahLst/>
            <a:rect l="0" t="0" r="r" b="b"/>
            <a:pathLst>
              <a:path fill="none" w="14659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3375"/>
                </a:lnTo>
                <a:cubicBezTo>
                  <a:pt x="14659" y="3384"/>
                  <a:pt x="14658" y="3394"/>
                  <a:pt x="14656" y="3403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1"/>
                  <a:pt x="14617" y="3477"/>
                </a:cubicBezTo>
                <a:cubicBezTo>
                  <a:pt x="14610" y="3484"/>
                  <a:pt x="14603" y="3490"/>
                  <a:pt x="14595" y="3496"/>
                </a:cubicBezTo>
                <a:cubicBezTo>
                  <a:pt x="14587" y="3501"/>
                  <a:pt x="14578" y="3505"/>
                  <a:pt x="14569" y="3509"/>
                </a:cubicBezTo>
                <a:cubicBezTo>
                  <a:pt x="14561" y="3513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7" y="3517"/>
                </a:cubicBezTo>
                <a:cubicBezTo>
                  <a:pt x="108" y="3515"/>
                  <a:pt x="99" y="3513"/>
                  <a:pt x="90" y="3509"/>
                </a:cubicBezTo>
                <a:cubicBezTo>
                  <a:pt x="81" y="3505"/>
                  <a:pt x="73" y="3501"/>
                  <a:pt x="65" y="3496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1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4"/>
                  <a:pt x="0" y="3384"/>
                  <a:pt x="0" y="3375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1203120" y="2855520"/>
            <a:ext cx="2210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Clear Functionality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6305400" y="3252240"/>
            <a:ext cx="4194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Utilises a single, continuous piece of bent wire,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6343560" y="290484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2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6305400" y="3528360"/>
            <a:ext cx="4694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minimising waste and complexity in its construction.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766440" y="4157640"/>
            <a:ext cx="5277240" cy="1543320"/>
          </a:xfrm>
          <a:custGeom>
            <a:avLst/>
            <a:gdLst/>
            <a:ahLst/>
            <a:rect l="0" t="0" r="r" b="b"/>
            <a:pathLst>
              <a:path w="14659" h="4287">
                <a:moveTo>
                  <a:pt x="0" y="41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141"/>
                </a:lnTo>
                <a:cubicBezTo>
                  <a:pt x="14659" y="4151"/>
                  <a:pt x="14658" y="4160"/>
                  <a:pt x="14657" y="4170"/>
                </a:cubicBezTo>
                <a:cubicBezTo>
                  <a:pt x="14655" y="4179"/>
                  <a:pt x="14652" y="4188"/>
                  <a:pt x="14648" y="4197"/>
                </a:cubicBezTo>
                <a:cubicBezTo>
                  <a:pt x="14645" y="4206"/>
                  <a:pt x="14640" y="4214"/>
                  <a:pt x="14635" y="4222"/>
                </a:cubicBezTo>
                <a:cubicBezTo>
                  <a:pt x="14629" y="4230"/>
                  <a:pt x="14623" y="4237"/>
                  <a:pt x="14617" y="4244"/>
                </a:cubicBezTo>
                <a:cubicBezTo>
                  <a:pt x="14610" y="4251"/>
                  <a:pt x="14603" y="4257"/>
                  <a:pt x="14595" y="4262"/>
                </a:cubicBezTo>
                <a:cubicBezTo>
                  <a:pt x="14587" y="4268"/>
                  <a:pt x="14578" y="4272"/>
                  <a:pt x="14569" y="4276"/>
                </a:cubicBezTo>
                <a:cubicBezTo>
                  <a:pt x="14561" y="4279"/>
                  <a:pt x="14552" y="4282"/>
                  <a:pt x="14542" y="4284"/>
                </a:cubicBezTo>
                <a:cubicBezTo>
                  <a:pt x="14533" y="4286"/>
                  <a:pt x="14523" y="4287"/>
                  <a:pt x="14514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4"/>
                </a:cubicBezTo>
                <a:cubicBezTo>
                  <a:pt x="108" y="4282"/>
                  <a:pt x="99" y="4279"/>
                  <a:pt x="90" y="4276"/>
                </a:cubicBezTo>
                <a:cubicBezTo>
                  <a:pt x="81" y="4272"/>
                  <a:pt x="73" y="4268"/>
                  <a:pt x="65" y="4262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7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0"/>
                  <a:pt x="0" y="4151"/>
                  <a:pt x="0" y="4141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766440" y="4157640"/>
            <a:ext cx="5277240" cy="1543320"/>
          </a:xfrm>
          <a:custGeom>
            <a:avLst/>
            <a:gdLst/>
            <a:ahLst/>
            <a:rect l="0" t="0" r="r" b="b"/>
            <a:pathLst>
              <a:path fill="none" w="14659" h="4287">
                <a:moveTo>
                  <a:pt x="0" y="41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141"/>
                </a:lnTo>
                <a:cubicBezTo>
                  <a:pt x="14659" y="4151"/>
                  <a:pt x="14658" y="4160"/>
                  <a:pt x="14657" y="4170"/>
                </a:cubicBezTo>
                <a:cubicBezTo>
                  <a:pt x="14655" y="4179"/>
                  <a:pt x="14652" y="4188"/>
                  <a:pt x="14648" y="4197"/>
                </a:cubicBezTo>
                <a:cubicBezTo>
                  <a:pt x="14645" y="4206"/>
                  <a:pt x="14640" y="4214"/>
                  <a:pt x="14635" y="4222"/>
                </a:cubicBezTo>
                <a:cubicBezTo>
                  <a:pt x="14629" y="4230"/>
                  <a:pt x="14623" y="4237"/>
                  <a:pt x="14617" y="4244"/>
                </a:cubicBezTo>
                <a:cubicBezTo>
                  <a:pt x="14610" y="4251"/>
                  <a:pt x="14603" y="4257"/>
                  <a:pt x="14595" y="4262"/>
                </a:cubicBezTo>
                <a:cubicBezTo>
                  <a:pt x="14587" y="4268"/>
                  <a:pt x="14578" y="4272"/>
                  <a:pt x="14569" y="4276"/>
                </a:cubicBezTo>
                <a:cubicBezTo>
                  <a:pt x="14561" y="4279"/>
                  <a:pt x="14552" y="4282"/>
                  <a:pt x="14542" y="4284"/>
                </a:cubicBezTo>
                <a:cubicBezTo>
                  <a:pt x="14533" y="4286"/>
                  <a:pt x="14523" y="4287"/>
                  <a:pt x="14514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4"/>
                </a:cubicBezTo>
                <a:cubicBezTo>
                  <a:pt x="108" y="4282"/>
                  <a:pt x="99" y="4279"/>
                  <a:pt x="90" y="4276"/>
                </a:cubicBezTo>
                <a:cubicBezTo>
                  <a:pt x="81" y="4272"/>
                  <a:pt x="73" y="4268"/>
                  <a:pt x="65" y="4262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7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0"/>
                  <a:pt x="0" y="4151"/>
                  <a:pt x="0" y="4141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6584760" y="2855520"/>
            <a:ext cx="2135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Material Eﬃciency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923760" y="4766760"/>
            <a:ext cx="4057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Its simple form allows for cost-eﬀective mass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961920" y="441000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923760" y="5042880"/>
            <a:ext cx="4906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production, making it widely accessible and aﬀordable.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6148080" y="4157640"/>
            <a:ext cx="5277240" cy="1543320"/>
          </a:xfrm>
          <a:custGeom>
            <a:avLst/>
            <a:gdLst/>
            <a:ahLst/>
            <a:rect l="0" t="0" r="r" b="b"/>
            <a:pathLst>
              <a:path w="14659" h="4287">
                <a:moveTo>
                  <a:pt x="0" y="41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141"/>
                </a:lnTo>
                <a:cubicBezTo>
                  <a:pt x="14659" y="4151"/>
                  <a:pt x="14658" y="4160"/>
                  <a:pt x="14656" y="4170"/>
                </a:cubicBezTo>
                <a:cubicBezTo>
                  <a:pt x="14655" y="4179"/>
                  <a:pt x="14652" y="4188"/>
                  <a:pt x="14648" y="4197"/>
                </a:cubicBezTo>
                <a:cubicBezTo>
                  <a:pt x="14645" y="4206"/>
                  <a:pt x="14640" y="4214"/>
                  <a:pt x="14635" y="4222"/>
                </a:cubicBezTo>
                <a:cubicBezTo>
                  <a:pt x="14629" y="4230"/>
                  <a:pt x="14623" y="4237"/>
                  <a:pt x="14617" y="4244"/>
                </a:cubicBezTo>
                <a:cubicBezTo>
                  <a:pt x="14610" y="4251"/>
                  <a:pt x="14603" y="4257"/>
                  <a:pt x="14595" y="4262"/>
                </a:cubicBezTo>
                <a:cubicBezTo>
                  <a:pt x="14587" y="4268"/>
                  <a:pt x="14578" y="4272"/>
                  <a:pt x="14569" y="4276"/>
                </a:cubicBezTo>
                <a:cubicBezTo>
                  <a:pt x="14561" y="4279"/>
                  <a:pt x="14552" y="4282"/>
                  <a:pt x="14542" y="4284"/>
                </a:cubicBezTo>
                <a:cubicBezTo>
                  <a:pt x="14533" y="4286"/>
                  <a:pt x="14523" y="4287"/>
                  <a:pt x="14514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7" y="4284"/>
                </a:cubicBezTo>
                <a:cubicBezTo>
                  <a:pt x="108" y="4282"/>
                  <a:pt x="99" y="4279"/>
                  <a:pt x="90" y="4276"/>
                </a:cubicBezTo>
                <a:cubicBezTo>
                  <a:pt x="81" y="4272"/>
                  <a:pt x="73" y="4268"/>
                  <a:pt x="65" y="4262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7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0"/>
                  <a:pt x="0" y="4151"/>
                  <a:pt x="0" y="4141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6148080" y="4157640"/>
            <a:ext cx="5277240" cy="1543320"/>
          </a:xfrm>
          <a:custGeom>
            <a:avLst/>
            <a:gdLst/>
            <a:ahLst/>
            <a:rect l="0" t="0" r="r" b="b"/>
            <a:pathLst>
              <a:path fill="none" w="14659" h="4287">
                <a:moveTo>
                  <a:pt x="0" y="41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141"/>
                </a:lnTo>
                <a:cubicBezTo>
                  <a:pt x="14659" y="4151"/>
                  <a:pt x="14658" y="4160"/>
                  <a:pt x="14656" y="4170"/>
                </a:cubicBezTo>
                <a:cubicBezTo>
                  <a:pt x="14655" y="4179"/>
                  <a:pt x="14652" y="4188"/>
                  <a:pt x="14648" y="4197"/>
                </a:cubicBezTo>
                <a:cubicBezTo>
                  <a:pt x="14645" y="4206"/>
                  <a:pt x="14640" y="4214"/>
                  <a:pt x="14635" y="4222"/>
                </a:cubicBezTo>
                <a:cubicBezTo>
                  <a:pt x="14629" y="4230"/>
                  <a:pt x="14623" y="4237"/>
                  <a:pt x="14617" y="4244"/>
                </a:cubicBezTo>
                <a:cubicBezTo>
                  <a:pt x="14610" y="4251"/>
                  <a:pt x="14603" y="4257"/>
                  <a:pt x="14595" y="4262"/>
                </a:cubicBezTo>
                <a:cubicBezTo>
                  <a:pt x="14587" y="4268"/>
                  <a:pt x="14578" y="4272"/>
                  <a:pt x="14569" y="4276"/>
                </a:cubicBezTo>
                <a:cubicBezTo>
                  <a:pt x="14561" y="4279"/>
                  <a:pt x="14552" y="4282"/>
                  <a:pt x="14542" y="4284"/>
                </a:cubicBezTo>
                <a:cubicBezTo>
                  <a:pt x="14533" y="4286"/>
                  <a:pt x="14523" y="4287"/>
                  <a:pt x="14514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7" y="4284"/>
                </a:cubicBezTo>
                <a:cubicBezTo>
                  <a:pt x="108" y="4282"/>
                  <a:pt x="99" y="4279"/>
                  <a:pt x="90" y="4276"/>
                </a:cubicBezTo>
                <a:cubicBezTo>
                  <a:pt x="81" y="4272"/>
                  <a:pt x="73" y="4268"/>
                  <a:pt x="65" y="4262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7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0"/>
                  <a:pt x="0" y="4151"/>
                  <a:pt x="0" y="4141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1203120" y="4360320"/>
            <a:ext cx="2642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Ease of Manufacturing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6305400" y="4766760"/>
            <a:ext cx="4743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Recognised and eﬀective worldwide, demonstrating a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6305400" y="5042880"/>
            <a:ext cx="4486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timeless and robust design solution for a common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6343560" y="441000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2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6305400" y="5309640"/>
            <a:ext cx="801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problem.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6584760" y="4360320"/>
            <a:ext cx="2613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Universal Adaptability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"/>
          <p:cNvSpPr txBox="1"/>
          <p:nvPr/>
        </p:nvSpPr>
        <p:spPr>
          <a:xfrm>
            <a:off x="762120" y="1937160"/>
            <a:ext cx="10167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 EV is a highly integrated ecosystem of disparate components, each requiring meticulous design 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762120" y="2242080"/>
            <a:ext cx="923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seamless coordination. Which hinges on the harmonious interaction of these diverse systems.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762120" y="372600"/>
            <a:ext cx="86245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Real-World Complexity: EV 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766440" y="2786040"/>
            <a:ext cx="5277240" cy="1267200"/>
          </a:xfrm>
          <a:custGeom>
            <a:avLst/>
            <a:gdLst/>
            <a:ahLst/>
            <a:rect l="0" t="0" r="r" b="b"/>
            <a:pathLst>
              <a:path w="14659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374"/>
                </a:lnTo>
                <a:cubicBezTo>
                  <a:pt x="14659" y="3384"/>
                  <a:pt x="14658" y="3393"/>
                  <a:pt x="14657" y="3402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0"/>
                  <a:pt x="14617" y="3477"/>
                </a:cubicBezTo>
                <a:cubicBezTo>
                  <a:pt x="14610" y="3484"/>
                  <a:pt x="14603" y="3490"/>
                  <a:pt x="14595" y="3495"/>
                </a:cubicBezTo>
                <a:cubicBezTo>
                  <a:pt x="14587" y="3500"/>
                  <a:pt x="14578" y="3505"/>
                  <a:pt x="14569" y="3508"/>
                </a:cubicBezTo>
                <a:cubicBezTo>
                  <a:pt x="14561" y="3512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8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2"/>
                </a:cubicBezTo>
                <a:cubicBezTo>
                  <a:pt x="1" y="3393"/>
                  <a:pt x="0" y="3384"/>
                  <a:pt x="0" y="3374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766440" y="2786040"/>
            <a:ext cx="5277240" cy="1267200"/>
          </a:xfrm>
          <a:custGeom>
            <a:avLst/>
            <a:gdLst/>
            <a:ahLst/>
            <a:rect l="0" t="0" r="r" b="b"/>
            <a:pathLst>
              <a:path fill="none" w="14659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374"/>
                </a:lnTo>
                <a:cubicBezTo>
                  <a:pt x="14659" y="3384"/>
                  <a:pt x="14658" y="3393"/>
                  <a:pt x="14657" y="3402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0"/>
                  <a:pt x="14617" y="3477"/>
                </a:cubicBezTo>
                <a:cubicBezTo>
                  <a:pt x="14610" y="3484"/>
                  <a:pt x="14603" y="3490"/>
                  <a:pt x="14595" y="3495"/>
                </a:cubicBezTo>
                <a:cubicBezTo>
                  <a:pt x="14587" y="3500"/>
                  <a:pt x="14578" y="3505"/>
                  <a:pt x="14569" y="3508"/>
                </a:cubicBezTo>
                <a:cubicBezTo>
                  <a:pt x="14561" y="3512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8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2"/>
                </a:cubicBezTo>
                <a:cubicBezTo>
                  <a:pt x="1" y="3393"/>
                  <a:pt x="0" y="3384"/>
                  <a:pt x="0" y="3374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9385560" y="497520"/>
            <a:ext cx="609120" cy="609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800" strike="noStrike" u="none">
                <a:solidFill>
                  <a:srgbClr val="0a5387"/>
                </a:solidFill>
                <a:effectLst/>
                <a:uFillTx/>
                <a:latin typeface="STIXTwoMath"/>
                <a:ea typeface="STIXTwoMath"/>
              </a:rPr>
              <a:t>⛐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923760" y="3395160"/>
            <a:ext cx="4841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Integrated electric motors, high-voltage batteries, and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952200" y="3000240"/>
            <a:ext cx="172080" cy="190800"/>
          </a:xfrm>
          <a:custGeom>
            <a:avLst/>
            <a:gdLst/>
            <a:ahLst/>
            <a:rect l="0" t="0" r="r" b="b"/>
            <a:pathLst>
              <a:path fill="none" w="478" h="530">
                <a:moveTo>
                  <a:pt x="265" y="0"/>
                </a:moveTo>
                <a:lnTo>
                  <a:pt x="0" y="317"/>
                </a:lnTo>
                <a:lnTo>
                  <a:pt x="238" y="317"/>
                </a:lnTo>
                <a:lnTo>
                  <a:pt x="212" y="530"/>
                </a:lnTo>
                <a:lnTo>
                  <a:pt x="478" y="212"/>
                </a:lnTo>
                <a:lnTo>
                  <a:pt x="238" y="212"/>
                </a:lnTo>
                <a:lnTo>
                  <a:pt x="265" y="0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923760" y="3671280"/>
            <a:ext cx="3731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intricate power electronics for propulsion.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6148080" y="2786040"/>
            <a:ext cx="5277240" cy="1267200"/>
          </a:xfrm>
          <a:custGeom>
            <a:avLst/>
            <a:gdLst/>
            <a:ahLst/>
            <a:rect l="0" t="0" r="r" b="b"/>
            <a:pathLst>
              <a:path w="14659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374"/>
                </a:lnTo>
                <a:cubicBezTo>
                  <a:pt x="14659" y="3384"/>
                  <a:pt x="14658" y="3393"/>
                  <a:pt x="14656" y="3402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0"/>
                  <a:pt x="14617" y="3477"/>
                </a:cubicBezTo>
                <a:cubicBezTo>
                  <a:pt x="14610" y="3484"/>
                  <a:pt x="14603" y="3490"/>
                  <a:pt x="14595" y="3495"/>
                </a:cubicBezTo>
                <a:cubicBezTo>
                  <a:pt x="14587" y="3500"/>
                  <a:pt x="14578" y="3505"/>
                  <a:pt x="14569" y="3508"/>
                </a:cubicBezTo>
                <a:cubicBezTo>
                  <a:pt x="14561" y="3512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7" y="3517"/>
                </a:cubicBezTo>
                <a:cubicBezTo>
                  <a:pt x="108" y="3515"/>
                  <a:pt x="99" y="3512"/>
                  <a:pt x="90" y="3508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2"/>
                </a:cubicBezTo>
                <a:cubicBezTo>
                  <a:pt x="1" y="3393"/>
                  <a:pt x="0" y="3384"/>
                  <a:pt x="0" y="3374"/>
                </a:cubicBezTo>
                <a:close/>
              </a:path>
            </a:pathLst>
          </a:custGeom>
          <a:solidFill>
            <a:srgbClr val="e6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6148080" y="2786040"/>
            <a:ext cx="5277240" cy="1267200"/>
          </a:xfrm>
          <a:custGeom>
            <a:avLst/>
            <a:gdLst/>
            <a:ahLst/>
            <a:rect l="0" t="0" r="r" b="b"/>
            <a:pathLst>
              <a:path fill="none" w="14659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374"/>
                </a:lnTo>
                <a:cubicBezTo>
                  <a:pt x="14659" y="3384"/>
                  <a:pt x="14658" y="3393"/>
                  <a:pt x="14656" y="3402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0"/>
                  <a:pt x="14617" y="3477"/>
                </a:cubicBezTo>
                <a:cubicBezTo>
                  <a:pt x="14610" y="3484"/>
                  <a:pt x="14603" y="3490"/>
                  <a:pt x="14595" y="3495"/>
                </a:cubicBezTo>
                <a:cubicBezTo>
                  <a:pt x="14587" y="3500"/>
                  <a:pt x="14578" y="3505"/>
                  <a:pt x="14569" y="3508"/>
                </a:cubicBezTo>
                <a:cubicBezTo>
                  <a:pt x="14561" y="3512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7" y="3517"/>
                </a:cubicBezTo>
                <a:cubicBezTo>
                  <a:pt x="108" y="3515"/>
                  <a:pt x="99" y="3512"/>
                  <a:pt x="90" y="3508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2"/>
                </a:cubicBezTo>
                <a:cubicBezTo>
                  <a:pt x="1" y="3393"/>
                  <a:pt x="0" y="3384"/>
                  <a:pt x="0" y="3374"/>
                </a:cubicBezTo>
              </a:path>
            </a:pathLst>
          </a:custGeom>
          <a:ln w="9360">
            <a:solidFill>
              <a:srgbClr val="b5d6fc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203120" y="2988720"/>
            <a:ext cx="1277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Powertrain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6305400" y="3395160"/>
            <a:ext cx="4742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Advanced Battery Management Systems, autonomous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6324480" y="300024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424" y="0"/>
                </a:moveTo>
                <a:lnTo>
                  <a:pt x="530" y="106"/>
                </a:lnTo>
                <a:moveTo>
                  <a:pt x="145" y="490"/>
                </a:moveTo>
                <a:lnTo>
                  <a:pt x="451" y="185"/>
                </a:lnTo>
                <a:lnTo>
                  <a:pt x="345" y="79"/>
                </a:lnTo>
                <a:lnTo>
                  <a:pt x="40" y="384"/>
                </a:lnTo>
                <a:lnTo>
                  <a:pt x="0" y="530"/>
                </a:lnTo>
                <a:lnTo>
                  <a:pt x="145" y="490"/>
                </a:lnTo>
              </a:path>
            </a:pathLst>
          </a:custGeom>
          <a:ln cap="rnd" w="18720">
            <a:solidFill>
              <a:srgbClr val="086ddd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6305400" y="3671280"/>
            <a:ext cx="3555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driving, and sophisticated infotainment.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766440" y="4290840"/>
            <a:ext cx="5277240" cy="1276560"/>
          </a:xfrm>
          <a:custGeom>
            <a:avLst/>
            <a:gdLst/>
            <a:ahLst/>
            <a:rect l="0" t="0" r="r" b="b"/>
            <a:pathLst>
              <a:path w="14659" h="3546">
                <a:moveTo>
                  <a:pt x="0" y="34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401"/>
                </a:lnTo>
                <a:cubicBezTo>
                  <a:pt x="14659" y="3410"/>
                  <a:pt x="14658" y="3420"/>
                  <a:pt x="14657" y="3429"/>
                </a:cubicBezTo>
                <a:cubicBezTo>
                  <a:pt x="14655" y="3439"/>
                  <a:pt x="14652" y="3448"/>
                  <a:pt x="14648" y="3457"/>
                </a:cubicBezTo>
                <a:cubicBezTo>
                  <a:pt x="14645" y="3465"/>
                  <a:pt x="14640" y="3474"/>
                  <a:pt x="14635" y="3482"/>
                </a:cubicBezTo>
                <a:cubicBezTo>
                  <a:pt x="14629" y="3490"/>
                  <a:pt x="14623" y="3497"/>
                  <a:pt x="14617" y="3504"/>
                </a:cubicBezTo>
                <a:cubicBezTo>
                  <a:pt x="14610" y="3511"/>
                  <a:pt x="14603" y="3517"/>
                  <a:pt x="14595" y="3522"/>
                </a:cubicBezTo>
                <a:cubicBezTo>
                  <a:pt x="14587" y="3527"/>
                  <a:pt x="14578" y="3532"/>
                  <a:pt x="14569" y="3535"/>
                </a:cubicBezTo>
                <a:cubicBezTo>
                  <a:pt x="14561" y="3539"/>
                  <a:pt x="14552" y="3542"/>
                  <a:pt x="14542" y="3544"/>
                </a:cubicBezTo>
                <a:cubicBezTo>
                  <a:pt x="14533" y="3545"/>
                  <a:pt x="14523" y="3546"/>
                  <a:pt x="14514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8" y="3544"/>
                </a:cubicBezTo>
                <a:cubicBezTo>
                  <a:pt x="108" y="3542"/>
                  <a:pt x="99" y="3539"/>
                  <a:pt x="90" y="3535"/>
                </a:cubicBezTo>
                <a:cubicBezTo>
                  <a:pt x="81" y="3532"/>
                  <a:pt x="73" y="3527"/>
                  <a:pt x="65" y="3522"/>
                </a:cubicBezTo>
                <a:cubicBezTo>
                  <a:pt x="57" y="3517"/>
                  <a:pt x="50" y="3511"/>
                  <a:pt x="43" y="3504"/>
                </a:cubicBezTo>
                <a:cubicBezTo>
                  <a:pt x="36" y="3497"/>
                  <a:pt x="30" y="3490"/>
                  <a:pt x="25" y="3482"/>
                </a:cubicBezTo>
                <a:cubicBezTo>
                  <a:pt x="20" y="3474"/>
                  <a:pt x="15" y="3465"/>
                  <a:pt x="11" y="3457"/>
                </a:cubicBezTo>
                <a:cubicBezTo>
                  <a:pt x="8" y="3448"/>
                  <a:pt x="5" y="3439"/>
                  <a:pt x="3" y="3429"/>
                </a:cubicBezTo>
                <a:cubicBezTo>
                  <a:pt x="1" y="3420"/>
                  <a:pt x="0" y="3410"/>
                  <a:pt x="0" y="3401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766440" y="4290840"/>
            <a:ext cx="5277240" cy="1276560"/>
          </a:xfrm>
          <a:custGeom>
            <a:avLst/>
            <a:gdLst/>
            <a:ahLst/>
            <a:rect l="0" t="0" r="r" b="b"/>
            <a:pathLst>
              <a:path fill="none" w="14659" h="3546">
                <a:moveTo>
                  <a:pt x="0" y="34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401"/>
                </a:lnTo>
                <a:cubicBezTo>
                  <a:pt x="14659" y="3410"/>
                  <a:pt x="14658" y="3420"/>
                  <a:pt x="14657" y="3429"/>
                </a:cubicBezTo>
                <a:cubicBezTo>
                  <a:pt x="14655" y="3439"/>
                  <a:pt x="14652" y="3448"/>
                  <a:pt x="14648" y="3457"/>
                </a:cubicBezTo>
                <a:cubicBezTo>
                  <a:pt x="14645" y="3465"/>
                  <a:pt x="14640" y="3474"/>
                  <a:pt x="14635" y="3482"/>
                </a:cubicBezTo>
                <a:cubicBezTo>
                  <a:pt x="14629" y="3490"/>
                  <a:pt x="14623" y="3497"/>
                  <a:pt x="14617" y="3504"/>
                </a:cubicBezTo>
                <a:cubicBezTo>
                  <a:pt x="14610" y="3511"/>
                  <a:pt x="14603" y="3517"/>
                  <a:pt x="14595" y="3522"/>
                </a:cubicBezTo>
                <a:cubicBezTo>
                  <a:pt x="14587" y="3527"/>
                  <a:pt x="14578" y="3532"/>
                  <a:pt x="14569" y="3535"/>
                </a:cubicBezTo>
                <a:cubicBezTo>
                  <a:pt x="14561" y="3539"/>
                  <a:pt x="14552" y="3542"/>
                  <a:pt x="14542" y="3544"/>
                </a:cubicBezTo>
                <a:cubicBezTo>
                  <a:pt x="14533" y="3545"/>
                  <a:pt x="14523" y="3546"/>
                  <a:pt x="14514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8" y="3544"/>
                </a:cubicBezTo>
                <a:cubicBezTo>
                  <a:pt x="108" y="3542"/>
                  <a:pt x="99" y="3539"/>
                  <a:pt x="90" y="3535"/>
                </a:cubicBezTo>
                <a:cubicBezTo>
                  <a:pt x="81" y="3532"/>
                  <a:pt x="73" y="3527"/>
                  <a:pt x="65" y="3522"/>
                </a:cubicBezTo>
                <a:cubicBezTo>
                  <a:pt x="57" y="3517"/>
                  <a:pt x="50" y="3511"/>
                  <a:pt x="43" y="3504"/>
                </a:cubicBezTo>
                <a:cubicBezTo>
                  <a:pt x="36" y="3497"/>
                  <a:pt x="30" y="3490"/>
                  <a:pt x="25" y="3482"/>
                </a:cubicBezTo>
                <a:cubicBezTo>
                  <a:pt x="20" y="3474"/>
                  <a:pt x="15" y="3465"/>
                  <a:pt x="11" y="3457"/>
                </a:cubicBezTo>
                <a:cubicBezTo>
                  <a:pt x="8" y="3448"/>
                  <a:pt x="5" y="3439"/>
                  <a:pt x="3" y="3429"/>
                </a:cubicBezTo>
                <a:cubicBezTo>
                  <a:pt x="1" y="3420"/>
                  <a:pt x="0" y="3410"/>
                  <a:pt x="0" y="3401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6584760" y="2988720"/>
            <a:ext cx="2080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086ddd"/>
                </a:solidFill>
                <a:effectLst/>
                <a:uFillTx/>
                <a:latin typeface="LucidaGrande"/>
                <a:ea typeface="LucidaGrande"/>
              </a:rPr>
              <a:t>Software Systems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923760" y="4899960"/>
            <a:ext cx="4449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Lightweight structures, advanced suspension, and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942480" y="4514400"/>
            <a:ext cx="191160" cy="172080"/>
          </a:xfrm>
          <a:custGeom>
            <a:avLst/>
            <a:gdLst/>
            <a:ahLst/>
            <a:rect l="0" t="0" r="r" b="b"/>
            <a:pathLst>
              <a:path fill="none" w="531" h="478">
                <a:moveTo>
                  <a:pt x="524" y="399"/>
                </a:moveTo>
                <a:lnTo>
                  <a:pt x="312" y="27"/>
                </a:lnTo>
                <a:cubicBezTo>
                  <a:pt x="308" y="19"/>
                  <a:pt x="301" y="12"/>
                  <a:pt x="293" y="8"/>
                </a:cubicBezTo>
                <a:cubicBezTo>
                  <a:pt x="284" y="3"/>
                  <a:pt x="275" y="0"/>
                  <a:pt x="265" y="0"/>
                </a:cubicBezTo>
                <a:cubicBezTo>
                  <a:pt x="256" y="0"/>
                  <a:pt x="247" y="3"/>
                  <a:pt x="239" y="8"/>
                </a:cubicBezTo>
                <a:cubicBezTo>
                  <a:pt x="230" y="12"/>
                  <a:pt x="224" y="19"/>
                  <a:pt x="219" y="27"/>
                </a:cubicBezTo>
                <a:lnTo>
                  <a:pt x="7" y="399"/>
                </a:lnTo>
                <a:cubicBezTo>
                  <a:pt x="3" y="407"/>
                  <a:pt x="0" y="416"/>
                  <a:pt x="0" y="425"/>
                </a:cubicBezTo>
                <a:cubicBezTo>
                  <a:pt x="0" y="435"/>
                  <a:pt x="3" y="444"/>
                  <a:pt x="8" y="452"/>
                </a:cubicBezTo>
                <a:cubicBezTo>
                  <a:pt x="12" y="460"/>
                  <a:pt x="19" y="466"/>
                  <a:pt x="27" y="471"/>
                </a:cubicBezTo>
                <a:cubicBezTo>
                  <a:pt x="35" y="476"/>
                  <a:pt x="44" y="478"/>
                  <a:pt x="54" y="478"/>
                </a:cubicBezTo>
                <a:lnTo>
                  <a:pt x="478" y="478"/>
                </a:lnTo>
                <a:cubicBezTo>
                  <a:pt x="483" y="478"/>
                  <a:pt x="487" y="477"/>
                  <a:pt x="492" y="476"/>
                </a:cubicBezTo>
                <a:cubicBezTo>
                  <a:pt x="496" y="475"/>
                  <a:pt x="501" y="473"/>
                  <a:pt x="505" y="471"/>
                </a:cubicBezTo>
                <a:cubicBezTo>
                  <a:pt x="509" y="469"/>
                  <a:pt x="512" y="466"/>
                  <a:pt x="516" y="462"/>
                </a:cubicBezTo>
                <a:cubicBezTo>
                  <a:pt x="519" y="459"/>
                  <a:pt x="522" y="456"/>
                  <a:pt x="524" y="452"/>
                </a:cubicBezTo>
                <a:cubicBezTo>
                  <a:pt x="526" y="447"/>
                  <a:pt x="528" y="443"/>
                  <a:pt x="529" y="439"/>
                </a:cubicBezTo>
                <a:cubicBezTo>
                  <a:pt x="530" y="434"/>
                  <a:pt x="531" y="430"/>
                  <a:pt x="531" y="425"/>
                </a:cubicBezTo>
                <a:cubicBezTo>
                  <a:pt x="531" y="420"/>
                  <a:pt x="530" y="416"/>
                  <a:pt x="529" y="411"/>
                </a:cubicBezTo>
                <a:cubicBezTo>
                  <a:pt x="528" y="407"/>
                  <a:pt x="526" y="403"/>
                  <a:pt x="524" y="399"/>
                </a:cubicBezTo>
                <a:moveTo>
                  <a:pt x="265" y="160"/>
                </a:moveTo>
                <a:lnTo>
                  <a:pt x="265" y="266"/>
                </a:lnTo>
                <a:moveTo>
                  <a:pt x="265" y="372"/>
                </a:moveTo>
                <a:lnTo>
                  <a:pt x="266" y="372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923760" y="5176080"/>
            <a:ext cx="4698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comprehensive safety features protecting occupants.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6148080" y="4290840"/>
            <a:ext cx="5277240" cy="1276560"/>
          </a:xfrm>
          <a:custGeom>
            <a:avLst/>
            <a:gdLst/>
            <a:ahLst/>
            <a:rect l="0" t="0" r="r" b="b"/>
            <a:pathLst>
              <a:path w="14659" h="3546">
                <a:moveTo>
                  <a:pt x="0" y="34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401"/>
                </a:lnTo>
                <a:cubicBezTo>
                  <a:pt x="14659" y="3410"/>
                  <a:pt x="14658" y="3420"/>
                  <a:pt x="14656" y="3429"/>
                </a:cubicBezTo>
                <a:cubicBezTo>
                  <a:pt x="14655" y="3439"/>
                  <a:pt x="14652" y="3448"/>
                  <a:pt x="14648" y="3457"/>
                </a:cubicBezTo>
                <a:cubicBezTo>
                  <a:pt x="14645" y="3465"/>
                  <a:pt x="14640" y="3474"/>
                  <a:pt x="14635" y="3482"/>
                </a:cubicBezTo>
                <a:cubicBezTo>
                  <a:pt x="14629" y="3490"/>
                  <a:pt x="14623" y="3497"/>
                  <a:pt x="14617" y="3504"/>
                </a:cubicBezTo>
                <a:cubicBezTo>
                  <a:pt x="14610" y="3511"/>
                  <a:pt x="14603" y="3517"/>
                  <a:pt x="14595" y="3522"/>
                </a:cubicBezTo>
                <a:cubicBezTo>
                  <a:pt x="14587" y="3527"/>
                  <a:pt x="14578" y="3532"/>
                  <a:pt x="14569" y="3535"/>
                </a:cubicBezTo>
                <a:cubicBezTo>
                  <a:pt x="14561" y="3539"/>
                  <a:pt x="14552" y="3542"/>
                  <a:pt x="14542" y="3544"/>
                </a:cubicBezTo>
                <a:cubicBezTo>
                  <a:pt x="14533" y="3545"/>
                  <a:pt x="14523" y="3546"/>
                  <a:pt x="14514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7" y="3544"/>
                </a:cubicBezTo>
                <a:cubicBezTo>
                  <a:pt x="108" y="3542"/>
                  <a:pt x="99" y="3539"/>
                  <a:pt x="90" y="3535"/>
                </a:cubicBezTo>
                <a:cubicBezTo>
                  <a:pt x="81" y="3532"/>
                  <a:pt x="73" y="3527"/>
                  <a:pt x="65" y="3522"/>
                </a:cubicBezTo>
                <a:cubicBezTo>
                  <a:pt x="57" y="3517"/>
                  <a:pt x="50" y="3511"/>
                  <a:pt x="43" y="3504"/>
                </a:cubicBezTo>
                <a:cubicBezTo>
                  <a:pt x="36" y="3497"/>
                  <a:pt x="30" y="3490"/>
                  <a:pt x="25" y="3482"/>
                </a:cubicBezTo>
                <a:cubicBezTo>
                  <a:pt x="20" y="3474"/>
                  <a:pt x="15" y="3465"/>
                  <a:pt x="11" y="3457"/>
                </a:cubicBezTo>
                <a:cubicBezTo>
                  <a:pt x="8" y="3448"/>
                  <a:pt x="5" y="3439"/>
                  <a:pt x="3" y="3429"/>
                </a:cubicBezTo>
                <a:cubicBezTo>
                  <a:pt x="1" y="3420"/>
                  <a:pt x="0" y="3410"/>
                  <a:pt x="0" y="3401"/>
                </a:cubicBezTo>
                <a:close/>
              </a:path>
            </a:pathLst>
          </a:custGeom>
          <a:solidFill>
            <a:srgbClr val="fcf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6148080" y="4290840"/>
            <a:ext cx="5277240" cy="1276560"/>
          </a:xfrm>
          <a:custGeom>
            <a:avLst/>
            <a:gdLst/>
            <a:ahLst/>
            <a:rect l="0" t="0" r="r" b="b"/>
            <a:pathLst>
              <a:path fill="none" w="14659" h="3546">
                <a:moveTo>
                  <a:pt x="0" y="34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401"/>
                </a:lnTo>
                <a:cubicBezTo>
                  <a:pt x="14659" y="3410"/>
                  <a:pt x="14658" y="3420"/>
                  <a:pt x="14656" y="3429"/>
                </a:cubicBezTo>
                <a:cubicBezTo>
                  <a:pt x="14655" y="3439"/>
                  <a:pt x="14652" y="3448"/>
                  <a:pt x="14648" y="3457"/>
                </a:cubicBezTo>
                <a:cubicBezTo>
                  <a:pt x="14645" y="3465"/>
                  <a:pt x="14640" y="3474"/>
                  <a:pt x="14635" y="3482"/>
                </a:cubicBezTo>
                <a:cubicBezTo>
                  <a:pt x="14629" y="3490"/>
                  <a:pt x="14623" y="3497"/>
                  <a:pt x="14617" y="3504"/>
                </a:cubicBezTo>
                <a:cubicBezTo>
                  <a:pt x="14610" y="3511"/>
                  <a:pt x="14603" y="3517"/>
                  <a:pt x="14595" y="3522"/>
                </a:cubicBezTo>
                <a:cubicBezTo>
                  <a:pt x="14587" y="3527"/>
                  <a:pt x="14578" y="3532"/>
                  <a:pt x="14569" y="3535"/>
                </a:cubicBezTo>
                <a:cubicBezTo>
                  <a:pt x="14561" y="3539"/>
                  <a:pt x="14552" y="3542"/>
                  <a:pt x="14542" y="3544"/>
                </a:cubicBezTo>
                <a:cubicBezTo>
                  <a:pt x="14533" y="3545"/>
                  <a:pt x="14523" y="3546"/>
                  <a:pt x="14514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7" y="3544"/>
                </a:cubicBezTo>
                <a:cubicBezTo>
                  <a:pt x="108" y="3542"/>
                  <a:pt x="99" y="3539"/>
                  <a:pt x="90" y="3535"/>
                </a:cubicBezTo>
                <a:cubicBezTo>
                  <a:pt x="81" y="3532"/>
                  <a:pt x="73" y="3527"/>
                  <a:pt x="65" y="3522"/>
                </a:cubicBezTo>
                <a:cubicBezTo>
                  <a:pt x="57" y="3517"/>
                  <a:pt x="50" y="3511"/>
                  <a:pt x="43" y="3504"/>
                </a:cubicBezTo>
                <a:cubicBezTo>
                  <a:pt x="36" y="3497"/>
                  <a:pt x="30" y="3490"/>
                  <a:pt x="25" y="3482"/>
                </a:cubicBezTo>
                <a:cubicBezTo>
                  <a:pt x="20" y="3474"/>
                  <a:pt x="15" y="3465"/>
                  <a:pt x="11" y="3457"/>
                </a:cubicBezTo>
                <a:cubicBezTo>
                  <a:pt x="8" y="3448"/>
                  <a:pt x="5" y="3439"/>
                  <a:pt x="3" y="3429"/>
                </a:cubicBezTo>
                <a:cubicBezTo>
                  <a:pt x="1" y="3420"/>
                  <a:pt x="0" y="3410"/>
                  <a:pt x="0" y="3401"/>
                </a:cubicBezTo>
              </a:path>
            </a:pathLst>
          </a:custGeom>
          <a:ln w="9360">
            <a:solidFill>
              <a:srgbClr val="f7e9b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203120" y="4493880"/>
            <a:ext cx="1950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Chassis &amp; Safety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6305400" y="4899960"/>
            <a:ext cx="4834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Intuitive digital interfaces, connectivity, and intelligent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6324480" y="450504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4"/>
                  <a:pt x="517" y="350"/>
                  <a:pt x="510" y="366"/>
                </a:cubicBezTo>
                <a:cubicBezTo>
                  <a:pt x="503" y="382"/>
                  <a:pt x="495" y="397"/>
                  <a:pt x="485" y="412"/>
                </a:cubicBezTo>
                <a:cubicBezTo>
                  <a:pt x="476" y="426"/>
                  <a:pt x="465" y="440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3" y="530"/>
                  <a:pt x="265" y="530"/>
                </a:cubicBezTo>
                <a:cubicBezTo>
                  <a:pt x="248" y="530"/>
                  <a:pt x="231" y="529"/>
                  <a:pt x="214" y="525"/>
                </a:cubicBezTo>
                <a:cubicBezTo>
                  <a:pt x="197" y="522"/>
                  <a:pt x="180" y="517"/>
                  <a:pt x="164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6"/>
                  <a:pt x="44" y="412"/>
                </a:cubicBezTo>
                <a:cubicBezTo>
                  <a:pt x="35" y="397"/>
                  <a:pt x="27" y="382"/>
                  <a:pt x="20" y="366"/>
                </a:cubicBezTo>
                <a:cubicBezTo>
                  <a:pt x="13" y="350"/>
                  <a:pt x="8" y="334"/>
                  <a:pt x="5" y="316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8"/>
                  <a:pt x="2" y="230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4" y="20"/>
                </a:cubicBezTo>
                <a:cubicBezTo>
                  <a:pt x="180" y="14"/>
                  <a:pt x="197" y="9"/>
                  <a:pt x="214" y="5"/>
                </a:cubicBezTo>
                <a:cubicBezTo>
                  <a:pt x="231" y="2"/>
                  <a:pt x="248" y="0"/>
                  <a:pt x="265" y="0"/>
                </a:cubicBezTo>
                <a:cubicBezTo>
                  <a:pt x="283" y="0"/>
                  <a:pt x="300" y="2"/>
                  <a:pt x="317" y="5"/>
                </a:cubicBezTo>
                <a:cubicBezTo>
                  <a:pt x="334" y="9"/>
                  <a:pt x="351" y="14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6"/>
                  <a:pt x="525" y="213"/>
                </a:cubicBezTo>
                <a:cubicBezTo>
                  <a:pt x="528" y="230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e5b92a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6391800" y="4552560"/>
            <a:ext cx="56160" cy="95760"/>
          </a:xfrm>
          <a:custGeom>
            <a:avLst/>
            <a:gdLst/>
            <a:ahLst/>
            <a:rect l="0" t="0" r="r" b="b"/>
            <a:pathLst>
              <a:path fill="none" w="156" h="266">
                <a:moveTo>
                  <a:pt x="0" y="53"/>
                </a:moveTo>
                <a:cubicBezTo>
                  <a:pt x="4" y="45"/>
                  <a:pt x="8" y="37"/>
                  <a:pt x="14" y="29"/>
                </a:cubicBezTo>
                <a:cubicBezTo>
                  <a:pt x="20" y="22"/>
                  <a:pt x="27" y="16"/>
                  <a:pt x="36" y="11"/>
                </a:cubicBezTo>
                <a:cubicBezTo>
                  <a:pt x="44" y="7"/>
                  <a:pt x="53" y="3"/>
                  <a:pt x="62" y="2"/>
                </a:cubicBezTo>
                <a:cubicBezTo>
                  <a:pt x="71" y="0"/>
                  <a:pt x="80" y="0"/>
                  <a:pt x="90" y="2"/>
                </a:cubicBezTo>
                <a:cubicBezTo>
                  <a:pt x="99" y="3"/>
                  <a:pt x="108" y="6"/>
                  <a:pt x="116" y="11"/>
                </a:cubicBezTo>
                <a:cubicBezTo>
                  <a:pt x="124" y="16"/>
                  <a:pt x="131" y="22"/>
                  <a:pt x="137" y="29"/>
                </a:cubicBezTo>
                <a:cubicBezTo>
                  <a:pt x="143" y="36"/>
                  <a:pt x="148" y="44"/>
                  <a:pt x="151" y="53"/>
                </a:cubicBezTo>
                <a:cubicBezTo>
                  <a:pt x="154" y="61"/>
                  <a:pt x="156" y="71"/>
                  <a:pt x="156" y="80"/>
                </a:cubicBezTo>
                <a:cubicBezTo>
                  <a:pt x="156" y="133"/>
                  <a:pt x="76" y="160"/>
                  <a:pt x="76" y="160"/>
                </a:cubicBezTo>
                <a:moveTo>
                  <a:pt x="78" y="266"/>
                </a:moveTo>
                <a:lnTo>
                  <a:pt x="79" y="266"/>
                </a:lnTo>
              </a:path>
            </a:pathLst>
          </a:custGeom>
          <a:ln cap="rnd" w="18720">
            <a:solidFill>
              <a:srgbClr val="e5b92a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6305400" y="5176080"/>
            <a:ext cx="3422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climate control for passenger comfort.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6584760" y="4493880"/>
            <a:ext cx="1887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5b92a"/>
                </a:solidFill>
                <a:effectLst/>
                <a:uFillTx/>
                <a:latin typeface="LucidaGrande"/>
                <a:ea typeface="LucidaGrande"/>
              </a:rPr>
              <a:t>User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5" name=""/>
          <p:cNvSpPr/>
          <p:nvPr/>
        </p:nvSpPr>
        <p:spPr>
          <a:xfrm>
            <a:off x="761760" y="1380960"/>
            <a:ext cx="10668240" cy="5477040"/>
          </a:xfrm>
          <a:custGeom>
            <a:avLst/>
            <a:gdLst/>
            <a:ahLst/>
            <a:rect l="0" t="0" r="r" b="b"/>
            <a:pathLst>
              <a:path w="29634" h="15214">
                <a:moveTo>
                  <a:pt x="0" y="0"/>
                </a:moveTo>
                <a:lnTo>
                  <a:pt x="29634" y="0"/>
                </a:lnTo>
                <a:lnTo>
                  <a:pt x="29634" y="15214"/>
                </a:lnTo>
                <a:lnTo>
                  <a:pt x="0" y="152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6" name="" descr=""/>
          <p:cNvPicPr/>
          <p:nvPr/>
        </p:nvPicPr>
        <p:blipFill>
          <a:blip r:embed="rId2"/>
          <a:stretch/>
        </p:blipFill>
        <p:spPr>
          <a:xfrm>
            <a:off x="5753160" y="468612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762120" y="372600"/>
            <a:ext cx="2840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Question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"/>
          <p:cNvSpPr txBox="1"/>
          <p:nvPr/>
        </p:nvSpPr>
        <p:spPr>
          <a:xfrm>
            <a:off x="762120" y="2251440"/>
            <a:ext cx="732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systematic design process can be represented in the following stages: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911160" y="2708640"/>
            <a:ext cx="6716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Inquiry – Understand system context, user needs, and constraints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911160" y="3070440"/>
            <a:ext cx="9858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Framing &amp; Requirements Gathering – Deﬁne the scope, boundaries, and stakeholder expectations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911160" y="3422880"/>
            <a:ext cx="10095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 Architecture &amp; Interface Deﬁnition – Decompose system into components; deﬁne interaction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1168200" y="3727800"/>
            <a:ext cx="908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contracts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911160" y="4080240"/>
            <a:ext cx="982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Component Design &amp; Optimisation – Apply appropriate methods (e.g., FEA, simulation, surrogate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1168200" y="4385160"/>
            <a:ext cx="1048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modelling)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911160" y="4737600"/>
            <a:ext cx="9680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Integration &amp; Testing – Assemble components, verify performance against system requirements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911160" y="5099400"/>
            <a:ext cx="7652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Feedback &amp; Iteration – Use simulation and real-world data to reﬁne models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762120" y="-8280"/>
            <a:ext cx="83718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Systematic Design Process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762120" y="753480"/>
            <a:ext cx="29415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Overview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5" name=""/>
          <p:cNvSpPr txBox="1"/>
          <p:nvPr/>
        </p:nvSpPr>
        <p:spPr>
          <a:xfrm>
            <a:off x="762120" y="2480040"/>
            <a:ext cx="7050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 support these phases, engineers and designers use a range of tools: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762120" y="-8280"/>
            <a:ext cx="89874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Tools Supporting Systematic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766440" y="3024000"/>
            <a:ext cx="3486600" cy="1029240"/>
          </a:xfrm>
          <a:custGeom>
            <a:avLst/>
            <a:gdLst/>
            <a:ahLst/>
            <a:rect l="0" t="0" r="r" b="b"/>
            <a:pathLst>
              <a:path w="9685" h="2859">
                <a:moveTo>
                  <a:pt x="0" y="271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7"/>
                  <a:pt x="9595" y="11"/>
                </a:cubicBezTo>
                <a:cubicBezTo>
                  <a:pt x="9604" y="15"/>
                  <a:pt x="9613" y="19"/>
                  <a:pt x="9620" y="25"/>
                </a:cubicBezTo>
                <a:cubicBezTo>
                  <a:pt x="9628" y="30"/>
                  <a:pt x="9636" y="36"/>
                  <a:pt x="9643" y="43"/>
                </a:cubicBezTo>
                <a:cubicBezTo>
                  <a:pt x="9649" y="49"/>
                  <a:pt x="9655" y="57"/>
                  <a:pt x="9661" y="65"/>
                </a:cubicBezTo>
                <a:cubicBezTo>
                  <a:pt x="9666" y="73"/>
                  <a:pt x="9670" y="81"/>
                  <a:pt x="9674" y="90"/>
                </a:cubicBezTo>
                <a:cubicBezTo>
                  <a:pt x="9678" y="99"/>
                  <a:pt x="9680" y="108"/>
                  <a:pt x="9682" y="117"/>
                </a:cubicBezTo>
                <a:cubicBezTo>
                  <a:pt x="9684" y="127"/>
                  <a:pt x="9685" y="136"/>
                  <a:pt x="9685" y="146"/>
                </a:cubicBezTo>
                <a:lnTo>
                  <a:pt x="9685" y="2713"/>
                </a:lnTo>
                <a:cubicBezTo>
                  <a:pt x="9685" y="2723"/>
                  <a:pt x="9684" y="2732"/>
                  <a:pt x="9682" y="2741"/>
                </a:cubicBezTo>
                <a:cubicBezTo>
                  <a:pt x="9680" y="2751"/>
                  <a:pt x="9678" y="2760"/>
                  <a:pt x="9674" y="2769"/>
                </a:cubicBezTo>
                <a:cubicBezTo>
                  <a:pt x="9670" y="2778"/>
                  <a:pt x="9666" y="2786"/>
                  <a:pt x="9661" y="2794"/>
                </a:cubicBezTo>
                <a:cubicBezTo>
                  <a:pt x="9655" y="2802"/>
                  <a:pt x="9649" y="2809"/>
                  <a:pt x="9643" y="2816"/>
                </a:cubicBezTo>
                <a:cubicBezTo>
                  <a:pt x="9636" y="2823"/>
                  <a:pt x="9628" y="2829"/>
                  <a:pt x="9620" y="2834"/>
                </a:cubicBezTo>
                <a:cubicBezTo>
                  <a:pt x="9613" y="2839"/>
                  <a:pt x="9604" y="2844"/>
                  <a:pt x="9595" y="2847"/>
                </a:cubicBezTo>
                <a:cubicBezTo>
                  <a:pt x="9586" y="2851"/>
                  <a:pt x="9577" y="2854"/>
                  <a:pt x="9568" y="2856"/>
                </a:cubicBezTo>
                <a:cubicBezTo>
                  <a:pt x="9559" y="2858"/>
                  <a:pt x="9549" y="2859"/>
                  <a:pt x="9540" y="2859"/>
                </a:cubicBezTo>
                <a:lnTo>
                  <a:pt x="146" y="2859"/>
                </a:lnTo>
                <a:cubicBezTo>
                  <a:pt x="136" y="2859"/>
                  <a:pt x="127" y="2858"/>
                  <a:pt x="118" y="2856"/>
                </a:cubicBezTo>
                <a:cubicBezTo>
                  <a:pt x="108" y="2854"/>
                  <a:pt x="99" y="2851"/>
                  <a:pt x="90" y="2847"/>
                </a:cubicBezTo>
                <a:cubicBezTo>
                  <a:pt x="81" y="2844"/>
                  <a:pt x="73" y="2839"/>
                  <a:pt x="65" y="2834"/>
                </a:cubicBezTo>
                <a:cubicBezTo>
                  <a:pt x="57" y="2829"/>
                  <a:pt x="50" y="2823"/>
                  <a:pt x="43" y="2816"/>
                </a:cubicBezTo>
                <a:cubicBezTo>
                  <a:pt x="36" y="2809"/>
                  <a:pt x="30" y="2802"/>
                  <a:pt x="25" y="2794"/>
                </a:cubicBezTo>
                <a:cubicBezTo>
                  <a:pt x="20" y="2786"/>
                  <a:pt x="15" y="2778"/>
                  <a:pt x="11" y="2769"/>
                </a:cubicBezTo>
                <a:cubicBezTo>
                  <a:pt x="8" y="2760"/>
                  <a:pt x="5" y="2751"/>
                  <a:pt x="3" y="2741"/>
                </a:cubicBezTo>
                <a:cubicBezTo>
                  <a:pt x="1" y="2732"/>
                  <a:pt x="0" y="2723"/>
                  <a:pt x="0" y="2713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766440" y="3024000"/>
            <a:ext cx="3486600" cy="1029240"/>
          </a:xfrm>
          <a:custGeom>
            <a:avLst/>
            <a:gdLst/>
            <a:ahLst/>
            <a:rect l="0" t="0" r="r" b="b"/>
            <a:pathLst>
              <a:path fill="none" w="9685" h="2859">
                <a:moveTo>
                  <a:pt x="0" y="271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7"/>
                  <a:pt x="9595" y="11"/>
                </a:cubicBezTo>
                <a:cubicBezTo>
                  <a:pt x="9604" y="15"/>
                  <a:pt x="9613" y="19"/>
                  <a:pt x="9620" y="25"/>
                </a:cubicBezTo>
                <a:cubicBezTo>
                  <a:pt x="9628" y="30"/>
                  <a:pt x="9636" y="36"/>
                  <a:pt x="9643" y="43"/>
                </a:cubicBezTo>
                <a:cubicBezTo>
                  <a:pt x="9649" y="49"/>
                  <a:pt x="9655" y="57"/>
                  <a:pt x="9661" y="65"/>
                </a:cubicBezTo>
                <a:cubicBezTo>
                  <a:pt x="9666" y="73"/>
                  <a:pt x="9670" y="81"/>
                  <a:pt x="9674" y="90"/>
                </a:cubicBezTo>
                <a:cubicBezTo>
                  <a:pt x="9678" y="99"/>
                  <a:pt x="9680" y="108"/>
                  <a:pt x="9682" y="117"/>
                </a:cubicBezTo>
                <a:cubicBezTo>
                  <a:pt x="9684" y="127"/>
                  <a:pt x="9685" y="136"/>
                  <a:pt x="9685" y="146"/>
                </a:cubicBezTo>
                <a:lnTo>
                  <a:pt x="9685" y="2713"/>
                </a:lnTo>
                <a:cubicBezTo>
                  <a:pt x="9685" y="2723"/>
                  <a:pt x="9684" y="2732"/>
                  <a:pt x="9682" y="2741"/>
                </a:cubicBezTo>
                <a:cubicBezTo>
                  <a:pt x="9680" y="2751"/>
                  <a:pt x="9678" y="2760"/>
                  <a:pt x="9674" y="2769"/>
                </a:cubicBezTo>
                <a:cubicBezTo>
                  <a:pt x="9670" y="2778"/>
                  <a:pt x="9666" y="2786"/>
                  <a:pt x="9661" y="2794"/>
                </a:cubicBezTo>
                <a:cubicBezTo>
                  <a:pt x="9655" y="2802"/>
                  <a:pt x="9649" y="2809"/>
                  <a:pt x="9643" y="2816"/>
                </a:cubicBezTo>
                <a:cubicBezTo>
                  <a:pt x="9636" y="2823"/>
                  <a:pt x="9628" y="2829"/>
                  <a:pt x="9620" y="2834"/>
                </a:cubicBezTo>
                <a:cubicBezTo>
                  <a:pt x="9613" y="2839"/>
                  <a:pt x="9604" y="2844"/>
                  <a:pt x="9595" y="2847"/>
                </a:cubicBezTo>
                <a:cubicBezTo>
                  <a:pt x="9586" y="2851"/>
                  <a:pt x="9577" y="2854"/>
                  <a:pt x="9568" y="2856"/>
                </a:cubicBezTo>
                <a:cubicBezTo>
                  <a:pt x="9559" y="2858"/>
                  <a:pt x="9549" y="2859"/>
                  <a:pt x="9540" y="2859"/>
                </a:cubicBezTo>
                <a:lnTo>
                  <a:pt x="146" y="2859"/>
                </a:lnTo>
                <a:cubicBezTo>
                  <a:pt x="136" y="2859"/>
                  <a:pt x="127" y="2858"/>
                  <a:pt x="118" y="2856"/>
                </a:cubicBezTo>
                <a:cubicBezTo>
                  <a:pt x="108" y="2854"/>
                  <a:pt x="99" y="2851"/>
                  <a:pt x="90" y="2847"/>
                </a:cubicBezTo>
                <a:cubicBezTo>
                  <a:pt x="81" y="2844"/>
                  <a:pt x="73" y="2839"/>
                  <a:pt x="65" y="2834"/>
                </a:cubicBezTo>
                <a:cubicBezTo>
                  <a:pt x="57" y="2829"/>
                  <a:pt x="50" y="2823"/>
                  <a:pt x="43" y="2816"/>
                </a:cubicBezTo>
                <a:cubicBezTo>
                  <a:pt x="36" y="2809"/>
                  <a:pt x="30" y="2802"/>
                  <a:pt x="25" y="2794"/>
                </a:cubicBezTo>
                <a:cubicBezTo>
                  <a:pt x="20" y="2786"/>
                  <a:pt x="15" y="2778"/>
                  <a:pt x="11" y="2769"/>
                </a:cubicBezTo>
                <a:cubicBezTo>
                  <a:pt x="8" y="2760"/>
                  <a:pt x="5" y="2751"/>
                  <a:pt x="3" y="2741"/>
                </a:cubicBezTo>
                <a:cubicBezTo>
                  <a:pt x="1" y="2732"/>
                  <a:pt x="0" y="2723"/>
                  <a:pt x="0" y="2713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923760" y="3238200"/>
            <a:ext cx="381240" cy="276840"/>
          </a:xfrm>
          <a:custGeom>
            <a:avLst/>
            <a:gdLst/>
            <a:ahLst/>
            <a:rect l="0" t="0" r="r" b="b"/>
            <a:pathLst>
              <a:path w="1059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lnTo>
                  <a:pt x="901" y="0"/>
                </a:lnTo>
                <a:cubicBezTo>
                  <a:pt x="911" y="0"/>
                  <a:pt x="921" y="1"/>
                  <a:pt x="932" y="3"/>
                </a:cubicBezTo>
                <a:cubicBezTo>
                  <a:pt x="942" y="5"/>
                  <a:pt x="952" y="8"/>
                  <a:pt x="961" y="12"/>
                </a:cubicBezTo>
                <a:cubicBezTo>
                  <a:pt x="971" y="16"/>
                  <a:pt x="980" y="21"/>
                  <a:pt x="989" y="27"/>
                </a:cubicBezTo>
                <a:cubicBezTo>
                  <a:pt x="997" y="33"/>
                  <a:pt x="1005" y="39"/>
                  <a:pt x="1013" y="47"/>
                </a:cubicBezTo>
                <a:cubicBezTo>
                  <a:pt x="1020" y="54"/>
                  <a:pt x="1027" y="62"/>
                  <a:pt x="1033" y="71"/>
                </a:cubicBezTo>
                <a:cubicBezTo>
                  <a:pt x="1038" y="80"/>
                  <a:pt x="1043" y="89"/>
                  <a:pt x="1047" y="98"/>
                </a:cubicBezTo>
                <a:cubicBezTo>
                  <a:pt x="1051" y="108"/>
                  <a:pt x="1054" y="118"/>
                  <a:pt x="1056" y="128"/>
                </a:cubicBezTo>
                <a:cubicBezTo>
                  <a:pt x="1058" y="138"/>
                  <a:pt x="1059" y="149"/>
                  <a:pt x="1059" y="159"/>
                </a:cubicBezTo>
                <a:lnTo>
                  <a:pt x="1059" y="610"/>
                </a:lnTo>
                <a:cubicBezTo>
                  <a:pt x="1059" y="620"/>
                  <a:pt x="1058" y="631"/>
                  <a:pt x="1056" y="641"/>
                </a:cubicBezTo>
                <a:cubicBezTo>
                  <a:pt x="1054" y="651"/>
                  <a:pt x="1051" y="661"/>
                  <a:pt x="1047" y="671"/>
                </a:cubicBezTo>
                <a:cubicBezTo>
                  <a:pt x="1043" y="680"/>
                  <a:pt x="1038" y="689"/>
                  <a:pt x="1033" y="698"/>
                </a:cubicBezTo>
                <a:cubicBezTo>
                  <a:pt x="1027" y="707"/>
                  <a:pt x="1020" y="715"/>
                  <a:pt x="1013" y="722"/>
                </a:cubicBezTo>
                <a:cubicBezTo>
                  <a:pt x="1005" y="729"/>
                  <a:pt x="997" y="736"/>
                  <a:pt x="989" y="742"/>
                </a:cubicBezTo>
                <a:cubicBezTo>
                  <a:pt x="980" y="748"/>
                  <a:pt x="971" y="753"/>
                  <a:pt x="961" y="757"/>
                </a:cubicBezTo>
                <a:cubicBezTo>
                  <a:pt x="952" y="761"/>
                  <a:pt x="942" y="764"/>
                  <a:pt x="932" y="766"/>
                </a:cubicBezTo>
                <a:cubicBezTo>
                  <a:pt x="921" y="768"/>
                  <a:pt x="911" y="769"/>
                  <a:pt x="901" y="769"/>
                </a:cubicBezTo>
                <a:lnTo>
                  <a:pt x="160" y="769"/>
                </a:lnTo>
                <a:cubicBezTo>
                  <a:pt x="149" y="769"/>
                  <a:pt x="139" y="768"/>
                  <a:pt x="129" y="766"/>
                </a:cubicBezTo>
                <a:cubicBezTo>
                  <a:pt x="119" y="764"/>
                  <a:pt x="109" y="761"/>
                  <a:pt x="99" y="757"/>
                </a:cubicBezTo>
                <a:cubicBezTo>
                  <a:pt x="89" y="753"/>
                  <a:pt x="79" y="748"/>
                  <a:pt x="71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762120" y="753480"/>
            <a:ext cx="21866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Design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971280" y="3237120"/>
            <a:ext cx="2869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Menlo"/>
                <a:ea typeface="Menlo"/>
              </a:rPr>
              <a:t>1)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1305360" y="3227760"/>
            <a:ext cx="27972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 Prediction / surrogate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4357440" y="3024000"/>
            <a:ext cx="3476880" cy="1029240"/>
          </a:xfrm>
          <a:custGeom>
            <a:avLst/>
            <a:gdLst/>
            <a:ahLst/>
            <a:rect l="0" t="0" r="r" b="b"/>
            <a:pathLst>
              <a:path w="9658" h="2859">
                <a:moveTo>
                  <a:pt x="0" y="271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7"/>
                  <a:pt x="9569" y="11"/>
                </a:cubicBezTo>
                <a:cubicBezTo>
                  <a:pt x="9577" y="15"/>
                  <a:pt x="9586" y="19"/>
                  <a:pt x="9594" y="25"/>
                </a:cubicBezTo>
                <a:cubicBezTo>
                  <a:pt x="9602" y="30"/>
                  <a:pt x="9609" y="36"/>
                  <a:pt x="9616" y="43"/>
                </a:cubicBezTo>
                <a:cubicBezTo>
                  <a:pt x="9623" y="49"/>
                  <a:pt x="9629" y="57"/>
                  <a:pt x="9634" y="65"/>
                </a:cubicBezTo>
                <a:cubicBezTo>
                  <a:pt x="9639" y="73"/>
                  <a:pt x="9644" y="81"/>
                  <a:pt x="9647" y="90"/>
                </a:cubicBezTo>
                <a:cubicBezTo>
                  <a:pt x="9651" y="99"/>
                  <a:pt x="9654" y="108"/>
                  <a:pt x="9656" y="117"/>
                </a:cubicBezTo>
                <a:cubicBezTo>
                  <a:pt x="9658" y="127"/>
                  <a:pt x="9658" y="136"/>
                  <a:pt x="9658" y="146"/>
                </a:cubicBezTo>
                <a:lnTo>
                  <a:pt x="9658" y="2713"/>
                </a:lnTo>
                <a:cubicBezTo>
                  <a:pt x="9658" y="2723"/>
                  <a:pt x="9658" y="2732"/>
                  <a:pt x="9656" y="2741"/>
                </a:cubicBezTo>
                <a:cubicBezTo>
                  <a:pt x="9654" y="2751"/>
                  <a:pt x="9651" y="2760"/>
                  <a:pt x="9647" y="2769"/>
                </a:cubicBezTo>
                <a:cubicBezTo>
                  <a:pt x="9644" y="2778"/>
                  <a:pt x="9639" y="2786"/>
                  <a:pt x="9634" y="2794"/>
                </a:cubicBezTo>
                <a:cubicBezTo>
                  <a:pt x="9629" y="2802"/>
                  <a:pt x="9623" y="2809"/>
                  <a:pt x="9616" y="2816"/>
                </a:cubicBezTo>
                <a:cubicBezTo>
                  <a:pt x="9609" y="2823"/>
                  <a:pt x="9602" y="2829"/>
                  <a:pt x="9594" y="2834"/>
                </a:cubicBezTo>
                <a:cubicBezTo>
                  <a:pt x="9586" y="2839"/>
                  <a:pt x="9577" y="2844"/>
                  <a:pt x="9569" y="2847"/>
                </a:cubicBezTo>
                <a:cubicBezTo>
                  <a:pt x="9560" y="2851"/>
                  <a:pt x="9551" y="2854"/>
                  <a:pt x="9541" y="2856"/>
                </a:cubicBezTo>
                <a:cubicBezTo>
                  <a:pt x="9532" y="2858"/>
                  <a:pt x="9523" y="2859"/>
                  <a:pt x="9513" y="2859"/>
                </a:cubicBezTo>
                <a:lnTo>
                  <a:pt x="146" y="2859"/>
                </a:lnTo>
                <a:cubicBezTo>
                  <a:pt x="136" y="2859"/>
                  <a:pt x="127" y="2858"/>
                  <a:pt x="117" y="2856"/>
                </a:cubicBezTo>
                <a:cubicBezTo>
                  <a:pt x="108" y="2854"/>
                  <a:pt x="99" y="2851"/>
                  <a:pt x="90" y="2847"/>
                </a:cubicBezTo>
                <a:cubicBezTo>
                  <a:pt x="81" y="2844"/>
                  <a:pt x="73" y="2839"/>
                  <a:pt x="65" y="2834"/>
                </a:cubicBezTo>
                <a:cubicBezTo>
                  <a:pt x="57" y="2829"/>
                  <a:pt x="50" y="2823"/>
                  <a:pt x="43" y="2816"/>
                </a:cubicBezTo>
                <a:cubicBezTo>
                  <a:pt x="36" y="2809"/>
                  <a:pt x="30" y="2802"/>
                  <a:pt x="25" y="2794"/>
                </a:cubicBezTo>
                <a:cubicBezTo>
                  <a:pt x="19" y="2786"/>
                  <a:pt x="15" y="2778"/>
                  <a:pt x="11" y="2769"/>
                </a:cubicBezTo>
                <a:cubicBezTo>
                  <a:pt x="8" y="2760"/>
                  <a:pt x="5" y="2751"/>
                  <a:pt x="3" y="2741"/>
                </a:cubicBezTo>
                <a:cubicBezTo>
                  <a:pt x="1" y="2732"/>
                  <a:pt x="0" y="2723"/>
                  <a:pt x="0" y="2713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4357440" y="3024000"/>
            <a:ext cx="3476880" cy="1029240"/>
          </a:xfrm>
          <a:custGeom>
            <a:avLst/>
            <a:gdLst/>
            <a:ahLst/>
            <a:rect l="0" t="0" r="r" b="b"/>
            <a:pathLst>
              <a:path fill="none" w="9658" h="2859">
                <a:moveTo>
                  <a:pt x="0" y="271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7"/>
                  <a:pt x="9569" y="11"/>
                </a:cubicBezTo>
                <a:cubicBezTo>
                  <a:pt x="9577" y="15"/>
                  <a:pt x="9586" y="19"/>
                  <a:pt x="9594" y="25"/>
                </a:cubicBezTo>
                <a:cubicBezTo>
                  <a:pt x="9602" y="30"/>
                  <a:pt x="9609" y="36"/>
                  <a:pt x="9616" y="43"/>
                </a:cubicBezTo>
                <a:cubicBezTo>
                  <a:pt x="9623" y="49"/>
                  <a:pt x="9629" y="57"/>
                  <a:pt x="9634" y="65"/>
                </a:cubicBezTo>
                <a:cubicBezTo>
                  <a:pt x="9639" y="73"/>
                  <a:pt x="9644" y="81"/>
                  <a:pt x="9647" y="90"/>
                </a:cubicBezTo>
                <a:cubicBezTo>
                  <a:pt x="9651" y="99"/>
                  <a:pt x="9654" y="108"/>
                  <a:pt x="9656" y="117"/>
                </a:cubicBezTo>
                <a:cubicBezTo>
                  <a:pt x="9658" y="127"/>
                  <a:pt x="9658" y="136"/>
                  <a:pt x="9658" y="146"/>
                </a:cubicBezTo>
                <a:lnTo>
                  <a:pt x="9658" y="2713"/>
                </a:lnTo>
                <a:cubicBezTo>
                  <a:pt x="9658" y="2723"/>
                  <a:pt x="9658" y="2732"/>
                  <a:pt x="9656" y="2741"/>
                </a:cubicBezTo>
                <a:cubicBezTo>
                  <a:pt x="9654" y="2751"/>
                  <a:pt x="9651" y="2760"/>
                  <a:pt x="9647" y="2769"/>
                </a:cubicBezTo>
                <a:cubicBezTo>
                  <a:pt x="9644" y="2778"/>
                  <a:pt x="9639" y="2786"/>
                  <a:pt x="9634" y="2794"/>
                </a:cubicBezTo>
                <a:cubicBezTo>
                  <a:pt x="9629" y="2802"/>
                  <a:pt x="9623" y="2809"/>
                  <a:pt x="9616" y="2816"/>
                </a:cubicBezTo>
                <a:cubicBezTo>
                  <a:pt x="9609" y="2823"/>
                  <a:pt x="9602" y="2829"/>
                  <a:pt x="9594" y="2834"/>
                </a:cubicBezTo>
                <a:cubicBezTo>
                  <a:pt x="9586" y="2839"/>
                  <a:pt x="9577" y="2844"/>
                  <a:pt x="9569" y="2847"/>
                </a:cubicBezTo>
                <a:cubicBezTo>
                  <a:pt x="9560" y="2851"/>
                  <a:pt x="9551" y="2854"/>
                  <a:pt x="9541" y="2856"/>
                </a:cubicBezTo>
                <a:cubicBezTo>
                  <a:pt x="9532" y="2858"/>
                  <a:pt x="9523" y="2859"/>
                  <a:pt x="9513" y="2859"/>
                </a:cubicBezTo>
                <a:lnTo>
                  <a:pt x="146" y="2859"/>
                </a:lnTo>
                <a:cubicBezTo>
                  <a:pt x="136" y="2859"/>
                  <a:pt x="127" y="2858"/>
                  <a:pt x="117" y="2856"/>
                </a:cubicBezTo>
                <a:cubicBezTo>
                  <a:pt x="108" y="2854"/>
                  <a:pt x="99" y="2851"/>
                  <a:pt x="90" y="2847"/>
                </a:cubicBezTo>
                <a:cubicBezTo>
                  <a:pt x="81" y="2844"/>
                  <a:pt x="73" y="2839"/>
                  <a:pt x="65" y="2834"/>
                </a:cubicBezTo>
                <a:cubicBezTo>
                  <a:pt x="57" y="2829"/>
                  <a:pt x="50" y="2823"/>
                  <a:pt x="43" y="2816"/>
                </a:cubicBezTo>
                <a:cubicBezTo>
                  <a:pt x="36" y="2809"/>
                  <a:pt x="30" y="2802"/>
                  <a:pt x="25" y="2794"/>
                </a:cubicBezTo>
                <a:cubicBezTo>
                  <a:pt x="19" y="2786"/>
                  <a:pt x="15" y="2778"/>
                  <a:pt x="11" y="2769"/>
                </a:cubicBezTo>
                <a:cubicBezTo>
                  <a:pt x="8" y="2760"/>
                  <a:pt x="5" y="2751"/>
                  <a:pt x="3" y="2741"/>
                </a:cubicBezTo>
                <a:cubicBezTo>
                  <a:pt x="1" y="2732"/>
                  <a:pt x="0" y="2723"/>
                  <a:pt x="0" y="2713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4514760" y="3238200"/>
            <a:ext cx="381240" cy="276840"/>
          </a:xfrm>
          <a:custGeom>
            <a:avLst/>
            <a:gdLst/>
            <a:ahLst/>
            <a:rect l="0" t="0" r="r" b="b"/>
            <a:pathLst>
              <a:path w="1059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900" y="0"/>
                </a:lnTo>
                <a:cubicBezTo>
                  <a:pt x="911" y="0"/>
                  <a:pt x="921" y="1"/>
                  <a:pt x="931" y="3"/>
                </a:cubicBezTo>
                <a:cubicBezTo>
                  <a:pt x="942" y="5"/>
                  <a:pt x="951" y="8"/>
                  <a:pt x="961" y="12"/>
                </a:cubicBezTo>
                <a:cubicBezTo>
                  <a:pt x="971" y="16"/>
                  <a:pt x="980" y="21"/>
                  <a:pt x="989" y="27"/>
                </a:cubicBezTo>
                <a:cubicBezTo>
                  <a:pt x="997" y="33"/>
                  <a:pt x="1005" y="39"/>
                  <a:pt x="1013" y="47"/>
                </a:cubicBezTo>
                <a:cubicBezTo>
                  <a:pt x="1020" y="54"/>
                  <a:pt x="1027" y="62"/>
                  <a:pt x="1032" y="71"/>
                </a:cubicBezTo>
                <a:cubicBezTo>
                  <a:pt x="1038" y="80"/>
                  <a:pt x="1043" y="89"/>
                  <a:pt x="1047" y="98"/>
                </a:cubicBezTo>
                <a:cubicBezTo>
                  <a:pt x="1051" y="108"/>
                  <a:pt x="1054" y="118"/>
                  <a:pt x="1056" y="128"/>
                </a:cubicBezTo>
                <a:cubicBezTo>
                  <a:pt x="1058" y="138"/>
                  <a:pt x="1059" y="149"/>
                  <a:pt x="1059" y="159"/>
                </a:cubicBezTo>
                <a:lnTo>
                  <a:pt x="1059" y="610"/>
                </a:lnTo>
                <a:cubicBezTo>
                  <a:pt x="1059" y="620"/>
                  <a:pt x="1058" y="631"/>
                  <a:pt x="1056" y="641"/>
                </a:cubicBezTo>
                <a:cubicBezTo>
                  <a:pt x="1054" y="651"/>
                  <a:pt x="1051" y="661"/>
                  <a:pt x="1047" y="671"/>
                </a:cubicBezTo>
                <a:cubicBezTo>
                  <a:pt x="1043" y="680"/>
                  <a:pt x="1038" y="689"/>
                  <a:pt x="1032" y="698"/>
                </a:cubicBezTo>
                <a:cubicBezTo>
                  <a:pt x="1027" y="707"/>
                  <a:pt x="1020" y="715"/>
                  <a:pt x="1013" y="722"/>
                </a:cubicBezTo>
                <a:cubicBezTo>
                  <a:pt x="1005" y="729"/>
                  <a:pt x="997" y="736"/>
                  <a:pt x="989" y="742"/>
                </a:cubicBezTo>
                <a:cubicBezTo>
                  <a:pt x="980" y="748"/>
                  <a:pt x="971" y="753"/>
                  <a:pt x="961" y="757"/>
                </a:cubicBezTo>
                <a:cubicBezTo>
                  <a:pt x="951" y="761"/>
                  <a:pt x="942" y="764"/>
                  <a:pt x="931" y="766"/>
                </a:cubicBezTo>
                <a:cubicBezTo>
                  <a:pt x="921" y="768"/>
                  <a:pt x="911" y="769"/>
                  <a:pt x="900" y="769"/>
                </a:cubicBezTo>
                <a:lnTo>
                  <a:pt x="158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7" y="764"/>
                  <a:pt x="107" y="761"/>
                  <a:pt x="98" y="757"/>
                </a:cubicBezTo>
                <a:cubicBezTo>
                  <a:pt x="88" y="753"/>
                  <a:pt x="79" y="748"/>
                  <a:pt x="70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2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923760" y="3532320"/>
            <a:ext cx="89172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models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4559040" y="3237120"/>
            <a:ext cx="2869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Menlo"/>
                <a:ea typeface="Menlo"/>
              </a:rPr>
              <a:t>2)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4893120" y="3227760"/>
            <a:ext cx="16758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 Optimization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7939080" y="3024000"/>
            <a:ext cx="3486240" cy="1029240"/>
          </a:xfrm>
          <a:custGeom>
            <a:avLst/>
            <a:gdLst/>
            <a:ahLst/>
            <a:rect l="0" t="0" r="r" b="b"/>
            <a:pathLst>
              <a:path w="9684" h="2859">
                <a:moveTo>
                  <a:pt x="0" y="2713"/>
                </a:moveTo>
                <a:lnTo>
                  <a:pt x="0" y="146"/>
                </a:lnTo>
                <a:cubicBezTo>
                  <a:pt x="0" y="136"/>
                  <a:pt x="0" y="127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49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7"/>
                  <a:pt x="9594" y="11"/>
                </a:cubicBezTo>
                <a:cubicBezTo>
                  <a:pt x="9603" y="15"/>
                  <a:pt x="9612" y="19"/>
                  <a:pt x="9620" y="25"/>
                </a:cubicBezTo>
                <a:cubicBezTo>
                  <a:pt x="9628" y="30"/>
                  <a:pt x="9635" y="36"/>
                  <a:pt x="9642" y="43"/>
                </a:cubicBezTo>
                <a:cubicBezTo>
                  <a:pt x="9648" y="49"/>
                  <a:pt x="9654" y="57"/>
                  <a:pt x="9660" y="65"/>
                </a:cubicBezTo>
                <a:cubicBezTo>
                  <a:pt x="9665" y="73"/>
                  <a:pt x="9670" y="81"/>
                  <a:pt x="9673" y="90"/>
                </a:cubicBezTo>
                <a:cubicBezTo>
                  <a:pt x="9677" y="99"/>
                  <a:pt x="9680" y="108"/>
                  <a:pt x="9681" y="117"/>
                </a:cubicBezTo>
                <a:cubicBezTo>
                  <a:pt x="9683" y="127"/>
                  <a:pt x="9684" y="136"/>
                  <a:pt x="9684" y="146"/>
                </a:cubicBezTo>
                <a:lnTo>
                  <a:pt x="9684" y="2713"/>
                </a:lnTo>
                <a:cubicBezTo>
                  <a:pt x="9684" y="2723"/>
                  <a:pt x="9683" y="2732"/>
                  <a:pt x="9681" y="2741"/>
                </a:cubicBezTo>
                <a:cubicBezTo>
                  <a:pt x="9680" y="2751"/>
                  <a:pt x="9677" y="2760"/>
                  <a:pt x="9673" y="2769"/>
                </a:cubicBezTo>
                <a:cubicBezTo>
                  <a:pt x="9670" y="2778"/>
                  <a:pt x="9665" y="2786"/>
                  <a:pt x="9660" y="2794"/>
                </a:cubicBezTo>
                <a:cubicBezTo>
                  <a:pt x="9654" y="2802"/>
                  <a:pt x="9648" y="2809"/>
                  <a:pt x="9642" y="2816"/>
                </a:cubicBezTo>
                <a:cubicBezTo>
                  <a:pt x="9635" y="2823"/>
                  <a:pt x="9628" y="2829"/>
                  <a:pt x="9620" y="2834"/>
                </a:cubicBezTo>
                <a:cubicBezTo>
                  <a:pt x="9612" y="2839"/>
                  <a:pt x="9603" y="2844"/>
                  <a:pt x="9594" y="2847"/>
                </a:cubicBezTo>
                <a:cubicBezTo>
                  <a:pt x="9586" y="2851"/>
                  <a:pt x="9577" y="2854"/>
                  <a:pt x="9567" y="2856"/>
                </a:cubicBezTo>
                <a:cubicBezTo>
                  <a:pt x="9558" y="2858"/>
                  <a:pt x="9548" y="2859"/>
                  <a:pt x="9539" y="2859"/>
                </a:cubicBezTo>
                <a:lnTo>
                  <a:pt x="145" y="2859"/>
                </a:lnTo>
                <a:cubicBezTo>
                  <a:pt x="135" y="2859"/>
                  <a:pt x="126" y="2858"/>
                  <a:pt x="117" y="2856"/>
                </a:cubicBezTo>
                <a:cubicBezTo>
                  <a:pt x="107" y="2854"/>
                  <a:pt x="98" y="2851"/>
                  <a:pt x="89" y="2847"/>
                </a:cubicBezTo>
                <a:cubicBezTo>
                  <a:pt x="81" y="2844"/>
                  <a:pt x="72" y="2839"/>
                  <a:pt x="64" y="2834"/>
                </a:cubicBezTo>
                <a:cubicBezTo>
                  <a:pt x="56" y="2829"/>
                  <a:pt x="49" y="2823"/>
                  <a:pt x="42" y="2816"/>
                </a:cubicBezTo>
                <a:cubicBezTo>
                  <a:pt x="35" y="2809"/>
                  <a:pt x="29" y="2802"/>
                  <a:pt x="24" y="2794"/>
                </a:cubicBezTo>
                <a:cubicBezTo>
                  <a:pt x="19" y="2786"/>
                  <a:pt x="14" y="2778"/>
                  <a:pt x="11" y="2769"/>
                </a:cubicBezTo>
                <a:cubicBezTo>
                  <a:pt x="7" y="2760"/>
                  <a:pt x="4" y="2751"/>
                  <a:pt x="2" y="2741"/>
                </a:cubicBezTo>
                <a:cubicBezTo>
                  <a:pt x="0" y="2732"/>
                  <a:pt x="0" y="2723"/>
                  <a:pt x="0" y="2713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7939080" y="3024000"/>
            <a:ext cx="3486240" cy="1029240"/>
          </a:xfrm>
          <a:custGeom>
            <a:avLst/>
            <a:gdLst/>
            <a:ahLst/>
            <a:rect l="0" t="0" r="r" b="b"/>
            <a:pathLst>
              <a:path fill="none" w="9684" h="2859">
                <a:moveTo>
                  <a:pt x="0" y="2713"/>
                </a:moveTo>
                <a:lnTo>
                  <a:pt x="0" y="146"/>
                </a:lnTo>
                <a:cubicBezTo>
                  <a:pt x="0" y="136"/>
                  <a:pt x="0" y="127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49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7"/>
                  <a:pt x="9594" y="11"/>
                </a:cubicBezTo>
                <a:cubicBezTo>
                  <a:pt x="9603" y="15"/>
                  <a:pt x="9612" y="19"/>
                  <a:pt x="9620" y="25"/>
                </a:cubicBezTo>
                <a:cubicBezTo>
                  <a:pt x="9628" y="30"/>
                  <a:pt x="9635" y="36"/>
                  <a:pt x="9642" y="43"/>
                </a:cubicBezTo>
                <a:cubicBezTo>
                  <a:pt x="9648" y="49"/>
                  <a:pt x="9654" y="57"/>
                  <a:pt x="9660" y="65"/>
                </a:cubicBezTo>
                <a:cubicBezTo>
                  <a:pt x="9665" y="73"/>
                  <a:pt x="9670" y="81"/>
                  <a:pt x="9673" y="90"/>
                </a:cubicBezTo>
                <a:cubicBezTo>
                  <a:pt x="9677" y="99"/>
                  <a:pt x="9680" y="108"/>
                  <a:pt x="9681" y="117"/>
                </a:cubicBezTo>
                <a:cubicBezTo>
                  <a:pt x="9683" y="127"/>
                  <a:pt x="9684" y="136"/>
                  <a:pt x="9684" y="146"/>
                </a:cubicBezTo>
                <a:lnTo>
                  <a:pt x="9684" y="2713"/>
                </a:lnTo>
                <a:cubicBezTo>
                  <a:pt x="9684" y="2723"/>
                  <a:pt x="9683" y="2732"/>
                  <a:pt x="9681" y="2741"/>
                </a:cubicBezTo>
                <a:cubicBezTo>
                  <a:pt x="9680" y="2751"/>
                  <a:pt x="9677" y="2760"/>
                  <a:pt x="9673" y="2769"/>
                </a:cubicBezTo>
                <a:cubicBezTo>
                  <a:pt x="9670" y="2778"/>
                  <a:pt x="9665" y="2786"/>
                  <a:pt x="9660" y="2794"/>
                </a:cubicBezTo>
                <a:cubicBezTo>
                  <a:pt x="9654" y="2802"/>
                  <a:pt x="9648" y="2809"/>
                  <a:pt x="9642" y="2816"/>
                </a:cubicBezTo>
                <a:cubicBezTo>
                  <a:pt x="9635" y="2823"/>
                  <a:pt x="9628" y="2829"/>
                  <a:pt x="9620" y="2834"/>
                </a:cubicBezTo>
                <a:cubicBezTo>
                  <a:pt x="9612" y="2839"/>
                  <a:pt x="9603" y="2844"/>
                  <a:pt x="9594" y="2847"/>
                </a:cubicBezTo>
                <a:cubicBezTo>
                  <a:pt x="9586" y="2851"/>
                  <a:pt x="9577" y="2854"/>
                  <a:pt x="9567" y="2856"/>
                </a:cubicBezTo>
                <a:cubicBezTo>
                  <a:pt x="9558" y="2858"/>
                  <a:pt x="9548" y="2859"/>
                  <a:pt x="9539" y="2859"/>
                </a:cubicBezTo>
                <a:lnTo>
                  <a:pt x="145" y="2859"/>
                </a:lnTo>
                <a:cubicBezTo>
                  <a:pt x="135" y="2859"/>
                  <a:pt x="126" y="2858"/>
                  <a:pt x="117" y="2856"/>
                </a:cubicBezTo>
                <a:cubicBezTo>
                  <a:pt x="107" y="2854"/>
                  <a:pt x="98" y="2851"/>
                  <a:pt x="89" y="2847"/>
                </a:cubicBezTo>
                <a:cubicBezTo>
                  <a:pt x="81" y="2844"/>
                  <a:pt x="72" y="2839"/>
                  <a:pt x="64" y="2834"/>
                </a:cubicBezTo>
                <a:cubicBezTo>
                  <a:pt x="56" y="2829"/>
                  <a:pt x="49" y="2823"/>
                  <a:pt x="42" y="2816"/>
                </a:cubicBezTo>
                <a:cubicBezTo>
                  <a:pt x="35" y="2809"/>
                  <a:pt x="29" y="2802"/>
                  <a:pt x="24" y="2794"/>
                </a:cubicBezTo>
                <a:cubicBezTo>
                  <a:pt x="19" y="2786"/>
                  <a:pt x="14" y="2778"/>
                  <a:pt x="11" y="2769"/>
                </a:cubicBezTo>
                <a:cubicBezTo>
                  <a:pt x="7" y="2760"/>
                  <a:pt x="4" y="2751"/>
                  <a:pt x="2" y="2741"/>
                </a:cubicBezTo>
                <a:cubicBezTo>
                  <a:pt x="0" y="2732"/>
                  <a:pt x="0" y="2723"/>
                  <a:pt x="0" y="2713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8096040" y="3238200"/>
            <a:ext cx="381240" cy="276840"/>
          </a:xfrm>
          <a:custGeom>
            <a:avLst/>
            <a:gdLst/>
            <a:ahLst/>
            <a:rect l="0" t="0" r="r" b="b"/>
            <a:pathLst>
              <a:path w="1059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01" y="0"/>
                </a:lnTo>
                <a:cubicBezTo>
                  <a:pt x="911" y="0"/>
                  <a:pt x="921" y="1"/>
                  <a:pt x="932" y="3"/>
                </a:cubicBezTo>
                <a:cubicBezTo>
                  <a:pt x="942" y="5"/>
                  <a:pt x="952" y="8"/>
                  <a:pt x="961" y="12"/>
                </a:cubicBezTo>
                <a:cubicBezTo>
                  <a:pt x="971" y="16"/>
                  <a:pt x="980" y="21"/>
                  <a:pt x="989" y="27"/>
                </a:cubicBezTo>
                <a:cubicBezTo>
                  <a:pt x="998" y="33"/>
                  <a:pt x="1006" y="39"/>
                  <a:pt x="1013" y="47"/>
                </a:cubicBezTo>
                <a:cubicBezTo>
                  <a:pt x="1020" y="54"/>
                  <a:pt x="1027" y="62"/>
                  <a:pt x="1033" y="71"/>
                </a:cubicBezTo>
                <a:cubicBezTo>
                  <a:pt x="1038" y="80"/>
                  <a:pt x="1043" y="89"/>
                  <a:pt x="1047" y="98"/>
                </a:cubicBezTo>
                <a:cubicBezTo>
                  <a:pt x="1051" y="108"/>
                  <a:pt x="1054" y="118"/>
                  <a:pt x="1056" y="128"/>
                </a:cubicBezTo>
                <a:cubicBezTo>
                  <a:pt x="1058" y="138"/>
                  <a:pt x="1059" y="149"/>
                  <a:pt x="1059" y="159"/>
                </a:cubicBezTo>
                <a:lnTo>
                  <a:pt x="1059" y="610"/>
                </a:lnTo>
                <a:cubicBezTo>
                  <a:pt x="1059" y="620"/>
                  <a:pt x="1058" y="631"/>
                  <a:pt x="1056" y="641"/>
                </a:cubicBezTo>
                <a:cubicBezTo>
                  <a:pt x="1054" y="651"/>
                  <a:pt x="1051" y="661"/>
                  <a:pt x="1047" y="671"/>
                </a:cubicBezTo>
                <a:cubicBezTo>
                  <a:pt x="1043" y="680"/>
                  <a:pt x="1038" y="689"/>
                  <a:pt x="1033" y="698"/>
                </a:cubicBezTo>
                <a:cubicBezTo>
                  <a:pt x="1027" y="707"/>
                  <a:pt x="1020" y="715"/>
                  <a:pt x="1013" y="722"/>
                </a:cubicBezTo>
                <a:cubicBezTo>
                  <a:pt x="1006" y="729"/>
                  <a:pt x="998" y="736"/>
                  <a:pt x="989" y="742"/>
                </a:cubicBezTo>
                <a:cubicBezTo>
                  <a:pt x="980" y="748"/>
                  <a:pt x="971" y="753"/>
                  <a:pt x="961" y="757"/>
                </a:cubicBezTo>
                <a:cubicBezTo>
                  <a:pt x="952" y="761"/>
                  <a:pt x="942" y="764"/>
                  <a:pt x="932" y="766"/>
                </a:cubicBezTo>
                <a:cubicBezTo>
                  <a:pt x="921" y="768"/>
                  <a:pt x="911" y="769"/>
                  <a:pt x="901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8" y="753"/>
                  <a:pt x="79" y="748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4511880" y="3532320"/>
            <a:ext cx="136476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Algorithms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8146800" y="3237120"/>
            <a:ext cx="2869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Menlo"/>
                <a:ea typeface="Menlo"/>
              </a:rPr>
              <a:t>3)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8480520" y="3227760"/>
            <a:ext cx="19094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 Simulation and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766440" y="4290840"/>
            <a:ext cx="4677120" cy="733680"/>
          </a:xfrm>
          <a:custGeom>
            <a:avLst/>
            <a:gdLst/>
            <a:ahLst/>
            <a:rect l="0" t="0" r="r" b="b"/>
            <a:pathLst>
              <a:path w="12992" h="2038">
                <a:moveTo>
                  <a:pt x="0" y="189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2847" y="0"/>
                </a:lnTo>
                <a:cubicBezTo>
                  <a:pt x="12856" y="0"/>
                  <a:pt x="12866" y="1"/>
                  <a:pt x="12875" y="3"/>
                </a:cubicBezTo>
                <a:cubicBezTo>
                  <a:pt x="12885" y="5"/>
                  <a:pt x="12894" y="7"/>
                  <a:pt x="12903" y="11"/>
                </a:cubicBezTo>
                <a:cubicBezTo>
                  <a:pt x="12911" y="15"/>
                  <a:pt x="12920" y="19"/>
                  <a:pt x="12928" y="25"/>
                </a:cubicBezTo>
                <a:cubicBezTo>
                  <a:pt x="12936" y="30"/>
                  <a:pt x="12943" y="36"/>
                  <a:pt x="12950" y="43"/>
                </a:cubicBezTo>
                <a:cubicBezTo>
                  <a:pt x="12957" y="49"/>
                  <a:pt x="12963" y="57"/>
                  <a:pt x="12968" y="65"/>
                </a:cubicBezTo>
                <a:cubicBezTo>
                  <a:pt x="12973" y="73"/>
                  <a:pt x="12978" y="81"/>
                  <a:pt x="12981" y="90"/>
                </a:cubicBezTo>
                <a:cubicBezTo>
                  <a:pt x="12985" y="99"/>
                  <a:pt x="12988" y="108"/>
                  <a:pt x="12990" y="117"/>
                </a:cubicBezTo>
                <a:cubicBezTo>
                  <a:pt x="12992" y="126"/>
                  <a:pt x="12992" y="136"/>
                  <a:pt x="12992" y="145"/>
                </a:cubicBezTo>
                <a:lnTo>
                  <a:pt x="12992" y="1893"/>
                </a:lnTo>
                <a:cubicBezTo>
                  <a:pt x="12992" y="1902"/>
                  <a:pt x="12992" y="1912"/>
                  <a:pt x="12990" y="1921"/>
                </a:cubicBezTo>
                <a:cubicBezTo>
                  <a:pt x="12988" y="1931"/>
                  <a:pt x="12985" y="1940"/>
                  <a:pt x="12981" y="1948"/>
                </a:cubicBezTo>
                <a:cubicBezTo>
                  <a:pt x="12978" y="1957"/>
                  <a:pt x="12973" y="1966"/>
                  <a:pt x="12968" y="1974"/>
                </a:cubicBezTo>
                <a:cubicBezTo>
                  <a:pt x="12963" y="1982"/>
                  <a:pt x="12957" y="1989"/>
                  <a:pt x="12950" y="1996"/>
                </a:cubicBezTo>
                <a:cubicBezTo>
                  <a:pt x="12943" y="2002"/>
                  <a:pt x="12936" y="2008"/>
                  <a:pt x="12928" y="2014"/>
                </a:cubicBezTo>
                <a:cubicBezTo>
                  <a:pt x="12920" y="2019"/>
                  <a:pt x="12911" y="2024"/>
                  <a:pt x="12903" y="2027"/>
                </a:cubicBezTo>
                <a:cubicBezTo>
                  <a:pt x="12894" y="2031"/>
                  <a:pt x="12885" y="2034"/>
                  <a:pt x="12875" y="2035"/>
                </a:cubicBezTo>
                <a:cubicBezTo>
                  <a:pt x="12866" y="2037"/>
                  <a:pt x="12856" y="2038"/>
                  <a:pt x="12847" y="2038"/>
                </a:cubicBezTo>
                <a:lnTo>
                  <a:pt x="146" y="2038"/>
                </a:lnTo>
                <a:cubicBezTo>
                  <a:pt x="136" y="2038"/>
                  <a:pt x="127" y="2037"/>
                  <a:pt x="118" y="2035"/>
                </a:cubicBezTo>
                <a:cubicBezTo>
                  <a:pt x="108" y="2034"/>
                  <a:pt x="99" y="2031"/>
                  <a:pt x="90" y="2027"/>
                </a:cubicBezTo>
                <a:cubicBezTo>
                  <a:pt x="81" y="2024"/>
                  <a:pt x="73" y="2019"/>
                  <a:pt x="65" y="2014"/>
                </a:cubicBezTo>
                <a:cubicBezTo>
                  <a:pt x="57" y="2008"/>
                  <a:pt x="50" y="2002"/>
                  <a:pt x="43" y="1996"/>
                </a:cubicBezTo>
                <a:cubicBezTo>
                  <a:pt x="36" y="1989"/>
                  <a:pt x="30" y="1982"/>
                  <a:pt x="25" y="1974"/>
                </a:cubicBezTo>
                <a:cubicBezTo>
                  <a:pt x="20" y="1966"/>
                  <a:pt x="15" y="1957"/>
                  <a:pt x="11" y="1948"/>
                </a:cubicBezTo>
                <a:cubicBezTo>
                  <a:pt x="8" y="1940"/>
                  <a:pt x="5" y="1931"/>
                  <a:pt x="3" y="1921"/>
                </a:cubicBezTo>
                <a:cubicBezTo>
                  <a:pt x="1" y="1912"/>
                  <a:pt x="0" y="1902"/>
                  <a:pt x="0" y="1893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766440" y="4290840"/>
            <a:ext cx="4677120" cy="733680"/>
          </a:xfrm>
          <a:custGeom>
            <a:avLst/>
            <a:gdLst/>
            <a:ahLst/>
            <a:rect l="0" t="0" r="r" b="b"/>
            <a:pathLst>
              <a:path fill="none" w="12992" h="2038">
                <a:moveTo>
                  <a:pt x="0" y="189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2847" y="0"/>
                </a:lnTo>
                <a:cubicBezTo>
                  <a:pt x="12856" y="0"/>
                  <a:pt x="12866" y="1"/>
                  <a:pt x="12875" y="3"/>
                </a:cubicBezTo>
                <a:cubicBezTo>
                  <a:pt x="12885" y="5"/>
                  <a:pt x="12894" y="7"/>
                  <a:pt x="12903" y="11"/>
                </a:cubicBezTo>
                <a:cubicBezTo>
                  <a:pt x="12911" y="15"/>
                  <a:pt x="12920" y="19"/>
                  <a:pt x="12928" y="25"/>
                </a:cubicBezTo>
                <a:cubicBezTo>
                  <a:pt x="12936" y="30"/>
                  <a:pt x="12943" y="36"/>
                  <a:pt x="12950" y="43"/>
                </a:cubicBezTo>
                <a:cubicBezTo>
                  <a:pt x="12957" y="49"/>
                  <a:pt x="12963" y="57"/>
                  <a:pt x="12968" y="65"/>
                </a:cubicBezTo>
                <a:cubicBezTo>
                  <a:pt x="12973" y="73"/>
                  <a:pt x="12978" y="81"/>
                  <a:pt x="12981" y="90"/>
                </a:cubicBezTo>
                <a:cubicBezTo>
                  <a:pt x="12985" y="99"/>
                  <a:pt x="12988" y="108"/>
                  <a:pt x="12990" y="117"/>
                </a:cubicBezTo>
                <a:cubicBezTo>
                  <a:pt x="12992" y="126"/>
                  <a:pt x="12992" y="136"/>
                  <a:pt x="12992" y="145"/>
                </a:cubicBezTo>
                <a:lnTo>
                  <a:pt x="12992" y="1893"/>
                </a:lnTo>
                <a:cubicBezTo>
                  <a:pt x="12992" y="1902"/>
                  <a:pt x="12992" y="1912"/>
                  <a:pt x="12990" y="1921"/>
                </a:cubicBezTo>
                <a:cubicBezTo>
                  <a:pt x="12988" y="1931"/>
                  <a:pt x="12985" y="1940"/>
                  <a:pt x="12981" y="1948"/>
                </a:cubicBezTo>
                <a:cubicBezTo>
                  <a:pt x="12978" y="1957"/>
                  <a:pt x="12973" y="1966"/>
                  <a:pt x="12968" y="1974"/>
                </a:cubicBezTo>
                <a:cubicBezTo>
                  <a:pt x="12963" y="1982"/>
                  <a:pt x="12957" y="1989"/>
                  <a:pt x="12950" y="1996"/>
                </a:cubicBezTo>
                <a:cubicBezTo>
                  <a:pt x="12943" y="2002"/>
                  <a:pt x="12936" y="2008"/>
                  <a:pt x="12928" y="2014"/>
                </a:cubicBezTo>
                <a:cubicBezTo>
                  <a:pt x="12920" y="2019"/>
                  <a:pt x="12911" y="2024"/>
                  <a:pt x="12903" y="2027"/>
                </a:cubicBezTo>
                <a:cubicBezTo>
                  <a:pt x="12894" y="2031"/>
                  <a:pt x="12885" y="2034"/>
                  <a:pt x="12875" y="2035"/>
                </a:cubicBezTo>
                <a:cubicBezTo>
                  <a:pt x="12866" y="2037"/>
                  <a:pt x="12856" y="2038"/>
                  <a:pt x="12847" y="2038"/>
                </a:cubicBezTo>
                <a:lnTo>
                  <a:pt x="146" y="2038"/>
                </a:lnTo>
                <a:cubicBezTo>
                  <a:pt x="136" y="2038"/>
                  <a:pt x="127" y="2037"/>
                  <a:pt x="118" y="2035"/>
                </a:cubicBezTo>
                <a:cubicBezTo>
                  <a:pt x="108" y="2034"/>
                  <a:pt x="99" y="2031"/>
                  <a:pt x="90" y="2027"/>
                </a:cubicBezTo>
                <a:cubicBezTo>
                  <a:pt x="81" y="2024"/>
                  <a:pt x="73" y="2019"/>
                  <a:pt x="65" y="2014"/>
                </a:cubicBezTo>
                <a:cubicBezTo>
                  <a:pt x="57" y="2008"/>
                  <a:pt x="50" y="2002"/>
                  <a:pt x="43" y="1996"/>
                </a:cubicBezTo>
                <a:cubicBezTo>
                  <a:pt x="36" y="1989"/>
                  <a:pt x="30" y="1982"/>
                  <a:pt x="25" y="1974"/>
                </a:cubicBezTo>
                <a:cubicBezTo>
                  <a:pt x="20" y="1966"/>
                  <a:pt x="15" y="1957"/>
                  <a:pt x="11" y="1948"/>
                </a:cubicBezTo>
                <a:cubicBezTo>
                  <a:pt x="8" y="1940"/>
                  <a:pt x="5" y="1931"/>
                  <a:pt x="3" y="1921"/>
                </a:cubicBezTo>
                <a:cubicBezTo>
                  <a:pt x="1" y="1912"/>
                  <a:pt x="0" y="1902"/>
                  <a:pt x="0" y="1893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923760" y="4505040"/>
            <a:ext cx="381240" cy="276840"/>
          </a:xfrm>
          <a:custGeom>
            <a:avLst/>
            <a:gdLst/>
            <a:ahLst/>
            <a:rect l="0" t="0" r="r" b="b"/>
            <a:pathLst>
              <a:path w="1059" h="769">
                <a:moveTo>
                  <a:pt x="0" y="610"/>
                </a:moveTo>
                <a:lnTo>
                  <a:pt x="0" y="160"/>
                </a:lnTo>
                <a:cubicBezTo>
                  <a:pt x="0" y="150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lnTo>
                  <a:pt x="901" y="0"/>
                </a:lnTo>
                <a:cubicBezTo>
                  <a:pt x="911" y="0"/>
                  <a:pt x="921" y="1"/>
                  <a:pt x="932" y="3"/>
                </a:cubicBezTo>
                <a:cubicBezTo>
                  <a:pt x="942" y="5"/>
                  <a:pt x="952" y="8"/>
                  <a:pt x="961" y="12"/>
                </a:cubicBezTo>
                <a:cubicBezTo>
                  <a:pt x="971" y="16"/>
                  <a:pt x="980" y="21"/>
                  <a:pt x="989" y="27"/>
                </a:cubicBezTo>
                <a:cubicBezTo>
                  <a:pt x="997" y="33"/>
                  <a:pt x="1005" y="39"/>
                  <a:pt x="1013" y="47"/>
                </a:cubicBezTo>
                <a:cubicBezTo>
                  <a:pt x="1020" y="54"/>
                  <a:pt x="1027" y="62"/>
                  <a:pt x="1033" y="71"/>
                </a:cubicBezTo>
                <a:cubicBezTo>
                  <a:pt x="1038" y="80"/>
                  <a:pt x="1043" y="89"/>
                  <a:pt x="1047" y="98"/>
                </a:cubicBezTo>
                <a:cubicBezTo>
                  <a:pt x="1051" y="108"/>
                  <a:pt x="1054" y="118"/>
                  <a:pt x="1056" y="128"/>
                </a:cubicBezTo>
                <a:cubicBezTo>
                  <a:pt x="1058" y="138"/>
                  <a:pt x="1059" y="150"/>
                  <a:pt x="1059" y="160"/>
                </a:cubicBezTo>
                <a:lnTo>
                  <a:pt x="1059" y="610"/>
                </a:lnTo>
                <a:cubicBezTo>
                  <a:pt x="1059" y="620"/>
                  <a:pt x="1058" y="631"/>
                  <a:pt x="1056" y="641"/>
                </a:cubicBezTo>
                <a:cubicBezTo>
                  <a:pt x="1054" y="651"/>
                  <a:pt x="1051" y="661"/>
                  <a:pt x="1047" y="671"/>
                </a:cubicBezTo>
                <a:cubicBezTo>
                  <a:pt x="1043" y="680"/>
                  <a:pt x="1038" y="689"/>
                  <a:pt x="1033" y="698"/>
                </a:cubicBezTo>
                <a:cubicBezTo>
                  <a:pt x="1027" y="707"/>
                  <a:pt x="1020" y="715"/>
                  <a:pt x="1013" y="722"/>
                </a:cubicBezTo>
                <a:cubicBezTo>
                  <a:pt x="1005" y="729"/>
                  <a:pt x="997" y="736"/>
                  <a:pt x="989" y="742"/>
                </a:cubicBezTo>
                <a:cubicBezTo>
                  <a:pt x="980" y="748"/>
                  <a:pt x="971" y="753"/>
                  <a:pt x="961" y="756"/>
                </a:cubicBezTo>
                <a:cubicBezTo>
                  <a:pt x="952" y="760"/>
                  <a:pt x="942" y="763"/>
                  <a:pt x="932" y="766"/>
                </a:cubicBezTo>
                <a:cubicBezTo>
                  <a:pt x="921" y="768"/>
                  <a:pt x="911" y="769"/>
                  <a:pt x="901" y="769"/>
                </a:cubicBezTo>
                <a:lnTo>
                  <a:pt x="160" y="769"/>
                </a:lnTo>
                <a:cubicBezTo>
                  <a:pt x="149" y="769"/>
                  <a:pt x="139" y="768"/>
                  <a:pt x="129" y="766"/>
                </a:cubicBezTo>
                <a:cubicBezTo>
                  <a:pt x="119" y="763"/>
                  <a:pt x="109" y="760"/>
                  <a:pt x="99" y="756"/>
                </a:cubicBezTo>
                <a:cubicBezTo>
                  <a:pt x="89" y="753"/>
                  <a:pt x="79" y="748"/>
                  <a:pt x="71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8099280" y="3532320"/>
            <a:ext cx="12402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Validation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971280" y="4503600"/>
            <a:ext cx="2869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Menlo"/>
                <a:ea typeface="Menlo"/>
              </a:rPr>
              <a:t>4)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5547960" y="4290840"/>
            <a:ext cx="5877360" cy="733680"/>
          </a:xfrm>
          <a:custGeom>
            <a:avLst/>
            <a:gdLst/>
            <a:ahLst/>
            <a:rect l="0" t="0" r="r" b="b"/>
            <a:pathLst>
              <a:path w="16326" h="2038">
                <a:moveTo>
                  <a:pt x="0" y="189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6181" y="0"/>
                </a:lnTo>
                <a:cubicBezTo>
                  <a:pt x="16190" y="0"/>
                  <a:pt x="16200" y="1"/>
                  <a:pt x="16209" y="3"/>
                </a:cubicBezTo>
                <a:cubicBezTo>
                  <a:pt x="16219" y="5"/>
                  <a:pt x="16228" y="7"/>
                  <a:pt x="16236" y="11"/>
                </a:cubicBezTo>
                <a:cubicBezTo>
                  <a:pt x="16245" y="15"/>
                  <a:pt x="16254" y="19"/>
                  <a:pt x="16262" y="25"/>
                </a:cubicBezTo>
                <a:cubicBezTo>
                  <a:pt x="16270" y="30"/>
                  <a:pt x="16277" y="36"/>
                  <a:pt x="16284" y="43"/>
                </a:cubicBezTo>
                <a:cubicBezTo>
                  <a:pt x="16290" y="49"/>
                  <a:pt x="16296" y="57"/>
                  <a:pt x="16302" y="65"/>
                </a:cubicBezTo>
                <a:cubicBezTo>
                  <a:pt x="16307" y="73"/>
                  <a:pt x="16312" y="81"/>
                  <a:pt x="16315" y="90"/>
                </a:cubicBezTo>
                <a:cubicBezTo>
                  <a:pt x="16319" y="99"/>
                  <a:pt x="16322" y="108"/>
                  <a:pt x="16323" y="117"/>
                </a:cubicBezTo>
                <a:cubicBezTo>
                  <a:pt x="16325" y="126"/>
                  <a:pt x="16326" y="136"/>
                  <a:pt x="16326" y="145"/>
                </a:cubicBezTo>
                <a:lnTo>
                  <a:pt x="16326" y="1893"/>
                </a:lnTo>
                <a:cubicBezTo>
                  <a:pt x="16326" y="1902"/>
                  <a:pt x="16325" y="1912"/>
                  <a:pt x="16323" y="1921"/>
                </a:cubicBezTo>
                <a:cubicBezTo>
                  <a:pt x="16322" y="1931"/>
                  <a:pt x="16319" y="1940"/>
                  <a:pt x="16315" y="1948"/>
                </a:cubicBezTo>
                <a:cubicBezTo>
                  <a:pt x="16312" y="1957"/>
                  <a:pt x="16307" y="1966"/>
                  <a:pt x="16302" y="1974"/>
                </a:cubicBezTo>
                <a:cubicBezTo>
                  <a:pt x="16296" y="1982"/>
                  <a:pt x="16290" y="1989"/>
                  <a:pt x="16284" y="1996"/>
                </a:cubicBezTo>
                <a:cubicBezTo>
                  <a:pt x="16277" y="2002"/>
                  <a:pt x="16270" y="2008"/>
                  <a:pt x="16262" y="2014"/>
                </a:cubicBezTo>
                <a:cubicBezTo>
                  <a:pt x="16254" y="2019"/>
                  <a:pt x="16245" y="2024"/>
                  <a:pt x="16236" y="2027"/>
                </a:cubicBezTo>
                <a:cubicBezTo>
                  <a:pt x="16228" y="2031"/>
                  <a:pt x="16219" y="2034"/>
                  <a:pt x="16209" y="2035"/>
                </a:cubicBezTo>
                <a:cubicBezTo>
                  <a:pt x="16200" y="2037"/>
                  <a:pt x="16190" y="2038"/>
                  <a:pt x="16181" y="2038"/>
                </a:cubicBezTo>
                <a:lnTo>
                  <a:pt x="146" y="2038"/>
                </a:lnTo>
                <a:cubicBezTo>
                  <a:pt x="136" y="2038"/>
                  <a:pt x="127" y="2037"/>
                  <a:pt x="118" y="2035"/>
                </a:cubicBezTo>
                <a:cubicBezTo>
                  <a:pt x="108" y="2034"/>
                  <a:pt x="99" y="2031"/>
                  <a:pt x="90" y="2027"/>
                </a:cubicBezTo>
                <a:cubicBezTo>
                  <a:pt x="81" y="2024"/>
                  <a:pt x="73" y="2019"/>
                  <a:pt x="65" y="2014"/>
                </a:cubicBezTo>
                <a:cubicBezTo>
                  <a:pt x="57" y="2008"/>
                  <a:pt x="50" y="2002"/>
                  <a:pt x="43" y="1996"/>
                </a:cubicBezTo>
                <a:cubicBezTo>
                  <a:pt x="36" y="1989"/>
                  <a:pt x="30" y="1982"/>
                  <a:pt x="25" y="1974"/>
                </a:cubicBezTo>
                <a:cubicBezTo>
                  <a:pt x="20" y="1966"/>
                  <a:pt x="15" y="1957"/>
                  <a:pt x="12" y="1948"/>
                </a:cubicBezTo>
                <a:cubicBezTo>
                  <a:pt x="8" y="1940"/>
                  <a:pt x="5" y="1931"/>
                  <a:pt x="3" y="1921"/>
                </a:cubicBezTo>
                <a:cubicBezTo>
                  <a:pt x="1" y="1912"/>
                  <a:pt x="0" y="1902"/>
                  <a:pt x="0" y="1893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5547960" y="4290840"/>
            <a:ext cx="5877360" cy="733680"/>
          </a:xfrm>
          <a:custGeom>
            <a:avLst/>
            <a:gdLst/>
            <a:ahLst/>
            <a:rect l="0" t="0" r="r" b="b"/>
            <a:pathLst>
              <a:path fill="none" w="16326" h="2038">
                <a:moveTo>
                  <a:pt x="0" y="189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6181" y="0"/>
                </a:lnTo>
                <a:cubicBezTo>
                  <a:pt x="16190" y="0"/>
                  <a:pt x="16200" y="1"/>
                  <a:pt x="16209" y="3"/>
                </a:cubicBezTo>
                <a:cubicBezTo>
                  <a:pt x="16219" y="5"/>
                  <a:pt x="16228" y="7"/>
                  <a:pt x="16236" y="11"/>
                </a:cubicBezTo>
                <a:cubicBezTo>
                  <a:pt x="16245" y="15"/>
                  <a:pt x="16254" y="19"/>
                  <a:pt x="16262" y="25"/>
                </a:cubicBezTo>
                <a:cubicBezTo>
                  <a:pt x="16270" y="30"/>
                  <a:pt x="16277" y="36"/>
                  <a:pt x="16284" y="43"/>
                </a:cubicBezTo>
                <a:cubicBezTo>
                  <a:pt x="16290" y="49"/>
                  <a:pt x="16296" y="57"/>
                  <a:pt x="16302" y="65"/>
                </a:cubicBezTo>
                <a:cubicBezTo>
                  <a:pt x="16307" y="73"/>
                  <a:pt x="16312" y="81"/>
                  <a:pt x="16315" y="90"/>
                </a:cubicBezTo>
                <a:cubicBezTo>
                  <a:pt x="16319" y="99"/>
                  <a:pt x="16322" y="108"/>
                  <a:pt x="16323" y="117"/>
                </a:cubicBezTo>
                <a:cubicBezTo>
                  <a:pt x="16325" y="126"/>
                  <a:pt x="16326" y="136"/>
                  <a:pt x="16326" y="145"/>
                </a:cubicBezTo>
                <a:lnTo>
                  <a:pt x="16326" y="1893"/>
                </a:lnTo>
                <a:cubicBezTo>
                  <a:pt x="16326" y="1902"/>
                  <a:pt x="16325" y="1912"/>
                  <a:pt x="16323" y="1921"/>
                </a:cubicBezTo>
                <a:cubicBezTo>
                  <a:pt x="16322" y="1931"/>
                  <a:pt x="16319" y="1940"/>
                  <a:pt x="16315" y="1948"/>
                </a:cubicBezTo>
                <a:cubicBezTo>
                  <a:pt x="16312" y="1957"/>
                  <a:pt x="16307" y="1966"/>
                  <a:pt x="16302" y="1974"/>
                </a:cubicBezTo>
                <a:cubicBezTo>
                  <a:pt x="16296" y="1982"/>
                  <a:pt x="16290" y="1989"/>
                  <a:pt x="16284" y="1996"/>
                </a:cubicBezTo>
                <a:cubicBezTo>
                  <a:pt x="16277" y="2002"/>
                  <a:pt x="16270" y="2008"/>
                  <a:pt x="16262" y="2014"/>
                </a:cubicBezTo>
                <a:cubicBezTo>
                  <a:pt x="16254" y="2019"/>
                  <a:pt x="16245" y="2024"/>
                  <a:pt x="16236" y="2027"/>
                </a:cubicBezTo>
                <a:cubicBezTo>
                  <a:pt x="16228" y="2031"/>
                  <a:pt x="16219" y="2034"/>
                  <a:pt x="16209" y="2035"/>
                </a:cubicBezTo>
                <a:cubicBezTo>
                  <a:pt x="16200" y="2037"/>
                  <a:pt x="16190" y="2038"/>
                  <a:pt x="16181" y="2038"/>
                </a:cubicBezTo>
                <a:lnTo>
                  <a:pt x="146" y="2038"/>
                </a:lnTo>
                <a:cubicBezTo>
                  <a:pt x="136" y="2038"/>
                  <a:pt x="127" y="2037"/>
                  <a:pt x="118" y="2035"/>
                </a:cubicBezTo>
                <a:cubicBezTo>
                  <a:pt x="108" y="2034"/>
                  <a:pt x="99" y="2031"/>
                  <a:pt x="90" y="2027"/>
                </a:cubicBezTo>
                <a:cubicBezTo>
                  <a:pt x="81" y="2024"/>
                  <a:pt x="73" y="2019"/>
                  <a:pt x="65" y="2014"/>
                </a:cubicBezTo>
                <a:cubicBezTo>
                  <a:pt x="57" y="2008"/>
                  <a:pt x="50" y="2002"/>
                  <a:pt x="43" y="1996"/>
                </a:cubicBezTo>
                <a:cubicBezTo>
                  <a:pt x="36" y="1989"/>
                  <a:pt x="30" y="1982"/>
                  <a:pt x="25" y="1974"/>
                </a:cubicBezTo>
                <a:cubicBezTo>
                  <a:pt x="20" y="1966"/>
                  <a:pt x="15" y="1957"/>
                  <a:pt x="12" y="1948"/>
                </a:cubicBezTo>
                <a:cubicBezTo>
                  <a:pt x="8" y="1940"/>
                  <a:pt x="5" y="1931"/>
                  <a:pt x="3" y="1921"/>
                </a:cubicBezTo>
                <a:cubicBezTo>
                  <a:pt x="1" y="1912"/>
                  <a:pt x="0" y="1902"/>
                  <a:pt x="0" y="1893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5705280" y="4505040"/>
            <a:ext cx="381240" cy="276840"/>
          </a:xfrm>
          <a:custGeom>
            <a:avLst/>
            <a:gdLst/>
            <a:ahLst/>
            <a:rect l="0" t="0" r="r" b="b"/>
            <a:pathLst>
              <a:path w="1059" h="769">
                <a:moveTo>
                  <a:pt x="0" y="610"/>
                </a:moveTo>
                <a:lnTo>
                  <a:pt x="0" y="160"/>
                </a:lnTo>
                <a:cubicBezTo>
                  <a:pt x="0" y="150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01" y="0"/>
                </a:lnTo>
                <a:cubicBezTo>
                  <a:pt x="911" y="0"/>
                  <a:pt x="921" y="1"/>
                  <a:pt x="932" y="3"/>
                </a:cubicBezTo>
                <a:cubicBezTo>
                  <a:pt x="942" y="5"/>
                  <a:pt x="952" y="8"/>
                  <a:pt x="961" y="12"/>
                </a:cubicBezTo>
                <a:cubicBezTo>
                  <a:pt x="971" y="16"/>
                  <a:pt x="980" y="21"/>
                  <a:pt x="989" y="27"/>
                </a:cubicBezTo>
                <a:cubicBezTo>
                  <a:pt x="997" y="33"/>
                  <a:pt x="1006" y="39"/>
                  <a:pt x="1013" y="47"/>
                </a:cubicBezTo>
                <a:cubicBezTo>
                  <a:pt x="1020" y="54"/>
                  <a:pt x="1027" y="62"/>
                  <a:pt x="1033" y="71"/>
                </a:cubicBezTo>
                <a:cubicBezTo>
                  <a:pt x="1038" y="80"/>
                  <a:pt x="1043" y="89"/>
                  <a:pt x="1047" y="98"/>
                </a:cubicBezTo>
                <a:cubicBezTo>
                  <a:pt x="1051" y="108"/>
                  <a:pt x="1054" y="118"/>
                  <a:pt x="1056" y="128"/>
                </a:cubicBezTo>
                <a:cubicBezTo>
                  <a:pt x="1058" y="138"/>
                  <a:pt x="1059" y="150"/>
                  <a:pt x="1059" y="160"/>
                </a:cubicBezTo>
                <a:lnTo>
                  <a:pt x="1059" y="610"/>
                </a:lnTo>
                <a:cubicBezTo>
                  <a:pt x="1059" y="620"/>
                  <a:pt x="1058" y="631"/>
                  <a:pt x="1056" y="641"/>
                </a:cubicBezTo>
                <a:cubicBezTo>
                  <a:pt x="1054" y="651"/>
                  <a:pt x="1051" y="661"/>
                  <a:pt x="1047" y="671"/>
                </a:cubicBezTo>
                <a:cubicBezTo>
                  <a:pt x="1043" y="680"/>
                  <a:pt x="1038" y="689"/>
                  <a:pt x="1033" y="698"/>
                </a:cubicBezTo>
                <a:cubicBezTo>
                  <a:pt x="1027" y="707"/>
                  <a:pt x="1020" y="715"/>
                  <a:pt x="1013" y="722"/>
                </a:cubicBezTo>
                <a:cubicBezTo>
                  <a:pt x="1006" y="729"/>
                  <a:pt x="997" y="736"/>
                  <a:pt x="989" y="742"/>
                </a:cubicBezTo>
                <a:cubicBezTo>
                  <a:pt x="980" y="748"/>
                  <a:pt x="971" y="753"/>
                  <a:pt x="961" y="756"/>
                </a:cubicBezTo>
                <a:cubicBezTo>
                  <a:pt x="952" y="760"/>
                  <a:pt x="942" y="763"/>
                  <a:pt x="932" y="766"/>
                </a:cubicBezTo>
                <a:cubicBezTo>
                  <a:pt x="921" y="768"/>
                  <a:pt x="911" y="769"/>
                  <a:pt x="901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3"/>
                  <a:pt x="79" y="748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1305360" y="4494600"/>
            <a:ext cx="28512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 System Mapping Tools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5752080" y="4503600"/>
            <a:ext cx="2869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Menlo"/>
                <a:ea typeface="Menlo"/>
              </a:rPr>
              <a:t>5)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6085800" y="4494600"/>
            <a:ext cx="40532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 Prototyping and Implementation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"/>
          <p:cNvSpPr/>
          <p:nvPr/>
        </p:nvSpPr>
        <p:spPr>
          <a:xfrm>
            <a:off x="761760" y="1380960"/>
            <a:ext cx="10668240" cy="5477040"/>
          </a:xfrm>
          <a:custGeom>
            <a:avLst/>
            <a:gdLst/>
            <a:ahLst/>
            <a:rect l="0" t="0" r="r" b="b"/>
            <a:pathLst>
              <a:path w="29634" h="15214">
                <a:moveTo>
                  <a:pt x="0" y="0"/>
                </a:moveTo>
                <a:lnTo>
                  <a:pt x="29634" y="0"/>
                </a:lnTo>
                <a:lnTo>
                  <a:pt x="29634" y="15214"/>
                </a:lnTo>
                <a:lnTo>
                  <a:pt x="0" y="152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5" name="" descr=""/>
          <p:cNvPicPr/>
          <p:nvPr/>
        </p:nvPicPr>
        <p:blipFill>
          <a:blip r:embed="rId2"/>
          <a:stretch/>
        </p:blipFill>
        <p:spPr>
          <a:xfrm>
            <a:off x="5753160" y="468612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762120" y="372600"/>
            <a:ext cx="2840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Question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5" name=""/>
          <p:cNvSpPr txBox="1"/>
          <p:nvPr/>
        </p:nvSpPr>
        <p:spPr>
          <a:xfrm>
            <a:off x="762120" y="1937160"/>
            <a:ext cx="10420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multi-component system is composed of physically or functionally distinct elements that work together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762120" y="2242080"/>
            <a:ext cx="9282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 deliver a complete functionality. Eﬀective system design requires balancing these elements: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911160" y="2699280"/>
            <a:ext cx="6146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System-level requirements that address the overall purpose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911160" y="3051720"/>
            <a:ext cx="6355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Component-level speciﬁcations that drive individual elements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911160" y="3404160"/>
            <a:ext cx="4745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Interface deﬁnitions that ensure compatibility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762120" y="3830760"/>
            <a:ext cx="20275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Design Drivers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911160" y="4347000"/>
            <a:ext cx="509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Performance metrics (speed, accuracy, eﬃciency)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911160" y="4708800"/>
            <a:ext cx="544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Cost constraints (materials, manufacturing, lifecycle)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911160" y="5061240"/>
            <a:ext cx="5668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Modularity requirements (maintenance, upgradeability)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911160" y="5413680"/>
            <a:ext cx="2891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Time-to-market pressures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762120" y="-8280"/>
            <a:ext cx="104436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Understanding Multi-Component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762120" y="753480"/>
            <a:ext cx="25891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"/>
          <p:cNvSpPr/>
          <p:nvPr/>
        </p:nvSpPr>
        <p:spPr>
          <a:xfrm>
            <a:off x="3105000" y="196200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5714640" y="196200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3105000" y="231444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5714640" y="231444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3105000" y="266688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5714640" y="266688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3105000" y="301932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5714640" y="301932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3105000" y="337176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5714640" y="337176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3105000" y="372420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5714640" y="372420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3105000" y="407664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5714640" y="407664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3105000" y="442908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5714640" y="442908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3105000" y="478152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5714640" y="478152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3105000" y="5133960"/>
            <a:ext cx="2610000" cy="352440"/>
          </a:xfrm>
          <a:custGeom>
            <a:avLst/>
            <a:gdLst/>
            <a:ahLst/>
            <a:rect l="0" t="0" r="r" b="b"/>
            <a:pathLst>
              <a:path w="7250" h="979">
                <a:moveTo>
                  <a:pt x="0" y="0"/>
                </a:moveTo>
                <a:lnTo>
                  <a:pt x="7250" y="0"/>
                </a:lnTo>
                <a:lnTo>
                  <a:pt x="7250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5714640" y="5133960"/>
            <a:ext cx="3372480" cy="352440"/>
          </a:xfrm>
          <a:custGeom>
            <a:avLst/>
            <a:gdLst/>
            <a:ahLst/>
            <a:rect l="0" t="0" r="r" b="b"/>
            <a:pathLst>
              <a:path w="9368" h="979">
                <a:moveTo>
                  <a:pt x="0" y="0"/>
                </a:moveTo>
                <a:lnTo>
                  <a:pt x="9368" y="0"/>
                </a:lnTo>
                <a:lnTo>
                  <a:pt x="9368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3105000" y="548604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5714640" y="548604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3095280" y="195228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3095280" y="195228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5705280" y="195228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5714640" y="195228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9086760" y="195228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3095280" y="230472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5714640" y="230472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3095280" y="23144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5705280" y="23144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9086760" y="23144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3095280" y="26668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3095280" y="265716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5705280" y="26668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5714640" y="265716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9086760" y="26668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3095280" y="30193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3095280" y="300960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5705280" y="30193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5714640" y="300960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9086760" y="30193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3095280" y="337176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3095280" y="336204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5705280" y="33717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5714640" y="336204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9086760" y="33717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3095280" y="372420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3095280" y="371448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5705280" y="37242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5714640" y="371448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9086760" y="37242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3095280" y="40766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3095280" y="406692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5705280" y="40766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5714640" y="406692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9086760" y="40766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3095280" y="44290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3095280" y="441936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5705280" y="44290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5714640" y="441936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9086760" y="44290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3095280" y="47815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3095280" y="477180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5705280" y="47815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5714640" y="477180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9086760" y="47815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3095280" y="5133960"/>
            <a:ext cx="10080" cy="352440"/>
          </a:xfrm>
          <a:custGeom>
            <a:avLst/>
            <a:gdLst/>
            <a:ahLst/>
            <a:rect l="0" t="0" r="r" b="b"/>
            <a:pathLst>
              <a:path w="28" h="979">
                <a:moveTo>
                  <a:pt x="0" y="0"/>
                </a:moveTo>
                <a:lnTo>
                  <a:pt x="28" y="0"/>
                </a:lnTo>
                <a:lnTo>
                  <a:pt x="28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3095280" y="5124240"/>
            <a:ext cx="2619720" cy="10440"/>
          </a:xfrm>
          <a:custGeom>
            <a:avLst/>
            <a:gdLst/>
            <a:ahLst/>
            <a:rect l="0" t="0" r="r" b="b"/>
            <a:pathLst>
              <a:path w="7277" h="29">
                <a:moveTo>
                  <a:pt x="0" y="0"/>
                </a:moveTo>
                <a:lnTo>
                  <a:pt x="7277" y="0"/>
                </a:lnTo>
                <a:lnTo>
                  <a:pt x="7277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5705280" y="5133960"/>
            <a:ext cx="9720" cy="352440"/>
          </a:xfrm>
          <a:custGeom>
            <a:avLst/>
            <a:gdLst/>
            <a:ahLst/>
            <a:rect l="0" t="0" r="r" b="b"/>
            <a:pathLst>
              <a:path w="27" h="979">
                <a:moveTo>
                  <a:pt x="0" y="0"/>
                </a:moveTo>
                <a:lnTo>
                  <a:pt x="27" y="0"/>
                </a:lnTo>
                <a:lnTo>
                  <a:pt x="2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5714640" y="5124240"/>
            <a:ext cx="3381840" cy="10440"/>
          </a:xfrm>
          <a:custGeom>
            <a:avLst/>
            <a:gdLst/>
            <a:ahLst/>
            <a:rect l="0" t="0" r="r" b="b"/>
            <a:pathLst>
              <a:path w="9394" h="29">
                <a:moveTo>
                  <a:pt x="0" y="0"/>
                </a:moveTo>
                <a:lnTo>
                  <a:pt x="9394" y="0"/>
                </a:lnTo>
                <a:lnTo>
                  <a:pt x="939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9086760" y="5133960"/>
            <a:ext cx="9720" cy="352440"/>
          </a:xfrm>
          <a:custGeom>
            <a:avLst/>
            <a:gdLst/>
            <a:ahLst/>
            <a:rect l="0" t="0" r="r" b="b"/>
            <a:pathLst>
              <a:path w="27" h="979">
                <a:moveTo>
                  <a:pt x="0" y="0"/>
                </a:moveTo>
                <a:lnTo>
                  <a:pt x="27" y="0"/>
                </a:lnTo>
                <a:lnTo>
                  <a:pt x="2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3095280" y="54860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3095280" y="5476680"/>
            <a:ext cx="2619720" cy="9720"/>
          </a:xfrm>
          <a:custGeom>
            <a:avLst/>
            <a:gdLst/>
            <a:ah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5705280" y="54860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5714640" y="5476680"/>
            <a:ext cx="3381840" cy="9720"/>
          </a:xfrm>
          <a:custGeom>
            <a:avLst/>
            <a:gdLst/>
            <a:ahLst/>
            <a:rect l="0" t="0" r="r" b="b"/>
            <a:pathLst>
              <a:path w="9394" h="27">
                <a:moveTo>
                  <a:pt x="0" y="0"/>
                </a:moveTo>
                <a:lnTo>
                  <a:pt x="9394" y="0"/>
                </a:lnTo>
                <a:lnTo>
                  <a:pt x="93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9086760" y="54860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3095280" y="5829120"/>
            <a:ext cx="2619720" cy="9720"/>
          </a:xfrm>
          <a:custGeom>
            <a:avLst/>
            <a:gdLst/>
            <a:ah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5714640" y="5829120"/>
            <a:ext cx="3381840" cy="9720"/>
          </a:xfrm>
          <a:custGeom>
            <a:avLst/>
            <a:gdLst/>
            <a:ahLst/>
            <a:rect l="0" t="0" r="r" b="b"/>
            <a:pathLst>
              <a:path w="9394" h="27">
                <a:moveTo>
                  <a:pt x="0" y="0"/>
                </a:moveTo>
                <a:lnTo>
                  <a:pt x="9394" y="0"/>
                </a:lnTo>
                <a:lnTo>
                  <a:pt x="93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4020840" y="2043360"/>
            <a:ext cx="777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Challenge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7134840" y="2043360"/>
            <a:ext cx="532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Impact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3242520" y="2395800"/>
            <a:ext cx="1507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Interface complexity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5852160" y="2395800"/>
            <a:ext cx="2014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Integration failures, rework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3242520" y="2748240"/>
            <a:ext cx="2333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Cross-disciplinary coordination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5852160" y="2748240"/>
            <a:ext cx="30978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Misalignment, communication breakdown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3242520" y="3100680"/>
            <a:ext cx="1790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Requirements instability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5852160" y="3100680"/>
            <a:ext cx="15897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 churn, rework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3242520" y="3453120"/>
            <a:ext cx="738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Scalability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5852160" y="3453120"/>
            <a:ext cx="2664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Process overhead and design delays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3242520" y="3805560"/>
            <a:ext cx="1986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Limited design exploration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5852160" y="3805560"/>
            <a:ext cx="2383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Missed innovation opportunities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3242520" y="4158000"/>
            <a:ext cx="1188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Tool integration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5852160" y="4158000"/>
            <a:ext cx="1719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Ineﬃciencies, data loss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3242520" y="4510440"/>
            <a:ext cx="1508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Change propagation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5852160" y="4510440"/>
            <a:ext cx="2261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System-wide knock-on eﬀects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3242520" y="4862880"/>
            <a:ext cx="1455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Testing bottlenecks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5852160" y="4862880"/>
            <a:ext cx="2714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Undetected errors, delayed feedback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3242520" y="5215320"/>
            <a:ext cx="1867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Traceability management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5852160" y="5215320"/>
            <a:ext cx="1863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High documentation cost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3242520" y="5567760"/>
            <a:ext cx="1085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Human factors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5852160" y="5567760"/>
            <a:ext cx="2364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Non-compliance, lack of buy-in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762120" y="-8280"/>
            <a:ext cx="10211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Challenges in Systematic Design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762120" y="753480"/>
            <a:ext cx="92325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of Multi-Component Systems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6" name=""/>
          <p:cNvSpPr txBox="1"/>
          <p:nvPr/>
        </p:nvSpPr>
        <p:spPr>
          <a:xfrm>
            <a:off x="762120" y="1680120"/>
            <a:ext cx="10376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key challenge in multi-component systems is managing the interfaces between components. Interfaces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762120" y="1984680"/>
            <a:ext cx="9332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deﬁne how data, energy, or force is exchanged between components and are critical to system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762120" y="2289600"/>
            <a:ext cx="129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functionality.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762120" y="5366160"/>
            <a:ext cx="10312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This allows each component to be optimized independently, However, such decomposition risks missing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762120" y="5671080"/>
            <a:ext cx="6805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globally optimal solutions or producing physically infeasible designs.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766440" y="2833560"/>
            <a:ext cx="3486600" cy="2381400"/>
          </a:xfrm>
          <a:custGeom>
            <a:avLst/>
            <a:gdLst/>
            <a:ahLst/>
            <a:rect l="0" t="0" r="r" b="b"/>
            <a:pathLst>
              <a:path w="9685" h="6615">
                <a:moveTo>
                  <a:pt x="0" y="647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7"/>
                  <a:pt x="9595" y="11"/>
                </a:cubicBezTo>
                <a:cubicBezTo>
                  <a:pt x="9604" y="15"/>
                  <a:pt x="9613" y="19"/>
                  <a:pt x="9620" y="24"/>
                </a:cubicBezTo>
                <a:cubicBezTo>
                  <a:pt x="9628" y="30"/>
                  <a:pt x="9636" y="36"/>
                  <a:pt x="9643" y="42"/>
                </a:cubicBezTo>
                <a:cubicBezTo>
                  <a:pt x="9649" y="49"/>
                  <a:pt x="9655" y="57"/>
                  <a:pt x="9661" y="65"/>
                </a:cubicBezTo>
                <a:cubicBezTo>
                  <a:pt x="9666" y="72"/>
                  <a:pt x="9670" y="81"/>
                  <a:pt x="9674" y="90"/>
                </a:cubicBezTo>
                <a:cubicBezTo>
                  <a:pt x="9678" y="99"/>
                  <a:pt x="9680" y="108"/>
                  <a:pt x="9682" y="117"/>
                </a:cubicBezTo>
                <a:cubicBezTo>
                  <a:pt x="9684" y="126"/>
                  <a:pt x="9685" y="136"/>
                  <a:pt x="9685" y="145"/>
                </a:cubicBezTo>
                <a:lnTo>
                  <a:pt x="9685" y="6470"/>
                </a:lnTo>
                <a:cubicBezTo>
                  <a:pt x="9685" y="6479"/>
                  <a:pt x="9684" y="6489"/>
                  <a:pt x="9682" y="6498"/>
                </a:cubicBezTo>
                <a:cubicBezTo>
                  <a:pt x="9680" y="6508"/>
                  <a:pt x="9678" y="6517"/>
                  <a:pt x="9674" y="6526"/>
                </a:cubicBezTo>
                <a:cubicBezTo>
                  <a:pt x="9670" y="6534"/>
                  <a:pt x="9666" y="6543"/>
                  <a:pt x="9661" y="6551"/>
                </a:cubicBezTo>
                <a:cubicBezTo>
                  <a:pt x="9655" y="6559"/>
                  <a:pt x="9649" y="6566"/>
                  <a:pt x="9643" y="6573"/>
                </a:cubicBezTo>
                <a:cubicBezTo>
                  <a:pt x="9636" y="6580"/>
                  <a:pt x="9628" y="6586"/>
                  <a:pt x="9620" y="6591"/>
                </a:cubicBezTo>
                <a:cubicBezTo>
                  <a:pt x="9613" y="6596"/>
                  <a:pt x="9604" y="6601"/>
                  <a:pt x="9595" y="6604"/>
                </a:cubicBezTo>
                <a:cubicBezTo>
                  <a:pt x="9586" y="6608"/>
                  <a:pt x="9577" y="6611"/>
                  <a:pt x="9568" y="6613"/>
                </a:cubicBezTo>
                <a:cubicBezTo>
                  <a:pt x="9559" y="6615"/>
                  <a:pt x="9549" y="6615"/>
                  <a:pt x="9540" y="6615"/>
                </a:cubicBezTo>
                <a:lnTo>
                  <a:pt x="146" y="6615"/>
                </a:lnTo>
                <a:cubicBezTo>
                  <a:pt x="136" y="6615"/>
                  <a:pt x="127" y="6615"/>
                  <a:pt x="118" y="6613"/>
                </a:cubicBezTo>
                <a:cubicBezTo>
                  <a:pt x="108" y="6611"/>
                  <a:pt x="99" y="6608"/>
                  <a:pt x="90" y="6604"/>
                </a:cubicBezTo>
                <a:cubicBezTo>
                  <a:pt x="81" y="6601"/>
                  <a:pt x="73" y="6596"/>
                  <a:pt x="65" y="6591"/>
                </a:cubicBezTo>
                <a:cubicBezTo>
                  <a:pt x="57" y="6586"/>
                  <a:pt x="50" y="6580"/>
                  <a:pt x="43" y="6573"/>
                </a:cubicBezTo>
                <a:cubicBezTo>
                  <a:pt x="36" y="6566"/>
                  <a:pt x="30" y="6559"/>
                  <a:pt x="25" y="6551"/>
                </a:cubicBezTo>
                <a:cubicBezTo>
                  <a:pt x="20" y="6543"/>
                  <a:pt x="15" y="6534"/>
                  <a:pt x="11" y="6526"/>
                </a:cubicBezTo>
                <a:cubicBezTo>
                  <a:pt x="8" y="6517"/>
                  <a:pt x="5" y="6508"/>
                  <a:pt x="3" y="6498"/>
                </a:cubicBezTo>
                <a:cubicBezTo>
                  <a:pt x="1" y="6489"/>
                  <a:pt x="0" y="6479"/>
                  <a:pt x="0" y="647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766440" y="2833560"/>
            <a:ext cx="3486600" cy="2381400"/>
          </a:xfrm>
          <a:custGeom>
            <a:avLst/>
            <a:gdLst/>
            <a:ahLst/>
            <a:rect l="0" t="0" r="r" b="b"/>
            <a:pathLst>
              <a:path fill="none" w="9685" h="6615">
                <a:moveTo>
                  <a:pt x="0" y="647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7"/>
                  <a:pt x="9595" y="11"/>
                </a:cubicBezTo>
                <a:cubicBezTo>
                  <a:pt x="9604" y="15"/>
                  <a:pt x="9613" y="19"/>
                  <a:pt x="9620" y="24"/>
                </a:cubicBezTo>
                <a:cubicBezTo>
                  <a:pt x="9628" y="30"/>
                  <a:pt x="9636" y="36"/>
                  <a:pt x="9643" y="42"/>
                </a:cubicBezTo>
                <a:cubicBezTo>
                  <a:pt x="9649" y="49"/>
                  <a:pt x="9655" y="57"/>
                  <a:pt x="9661" y="65"/>
                </a:cubicBezTo>
                <a:cubicBezTo>
                  <a:pt x="9666" y="72"/>
                  <a:pt x="9670" y="81"/>
                  <a:pt x="9674" y="90"/>
                </a:cubicBezTo>
                <a:cubicBezTo>
                  <a:pt x="9678" y="99"/>
                  <a:pt x="9680" y="108"/>
                  <a:pt x="9682" y="117"/>
                </a:cubicBezTo>
                <a:cubicBezTo>
                  <a:pt x="9684" y="126"/>
                  <a:pt x="9685" y="136"/>
                  <a:pt x="9685" y="145"/>
                </a:cubicBezTo>
                <a:lnTo>
                  <a:pt x="9685" y="6470"/>
                </a:lnTo>
                <a:cubicBezTo>
                  <a:pt x="9685" y="6479"/>
                  <a:pt x="9684" y="6489"/>
                  <a:pt x="9682" y="6498"/>
                </a:cubicBezTo>
                <a:cubicBezTo>
                  <a:pt x="9680" y="6508"/>
                  <a:pt x="9678" y="6517"/>
                  <a:pt x="9674" y="6526"/>
                </a:cubicBezTo>
                <a:cubicBezTo>
                  <a:pt x="9670" y="6534"/>
                  <a:pt x="9666" y="6543"/>
                  <a:pt x="9661" y="6551"/>
                </a:cubicBezTo>
                <a:cubicBezTo>
                  <a:pt x="9655" y="6559"/>
                  <a:pt x="9649" y="6566"/>
                  <a:pt x="9643" y="6573"/>
                </a:cubicBezTo>
                <a:cubicBezTo>
                  <a:pt x="9636" y="6580"/>
                  <a:pt x="9628" y="6586"/>
                  <a:pt x="9620" y="6591"/>
                </a:cubicBezTo>
                <a:cubicBezTo>
                  <a:pt x="9613" y="6596"/>
                  <a:pt x="9604" y="6601"/>
                  <a:pt x="9595" y="6604"/>
                </a:cubicBezTo>
                <a:cubicBezTo>
                  <a:pt x="9586" y="6608"/>
                  <a:pt x="9577" y="6611"/>
                  <a:pt x="9568" y="6613"/>
                </a:cubicBezTo>
                <a:cubicBezTo>
                  <a:pt x="9559" y="6615"/>
                  <a:pt x="9549" y="6615"/>
                  <a:pt x="9540" y="6615"/>
                </a:cubicBezTo>
                <a:lnTo>
                  <a:pt x="146" y="6615"/>
                </a:lnTo>
                <a:cubicBezTo>
                  <a:pt x="136" y="6615"/>
                  <a:pt x="127" y="6615"/>
                  <a:pt x="118" y="6613"/>
                </a:cubicBezTo>
                <a:cubicBezTo>
                  <a:pt x="108" y="6611"/>
                  <a:pt x="99" y="6608"/>
                  <a:pt x="90" y="6604"/>
                </a:cubicBezTo>
                <a:cubicBezTo>
                  <a:pt x="81" y="6601"/>
                  <a:pt x="73" y="6596"/>
                  <a:pt x="65" y="6591"/>
                </a:cubicBezTo>
                <a:cubicBezTo>
                  <a:pt x="57" y="6586"/>
                  <a:pt x="50" y="6580"/>
                  <a:pt x="43" y="6573"/>
                </a:cubicBezTo>
                <a:cubicBezTo>
                  <a:pt x="36" y="6566"/>
                  <a:pt x="30" y="6559"/>
                  <a:pt x="25" y="6551"/>
                </a:cubicBezTo>
                <a:cubicBezTo>
                  <a:pt x="20" y="6543"/>
                  <a:pt x="15" y="6534"/>
                  <a:pt x="11" y="6526"/>
                </a:cubicBezTo>
                <a:cubicBezTo>
                  <a:pt x="8" y="6517"/>
                  <a:pt x="5" y="6508"/>
                  <a:pt x="3" y="6498"/>
                </a:cubicBezTo>
                <a:cubicBezTo>
                  <a:pt x="1" y="6489"/>
                  <a:pt x="0" y="6479"/>
                  <a:pt x="0" y="647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762120" y="372600"/>
            <a:ext cx="64033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Interface complexity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923760" y="3728520"/>
            <a:ext cx="2759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 mechanical design, interface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923760" y="4004640"/>
            <a:ext cx="2791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stiﬀness matrices describe how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923760" y="4271400"/>
            <a:ext cx="2598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forces and displacements are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923760" y="4547520"/>
            <a:ext cx="2302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related across component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942840" y="319068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3"/>
                  <a:pt x="517" y="350"/>
                  <a:pt x="510" y="366"/>
                </a:cubicBezTo>
                <a:cubicBezTo>
                  <a:pt x="503" y="382"/>
                  <a:pt x="495" y="398"/>
                  <a:pt x="485" y="413"/>
                </a:cubicBezTo>
                <a:cubicBezTo>
                  <a:pt x="476" y="427"/>
                  <a:pt x="465" y="440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2" y="530"/>
                  <a:pt x="264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4" y="413"/>
                </a:cubicBezTo>
                <a:cubicBezTo>
                  <a:pt x="35" y="398"/>
                  <a:pt x="27" y="382"/>
                  <a:pt x="20" y="366"/>
                </a:cubicBezTo>
                <a:cubicBezTo>
                  <a:pt x="13" y="350"/>
                  <a:pt x="8" y="333"/>
                  <a:pt x="5" y="316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9"/>
                  <a:pt x="351" y="14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3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1037880" y="324792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923760" y="4823640"/>
            <a:ext cx="1051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boundaries.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1203120" y="3036600"/>
            <a:ext cx="1303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Mechanical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4357440" y="2833560"/>
            <a:ext cx="3476880" cy="2381400"/>
          </a:xfrm>
          <a:custGeom>
            <a:avLst/>
            <a:gdLst/>
            <a:ahLst/>
            <a:rect l="0" t="0" r="r" b="b"/>
            <a:pathLst>
              <a:path w="9658" h="6615">
                <a:moveTo>
                  <a:pt x="0" y="647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7"/>
                  <a:pt x="9569" y="11"/>
                </a:cubicBezTo>
                <a:cubicBezTo>
                  <a:pt x="9577" y="15"/>
                  <a:pt x="9586" y="19"/>
                  <a:pt x="9594" y="24"/>
                </a:cubicBezTo>
                <a:cubicBezTo>
                  <a:pt x="9602" y="30"/>
                  <a:pt x="9609" y="36"/>
                  <a:pt x="9616" y="42"/>
                </a:cubicBezTo>
                <a:cubicBezTo>
                  <a:pt x="9623" y="49"/>
                  <a:pt x="9629" y="57"/>
                  <a:pt x="9634" y="65"/>
                </a:cubicBezTo>
                <a:cubicBezTo>
                  <a:pt x="9639" y="72"/>
                  <a:pt x="9644" y="81"/>
                  <a:pt x="9647" y="90"/>
                </a:cubicBezTo>
                <a:cubicBezTo>
                  <a:pt x="9651" y="99"/>
                  <a:pt x="9654" y="108"/>
                  <a:pt x="9656" y="117"/>
                </a:cubicBezTo>
                <a:cubicBezTo>
                  <a:pt x="9658" y="126"/>
                  <a:pt x="9658" y="136"/>
                  <a:pt x="9658" y="145"/>
                </a:cubicBezTo>
                <a:lnTo>
                  <a:pt x="9658" y="6470"/>
                </a:lnTo>
                <a:cubicBezTo>
                  <a:pt x="9658" y="6479"/>
                  <a:pt x="9658" y="6489"/>
                  <a:pt x="9656" y="6498"/>
                </a:cubicBezTo>
                <a:cubicBezTo>
                  <a:pt x="9654" y="6508"/>
                  <a:pt x="9651" y="6517"/>
                  <a:pt x="9647" y="6526"/>
                </a:cubicBezTo>
                <a:cubicBezTo>
                  <a:pt x="9644" y="6534"/>
                  <a:pt x="9639" y="6543"/>
                  <a:pt x="9634" y="6551"/>
                </a:cubicBezTo>
                <a:cubicBezTo>
                  <a:pt x="9629" y="6559"/>
                  <a:pt x="9623" y="6566"/>
                  <a:pt x="9616" y="6573"/>
                </a:cubicBezTo>
                <a:cubicBezTo>
                  <a:pt x="9609" y="6580"/>
                  <a:pt x="9602" y="6586"/>
                  <a:pt x="9594" y="6591"/>
                </a:cubicBezTo>
                <a:cubicBezTo>
                  <a:pt x="9586" y="6596"/>
                  <a:pt x="9577" y="6601"/>
                  <a:pt x="9569" y="6604"/>
                </a:cubicBezTo>
                <a:cubicBezTo>
                  <a:pt x="9560" y="6608"/>
                  <a:pt x="9551" y="6611"/>
                  <a:pt x="9541" y="6613"/>
                </a:cubicBezTo>
                <a:cubicBezTo>
                  <a:pt x="9532" y="6615"/>
                  <a:pt x="9523" y="6615"/>
                  <a:pt x="9513" y="6615"/>
                </a:cubicBezTo>
                <a:lnTo>
                  <a:pt x="146" y="6615"/>
                </a:lnTo>
                <a:cubicBezTo>
                  <a:pt x="136" y="6615"/>
                  <a:pt x="127" y="6615"/>
                  <a:pt x="117" y="6613"/>
                </a:cubicBezTo>
                <a:cubicBezTo>
                  <a:pt x="108" y="6611"/>
                  <a:pt x="99" y="6608"/>
                  <a:pt x="90" y="6604"/>
                </a:cubicBezTo>
                <a:cubicBezTo>
                  <a:pt x="81" y="6601"/>
                  <a:pt x="73" y="6596"/>
                  <a:pt x="65" y="6591"/>
                </a:cubicBezTo>
                <a:cubicBezTo>
                  <a:pt x="57" y="6586"/>
                  <a:pt x="50" y="6580"/>
                  <a:pt x="43" y="6573"/>
                </a:cubicBezTo>
                <a:cubicBezTo>
                  <a:pt x="36" y="6566"/>
                  <a:pt x="30" y="6559"/>
                  <a:pt x="25" y="6551"/>
                </a:cubicBezTo>
                <a:cubicBezTo>
                  <a:pt x="19" y="6543"/>
                  <a:pt x="15" y="6534"/>
                  <a:pt x="11" y="6526"/>
                </a:cubicBezTo>
                <a:cubicBezTo>
                  <a:pt x="8" y="6517"/>
                  <a:pt x="5" y="6508"/>
                  <a:pt x="3" y="6498"/>
                </a:cubicBezTo>
                <a:cubicBezTo>
                  <a:pt x="1" y="6489"/>
                  <a:pt x="0" y="6479"/>
                  <a:pt x="0" y="647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4357440" y="2833560"/>
            <a:ext cx="3476880" cy="2381400"/>
          </a:xfrm>
          <a:custGeom>
            <a:avLst/>
            <a:gdLst/>
            <a:ahLst/>
            <a:rect l="0" t="0" r="r" b="b"/>
            <a:pathLst>
              <a:path fill="none" w="9658" h="6615">
                <a:moveTo>
                  <a:pt x="0" y="647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7"/>
                  <a:pt x="9569" y="11"/>
                </a:cubicBezTo>
                <a:cubicBezTo>
                  <a:pt x="9577" y="15"/>
                  <a:pt x="9586" y="19"/>
                  <a:pt x="9594" y="24"/>
                </a:cubicBezTo>
                <a:cubicBezTo>
                  <a:pt x="9602" y="30"/>
                  <a:pt x="9609" y="36"/>
                  <a:pt x="9616" y="42"/>
                </a:cubicBezTo>
                <a:cubicBezTo>
                  <a:pt x="9623" y="49"/>
                  <a:pt x="9629" y="57"/>
                  <a:pt x="9634" y="65"/>
                </a:cubicBezTo>
                <a:cubicBezTo>
                  <a:pt x="9639" y="72"/>
                  <a:pt x="9644" y="81"/>
                  <a:pt x="9647" y="90"/>
                </a:cubicBezTo>
                <a:cubicBezTo>
                  <a:pt x="9651" y="99"/>
                  <a:pt x="9654" y="108"/>
                  <a:pt x="9656" y="117"/>
                </a:cubicBezTo>
                <a:cubicBezTo>
                  <a:pt x="9658" y="126"/>
                  <a:pt x="9658" y="136"/>
                  <a:pt x="9658" y="145"/>
                </a:cubicBezTo>
                <a:lnTo>
                  <a:pt x="9658" y="6470"/>
                </a:lnTo>
                <a:cubicBezTo>
                  <a:pt x="9658" y="6479"/>
                  <a:pt x="9658" y="6489"/>
                  <a:pt x="9656" y="6498"/>
                </a:cubicBezTo>
                <a:cubicBezTo>
                  <a:pt x="9654" y="6508"/>
                  <a:pt x="9651" y="6517"/>
                  <a:pt x="9647" y="6526"/>
                </a:cubicBezTo>
                <a:cubicBezTo>
                  <a:pt x="9644" y="6534"/>
                  <a:pt x="9639" y="6543"/>
                  <a:pt x="9634" y="6551"/>
                </a:cubicBezTo>
                <a:cubicBezTo>
                  <a:pt x="9629" y="6559"/>
                  <a:pt x="9623" y="6566"/>
                  <a:pt x="9616" y="6573"/>
                </a:cubicBezTo>
                <a:cubicBezTo>
                  <a:pt x="9609" y="6580"/>
                  <a:pt x="9602" y="6586"/>
                  <a:pt x="9594" y="6591"/>
                </a:cubicBezTo>
                <a:cubicBezTo>
                  <a:pt x="9586" y="6596"/>
                  <a:pt x="9577" y="6601"/>
                  <a:pt x="9569" y="6604"/>
                </a:cubicBezTo>
                <a:cubicBezTo>
                  <a:pt x="9560" y="6608"/>
                  <a:pt x="9551" y="6611"/>
                  <a:pt x="9541" y="6613"/>
                </a:cubicBezTo>
                <a:cubicBezTo>
                  <a:pt x="9532" y="6615"/>
                  <a:pt x="9523" y="6615"/>
                  <a:pt x="9513" y="6615"/>
                </a:cubicBezTo>
                <a:lnTo>
                  <a:pt x="146" y="6615"/>
                </a:lnTo>
                <a:cubicBezTo>
                  <a:pt x="136" y="6615"/>
                  <a:pt x="127" y="6615"/>
                  <a:pt x="117" y="6613"/>
                </a:cubicBezTo>
                <a:cubicBezTo>
                  <a:pt x="108" y="6611"/>
                  <a:pt x="99" y="6608"/>
                  <a:pt x="90" y="6604"/>
                </a:cubicBezTo>
                <a:cubicBezTo>
                  <a:pt x="81" y="6601"/>
                  <a:pt x="73" y="6596"/>
                  <a:pt x="65" y="6591"/>
                </a:cubicBezTo>
                <a:cubicBezTo>
                  <a:pt x="57" y="6586"/>
                  <a:pt x="50" y="6580"/>
                  <a:pt x="43" y="6573"/>
                </a:cubicBezTo>
                <a:cubicBezTo>
                  <a:pt x="36" y="6566"/>
                  <a:pt x="30" y="6559"/>
                  <a:pt x="25" y="6551"/>
                </a:cubicBezTo>
                <a:cubicBezTo>
                  <a:pt x="19" y="6543"/>
                  <a:pt x="15" y="6534"/>
                  <a:pt x="11" y="6526"/>
                </a:cubicBezTo>
                <a:cubicBezTo>
                  <a:pt x="8" y="6517"/>
                  <a:pt x="5" y="6508"/>
                  <a:pt x="3" y="6498"/>
                </a:cubicBezTo>
                <a:cubicBezTo>
                  <a:pt x="1" y="6489"/>
                  <a:pt x="0" y="6479"/>
                  <a:pt x="0" y="647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1203120" y="3322080"/>
            <a:ext cx="820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Design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4511880" y="3728520"/>
            <a:ext cx="2855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 software systems, APIs deﬁne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4533840" y="319068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1" y="333"/>
                  <a:pt x="516" y="350"/>
                  <a:pt x="510" y="366"/>
                </a:cubicBezTo>
                <a:cubicBezTo>
                  <a:pt x="503" y="382"/>
                  <a:pt x="495" y="398"/>
                  <a:pt x="485" y="413"/>
                </a:cubicBezTo>
                <a:cubicBezTo>
                  <a:pt x="476" y="427"/>
                  <a:pt x="465" y="440"/>
                  <a:pt x="452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5"/>
                  <a:pt x="383" y="503"/>
                  <a:pt x="366" y="510"/>
                </a:cubicBezTo>
                <a:cubicBezTo>
                  <a:pt x="349" y="517"/>
                  <a:pt x="333" y="522"/>
                  <a:pt x="316" y="525"/>
                </a:cubicBezTo>
                <a:cubicBezTo>
                  <a:pt x="299" y="529"/>
                  <a:pt x="282" y="530"/>
                  <a:pt x="264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7" y="486"/>
                </a:cubicBezTo>
                <a:cubicBezTo>
                  <a:pt x="103" y="476"/>
                  <a:pt x="89" y="465"/>
                  <a:pt x="77" y="453"/>
                </a:cubicBezTo>
                <a:cubicBezTo>
                  <a:pt x="65" y="440"/>
                  <a:pt x="54" y="427"/>
                  <a:pt x="44" y="413"/>
                </a:cubicBezTo>
                <a:cubicBezTo>
                  <a:pt x="35" y="398"/>
                  <a:pt x="26" y="382"/>
                  <a:pt x="20" y="366"/>
                </a:cubicBezTo>
                <a:cubicBezTo>
                  <a:pt x="13" y="350"/>
                  <a:pt x="8" y="333"/>
                  <a:pt x="5" y="316"/>
                </a:cubicBezTo>
                <a:cubicBezTo>
                  <a:pt x="1" y="299"/>
                  <a:pt x="0" y="282"/>
                  <a:pt x="0" y="265"/>
                </a:cubicBezTo>
                <a:cubicBezTo>
                  <a:pt x="0" y="247"/>
                  <a:pt x="1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6" y="147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89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299" y="2"/>
                  <a:pt x="316" y="5"/>
                </a:cubicBezTo>
                <a:cubicBezTo>
                  <a:pt x="333" y="9"/>
                  <a:pt x="349" y="14"/>
                  <a:pt x="366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2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6" y="179"/>
                  <a:pt x="521" y="196"/>
                  <a:pt x="525" y="213"/>
                </a:cubicBezTo>
                <a:cubicBezTo>
                  <a:pt x="528" y="230"/>
                  <a:pt x="530" y="247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4628880" y="324792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4511880" y="4004640"/>
            <a:ext cx="3029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function calls and data structures.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4791240" y="3036600"/>
            <a:ext cx="1034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Software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7939080" y="2833560"/>
            <a:ext cx="3486240" cy="2381400"/>
          </a:xfrm>
          <a:custGeom>
            <a:avLst/>
            <a:gdLst/>
            <a:ahLst/>
            <a:rect l="0" t="0" r="r" b="b"/>
            <a:pathLst>
              <a:path w="9684" h="6615">
                <a:moveTo>
                  <a:pt x="0" y="6470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2"/>
                  <a:pt x="24" y="65"/>
                </a:cubicBezTo>
                <a:cubicBezTo>
                  <a:pt x="29" y="57"/>
                  <a:pt x="35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7"/>
                  <a:pt x="9594" y="11"/>
                </a:cubicBezTo>
                <a:cubicBezTo>
                  <a:pt x="9603" y="15"/>
                  <a:pt x="9612" y="19"/>
                  <a:pt x="9620" y="24"/>
                </a:cubicBezTo>
                <a:cubicBezTo>
                  <a:pt x="9628" y="30"/>
                  <a:pt x="9635" y="36"/>
                  <a:pt x="9642" y="42"/>
                </a:cubicBezTo>
                <a:cubicBezTo>
                  <a:pt x="9648" y="49"/>
                  <a:pt x="9654" y="57"/>
                  <a:pt x="9660" y="65"/>
                </a:cubicBezTo>
                <a:cubicBezTo>
                  <a:pt x="9665" y="72"/>
                  <a:pt x="9670" y="81"/>
                  <a:pt x="9673" y="90"/>
                </a:cubicBezTo>
                <a:cubicBezTo>
                  <a:pt x="9677" y="99"/>
                  <a:pt x="9680" y="108"/>
                  <a:pt x="9681" y="117"/>
                </a:cubicBezTo>
                <a:cubicBezTo>
                  <a:pt x="9683" y="126"/>
                  <a:pt x="9684" y="136"/>
                  <a:pt x="9684" y="145"/>
                </a:cubicBezTo>
                <a:lnTo>
                  <a:pt x="9684" y="6470"/>
                </a:lnTo>
                <a:cubicBezTo>
                  <a:pt x="9684" y="6479"/>
                  <a:pt x="9683" y="6489"/>
                  <a:pt x="9681" y="6498"/>
                </a:cubicBezTo>
                <a:cubicBezTo>
                  <a:pt x="9680" y="6508"/>
                  <a:pt x="9677" y="6517"/>
                  <a:pt x="9673" y="6526"/>
                </a:cubicBezTo>
                <a:cubicBezTo>
                  <a:pt x="9670" y="6534"/>
                  <a:pt x="9665" y="6543"/>
                  <a:pt x="9660" y="6551"/>
                </a:cubicBezTo>
                <a:cubicBezTo>
                  <a:pt x="9654" y="6559"/>
                  <a:pt x="9648" y="6566"/>
                  <a:pt x="9642" y="6573"/>
                </a:cubicBezTo>
                <a:cubicBezTo>
                  <a:pt x="9635" y="6580"/>
                  <a:pt x="9628" y="6586"/>
                  <a:pt x="9620" y="6591"/>
                </a:cubicBezTo>
                <a:cubicBezTo>
                  <a:pt x="9612" y="6596"/>
                  <a:pt x="9603" y="6601"/>
                  <a:pt x="9594" y="6604"/>
                </a:cubicBezTo>
                <a:cubicBezTo>
                  <a:pt x="9586" y="6608"/>
                  <a:pt x="9577" y="6611"/>
                  <a:pt x="9567" y="6613"/>
                </a:cubicBezTo>
                <a:cubicBezTo>
                  <a:pt x="9558" y="6615"/>
                  <a:pt x="9548" y="6615"/>
                  <a:pt x="9539" y="6615"/>
                </a:cubicBezTo>
                <a:lnTo>
                  <a:pt x="145" y="6615"/>
                </a:lnTo>
                <a:cubicBezTo>
                  <a:pt x="135" y="6615"/>
                  <a:pt x="126" y="6615"/>
                  <a:pt x="117" y="6613"/>
                </a:cubicBezTo>
                <a:cubicBezTo>
                  <a:pt x="107" y="6611"/>
                  <a:pt x="98" y="6608"/>
                  <a:pt x="89" y="6604"/>
                </a:cubicBezTo>
                <a:cubicBezTo>
                  <a:pt x="81" y="6601"/>
                  <a:pt x="72" y="6596"/>
                  <a:pt x="64" y="6591"/>
                </a:cubicBezTo>
                <a:cubicBezTo>
                  <a:pt x="56" y="6586"/>
                  <a:pt x="49" y="6580"/>
                  <a:pt x="42" y="6573"/>
                </a:cubicBezTo>
                <a:cubicBezTo>
                  <a:pt x="35" y="6566"/>
                  <a:pt x="29" y="6559"/>
                  <a:pt x="24" y="6551"/>
                </a:cubicBezTo>
                <a:cubicBezTo>
                  <a:pt x="19" y="6543"/>
                  <a:pt x="14" y="6534"/>
                  <a:pt x="11" y="6526"/>
                </a:cubicBezTo>
                <a:cubicBezTo>
                  <a:pt x="7" y="6517"/>
                  <a:pt x="4" y="6508"/>
                  <a:pt x="2" y="6498"/>
                </a:cubicBezTo>
                <a:cubicBezTo>
                  <a:pt x="0" y="6489"/>
                  <a:pt x="0" y="6479"/>
                  <a:pt x="0" y="647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7939080" y="2833560"/>
            <a:ext cx="3486240" cy="2381400"/>
          </a:xfrm>
          <a:custGeom>
            <a:avLst/>
            <a:gdLst/>
            <a:ahLst/>
            <a:rect l="0" t="0" r="r" b="b"/>
            <a:pathLst>
              <a:path fill="none" w="9684" h="6615">
                <a:moveTo>
                  <a:pt x="0" y="6470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2"/>
                  <a:pt x="24" y="65"/>
                </a:cubicBezTo>
                <a:cubicBezTo>
                  <a:pt x="29" y="57"/>
                  <a:pt x="35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7"/>
                  <a:pt x="9594" y="11"/>
                </a:cubicBezTo>
                <a:cubicBezTo>
                  <a:pt x="9603" y="15"/>
                  <a:pt x="9612" y="19"/>
                  <a:pt x="9620" y="24"/>
                </a:cubicBezTo>
                <a:cubicBezTo>
                  <a:pt x="9628" y="30"/>
                  <a:pt x="9635" y="36"/>
                  <a:pt x="9642" y="42"/>
                </a:cubicBezTo>
                <a:cubicBezTo>
                  <a:pt x="9648" y="49"/>
                  <a:pt x="9654" y="57"/>
                  <a:pt x="9660" y="65"/>
                </a:cubicBezTo>
                <a:cubicBezTo>
                  <a:pt x="9665" y="72"/>
                  <a:pt x="9670" y="81"/>
                  <a:pt x="9673" y="90"/>
                </a:cubicBezTo>
                <a:cubicBezTo>
                  <a:pt x="9677" y="99"/>
                  <a:pt x="9680" y="108"/>
                  <a:pt x="9681" y="117"/>
                </a:cubicBezTo>
                <a:cubicBezTo>
                  <a:pt x="9683" y="126"/>
                  <a:pt x="9684" y="136"/>
                  <a:pt x="9684" y="145"/>
                </a:cubicBezTo>
                <a:lnTo>
                  <a:pt x="9684" y="6470"/>
                </a:lnTo>
                <a:cubicBezTo>
                  <a:pt x="9684" y="6479"/>
                  <a:pt x="9683" y="6489"/>
                  <a:pt x="9681" y="6498"/>
                </a:cubicBezTo>
                <a:cubicBezTo>
                  <a:pt x="9680" y="6508"/>
                  <a:pt x="9677" y="6517"/>
                  <a:pt x="9673" y="6526"/>
                </a:cubicBezTo>
                <a:cubicBezTo>
                  <a:pt x="9670" y="6534"/>
                  <a:pt x="9665" y="6543"/>
                  <a:pt x="9660" y="6551"/>
                </a:cubicBezTo>
                <a:cubicBezTo>
                  <a:pt x="9654" y="6559"/>
                  <a:pt x="9648" y="6566"/>
                  <a:pt x="9642" y="6573"/>
                </a:cubicBezTo>
                <a:cubicBezTo>
                  <a:pt x="9635" y="6580"/>
                  <a:pt x="9628" y="6586"/>
                  <a:pt x="9620" y="6591"/>
                </a:cubicBezTo>
                <a:cubicBezTo>
                  <a:pt x="9612" y="6596"/>
                  <a:pt x="9603" y="6601"/>
                  <a:pt x="9594" y="6604"/>
                </a:cubicBezTo>
                <a:cubicBezTo>
                  <a:pt x="9586" y="6608"/>
                  <a:pt x="9577" y="6611"/>
                  <a:pt x="9567" y="6613"/>
                </a:cubicBezTo>
                <a:cubicBezTo>
                  <a:pt x="9558" y="6615"/>
                  <a:pt x="9548" y="6615"/>
                  <a:pt x="9539" y="6615"/>
                </a:cubicBezTo>
                <a:lnTo>
                  <a:pt x="145" y="6615"/>
                </a:lnTo>
                <a:cubicBezTo>
                  <a:pt x="135" y="6615"/>
                  <a:pt x="126" y="6615"/>
                  <a:pt x="117" y="6613"/>
                </a:cubicBezTo>
                <a:cubicBezTo>
                  <a:pt x="107" y="6611"/>
                  <a:pt x="98" y="6608"/>
                  <a:pt x="89" y="6604"/>
                </a:cubicBezTo>
                <a:cubicBezTo>
                  <a:pt x="81" y="6601"/>
                  <a:pt x="72" y="6596"/>
                  <a:pt x="64" y="6591"/>
                </a:cubicBezTo>
                <a:cubicBezTo>
                  <a:pt x="56" y="6586"/>
                  <a:pt x="49" y="6580"/>
                  <a:pt x="42" y="6573"/>
                </a:cubicBezTo>
                <a:cubicBezTo>
                  <a:pt x="35" y="6566"/>
                  <a:pt x="29" y="6559"/>
                  <a:pt x="24" y="6551"/>
                </a:cubicBezTo>
                <a:cubicBezTo>
                  <a:pt x="19" y="6543"/>
                  <a:pt x="14" y="6534"/>
                  <a:pt x="11" y="6526"/>
                </a:cubicBezTo>
                <a:cubicBezTo>
                  <a:pt x="7" y="6517"/>
                  <a:pt x="4" y="6508"/>
                  <a:pt x="2" y="6498"/>
                </a:cubicBezTo>
                <a:cubicBezTo>
                  <a:pt x="0" y="6489"/>
                  <a:pt x="0" y="6479"/>
                  <a:pt x="0" y="647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4791240" y="3322080"/>
            <a:ext cx="971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8099280" y="3728520"/>
            <a:ext cx="2886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 embedded systems, protocols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8115120" y="319068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3"/>
                  <a:pt x="517" y="350"/>
                  <a:pt x="510" y="366"/>
                </a:cubicBezTo>
                <a:cubicBezTo>
                  <a:pt x="503" y="382"/>
                  <a:pt x="495" y="398"/>
                  <a:pt x="486" y="413"/>
                </a:cubicBezTo>
                <a:cubicBezTo>
                  <a:pt x="476" y="427"/>
                  <a:pt x="464" y="440"/>
                  <a:pt x="452" y="453"/>
                </a:cubicBezTo>
                <a:cubicBezTo>
                  <a:pt x="439" y="465"/>
                  <a:pt x="426" y="476"/>
                  <a:pt x="412" y="486"/>
                </a:cubicBezTo>
                <a:cubicBezTo>
                  <a:pt x="397" y="495"/>
                  <a:pt x="382" y="503"/>
                  <a:pt x="366" y="510"/>
                </a:cubicBezTo>
                <a:cubicBezTo>
                  <a:pt x="350" y="517"/>
                  <a:pt x="333" y="522"/>
                  <a:pt x="316" y="525"/>
                </a:cubicBezTo>
                <a:cubicBezTo>
                  <a:pt x="299" y="529"/>
                  <a:pt x="282" y="530"/>
                  <a:pt x="265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8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5" y="413"/>
                </a:cubicBezTo>
                <a:cubicBezTo>
                  <a:pt x="35" y="398"/>
                  <a:pt x="27" y="382"/>
                  <a:pt x="20" y="366"/>
                </a:cubicBezTo>
                <a:cubicBezTo>
                  <a:pt x="13" y="350"/>
                  <a:pt x="8" y="333"/>
                  <a:pt x="5" y="316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5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5"/>
                  <a:pt x="103" y="54"/>
                  <a:pt x="118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5" y="0"/>
                </a:cubicBezTo>
                <a:cubicBezTo>
                  <a:pt x="282" y="0"/>
                  <a:pt x="299" y="2"/>
                  <a:pt x="316" y="5"/>
                </a:cubicBezTo>
                <a:cubicBezTo>
                  <a:pt x="333" y="9"/>
                  <a:pt x="350" y="14"/>
                  <a:pt x="366" y="20"/>
                </a:cubicBezTo>
                <a:cubicBezTo>
                  <a:pt x="382" y="27"/>
                  <a:pt x="397" y="35"/>
                  <a:pt x="412" y="45"/>
                </a:cubicBezTo>
                <a:cubicBezTo>
                  <a:pt x="426" y="54"/>
                  <a:pt x="439" y="65"/>
                  <a:pt x="452" y="78"/>
                </a:cubicBezTo>
                <a:cubicBezTo>
                  <a:pt x="464" y="90"/>
                  <a:pt x="476" y="103"/>
                  <a:pt x="486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8210520" y="3247920"/>
            <a:ext cx="0" cy="75960"/>
          </a:xfrm>
          <a:custGeom>
            <a:avLst/>
            <a:gdLst/>
            <a:ahLst/>
            <a:rect l="0" t="0" r="r" b="b"/>
            <a:pathLst>
              <a:path fill="none" w="0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8099280" y="4004640"/>
            <a:ext cx="3161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govern timing and synchronization.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8378640" y="3036600"/>
            <a:ext cx="1233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Embedded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8378640" y="3322080"/>
            <a:ext cx="971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6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7" name=""/>
          <p:cNvSpPr txBox="1"/>
          <p:nvPr/>
        </p:nvSpPr>
        <p:spPr>
          <a:xfrm>
            <a:off x="762120" y="4823280"/>
            <a:ext cx="10559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This shift from global to local design parallels organisational design: individual teams can work on parts as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762120" y="5127840"/>
            <a:ext cx="534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long as shared protocols and interfaces are respected.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766440" y="2309760"/>
            <a:ext cx="5277240" cy="2362320"/>
          </a:xfrm>
          <a:custGeom>
            <a:avLst/>
            <a:gdLst/>
            <a:ahLst/>
            <a:rect l="0" t="0" r="r" b="b"/>
            <a:pathLst>
              <a:path w="14659" h="6562">
                <a:moveTo>
                  <a:pt x="0" y="641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6417"/>
                </a:lnTo>
                <a:cubicBezTo>
                  <a:pt x="14659" y="6426"/>
                  <a:pt x="14658" y="6436"/>
                  <a:pt x="14657" y="6445"/>
                </a:cubicBezTo>
                <a:cubicBezTo>
                  <a:pt x="14655" y="6455"/>
                  <a:pt x="14652" y="6464"/>
                  <a:pt x="14648" y="6472"/>
                </a:cubicBezTo>
                <a:cubicBezTo>
                  <a:pt x="14645" y="6481"/>
                  <a:pt x="14640" y="6490"/>
                  <a:pt x="14635" y="6498"/>
                </a:cubicBezTo>
                <a:cubicBezTo>
                  <a:pt x="14629" y="6506"/>
                  <a:pt x="14623" y="6513"/>
                  <a:pt x="14617" y="6520"/>
                </a:cubicBezTo>
                <a:cubicBezTo>
                  <a:pt x="14610" y="6526"/>
                  <a:pt x="14603" y="6532"/>
                  <a:pt x="14595" y="6538"/>
                </a:cubicBezTo>
                <a:cubicBezTo>
                  <a:pt x="14587" y="6543"/>
                  <a:pt x="14578" y="6548"/>
                  <a:pt x="14569" y="6551"/>
                </a:cubicBezTo>
                <a:cubicBezTo>
                  <a:pt x="14561" y="6555"/>
                  <a:pt x="14552" y="6558"/>
                  <a:pt x="14542" y="6560"/>
                </a:cubicBezTo>
                <a:cubicBezTo>
                  <a:pt x="14533" y="6561"/>
                  <a:pt x="14523" y="6562"/>
                  <a:pt x="14514" y="6562"/>
                </a:cubicBezTo>
                <a:lnTo>
                  <a:pt x="146" y="6562"/>
                </a:lnTo>
                <a:cubicBezTo>
                  <a:pt x="136" y="6562"/>
                  <a:pt x="127" y="6561"/>
                  <a:pt x="118" y="6560"/>
                </a:cubicBezTo>
                <a:cubicBezTo>
                  <a:pt x="108" y="6558"/>
                  <a:pt x="99" y="6555"/>
                  <a:pt x="90" y="6551"/>
                </a:cubicBezTo>
                <a:cubicBezTo>
                  <a:pt x="81" y="6548"/>
                  <a:pt x="73" y="6543"/>
                  <a:pt x="65" y="6538"/>
                </a:cubicBezTo>
                <a:cubicBezTo>
                  <a:pt x="57" y="6532"/>
                  <a:pt x="50" y="6526"/>
                  <a:pt x="43" y="6520"/>
                </a:cubicBezTo>
                <a:cubicBezTo>
                  <a:pt x="36" y="6513"/>
                  <a:pt x="30" y="6506"/>
                  <a:pt x="25" y="6498"/>
                </a:cubicBezTo>
                <a:cubicBezTo>
                  <a:pt x="20" y="6490"/>
                  <a:pt x="15" y="6481"/>
                  <a:pt x="11" y="6472"/>
                </a:cubicBezTo>
                <a:cubicBezTo>
                  <a:pt x="8" y="6464"/>
                  <a:pt x="5" y="6455"/>
                  <a:pt x="3" y="6445"/>
                </a:cubicBezTo>
                <a:cubicBezTo>
                  <a:pt x="1" y="6436"/>
                  <a:pt x="0" y="6426"/>
                  <a:pt x="0" y="6417"/>
                </a:cubicBezTo>
                <a:close/>
              </a:path>
            </a:pathLst>
          </a:custGeom>
          <a:solidFill>
            <a:srgbClr val="e8fc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766440" y="2309760"/>
            <a:ext cx="5277240" cy="2362320"/>
          </a:xfrm>
          <a:custGeom>
            <a:avLst/>
            <a:gdLst/>
            <a:ahLst/>
            <a:rect l="0" t="0" r="r" b="b"/>
            <a:pathLst>
              <a:path fill="none" w="14659" h="6562">
                <a:moveTo>
                  <a:pt x="0" y="641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6417"/>
                </a:lnTo>
                <a:cubicBezTo>
                  <a:pt x="14659" y="6426"/>
                  <a:pt x="14658" y="6436"/>
                  <a:pt x="14657" y="6445"/>
                </a:cubicBezTo>
                <a:cubicBezTo>
                  <a:pt x="14655" y="6455"/>
                  <a:pt x="14652" y="6464"/>
                  <a:pt x="14648" y="6472"/>
                </a:cubicBezTo>
                <a:cubicBezTo>
                  <a:pt x="14645" y="6481"/>
                  <a:pt x="14640" y="6490"/>
                  <a:pt x="14635" y="6498"/>
                </a:cubicBezTo>
                <a:cubicBezTo>
                  <a:pt x="14629" y="6506"/>
                  <a:pt x="14623" y="6513"/>
                  <a:pt x="14617" y="6520"/>
                </a:cubicBezTo>
                <a:cubicBezTo>
                  <a:pt x="14610" y="6526"/>
                  <a:pt x="14603" y="6532"/>
                  <a:pt x="14595" y="6538"/>
                </a:cubicBezTo>
                <a:cubicBezTo>
                  <a:pt x="14587" y="6543"/>
                  <a:pt x="14578" y="6548"/>
                  <a:pt x="14569" y="6551"/>
                </a:cubicBezTo>
                <a:cubicBezTo>
                  <a:pt x="14561" y="6555"/>
                  <a:pt x="14552" y="6558"/>
                  <a:pt x="14542" y="6560"/>
                </a:cubicBezTo>
                <a:cubicBezTo>
                  <a:pt x="14533" y="6561"/>
                  <a:pt x="14523" y="6562"/>
                  <a:pt x="14514" y="6562"/>
                </a:cubicBezTo>
                <a:lnTo>
                  <a:pt x="146" y="6562"/>
                </a:lnTo>
                <a:cubicBezTo>
                  <a:pt x="136" y="6562"/>
                  <a:pt x="127" y="6561"/>
                  <a:pt x="118" y="6560"/>
                </a:cubicBezTo>
                <a:cubicBezTo>
                  <a:pt x="108" y="6558"/>
                  <a:pt x="99" y="6555"/>
                  <a:pt x="90" y="6551"/>
                </a:cubicBezTo>
                <a:cubicBezTo>
                  <a:pt x="81" y="6548"/>
                  <a:pt x="73" y="6543"/>
                  <a:pt x="65" y="6538"/>
                </a:cubicBezTo>
                <a:cubicBezTo>
                  <a:pt x="57" y="6532"/>
                  <a:pt x="50" y="6526"/>
                  <a:pt x="43" y="6520"/>
                </a:cubicBezTo>
                <a:cubicBezTo>
                  <a:pt x="36" y="6513"/>
                  <a:pt x="30" y="6506"/>
                  <a:pt x="25" y="6498"/>
                </a:cubicBezTo>
                <a:cubicBezTo>
                  <a:pt x="20" y="6490"/>
                  <a:pt x="15" y="6481"/>
                  <a:pt x="11" y="6472"/>
                </a:cubicBezTo>
                <a:cubicBezTo>
                  <a:pt x="8" y="6464"/>
                  <a:pt x="5" y="6455"/>
                  <a:pt x="3" y="6445"/>
                </a:cubicBezTo>
                <a:cubicBezTo>
                  <a:pt x="1" y="6436"/>
                  <a:pt x="0" y="6426"/>
                  <a:pt x="0" y="6417"/>
                </a:cubicBezTo>
              </a:path>
            </a:pathLst>
          </a:custGeom>
          <a:ln w="9360">
            <a:solidFill>
              <a:srgbClr val="baf7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762120" y="372600"/>
            <a:ext cx="103557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Monolithic vs Distributed Design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923760" y="2909160"/>
            <a:ext cx="4750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Monolithic design approaches attempt to optimize all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923760" y="3185640"/>
            <a:ext cx="4480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 variables simultaneously in a single, tightly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923760" y="3461760"/>
            <a:ext cx="4058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integrated process. This has the advantage of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923760" y="3737880"/>
            <a:ext cx="4541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potentially achieving globally optimal solutions but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923760" y="4014000"/>
            <a:ext cx="4200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suﬀers from scalability issues and coordination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1000080" y="2523960"/>
            <a:ext cx="76320" cy="38520"/>
          </a:xfrm>
          <a:custGeom>
            <a:avLst/>
            <a:gdLst/>
            <a:ahLst/>
            <a:rect l="0" t="0" r="r" b="b"/>
            <a:pathLst>
              <a:path fill="none" w="212" h="107">
                <a:moveTo>
                  <a:pt x="26" y="0"/>
                </a:moveTo>
                <a:lnTo>
                  <a:pt x="186" y="0"/>
                </a:lnTo>
                <a:cubicBezTo>
                  <a:pt x="193" y="0"/>
                  <a:pt x="199" y="3"/>
                  <a:pt x="205" y="8"/>
                </a:cubicBezTo>
                <a:cubicBezTo>
                  <a:pt x="210" y="13"/>
                  <a:pt x="212" y="19"/>
                  <a:pt x="212" y="26"/>
                </a:cubicBezTo>
                <a:lnTo>
                  <a:pt x="212" y="80"/>
                </a:lnTo>
                <a:cubicBezTo>
                  <a:pt x="212" y="88"/>
                  <a:pt x="210" y="94"/>
                  <a:pt x="205" y="99"/>
                </a:cubicBezTo>
                <a:cubicBezTo>
                  <a:pt x="199" y="104"/>
                  <a:pt x="193" y="107"/>
                  <a:pt x="186" y="107"/>
                </a:cubicBezTo>
                <a:lnTo>
                  <a:pt x="26" y="107"/>
                </a:lnTo>
                <a:cubicBezTo>
                  <a:pt x="19" y="107"/>
                  <a:pt x="13" y="104"/>
                  <a:pt x="7" y="99"/>
                </a:cubicBezTo>
                <a:cubicBezTo>
                  <a:pt x="2" y="94"/>
                  <a:pt x="0" y="88"/>
                  <a:pt x="0" y="80"/>
                </a:cubicBezTo>
                <a:lnTo>
                  <a:pt x="0" y="26"/>
                </a:lnTo>
                <a:cubicBezTo>
                  <a:pt x="0" y="19"/>
                  <a:pt x="2" y="13"/>
                  <a:pt x="7" y="8"/>
                </a:cubicBezTo>
                <a:cubicBezTo>
                  <a:pt x="13" y="3"/>
                  <a:pt x="19" y="0"/>
                  <a:pt x="26" y="0"/>
                </a:cubicBezTo>
              </a:path>
            </a:pathLst>
          </a:custGeom>
          <a:ln cap="rnd" w="18720">
            <a:solidFill>
              <a:srgbClr val="16c4c2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961920" y="2543040"/>
            <a:ext cx="152640" cy="171720"/>
          </a:xfrm>
          <a:custGeom>
            <a:avLst/>
            <a:gdLst/>
            <a:ahLst/>
            <a:rect l="0" t="0" r="r" b="b"/>
            <a:pathLst>
              <a:path fill="none" w="424" h="477">
                <a:moveTo>
                  <a:pt x="318" y="0"/>
                </a:moveTo>
                <a:lnTo>
                  <a:pt x="371" y="0"/>
                </a:lnTo>
                <a:cubicBezTo>
                  <a:pt x="378" y="0"/>
                  <a:pt x="385" y="1"/>
                  <a:pt x="391" y="4"/>
                </a:cubicBezTo>
                <a:cubicBezTo>
                  <a:pt x="398" y="7"/>
                  <a:pt x="404" y="10"/>
                  <a:pt x="409" y="15"/>
                </a:cubicBezTo>
                <a:cubicBezTo>
                  <a:pt x="414" y="20"/>
                  <a:pt x="417" y="26"/>
                  <a:pt x="420" y="33"/>
                </a:cubicBezTo>
                <a:cubicBezTo>
                  <a:pt x="423" y="39"/>
                  <a:pt x="424" y="46"/>
                  <a:pt x="424" y="53"/>
                </a:cubicBezTo>
                <a:lnTo>
                  <a:pt x="424" y="424"/>
                </a:lnTo>
                <a:cubicBezTo>
                  <a:pt x="424" y="431"/>
                  <a:pt x="423" y="438"/>
                  <a:pt x="420" y="444"/>
                </a:cubicBezTo>
                <a:cubicBezTo>
                  <a:pt x="417" y="451"/>
                  <a:pt x="414" y="457"/>
                  <a:pt x="409" y="462"/>
                </a:cubicBezTo>
                <a:cubicBezTo>
                  <a:pt x="404" y="467"/>
                  <a:pt x="398" y="470"/>
                  <a:pt x="391" y="473"/>
                </a:cubicBezTo>
                <a:cubicBezTo>
                  <a:pt x="385" y="476"/>
                  <a:pt x="378" y="477"/>
                  <a:pt x="371" y="477"/>
                </a:cubicBezTo>
                <a:lnTo>
                  <a:pt x="53" y="477"/>
                </a:lnTo>
                <a:cubicBezTo>
                  <a:pt x="46" y="477"/>
                  <a:pt x="39" y="476"/>
                  <a:pt x="32" y="473"/>
                </a:cubicBezTo>
                <a:cubicBezTo>
                  <a:pt x="26" y="470"/>
                  <a:pt x="20" y="467"/>
                  <a:pt x="15" y="462"/>
                </a:cubicBezTo>
                <a:cubicBezTo>
                  <a:pt x="10" y="457"/>
                  <a:pt x="7" y="451"/>
                  <a:pt x="4" y="444"/>
                </a:cubicBezTo>
                <a:cubicBezTo>
                  <a:pt x="1" y="438"/>
                  <a:pt x="0" y="431"/>
                  <a:pt x="0" y="424"/>
                </a:cubicBezTo>
                <a:lnTo>
                  <a:pt x="0" y="53"/>
                </a:ln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0" y="20"/>
                  <a:pt x="15" y="15"/>
                </a:cubicBezTo>
                <a:cubicBezTo>
                  <a:pt x="20" y="10"/>
                  <a:pt x="26" y="7"/>
                  <a:pt x="32" y="4"/>
                </a:cubicBezTo>
                <a:cubicBezTo>
                  <a:pt x="39" y="1"/>
                  <a:pt x="46" y="0"/>
                  <a:pt x="53" y="0"/>
                </a:cubicBezTo>
                <a:lnTo>
                  <a:pt x="107" y="0"/>
                </a:lnTo>
                <a:moveTo>
                  <a:pt x="212" y="185"/>
                </a:moveTo>
                <a:lnTo>
                  <a:pt x="318" y="185"/>
                </a:lnTo>
                <a:moveTo>
                  <a:pt x="212" y="318"/>
                </a:moveTo>
                <a:lnTo>
                  <a:pt x="318" y="318"/>
                </a:lnTo>
                <a:moveTo>
                  <a:pt x="107" y="185"/>
                </a:moveTo>
                <a:moveTo>
                  <a:pt x="107" y="318"/>
                </a:moveTo>
              </a:path>
            </a:pathLst>
          </a:custGeom>
          <a:ln cap="rnd" w="18720">
            <a:solidFill>
              <a:srgbClr val="16c4c2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923760" y="4280760"/>
            <a:ext cx="1980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challenges in practice.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6148080" y="2309760"/>
            <a:ext cx="5277240" cy="2362320"/>
          </a:xfrm>
          <a:custGeom>
            <a:avLst/>
            <a:gdLst/>
            <a:ahLst/>
            <a:rect l="0" t="0" r="r" b="b"/>
            <a:pathLst>
              <a:path w="14659" h="6562">
                <a:moveTo>
                  <a:pt x="0" y="641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6417"/>
                </a:lnTo>
                <a:cubicBezTo>
                  <a:pt x="14659" y="6426"/>
                  <a:pt x="14658" y="6436"/>
                  <a:pt x="14656" y="6445"/>
                </a:cubicBezTo>
                <a:cubicBezTo>
                  <a:pt x="14655" y="6455"/>
                  <a:pt x="14652" y="6464"/>
                  <a:pt x="14648" y="6472"/>
                </a:cubicBezTo>
                <a:cubicBezTo>
                  <a:pt x="14645" y="6481"/>
                  <a:pt x="14640" y="6490"/>
                  <a:pt x="14635" y="6498"/>
                </a:cubicBezTo>
                <a:cubicBezTo>
                  <a:pt x="14629" y="6506"/>
                  <a:pt x="14623" y="6513"/>
                  <a:pt x="14617" y="6520"/>
                </a:cubicBezTo>
                <a:cubicBezTo>
                  <a:pt x="14610" y="6526"/>
                  <a:pt x="14603" y="6532"/>
                  <a:pt x="14595" y="6538"/>
                </a:cubicBezTo>
                <a:cubicBezTo>
                  <a:pt x="14587" y="6543"/>
                  <a:pt x="14578" y="6548"/>
                  <a:pt x="14569" y="6551"/>
                </a:cubicBezTo>
                <a:cubicBezTo>
                  <a:pt x="14561" y="6555"/>
                  <a:pt x="14552" y="6558"/>
                  <a:pt x="14542" y="6560"/>
                </a:cubicBezTo>
                <a:cubicBezTo>
                  <a:pt x="14533" y="6561"/>
                  <a:pt x="14523" y="6562"/>
                  <a:pt x="14514" y="6562"/>
                </a:cubicBezTo>
                <a:lnTo>
                  <a:pt x="146" y="6562"/>
                </a:lnTo>
                <a:cubicBezTo>
                  <a:pt x="136" y="6562"/>
                  <a:pt x="127" y="6561"/>
                  <a:pt x="117" y="6560"/>
                </a:cubicBezTo>
                <a:cubicBezTo>
                  <a:pt x="108" y="6558"/>
                  <a:pt x="99" y="6555"/>
                  <a:pt x="90" y="6551"/>
                </a:cubicBezTo>
                <a:cubicBezTo>
                  <a:pt x="81" y="6548"/>
                  <a:pt x="73" y="6543"/>
                  <a:pt x="65" y="6538"/>
                </a:cubicBezTo>
                <a:cubicBezTo>
                  <a:pt x="57" y="6532"/>
                  <a:pt x="50" y="6526"/>
                  <a:pt x="43" y="6520"/>
                </a:cubicBezTo>
                <a:cubicBezTo>
                  <a:pt x="36" y="6513"/>
                  <a:pt x="30" y="6506"/>
                  <a:pt x="25" y="6498"/>
                </a:cubicBezTo>
                <a:cubicBezTo>
                  <a:pt x="20" y="6490"/>
                  <a:pt x="15" y="6481"/>
                  <a:pt x="11" y="6472"/>
                </a:cubicBezTo>
                <a:cubicBezTo>
                  <a:pt x="8" y="6464"/>
                  <a:pt x="5" y="6455"/>
                  <a:pt x="3" y="6445"/>
                </a:cubicBezTo>
                <a:cubicBezTo>
                  <a:pt x="1" y="6436"/>
                  <a:pt x="0" y="6426"/>
                  <a:pt x="0" y="6417"/>
                </a:cubicBezTo>
                <a:close/>
              </a:path>
            </a:pathLst>
          </a:custGeom>
          <a:solidFill>
            <a:srgbClr val="e8fc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6148080" y="2309760"/>
            <a:ext cx="5277240" cy="2362320"/>
          </a:xfrm>
          <a:custGeom>
            <a:avLst/>
            <a:gdLst/>
            <a:ahLst/>
            <a:rect l="0" t="0" r="r" b="b"/>
            <a:pathLst>
              <a:path fill="none" w="14659" h="6562">
                <a:moveTo>
                  <a:pt x="0" y="641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6417"/>
                </a:lnTo>
                <a:cubicBezTo>
                  <a:pt x="14659" y="6426"/>
                  <a:pt x="14658" y="6436"/>
                  <a:pt x="14656" y="6445"/>
                </a:cubicBezTo>
                <a:cubicBezTo>
                  <a:pt x="14655" y="6455"/>
                  <a:pt x="14652" y="6464"/>
                  <a:pt x="14648" y="6472"/>
                </a:cubicBezTo>
                <a:cubicBezTo>
                  <a:pt x="14645" y="6481"/>
                  <a:pt x="14640" y="6490"/>
                  <a:pt x="14635" y="6498"/>
                </a:cubicBezTo>
                <a:cubicBezTo>
                  <a:pt x="14629" y="6506"/>
                  <a:pt x="14623" y="6513"/>
                  <a:pt x="14617" y="6520"/>
                </a:cubicBezTo>
                <a:cubicBezTo>
                  <a:pt x="14610" y="6526"/>
                  <a:pt x="14603" y="6532"/>
                  <a:pt x="14595" y="6538"/>
                </a:cubicBezTo>
                <a:cubicBezTo>
                  <a:pt x="14587" y="6543"/>
                  <a:pt x="14578" y="6548"/>
                  <a:pt x="14569" y="6551"/>
                </a:cubicBezTo>
                <a:cubicBezTo>
                  <a:pt x="14561" y="6555"/>
                  <a:pt x="14552" y="6558"/>
                  <a:pt x="14542" y="6560"/>
                </a:cubicBezTo>
                <a:cubicBezTo>
                  <a:pt x="14533" y="6561"/>
                  <a:pt x="14523" y="6562"/>
                  <a:pt x="14514" y="6562"/>
                </a:cubicBezTo>
                <a:lnTo>
                  <a:pt x="146" y="6562"/>
                </a:lnTo>
                <a:cubicBezTo>
                  <a:pt x="136" y="6562"/>
                  <a:pt x="127" y="6561"/>
                  <a:pt x="117" y="6560"/>
                </a:cubicBezTo>
                <a:cubicBezTo>
                  <a:pt x="108" y="6558"/>
                  <a:pt x="99" y="6555"/>
                  <a:pt x="90" y="6551"/>
                </a:cubicBezTo>
                <a:cubicBezTo>
                  <a:pt x="81" y="6548"/>
                  <a:pt x="73" y="6543"/>
                  <a:pt x="65" y="6538"/>
                </a:cubicBezTo>
                <a:cubicBezTo>
                  <a:pt x="57" y="6532"/>
                  <a:pt x="50" y="6526"/>
                  <a:pt x="43" y="6520"/>
                </a:cubicBezTo>
                <a:cubicBezTo>
                  <a:pt x="36" y="6513"/>
                  <a:pt x="30" y="6506"/>
                  <a:pt x="25" y="6498"/>
                </a:cubicBezTo>
                <a:cubicBezTo>
                  <a:pt x="20" y="6490"/>
                  <a:pt x="15" y="6481"/>
                  <a:pt x="11" y="6472"/>
                </a:cubicBezTo>
                <a:cubicBezTo>
                  <a:pt x="8" y="6464"/>
                  <a:pt x="5" y="6455"/>
                  <a:pt x="3" y="6445"/>
                </a:cubicBezTo>
                <a:cubicBezTo>
                  <a:pt x="1" y="6436"/>
                  <a:pt x="0" y="6426"/>
                  <a:pt x="0" y="6417"/>
                </a:cubicBezTo>
              </a:path>
            </a:pathLst>
          </a:custGeom>
          <a:ln w="9360">
            <a:solidFill>
              <a:srgbClr val="baf7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1203120" y="2512440"/>
            <a:ext cx="2103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6c4c2"/>
                </a:solidFill>
                <a:effectLst/>
                <a:uFillTx/>
                <a:latin typeface="LucidaGrande"/>
                <a:ea typeface="LucidaGrande"/>
              </a:rPr>
              <a:t>Monolithic design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6305400" y="2909160"/>
            <a:ext cx="4596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Distributed design optimization, on the other hand,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6305400" y="3185640"/>
            <a:ext cx="3912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decomposes the global design problem into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6305400" y="3461760"/>
            <a:ext cx="4571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subproblems, each associated with a component or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6305400" y="3737880"/>
            <a:ext cx="4988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subsystem. Coordination is then required to ensure that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6305400" y="4014000"/>
            <a:ext cx="4906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subproblem solutions are compatible and converge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6381720" y="2523960"/>
            <a:ext cx="76320" cy="38520"/>
          </a:xfrm>
          <a:custGeom>
            <a:avLst/>
            <a:gdLst/>
            <a:ahLst/>
            <a:rect l="0" t="0" r="r" b="b"/>
            <a:pathLst>
              <a:path fill="none" w="212" h="107">
                <a:moveTo>
                  <a:pt x="26" y="0"/>
                </a:moveTo>
                <a:lnTo>
                  <a:pt x="186" y="0"/>
                </a:lnTo>
                <a:cubicBezTo>
                  <a:pt x="193" y="0"/>
                  <a:pt x="199" y="3"/>
                  <a:pt x="204" y="8"/>
                </a:cubicBezTo>
                <a:cubicBezTo>
                  <a:pt x="210" y="13"/>
                  <a:pt x="212" y="19"/>
                  <a:pt x="212" y="26"/>
                </a:cubicBezTo>
                <a:lnTo>
                  <a:pt x="212" y="80"/>
                </a:lnTo>
                <a:cubicBezTo>
                  <a:pt x="212" y="88"/>
                  <a:pt x="210" y="94"/>
                  <a:pt x="204" y="99"/>
                </a:cubicBezTo>
                <a:cubicBezTo>
                  <a:pt x="199" y="104"/>
                  <a:pt x="193" y="107"/>
                  <a:pt x="186" y="107"/>
                </a:cubicBezTo>
                <a:lnTo>
                  <a:pt x="26" y="107"/>
                </a:lnTo>
                <a:cubicBezTo>
                  <a:pt x="19" y="107"/>
                  <a:pt x="12" y="104"/>
                  <a:pt x="7" y="99"/>
                </a:cubicBezTo>
                <a:cubicBezTo>
                  <a:pt x="2" y="94"/>
                  <a:pt x="0" y="88"/>
                  <a:pt x="0" y="80"/>
                </a:cubicBezTo>
                <a:lnTo>
                  <a:pt x="0" y="26"/>
                </a:lnTo>
                <a:cubicBezTo>
                  <a:pt x="0" y="19"/>
                  <a:pt x="2" y="13"/>
                  <a:pt x="7" y="8"/>
                </a:cubicBezTo>
                <a:cubicBezTo>
                  <a:pt x="12" y="3"/>
                  <a:pt x="19" y="0"/>
                  <a:pt x="26" y="0"/>
                </a:cubicBezTo>
              </a:path>
            </a:pathLst>
          </a:custGeom>
          <a:ln cap="rnd" w="18720">
            <a:solidFill>
              <a:srgbClr val="16c4c2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6343560" y="2543040"/>
            <a:ext cx="152640" cy="171720"/>
          </a:xfrm>
          <a:custGeom>
            <a:avLst/>
            <a:gdLst/>
            <a:ahLst/>
            <a:rect l="0" t="0" r="r" b="b"/>
            <a:pathLst>
              <a:path fill="none" w="424" h="477">
                <a:moveTo>
                  <a:pt x="317" y="0"/>
                </a:moveTo>
                <a:lnTo>
                  <a:pt x="371" y="0"/>
                </a:lnTo>
                <a:cubicBezTo>
                  <a:pt x="378" y="0"/>
                  <a:pt x="385" y="1"/>
                  <a:pt x="391" y="4"/>
                </a:cubicBezTo>
                <a:cubicBezTo>
                  <a:pt x="398" y="7"/>
                  <a:pt x="404" y="10"/>
                  <a:pt x="409" y="15"/>
                </a:cubicBezTo>
                <a:cubicBezTo>
                  <a:pt x="414" y="20"/>
                  <a:pt x="417" y="26"/>
                  <a:pt x="420" y="33"/>
                </a:cubicBezTo>
                <a:cubicBezTo>
                  <a:pt x="423" y="39"/>
                  <a:pt x="424" y="46"/>
                  <a:pt x="424" y="53"/>
                </a:cubicBezTo>
                <a:lnTo>
                  <a:pt x="424" y="424"/>
                </a:lnTo>
                <a:cubicBezTo>
                  <a:pt x="424" y="431"/>
                  <a:pt x="423" y="438"/>
                  <a:pt x="420" y="444"/>
                </a:cubicBezTo>
                <a:cubicBezTo>
                  <a:pt x="417" y="451"/>
                  <a:pt x="414" y="457"/>
                  <a:pt x="409" y="462"/>
                </a:cubicBezTo>
                <a:cubicBezTo>
                  <a:pt x="404" y="467"/>
                  <a:pt x="398" y="470"/>
                  <a:pt x="391" y="473"/>
                </a:cubicBezTo>
                <a:cubicBezTo>
                  <a:pt x="385" y="476"/>
                  <a:pt x="378" y="477"/>
                  <a:pt x="371" y="477"/>
                </a:cubicBezTo>
                <a:lnTo>
                  <a:pt x="53" y="477"/>
                </a:lnTo>
                <a:cubicBezTo>
                  <a:pt x="46" y="477"/>
                  <a:pt x="39" y="476"/>
                  <a:pt x="32" y="473"/>
                </a:cubicBezTo>
                <a:cubicBezTo>
                  <a:pt x="26" y="470"/>
                  <a:pt x="20" y="467"/>
                  <a:pt x="15" y="462"/>
                </a:cubicBezTo>
                <a:cubicBezTo>
                  <a:pt x="10" y="457"/>
                  <a:pt x="6" y="451"/>
                  <a:pt x="4" y="444"/>
                </a:cubicBezTo>
                <a:cubicBezTo>
                  <a:pt x="1" y="438"/>
                  <a:pt x="0" y="431"/>
                  <a:pt x="0" y="424"/>
                </a:cubicBezTo>
                <a:lnTo>
                  <a:pt x="0" y="53"/>
                </a:lnTo>
                <a:cubicBezTo>
                  <a:pt x="0" y="46"/>
                  <a:pt x="1" y="39"/>
                  <a:pt x="4" y="33"/>
                </a:cubicBezTo>
                <a:cubicBezTo>
                  <a:pt x="6" y="26"/>
                  <a:pt x="10" y="20"/>
                  <a:pt x="15" y="15"/>
                </a:cubicBezTo>
                <a:cubicBezTo>
                  <a:pt x="20" y="10"/>
                  <a:pt x="26" y="7"/>
                  <a:pt x="32" y="4"/>
                </a:cubicBezTo>
                <a:cubicBezTo>
                  <a:pt x="39" y="1"/>
                  <a:pt x="46" y="0"/>
                  <a:pt x="53" y="0"/>
                </a:cubicBezTo>
                <a:lnTo>
                  <a:pt x="106" y="0"/>
                </a:lnTo>
                <a:moveTo>
                  <a:pt x="211" y="185"/>
                </a:moveTo>
                <a:lnTo>
                  <a:pt x="317" y="185"/>
                </a:lnTo>
                <a:moveTo>
                  <a:pt x="211" y="318"/>
                </a:moveTo>
                <a:lnTo>
                  <a:pt x="317" y="318"/>
                </a:lnTo>
                <a:moveTo>
                  <a:pt x="106" y="185"/>
                </a:moveTo>
                <a:moveTo>
                  <a:pt x="106" y="318"/>
                </a:moveTo>
              </a:path>
            </a:pathLst>
          </a:custGeom>
          <a:ln cap="rnd" w="18720">
            <a:solidFill>
              <a:srgbClr val="16c4c2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6305400" y="4280760"/>
            <a:ext cx="2450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 a system-level optimum.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6584760" y="2512440"/>
            <a:ext cx="2201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6c4c2"/>
                </a:solidFill>
                <a:effectLst/>
                <a:uFillTx/>
                <a:latin typeface="LucidaGrande"/>
                <a:ea typeface="LucidaGrande"/>
              </a:rPr>
              <a:t>Distributed design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9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0" name=""/>
          <p:cNvSpPr/>
          <p:nvPr/>
        </p:nvSpPr>
        <p:spPr>
          <a:xfrm>
            <a:off x="761760" y="1380960"/>
            <a:ext cx="10668240" cy="5477040"/>
          </a:xfrm>
          <a:custGeom>
            <a:avLst/>
            <a:gdLst/>
            <a:ahLst/>
            <a:rect l="0" t="0" r="r" b="b"/>
            <a:pathLst>
              <a:path w="29634" h="15214">
                <a:moveTo>
                  <a:pt x="0" y="0"/>
                </a:moveTo>
                <a:lnTo>
                  <a:pt x="29634" y="0"/>
                </a:lnTo>
                <a:lnTo>
                  <a:pt x="29634" y="15214"/>
                </a:lnTo>
                <a:lnTo>
                  <a:pt x="0" y="152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01" name="" descr=""/>
          <p:cNvPicPr/>
          <p:nvPr/>
        </p:nvPicPr>
        <p:blipFill>
          <a:blip r:embed="rId2"/>
          <a:stretch/>
        </p:blipFill>
        <p:spPr>
          <a:xfrm>
            <a:off x="5753160" y="468612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762120" y="372600"/>
            <a:ext cx="2840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Question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1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1" name=""/>
          <p:cNvSpPr txBox="1"/>
          <p:nvPr/>
        </p:nvSpPr>
        <p:spPr>
          <a:xfrm>
            <a:off x="762120" y="2556360"/>
            <a:ext cx="9788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Systemic design integrates systems thinking with design thinking. It shifts from linear workﬂows to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762120" y="2860920"/>
            <a:ext cx="3431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iterative, participatory approaches.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971280" y="38671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762120" y="3318120"/>
            <a:ext cx="2868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For AI engineers, this means: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971280" y="42195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8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1168200" y="3775320"/>
            <a:ext cx="4734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Designing not just algorithms, but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ecosystems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971280" y="45813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1168200" y="4127760"/>
            <a:ext cx="8728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Moving beyond optimisation for accuracy towards resilience, fairness, and sustainability.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1168200" y="4489920"/>
            <a:ext cx="9993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Using participatory design to include diverse stakeholders, ensuring systems reﬂect real-world needs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1168200" y="4794480"/>
            <a:ext cx="1111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values.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762120" y="372600"/>
            <a:ext cx="73695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Systemic Design and AI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0" name=""/>
          <p:cNvSpPr txBox="1"/>
          <p:nvPr/>
        </p:nvSpPr>
        <p:spPr>
          <a:xfrm>
            <a:off x="762120" y="2099160"/>
            <a:ext cx="10616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 engineering, decomposing large systems into sub-components is a common strategy. Distributed design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762120" y="2403720"/>
            <a:ext cx="9633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optimisation methods demonstrate how monolithic systems can be decomposed into manageable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762120" y="2708640"/>
            <a:ext cx="7313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subproblems, coordinated through meta-models and surrogate functions.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971280" y="3714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762120" y="3165840"/>
            <a:ext cx="643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For AI: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1168200" y="3623040"/>
            <a:ext cx="958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Training pipelines can be seen as multi-component systems (data preprocessing, model training,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971280" y="43718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1168200" y="3927960"/>
            <a:ext cx="2329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inference, deployment).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1168200" y="4280400"/>
            <a:ext cx="9821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Distributed optimisation mirrors federated learning, where subsystems (clients) optimise locally but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971280" y="50385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1168200" y="4584960"/>
            <a:ext cx="4397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must contribute to global system coherence.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1168200" y="4947120"/>
            <a:ext cx="9525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Challenges such as coordination overhead and physical feasibility echo AI engineering struggles: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1168200" y="5251680"/>
            <a:ext cx="8116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ensuring that independent model updates remain consistent, feasible, and ethical.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762120" y="-8280"/>
            <a:ext cx="92246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Distributed and Optimised AI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762120" y="753480"/>
            <a:ext cx="25891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5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3" name=""/>
          <p:cNvSpPr/>
          <p:nvPr/>
        </p:nvSpPr>
        <p:spPr>
          <a:xfrm>
            <a:off x="971280" y="27525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1168200" y="2661120"/>
            <a:ext cx="9803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AI-speciﬁc tooling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show how systems thinking integrates with day-to-day engineering workﬂows.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971280" y="3409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1168200" y="2965680"/>
            <a:ext cx="8340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(e.g., system dynamics simulators, monitoring dashboards, datasheets/model cards)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971280" y="3771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1168200" y="3318120"/>
            <a:ext cx="6868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Giga-mapping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Large-scale visualisation of system interconnections.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971280" y="41241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1168200" y="3680280"/>
            <a:ext cx="6386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Causal Loop Diagrams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Identifying reinforcing/balancing loops.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1168200" y="4032720"/>
            <a:ext cx="9431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Informed Decomposition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Breaking down optimisation tasks into smaller subproblems without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971280" y="47815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6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6"/>
                  <a:pt x="0" y="104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1168200" y="4337280"/>
            <a:ext cx="2310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excessive coordination.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1168200" y="4689720"/>
            <a:ext cx="741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Stakeholder Analysis Matrices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Mapping inﬂuence and interests of actors.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762120" y="372600"/>
            <a:ext cx="60033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Tools and Methods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7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4" name=""/>
          <p:cNvSpPr txBox="1"/>
          <p:nvPr/>
        </p:nvSpPr>
        <p:spPr>
          <a:xfrm>
            <a:off x="6858000" y="3649680"/>
            <a:ext cx="38487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Is it about keep things cool?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733428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6858000" y="372600"/>
            <a:ext cx="34513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Case Study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733428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8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4" name=""/>
          <p:cNvSpPr txBox="1"/>
          <p:nvPr/>
        </p:nvSpPr>
        <p:spPr>
          <a:xfrm>
            <a:off x="762120" y="1783080"/>
            <a:ext cx="268344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Bullet Proof Fridges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762120" y="5537520"/>
            <a:ext cx="8636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built with heavy steel, thick insulation, and very long lifespans (some lasted 40+ years).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766440" y="2385720"/>
            <a:ext cx="3486600" cy="3000960"/>
          </a:xfrm>
          <a:custGeom>
            <a:avLst/>
            <a:gdLst/>
            <a:ahLst/>
            <a:rect l="0" t="0" r="r" b="b"/>
            <a:pathLst>
              <a:path w="9685" h="8336">
                <a:moveTo>
                  <a:pt x="0" y="819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8"/>
                  <a:pt x="9595" y="11"/>
                </a:cubicBezTo>
                <a:cubicBezTo>
                  <a:pt x="9604" y="15"/>
                  <a:pt x="9613" y="20"/>
                  <a:pt x="9620" y="25"/>
                </a:cubicBezTo>
                <a:cubicBezTo>
                  <a:pt x="9628" y="30"/>
                  <a:pt x="9636" y="36"/>
                  <a:pt x="9643" y="43"/>
                </a:cubicBezTo>
                <a:cubicBezTo>
                  <a:pt x="9649" y="50"/>
                  <a:pt x="9655" y="57"/>
                  <a:pt x="9661" y="65"/>
                </a:cubicBezTo>
                <a:cubicBezTo>
                  <a:pt x="9666" y="73"/>
                  <a:pt x="9670" y="81"/>
                  <a:pt x="9674" y="90"/>
                </a:cubicBezTo>
                <a:cubicBezTo>
                  <a:pt x="9678" y="99"/>
                  <a:pt x="9680" y="108"/>
                  <a:pt x="9682" y="117"/>
                </a:cubicBezTo>
                <a:cubicBezTo>
                  <a:pt x="9684" y="127"/>
                  <a:pt x="9685" y="136"/>
                  <a:pt x="9685" y="146"/>
                </a:cubicBezTo>
                <a:lnTo>
                  <a:pt x="9685" y="8190"/>
                </a:lnTo>
                <a:cubicBezTo>
                  <a:pt x="9685" y="8200"/>
                  <a:pt x="9684" y="8209"/>
                  <a:pt x="9682" y="8219"/>
                </a:cubicBezTo>
                <a:cubicBezTo>
                  <a:pt x="9680" y="8228"/>
                  <a:pt x="9678" y="8237"/>
                  <a:pt x="9674" y="8246"/>
                </a:cubicBezTo>
                <a:cubicBezTo>
                  <a:pt x="9670" y="8255"/>
                  <a:pt x="9666" y="8263"/>
                  <a:pt x="9661" y="8271"/>
                </a:cubicBezTo>
                <a:cubicBezTo>
                  <a:pt x="9655" y="8279"/>
                  <a:pt x="9649" y="8286"/>
                  <a:pt x="9643" y="8293"/>
                </a:cubicBezTo>
                <a:cubicBezTo>
                  <a:pt x="9636" y="8300"/>
                  <a:pt x="9628" y="8306"/>
                  <a:pt x="9620" y="8311"/>
                </a:cubicBezTo>
                <a:cubicBezTo>
                  <a:pt x="9613" y="8316"/>
                  <a:pt x="9604" y="8321"/>
                  <a:pt x="9595" y="8325"/>
                </a:cubicBezTo>
                <a:cubicBezTo>
                  <a:pt x="9586" y="8328"/>
                  <a:pt x="9577" y="8331"/>
                  <a:pt x="9568" y="8333"/>
                </a:cubicBezTo>
                <a:cubicBezTo>
                  <a:pt x="9559" y="8335"/>
                  <a:pt x="9549" y="8336"/>
                  <a:pt x="9540" y="8336"/>
                </a:cubicBezTo>
                <a:lnTo>
                  <a:pt x="146" y="8336"/>
                </a:lnTo>
                <a:cubicBezTo>
                  <a:pt x="136" y="8336"/>
                  <a:pt x="127" y="8335"/>
                  <a:pt x="118" y="8333"/>
                </a:cubicBezTo>
                <a:cubicBezTo>
                  <a:pt x="108" y="8331"/>
                  <a:pt x="99" y="8328"/>
                  <a:pt x="90" y="8325"/>
                </a:cubicBezTo>
                <a:cubicBezTo>
                  <a:pt x="81" y="8321"/>
                  <a:pt x="73" y="8316"/>
                  <a:pt x="65" y="8311"/>
                </a:cubicBezTo>
                <a:cubicBezTo>
                  <a:pt x="57" y="8306"/>
                  <a:pt x="50" y="8300"/>
                  <a:pt x="43" y="8293"/>
                </a:cubicBezTo>
                <a:cubicBezTo>
                  <a:pt x="36" y="8286"/>
                  <a:pt x="30" y="8279"/>
                  <a:pt x="25" y="8271"/>
                </a:cubicBezTo>
                <a:cubicBezTo>
                  <a:pt x="20" y="8263"/>
                  <a:pt x="15" y="8255"/>
                  <a:pt x="11" y="8246"/>
                </a:cubicBezTo>
                <a:cubicBezTo>
                  <a:pt x="8" y="8237"/>
                  <a:pt x="5" y="8228"/>
                  <a:pt x="3" y="8219"/>
                </a:cubicBezTo>
                <a:cubicBezTo>
                  <a:pt x="1" y="8209"/>
                  <a:pt x="0" y="8200"/>
                  <a:pt x="0" y="819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766440" y="2385720"/>
            <a:ext cx="3486600" cy="3000960"/>
          </a:xfrm>
          <a:custGeom>
            <a:avLst/>
            <a:gdLst/>
            <a:ahLst/>
            <a:rect l="0" t="0" r="r" b="b"/>
            <a:pathLst>
              <a:path fill="none" w="9685" h="8336">
                <a:moveTo>
                  <a:pt x="0" y="819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8"/>
                  <a:pt x="9595" y="11"/>
                </a:cubicBezTo>
                <a:cubicBezTo>
                  <a:pt x="9604" y="15"/>
                  <a:pt x="9613" y="20"/>
                  <a:pt x="9620" y="25"/>
                </a:cubicBezTo>
                <a:cubicBezTo>
                  <a:pt x="9628" y="30"/>
                  <a:pt x="9636" y="36"/>
                  <a:pt x="9643" y="43"/>
                </a:cubicBezTo>
                <a:cubicBezTo>
                  <a:pt x="9649" y="50"/>
                  <a:pt x="9655" y="57"/>
                  <a:pt x="9661" y="65"/>
                </a:cubicBezTo>
                <a:cubicBezTo>
                  <a:pt x="9666" y="73"/>
                  <a:pt x="9670" y="81"/>
                  <a:pt x="9674" y="90"/>
                </a:cubicBezTo>
                <a:cubicBezTo>
                  <a:pt x="9678" y="99"/>
                  <a:pt x="9680" y="108"/>
                  <a:pt x="9682" y="117"/>
                </a:cubicBezTo>
                <a:cubicBezTo>
                  <a:pt x="9684" y="127"/>
                  <a:pt x="9685" y="136"/>
                  <a:pt x="9685" y="146"/>
                </a:cubicBezTo>
                <a:lnTo>
                  <a:pt x="9685" y="8190"/>
                </a:lnTo>
                <a:cubicBezTo>
                  <a:pt x="9685" y="8200"/>
                  <a:pt x="9684" y="8209"/>
                  <a:pt x="9682" y="8219"/>
                </a:cubicBezTo>
                <a:cubicBezTo>
                  <a:pt x="9680" y="8228"/>
                  <a:pt x="9678" y="8237"/>
                  <a:pt x="9674" y="8246"/>
                </a:cubicBezTo>
                <a:cubicBezTo>
                  <a:pt x="9670" y="8255"/>
                  <a:pt x="9666" y="8263"/>
                  <a:pt x="9661" y="8271"/>
                </a:cubicBezTo>
                <a:cubicBezTo>
                  <a:pt x="9655" y="8279"/>
                  <a:pt x="9649" y="8286"/>
                  <a:pt x="9643" y="8293"/>
                </a:cubicBezTo>
                <a:cubicBezTo>
                  <a:pt x="9636" y="8300"/>
                  <a:pt x="9628" y="8306"/>
                  <a:pt x="9620" y="8311"/>
                </a:cubicBezTo>
                <a:cubicBezTo>
                  <a:pt x="9613" y="8316"/>
                  <a:pt x="9604" y="8321"/>
                  <a:pt x="9595" y="8325"/>
                </a:cubicBezTo>
                <a:cubicBezTo>
                  <a:pt x="9586" y="8328"/>
                  <a:pt x="9577" y="8331"/>
                  <a:pt x="9568" y="8333"/>
                </a:cubicBezTo>
                <a:cubicBezTo>
                  <a:pt x="9559" y="8335"/>
                  <a:pt x="9549" y="8336"/>
                  <a:pt x="9540" y="8336"/>
                </a:cubicBezTo>
                <a:lnTo>
                  <a:pt x="146" y="8336"/>
                </a:lnTo>
                <a:cubicBezTo>
                  <a:pt x="136" y="8336"/>
                  <a:pt x="127" y="8335"/>
                  <a:pt x="118" y="8333"/>
                </a:cubicBezTo>
                <a:cubicBezTo>
                  <a:pt x="108" y="8331"/>
                  <a:pt x="99" y="8328"/>
                  <a:pt x="90" y="8325"/>
                </a:cubicBezTo>
                <a:cubicBezTo>
                  <a:pt x="81" y="8321"/>
                  <a:pt x="73" y="8316"/>
                  <a:pt x="65" y="8311"/>
                </a:cubicBezTo>
                <a:cubicBezTo>
                  <a:pt x="57" y="8306"/>
                  <a:pt x="50" y="8300"/>
                  <a:pt x="43" y="8293"/>
                </a:cubicBezTo>
                <a:cubicBezTo>
                  <a:pt x="36" y="8286"/>
                  <a:pt x="30" y="8279"/>
                  <a:pt x="25" y="8271"/>
                </a:cubicBezTo>
                <a:cubicBezTo>
                  <a:pt x="20" y="8263"/>
                  <a:pt x="15" y="8255"/>
                  <a:pt x="11" y="8246"/>
                </a:cubicBezTo>
                <a:cubicBezTo>
                  <a:pt x="8" y="8237"/>
                  <a:pt x="5" y="8228"/>
                  <a:pt x="3" y="8219"/>
                </a:cubicBezTo>
                <a:cubicBezTo>
                  <a:pt x="1" y="8209"/>
                  <a:pt x="0" y="8200"/>
                  <a:pt x="0" y="819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1104840" y="307656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1289520" y="2985480"/>
            <a:ext cx="2749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First household electric fridges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1289520" y="3261600"/>
            <a:ext cx="2804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became commercially available,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1104840" y="39528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7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1289520" y="3538080"/>
            <a:ext cx="1719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replacing iceboxes.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1289520" y="3861720"/>
            <a:ext cx="2588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Introduced sealed refrigerant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1289520" y="4128480"/>
            <a:ext cx="2607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(using toxic gases at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1104840" y="48193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1289520" y="4404600"/>
            <a:ext cx="1962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ﬁrst, later safer ones).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1289520" y="4728600"/>
            <a:ext cx="2156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Improved food safety by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942840" y="260028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4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3"/>
                  <a:pt x="517" y="349"/>
                  <a:pt x="510" y="365"/>
                </a:cubicBezTo>
                <a:cubicBezTo>
                  <a:pt x="503" y="382"/>
                  <a:pt x="495" y="397"/>
                  <a:pt x="485" y="411"/>
                </a:cubicBezTo>
                <a:cubicBezTo>
                  <a:pt x="476" y="426"/>
                  <a:pt x="465" y="439"/>
                  <a:pt x="453" y="452"/>
                </a:cubicBezTo>
                <a:cubicBezTo>
                  <a:pt x="440" y="465"/>
                  <a:pt x="427" y="476"/>
                  <a:pt x="412" y="485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6"/>
                  <a:pt x="334" y="521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1"/>
                  <a:pt x="179" y="516"/>
                  <a:pt x="163" y="510"/>
                </a:cubicBezTo>
                <a:cubicBezTo>
                  <a:pt x="147" y="503"/>
                  <a:pt x="132" y="495"/>
                  <a:pt x="117" y="485"/>
                </a:cubicBezTo>
                <a:cubicBezTo>
                  <a:pt x="103" y="476"/>
                  <a:pt x="90" y="465"/>
                  <a:pt x="77" y="452"/>
                </a:cubicBezTo>
                <a:cubicBezTo>
                  <a:pt x="65" y="439"/>
                  <a:pt x="54" y="426"/>
                  <a:pt x="44" y="411"/>
                </a:cubicBezTo>
                <a:cubicBezTo>
                  <a:pt x="35" y="397"/>
                  <a:pt x="27" y="382"/>
                  <a:pt x="20" y="365"/>
                </a:cubicBezTo>
                <a:cubicBezTo>
                  <a:pt x="13" y="349"/>
                  <a:pt x="8" y="333"/>
                  <a:pt x="5" y="316"/>
                </a:cubicBezTo>
                <a:cubicBezTo>
                  <a:pt x="2" y="299"/>
                  <a:pt x="0" y="282"/>
                  <a:pt x="0" y="264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7"/>
                </a:cubicBezTo>
                <a:cubicBezTo>
                  <a:pt x="54" y="103"/>
                  <a:pt x="65" y="89"/>
                  <a:pt x="77" y="77"/>
                </a:cubicBezTo>
                <a:cubicBezTo>
                  <a:pt x="90" y="65"/>
                  <a:pt x="103" y="54"/>
                  <a:pt x="117" y="44"/>
                </a:cubicBezTo>
                <a:cubicBezTo>
                  <a:pt x="132" y="35"/>
                  <a:pt x="147" y="26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4" y="0"/>
                </a:cubicBezTo>
                <a:cubicBezTo>
                  <a:pt x="282" y="0"/>
                  <a:pt x="300" y="1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6"/>
                  <a:pt x="398" y="35"/>
                  <a:pt x="412" y="44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89"/>
                  <a:pt x="476" y="103"/>
                  <a:pt x="485" y="117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4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1037880" y="265716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1289520" y="5004720"/>
            <a:ext cx="1539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slowing spoilage.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4357440" y="2385720"/>
            <a:ext cx="3476880" cy="3000960"/>
          </a:xfrm>
          <a:custGeom>
            <a:avLst/>
            <a:gdLst/>
            <a:ahLst/>
            <a:rect l="0" t="0" r="r" b="b"/>
            <a:pathLst>
              <a:path w="9658" h="8336">
                <a:moveTo>
                  <a:pt x="0" y="819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8"/>
                  <a:pt x="9569" y="11"/>
                </a:cubicBezTo>
                <a:cubicBezTo>
                  <a:pt x="9577" y="15"/>
                  <a:pt x="9586" y="20"/>
                  <a:pt x="9594" y="25"/>
                </a:cubicBezTo>
                <a:cubicBezTo>
                  <a:pt x="9602" y="30"/>
                  <a:pt x="9609" y="36"/>
                  <a:pt x="9616" y="43"/>
                </a:cubicBezTo>
                <a:cubicBezTo>
                  <a:pt x="9623" y="50"/>
                  <a:pt x="9629" y="57"/>
                  <a:pt x="9634" y="65"/>
                </a:cubicBezTo>
                <a:cubicBezTo>
                  <a:pt x="9639" y="73"/>
                  <a:pt x="9644" y="81"/>
                  <a:pt x="9647" y="90"/>
                </a:cubicBezTo>
                <a:cubicBezTo>
                  <a:pt x="9651" y="99"/>
                  <a:pt x="9654" y="108"/>
                  <a:pt x="9656" y="117"/>
                </a:cubicBezTo>
                <a:cubicBezTo>
                  <a:pt x="9658" y="127"/>
                  <a:pt x="9658" y="136"/>
                  <a:pt x="9658" y="146"/>
                </a:cubicBezTo>
                <a:lnTo>
                  <a:pt x="9658" y="8190"/>
                </a:lnTo>
                <a:cubicBezTo>
                  <a:pt x="9658" y="8200"/>
                  <a:pt x="9658" y="8209"/>
                  <a:pt x="9656" y="8219"/>
                </a:cubicBezTo>
                <a:cubicBezTo>
                  <a:pt x="9654" y="8228"/>
                  <a:pt x="9651" y="8237"/>
                  <a:pt x="9647" y="8246"/>
                </a:cubicBezTo>
                <a:cubicBezTo>
                  <a:pt x="9644" y="8255"/>
                  <a:pt x="9639" y="8263"/>
                  <a:pt x="9634" y="8271"/>
                </a:cubicBezTo>
                <a:cubicBezTo>
                  <a:pt x="9629" y="8279"/>
                  <a:pt x="9623" y="8286"/>
                  <a:pt x="9616" y="8293"/>
                </a:cubicBezTo>
                <a:cubicBezTo>
                  <a:pt x="9609" y="8300"/>
                  <a:pt x="9602" y="8306"/>
                  <a:pt x="9594" y="8311"/>
                </a:cubicBezTo>
                <a:cubicBezTo>
                  <a:pt x="9586" y="8316"/>
                  <a:pt x="9577" y="8321"/>
                  <a:pt x="9569" y="8325"/>
                </a:cubicBezTo>
                <a:cubicBezTo>
                  <a:pt x="9560" y="8328"/>
                  <a:pt x="9551" y="8331"/>
                  <a:pt x="9541" y="8333"/>
                </a:cubicBezTo>
                <a:cubicBezTo>
                  <a:pt x="9532" y="8335"/>
                  <a:pt x="9523" y="8336"/>
                  <a:pt x="9513" y="8336"/>
                </a:cubicBezTo>
                <a:lnTo>
                  <a:pt x="146" y="8336"/>
                </a:lnTo>
                <a:cubicBezTo>
                  <a:pt x="136" y="8336"/>
                  <a:pt x="127" y="8335"/>
                  <a:pt x="117" y="8333"/>
                </a:cubicBezTo>
                <a:cubicBezTo>
                  <a:pt x="108" y="8331"/>
                  <a:pt x="99" y="8328"/>
                  <a:pt x="90" y="8325"/>
                </a:cubicBezTo>
                <a:cubicBezTo>
                  <a:pt x="81" y="8321"/>
                  <a:pt x="73" y="8316"/>
                  <a:pt x="65" y="8311"/>
                </a:cubicBezTo>
                <a:cubicBezTo>
                  <a:pt x="57" y="8306"/>
                  <a:pt x="50" y="8300"/>
                  <a:pt x="43" y="8293"/>
                </a:cubicBezTo>
                <a:cubicBezTo>
                  <a:pt x="36" y="8286"/>
                  <a:pt x="30" y="8279"/>
                  <a:pt x="25" y="8271"/>
                </a:cubicBezTo>
                <a:cubicBezTo>
                  <a:pt x="19" y="8263"/>
                  <a:pt x="15" y="8255"/>
                  <a:pt x="11" y="8246"/>
                </a:cubicBezTo>
                <a:cubicBezTo>
                  <a:pt x="8" y="8237"/>
                  <a:pt x="5" y="8228"/>
                  <a:pt x="3" y="8219"/>
                </a:cubicBezTo>
                <a:cubicBezTo>
                  <a:pt x="1" y="8209"/>
                  <a:pt x="0" y="8200"/>
                  <a:pt x="0" y="819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4357440" y="2385720"/>
            <a:ext cx="3476880" cy="3000960"/>
          </a:xfrm>
          <a:custGeom>
            <a:avLst/>
            <a:gdLst/>
            <a:ahLst/>
            <a:rect l="0" t="0" r="r" b="b"/>
            <a:pathLst>
              <a:path fill="none" w="9658" h="8336">
                <a:moveTo>
                  <a:pt x="0" y="819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8"/>
                  <a:pt x="9569" y="11"/>
                </a:cubicBezTo>
                <a:cubicBezTo>
                  <a:pt x="9577" y="15"/>
                  <a:pt x="9586" y="20"/>
                  <a:pt x="9594" y="25"/>
                </a:cubicBezTo>
                <a:cubicBezTo>
                  <a:pt x="9602" y="30"/>
                  <a:pt x="9609" y="36"/>
                  <a:pt x="9616" y="43"/>
                </a:cubicBezTo>
                <a:cubicBezTo>
                  <a:pt x="9623" y="50"/>
                  <a:pt x="9629" y="57"/>
                  <a:pt x="9634" y="65"/>
                </a:cubicBezTo>
                <a:cubicBezTo>
                  <a:pt x="9639" y="73"/>
                  <a:pt x="9644" y="81"/>
                  <a:pt x="9647" y="90"/>
                </a:cubicBezTo>
                <a:cubicBezTo>
                  <a:pt x="9651" y="99"/>
                  <a:pt x="9654" y="108"/>
                  <a:pt x="9656" y="117"/>
                </a:cubicBezTo>
                <a:cubicBezTo>
                  <a:pt x="9658" y="127"/>
                  <a:pt x="9658" y="136"/>
                  <a:pt x="9658" y="146"/>
                </a:cubicBezTo>
                <a:lnTo>
                  <a:pt x="9658" y="8190"/>
                </a:lnTo>
                <a:cubicBezTo>
                  <a:pt x="9658" y="8200"/>
                  <a:pt x="9658" y="8209"/>
                  <a:pt x="9656" y="8219"/>
                </a:cubicBezTo>
                <a:cubicBezTo>
                  <a:pt x="9654" y="8228"/>
                  <a:pt x="9651" y="8237"/>
                  <a:pt x="9647" y="8246"/>
                </a:cubicBezTo>
                <a:cubicBezTo>
                  <a:pt x="9644" y="8255"/>
                  <a:pt x="9639" y="8263"/>
                  <a:pt x="9634" y="8271"/>
                </a:cubicBezTo>
                <a:cubicBezTo>
                  <a:pt x="9629" y="8279"/>
                  <a:pt x="9623" y="8286"/>
                  <a:pt x="9616" y="8293"/>
                </a:cubicBezTo>
                <a:cubicBezTo>
                  <a:pt x="9609" y="8300"/>
                  <a:pt x="9602" y="8306"/>
                  <a:pt x="9594" y="8311"/>
                </a:cubicBezTo>
                <a:cubicBezTo>
                  <a:pt x="9586" y="8316"/>
                  <a:pt x="9577" y="8321"/>
                  <a:pt x="9569" y="8325"/>
                </a:cubicBezTo>
                <a:cubicBezTo>
                  <a:pt x="9560" y="8328"/>
                  <a:pt x="9551" y="8331"/>
                  <a:pt x="9541" y="8333"/>
                </a:cubicBezTo>
                <a:cubicBezTo>
                  <a:pt x="9532" y="8335"/>
                  <a:pt x="9523" y="8336"/>
                  <a:pt x="9513" y="8336"/>
                </a:cubicBezTo>
                <a:lnTo>
                  <a:pt x="146" y="8336"/>
                </a:lnTo>
                <a:cubicBezTo>
                  <a:pt x="136" y="8336"/>
                  <a:pt x="127" y="8335"/>
                  <a:pt x="117" y="8333"/>
                </a:cubicBezTo>
                <a:cubicBezTo>
                  <a:pt x="108" y="8331"/>
                  <a:pt x="99" y="8328"/>
                  <a:pt x="90" y="8325"/>
                </a:cubicBezTo>
                <a:cubicBezTo>
                  <a:pt x="81" y="8321"/>
                  <a:pt x="73" y="8316"/>
                  <a:pt x="65" y="8311"/>
                </a:cubicBezTo>
                <a:cubicBezTo>
                  <a:pt x="57" y="8306"/>
                  <a:pt x="50" y="8300"/>
                  <a:pt x="43" y="8293"/>
                </a:cubicBezTo>
                <a:cubicBezTo>
                  <a:pt x="36" y="8286"/>
                  <a:pt x="30" y="8279"/>
                  <a:pt x="25" y="8271"/>
                </a:cubicBezTo>
                <a:cubicBezTo>
                  <a:pt x="19" y="8263"/>
                  <a:pt x="15" y="8255"/>
                  <a:pt x="11" y="8246"/>
                </a:cubicBezTo>
                <a:cubicBezTo>
                  <a:pt x="8" y="8237"/>
                  <a:pt x="5" y="8228"/>
                  <a:pt x="3" y="8219"/>
                </a:cubicBezTo>
                <a:cubicBezTo>
                  <a:pt x="1" y="8209"/>
                  <a:pt x="0" y="8200"/>
                  <a:pt x="0" y="819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4695480" y="30765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1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8"/>
                  <a:pt x="6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3" y="30"/>
                  <a:pt x="149" y="39"/>
                  <a:pt x="154" y="49"/>
                </a:cubicBezTo>
                <a:cubicBezTo>
                  <a:pt x="158" y="58"/>
                  <a:pt x="160" y="69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1203120" y="2588760"/>
            <a:ext cx="1352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1920s, 30's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4877280" y="2985480"/>
            <a:ext cx="2551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Mass adoption after WWII, as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4877280" y="3261600"/>
            <a:ext cx="2681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manufacturing shifted back to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4695480" y="39528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7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cubicBezTo>
                  <a:pt x="90" y="0"/>
                  <a:pt x="100" y="3"/>
                  <a:pt x="110" y="7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3" y="31"/>
                  <a:pt x="149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4877280" y="3538080"/>
            <a:ext cx="1537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consumer goods.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4877280" y="3861720"/>
            <a:ext cx="2739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More reliable compressors and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4695480" y="45432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4877280" y="4128480"/>
            <a:ext cx="2270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safer refrigerants (Freon).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4877280" y="4452480"/>
            <a:ext cx="2414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First freezer compartments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4877280" y="4728600"/>
            <a:ext cx="2579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introduced for limited frozen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4533840" y="260028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4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1" y="333"/>
                  <a:pt x="516" y="349"/>
                  <a:pt x="510" y="365"/>
                </a:cubicBezTo>
                <a:cubicBezTo>
                  <a:pt x="503" y="382"/>
                  <a:pt x="495" y="397"/>
                  <a:pt x="485" y="411"/>
                </a:cubicBezTo>
                <a:cubicBezTo>
                  <a:pt x="476" y="426"/>
                  <a:pt x="465" y="439"/>
                  <a:pt x="452" y="452"/>
                </a:cubicBezTo>
                <a:cubicBezTo>
                  <a:pt x="440" y="465"/>
                  <a:pt x="427" y="476"/>
                  <a:pt x="412" y="485"/>
                </a:cubicBezTo>
                <a:cubicBezTo>
                  <a:pt x="398" y="495"/>
                  <a:pt x="383" y="503"/>
                  <a:pt x="366" y="510"/>
                </a:cubicBezTo>
                <a:cubicBezTo>
                  <a:pt x="349" y="516"/>
                  <a:pt x="333" y="521"/>
                  <a:pt x="316" y="525"/>
                </a:cubicBezTo>
                <a:cubicBezTo>
                  <a:pt x="299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1"/>
                  <a:pt x="179" y="516"/>
                  <a:pt x="163" y="510"/>
                </a:cubicBezTo>
                <a:cubicBezTo>
                  <a:pt x="147" y="503"/>
                  <a:pt x="132" y="495"/>
                  <a:pt x="117" y="485"/>
                </a:cubicBezTo>
                <a:cubicBezTo>
                  <a:pt x="103" y="476"/>
                  <a:pt x="89" y="465"/>
                  <a:pt x="77" y="452"/>
                </a:cubicBezTo>
                <a:cubicBezTo>
                  <a:pt x="65" y="439"/>
                  <a:pt x="54" y="426"/>
                  <a:pt x="44" y="411"/>
                </a:cubicBezTo>
                <a:cubicBezTo>
                  <a:pt x="35" y="397"/>
                  <a:pt x="26" y="382"/>
                  <a:pt x="20" y="365"/>
                </a:cubicBezTo>
                <a:cubicBezTo>
                  <a:pt x="13" y="349"/>
                  <a:pt x="8" y="333"/>
                  <a:pt x="5" y="316"/>
                </a:cubicBezTo>
                <a:cubicBezTo>
                  <a:pt x="1" y="299"/>
                  <a:pt x="0" y="282"/>
                  <a:pt x="0" y="264"/>
                </a:cubicBezTo>
                <a:cubicBezTo>
                  <a:pt x="0" y="247"/>
                  <a:pt x="1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6" y="147"/>
                  <a:pt x="35" y="132"/>
                  <a:pt x="44" y="117"/>
                </a:cubicBezTo>
                <a:cubicBezTo>
                  <a:pt x="54" y="103"/>
                  <a:pt x="65" y="89"/>
                  <a:pt x="77" y="77"/>
                </a:cubicBezTo>
                <a:cubicBezTo>
                  <a:pt x="89" y="65"/>
                  <a:pt x="103" y="54"/>
                  <a:pt x="117" y="44"/>
                </a:cubicBezTo>
                <a:cubicBezTo>
                  <a:pt x="132" y="35"/>
                  <a:pt x="147" y="26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4" y="0"/>
                </a:cubicBezTo>
                <a:cubicBezTo>
                  <a:pt x="282" y="0"/>
                  <a:pt x="299" y="1"/>
                  <a:pt x="316" y="5"/>
                </a:cubicBezTo>
                <a:cubicBezTo>
                  <a:pt x="333" y="8"/>
                  <a:pt x="349" y="13"/>
                  <a:pt x="366" y="20"/>
                </a:cubicBezTo>
                <a:cubicBezTo>
                  <a:pt x="383" y="26"/>
                  <a:pt x="398" y="35"/>
                  <a:pt x="412" y="44"/>
                </a:cubicBezTo>
                <a:cubicBezTo>
                  <a:pt x="427" y="54"/>
                  <a:pt x="440" y="65"/>
                  <a:pt x="452" y="77"/>
                </a:cubicBezTo>
                <a:cubicBezTo>
                  <a:pt x="465" y="89"/>
                  <a:pt x="476" y="103"/>
                  <a:pt x="485" y="117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6" y="179"/>
                  <a:pt x="521" y="196"/>
                  <a:pt x="525" y="213"/>
                </a:cubicBezTo>
                <a:cubicBezTo>
                  <a:pt x="528" y="230"/>
                  <a:pt x="530" y="247"/>
                  <a:pt x="530" y="264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4628880" y="265716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4877280" y="5004720"/>
            <a:ext cx="724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storage.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7939080" y="2385720"/>
            <a:ext cx="3486240" cy="3000960"/>
          </a:xfrm>
          <a:custGeom>
            <a:avLst/>
            <a:gdLst/>
            <a:ahLst/>
            <a:rect l="0" t="0" r="r" b="b"/>
            <a:pathLst>
              <a:path w="9684" h="8336">
                <a:moveTo>
                  <a:pt x="0" y="8190"/>
                </a:moveTo>
                <a:lnTo>
                  <a:pt x="0" y="146"/>
                </a:lnTo>
                <a:cubicBezTo>
                  <a:pt x="0" y="136"/>
                  <a:pt x="0" y="127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20"/>
                  <a:pt x="81" y="15"/>
                  <a:pt x="89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8"/>
                  <a:pt x="9594" y="11"/>
                </a:cubicBezTo>
                <a:cubicBezTo>
                  <a:pt x="9603" y="15"/>
                  <a:pt x="9612" y="20"/>
                  <a:pt x="9620" y="25"/>
                </a:cubicBezTo>
                <a:cubicBezTo>
                  <a:pt x="9628" y="30"/>
                  <a:pt x="9635" y="36"/>
                  <a:pt x="9642" y="43"/>
                </a:cubicBezTo>
                <a:cubicBezTo>
                  <a:pt x="9648" y="50"/>
                  <a:pt x="9654" y="57"/>
                  <a:pt x="9660" y="65"/>
                </a:cubicBezTo>
                <a:cubicBezTo>
                  <a:pt x="9665" y="73"/>
                  <a:pt x="9670" y="81"/>
                  <a:pt x="9673" y="90"/>
                </a:cubicBezTo>
                <a:cubicBezTo>
                  <a:pt x="9677" y="99"/>
                  <a:pt x="9680" y="108"/>
                  <a:pt x="9681" y="117"/>
                </a:cubicBezTo>
                <a:cubicBezTo>
                  <a:pt x="9683" y="127"/>
                  <a:pt x="9684" y="136"/>
                  <a:pt x="9684" y="146"/>
                </a:cubicBezTo>
                <a:lnTo>
                  <a:pt x="9684" y="8190"/>
                </a:lnTo>
                <a:cubicBezTo>
                  <a:pt x="9684" y="8200"/>
                  <a:pt x="9683" y="8209"/>
                  <a:pt x="9681" y="8219"/>
                </a:cubicBezTo>
                <a:cubicBezTo>
                  <a:pt x="9680" y="8228"/>
                  <a:pt x="9677" y="8237"/>
                  <a:pt x="9673" y="8246"/>
                </a:cubicBezTo>
                <a:cubicBezTo>
                  <a:pt x="9670" y="8255"/>
                  <a:pt x="9665" y="8263"/>
                  <a:pt x="9660" y="8271"/>
                </a:cubicBezTo>
                <a:cubicBezTo>
                  <a:pt x="9654" y="8279"/>
                  <a:pt x="9648" y="8286"/>
                  <a:pt x="9642" y="8293"/>
                </a:cubicBezTo>
                <a:cubicBezTo>
                  <a:pt x="9635" y="8300"/>
                  <a:pt x="9628" y="8306"/>
                  <a:pt x="9620" y="8311"/>
                </a:cubicBezTo>
                <a:cubicBezTo>
                  <a:pt x="9612" y="8316"/>
                  <a:pt x="9603" y="8321"/>
                  <a:pt x="9594" y="8325"/>
                </a:cubicBezTo>
                <a:cubicBezTo>
                  <a:pt x="9586" y="8328"/>
                  <a:pt x="9577" y="8331"/>
                  <a:pt x="9567" y="8333"/>
                </a:cubicBezTo>
                <a:cubicBezTo>
                  <a:pt x="9558" y="8335"/>
                  <a:pt x="9548" y="8336"/>
                  <a:pt x="9539" y="8336"/>
                </a:cubicBezTo>
                <a:lnTo>
                  <a:pt x="145" y="8336"/>
                </a:lnTo>
                <a:cubicBezTo>
                  <a:pt x="135" y="8336"/>
                  <a:pt x="126" y="8335"/>
                  <a:pt x="117" y="8333"/>
                </a:cubicBezTo>
                <a:cubicBezTo>
                  <a:pt x="107" y="8331"/>
                  <a:pt x="98" y="8328"/>
                  <a:pt x="89" y="8325"/>
                </a:cubicBezTo>
                <a:cubicBezTo>
                  <a:pt x="81" y="8321"/>
                  <a:pt x="72" y="8316"/>
                  <a:pt x="64" y="8311"/>
                </a:cubicBezTo>
                <a:cubicBezTo>
                  <a:pt x="56" y="8306"/>
                  <a:pt x="49" y="8300"/>
                  <a:pt x="42" y="8293"/>
                </a:cubicBezTo>
                <a:cubicBezTo>
                  <a:pt x="35" y="8286"/>
                  <a:pt x="29" y="8279"/>
                  <a:pt x="24" y="8271"/>
                </a:cubicBezTo>
                <a:cubicBezTo>
                  <a:pt x="19" y="8263"/>
                  <a:pt x="14" y="8255"/>
                  <a:pt x="11" y="8246"/>
                </a:cubicBezTo>
                <a:cubicBezTo>
                  <a:pt x="7" y="8237"/>
                  <a:pt x="4" y="8228"/>
                  <a:pt x="2" y="8219"/>
                </a:cubicBezTo>
                <a:cubicBezTo>
                  <a:pt x="0" y="8209"/>
                  <a:pt x="0" y="8200"/>
                  <a:pt x="0" y="819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7939080" y="2385720"/>
            <a:ext cx="3486240" cy="3000960"/>
          </a:xfrm>
          <a:custGeom>
            <a:avLst/>
            <a:gdLst/>
            <a:ahLst/>
            <a:rect l="0" t="0" r="r" b="b"/>
            <a:pathLst>
              <a:path fill="none" w="9684" h="8336">
                <a:moveTo>
                  <a:pt x="0" y="8190"/>
                </a:moveTo>
                <a:lnTo>
                  <a:pt x="0" y="146"/>
                </a:lnTo>
                <a:cubicBezTo>
                  <a:pt x="0" y="136"/>
                  <a:pt x="0" y="127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20"/>
                  <a:pt x="81" y="15"/>
                  <a:pt x="89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8"/>
                  <a:pt x="9594" y="11"/>
                </a:cubicBezTo>
                <a:cubicBezTo>
                  <a:pt x="9603" y="15"/>
                  <a:pt x="9612" y="20"/>
                  <a:pt x="9620" y="25"/>
                </a:cubicBezTo>
                <a:cubicBezTo>
                  <a:pt x="9628" y="30"/>
                  <a:pt x="9635" y="36"/>
                  <a:pt x="9642" y="43"/>
                </a:cubicBezTo>
                <a:cubicBezTo>
                  <a:pt x="9648" y="50"/>
                  <a:pt x="9654" y="57"/>
                  <a:pt x="9660" y="65"/>
                </a:cubicBezTo>
                <a:cubicBezTo>
                  <a:pt x="9665" y="73"/>
                  <a:pt x="9670" y="81"/>
                  <a:pt x="9673" y="90"/>
                </a:cubicBezTo>
                <a:cubicBezTo>
                  <a:pt x="9677" y="99"/>
                  <a:pt x="9680" y="108"/>
                  <a:pt x="9681" y="117"/>
                </a:cubicBezTo>
                <a:cubicBezTo>
                  <a:pt x="9683" y="127"/>
                  <a:pt x="9684" y="136"/>
                  <a:pt x="9684" y="146"/>
                </a:cubicBezTo>
                <a:lnTo>
                  <a:pt x="9684" y="8190"/>
                </a:lnTo>
                <a:cubicBezTo>
                  <a:pt x="9684" y="8200"/>
                  <a:pt x="9683" y="8209"/>
                  <a:pt x="9681" y="8219"/>
                </a:cubicBezTo>
                <a:cubicBezTo>
                  <a:pt x="9680" y="8228"/>
                  <a:pt x="9677" y="8237"/>
                  <a:pt x="9673" y="8246"/>
                </a:cubicBezTo>
                <a:cubicBezTo>
                  <a:pt x="9670" y="8255"/>
                  <a:pt x="9665" y="8263"/>
                  <a:pt x="9660" y="8271"/>
                </a:cubicBezTo>
                <a:cubicBezTo>
                  <a:pt x="9654" y="8279"/>
                  <a:pt x="9648" y="8286"/>
                  <a:pt x="9642" y="8293"/>
                </a:cubicBezTo>
                <a:cubicBezTo>
                  <a:pt x="9635" y="8300"/>
                  <a:pt x="9628" y="8306"/>
                  <a:pt x="9620" y="8311"/>
                </a:cubicBezTo>
                <a:cubicBezTo>
                  <a:pt x="9612" y="8316"/>
                  <a:pt x="9603" y="8321"/>
                  <a:pt x="9594" y="8325"/>
                </a:cubicBezTo>
                <a:cubicBezTo>
                  <a:pt x="9586" y="8328"/>
                  <a:pt x="9577" y="8331"/>
                  <a:pt x="9567" y="8333"/>
                </a:cubicBezTo>
                <a:cubicBezTo>
                  <a:pt x="9558" y="8335"/>
                  <a:pt x="9548" y="8336"/>
                  <a:pt x="9539" y="8336"/>
                </a:cubicBezTo>
                <a:lnTo>
                  <a:pt x="145" y="8336"/>
                </a:lnTo>
                <a:cubicBezTo>
                  <a:pt x="135" y="8336"/>
                  <a:pt x="126" y="8335"/>
                  <a:pt x="117" y="8333"/>
                </a:cubicBezTo>
                <a:cubicBezTo>
                  <a:pt x="107" y="8331"/>
                  <a:pt x="98" y="8328"/>
                  <a:pt x="89" y="8325"/>
                </a:cubicBezTo>
                <a:cubicBezTo>
                  <a:pt x="81" y="8321"/>
                  <a:pt x="72" y="8316"/>
                  <a:pt x="64" y="8311"/>
                </a:cubicBezTo>
                <a:cubicBezTo>
                  <a:pt x="56" y="8306"/>
                  <a:pt x="49" y="8300"/>
                  <a:pt x="42" y="8293"/>
                </a:cubicBezTo>
                <a:cubicBezTo>
                  <a:pt x="35" y="8286"/>
                  <a:pt x="29" y="8279"/>
                  <a:pt x="24" y="8271"/>
                </a:cubicBezTo>
                <a:cubicBezTo>
                  <a:pt x="19" y="8263"/>
                  <a:pt x="14" y="8255"/>
                  <a:pt x="11" y="8246"/>
                </a:cubicBezTo>
                <a:cubicBezTo>
                  <a:pt x="7" y="8237"/>
                  <a:pt x="4" y="8228"/>
                  <a:pt x="2" y="8219"/>
                </a:cubicBezTo>
                <a:cubicBezTo>
                  <a:pt x="0" y="8209"/>
                  <a:pt x="0" y="8200"/>
                  <a:pt x="0" y="819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8286480" y="30765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8" y="143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3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4791240" y="2588760"/>
            <a:ext cx="733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1940s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8465040" y="2985480"/>
            <a:ext cx="2366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Fridges became a staple in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8286480" y="36763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6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8465040" y="3261600"/>
            <a:ext cx="1856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middle-class homes.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8465040" y="3585600"/>
            <a:ext cx="2306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Chrome ﬁnishes, rounded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8465040" y="3861720"/>
            <a:ext cx="2579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designs, and interior lighting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8286480" y="45432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8465040" y="4128480"/>
            <a:ext cx="606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added.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8465040" y="4452480"/>
            <a:ext cx="2772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Larger freezer sections allowed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8115120" y="260028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4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3"/>
                  <a:pt x="517" y="349"/>
                  <a:pt x="510" y="365"/>
                </a:cubicBezTo>
                <a:cubicBezTo>
                  <a:pt x="503" y="382"/>
                  <a:pt x="495" y="397"/>
                  <a:pt x="486" y="411"/>
                </a:cubicBezTo>
                <a:cubicBezTo>
                  <a:pt x="476" y="426"/>
                  <a:pt x="464" y="439"/>
                  <a:pt x="452" y="452"/>
                </a:cubicBezTo>
                <a:cubicBezTo>
                  <a:pt x="439" y="465"/>
                  <a:pt x="426" y="476"/>
                  <a:pt x="412" y="485"/>
                </a:cubicBezTo>
                <a:cubicBezTo>
                  <a:pt x="397" y="495"/>
                  <a:pt x="382" y="503"/>
                  <a:pt x="366" y="510"/>
                </a:cubicBezTo>
                <a:cubicBezTo>
                  <a:pt x="350" y="516"/>
                  <a:pt x="333" y="521"/>
                  <a:pt x="316" y="525"/>
                </a:cubicBezTo>
                <a:cubicBezTo>
                  <a:pt x="299" y="528"/>
                  <a:pt x="282" y="530"/>
                  <a:pt x="265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1"/>
                  <a:pt x="179" y="516"/>
                  <a:pt x="163" y="510"/>
                </a:cubicBezTo>
                <a:cubicBezTo>
                  <a:pt x="147" y="503"/>
                  <a:pt x="132" y="495"/>
                  <a:pt x="118" y="485"/>
                </a:cubicBezTo>
                <a:cubicBezTo>
                  <a:pt x="103" y="476"/>
                  <a:pt x="90" y="465"/>
                  <a:pt x="77" y="452"/>
                </a:cubicBezTo>
                <a:cubicBezTo>
                  <a:pt x="65" y="439"/>
                  <a:pt x="54" y="426"/>
                  <a:pt x="45" y="411"/>
                </a:cubicBezTo>
                <a:cubicBezTo>
                  <a:pt x="35" y="397"/>
                  <a:pt x="27" y="382"/>
                  <a:pt x="20" y="365"/>
                </a:cubicBezTo>
                <a:cubicBezTo>
                  <a:pt x="13" y="349"/>
                  <a:pt x="8" y="333"/>
                  <a:pt x="5" y="316"/>
                </a:cubicBezTo>
                <a:cubicBezTo>
                  <a:pt x="2" y="299"/>
                  <a:pt x="0" y="282"/>
                  <a:pt x="0" y="264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5" y="117"/>
                </a:cubicBezTo>
                <a:cubicBezTo>
                  <a:pt x="54" y="103"/>
                  <a:pt x="65" y="89"/>
                  <a:pt x="77" y="77"/>
                </a:cubicBezTo>
                <a:cubicBezTo>
                  <a:pt x="90" y="65"/>
                  <a:pt x="103" y="54"/>
                  <a:pt x="118" y="44"/>
                </a:cubicBezTo>
                <a:cubicBezTo>
                  <a:pt x="132" y="35"/>
                  <a:pt x="147" y="26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5" y="0"/>
                </a:cubicBezTo>
                <a:cubicBezTo>
                  <a:pt x="282" y="0"/>
                  <a:pt x="299" y="1"/>
                  <a:pt x="316" y="5"/>
                </a:cubicBezTo>
                <a:cubicBezTo>
                  <a:pt x="333" y="8"/>
                  <a:pt x="350" y="13"/>
                  <a:pt x="366" y="20"/>
                </a:cubicBezTo>
                <a:cubicBezTo>
                  <a:pt x="382" y="26"/>
                  <a:pt x="397" y="35"/>
                  <a:pt x="412" y="44"/>
                </a:cubicBezTo>
                <a:cubicBezTo>
                  <a:pt x="426" y="54"/>
                  <a:pt x="439" y="65"/>
                  <a:pt x="452" y="77"/>
                </a:cubicBezTo>
                <a:cubicBezTo>
                  <a:pt x="464" y="89"/>
                  <a:pt x="476" y="103"/>
                  <a:pt x="486" y="117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4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8210520" y="2657160"/>
            <a:ext cx="0" cy="76320"/>
          </a:xfrm>
          <a:custGeom>
            <a:avLst/>
            <a:gdLst/>
            <a:ahLst/>
            <a:rect l="0" t="0" r="r" b="b"/>
            <a:pathLst>
              <a:path fill="none" w="0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8465040" y="4728600"/>
            <a:ext cx="2611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frozen food markets to grow.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8379000" y="2588760"/>
            <a:ext cx="733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1950s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1" name=""/>
          <p:cNvSpPr txBox="1"/>
          <p:nvPr/>
        </p:nvSpPr>
        <p:spPr>
          <a:xfrm>
            <a:off x="762120" y="1764000"/>
            <a:ext cx="25383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Cheap Fridges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762120" y="5251680"/>
            <a:ext cx="10320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Slightly lower quailty but designs shifted toward convenience and style (ice makers, side-by-side doors),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762120" y="5556600"/>
            <a:ext cx="3624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which sometimes reduced durability.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766440" y="2366640"/>
            <a:ext cx="3486600" cy="2734200"/>
          </a:xfrm>
          <a:custGeom>
            <a:avLst/>
            <a:gdLst/>
            <a:ahLst/>
            <a:rect l="0" t="0" r="r" b="b"/>
            <a:pathLst>
              <a:path w="9685" h="7595">
                <a:moveTo>
                  <a:pt x="0" y="7449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8"/>
                  <a:pt x="9595" y="11"/>
                </a:cubicBezTo>
                <a:cubicBezTo>
                  <a:pt x="9604" y="15"/>
                  <a:pt x="9613" y="20"/>
                  <a:pt x="9620" y="25"/>
                </a:cubicBezTo>
                <a:cubicBezTo>
                  <a:pt x="9628" y="30"/>
                  <a:pt x="9636" y="36"/>
                  <a:pt x="9643" y="43"/>
                </a:cubicBezTo>
                <a:cubicBezTo>
                  <a:pt x="9649" y="50"/>
                  <a:pt x="9655" y="57"/>
                  <a:pt x="9661" y="65"/>
                </a:cubicBezTo>
                <a:cubicBezTo>
                  <a:pt x="9666" y="73"/>
                  <a:pt x="9670" y="81"/>
                  <a:pt x="9674" y="90"/>
                </a:cubicBezTo>
                <a:cubicBezTo>
                  <a:pt x="9678" y="99"/>
                  <a:pt x="9680" y="108"/>
                  <a:pt x="9682" y="118"/>
                </a:cubicBezTo>
                <a:cubicBezTo>
                  <a:pt x="9684" y="127"/>
                  <a:pt x="9685" y="136"/>
                  <a:pt x="9685" y="146"/>
                </a:cubicBezTo>
                <a:lnTo>
                  <a:pt x="9685" y="7449"/>
                </a:lnTo>
                <a:cubicBezTo>
                  <a:pt x="9685" y="7459"/>
                  <a:pt x="9684" y="7468"/>
                  <a:pt x="9682" y="7478"/>
                </a:cubicBezTo>
                <a:cubicBezTo>
                  <a:pt x="9680" y="7487"/>
                  <a:pt x="9678" y="7496"/>
                  <a:pt x="9674" y="7505"/>
                </a:cubicBezTo>
                <a:cubicBezTo>
                  <a:pt x="9670" y="7514"/>
                  <a:pt x="9666" y="7522"/>
                  <a:pt x="9661" y="7530"/>
                </a:cubicBezTo>
                <a:cubicBezTo>
                  <a:pt x="9655" y="7538"/>
                  <a:pt x="9649" y="7546"/>
                  <a:pt x="9643" y="7552"/>
                </a:cubicBezTo>
                <a:cubicBezTo>
                  <a:pt x="9636" y="7559"/>
                  <a:pt x="9628" y="7565"/>
                  <a:pt x="9620" y="7570"/>
                </a:cubicBezTo>
                <a:cubicBezTo>
                  <a:pt x="9613" y="7576"/>
                  <a:pt x="9604" y="7580"/>
                  <a:pt x="9595" y="7584"/>
                </a:cubicBezTo>
                <a:cubicBezTo>
                  <a:pt x="9586" y="7588"/>
                  <a:pt x="9577" y="7590"/>
                  <a:pt x="9568" y="7592"/>
                </a:cubicBezTo>
                <a:cubicBezTo>
                  <a:pt x="9559" y="7594"/>
                  <a:pt x="9549" y="7595"/>
                  <a:pt x="9540" y="7595"/>
                </a:cubicBezTo>
                <a:lnTo>
                  <a:pt x="146" y="7595"/>
                </a:lnTo>
                <a:cubicBezTo>
                  <a:pt x="136" y="7595"/>
                  <a:pt x="127" y="7594"/>
                  <a:pt x="118" y="7592"/>
                </a:cubicBezTo>
                <a:cubicBezTo>
                  <a:pt x="108" y="7590"/>
                  <a:pt x="99" y="7588"/>
                  <a:pt x="90" y="7584"/>
                </a:cubicBezTo>
                <a:cubicBezTo>
                  <a:pt x="81" y="7580"/>
                  <a:pt x="73" y="7576"/>
                  <a:pt x="65" y="7570"/>
                </a:cubicBezTo>
                <a:cubicBezTo>
                  <a:pt x="57" y="7565"/>
                  <a:pt x="50" y="7559"/>
                  <a:pt x="43" y="7552"/>
                </a:cubicBezTo>
                <a:cubicBezTo>
                  <a:pt x="36" y="7546"/>
                  <a:pt x="30" y="7538"/>
                  <a:pt x="25" y="7530"/>
                </a:cubicBezTo>
                <a:cubicBezTo>
                  <a:pt x="20" y="7522"/>
                  <a:pt x="15" y="7514"/>
                  <a:pt x="11" y="7505"/>
                </a:cubicBezTo>
                <a:cubicBezTo>
                  <a:pt x="8" y="7496"/>
                  <a:pt x="5" y="7487"/>
                  <a:pt x="3" y="7478"/>
                </a:cubicBezTo>
                <a:cubicBezTo>
                  <a:pt x="1" y="7468"/>
                  <a:pt x="0" y="7459"/>
                  <a:pt x="0" y="7449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766440" y="2366640"/>
            <a:ext cx="3486600" cy="2734200"/>
          </a:xfrm>
          <a:custGeom>
            <a:avLst/>
            <a:gdLst/>
            <a:ahLst/>
            <a:rect l="0" t="0" r="r" b="b"/>
            <a:pathLst>
              <a:path fill="none" w="9685" h="7595">
                <a:moveTo>
                  <a:pt x="0" y="7449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8"/>
                  <a:pt x="9595" y="11"/>
                </a:cubicBezTo>
                <a:cubicBezTo>
                  <a:pt x="9604" y="15"/>
                  <a:pt x="9613" y="20"/>
                  <a:pt x="9620" y="25"/>
                </a:cubicBezTo>
                <a:cubicBezTo>
                  <a:pt x="9628" y="30"/>
                  <a:pt x="9636" y="36"/>
                  <a:pt x="9643" y="43"/>
                </a:cubicBezTo>
                <a:cubicBezTo>
                  <a:pt x="9649" y="50"/>
                  <a:pt x="9655" y="57"/>
                  <a:pt x="9661" y="65"/>
                </a:cubicBezTo>
                <a:cubicBezTo>
                  <a:pt x="9666" y="73"/>
                  <a:pt x="9670" y="81"/>
                  <a:pt x="9674" y="90"/>
                </a:cubicBezTo>
                <a:cubicBezTo>
                  <a:pt x="9678" y="99"/>
                  <a:pt x="9680" y="108"/>
                  <a:pt x="9682" y="118"/>
                </a:cubicBezTo>
                <a:cubicBezTo>
                  <a:pt x="9684" y="127"/>
                  <a:pt x="9685" y="136"/>
                  <a:pt x="9685" y="146"/>
                </a:cubicBezTo>
                <a:lnTo>
                  <a:pt x="9685" y="7449"/>
                </a:lnTo>
                <a:cubicBezTo>
                  <a:pt x="9685" y="7459"/>
                  <a:pt x="9684" y="7468"/>
                  <a:pt x="9682" y="7478"/>
                </a:cubicBezTo>
                <a:cubicBezTo>
                  <a:pt x="9680" y="7487"/>
                  <a:pt x="9678" y="7496"/>
                  <a:pt x="9674" y="7505"/>
                </a:cubicBezTo>
                <a:cubicBezTo>
                  <a:pt x="9670" y="7514"/>
                  <a:pt x="9666" y="7522"/>
                  <a:pt x="9661" y="7530"/>
                </a:cubicBezTo>
                <a:cubicBezTo>
                  <a:pt x="9655" y="7538"/>
                  <a:pt x="9649" y="7546"/>
                  <a:pt x="9643" y="7552"/>
                </a:cubicBezTo>
                <a:cubicBezTo>
                  <a:pt x="9636" y="7559"/>
                  <a:pt x="9628" y="7565"/>
                  <a:pt x="9620" y="7570"/>
                </a:cubicBezTo>
                <a:cubicBezTo>
                  <a:pt x="9613" y="7576"/>
                  <a:pt x="9604" y="7580"/>
                  <a:pt x="9595" y="7584"/>
                </a:cubicBezTo>
                <a:cubicBezTo>
                  <a:pt x="9586" y="7588"/>
                  <a:pt x="9577" y="7590"/>
                  <a:pt x="9568" y="7592"/>
                </a:cubicBezTo>
                <a:cubicBezTo>
                  <a:pt x="9559" y="7594"/>
                  <a:pt x="9549" y="7595"/>
                  <a:pt x="9540" y="7595"/>
                </a:cubicBezTo>
                <a:lnTo>
                  <a:pt x="146" y="7595"/>
                </a:lnTo>
                <a:cubicBezTo>
                  <a:pt x="136" y="7595"/>
                  <a:pt x="127" y="7594"/>
                  <a:pt x="118" y="7592"/>
                </a:cubicBezTo>
                <a:cubicBezTo>
                  <a:pt x="108" y="7590"/>
                  <a:pt x="99" y="7588"/>
                  <a:pt x="90" y="7584"/>
                </a:cubicBezTo>
                <a:cubicBezTo>
                  <a:pt x="81" y="7580"/>
                  <a:pt x="73" y="7576"/>
                  <a:pt x="65" y="7570"/>
                </a:cubicBezTo>
                <a:cubicBezTo>
                  <a:pt x="57" y="7565"/>
                  <a:pt x="50" y="7559"/>
                  <a:pt x="43" y="7552"/>
                </a:cubicBezTo>
                <a:cubicBezTo>
                  <a:pt x="36" y="7546"/>
                  <a:pt x="30" y="7538"/>
                  <a:pt x="25" y="7530"/>
                </a:cubicBezTo>
                <a:cubicBezTo>
                  <a:pt x="20" y="7522"/>
                  <a:pt x="15" y="7514"/>
                  <a:pt x="11" y="7505"/>
                </a:cubicBezTo>
                <a:cubicBezTo>
                  <a:pt x="8" y="7496"/>
                  <a:pt x="5" y="7487"/>
                  <a:pt x="3" y="7478"/>
                </a:cubicBezTo>
                <a:cubicBezTo>
                  <a:pt x="1" y="7468"/>
                  <a:pt x="0" y="7459"/>
                  <a:pt x="0" y="7449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1104840" y="3066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1289520" y="2975760"/>
            <a:ext cx="2739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Automatic defrosting (no more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1104840" y="3657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1"/>
                  <a:pt x="24" y="24"/>
                </a:cubicBezTo>
                <a:cubicBezTo>
                  <a:pt x="31" y="16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1289520" y="3252240"/>
            <a:ext cx="1892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manual ice scraping).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1289520" y="3566520"/>
            <a:ext cx="2512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Adjustable shelves and door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1104840" y="42573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1289520" y="3842640"/>
            <a:ext cx="724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storage.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1289520" y="4166640"/>
            <a:ext cx="2536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More eﬃcient insulation and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1289520" y="4433400"/>
            <a:ext cx="2569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compressors reduced energy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942840" y="258120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4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3"/>
                  <a:pt x="517" y="349"/>
                  <a:pt x="510" y="366"/>
                </a:cubicBezTo>
                <a:cubicBezTo>
                  <a:pt x="503" y="382"/>
                  <a:pt x="495" y="397"/>
                  <a:pt x="485" y="411"/>
                </a:cubicBezTo>
                <a:cubicBezTo>
                  <a:pt x="476" y="426"/>
                  <a:pt x="465" y="439"/>
                  <a:pt x="453" y="451"/>
                </a:cubicBezTo>
                <a:cubicBezTo>
                  <a:pt x="440" y="464"/>
                  <a:pt x="427" y="475"/>
                  <a:pt x="412" y="484"/>
                </a:cubicBezTo>
                <a:cubicBezTo>
                  <a:pt x="398" y="494"/>
                  <a:pt x="383" y="503"/>
                  <a:pt x="367" y="510"/>
                </a:cubicBezTo>
                <a:cubicBezTo>
                  <a:pt x="351" y="516"/>
                  <a:pt x="334" y="521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1"/>
                  <a:pt x="179" y="516"/>
                  <a:pt x="163" y="510"/>
                </a:cubicBezTo>
                <a:cubicBezTo>
                  <a:pt x="147" y="503"/>
                  <a:pt x="132" y="494"/>
                  <a:pt x="117" y="484"/>
                </a:cubicBezTo>
                <a:cubicBezTo>
                  <a:pt x="103" y="475"/>
                  <a:pt x="90" y="464"/>
                  <a:pt x="77" y="451"/>
                </a:cubicBezTo>
                <a:cubicBezTo>
                  <a:pt x="65" y="439"/>
                  <a:pt x="54" y="426"/>
                  <a:pt x="44" y="411"/>
                </a:cubicBezTo>
                <a:cubicBezTo>
                  <a:pt x="35" y="397"/>
                  <a:pt x="27" y="382"/>
                  <a:pt x="20" y="366"/>
                </a:cubicBezTo>
                <a:cubicBezTo>
                  <a:pt x="13" y="349"/>
                  <a:pt x="8" y="333"/>
                  <a:pt x="5" y="316"/>
                </a:cubicBezTo>
                <a:cubicBezTo>
                  <a:pt x="2" y="299"/>
                  <a:pt x="0" y="282"/>
                  <a:pt x="0" y="264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7"/>
                </a:cubicBezTo>
                <a:cubicBezTo>
                  <a:pt x="54" y="103"/>
                  <a:pt x="65" y="89"/>
                  <a:pt x="77" y="77"/>
                </a:cubicBezTo>
                <a:cubicBezTo>
                  <a:pt x="90" y="65"/>
                  <a:pt x="103" y="54"/>
                  <a:pt x="117" y="44"/>
                </a:cubicBezTo>
                <a:cubicBezTo>
                  <a:pt x="132" y="35"/>
                  <a:pt x="147" y="26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4" y="0"/>
                </a:cubicBezTo>
                <a:cubicBezTo>
                  <a:pt x="282" y="0"/>
                  <a:pt x="300" y="1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6"/>
                  <a:pt x="398" y="35"/>
                  <a:pt x="412" y="44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89"/>
                  <a:pt x="476" y="103"/>
                  <a:pt x="485" y="117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4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1037880" y="263808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1289520" y="4709520"/>
            <a:ext cx="2870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use compared to earlier models.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4357440" y="2366640"/>
            <a:ext cx="3476880" cy="2734200"/>
          </a:xfrm>
          <a:custGeom>
            <a:avLst/>
            <a:gdLst/>
            <a:ahLst/>
            <a:rect l="0" t="0" r="r" b="b"/>
            <a:pathLst>
              <a:path w="9658" h="7595">
                <a:moveTo>
                  <a:pt x="0" y="7449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8"/>
                  <a:pt x="9569" y="11"/>
                </a:cubicBezTo>
                <a:cubicBezTo>
                  <a:pt x="9577" y="15"/>
                  <a:pt x="9586" y="20"/>
                  <a:pt x="9594" y="25"/>
                </a:cubicBezTo>
                <a:cubicBezTo>
                  <a:pt x="9602" y="30"/>
                  <a:pt x="9609" y="36"/>
                  <a:pt x="9616" y="43"/>
                </a:cubicBezTo>
                <a:cubicBezTo>
                  <a:pt x="9623" y="50"/>
                  <a:pt x="9629" y="57"/>
                  <a:pt x="9634" y="65"/>
                </a:cubicBezTo>
                <a:cubicBezTo>
                  <a:pt x="9639" y="73"/>
                  <a:pt x="9644" y="81"/>
                  <a:pt x="9647" y="90"/>
                </a:cubicBezTo>
                <a:cubicBezTo>
                  <a:pt x="9651" y="99"/>
                  <a:pt x="9654" y="108"/>
                  <a:pt x="9656" y="118"/>
                </a:cubicBezTo>
                <a:cubicBezTo>
                  <a:pt x="9658" y="127"/>
                  <a:pt x="9658" y="136"/>
                  <a:pt x="9658" y="146"/>
                </a:cubicBezTo>
                <a:lnTo>
                  <a:pt x="9658" y="7449"/>
                </a:lnTo>
                <a:cubicBezTo>
                  <a:pt x="9658" y="7459"/>
                  <a:pt x="9658" y="7468"/>
                  <a:pt x="9656" y="7478"/>
                </a:cubicBezTo>
                <a:cubicBezTo>
                  <a:pt x="9654" y="7487"/>
                  <a:pt x="9651" y="7496"/>
                  <a:pt x="9647" y="7505"/>
                </a:cubicBezTo>
                <a:cubicBezTo>
                  <a:pt x="9644" y="7514"/>
                  <a:pt x="9639" y="7522"/>
                  <a:pt x="9634" y="7530"/>
                </a:cubicBezTo>
                <a:cubicBezTo>
                  <a:pt x="9629" y="7538"/>
                  <a:pt x="9623" y="7546"/>
                  <a:pt x="9616" y="7552"/>
                </a:cubicBezTo>
                <a:cubicBezTo>
                  <a:pt x="9609" y="7559"/>
                  <a:pt x="9602" y="7565"/>
                  <a:pt x="9594" y="7570"/>
                </a:cubicBezTo>
                <a:cubicBezTo>
                  <a:pt x="9586" y="7576"/>
                  <a:pt x="9577" y="7580"/>
                  <a:pt x="9569" y="7584"/>
                </a:cubicBezTo>
                <a:cubicBezTo>
                  <a:pt x="9560" y="7588"/>
                  <a:pt x="9551" y="7590"/>
                  <a:pt x="9541" y="7592"/>
                </a:cubicBezTo>
                <a:cubicBezTo>
                  <a:pt x="9532" y="7594"/>
                  <a:pt x="9523" y="7595"/>
                  <a:pt x="9513" y="7595"/>
                </a:cubicBezTo>
                <a:lnTo>
                  <a:pt x="146" y="7595"/>
                </a:lnTo>
                <a:cubicBezTo>
                  <a:pt x="136" y="7595"/>
                  <a:pt x="127" y="7594"/>
                  <a:pt x="117" y="7592"/>
                </a:cubicBezTo>
                <a:cubicBezTo>
                  <a:pt x="108" y="7590"/>
                  <a:pt x="99" y="7588"/>
                  <a:pt x="90" y="7584"/>
                </a:cubicBezTo>
                <a:cubicBezTo>
                  <a:pt x="81" y="7580"/>
                  <a:pt x="73" y="7576"/>
                  <a:pt x="65" y="7570"/>
                </a:cubicBezTo>
                <a:cubicBezTo>
                  <a:pt x="57" y="7565"/>
                  <a:pt x="50" y="7559"/>
                  <a:pt x="43" y="7552"/>
                </a:cubicBezTo>
                <a:cubicBezTo>
                  <a:pt x="36" y="7546"/>
                  <a:pt x="30" y="7538"/>
                  <a:pt x="25" y="7530"/>
                </a:cubicBezTo>
                <a:cubicBezTo>
                  <a:pt x="19" y="7522"/>
                  <a:pt x="15" y="7514"/>
                  <a:pt x="11" y="7505"/>
                </a:cubicBezTo>
                <a:cubicBezTo>
                  <a:pt x="8" y="7496"/>
                  <a:pt x="5" y="7487"/>
                  <a:pt x="3" y="7478"/>
                </a:cubicBezTo>
                <a:cubicBezTo>
                  <a:pt x="1" y="7468"/>
                  <a:pt x="0" y="7459"/>
                  <a:pt x="0" y="7449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4357440" y="2366640"/>
            <a:ext cx="3476880" cy="2734200"/>
          </a:xfrm>
          <a:custGeom>
            <a:avLst/>
            <a:gdLst/>
            <a:ahLst/>
            <a:rect l="0" t="0" r="r" b="b"/>
            <a:pathLst>
              <a:path fill="none" w="9658" h="7595">
                <a:moveTo>
                  <a:pt x="0" y="7449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8"/>
                  <a:pt x="9569" y="11"/>
                </a:cubicBezTo>
                <a:cubicBezTo>
                  <a:pt x="9577" y="15"/>
                  <a:pt x="9586" y="20"/>
                  <a:pt x="9594" y="25"/>
                </a:cubicBezTo>
                <a:cubicBezTo>
                  <a:pt x="9602" y="30"/>
                  <a:pt x="9609" y="36"/>
                  <a:pt x="9616" y="43"/>
                </a:cubicBezTo>
                <a:cubicBezTo>
                  <a:pt x="9623" y="50"/>
                  <a:pt x="9629" y="57"/>
                  <a:pt x="9634" y="65"/>
                </a:cubicBezTo>
                <a:cubicBezTo>
                  <a:pt x="9639" y="73"/>
                  <a:pt x="9644" y="81"/>
                  <a:pt x="9647" y="90"/>
                </a:cubicBezTo>
                <a:cubicBezTo>
                  <a:pt x="9651" y="99"/>
                  <a:pt x="9654" y="108"/>
                  <a:pt x="9656" y="118"/>
                </a:cubicBezTo>
                <a:cubicBezTo>
                  <a:pt x="9658" y="127"/>
                  <a:pt x="9658" y="136"/>
                  <a:pt x="9658" y="146"/>
                </a:cubicBezTo>
                <a:lnTo>
                  <a:pt x="9658" y="7449"/>
                </a:lnTo>
                <a:cubicBezTo>
                  <a:pt x="9658" y="7459"/>
                  <a:pt x="9658" y="7468"/>
                  <a:pt x="9656" y="7478"/>
                </a:cubicBezTo>
                <a:cubicBezTo>
                  <a:pt x="9654" y="7487"/>
                  <a:pt x="9651" y="7496"/>
                  <a:pt x="9647" y="7505"/>
                </a:cubicBezTo>
                <a:cubicBezTo>
                  <a:pt x="9644" y="7514"/>
                  <a:pt x="9639" y="7522"/>
                  <a:pt x="9634" y="7530"/>
                </a:cubicBezTo>
                <a:cubicBezTo>
                  <a:pt x="9629" y="7538"/>
                  <a:pt x="9623" y="7546"/>
                  <a:pt x="9616" y="7552"/>
                </a:cubicBezTo>
                <a:cubicBezTo>
                  <a:pt x="9609" y="7559"/>
                  <a:pt x="9602" y="7565"/>
                  <a:pt x="9594" y="7570"/>
                </a:cubicBezTo>
                <a:cubicBezTo>
                  <a:pt x="9586" y="7576"/>
                  <a:pt x="9577" y="7580"/>
                  <a:pt x="9569" y="7584"/>
                </a:cubicBezTo>
                <a:cubicBezTo>
                  <a:pt x="9560" y="7588"/>
                  <a:pt x="9551" y="7590"/>
                  <a:pt x="9541" y="7592"/>
                </a:cubicBezTo>
                <a:cubicBezTo>
                  <a:pt x="9532" y="7594"/>
                  <a:pt x="9523" y="7595"/>
                  <a:pt x="9513" y="7595"/>
                </a:cubicBezTo>
                <a:lnTo>
                  <a:pt x="146" y="7595"/>
                </a:lnTo>
                <a:cubicBezTo>
                  <a:pt x="136" y="7595"/>
                  <a:pt x="127" y="7594"/>
                  <a:pt x="117" y="7592"/>
                </a:cubicBezTo>
                <a:cubicBezTo>
                  <a:pt x="108" y="7590"/>
                  <a:pt x="99" y="7588"/>
                  <a:pt x="90" y="7584"/>
                </a:cubicBezTo>
                <a:cubicBezTo>
                  <a:pt x="81" y="7580"/>
                  <a:pt x="73" y="7576"/>
                  <a:pt x="65" y="7570"/>
                </a:cubicBezTo>
                <a:cubicBezTo>
                  <a:pt x="57" y="7565"/>
                  <a:pt x="50" y="7559"/>
                  <a:pt x="43" y="7552"/>
                </a:cubicBezTo>
                <a:cubicBezTo>
                  <a:pt x="36" y="7546"/>
                  <a:pt x="30" y="7538"/>
                  <a:pt x="25" y="7530"/>
                </a:cubicBezTo>
                <a:cubicBezTo>
                  <a:pt x="19" y="7522"/>
                  <a:pt x="15" y="7514"/>
                  <a:pt x="11" y="7505"/>
                </a:cubicBezTo>
                <a:cubicBezTo>
                  <a:pt x="8" y="7496"/>
                  <a:pt x="5" y="7487"/>
                  <a:pt x="3" y="7478"/>
                </a:cubicBezTo>
                <a:cubicBezTo>
                  <a:pt x="1" y="7468"/>
                  <a:pt x="0" y="7459"/>
                  <a:pt x="0" y="7449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4695480" y="30668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1203120" y="2569680"/>
            <a:ext cx="733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1960s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4877280" y="2975760"/>
            <a:ext cx="2098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Energy crisis led to new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4695480" y="36572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49" y="121"/>
                  <a:pt x="143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1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1" y="41"/>
                  <a:pt x="16" y="31"/>
                  <a:pt x="24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cubicBezTo>
                  <a:pt x="90" y="0"/>
                  <a:pt x="100" y="3"/>
                  <a:pt x="110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3" y="31"/>
                  <a:pt x="149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4877280" y="3252240"/>
            <a:ext cx="1824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eﬃciency standards.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4877280" y="3566520"/>
            <a:ext cx="2453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Introduction of tighter door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4695480" y="42573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3" y="31"/>
                  <a:pt x="149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4877280" y="3842640"/>
            <a:ext cx="2715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seals and improved insulation.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4877280" y="4166640"/>
            <a:ext cx="2556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More focus on durability and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4533840" y="258120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4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1" y="333"/>
                  <a:pt x="516" y="349"/>
                  <a:pt x="510" y="366"/>
                </a:cubicBezTo>
                <a:cubicBezTo>
                  <a:pt x="503" y="382"/>
                  <a:pt x="495" y="397"/>
                  <a:pt x="485" y="411"/>
                </a:cubicBezTo>
                <a:cubicBezTo>
                  <a:pt x="476" y="426"/>
                  <a:pt x="465" y="439"/>
                  <a:pt x="452" y="451"/>
                </a:cubicBezTo>
                <a:cubicBezTo>
                  <a:pt x="440" y="464"/>
                  <a:pt x="427" y="475"/>
                  <a:pt x="412" y="484"/>
                </a:cubicBezTo>
                <a:cubicBezTo>
                  <a:pt x="398" y="494"/>
                  <a:pt x="383" y="503"/>
                  <a:pt x="366" y="510"/>
                </a:cubicBezTo>
                <a:cubicBezTo>
                  <a:pt x="349" y="516"/>
                  <a:pt x="333" y="521"/>
                  <a:pt x="316" y="525"/>
                </a:cubicBezTo>
                <a:cubicBezTo>
                  <a:pt x="299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1"/>
                  <a:pt x="179" y="516"/>
                  <a:pt x="163" y="510"/>
                </a:cubicBezTo>
                <a:cubicBezTo>
                  <a:pt x="147" y="503"/>
                  <a:pt x="132" y="494"/>
                  <a:pt x="117" y="484"/>
                </a:cubicBezTo>
                <a:cubicBezTo>
                  <a:pt x="103" y="475"/>
                  <a:pt x="89" y="464"/>
                  <a:pt x="77" y="451"/>
                </a:cubicBezTo>
                <a:cubicBezTo>
                  <a:pt x="65" y="439"/>
                  <a:pt x="54" y="426"/>
                  <a:pt x="44" y="411"/>
                </a:cubicBezTo>
                <a:cubicBezTo>
                  <a:pt x="35" y="397"/>
                  <a:pt x="26" y="382"/>
                  <a:pt x="20" y="366"/>
                </a:cubicBezTo>
                <a:cubicBezTo>
                  <a:pt x="13" y="349"/>
                  <a:pt x="8" y="333"/>
                  <a:pt x="5" y="316"/>
                </a:cubicBezTo>
                <a:cubicBezTo>
                  <a:pt x="1" y="299"/>
                  <a:pt x="0" y="282"/>
                  <a:pt x="0" y="264"/>
                </a:cubicBezTo>
                <a:cubicBezTo>
                  <a:pt x="0" y="247"/>
                  <a:pt x="1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6" y="147"/>
                  <a:pt x="35" y="132"/>
                  <a:pt x="44" y="117"/>
                </a:cubicBezTo>
                <a:cubicBezTo>
                  <a:pt x="54" y="103"/>
                  <a:pt x="65" y="89"/>
                  <a:pt x="77" y="77"/>
                </a:cubicBezTo>
                <a:cubicBezTo>
                  <a:pt x="89" y="65"/>
                  <a:pt x="103" y="54"/>
                  <a:pt x="117" y="44"/>
                </a:cubicBezTo>
                <a:cubicBezTo>
                  <a:pt x="132" y="35"/>
                  <a:pt x="147" y="26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4" y="0"/>
                </a:cubicBezTo>
                <a:cubicBezTo>
                  <a:pt x="282" y="0"/>
                  <a:pt x="299" y="1"/>
                  <a:pt x="316" y="5"/>
                </a:cubicBezTo>
                <a:cubicBezTo>
                  <a:pt x="333" y="8"/>
                  <a:pt x="349" y="13"/>
                  <a:pt x="366" y="20"/>
                </a:cubicBezTo>
                <a:cubicBezTo>
                  <a:pt x="383" y="26"/>
                  <a:pt x="398" y="35"/>
                  <a:pt x="412" y="44"/>
                </a:cubicBezTo>
                <a:cubicBezTo>
                  <a:pt x="427" y="54"/>
                  <a:pt x="440" y="65"/>
                  <a:pt x="452" y="77"/>
                </a:cubicBezTo>
                <a:cubicBezTo>
                  <a:pt x="465" y="89"/>
                  <a:pt x="476" y="103"/>
                  <a:pt x="485" y="117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6" y="179"/>
                  <a:pt x="521" y="196"/>
                  <a:pt x="525" y="213"/>
                </a:cubicBezTo>
                <a:cubicBezTo>
                  <a:pt x="528" y="230"/>
                  <a:pt x="530" y="247"/>
                  <a:pt x="530" y="264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4628880" y="263808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4877280" y="4433400"/>
            <a:ext cx="1919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safety of refrigerants.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7939080" y="2366640"/>
            <a:ext cx="3486240" cy="2734200"/>
          </a:xfrm>
          <a:custGeom>
            <a:avLst/>
            <a:gdLst/>
            <a:ahLst/>
            <a:rect l="0" t="0" r="r" b="b"/>
            <a:pathLst>
              <a:path w="9684" h="7595">
                <a:moveTo>
                  <a:pt x="0" y="7449"/>
                </a:moveTo>
                <a:lnTo>
                  <a:pt x="0" y="146"/>
                </a:lnTo>
                <a:cubicBezTo>
                  <a:pt x="0" y="136"/>
                  <a:pt x="0" y="127"/>
                  <a:pt x="2" y="118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20"/>
                  <a:pt x="81" y="15"/>
                  <a:pt x="89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8"/>
                  <a:pt x="9594" y="11"/>
                </a:cubicBezTo>
                <a:cubicBezTo>
                  <a:pt x="9603" y="15"/>
                  <a:pt x="9612" y="20"/>
                  <a:pt x="9620" y="25"/>
                </a:cubicBezTo>
                <a:cubicBezTo>
                  <a:pt x="9628" y="30"/>
                  <a:pt x="9635" y="36"/>
                  <a:pt x="9642" y="43"/>
                </a:cubicBezTo>
                <a:cubicBezTo>
                  <a:pt x="9648" y="50"/>
                  <a:pt x="9654" y="57"/>
                  <a:pt x="9660" y="65"/>
                </a:cubicBezTo>
                <a:cubicBezTo>
                  <a:pt x="9665" y="73"/>
                  <a:pt x="9670" y="81"/>
                  <a:pt x="9673" y="90"/>
                </a:cubicBezTo>
                <a:cubicBezTo>
                  <a:pt x="9677" y="99"/>
                  <a:pt x="9680" y="108"/>
                  <a:pt x="9681" y="118"/>
                </a:cubicBezTo>
                <a:cubicBezTo>
                  <a:pt x="9683" y="127"/>
                  <a:pt x="9684" y="136"/>
                  <a:pt x="9684" y="146"/>
                </a:cubicBezTo>
                <a:lnTo>
                  <a:pt x="9684" y="7449"/>
                </a:lnTo>
                <a:cubicBezTo>
                  <a:pt x="9684" y="7459"/>
                  <a:pt x="9683" y="7468"/>
                  <a:pt x="9681" y="7478"/>
                </a:cubicBezTo>
                <a:cubicBezTo>
                  <a:pt x="9680" y="7487"/>
                  <a:pt x="9677" y="7496"/>
                  <a:pt x="9673" y="7505"/>
                </a:cubicBezTo>
                <a:cubicBezTo>
                  <a:pt x="9670" y="7514"/>
                  <a:pt x="9665" y="7522"/>
                  <a:pt x="9660" y="7530"/>
                </a:cubicBezTo>
                <a:cubicBezTo>
                  <a:pt x="9654" y="7538"/>
                  <a:pt x="9648" y="7546"/>
                  <a:pt x="9642" y="7552"/>
                </a:cubicBezTo>
                <a:cubicBezTo>
                  <a:pt x="9635" y="7559"/>
                  <a:pt x="9628" y="7565"/>
                  <a:pt x="9620" y="7570"/>
                </a:cubicBezTo>
                <a:cubicBezTo>
                  <a:pt x="9612" y="7576"/>
                  <a:pt x="9603" y="7580"/>
                  <a:pt x="9594" y="7584"/>
                </a:cubicBezTo>
                <a:cubicBezTo>
                  <a:pt x="9586" y="7588"/>
                  <a:pt x="9577" y="7590"/>
                  <a:pt x="9567" y="7592"/>
                </a:cubicBezTo>
                <a:cubicBezTo>
                  <a:pt x="9558" y="7594"/>
                  <a:pt x="9548" y="7595"/>
                  <a:pt x="9539" y="7595"/>
                </a:cubicBezTo>
                <a:lnTo>
                  <a:pt x="145" y="7595"/>
                </a:lnTo>
                <a:cubicBezTo>
                  <a:pt x="135" y="7595"/>
                  <a:pt x="126" y="7594"/>
                  <a:pt x="117" y="7592"/>
                </a:cubicBezTo>
                <a:cubicBezTo>
                  <a:pt x="107" y="7590"/>
                  <a:pt x="98" y="7588"/>
                  <a:pt x="89" y="7584"/>
                </a:cubicBezTo>
                <a:cubicBezTo>
                  <a:pt x="81" y="7580"/>
                  <a:pt x="72" y="7576"/>
                  <a:pt x="64" y="7570"/>
                </a:cubicBezTo>
                <a:cubicBezTo>
                  <a:pt x="56" y="7565"/>
                  <a:pt x="49" y="7559"/>
                  <a:pt x="42" y="7552"/>
                </a:cubicBezTo>
                <a:cubicBezTo>
                  <a:pt x="35" y="7546"/>
                  <a:pt x="29" y="7538"/>
                  <a:pt x="24" y="7530"/>
                </a:cubicBezTo>
                <a:cubicBezTo>
                  <a:pt x="19" y="7522"/>
                  <a:pt x="14" y="7514"/>
                  <a:pt x="11" y="7505"/>
                </a:cubicBezTo>
                <a:cubicBezTo>
                  <a:pt x="7" y="7496"/>
                  <a:pt x="4" y="7487"/>
                  <a:pt x="2" y="7478"/>
                </a:cubicBezTo>
                <a:cubicBezTo>
                  <a:pt x="0" y="7468"/>
                  <a:pt x="0" y="7459"/>
                  <a:pt x="0" y="7449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7939080" y="2366640"/>
            <a:ext cx="3486240" cy="2734200"/>
          </a:xfrm>
          <a:custGeom>
            <a:avLst/>
            <a:gdLst/>
            <a:ahLst/>
            <a:rect l="0" t="0" r="r" b="b"/>
            <a:pathLst>
              <a:path fill="none" w="9684" h="7595">
                <a:moveTo>
                  <a:pt x="0" y="7449"/>
                </a:moveTo>
                <a:lnTo>
                  <a:pt x="0" y="146"/>
                </a:lnTo>
                <a:cubicBezTo>
                  <a:pt x="0" y="136"/>
                  <a:pt x="0" y="127"/>
                  <a:pt x="2" y="118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20"/>
                  <a:pt x="81" y="15"/>
                  <a:pt x="89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8"/>
                  <a:pt x="9594" y="11"/>
                </a:cubicBezTo>
                <a:cubicBezTo>
                  <a:pt x="9603" y="15"/>
                  <a:pt x="9612" y="20"/>
                  <a:pt x="9620" y="25"/>
                </a:cubicBezTo>
                <a:cubicBezTo>
                  <a:pt x="9628" y="30"/>
                  <a:pt x="9635" y="36"/>
                  <a:pt x="9642" y="43"/>
                </a:cubicBezTo>
                <a:cubicBezTo>
                  <a:pt x="9648" y="50"/>
                  <a:pt x="9654" y="57"/>
                  <a:pt x="9660" y="65"/>
                </a:cubicBezTo>
                <a:cubicBezTo>
                  <a:pt x="9665" y="73"/>
                  <a:pt x="9670" y="81"/>
                  <a:pt x="9673" y="90"/>
                </a:cubicBezTo>
                <a:cubicBezTo>
                  <a:pt x="9677" y="99"/>
                  <a:pt x="9680" y="108"/>
                  <a:pt x="9681" y="118"/>
                </a:cubicBezTo>
                <a:cubicBezTo>
                  <a:pt x="9683" y="127"/>
                  <a:pt x="9684" y="136"/>
                  <a:pt x="9684" y="146"/>
                </a:cubicBezTo>
                <a:lnTo>
                  <a:pt x="9684" y="7449"/>
                </a:lnTo>
                <a:cubicBezTo>
                  <a:pt x="9684" y="7459"/>
                  <a:pt x="9683" y="7468"/>
                  <a:pt x="9681" y="7478"/>
                </a:cubicBezTo>
                <a:cubicBezTo>
                  <a:pt x="9680" y="7487"/>
                  <a:pt x="9677" y="7496"/>
                  <a:pt x="9673" y="7505"/>
                </a:cubicBezTo>
                <a:cubicBezTo>
                  <a:pt x="9670" y="7514"/>
                  <a:pt x="9665" y="7522"/>
                  <a:pt x="9660" y="7530"/>
                </a:cubicBezTo>
                <a:cubicBezTo>
                  <a:pt x="9654" y="7538"/>
                  <a:pt x="9648" y="7546"/>
                  <a:pt x="9642" y="7552"/>
                </a:cubicBezTo>
                <a:cubicBezTo>
                  <a:pt x="9635" y="7559"/>
                  <a:pt x="9628" y="7565"/>
                  <a:pt x="9620" y="7570"/>
                </a:cubicBezTo>
                <a:cubicBezTo>
                  <a:pt x="9612" y="7576"/>
                  <a:pt x="9603" y="7580"/>
                  <a:pt x="9594" y="7584"/>
                </a:cubicBezTo>
                <a:cubicBezTo>
                  <a:pt x="9586" y="7588"/>
                  <a:pt x="9577" y="7590"/>
                  <a:pt x="9567" y="7592"/>
                </a:cubicBezTo>
                <a:cubicBezTo>
                  <a:pt x="9558" y="7594"/>
                  <a:pt x="9548" y="7595"/>
                  <a:pt x="9539" y="7595"/>
                </a:cubicBezTo>
                <a:lnTo>
                  <a:pt x="145" y="7595"/>
                </a:lnTo>
                <a:cubicBezTo>
                  <a:pt x="135" y="7595"/>
                  <a:pt x="126" y="7594"/>
                  <a:pt x="117" y="7592"/>
                </a:cubicBezTo>
                <a:cubicBezTo>
                  <a:pt x="107" y="7590"/>
                  <a:pt x="98" y="7588"/>
                  <a:pt x="89" y="7584"/>
                </a:cubicBezTo>
                <a:cubicBezTo>
                  <a:pt x="81" y="7580"/>
                  <a:pt x="72" y="7576"/>
                  <a:pt x="64" y="7570"/>
                </a:cubicBezTo>
                <a:cubicBezTo>
                  <a:pt x="56" y="7565"/>
                  <a:pt x="49" y="7559"/>
                  <a:pt x="42" y="7552"/>
                </a:cubicBezTo>
                <a:cubicBezTo>
                  <a:pt x="35" y="7546"/>
                  <a:pt x="29" y="7538"/>
                  <a:pt x="24" y="7530"/>
                </a:cubicBezTo>
                <a:cubicBezTo>
                  <a:pt x="19" y="7522"/>
                  <a:pt x="14" y="7514"/>
                  <a:pt x="11" y="7505"/>
                </a:cubicBezTo>
                <a:cubicBezTo>
                  <a:pt x="7" y="7496"/>
                  <a:pt x="4" y="7487"/>
                  <a:pt x="2" y="7478"/>
                </a:cubicBezTo>
                <a:cubicBezTo>
                  <a:pt x="0" y="7468"/>
                  <a:pt x="0" y="7459"/>
                  <a:pt x="0" y="7449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8286480" y="30668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4791240" y="2569680"/>
            <a:ext cx="733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1970s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8465040" y="2975760"/>
            <a:ext cx="2461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Side-by-side fridge/freezer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8286480" y="36572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1"/>
                  <a:pt x="23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cubicBezTo>
                  <a:pt x="90" y="0"/>
                  <a:pt x="100" y="3"/>
                  <a:pt x="110" y="7"/>
                </a:cubicBezTo>
                <a:cubicBezTo>
                  <a:pt x="120" y="11"/>
                  <a:pt x="128" y="16"/>
                  <a:pt x="137" y="24"/>
                </a:cubicBezTo>
                <a:cubicBezTo>
                  <a:pt x="144" y="31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8465040" y="3252240"/>
            <a:ext cx="2227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designs became popular.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8465040" y="3566520"/>
            <a:ext cx="2654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Ice and water dispensers built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8286480" y="42573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8465040" y="3842640"/>
            <a:ext cx="1219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into the door.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8465040" y="4166640"/>
            <a:ext cx="2121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Energy-eﬃcient models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8465040" y="4433400"/>
            <a:ext cx="2274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introduced due to stricter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8115120" y="258120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4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3"/>
                  <a:pt x="517" y="349"/>
                  <a:pt x="510" y="366"/>
                </a:cubicBezTo>
                <a:cubicBezTo>
                  <a:pt x="503" y="382"/>
                  <a:pt x="495" y="397"/>
                  <a:pt x="486" y="411"/>
                </a:cubicBezTo>
                <a:cubicBezTo>
                  <a:pt x="476" y="426"/>
                  <a:pt x="464" y="439"/>
                  <a:pt x="452" y="451"/>
                </a:cubicBezTo>
                <a:cubicBezTo>
                  <a:pt x="439" y="464"/>
                  <a:pt x="426" y="475"/>
                  <a:pt x="412" y="484"/>
                </a:cubicBezTo>
                <a:cubicBezTo>
                  <a:pt x="397" y="494"/>
                  <a:pt x="382" y="503"/>
                  <a:pt x="366" y="510"/>
                </a:cubicBezTo>
                <a:cubicBezTo>
                  <a:pt x="350" y="516"/>
                  <a:pt x="333" y="521"/>
                  <a:pt x="316" y="525"/>
                </a:cubicBezTo>
                <a:cubicBezTo>
                  <a:pt x="299" y="528"/>
                  <a:pt x="282" y="530"/>
                  <a:pt x="265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1"/>
                  <a:pt x="179" y="516"/>
                  <a:pt x="163" y="510"/>
                </a:cubicBezTo>
                <a:cubicBezTo>
                  <a:pt x="147" y="503"/>
                  <a:pt x="132" y="494"/>
                  <a:pt x="118" y="484"/>
                </a:cubicBezTo>
                <a:cubicBezTo>
                  <a:pt x="103" y="475"/>
                  <a:pt x="90" y="464"/>
                  <a:pt x="77" y="451"/>
                </a:cubicBezTo>
                <a:cubicBezTo>
                  <a:pt x="65" y="439"/>
                  <a:pt x="54" y="426"/>
                  <a:pt x="45" y="411"/>
                </a:cubicBezTo>
                <a:cubicBezTo>
                  <a:pt x="35" y="397"/>
                  <a:pt x="27" y="382"/>
                  <a:pt x="20" y="366"/>
                </a:cubicBezTo>
                <a:cubicBezTo>
                  <a:pt x="13" y="349"/>
                  <a:pt x="8" y="333"/>
                  <a:pt x="5" y="316"/>
                </a:cubicBezTo>
                <a:cubicBezTo>
                  <a:pt x="2" y="299"/>
                  <a:pt x="0" y="282"/>
                  <a:pt x="0" y="264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5" y="117"/>
                </a:cubicBezTo>
                <a:cubicBezTo>
                  <a:pt x="54" y="103"/>
                  <a:pt x="65" y="89"/>
                  <a:pt x="77" y="77"/>
                </a:cubicBezTo>
                <a:cubicBezTo>
                  <a:pt x="90" y="65"/>
                  <a:pt x="103" y="54"/>
                  <a:pt x="118" y="44"/>
                </a:cubicBezTo>
                <a:cubicBezTo>
                  <a:pt x="132" y="35"/>
                  <a:pt x="147" y="26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5" y="0"/>
                </a:cubicBezTo>
                <a:cubicBezTo>
                  <a:pt x="282" y="0"/>
                  <a:pt x="299" y="1"/>
                  <a:pt x="316" y="5"/>
                </a:cubicBezTo>
                <a:cubicBezTo>
                  <a:pt x="333" y="8"/>
                  <a:pt x="350" y="13"/>
                  <a:pt x="366" y="20"/>
                </a:cubicBezTo>
                <a:cubicBezTo>
                  <a:pt x="382" y="26"/>
                  <a:pt x="397" y="35"/>
                  <a:pt x="412" y="44"/>
                </a:cubicBezTo>
                <a:cubicBezTo>
                  <a:pt x="426" y="54"/>
                  <a:pt x="439" y="65"/>
                  <a:pt x="452" y="77"/>
                </a:cubicBezTo>
                <a:cubicBezTo>
                  <a:pt x="464" y="89"/>
                  <a:pt x="476" y="103"/>
                  <a:pt x="486" y="117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4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8210520" y="2638080"/>
            <a:ext cx="0" cy="76320"/>
          </a:xfrm>
          <a:custGeom>
            <a:avLst/>
            <a:gdLst/>
            <a:ahLst/>
            <a:rect l="0" t="0" r="r" b="b"/>
            <a:pathLst>
              <a:path fill="none" w="0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8465040" y="4709520"/>
            <a:ext cx="1056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regulations.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8378640" y="2569680"/>
            <a:ext cx="733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1980s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9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6" name=""/>
          <p:cNvSpPr txBox="1"/>
          <p:nvPr/>
        </p:nvSpPr>
        <p:spPr>
          <a:xfrm>
            <a:off x="762120" y="1487520"/>
            <a:ext cx="32742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Compliance Fridges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762120" y="5528160"/>
            <a:ext cx="9962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more electronics and plastic parts made repairs harder and sometimes reduced lifespan compared to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762120" y="5832720"/>
            <a:ext cx="2784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earlier “bulletproof” models.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766440" y="2090520"/>
            <a:ext cx="3486600" cy="3286440"/>
          </a:xfrm>
          <a:custGeom>
            <a:avLst/>
            <a:gdLst/>
            <a:ahLst/>
            <a:rect l="0" t="0" r="r" b="b"/>
            <a:pathLst>
              <a:path w="9685" h="9129">
                <a:moveTo>
                  <a:pt x="0" y="898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8"/>
                  <a:pt x="9595" y="11"/>
                </a:cubicBezTo>
                <a:cubicBezTo>
                  <a:pt x="9604" y="15"/>
                  <a:pt x="9613" y="19"/>
                  <a:pt x="9620" y="25"/>
                </a:cubicBezTo>
                <a:cubicBezTo>
                  <a:pt x="9628" y="30"/>
                  <a:pt x="9636" y="36"/>
                  <a:pt x="9643" y="43"/>
                </a:cubicBezTo>
                <a:cubicBezTo>
                  <a:pt x="9649" y="49"/>
                  <a:pt x="9655" y="57"/>
                  <a:pt x="9661" y="65"/>
                </a:cubicBezTo>
                <a:cubicBezTo>
                  <a:pt x="9666" y="73"/>
                  <a:pt x="9670" y="81"/>
                  <a:pt x="9674" y="90"/>
                </a:cubicBezTo>
                <a:cubicBezTo>
                  <a:pt x="9678" y="99"/>
                  <a:pt x="9680" y="108"/>
                  <a:pt x="9682" y="117"/>
                </a:cubicBezTo>
                <a:cubicBezTo>
                  <a:pt x="9684" y="127"/>
                  <a:pt x="9685" y="136"/>
                  <a:pt x="9685" y="146"/>
                </a:cubicBezTo>
                <a:lnTo>
                  <a:pt x="9685" y="8984"/>
                </a:lnTo>
                <a:cubicBezTo>
                  <a:pt x="9685" y="8993"/>
                  <a:pt x="9684" y="9003"/>
                  <a:pt x="9682" y="9012"/>
                </a:cubicBezTo>
                <a:cubicBezTo>
                  <a:pt x="9680" y="9021"/>
                  <a:pt x="9678" y="9031"/>
                  <a:pt x="9674" y="9039"/>
                </a:cubicBezTo>
                <a:cubicBezTo>
                  <a:pt x="9670" y="9048"/>
                  <a:pt x="9666" y="9057"/>
                  <a:pt x="9661" y="9065"/>
                </a:cubicBezTo>
                <a:cubicBezTo>
                  <a:pt x="9655" y="9072"/>
                  <a:pt x="9649" y="9080"/>
                  <a:pt x="9643" y="9087"/>
                </a:cubicBezTo>
                <a:cubicBezTo>
                  <a:pt x="9636" y="9093"/>
                  <a:pt x="9628" y="9099"/>
                  <a:pt x="9620" y="9105"/>
                </a:cubicBezTo>
                <a:cubicBezTo>
                  <a:pt x="9613" y="9110"/>
                  <a:pt x="9604" y="9114"/>
                  <a:pt x="9595" y="9118"/>
                </a:cubicBezTo>
                <a:cubicBezTo>
                  <a:pt x="9586" y="9122"/>
                  <a:pt x="9577" y="9125"/>
                  <a:pt x="9568" y="9126"/>
                </a:cubicBezTo>
                <a:cubicBezTo>
                  <a:pt x="9559" y="9128"/>
                  <a:pt x="9549" y="9129"/>
                  <a:pt x="9540" y="9129"/>
                </a:cubicBezTo>
                <a:lnTo>
                  <a:pt x="146" y="9129"/>
                </a:lnTo>
                <a:cubicBezTo>
                  <a:pt x="136" y="9129"/>
                  <a:pt x="127" y="9128"/>
                  <a:pt x="118" y="9126"/>
                </a:cubicBezTo>
                <a:cubicBezTo>
                  <a:pt x="108" y="9125"/>
                  <a:pt x="99" y="9122"/>
                  <a:pt x="90" y="9118"/>
                </a:cubicBezTo>
                <a:cubicBezTo>
                  <a:pt x="81" y="9114"/>
                  <a:pt x="73" y="9110"/>
                  <a:pt x="65" y="9105"/>
                </a:cubicBezTo>
                <a:cubicBezTo>
                  <a:pt x="57" y="9099"/>
                  <a:pt x="50" y="9093"/>
                  <a:pt x="43" y="9087"/>
                </a:cubicBezTo>
                <a:cubicBezTo>
                  <a:pt x="36" y="9080"/>
                  <a:pt x="30" y="9072"/>
                  <a:pt x="25" y="9065"/>
                </a:cubicBezTo>
                <a:cubicBezTo>
                  <a:pt x="20" y="9057"/>
                  <a:pt x="15" y="9048"/>
                  <a:pt x="11" y="9039"/>
                </a:cubicBezTo>
                <a:cubicBezTo>
                  <a:pt x="8" y="9031"/>
                  <a:pt x="5" y="9021"/>
                  <a:pt x="3" y="9012"/>
                </a:cubicBezTo>
                <a:cubicBezTo>
                  <a:pt x="1" y="9003"/>
                  <a:pt x="0" y="8993"/>
                  <a:pt x="0" y="8984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766440" y="2090520"/>
            <a:ext cx="3486600" cy="3286440"/>
          </a:xfrm>
          <a:custGeom>
            <a:avLst/>
            <a:gdLst/>
            <a:ahLst/>
            <a:rect l="0" t="0" r="r" b="b"/>
            <a:pathLst>
              <a:path fill="none" w="9685" h="9129">
                <a:moveTo>
                  <a:pt x="0" y="898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8"/>
                  <a:pt x="9595" y="11"/>
                </a:cubicBezTo>
                <a:cubicBezTo>
                  <a:pt x="9604" y="15"/>
                  <a:pt x="9613" y="19"/>
                  <a:pt x="9620" y="25"/>
                </a:cubicBezTo>
                <a:cubicBezTo>
                  <a:pt x="9628" y="30"/>
                  <a:pt x="9636" y="36"/>
                  <a:pt x="9643" y="43"/>
                </a:cubicBezTo>
                <a:cubicBezTo>
                  <a:pt x="9649" y="49"/>
                  <a:pt x="9655" y="57"/>
                  <a:pt x="9661" y="65"/>
                </a:cubicBezTo>
                <a:cubicBezTo>
                  <a:pt x="9666" y="73"/>
                  <a:pt x="9670" y="81"/>
                  <a:pt x="9674" y="90"/>
                </a:cubicBezTo>
                <a:cubicBezTo>
                  <a:pt x="9678" y="99"/>
                  <a:pt x="9680" y="108"/>
                  <a:pt x="9682" y="117"/>
                </a:cubicBezTo>
                <a:cubicBezTo>
                  <a:pt x="9684" y="127"/>
                  <a:pt x="9685" y="136"/>
                  <a:pt x="9685" y="146"/>
                </a:cubicBezTo>
                <a:lnTo>
                  <a:pt x="9685" y="8984"/>
                </a:lnTo>
                <a:cubicBezTo>
                  <a:pt x="9685" y="8993"/>
                  <a:pt x="9684" y="9003"/>
                  <a:pt x="9682" y="9012"/>
                </a:cubicBezTo>
                <a:cubicBezTo>
                  <a:pt x="9680" y="9021"/>
                  <a:pt x="9678" y="9031"/>
                  <a:pt x="9674" y="9039"/>
                </a:cubicBezTo>
                <a:cubicBezTo>
                  <a:pt x="9670" y="9048"/>
                  <a:pt x="9666" y="9057"/>
                  <a:pt x="9661" y="9065"/>
                </a:cubicBezTo>
                <a:cubicBezTo>
                  <a:pt x="9655" y="9072"/>
                  <a:pt x="9649" y="9080"/>
                  <a:pt x="9643" y="9087"/>
                </a:cubicBezTo>
                <a:cubicBezTo>
                  <a:pt x="9636" y="9093"/>
                  <a:pt x="9628" y="9099"/>
                  <a:pt x="9620" y="9105"/>
                </a:cubicBezTo>
                <a:cubicBezTo>
                  <a:pt x="9613" y="9110"/>
                  <a:pt x="9604" y="9114"/>
                  <a:pt x="9595" y="9118"/>
                </a:cubicBezTo>
                <a:cubicBezTo>
                  <a:pt x="9586" y="9122"/>
                  <a:pt x="9577" y="9125"/>
                  <a:pt x="9568" y="9126"/>
                </a:cubicBezTo>
                <a:cubicBezTo>
                  <a:pt x="9559" y="9128"/>
                  <a:pt x="9549" y="9129"/>
                  <a:pt x="9540" y="9129"/>
                </a:cubicBezTo>
                <a:lnTo>
                  <a:pt x="146" y="9129"/>
                </a:lnTo>
                <a:cubicBezTo>
                  <a:pt x="136" y="9129"/>
                  <a:pt x="127" y="9128"/>
                  <a:pt x="118" y="9126"/>
                </a:cubicBezTo>
                <a:cubicBezTo>
                  <a:pt x="108" y="9125"/>
                  <a:pt x="99" y="9122"/>
                  <a:pt x="90" y="9118"/>
                </a:cubicBezTo>
                <a:cubicBezTo>
                  <a:pt x="81" y="9114"/>
                  <a:pt x="73" y="9110"/>
                  <a:pt x="65" y="9105"/>
                </a:cubicBezTo>
                <a:cubicBezTo>
                  <a:pt x="57" y="9099"/>
                  <a:pt x="50" y="9093"/>
                  <a:pt x="43" y="9087"/>
                </a:cubicBezTo>
                <a:cubicBezTo>
                  <a:pt x="36" y="9080"/>
                  <a:pt x="30" y="9072"/>
                  <a:pt x="25" y="9065"/>
                </a:cubicBezTo>
                <a:cubicBezTo>
                  <a:pt x="20" y="9057"/>
                  <a:pt x="15" y="9048"/>
                  <a:pt x="11" y="9039"/>
                </a:cubicBezTo>
                <a:cubicBezTo>
                  <a:pt x="8" y="9031"/>
                  <a:pt x="5" y="9021"/>
                  <a:pt x="3" y="9012"/>
                </a:cubicBezTo>
                <a:cubicBezTo>
                  <a:pt x="1" y="9003"/>
                  <a:pt x="0" y="8993"/>
                  <a:pt x="0" y="8984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1104840" y="2790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1289520" y="2699640"/>
            <a:ext cx="2774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Microprocessor-based controls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1289520" y="2975760"/>
            <a:ext cx="2096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for precise temperature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1104840" y="3657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1"/>
                  <a:pt x="24" y="24"/>
                </a:cubicBezTo>
                <a:cubicBezTo>
                  <a:pt x="31" y="16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1289520" y="3252240"/>
            <a:ext cx="963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regulation.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1289520" y="3566520"/>
            <a:ext cx="2517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Use of CFC-free refrigerants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1289520" y="3842640"/>
            <a:ext cx="2256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(environmental shift after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1104840" y="45241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3"/>
                  <a:pt x="120" y="149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1289520" y="4118760"/>
            <a:ext cx="1686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Montreal Protocol).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1289520" y="4433400"/>
            <a:ext cx="2868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Better humidity control for fresh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942840" y="2304720"/>
            <a:ext cx="190800" cy="191160"/>
          </a:xfrm>
          <a:custGeom>
            <a:avLst/>
            <a:gdLst/>
            <a:ahLst/>
            <a:rect l="0" t="0" r="r" b="b"/>
            <a:pathLst>
              <a:path fill="none" w="530" h="531">
                <a:moveTo>
                  <a:pt x="530" y="266"/>
                </a:moveTo>
                <a:cubicBezTo>
                  <a:pt x="530" y="283"/>
                  <a:pt x="528" y="301"/>
                  <a:pt x="525" y="318"/>
                </a:cubicBezTo>
                <a:cubicBezTo>
                  <a:pt x="522" y="335"/>
                  <a:pt x="517" y="351"/>
                  <a:pt x="510" y="367"/>
                </a:cubicBezTo>
                <a:cubicBezTo>
                  <a:pt x="503" y="383"/>
                  <a:pt x="495" y="399"/>
                  <a:pt x="485" y="413"/>
                </a:cubicBezTo>
                <a:cubicBezTo>
                  <a:pt x="476" y="427"/>
                  <a:pt x="465" y="441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2" y="531"/>
                  <a:pt x="264" y="531"/>
                </a:cubicBezTo>
                <a:cubicBezTo>
                  <a:pt x="247" y="531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1"/>
                  <a:pt x="54" y="427"/>
                  <a:pt x="44" y="413"/>
                </a:cubicBezTo>
                <a:cubicBezTo>
                  <a:pt x="35" y="399"/>
                  <a:pt x="27" y="383"/>
                  <a:pt x="20" y="367"/>
                </a:cubicBezTo>
                <a:cubicBezTo>
                  <a:pt x="13" y="351"/>
                  <a:pt x="8" y="335"/>
                  <a:pt x="5" y="318"/>
                </a:cubicBezTo>
                <a:cubicBezTo>
                  <a:pt x="2" y="301"/>
                  <a:pt x="0" y="283"/>
                  <a:pt x="0" y="266"/>
                </a:cubicBezTo>
                <a:cubicBezTo>
                  <a:pt x="0" y="249"/>
                  <a:pt x="2" y="231"/>
                  <a:pt x="5" y="214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2"/>
                  <a:pt x="44" y="118"/>
                </a:cubicBezTo>
                <a:cubicBezTo>
                  <a:pt x="54" y="104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3" y="21"/>
                </a:cubicBezTo>
                <a:cubicBezTo>
                  <a:pt x="179" y="14"/>
                  <a:pt x="196" y="9"/>
                  <a:pt x="213" y="6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6"/>
                </a:cubicBezTo>
                <a:cubicBezTo>
                  <a:pt x="334" y="9"/>
                  <a:pt x="351" y="14"/>
                  <a:pt x="367" y="21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4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6"/>
                  <a:pt x="525" y="214"/>
                </a:cubicBezTo>
                <a:cubicBezTo>
                  <a:pt x="528" y="231"/>
                  <a:pt x="530" y="249"/>
                  <a:pt x="530" y="266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1037880" y="236196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1289520" y="4709520"/>
            <a:ext cx="785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produce.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4357440" y="2090520"/>
            <a:ext cx="3476880" cy="3286440"/>
          </a:xfrm>
          <a:custGeom>
            <a:avLst/>
            <a:gdLst/>
            <a:ahLst/>
            <a:rect l="0" t="0" r="r" b="b"/>
            <a:pathLst>
              <a:path w="9658" h="9129">
                <a:moveTo>
                  <a:pt x="0" y="898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8"/>
                  <a:pt x="9569" y="11"/>
                </a:cubicBezTo>
                <a:cubicBezTo>
                  <a:pt x="9577" y="15"/>
                  <a:pt x="9586" y="19"/>
                  <a:pt x="9594" y="25"/>
                </a:cubicBezTo>
                <a:cubicBezTo>
                  <a:pt x="9602" y="30"/>
                  <a:pt x="9609" y="36"/>
                  <a:pt x="9616" y="43"/>
                </a:cubicBezTo>
                <a:cubicBezTo>
                  <a:pt x="9623" y="49"/>
                  <a:pt x="9629" y="57"/>
                  <a:pt x="9634" y="65"/>
                </a:cubicBezTo>
                <a:cubicBezTo>
                  <a:pt x="9639" y="73"/>
                  <a:pt x="9644" y="81"/>
                  <a:pt x="9647" y="90"/>
                </a:cubicBezTo>
                <a:cubicBezTo>
                  <a:pt x="9651" y="99"/>
                  <a:pt x="9654" y="108"/>
                  <a:pt x="9656" y="117"/>
                </a:cubicBezTo>
                <a:cubicBezTo>
                  <a:pt x="9658" y="127"/>
                  <a:pt x="9658" y="136"/>
                  <a:pt x="9658" y="146"/>
                </a:cubicBezTo>
                <a:lnTo>
                  <a:pt x="9658" y="8984"/>
                </a:lnTo>
                <a:cubicBezTo>
                  <a:pt x="9658" y="8993"/>
                  <a:pt x="9658" y="9003"/>
                  <a:pt x="9656" y="9012"/>
                </a:cubicBezTo>
                <a:cubicBezTo>
                  <a:pt x="9654" y="9021"/>
                  <a:pt x="9651" y="9031"/>
                  <a:pt x="9647" y="9039"/>
                </a:cubicBezTo>
                <a:cubicBezTo>
                  <a:pt x="9644" y="9048"/>
                  <a:pt x="9639" y="9057"/>
                  <a:pt x="9634" y="9065"/>
                </a:cubicBezTo>
                <a:cubicBezTo>
                  <a:pt x="9629" y="9072"/>
                  <a:pt x="9623" y="9080"/>
                  <a:pt x="9616" y="9087"/>
                </a:cubicBezTo>
                <a:cubicBezTo>
                  <a:pt x="9609" y="9093"/>
                  <a:pt x="9602" y="9099"/>
                  <a:pt x="9594" y="9105"/>
                </a:cubicBezTo>
                <a:cubicBezTo>
                  <a:pt x="9586" y="9110"/>
                  <a:pt x="9577" y="9114"/>
                  <a:pt x="9569" y="9118"/>
                </a:cubicBezTo>
                <a:cubicBezTo>
                  <a:pt x="9560" y="9122"/>
                  <a:pt x="9551" y="9125"/>
                  <a:pt x="9541" y="9126"/>
                </a:cubicBezTo>
                <a:cubicBezTo>
                  <a:pt x="9532" y="9128"/>
                  <a:pt x="9523" y="9129"/>
                  <a:pt x="9513" y="9129"/>
                </a:cubicBezTo>
                <a:lnTo>
                  <a:pt x="146" y="9129"/>
                </a:lnTo>
                <a:cubicBezTo>
                  <a:pt x="136" y="9129"/>
                  <a:pt x="127" y="9128"/>
                  <a:pt x="117" y="9126"/>
                </a:cubicBezTo>
                <a:cubicBezTo>
                  <a:pt x="108" y="9125"/>
                  <a:pt x="99" y="9122"/>
                  <a:pt x="90" y="9118"/>
                </a:cubicBezTo>
                <a:cubicBezTo>
                  <a:pt x="81" y="9114"/>
                  <a:pt x="73" y="9110"/>
                  <a:pt x="65" y="9105"/>
                </a:cubicBezTo>
                <a:cubicBezTo>
                  <a:pt x="57" y="9099"/>
                  <a:pt x="50" y="9093"/>
                  <a:pt x="43" y="9087"/>
                </a:cubicBezTo>
                <a:cubicBezTo>
                  <a:pt x="36" y="9080"/>
                  <a:pt x="30" y="9072"/>
                  <a:pt x="25" y="9065"/>
                </a:cubicBezTo>
                <a:cubicBezTo>
                  <a:pt x="19" y="9057"/>
                  <a:pt x="15" y="9048"/>
                  <a:pt x="11" y="9039"/>
                </a:cubicBezTo>
                <a:cubicBezTo>
                  <a:pt x="8" y="9031"/>
                  <a:pt x="5" y="9021"/>
                  <a:pt x="3" y="9012"/>
                </a:cubicBezTo>
                <a:cubicBezTo>
                  <a:pt x="1" y="9003"/>
                  <a:pt x="0" y="8993"/>
                  <a:pt x="0" y="8984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4357440" y="2090520"/>
            <a:ext cx="3476880" cy="3286440"/>
          </a:xfrm>
          <a:custGeom>
            <a:avLst/>
            <a:gdLst/>
            <a:ahLst/>
            <a:rect l="0" t="0" r="r" b="b"/>
            <a:pathLst>
              <a:path fill="none" w="9658" h="9129">
                <a:moveTo>
                  <a:pt x="0" y="898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8"/>
                  <a:pt x="9569" y="11"/>
                </a:cubicBezTo>
                <a:cubicBezTo>
                  <a:pt x="9577" y="15"/>
                  <a:pt x="9586" y="19"/>
                  <a:pt x="9594" y="25"/>
                </a:cubicBezTo>
                <a:cubicBezTo>
                  <a:pt x="9602" y="30"/>
                  <a:pt x="9609" y="36"/>
                  <a:pt x="9616" y="43"/>
                </a:cubicBezTo>
                <a:cubicBezTo>
                  <a:pt x="9623" y="49"/>
                  <a:pt x="9629" y="57"/>
                  <a:pt x="9634" y="65"/>
                </a:cubicBezTo>
                <a:cubicBezTo>
                  <a:pt x="9639" y="73"/>
                  <a:pt x="9644" y="81"/>
                  <a:pt x="9647" y="90"/>
                </a:cubicBezTo>
                <a:cubicBezTo>
                  <a:pt x="9651" y="99"/>
                  <a:pt x="9654" y="108"/>
                  <a:pt x="9656" y="117"/>
                </a:cubicBezTo>
                <a:cubicBezTo>
                  <a:pt x="9658" y="127"/>
                  <a:pt x="9658" y="136"/>
                  <a:pt x="9658" y="146"/>
                </a:cubicBezTo>
                <a:lnTo>
                  <a:pt x="9658" y="8984"/>
                </a:lnTo>
                <a:cubicBezTo>
                  <a:pt x="9658" y="8993"/>
                  <a:pt x="9658" y="9003"/>
                  <a:pt x="9656" y="9012"/>
                </a:cubicBezTo>
                <a:cubicBezTo>
                  <a:pt x="9654" y="9021"/>
                  <a:pt x="9651" y="9031"/>
                  <a:pt x="9647" y="9039"/>
                </a:cubicBezTo>
                <a:cubicBezTo>
                  <a:pt x="9644" y="9048"/>
                  <a:pt x="9639" y="9057"/>
                  <a:pt x="9634" y="9065"/>
                </a:cubicBezTo>
                <a:cubicBezTo>
                  <a:pt x="9629" y="9072"/>
                  <a:pt x="9623" y="9080"/>
                  <a:pt x="9616" y="9087"/>
                </a:cubicBezTo>
                <a:cubicBezTo>
                  <a:pt x="9609" y="9093"/>
                  <a:pt x="9602" y="9099"/>
                  <a:pt x="9594" y="9105"/>
                </a:cubicBezTo>
                <a:cubicBezTo>
                  <a:pt x="9586" y="9110"/>
                  <a:pt x="9577" y="9114"/>
                  <a:pt x="9569" y="9118"/>
                </a:cubicBezTo>
                <a:cubicBezTo>
                  <a:pt x="9560" y="9122"/>
                  <a:pt x="9551" y="9125"/>
                  <a:pt x="9541" y="9126"/>
                </a:cubicBezTo>
                <a:cubicBezTo>
                  <a:pt x="9532" y="9128"/>
                  <a:pt x="9523" y="9129"/>
                  <a:pt x="9513" y="9129"/>
                </a:cubicBezTo>
                <a:lnTo>
                  <a:pt x="146" y="9129"/>
                </a:lnTo>
                <a:cubicBezTo>
                  <a:pt x="136" y="9129"/>
                  <a:pt x="127" y="9128"/>
                  <a:pt x="117" y="9126"/>
                </a:cubicBezTo>
                <a:cubicBezTo>
                  <a:pt x="108" y="9125"/>
                  <a:pt x="99" y="9122"/>
                  <a:pt x="90" y="9118"/>
                </a:cubicBezTo>
                <a:cubicBezTo>
                  <a:pt x="81" y="9114"/>
                  <a:pt x="73" y="9110"/>
                  <a:pt x="65" y="9105"/>
                </a:cubicBezTo>
                <a:cubicBezTo>
                  <a:pt x="57" y="9099"/>
                  <a:pt x="50" y="9093"/>
                  <a:pt x="43" y="9087"/>
                </a:cubicBezTo>
                <a:cubicBezTo>
                  <a:pt x="36" y="9080"/>
                  <a:pt x="30" y="9072"/>
                  <a:pt x="25" y="9065"/>
                </a:cubicBezTo>
                <a:cubicBezTo>
                  <a:pt x="19" y="9057"/>
                  <a:pt x="15" y="9048"/>
                  <a:pt x="11" y="9039"/>
                </a:cubicBezTo>
                <a:cubicBezTo>
                  <a:pt x="8" y="9031"/>
                  <a:pt x="5" y="9021"/>
                  <a:pt x="3" y="9012"/>
                </a:cubicBezTo>
                <a:cubicBezTo>
                  <a:pt x="1" y="9003"/>
                  <a:pt x="0" y="8993"/>
                  <a:pt x="0" y="8984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4695480" y="2790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0"/>
                  <a:pt x="149" y="39"/>
                  <a:pt x="154" y="49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1203120" y="2293560"/>
            <a:ext cx="733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1990s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4877280" y="2699640"/>
            <a:ext cx="2642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Sleeker designs with stainless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4695480" y="33811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1" y="40"/>
                  <a:pt x="16" y="32"/>
                  <a:pt x="24" y="24"/>
                </a:cubicBezTo>
                <a:cubicBezTo>
                  <a:pt x="31" y="17"/>
                  <a:pt x="40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3" y="32"/>
                  <a:pt x="149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4877280" y="2975760"/>
            <a:ext cx="1220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steel ﬁnishes.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 txBox="1"/>
          <p:nvPr/>
        </p:nvSpPr>
        <p:spPr>
          <a:xfrm>
            <a:off x="4877280" y="3290400"/>
            <a:ext cx="2467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Multi-zone cooling systems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 txBox="1"/>
          <p:nvPr/>
        </p:nvSpPr>
        <p:spPr>
          <a:xfrm>
            <a:off x="4877280" y="3566520"/>
            <a:ext cx="2373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(diﬀerent temperatures for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4695480" y="42573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3" y="31"/>
                  <a:pt x="149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 txBox="1"/>
          <p:nvPr/>
        </p:nvSpPr>
        <p:spPr>
          <a:xfrm>
            <a:off x="4877280" y="3842640"/>
            <a:ext cx="2217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diﬀerent compartments).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4877280" y="4166640"/>
            <a:ext cx="2664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Introduction of energy ratings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 txBox="1"/>
          <p:nvPr/>
        </p:nvSpPr>
        <p:spPr>
          <a:xfrm>
            <a:off x="4877280" y="4433400"/>
            <a:ext cx="2052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eco-labels guiding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4533840" y="2304720"/>
            <a:ext cx="190800" cy="191160"/>
          </a:xfrm>
          <a:custGeom>
            <a:avLst/>
            <a:gdLst/>
            <a:ahLst/>
            <a:rect l="0" t="0" r="r" b="b"/>
            <a:pathLst>
              <a:path fill="none" w="530" h="531">
                <a:moveTo>
                  <a:pt x="530" y="266"/>
                </a:moveTo>
                <a:cubicBezTo>
                  <a:pt x="530" y="283"/>
                  <a:pt x="528" y="301"/>
                  <a:pt x="525" y="318"/>
                </a:cubicBezTo>
                <a:cubicBezTo>
                  <a:pt x="521" y="335"/>
                  <a:pt x="516" y="351"/>
                  <a:pt x="510" y="367"/>
                </a:cubicBezTo>
                <a:cubicBezTo>
                  <a:pt x="503" y="383"/>
                  <a:pt x="495" y="399"/>
                  <a:pt x="485" y="413"/>
                </a:cubicBezTo>
                <a:cubicBezTo>
                  <a:pt x="476" y="427"/>
                  <a:pt x="465" y="441"/>
                  <a:pt x="452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6" y="510"/>
                </a:cubicBezTo>
                <a:cubicBezTo>
                  <a:pt x="349" y="517"/>
                  <a:pt x="333" y="522"/>
                  <a:pt x="316" y="525"/>
                </a:cubicBezTo>
                <a:cubicBezTo>
                  <a:pt x="299" y="529"/>
                  <a:pt x="282" y="531"/>
                  <a:pt x="264" y="531"/>
                </a:cubicBezTo>
                <a:cubicBezTo>
                  <a:pt x="247" y="531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89" y="465"/>
                  <a:pt x="77" y="453"/>
                </a:cubicBezTo>
                <a:cubicBezTo>
                  <a:pt x="65" y="441"/>
                  <a:pt x="54" y="427"/>
                  <a:pt x="44" y="413"/>
                </a:cubicBezTo>
                <a:cubicBezTo>
                  <a:pt x="35" y="399"/>
                  <a:pt x="26" y="383"/>
                  <a:pt x="20" y="367"/>
                </a:cubicBezTo>
                <a:cubicBezTo>
                  <a:pt x="13" y="351"/>
                  <a:pt x="8" y="335"/>
                  <a:pt x="5" y="318"/>
                </a:cubicBezTo>
                <a:cubicBezTo>
                  <a:pt x="1" y="301"/>
                  <a:pt x="0" y="283"/>
                  <a:pt x="0" y="266"/>
                </a:cubicBezTo>
                <a:cubicBezTo>
                  <a:pt x="0" y="249"/>
                  <a:pt x="1" y="231"/>
                  <a:pt x="5" y="214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6" y="148"/>
                  <a:pt x="35" y="132"/>
                  <a:pt x="44" y="118"/>
                </a:cubicBezTo>
                <a:cubicBezTo>
                  <a:pt x="54" y="104"/>
                  <a:pt x="65" y="90"/>
                  <a:pt x="77" y="78"/>
                </a:cubicBezTo>
                <a:cubicBezTo>
                  <a:pt x="89" y="66"/>
                  <a:pt x="103" y="55"/>
                  <a:pt x="117" y="45"/>
                </a:cubicBezTo>
                <a:cubicBezTo>
                  <a:pt x="132" y="35"/>
                  <a:pt x="147" y="27"/>
                  <a:pt x="163" y="21"/>
                </a:cubicBezTo>
                <a:cubicBezTo>
                  <a:pt x="179" y="14"/>
                  <a:pt x="196" y="9"/>
                  <a:pt x="213" y="6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299" y="2"/>
                  <a:pt x="316" y="6"/>
                </a:cubicBezTo>
                <a:cubicBezTo>
                  <a:pt x="333" y="9"/>
                  <a:pt x="349" y="14"/>
                  <a:pt x="366" y="21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2" y="78"/>
                </a:cubicBezTo>
                <a:cubicBezTo>
                  <a:pt x="465" y="90"/>
                  <a:pt x="476" y="104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6" y="180"/>
                  <a:pt x="521" y="196"/>
                  <a:pt x="525" y="214"/>
                </a:cubicBezTo>
                <a:cubicBezTo>
                  <a:pt x="528" y="231"/>
                  <a:pt x="530" y="249"/>
                  <a:pt x="530" y="266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4628880" y="236196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 txBox="1"/>
          <p:nvPr/>
        </p:nvSpPr>
        <p:spPr>
          <a:xfrm>
            <a:off x="4877280" y="4709520"/>
            <a:ext cx="1558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consumer choice.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7939080" y="2090520"/>
            <a:ext cx="3486240" cy="3286440"/>
          </a:xfrm>
          <a:custGeom>
            <a:avLst/>
            <a:gdLst/>
            <a:ahLst/>
            <a:rect l="0" t="0" r="r" b="b"/>
            <a:pathLst>
              <a:path w="9684" h="9129">
                <a:moveTo>
                  <a:pt x="0" y="8984"/>
                </a:moveTo>
                <a:lnTo>
                  <a:pt x="0" y="146"/>
                </a:lnTo>
                <a:cubicBezTo>
                  <a:pt x="0" y="136"/>
                  <a:pt x="0" y="127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49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8"/>
                  <a:pt x="9594" y="11"/>
                </a:cubicBezTo>
                <a:cubicBezTo>
                  <a:pt x="9603" y="15"/>
                  <a:pt x="9612" y="19"/>
                  <a:pt x="9620" y="25"/>
                </a:cubicBezTo>
                <a:cubicBezTo>
                  <a:pt x="9628" y="30"/>
                  <a:pt x="9635" y="36"/>
                  <a:pt x="9642" y="43"/>
                </a:cubicBezTo>
                <a:cubicBezTo>
                  <a:pt x="9648" y="49"/>
                  <a:pt x="9654" y="57"/>
                  <a:pt x="9660" y="65"/>
                </a:cubicBezTo>
                <a:cubicBezTo>
                  <a:pt x="9665" y="73"/>
                  <a:pt x="9670" y="81"/>
                  <a:pt x="9673" y="90"/>
                </a:cubicBezTo>
                <a:cubicBezTo>
                  <a:pt x="9677" y="99"/>
                  <a:pt x="9680" y="108"/>
                  <a:pt x="9681" y="117"/>
                </a:cubicBezTo>
                <a:cubicBezTo>
                  <a:pt x="9683" y="127"/>
                  <a:pt x="9684" y="136"/>
                  <a:pt x="9684" y="146"/>
                </a:cubicBezTo>
                <a:lnTo>
                  <a:pt x="9684" y="8984"/>
                </a:lnTo>
                <a:cubicBezTo>
                  <a:pt x="9684" y="8993"/>
                  <a:pt x="9683" y="9003"/>
                  <a:pt x="9681" y="9012"/>
                </a:cubicBezTo>
                <a:cubicBezTo>
                  <a:pt x="9680" y="9021"/>
                  <a:pt x="9677" y="9031"/>
                  <a:pt x="9673" y="9039"/>
                </a:cubicBezTo>
                <a:cubicBezTo>
                  <a:pt x="9670" y="9048"/>
                  <a:pt x="9665" y="9057"/>
                  <a:pt x="9660" y="9065"/>
                </a:cubicBezTo>
                <a:cubicBezTo>
                  <a:pt x="9654" y="9072"/>
                  <a:pt x="9648" y="9080"/>
                  <a:pt x="9642" y="9087"/>
                </a:cubicBezTo>
                <a:cubicBezTo>
                  <a:pt x="9635" y="9093"/>
                  <a:pt x="9628" y="9099"/>
                  <a:pt x="9620" y="9105"/>
                </a:cubicBezTo>
                <a:cubicBezTo>
                  <a:pt x="9612" y="9110"/>
                  <a:pt x="9603" y="9114"/>
                  <a:pt x="9594" y="9118"/>
                </a:cubicBezTo>
                <a:cubicBezTo>
                  <a:pt x="9586" y="9122"/>
                  <a:pt x="9577" y="9125"/>
                  <a:pt x="9567" y="9126"/>
                </a:cubicBezTo>
                <a:cubicBezTo>
                  <a:pt x="9558" y="9128"/>
                  <a:pt x="9548" y="9129"/>
                  <a:pt x="9539" y="9129"/>
                </a:cubicBezTo>
                <a:lnTo>
                  <a:pt x="145" y="9129"/>
                </a:lnTo>
                <a:cubicBezTo>
                  <a:pt x="135" y="9129"/>
                  <a:pt x="126" y="9128"/>
                  <a:pt x="117" y="9126"/>
                </a:cubicBezTo>
                <a:cubicBezTo>
                  <a:pt x="107" y="9125"/>
                  <a:pt x="98" y="9122"/>
                  <a:pt x="89" y="9118"/>
                </a:cubicBezTo>
                <a:cubicBezTo>
                  <a:pt x="81" y="9114"/>
                  <a:pt x="72" y="9110"/>
                  <a:pt x="64" y="9105"/>
                </a:cubicBezTo>
                <a:cubicBezTo>
                  <a:pt x="56" y="9099"/>
                  <a:pt x="49" y="9093"/>
                  <a:pt x="42" y="9087"/>
                </a:cubicBezTo>
                <a:cubicBezTo>
                  <a:pt x="35" y="9080"/>
                  <a:pt x="29" y="9072"/>
                  <a:pt x="24" y="9065"/>
                </a:cubicBezTo>
                <a:cubicBezTo>
                  <a:pt x="19" y="9057"/>
                  <a:pt x="14" y="9048"/>
                  <a:pt x="11" y="9039"/>
                </a:cubicBezTo>
                <a:cubicBezTo>
                  <a:pt x="7" y="9031"/>
                  <a:pt x="4" y="9021"/>
                  <a:pt x="2" y="9012"/>
                </a:cubicBezTo>
                <a:cubicBezTo>
                  <a:pt x="0" y="9003"/>
                  <a:pt x="0" y="8993"/>
                  <a:pt x="0" y="8984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7939080" y="2090520"/>
            <a:ext cx="3486240" cy="3286440"/>
          </a:xfrm>
          <a:custGeom>
            <a:avLst/>
            <a:gdLst/>
            <a:ahLst/>
            <a:rect l="0" t="0" r="r" b="b"/>
            <a:pathLst>
              <a:path fill="none" w="9684" h="9129">
                <a:moveTo>
                  <a:pt x="0" y="8984"/>
                </a:moveTo>
                <a:lnTo>
                  <a:pt x="0" y="146"/>
                </a:lnTo>
                <a:cubicBezTo>
                  <a:pt x="0" y="136"/>
                  <a:pt x="0" y="127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49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8"/>
                  <a:pt x="9594" y="11"/>
                </a:cubicBezTo>
                <a:cubicBezTo>
                  <a:pt x="9603" y="15"/>
                  <a:pt x="9612" y="19"/>
                  <a:pt x="9620" y="25"/>
                </a:cubicBezTo>
                <a:cubicBezTo>
                  <a:pt x="9628" y="30"/>
                  <a:pt x="9635" y="36"/>
                  <a:pt x="9642" y="43"/>
                </a:cubicBezTo>
                <a:cubicBezTo>
                  <a:pt x="9648" y="49"/>
                  <a:pt x="9654" y="57"/>
                  <a:pt x="9660" y="65"/>
                </a:cubicBezTo>
                <a:cubicBezTo>
                  <a:pt x="9665" y="73"/>
                  <a:pt x="9670" y="81"/>
                  <a:pt x="9673" y="90"/>
                </a:cubicBezTo>
                <a:cubicBezTo>
                  <a:pt x="9677" y="99"/>
                  <a:pt x="9680" y="108"/>
                  <a:pt x="9681" y="117"/>
                </a:cubicBezTo>
                <a:cubicBezTo>
                  <a:pt x="9683" y="127"/>
                  <a:pt x="9684" y="136"/>
                  <a:pt x="9684" y="146"/>
                </a:cubicBezTo>
                <a:lnTo>
                  <a:pt x="9684" y="8984"/>
                </a:lnTo>
                <a:cubicBezTo>
                  <a:pt x="9684" y="8993"/>
                  <a:pt x="9683" y="9003"/>
                  <a:pt x="9681" y="9012"/>
                </a:cubicBezTo>
                <a:cubicBezTo>
                  <a:pt x="9680" y="9021"/>
                  <a:pt x="9677" y="9031"/>
                  <a:pt x="9673" y="9039"/>
                </a:cubicBezTo>
                <a:cubicBezTo>
                  <a:pt x="9670" y="9048"/>
                  <a:pt x="9665" y="9057"/>
                  <a:pt x="9660" y="9065"/>
                </a:cubicBezTo>
                <a:cubicBezTo>
                  <a:pt x="9654" y="9072"/>
                  <a:pt x="9648" y="9080"/>
                  <a:pt x="9642" y="9087"/>
                </a:cubicBezTo>
                <a:cubicBezTo>
                  <a:pt x="9635" y="9093"/>
                  <a:pt x="9628" y="9099"/>
                  <a:pt x="9620" y="9105"/>
                </a:cubicBezTo>
                <a:cubicBezTo>
                  <a:pt x="9612" y="9110"/>
                  <a:pt x="9603" y="9114"/>
                  <a:pt x="9594" y="9118"/>
                </a:cubicBezTo>
                <a:cubicBezTo>
                  <a:pt x="9586" y="9122"/>
                  <a:pt x="9577" y="9125"/>
                  <a:pt x="9567" y="9126"/>
                </a:cubicBezTo>
                <a:cubicBezTo>
                  <a:pt x="9558" y="9128"/>
                  <a:pt x="9548" y="9129"/>
                  <a:pt x="9539" y="9129"/>
                </a:cubicBezTo>
                <a:lnTo>
                  <a:pt x="145" y="9129"/>
                </a:lnTo>
                <a:cubicBezTo>
                  <a:pt x="135" y="9129"/>
                  <a:pt x="126" y="9128"/>
                  <a:pt x="117" y="9126"/>
                </a:cubicBezTo>
                <a:cubicBezTo>
                  <a:pt x="107" y="9125"/>
                  <a:pt x="98" y="9122"/>
                  <a:pt x="89" y="9118"/>
                </a:cubicBezTo>
                <a:cubicBezTo>
                  <a:pt x="81" y="9114"/>
                  <a:pt x="72" y="9110"/>
                  <a:pt x="64" y="9105"/>
                </a:cubicBezTo>
                <a:cubicBezTo>
                  <a:pt x="56" y="9099"/>
                  <a:pt x="49" y="9093"/>
                  <a:pt x="42" y="9087"/>
                </a:cubicBezTo>
                <a:cubicBezTo>
                  <a:pt x="35" y="9080"/>
                  <a:pt x="29" y="9072"/>
                  <a:pt x="24" y="9065"/>
                </a:cubicBezTo>
                <a:cubicBezTo>
                  <a:pt x="19" y="9057"/>
                  <a:pt x="14" y="9048"/>
                  <a:pt x="11" y="9039"/>
                </a:cubicBezTo>
                <a:cubicBezTo>
                  <a:pt x="7" y="9031"/>
                  <a:pt x="4" y="9021"/>
                  <a:pt x="2" y="9012"/>
                </a:cubicBezTo>
                <a:cubicBezTo>
                  <a:pt x="0" y="9003"/>
                  <a:pt x="0" y="8993"/>
                  <a:pt x="0" y="8984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8286480" y="2790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8" y="144"/>
                  <a:pt x="120" y="149"/>
                  <a:pt x="110" y="153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40" y="149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4790880" y="2293560"/>
            <a:ext cx="733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2000s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8465040" y="2699640"/>
            <a:ext cx="2662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Wi-Fi-enabled “smart fridges”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8465040" y="2975760"/>
            <a:ext cx="2517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with touchscreens, cameras,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8465040" y="3252240"/>
            <a:ext cx="1688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connectivity to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8286480" y="3933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8" y="144"/>
                  <a:pt x="120" y="149"/>
                  <a:pt x="110" y="153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40" y="149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8465040" y="3519000"/>
            <a:ext cx="1216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smartphones.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8465040" y="3842640"/>
            <a:ext cx="2188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Inverter compressors for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8286480" y="45241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6"/>
                </a:cubicBezTo>
                <a:cubicBezTo>
                  <a:pt x="128" y="143"/>
                  <a:pt x="120" y="149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49"/>
                  <a:pt x="31" y="143"/>
                  <a:pt x="23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8465040" y="4118760"/>
            <a:ext cx="2741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quieter, more eﬃcient cooling.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8465040" y="4433400"/>
            <a:ext cx="2355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LED lighting and advanced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8465040" y="4709520"/>
            <a:ext cx="2539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insulation further cut energy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8115120" y="2304720"/>
            <a:ext cx="190800" cy="191160"/>
          </a:xfrm>
          <a:custGeom>
            <a:avLst/>
            <a:gdLst/>
            <a:ahLst/>
            <a:rect l="0" t="0" r="r" b="b"/>
            <a:pathLst>
              <a:path fill="none" w="530" h="531">
                <a:moveTo>
                  <a:pt x="530" y="266"/>
                </a:moveTo>
                <a:cubicBezTo>
                  <a:pt x="530" y="283"/>
                  <a:pt x="528" y="301"/>
                  <a:pt x="525" y="318"/>
                </a:cubicBezTo>
                <a:cubicBezTo>
                  <a:pt x="522" y="335"/>
                  <a:pt x="517" y="351"/>
                  <a:pt x="510" y="367"/>
                </a:cubicBezTo>
                <a:cubicBezTo>
                  <a:pt x="503" y="383"/>
                  <a:pt x="495" y="399"/>
                  <a:pt x="486" y="413"/>
                </a:cubicBezTo>
                <a:cubicBezTo>
                  <a:pt x="476" y="427"/>
                  <a:pt x="464" y="441"/>
                  <a:pt x="452" y="453"/>
                </a:cubicBezTo>
                <a:cubicBezTo>
                  <a:pt x="439" y="465"/>
                  <a:pt x="426" y="476"/>
                  <a:pt x="412" y="486"/>
                </a:cubicBezTo>
                <a:cubicBezTo>
                  <a:pt x="397" y="496"/>
                  <a:pt x="382" y="504"/>
                  <a:pt x="366" y="510"/>
                </a:cubicBezTo>
                <a:cubicBezTo>
                  <a:pt x="350" y="517"/>
                  <a:pt x="333" y="522"/>
                  <a:pt x="316" y="525"/>
                </a:cubicBezTo>
                <a:cubicBezTo>
                  <a:pt x="299" y="529"/>
                  <a:pt x="282" y="531"/>
                  <a:pt x="265" y="531"/>
                </a:cubicBezTo>
                <a:cubicBezTo>
                  <a:pt x="247" y="531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6"/>
                  <a:pt x="118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1"/>
                  <a:pt x="54" y="427"/>
                  <a:pt x="45" y="413"/>
                </a:cubicBezTo>
                <a:cubicBezTo>
                  <a:pt x="35" y="399"/>
                  <a:pt x="27" y="383"/>
                  <a:pt x="20" y="367"/>
                </a:cubicBezTo>
                <a:cubicBezTo>
                  <a:pt x="13" y="351"/>
                  <a:pt x="8" y="335"/>
                  <a:pt x="5" y="318"/>
                </a:cubicBezTo>
                <a:cubicBezTo>
                  <a:pt x="2" y="301"/>
                  <a:pt x="0" y="283"/>
                  <a:pt x="0" y="266"/>
                </a:cubicBezTo>
                <a:cubicBezTo>
                  <a:pt x="0" y="249"/>
                  <a:pt x="2" y="231"/>
                  <a:pt x="5" y="214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2"/>
                  <a:pt x="45" y="118"/>
                </a:cubicBezTo>
                <a:cubicBezTo>
                  <a:pt x="54" y="104"/>
                  <a:pt x="65" y="90"/>
                  <a:pt x="77" y="78"/>
                </a:cubicBezTo>
                <a:cubicBezTo>
                  <a:pt x="90" y="66"/>
                  <a:pt x="103" y="55"/>
                  <a:pt x="118" y="45"/>
                </a:cubicBezTo>
                <a:cubicBezTo>
                  <a:pt x="132" y="35"/>
                  <a:pt x="147" y="27"/>
                  <a:pt x="163" y="21"/>
                </a:cubicBezTo>
                <a:cubicBezTo>
                  <a:pt x="179" y="14"/>
                  <a:pt x="196" y="9"/>
                  <a:pt x="213" y="6"/>
                </a:cubicBezTo>
                <a:cubicBezTo>
                  <a:pt x="230" y="2"/>
                  <a:pt x="247" y="0"/>
                  <a:pt x="265" y="0"/>
                </a:cubicBezTo>
                <a:cubicBezTo>
                  <a:pt x="282" y="0"/>
                  <a:pt x="299" y="2"/>
                  <a:pt x="316" y="6"/>
                </a:cubicBezTo>
                <a:cubicBezTo>
                  <a:pt x="333" y="9"/>
                  <a:pt x="350" y="14"/>
                  <a:pt x="366" y="21"/>
                </a:cubicBezTo>
                <a:cubicBezTo>
                  <a:pt x="382" y="27"/>
                  <a:pt x="397" y="35"/>
                  <a:pt x="412" y="45"/>
                </a:cubicBezTo>
                <a:cubicBezTo>
                  <a:pt x="426" y="55"/>
                  <a:pt x="439" y="66"/>
                  <a:pt x="452" y="78"/>
                </a:cubicBezTo>
                <a:cubicBezTo>
                  <a:pt x="464" y="90"/>
                  <a:pt x="476" y="104"/>
                  <a:pt x="486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6"/>
                  <a:pt x="525" y="214"/>
                </a:cubicBezTo>
                <a:cubicBezTo>
                  <a:pt x="528" y="231"/>
                  <a:pt x="530" y="249"/>
                  <a:pt x="530" y="266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8210520" y="2361960"/>
            <a:ext cx="0" cy="76320"/>
          </a:xfrm>
          <a:custGeom>
            <a:avLst/>
            <a:gdLst/>
            <a:ahLst/>
            <a:rect l="0" t="0" r="r" b="b"/>
            <a:pathLst>
              <a:path fill="none" w="0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8465040" y="4985640"/>
            <a:ext cx="367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use.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8378640" y="2293560"/>
            <a:ext cx="733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2010s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5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6" name=""/>
          <p:cNvSpPr txBox="1"/>
          <p:nvPr/>
        </p:nvSpPr>
        <p:spPr>
          <a:xfrm>
            <a:off x="762120" y="2765880"/>
            <a:ext cx="10334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Systematic design provides a structured and methodical way to manage the complexity inherent in large,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762120" y="3070440"/>
            <a:ext cx="265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multi-component systems.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762120" y="3527640"/>
            <a:ext cx="105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It is both a mindset and a methodology, drawing from systems thinking, optimisation, and domain-speciﬁc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762120" y="3832560"/>
            <a:ext cx="2178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engineering practices.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762120" y="4280400"/>
            <a:ext cx="10563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By integrating stakeholder needs, technical constraints, and adaptive feedback, systematic design becomes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762120" y="4584960"/>
            <a:ext cx="8902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essential not just for building systems that work, but for building systems that can evolve.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264726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762120" y="372600"/>
            <a:ext cx="3480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Conclusion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69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70" name="" descr=""/>
          <p:cNvPicPr/>
          <p:nvPr/>
        </p:nvPicPr>
        <p:blipFill>
          <a:blip r:embed="rId1"/>
          <a:stretch/>
        </p:blipFill>
        <p:spPr>
          <a:xfrm>
            <a:off x="6324480" y="2695680"/>
            <a:ext cx="5714640" cy="320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1" name=""/>
          <p:cNvSpPr txBox="1"/>
          <p:nvPr/>
        </p:nvSpPr>
        <p:spPr>
          <a:xfrm>
            <a:off x="857160" y="2437920"/>
            <a:ext cx="2017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Dr Nawfal Al Hashimy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857160" y="2704680"/>
            <a:ext cx="29660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Lecturer in Cyber Physical Security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857160" y="3123720"/>
            <a:ext cx="57556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Universtity of Southampton 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| Faculty of Engineering and Physical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857160" y="3390480"/>
            <a:ext cx="731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Sciences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857160" y="3657240"/>
            <a:ext cx="34272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Cyber Physical Systems Research Group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857160" y="4087440"/>
            <a:ext cx="178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HiraginoSans-W3"/>
                <a:ea typeface="HiraginoSans-W3"/>
              </a:rPr>
              <a:t>☎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1035000" y="4076280"/>
            <a:ext cx="20062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 +44 (0) 23 8059 6659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857160" y="4495320"/>
            <a:ext cx="19512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@ Nawfal@soton.ac.uk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857160" y="4914360"/>
            <a:ext cx="3756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Highﬁeld Campus, Building 53, Room 4049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857160" y="5181120"/>
            <a:ext cx="36356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Burgess Road, Southampton SO17 1BJ, UK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857160" y="634680"/>
            <a:ext cx="414000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Thank you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LibreOffice/25.2.5.2$MacOSX_AARCH64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