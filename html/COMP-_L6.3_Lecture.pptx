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2454120"/>
            <a:ext cx="85212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Software Architecture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3349440"/>
            <a:ext cx="601668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Models – Part 2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4483800"/>
            <a:ext cx="97329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Distributed and interaction-centric paradigms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4095720" y="2051280"/>
            <a:ext cx="438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 you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244760" y="2508480"/>
            <a:ext cx="636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Describe ﬁve major interaction-oriented software architecture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02160" y="2813400"/>
            <a:ext cx="780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244760" y="3165840"/>
            <a:ext cx="590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Diﬀerentiate their communication patterns and structural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502160" y="3470760"/>
            <a:ext cx="129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organisation.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244760" y="3832560"/>
            <a:ext cx="690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Evaluate their strengths and weaknesses in real-world applications.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244760" y="4185000"/>
            <a:ext cx="6771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Apply these models to design scalable, maintainable, and resilient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502160" y="4489920"/>
            <a:ext cx="858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"/>
          <p:cNvSpPr/>
          <p:nvPr/>
        </p:nvSpPr>
        <p:spPr>
          <a:xfrm>
            <a:off x="4448160" y="18763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705200" y="1724400"/>
            <a:ext cx="61261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Refresh: interaction patterns and concept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448160" y="28666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1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6" y="66"/>
                  <a:pt x="26" y="52"/>
                  <a:pt x="38" y="39"/>
                </a:cubicBezTo>
                <a:cubicBezTo>
                  <a:pt x="51" y="27"/>
                  <a:pt x="65" y="17"/>
                  <a:pt x="81" y="11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1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705200" y="2181600"/>
            <a:ext cx="16664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deﬁnitions.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705200" y="2715120"/>
            <a:ext cx="66643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Deep dives: client–server, SOA, event-driven,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4448160" y="38574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8"/>
                  <a:pt x="200" y="249"/>
                  <a:pt x="182" y="256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6"/>
                </a:cubicBezTo>
                <a:cubicBezTo>
                  <a:pt x="65" y="249"/>
                  <a:pt x="51" y="238"/>
                  <a:pt x="38" y="226"/>
                </a:cubicBezTo>
                <a:cubicBezTo>
                  <a:pt x="26" y="214"/>
                  <a:pt x="16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705200" y="3172320"/>
            <a:ext cx="31993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MVC, pipe-and-ﬁlter.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705200" y="3705840"/>
            <a:ext cx="54997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Comparative analysis and integration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4448160" y="4848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705200" y="4163040"/>
            <a:ext cx="13244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patterns.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705200" y="4696200"/>
            <a:ext cx="57880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Hybrid use cases and design exercises.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47440" y="381960"/>
            <a:ext cx="237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Agenda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0" y="2962440"/>
            <a:ext cx="6095520" cy="9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 txBox="1"/>
          <p:nvPr/>
        </p:nvSpPr>
        <p:spPr>
          <a:xfrm>
            <a:off x="6858000" y="3070440"/>
            <a:ext cx="353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client–server model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underpins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858000" y="3375360"/>
            <a:ext cx="452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networked systems. Clients request resources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858000" y="3680280"/>
            <a:ext cx="399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or services; servers respond with data 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858000" y="3975480"/>
            <a:ext cx="42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actions—forming the backbone of the web,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858000" y="4280400"/>
            <a:ext cx="323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email, and database ecosystems.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33428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858000" y="-8280"/>
            <a:ext cx="4119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Client–Server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6858000" y="753480"/>
            <a:ext cx="1902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Model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33428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66440" y="1528560"/>
            <a:ext cx="10658880" cy="1467360"/>
          </a:xfrm>
          <a:custGeom>
            <a:avLst/>
            <a:gdLst/>
            <a:ahLst/>
            <a:rect l="0" t="0" r="r" b="b"/>
            <a:pathLst>
              <a:path w="29608" h="4076">
                <a:moveTo>
                  <a:pt x="0" y="393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0"/>
                </a:lnTo>
                <a:cubicBezTo>
                  <a:pt x="29608" y="3940"/>
                  <a:pt x="29607" y="3949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6"/>
                  <a:pt x="29566" y="4033"/>
                </a:cubicBezTo>
                <a:cubicBezTo>
                  <a:pt x="29559" y="4040"/>
                  <a:pt x="29552" y="4046"/>
                  <a:pt x="29544" y="4051"/>
                </a:cubicBezTo>
                <a:cubicBezTo>
                  <a:pt x="29536" y="4056"/>
                  <a:pt x="29527" y="4061"/>
                  <a:pt x="29518" y="4065"/>
                </a:cubicBezTo>
                <a:cubicBezTo>
                  <a:pt x="29510" y="4068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8"/>
                  <a:pt x="90" y="4065"/>
                </a:cubicBezTo>
                <a:cubicBezTo>
                  <a:pt x="81" y="4061"/>
                  <a:pt x="73" y="4056"/>
                  <a:pt x="65" y="4051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6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49"/>
                  <a:pt x="0" y="3940"/>
                  <a:pt x="0" y="3930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66440" y="1528560"/>
            <a:ext cx="10658880" cy="1467360"/>
          </a:xfrm>
          <a:custGeom>
            <a:avLst/>
            <a:gdLst/>
            <a:ahLst/>
            <a:rect l="0" t="0" r="r" b="b"/>
            <a:pathLst>
              <a:path fill="none" w="29608" h="4076">
                <a:moveTo>
                  <a:pt x="0" y="393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0"/>
                </a:lnTo>
                <a:cubicBezTo>
                  <a:pt x="29608" y="3940"/>
                  <a:pt x="29607" y="3949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6"/>
                  <a:pt x="29566" y="4033"/>
                </a:cubicBezTo>
                <a:cubicBezTo>
                  <a:pt x="29559" y="4040"/>
                  <a:pt x="29552" y="4046"/>
                  <a:pt x="29544" y="4051"/>
                </a:cubicBezTo>
                <a:cubicBezTo>
                  <a:pt x="29536" y="4056"/>
                  <a:pt x="29527" y="4061"/>
                  <a:pt x="29518" y="4065"/>
                </a:cubicBezTo>
                <a:cubicBezTo>
                  <a:pt x="29510" y="4068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8"/>
                  <a:pt x="90" y="4065"/>
                </a:cubicBezTo>
                <a:cubicBezTo>
                  <a:pt x="81" y="4061"/>
                  <a:pt x="73" y="4056"/>
                  <a:pt x="65" y="4051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6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49"/>
                  <a:pt x="0" y="3940"/>
                  <a:pt x="0" y="3930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62120" y="372600"/>
            <a:ext cx="4119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Client–Server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104840" y="2057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923760" y="1632960"/>
            <a:ext cx="110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104840" y="2381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289520" y="1966320"/>
            <a:ext cx="5609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Clear separation of presentation (client) and core logic (server).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104840" y="2695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289520" y="2289960"/>
            <a:ext cx="4675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Centralised control over data, security, and auditing.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766440" y="3119400"/>
            <a:ext cx="10658880" cy="1467000"/>
          </a:xfrm>
          <a:custGeom>
            <a:avLst/>
            <a:gdLst/>
            <a:ahLst/>
            <a:rect l="0" t="0" r="r" b="b"/>
            <a:pathLst>
              <a:path w="29608" h="4075">
                <a:moveTo>
                  <a:pt x="0" y="39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930"/>
                </a:lnTo>
                <a:cubicBezTo>
                  <a:pt x="29608" y="3939"/>
                  <a:pt x="29607" y="3949"/>
                  <a:pt x="29605" y="3958"/>
                </a:cubicBezTo>
                <a:cubicBezTo>
                  <a:pt x="29604" y="3967"/>
                  <a:pt x="29601" y="3977"/>
                  <a:pt x="29597" y="3985"/>
                </a:cubicBezTo>
                <a:cubicBezTo>
                  <a:pt x="29594" y="3994"/>
                  <a:pt x="29589" y="4003"/>
                  <a:pt x="29584" y="4011"/>
                </a:cubicBezTo>
                <a:cubicBezTo>
                  <a:pt x="29578" y="4018"/>
                  <a:pt x="29572" y="4026"/>
                  <a:pt x="29566" y="4033"/>
                </a:cubicBezTo>
                <a:cubicBezTo>
                  <a:pt x="29559" y="4039"/>
                  <a:pt x="29552" y="4045"/>
                  <a:pt x="29544" y="4051"/>
                </a:cubicBezTo>
                <a:cubicBezTo>
                  <a:pt x="29536" y="4056"/>
                  <a:pt x="29527" y="4060"/>
                  <a:pt x="29518" y="4064"/>
                </a:cubicBezTo>
                <a:cubicBezTo>
                  <a:pt x="29510" y="4068"/>
                  <a:pt x="29501" y="4071"/>
                  <a:pt x="29491" y="4072"/>
                </a:cubicBezTo>
                <a:cubicBezTo>
                  <a:pt x="29482" y="4074"/>
                  <a:pt x="29472" y="4075"/>
                  <a:pt x="29463" y="4075"/>
                </a:cubicBezTo>
                <a:lnTo>
                  <a:pt x="146" y="4075"/>
                </a:lnTo>
                <a:cubicBezTo>
                  <a:pt x="136" y="4075"/>
                  <a:pt x="127" y="4074"/>
                  <a:pt x="118" y="4072"/>
                </a:cubicBezTo>
                <a:cubicBezTo>
                  <a:pt x="108" y="4071"/>
                  <a:pt x="99" y="4068"/>
                  <a:pt x="90" y="4064"/>
                </a:cubicBezTo>
                <a:cubicBezTo>
                  <a:pt x="81" y="4060"/>
                  <a:pt x="73" y="4056"/>
                  <a:pt x="65" y="4051"/>
                </a:cubicBezTo>
                <a:cubicBezTo>
                  <a:pt x="57" y="4045"/>
                  <a:pt x="50" y="4039"/>
                  <a:pt x="43" y="4033"/>
                </a:cubicBezTo>
                <a:cubicBezTo>
                  <a:pt x="36" y="4026"/>
                  <a:pt x="30" y="4018"/>
                  <a:pt x="25" y="4011"/>
                </a:cubicBezTo>
                <a:cubicBezTo>
                  <a:pt x="20" y="4003"/>
                  <a:pt x="15" y="3994"/>
                  <a:pt x="11" y="3985"/>
                </a:cubicBezTo>
                <a:cubicBezTo>
                  <a:pt x="8" y="3977"/>
                  <a:pt x="5" y="3967"/>
                  <a:pt x="3" y="3958"/>
                </a:cubicBezTo>
                <a:cubicBezTo>
                  <a:pt x="1" y="3949"/>
                  <a:pt x="0" y="3939"/>
                  <a:pt x="0" y="3930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766440" y="3119400"/>
            <a:ext cx="10658880" cy="1467000"/>
          </a:xfrm>
          <a:custGeom>
            <a:avLst/>
            <a:gdLst/>
            <a:ahLst/>
            <a:rect l="0" t="0" r="r" b="b"/>
            <a:pathLst>
              <a:path fill="none" w="29608" h="4075">
                <a:moveTo>
                  <a:pt x="0" y="39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930"/>
                </a:lnTo>
                <a:cubicBezTo>
                  <a:pt x="29608" y="3939"/>
                  <a:pt x="29607" y="3949"/>
                  <a:pt x="29605" y="3958"/>
                </a:cubicBezTo>
                <a:cubicBezTo>
                  <a:pt x="29604" y="3967"/>
                  <a:pt x="29601" y="3977"/>
                  <a:pt x="29597" y="3985"/>
                </a:cubicBezTo>
                <a:cubicBezTo>
                  <a:pt x="29594" y="3994"/>
                  <a:pt x="29589" y="4003"/>
                  <a:pt x="29584" y="4011"/>
                </a:cubicBezTo>
                <a:cubicBezTo>
                  <a:pt x="29578" y="4018"/>
                  <a:pt x="29572" y="4026"/>
                  <a:pt x="29566" y="4033"/>
                </a:cubicBezTo>
                <a:cubicBezTo>
                  <a:pt x="29559" y="4039"/>
                  <a:pt x="29552" y="4045"/>
                  <a:pt x="29544" y="4051"/>
                </a:cubicBezTo>
                <a:cubicBezTo>
                  <a:pt x="29536" y="4056"/>
                  <a:pt x="29527" y="4060"/>
                  <a:pt x="29518" y="4064"/>
                </a:cubicBezTo>
                <a:cubicBezTo>
                  <a:pt x="29510" y="4068"/>
                  <a:pt x="29501" y="4071"/>
                  <a:pt x="29491" y="4072"/>
                </a:cubicBezTo>
                <a:cubicBezTo>
                  <a:pt x="29482" y="4074"/>
                  <a:pt x="29472" y="4075"/>
                  <a:pt x="29463" y="4075"/>
                </a:cubicBezTo>
                <a:lnTo>
                  <a:pt x="146" y="4075"/>
                </a:lnTo>
                <a:cubicBezTo>
                  <a:pt x="136" y="4075"/>
                  <a:pt x="127" y="4074"/>
                  <a:pt x="118" y="4072"/>
                </a:cubicBezTo>
                <a:cubicBezTo>
                  <a:pt x="108" y="4071"/>
                  <a:pt x="99" y="4068"/>
                  <a:pt x="90" y="4064"/>
                </a:cubicBezTo>
                <a:cubicBezTo>
                  <a:pt x="81" y="4060"/>
                  <a:pt x="73" y="4056"/>
                  <a:pt x="65" y="4051"/>
                </a:cubicBezTo>
                <a:cubicBezTo>
                  <a:pt x="57" y="4045"/>
                  <a:pt x="50" y="4039"/>
                  <a:pt x="43" y="4033"/>
                </a:cubicBezTo>
                <a:cubicBezTo>
                  <a:pt x="36" y="4026"/>
                  <a:pt x="30" y="4018"/>
                  <a:pt x="25" y="4011"/>
                </a:cubicBezTo>
                <a:cubicBezTo>
                  <a:pt x="20" y="4003"/>
                  <a:pt x="15" y="3994"/>
                  <a:pt x="11" y="3985"/>
                </a:cubicBezTo>
                <a:cubicBezTo>
                  <a:pt x="8" y="3977"/>
                  <a:pt x="5" y="3967"/>
                  <a:pt x="3" y="3958"/>
                </a:cubicBezTo>
                <a:cubicBezTo>
                  <a:pt x="1" y="3949"/>
                  <a:pt x="0" y="3939"/>
                  <a:pt x="0" y="3930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289520" y="2604600"/>
            <a:ext cx="4317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Servers can be updated independently of clients.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104840" y="36478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923760" y="3223440"/>
            <a:ext cx="1386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104840" y="39718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289520" y="3556800"/>
            <a:ext cx="3819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Single point of failure if the server crashes.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104840" y="42861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289520" y="3880800"/>
            <a:ext cx="3688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Scalability constrained by server capacity.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766440" y="4709880"/>
            <a:ext cx="10658880" cy="1467360"/>
          </a:xfrm>
          <a:custGeom>
            <a:avLst/>
            <a:gdLst/>
            <a:ahLst/>
            <a:rect l="0" t="0" r="r" b="b"/>
            <a:pathLst>
              <a:path w="29608" h="4076">
                <a:moveTo>
                  <a:pt x="0" y="393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0"/>
                </a:lnTo>
                <a:cubicBezTo>
                  <a:pt x="29608" y="3940"/>
                  <a:pt x="29607" y="3949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6"/>
                  <a:pt x="29566" y="4033"/>
                </a:cubicBezTo>
                <a:cubicBezTo>
                  <a:pt x="29559" y="4040"/>
                  <a:pt x="29552" y="4046"/>
                  <a:pt x="29544" y="4051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8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8"/>
                  <a:pt x="90" y="4065"/>
                </a:cubicBezTo>
                <a:cubicBezTo>
                  <a:pt x="81" y="4061"/>
                  <a:pt x="73" y="4057"/>
                  <a:pt x="65" y="4051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6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49"/>
                  <a:pt x="0" y="3940"/>
                  <a:pt x="0" y="393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766440" y="4709880"/>
            <a:ext cx="10658880" cy="1467360"/>
          </a:xfrm>
          <a:custGeom>
            <a:avLst/>
            <a:gdLst/>
            <a:ahLst/>
            <a:rect l="0" t="0" r="r" b="b"/>
            <a:pathLst>
              <a:path fill="none" w="29608" h="4076">
                <a:moveTo>
                  <a:pt x="0" y="393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0"/>
                </a:lnTo>
                <a:cubicBezTo>
                  <a:pt x="29608" y="3940"/>
                  <a:pt x="29607" y="3949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6"/>
                  <a:pt x="29566" y="4033"/>
                </a:cubicBezTo>
                <a:cubicBezTo>
                  <a:pt x="29559" y="4040"/>
                  <a:pt x="29552" y="4046"/>
                  <a:pt x="29544" y="4051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8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8"/>
                  <a:pt x="90" y="4065"/>
                </a:cubicBezTo>
                <a:cubicBezTo>
                  <a:pt x="81" y="4061"/>
                  <a:pt x="73" y="4057"/>
                  <a:pt x="65" y="4051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6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49"/>
                  <a:pt x="0" y="3940"/>
                  <a:pt x="0" y="393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289520" y="4195080"/>
            <a:ext cx="3649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Network latency impacts responsiveness.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104840" y="52387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23760" y="4814280"/>
            <a:ext cx="930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Evolution: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289520" y="5147640"/>
            <a:ext cx="1176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2-tier: client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465640" y="5158800"/>
            <a:ext cx="18252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HiraginoSans-W3"/>
                <a:ea typeface="HiraginoSans-W3"/>
              </a:rPr>
              <a:t>↔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1104840" y="55530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633400" y="5147640"/>
            <a:ext cx="2285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database (desktop apps).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289520" y="5461920"/>
            <a:ext cx="1176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3-tier: client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465640" y="5473440"/>
            <a:ext cx="18252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HiraginoSans-W3"/>
                <a:ea typeface="HiraginoSans-W3"/>
              </a:rPr>
              <a:t>↔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633400" y="5461920"/>
            <a:ext cx="1046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app server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679560" y="5473440"/>
            <a:ext cx="18252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HiraginoSans-W3"/>
                <a:ea typeface="HiraginoSans-W3"/>
              </a:rPr>
              <a:t>↔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104840" y="5876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846960" y="5461920"/>
            <a:ext cx="1930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database (web apps).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289520" y="5785920"/>
            <a:ext cx="4104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N-tier: distributed services and microservices.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0" y="1990800"/>
            <a:ext cx="4266720" cy="287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"/>
          <p:cNvSpPr txBox="1"/>
          <p:nvPr/>
        </p:nvSpPr>
        <p:spPr>
          <a:xfrm>
            <a:off x="5029200" y="3375360"/>
            <a:ext cx="6371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SOA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exposes business capabilities as services that communicate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029200" y="3680280"/>
            <a:ext cx="6044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through standard interfaces and protocols (e.g., SOAP, WSDL,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029200" y="3975480"/>
            <a:ext cx="3937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XML) via an enterprise service bus (ESB).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50548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029200" y="-8280"/>
            <a:ext cx="53571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Service-Oriented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029200" y="753480"/>
            <a:ext cx="5811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Architecture (SOA)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50548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62120" y="-8280"/>
            <a:ext cx="9417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Service-Oriented 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66440" y="1585800"/>
            <a:ext cx="10658880" cy="1410120"/>
          </a:xfrm>
          <a:custGeom>
            <a:avLst/>
            <a:gdLst/>
            <a:ahLst/>
            <a:rect l="0" t="0" r="r" b="b"/>
            <a:pathLst>
              <a:path w="29608" h="3917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1"/>
                  <a:pt x="29607" y="3790"/>
                  <a:pt x="29605" y="3800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6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09"/>
                  <a:pt x="90" y="3906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6"/>
                  <a:pt x="11" y="3827"/>
                </a:cubicBezTo>
                <a:cubicBezTo>
                  <a:pt x="8" y="3818"/>
                  <a:pt x="5" y="3809"/>
                  <a:pt x="3" y="3800"/>
                </a:cubicBezTo>
                <a:cubicBezTo>
                  <a:pt x="1" y="3790"/>
                  <a:pt x="0" y="3781"/>
                  <a:pt x="0" y="377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766440" y="1585800"/>
            <a:ext cx="10658880" cy="1410120"/>
          </a:xfrm>
          <a:custGeom>
            <a:avLst/>
            <a:gdLst/>
            <a:ahLst/>
            <a:rect l="0" t="0" r="r" b="b"/>
            <a:pathLst>
              <a:path fill="none" w="29608" h="3917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1"/>
                  <a:pt x="29607" y="3790"/>
                  <a:pt x="29605" y="3800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6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09"/>
                  <a:pt x="90" y="3906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6"/>
                  <a:pt x="11" y="3827"/>
                </a:cubicBezTo>
                <a:cubicBezTo>
                  <a:pt x="8" y="3818"/>
                  <a:pt x="5" y="3809"/>
                  <a:pt x="3" y="3800"/>
                </a:cubicBezTo>
                <a:cubicBezTo>
                  <a:pt x="1" y="3790"/>
                  <a:pt x="0" y="3781"/>
                  <a:pt x="0" y="377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62120" y="753480"/>
            <a:ext cx="1751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(SOA)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104840" y="2057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923760" y="1690200"/>
            <a:ext cx="110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104840" y="2381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289520" y="1966320"/>
            <a:ext cx="2952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Interoperability across platforms.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104840" y="2695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289520" y="2289960"/>
            <a:ext cx="2962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Service reuse for business agility.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766440" y="3119400"/>
            <a:ext cx="10658880" cy="1409760"/>
          </a:xfrm>
          <a:custGeom>
            <a:avLst/>
            <a:gdLst/>
            <a:ahLst/>
            <a:rect l="0" t="0" r="r" b="b"/>
            <a:pathLst>
              <a:path w="29608" h="3916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0"/>
                  <a:pt x="29607" y="3790"/>
                  <a:pt x="29605" y="3799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5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5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6"/>
                  <a:pt x="29463" y="3916"/>
                </a:cubicBezTo>
                <a:lnTo>
                  <a:pt x="146" y="3916"/>
                </a:lnTo>
                <a:cubicBezTo>
                  <a:pt x="136" y="3916"/>
                  <a:pt x="127" y="3916"/>
                  <a:pt x="118" y="3914"/>
                </a:cubicBezTo>
                <a:cubicBezTo>
                  <a:pt x="108" y="3912"/>
                  <a:pt x="99" y="3909"/>
                  <a:pt x="90" y="3905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5"/>
                  <a:pt x="11" y="3827"/>
                </a:cubicBezTo>
                <a:cubicBezTo>
                  <a:pt x="8" y="3818"/>
                  <a:pt x="5" y="3809"/>
                  <a:pt x="3" y="3799"/>
                </a:cubicBezTo>
                <a:cubicBezTo>
                  <a:pt x="1" y="3790"/>
                  <a:pt x="0" y="3780"/>
                  <a:pt x="0" y="3771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66440" y="3119400"/>
            <a:ext cx="10658880" cy="1409760"/>
          </a:xfrm>
          <a:custGeom>
            <a:avLst/>
            <a:gdLst/>
            <a:ahLst/>
            <a:rect l="0" t="0" r="r" b="b"/>
            <a:pathLst>
              <a:path fill="none" w="29608" h="3916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0"/>
                  <a:pt x="29607" y="3790"/>
                  <a:pt x="29605" y="3799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5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5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6"/>
                  <a:pt x="29463" y="3916"/>
                </a:cubicBezTo>
                <a:lnTo>
                  <a:pt x="146" y="3916"/>
                </a:lnTo>
                <a:cubicBezTo>
                  <a:pt x="136" y="3916"/>
                  <a:pt x="127" y="3916"/>
                  <a:pt x="118" y="3914"/>
                </a:cubicBezTo>
                <a:cubicBezTo>
                  <a:pt x="108" y="3912"/>
                  <a:pt x="99" y="3909"/>
                  <a:pt x="90" y="3905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5"/>
                  <a:pt x="11" y="3827"/>
                </a:cubicBezTo>
                <a:cubicBezTo>
                  <a:pt x="8" y="3818"/>
                  <a:pt x="5" y="3809"/>
                  <a:pt x="3" y="3799"/>
                </a:cubicBezTo>
                <a:cubicBezTo>
                  <a:pt x="1" y="3790"/>
                  <a:pt x="0" y="3780"/>
                  <a:pt x="0" y="3771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289520" y="2604600"/>
            <a:ext cx="3586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Modularity supports scaling by function.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104840" y="3590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923760" y="3223440"/>
            <a:ext cx="1386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104840" y="391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289520" y="3499920"/>
            <a:ext cx="3226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Heavyweight ESB and XML overhead.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104840" y="42289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289520" y="3823560"/>
            <a:ext cx="3298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Complex governance and versioning.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766440" y="4652640"/>
            <a:ext cx="10658880" cy="1467360"/>
          </a:xfrm>
          <a:custGeom>
            <a:avLst/>
            <a:gdLst/>
            <a:ahLst/>
            <a:rect l="0" t="0" r="r" b="b"/>
            <a:pathLst>
              <a:path w="29608" h="4076">
                <a:moveTo>
                  <a:pt x="0" y="3930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0"/>
                </a:lnTo>
                <a:cubicBezTo>
                  <a:pt x="29608" y="3940"/>
                  <a:pt x="29607" y="3949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7"/>
                  <a:pt x="29566" y="4033"/>
                </a:cubicBezTo>
                <a:cubicBezTo>
                  <a:pt x="29559" y="4040"/>
                  <a:pt x="29552" y="4046"/>
                  <a:pt x="29544" y="4051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9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9"/>
                  <a:pt x="90" y="4065"/>
                </a:cubicBezTo>
                <a:cubicBezTo>
                  <a:pt x="81" y="4061"/>
                  <a:pt x="73" y="4057"/>
                  <a:pt x="65" y="4051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7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49"/>
                  <a:pt x="0" y="3940"/>
                  <a:pt x="0" y="393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766440" y="4652640"/>
            <a:ext cx="10658880" cy="1467360"/>
          </a:xfrm>
          <a:custGeom>
            <a:avLst/>
            <a:gdLst/>
            <a:ahLst/>
            <a:rect l="0" t="0" r="r" b="b"/>
            <a:pathLst>
              <a:path fill="none" w="29608" h="4076">
                <a:moveTo>
                  <a:pt x="0" y="3930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0"/>
                </a:lnTo>
                <a:cubicBezTo>
                  <a:pt x="29608" y="3940"/>
                  <a:pt x="29607" y="3949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7"/>
                  <a:pt x="29566" y="4033"/>
                </a:cubicBezTo>
                <a:cubicBezTo>
                  <a:pt x="29559" y="4040"/>
                  <a:pt x="29552" y="4046"/>
                  <a:pt x="29544" y="4051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9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9"/>
                  <a:pt x="90" y="4065"/>
                </a:cubicBezTo>
                <a:cubicBezTo>
                  <a:pt x="81" y="4061"/>
                  <a:pt x="73" y="4057"/>
                  <a:pt x="65" y="4051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7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49"/>
                  <a:pt x="0" y="3940"/>
                  <a:pt x="0" y="393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289520" y="4137840"/>
            <a:ext cx="5369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Limited ﬁne-grained scalability—precursor to microservices.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104840" y="5181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923760" y="4757040"/>
            <a:ext cx="930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Evolution: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104840" y="5495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289520" y="5090400"/>
            <a:ext cx="3357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Loose coupling via deﬁned interfaces.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104840" y="58197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289520" y="5404680"/>
            <a:ext cx="4304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Services registered for discoverability and reuse.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289520" y="5728680"/>
            <a:ext cx="5494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Standard protocols (SOAP, XML, UDDI) enable interoperability.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"/>
          <p:cNvSpPr txBox="1"/>
          <p:nvPr/>
        </p:nvSpPr>
        <p:spPr>
          <a:xfrm>
            <a:off x="762120" y="3375360"/>
            <a:ext cx="1050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SOA introduced modularity but relied on central ESBs. Microservices evolved this concept by decentralising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62120" y="3680280"/>
            <a:ext cx="995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integration, using lightweight APIs, and aligning services with bounded contexts. Understanding SOA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62120" y="3975480"/>
            <a:ext cx="5789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provides context for modern microservice design patterns.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762120" y="372600"/>
            <a:ext cx="8580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Transition to Microservices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" descr=""/>
          <p:cNvPicPr/>
          <p:nvPr/>
        </p:nvPicPr>
        <p:blipFill>
          <a:blip r:embed="rId2"/>
          <a:stretch/>
        </p:blipFill>
        <p:spPr>
          <a:xfrm>
            <a:off x="0" y="2457360"/>
            <a:ext cx="4752720" cy="19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"/>
          <p:cNvSpPr txBox="1"/>
          <p:nvPr/>
        </p:nvSpPr>
        <p:spPr>
          <a:xfrm>
            <a:off x="5516640" y="3223080"/>
            <a:ext cx="560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EDA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components communicate via events rather than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516640" y="3527640"/>
            <a:ext cx="497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direct requests. Producers emit events; consumers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516640" y="3832560"/>
            <a:ext cx="5795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subscribe and react asynchronously—ideal for reactive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516640" y="4127760"/>
            <a:ext cx="184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real-time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59929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516640" y="-8280"/>
            <a:ext cx="4200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Event-Driven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516640" y="753480"/>
            <a:ext cx="5811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Architecture (EDA)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99292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66440" y="2100240"/>
            <a:ext cx="10658880" cy="1409760"/>
          </a:xfrm>
          <a:custGeom>
            <a:avLst/>
            <a:gdLst/>
            <a:ahLst/>
            <a:rect l="0" t="0" r="r" b="b"/>
            <a:pathLst>
              <a:path w="29608" h="3916">
                <a:moveTo>
                  <a:pt x="0" y="3771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2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7"/>
                  <a:pt x="29608" y="146"/>
                </a:cubicBezTo>
                <a:lnTo>
                  <a:pt x="29608" y="3771"/>
                </a:lnTo>
                <a:cubicBezTo>
                  <a:pt x="29608" y="3780"/>
                  <a:pt x="29607" y="3790"/>
                  <a:pt x="29605" y="3799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5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5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5"/>
                  <a:pt x="29472" y="3916"/>
                  <a:pt x="29463" y="3916"/>
                </a:cubicBezTo>
                <a:lnTo>
                  <a:pt x="146" y="3916"/>
                </a:lnTo>
                <a:cubicBezTo>
                  <a:pt x="136" y="3916"/>
                  <a:pt x="127" y="3915"/>
                  <a:pt x="118" y="3914"/>
                </a:cubicBezTo>
                <a:cubicBezTo>
                  <a:pt x="108" y="3912"/>
                  <a:pt x="99" y="3909"/>
                  <a:pt x="90" y="3905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5"/>
                  <a:pt x="11" y="3827"/>
                </a:cubicBezTo>
                <a:cubicBezTo>
                  <a:pt x="8" y="3818"/>
                  <a:pt x="5" y="3809"/>
                  <a:pt x="3" y="3799"/>
                </a:cubicBezTo>
                <a:cubicBezTo>
                  <a:pt x="1" y="3790"/>
                  <a:pt x="0" y="3780"/>
                  <a:pt x="0" y="377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66440" y="2100240"/>
            <a:ext cx="10658880" cy="1409760"/>
          </a:xfrm>
          <a:custGeom>
            <a:avLst/>
            <a:gdLst/>
            <a:ahLst/>
            <a:rect l="0" t="0" r="r" b="b"/>
            <a:pathLst>
              <a:path fill="none" w="29608" h="3916">
                <a:moveTo>
                  <a:pt x="0" y="3771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2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7"/>
                  <a:pt x="29608" y="146"/>
                </a:cubicBezTo>
                <a:lnTo>
                  <a:pt x="29608" y="3771"/>
                </a:lnTo>
                <a:cubicBezTo>
                  <a:pt x="29608" y="3780"/>
                  <a:pt x="29607" y="3790"/>
                  <a:pt x="29605" y="3799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5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7"/>
                  <a:pt x="29527" y="3902"/>
                  <a:pt x="29518" y="3905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5"/>
                  <a:pt x="29472" y="3916"/>
                  <a:pt x="29463" y="3916"/>
                </a:cubicBezTo>
                <a:lnTo>
                  <a:pt x="146" y="3916"/>
                </a:lnTo>
                <a:cubicBezTo>
                  <a:pt x="136" y="3916"/>
                  <a:pt x="127" y="3915"/>
                  <a:pt x="118" y="3914"/>
                </a:cubicBezTo>
                <a:cubicBezTo>
                  <a:pt x="108" y="3912"/>
                  <a:pt x="99" y="3909"/>
                  <a:pt x="90" y="3905"/>
                </a:cubicBezTo>
                <a:cubicBezTo>
                  <a:pt x="81" y="3902"/>
                  <a:pt x="73" y="3897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5"/>
                  <a:pt x="11" y="3827"/>
                </a:cubicBezTo>
                <a:cubicBezTo>
                  <a:pt x="8" y="3818"/>
                  <a:pt x="5" y="3809"/>
                  <a:pt x="3" y="3799"/>
                </a:cubicBezTo>
                <a:cubicBezTo>
                  <a:pt x="1" y="3790"/>
                  <a:pt x="0" y="3780"/>
                  <a:pt x="0" y="377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62120" y="372600"/>
            <a:ext cx="10211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Event-Driven Architecture (EDA)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104840" y="2571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923760" y="2204280"/>
            <a:ext cx="110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104840" y="2895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289520" y="2480760"/>
            <a:ext cx="2990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Highly scalable and fault tolerant.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104840" y="3209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289520" y="2804400"/>
            <a:ext cx="452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Enables real-time analytics and reactive behaviour.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766440" y="3633480"/>
            <a:ext cx="10658880" cy="1410120"/>
          </a:xfrm>
          <a:custGeom>
            <a:avLst/>
            <a:gdLst/>
            <a:ahLst/>
            <a:rect l="0" t="0" r="r" b="b"/>
            <a:pathLst>
              <a:path w="29608" h="3917">
                <a:moveTo>
                  <a:pt x="0" y="37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772"/>
                </a:lnTo>
                <a:cubicBezTo>
                  <a:pt x="29608" y="3781"/>
                  <a:pt x="29607" y="3791"/>
                  <a:pt x="29605" y="3800"/>
                </a:cubicBezTo>
                <a:cubicBezTo>
                  <a:pt x="29604" y="3809"/>
                  <a:pt x="29601" y="3819"/>
                  <a:pt x="29597" y="3827"/>
                </a:cubicBezTo>
                <a:cubicBezTo>
                  <a:pt x="29594" y="3836"/>
                  <a:pt x="29589" y="3845"/>
                  <a:pt x="29584" y="3853"/>
                </a:cubicBezTo>
                <a:cubicBezTo>
                  <a:pt x="29578" y="3860"/>
                  <a:pt x="29572" y="3868"/>
                  <a:pt x="29566" y="3875"/>
                </a:cubicBezTo>
                <a:cubicBezTo>
                  <a:pt x="29559" y="3881"/>
                  <a:pt x="29552" y="3887"/>
                  <a:pt x="29544" y="3893"/>
                </a:cubicBezTo>
                <a:cubicBezTo>
                  <a:pt x="29536" y="3898"/>
                  <a:pt x="29527" y="3902"/>
                  <a:pt x="29518" y="3906"/>
                </a:cubicBezTo>
                <a:cubicBezTo>
                  <a:pt x="29510" y="3910"/>
                  <a:pt x="29501" y="3913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3"/>
                  <a:pt x="99" y="3910"/>
                  <a:pt x="90" y="3906"/>
                </a:cubicBezTo>
                <a:cubicBezTo>
                  <a:pt x="81" y="3902"/>
                  <a:pt x="73" y="3898"/>
                  <a:pt x="65" y="3893"/>
                </a:cubicBezTo>
                <a:cubicBezTo>
                  <a:pt x="57" y="3887"/>
                  <a:pt x="50" y="3881"/>
                  <a:pt x="43" y="3875"/>
                </a:cubicBezTo>
                <a:cubicBezTo>
                  <a:pt x="36" y="3868"/>
                  <a:pt x="30" y="3860"/>
                  <a:pt x="25" y="3853"/>
                </a:cubicBezTo>
                <a:cubicBezTo>
                  <a:pt x="20" y="3845"/>
                  <a:pt x="15" y="3836"/>
                  <a:pt x="11" y="3827"/>
                </a:cubicBezTo>
                <a:cubicBezTo>
                  <a:pt x="8" y="3819"/>
                  <a:pt x="5" y="3809"/>
                  <a:pt x="3" y="3800"/>
                </a:cubicBezTo>
                <a:cubicBezTo>
                  <a:pt x="1" y="3791"/>
                  <a:pt x="0" y="3781"/>
                  <a:pt x="0" y="3772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766440" y="3633480"/>
            <a:ext cx="10658880" cy="1410120"/>
          </a:xfrm>
          <a:custGeom>
            <a:avLst/>
            <a:gdLst/>
            <a:ahLst/>
            <a:rect l="0" t="0" r="r" b="b"/>
            <a:pathLst>
              <a:path fill="none" w="29608" h="3917">
                <a:moveTo>
                  <a:pt x="0" y="37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772"/>
                </a:lnTo>
                <a:cubicBezTo>
                  <a:pt x="29608" y="3781"/>
                  <a:pt x="29607" y="3791"/>
                  <a:pt x="29605" y="3800"/>
                </a:cubicBezTo>
                <a:cubicBezTo>
                  <a:pt x="29604" y="3809"/>
                  <a:pt x="29601" y="3819"/>
                  <a:pt x="29597" y="3827"/>
                </a:cubicBezTo>
                <a:cubicBezTo>
                  <a:pt x="29594" y="3836"/>
                  <a:pt x="29589" y="3845"/>
                  <a:pt x="29584" y="3853"/>
                </a:cubicBezTo>
                <a:cubicBezTo>
                  <a:pt x="29578" y="3860"/>
                  <a:pt x="29572" y="3868"/>
                  <a:pt x="29566" y="3875"/>
                </a:cubicBezTo>
                <a:cubicBezTo>
                  <a:pt x="29559" y="3881"/>
                  <a:pt x="29552" y="3887"/>
                  <a:pt x="29544" y="3893"/>
                </a:cubicBezTo>
                <a:cubicBezTo>
                  <a:pt x="29536" y="3898"/>
                  <a:pt x="29527" y="3902"/>
                  <a:pt x="29518" y="3906"/>
                </a:cubicBezTo>
                <a:cubicBezTo>
                  <a:pt x="29510" y="3910"/>
                  <a:pt x="29501" y="3913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3"/>
                  <a:pt x="99" y="3910"/>
                  <a:pt x="90" y="3906"/>
                </a:cubicBezTo>
                <a:cubicBezTo>
                  <a:pt x="81" y="3902"/>
                  <a:pt x="73" y="3898"/>
                  <a:pt x="65" y="3893"/>
                </a:cubicBezTo>
                <a:cubicBezTo>
                  <a:pt x="57" y="3887"/>
                  <a:pt x="50" y="3881"/>
                  <a:pt x="43" y="3875"/>
                </a:cubicBezTo>
                <a:cubicBezTo>
                  <a:pt x="36" y="3868"/>
                  <a:pt x="30" y="3860"/>
                  <a:pt x="25" y="3853"/>
                </a:cubicBezTo>
                <a:cubicBezTo>
                  <a:pt x="20" y="3845"/>
                  <a:pt x="15" y="3836"/>
                  <a:pt x="11" y="3827"/>
                </a:cubicBezTo>
                <a:cubicBezTo>
                  <a:pt x="8" y="3819"/>
                  <a:pt x="5" y="3809"/>
                  <a:pt x="3" y="3800"/>
                </a:cubicBezTo>
                <a:cubicBezTo>
                  <a:pt x="1" y="3791"/>
                  <a:pt x="0" y="3781"/>
                  <a:pt x="0" y="3772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289520" y="3118680"/>
            <a:ext cx="3344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Decouples producers and consumers.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104840" y="41050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923760" y="3737880"/>
            <a:ext cx="1386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104840" y="4419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289520" y="4014000"/>
            <a:ext cx="4183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Complex debugging and tracing across events.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104840" y="47433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289520" y="4328640"/>
            <a:ext cx="2889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Eventual consistency challenges.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766440" y="5167080"/>
            <a:ext cx="10658880" cy="438480"/>
          </a:xfrm>
          <a:custGeom>
            <a:avLst/>
            <a:gdLst/>
            <a:ahLst/>
            <a:rect l="0" t="0" r="r" b="b"/>
            <a:pathLst>
              <a:path w="29608" h="1218">
                <a:moveTo>
                  <a:pt x="0" y="107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073"/>
                </a:lnTo>
                <a:cubicBezTo>
                  <a:pt x="29608" y="1082"/>
                  <a:pt x="29607" y="1092"/>
                  <a:pt x="29605" y="1101"/>
                </a:cubicBezTo>
                <a:cubicBezTo>
                  <a:pt x="29604" y="1110"/>
                  <a:pt x="29601" y="1120"/>
                  <a:pt x="29597" y="1128"/>
                </a:cubicBezTo>
                <a:cubicBezTo>
                  <a:pt x="29594" y="1137"/>
                  <a:pt x="29589" y="1146"/>
                  <a:pt x="29584" y="1154"/>
                </a:cubicBezTo>
                <a:cubicBezTo>
                  <a:pt x="29578" y="1161"/>
                  <a:pt x="29572" y="1169"/>
                  <a:pt x="29566" y="1176"/>
                </a:cubicBezTo>
                <a:cubicBezTo>
                  <a:pt x="29559" y="1182"/>
                  <a:pt x="29552" y="1188"/>
                  <a:pt x="29544" y="1194"/>
                </a:cubicBezTo>
                <a:cubicBezTo>
                  <a:pt x="29536" y="1199"/>
                  <a:pt x="29527" y="1203"/>
                  <a:pt x="29518" y="1207"/>
                </a:cubicBezTo>
                <a:cubicBezTo>
                  <a:pt x="29510" y="1211"/>
                  <a:pt x="29501" y="1214"/>
                  <a:pt x="29491" y="1215"/>
                </a:cubicBezTo>
                <a:cubicBezTo>
                  <a:pt x="29482" y="1217"/>
                  <a:pt x="29472" y="1218"/>
                  <a:pt x="29463" y="1218"/>
                </a:cubicBezTo>
                <a:lnTo>
                  <a:pt x="146" y="1218"/>
                </a:lnTo>
                <a:cubicBezTo>
                  <a:pt x="136" y="1218"/>
                  <a:pt x="127" y="1217"/>
                  <a:pt x="118" y="1215"/>
                </a:cubicBezTo>
                <a:cubicBezTo>
                  <a:pt x="108" y="1214"/>
                  <a:pt x="99" y="1211"/>
                  <a:pt x="90" y="1207"/>
                </a:cubicBezTo>
                <a:cubicBezTo>
                  <a:pt x="81" y="1203"/>
                  <a:pt x="73" y="1199"/>
                  <a:pt x="65" y="1194"/>
                </a:cubicBezTo>
                <a:cubicBezTo>
                  <a:pt x="57" y="1188"/>
                  <a:pt x="50" y="1182"/>
                  <a:pt x="43" y="1176"/>
                </a:cubicBezTo>
                <a:cubicBezTo>
                  <a:pt x="36" y="1169"/>
                  <a:pt x="30" y="1161"/>
                  <a:pt x="25" y="1154"/>
                </a:cubicBezTo>
                <a:cubicBezTo>
                  <a:pt x="20" y="1146"/>
                  <a:pt x="15" y="1137"/>
                  <a:pt x="11" y="1128"/>
                </a:cubicBezTo>
                <a:cubicBezTo>
                  <a:pt x="8" y="1120"/>
                  <a:pt x="5" y="1110"/>
                  <a:pt x="3" y="1101"/>
                </a:cubicBezTo>
                <a:cubicBezTo>
                  <a:pt x="1" y="1092"/>
                  <a:pt x="0" y="1082"/>
                  <a:pt x="0" y="107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766440" y="5167080"/>
            <a:ext cx="10658880" cy="438480"/>
          </a:xfrm>
          <a:custGeom>
            <a:avLst/>
            <a:gdLst/>
            <a:ahLst/>
            <a:rect l="0" t="0" r="r" b="b"/>
            <a:pathLst>
              <a:path fill="none" w="29608" h="1218">
                <a:moveTo>
                  <a:pt x="0" y="107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073"/>
                </a:lnTo>
                <a:cubicBezTo>
                  <a:pt x="29608" y="1082"/>
                  <a:pt x="29607" y="1092"/>
                  <a:pt x="29605" y="1101"/>
                </a:cubicBezTo>
                <a:cubicBezTo>
                  <a:pt x="29604" y="1110"/>
                  <a:pt x="29601" y="1120"/>
                  <a:pt x="29597" y="1128"/>
                </a:cubicBezTo>
                <a:cubicBezTo>
                  <a:pt x="29594" y="1137"/>
                  <a:pt x="29589" y="1146"/>
                  <a:pt x="29584" y="1154"/>
                </a:cubicBezTo>
                <a:cubicBezTo>
                  <a:pt x="29578" y="1161"/>
                  <a:pt x="29572" y="1169"/>
                  <a:pt x="29566" y="1176"/>
                </a:cubicBezTo>
                <a:cubicBezTo>
                  <a:pt x="29559" y="1182"/>
                  <a:pt x="29552" y="1188"/>
                  <a:pt x="29544" y="1194"/>
                </a:cubicBezTo>
                <a:cubicBezTo>
                  <a:pt x="29536" y="1199"/>
                  <a:pt x="29527" y="1203"/>
                  <a:pt x="29518" y="1207"/>
                </a:cubicBezTo>
                <a:cubicBezTo>
                  <a:pt x="29510" y="1211"/>
                  <a:pt x="29501" y="1214"/>
                  <a:pt x="29491" y="1215"/>
                </a:cubicBezTo>
                <a:cubicBezTo>
                  <a:pt x="29482" y="1217"/>
                  <a:pt x="29472" y="1218"/>
                  <a:pt x="29463" y="1218"/>
                </a:cubicBezTo>
                <a:lnTo>
                  <a:pt x="146" y="1218"/>
                </a:lnTo>
                <a:cubicBezTo>
                  <a:pt x="136" y="1218"/>
                  <a:pt x="127" y="1217"/>
                  <a:pt x="118" y="1215"/>
                </a:cubicBezTo>
                <a:cubicBezTo>
                  <a:pt x="108" y="1214"/>
                  <a:pt x="99" y="1211"/>
                  <a:pt x="90" y="1207"/>
                </a:cubicBezTo>
                <a:cubicBezTo>
                  <a:pt x="81" y="1203"/>
                  <a:pt x="73" y="1199"/>
                  <a:pt x="65" y="1194"/>
                </a:cubicBezTo>
                <a:cubicBezTo>
                  <a:pt x="57" y="1188"/>
                  <a:pt x="50" y="1182"/>
                  <a:pt x="43" y="1176"/>
                </a:cubicBezTo>
                <a:cubicBezTo>
                  <a:pt x="36" y="1169"/>
                  <a:pt x="30" y="1161"/>
                  <a:pt x="25" y="1154"/>
                </a:cubicBezTo>
                <a:cubicBezTo>
                  <a:pt x="20" y="1146"/>
                  <a:pt x="15" y="1137"/>
                  <a:pt x="11" y="1128"/>
                </a:cubicBezTo>
                <a:cubicBezTo>
                  <a:pt x="8" y="1120"/>
                  <a:pt x="5" y="1110"/>
                  <a:pt x="3" y="1101"/>
                </a:cubicBezTo>
                <a:cubicBezTo>
                  <a:pt x="1" y="1092"/>
                  <a:pt x="0" y="1082"/>
                  <a:pt x="0" y="107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289520" y="4652280"/>
            <a:ext cx="4875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Requires rigorous monitoring and schema governance.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923760" y="5271480"/>
            <a:ext cx="8707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 domains: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IoT, marketplaces, ﬁnancial monitoring using Kafka, RabbitMQ, AWS SNS/SQS.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" descr=""/>
          <p:cNvPicPr/>
          <p:nvPr/>
        </p:nvPicPr>
        <p:blipFill>
          <a:blip r:embed="rId2"/>
          <a:stretch/>
        </p:blipFill>
        <p:spPr>
          <a:xfrm>
            <a:off x="361800" y="1695600"/>
            <a:ext cx="2923920" cy="347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"/>
          <p:cNvSpPr txBox="1"/>
          <p:nvPr/>
        </p:nvSpPr>
        <p:spPr>
          <a:xfrm>
            <a:off x="4419720" y="3527640"/>
            <a:ext cx="626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MVC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separates presentation, business logic, and data access to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419720" y="3832560"/>
            <a:ext cx="313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simplify UI-centric applications.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48960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4419720" y="-8280"/>
            <a:ext cx="4019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Model–View–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4419720" y="753480"/>
            <a:ext cx="5235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Controller (MVC)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8960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66440" y="2233440"/>
            <a:ext cx="10658880" cy="1410120"/>
          </a:xfrm>
          <a:custGeom>
            <a:avLst/>
            <a:gdLst/>
            <a:ahLst/>
            <a:rect l="0" t="0" r="r" b="b"/>
            <a:pathLst>
              <a:path w="29608" h="3917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1"/>
                  <a:pt x="29607" y="3790"/>
                  <a:pt x="29605" y="3800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8"/>
                  <a:pt x="29527" y="3902"/>
                  <a:pt x="29518" y="3906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09"/>
                  <a:pt x="90" y="3906"/>
                </a:cubicBezTo>
                <a:cubicBezTo>
                  <a:pt x="81" y="3902"/>
                  <a:pt x="73" y="3898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6"/>
                  <a:pt x="11" y="3827"/>
                </a:cubicBezTo>
                <a:cubicBezTo>
                  <a:pt x="8" y="3818"/>
                  <a:pt x="5" y="3809"/>
                  <a:pt x="3" y="3800"/>
                </a:cubicBezTo>
                <a:cubicBezTo>
                  <a:pt x="1" y="3790"/>
                  <a:pt x="0" y="3781"/>
                  <a:pt x="0" y="377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766440" y="2233440"/>
            <a:ext cx="10658880" cy="1410120"/>
          </a:xfrm>
          <a:custGeom>
            <a:avLst/>
            <a:gdLst/>
            <a:ahLst/>
            <a:rect l="0" t="0" r="r" b="b"/>
            <a:pathLst>
              <a:path fill="none" w="29608" h="3917">
                <a:moveTo>
                  <a:pt x="0" y="3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71"/>
                </a:lnTo>
                <a:cubicBezTo>
                  <a:pt x="29608" y="3781"/>
                  <a:pt x="29607" y="3790"/>
                  <a:pt x="29605" y="3800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4"/>
                  <a:pt x="29584" y="3852"/>
                </a:cubicBezTo>
                <a:cubicBezTo>
                  <a:pt x="29578" y="3860"/>
                  <a:pt x="29572" y="3867"/>
                  <a:pt x="29566" y="3874"/>
                </a:cubicBezTo>
                <a:cubicBezTo>
                  <a:pt x="29559" y="3881"/>
                  <a:pt x="29552" y="3887"/>
                  <a:pt x="29544" y="3892"/>
                </a:cubicBezTo>
                <a:cubicBezTo>
                  <a:pt x="29536" y="3898"/>
                  <a:pt x="29527" y="3902"/>
                  <a:pt x="29518" y="3906"/>
                </a:cubicBezTo>
                <a:cubicBezTo>
                  <a:pt x="29510" y="3909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09"/>
                  <a:pt x="90" y="3906"/>
                </a:cubicBezTo>
                <a:cubicBezTo>
                  <a:pt x="81" y="3902"/>
                  <a:pt x="73" y="3898"/>
                  <a:pt x="65" y="3892"/>
                </a:cubicBezTo>
                <a:cubicBezTo>
                  <a:pt x="57" y="3887"/>
                  <a:pt x="50" y="3881"/>
                  <a:pt x="43" y="3874"/>
                </a:cubicBezTo>
                <a:cubicBezTo>
                  <a:pt x="36" y="3867"/>
                  <a:pt x="30" y="3860"/>
                  <a:pt x="25" y="3852"/>
                </a:cubicBezTo>
                <a:cubicBezTo>
                  <a:pt x="20" y="3844"/>
                  <a:pt x="15" y="3836"/>
                  <a:pt x="11" y="3827"/>
                </a:cubicBezTo>
                <a:cubicBezTo>
                  <a:pt x="8" y="3818"/>
                  <a:pt x="5" y="3809"/>
                  <a:pt x="3" y="3800"/>
                </a:cubicBezTo>
                <a:cubicBezTo>
                  <a:pt x="1" y="3790"/>
                  <a:pt x="0" y="3781"/>
                  <a:pt x="0" y="377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62120" y="372600"/>
            <a:ext cx="8663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MVC – Principles &amp; Variants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104840" y="27050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8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8"/>
                  <a:pt x="31" y="143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923760" y="2337840"/>
            <a:ext cx="115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Advantages: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104840" y="3028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289520" y="2613960"/>
            <a:ext cx="4293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Promotes separation of concerns and testability.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104840" y="3342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289520" y="2937960"/>
            <a:ext cx="4423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Supports multiple views over shared data models.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66440" y="3767040"/>
            <a:ext cx="10658880" cy="495720"/>
          </a:xfrm>
          <a:custGeom>
            <a:avLst/>
            <a:gdLst/>
            <a:ahLst/>
            <a:rect l="0" t="0" r="r" b="b"/>
            <a:pathLst>
              <a:path w="29608" h="1377">
                <a:moveTo>
                  <a:pt x="0" y="123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1231"/>
                </a:lnTo>
                <a:cubicBezTo>
                  <a:pt x="29608" y="1241"/>
                  <a:pt x="29607" y="1250"/>
                  <a:pt x="29605" y="1259"/>
                </a:cubicBezTo>
                <a:cubicBezTo>
                  <a:pt x="29604" y="1269"/>
                  <a:pt x="29601" y="1278"/>
                  <a:pt x="29597" y="1287"/>
                </a:cubicBezTo>
                <a:cubicBezTo>
                  <a:pt x="29594" y="1296"/>
                  <a:pt x="29589" y="1304"/>
                  <a:pt x="29584" y="1312"/>
                </a:cubicBezTo>
                <a:cubicBezTo>
                  <a:pt x="29578" y="1320"/>
                  <a:pt x="29572" y="1327"/>
                  <a:pt x="29566" y="1334"/>
                </a:cubicBezTo>
                <a:cubicBezTo>
                  <a:pt x="29559" y="1341"/>
                  <a:pt x="29552" y="1347"/>
                  <a:pt x="29544" y="1352"/>
                </a:cubicBezTo>
                <a:cubicBezTo>
                  <a:pt x="29536" y="1357"/>
                  <a:pt x="29527" y="1362"/>
                  <a:pt x="29518" y="1366"/>
                </a:cubicBezTo>
                <a:cubicBezTo>
                  <a:pt x="29510" y="1369"/>
                  <a:pt x="29501" y="1372"/>
                  <a:pt x="29491" y="1374"/>
                </a:cubicBezTo>
                <a:cubicBezTo>
                  <a:pt x="29482" y="1376"/>
                  <a:pt x="29472" y="1377"/>
                  <a:pt x="29463" y="1377"/>
                </a:cubicBezTo>
                <a:lnTo>
                  <a:pt x="146" y="1377"/>
                </a:lnTo>
                <a:cubicBezTo>
                  <a:pt x="136" y="1377"/>
                  <a:pt x="127" y="1376"/>
                  <a:pt x="118" y="1374"/>
                </a:cubicBezTo>
                <a:cubicBezTo>
                  <a:pt x="108" y="1372"/>
                  <a:pt x="99" y="1369"/>
                  <a:pt x="90" y="1366"/>
                </a:cubicBezTo>
                <a:cubicBezTo>
                  <a:pt x="81" y="1362"/>
                  <a:pt x="73" y="1357"/>
                  <a:pt x="65" y="1352"/>
                </a:cubicBezTo>
                <a:cubicBezTo>
                  <a:pt x="57" y="1347"/>
                  <a:pt x="50" y="1341"/>
                  <a:pt x="43" y="1334"/>
                </a:cubicBezTo>
                <a:cubicBezTo>
                  <a:pt x="36" y="1327"/>
                  <a:pt x="30" y="1320"/>
                  <a:pt x="25" y="1312"/>
                </a:cubicBezTo>
                <a:cubicBezTo>
                  <a:pt x="20" y="1304"/>
                  <a:pt x="15" y="1296"/>
                  <a:pt x="11" y="1287"/>
                </a:cubicBezTo>
                <a:cubicBezTo>
                  <a:pt x="8" y="1278"/>
                  <a:pt x="5" y="1269"/>
                  <a:pt x="3" y="1259"/>
                </a:cubicBezTo>
                <a:cubicBezTo>
                  <a:pt x="1" y="1250"/>
                  <a:pt x="0" y="1241"/>
                  <a:pt x="0" y="1231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766440" y="3767040"/>
            <a:ext cx="10658880" cy="495720"/>
          </a:xfrm>
          <a:custGeom>
            <a:avLst/>
            <a:gdLst/>
            <a:ahLst/>
            <a:rect l="0" t="0" r="r" b="b"/>
            <a:pathLst>
              <a:path fill="none" w="29608" h="1377">
                <a:moveTo>
                  <a:pt x="0" y="123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1231"/>
                </a:lnTo>
                <a:cubicBezTo>
                  <a:pt x="29608" y="1241"/>
                  <a:pt x="29607" y="1250"/>
                  <a:pt x="29605" y="1259"/>
                </a:cubicBezTo>
                <a:cubicBezTo>
                  <a:pt x="29604" y="1269"/>
                  <a:pt x="29601" y="1278"/>
                  <a:pt x="29597" y="1287"/>
                </a:cubicBezTo>
                <a:cubicBezTo>
                  <a:pt x="29594" y="1296"/>
                  <a:pt x="29589" y="1304"/>
                  <a:pt x="29584" y="1312"/>
                </a:cubicBezTo>
                <a:cubicBezTo>
                  <a:pt x="29578" y="1320"/>
                  <a:pt x="29572" y="1327"/>
                  <a:pt x="29566" y="1334"/>
                </a:cubicBezTo>
                <a:cubicBezTo>
                  <a:pt x="29559" y="1341"/>
                  <a:pt x="29552" y="1347"/>
                  <a:pt x="29544" y="1352"/>
                </a:cubicBezTo>
                <a:cubicBezTo>
                  <a:pt x="29536" y="1357"/>
                  <a:pt x="29527" y="1362"/>
                  <a:pt x="29518" y="1366"/>
                </a:cubicBezTo>
                <a:cubicBezTo>
                  <a:pt x="29510" y="1369"/>
                  <a:pt x="29501" y="1372"/>
                  <a:pt x="29491" y="1374"/>
                </a:cubicBezTo>
                <a:cubicBezTo>
                  <a:pt x="29482" y="1376"/>
                  <a:pt x="29472" y="1377"/>
                  <a:pt x="29463" y="1377"/>
                </a:cubicBezTo>
                <a:lnTo>
                  <a:pt x="146" y="1377"/>
                </a:lnTo>
                <a:cubicBezTo>
                  <a:pt x="136" y="1377"/>
                  <a:pt x="127" y="1376"/>
                  <a:pt x="118" y="1374"/>
                </a:cubicBezTo>
                <a:cubicBezTo>
                  <a:pt x="108" y="1372"/>
                  <a:pt x="99" y="1369"/>
                  <a:pt x="90" y="1366"/>
                </a:cubicBezTo>
                <a:cubicBezTo>
                  <a:pt x="81" y="1362"/>
                  <a:pt x="73" y="1357"/>
                  <a:pt x="65" y="1352"/>
                </a:cubicBezTo>
                <a:cubicBezTo>
                  <a:pt x="57" y="1347"/>
                  <a:pt x="50" y="1341"/>
                  <a:pt x="43" y="1334"/>
                </a:cubicBezTo>
                <a:cubicBezTo>
                  <a:pt x="36" y="1327"/>
                  <a:pt x="30" y="1320"/>
                  <a:pt x="25" y="1312"/>
                </a:cubicBezTo>
                <a:cubicBezTo>
                  <a:pt x="20" y="1304"/>
                  <a:pt x="15" y="1296"/>
                  <a:pt x="11" y="1287"/>
                </a:cubicBezTo>
                <a:cubicBezTo>
                  <a:pt x="8" y="1278"/>
                  <a:pt x="5" y="1269"/>
                  <a:pt x="3" y="1259"/>
                </a:cubicBezTo>
                <a:cubicBezTo>
                  <a:pt x="1" y="1250"/>
                  <a:pt x="0" y="1241"/>
                  <a:pt x="0" y="1231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289520" y="3252240"/>
            <a:ext cx="6406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Widely adopted in web and GUI frameworks (Django, Rails, Spring MVC).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766440" y="4386240"/>
            <a:ext cx="10658880" cy="1086120"/>
          </a:xfrm>
          <a:custGeom>
            <a:avLst/>
            <a:gdLst/>
            <a:ahLst/>
            <a:rect l="0" t="0" r="r" b="b"/>
            <a:pathLst>
              <a:path w="29608" h="3017">
                <a:moveTo>
                  <a:pt x="0" y="28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871"/>
                </a:lnTo>
                <a:cubicBezTo>
                  <a:pt x="29608" y="2881"/>
                  <a:pt x="29607" y="2890"/>
                  <a:pt x="29605" y="2900"/>
                </a:cubicBezTo>
                <a:cubicBezTo>
                  <a:pt x="29604" y="2909"/>
                  <a:pt x="29601" y="2918"/>
                  <a:pt x="29597" y="2927"/>
                </a:cubicBezTo>
                <a:cubicBezTo>
                  <a:pt x="29594" y="2936"/>
                  <a:pt x="29589" y="2944"/>
                  <a:pt x="29584" y="2952"/>
                </a:cubicBezTo>
                <a:cubicBezTo>
                  <a:pt x="29578" y="2960"/>
                  <a:pt x="29572" y="2967"/>
                  <a:pt x="29566" y="2974"/>
                </a:cubicBezTo>
                <a:cubicBezTo>
                  <a:pt x="29559" y="2981"/>
                  <a:pt x="29552" y="2987"/>
                  <a:pt x="29544" y="2992"/>
                </a:cubicBezTo>
                <a:cubicBezTo>
                  <a:pt x="29536" y="2998"/>
                  <a:pt x="29527" y="3002"/>
                  <a:pt x="29518" y="3006"/>
                </a:cubicBezTo>
                <a:cubicBezTo>
                  <a:pt x="29510" y="3009"/>
                  <a:pt x="29501" y="3012"/>
                  <a:pt x="29491" y="3014"/>
                </a:cubicBezTo>
                <a:cubicBezTo>
                  <a:pt x="29482" y="3016"/>
                  <a:pt x="29472" y="3017"/>
                  <a:pt x="29463" y="3017"/>
                </a:cubicBezTo>
                <a:lnTo>
                  <a:pt x="146" y="3017"/>
                </a:lnTo>
                <a:cubicBezTo>
                  <a:pt x="136" y="3017"/>
                  <a:pt x="127" y="3016"/>
                  <a:pt x="118" y="3014"/>
                </a:cubicBezTo>
                <a:cubicBezTo>
                  <a:pt x="108" y="3012"/>
                  <a:pt x="99" y="3009"/>
                  <a:pt x="90" y="3006"/>
                </a:cubicBezTo>
                <a:cubicBezTo>
                  <a:pt x="81" y="3002"/>
                  <a:pt x="73" y="2998"/>
                  <a:pt x="65" y="2992"/>
                </a:cubicBezTo>
                <a:cubicBezTo>
                  <a:pt x="57" y="2987"/>
                  <a:pt x="50" y="2981"/>
                  <a:pt x="43" y="2974"/>
                </a:cubicBezTo>
                <a:cubicBezTo>
                  <a:pt x="36" y="2967"/>
                  <a:pt x="30" y="2960"/>
                  <a:pt x="25" y="2952"/>
                </a:cubicBezTo>
                <a:cubicBezTo>
                  <a:pt x="20" y="2944"/>
                  <a:pt x="15" y="2936"/>
                  <a:pt x="11" y="2927"/>
                </a:cubicBezTo>
                <a:cubicBezTo>
                  <a:pt x="8" y="2918"/>
                  <a:pt x="5" y="2909"/>
                  <a:pt x="3" y="2900"/>
                </a:cubicBezTo>
                <a:cubicBezTo>
                  <a:pt x="1" y="2890"/>
                  <a:pt x="0" y="2881"/>
                  <a:pt x="0" y="2871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766440" y="4386240"/>
            <a:ext cx="10658880" cy="1086120"/>
          </a:xfrm>
          <a:custGeom>
            <a:avLst/>
            <a:gdLst/>
            <a:ahLst/>
            <a:rect l="0" t="0" r="r" b="b"/>
            <a:pathLst>
              <a:path fill="none" w="29608" h="3017">
                <a:moveTo>
                  <a:pt x="0" y="28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871"/>
                </a:lnTo>
                <a:cubicBezTo>
                  <a:pt x="29608" y="2881"/>
                  <a:pt x="29607" y="2890"/>
                  <a:pt x="29605" y="2900"/>
                </a:cubicBezTo>
                <a:cubicBezTo>
                  <a:pt x="29604" y="2909"/>
                  <a:pt x="29601" y="2918"/>
                  <a:pt x="29597" y="2927"/>
                </a:cubicBezTo>
                <a:cubicBezTo>
                  <a:pt x="29594" y="2936"/>
                  <a:pt x="29589" y="2944"/>
                  <a:pt x="29584" y="2952"/>
                </a:cubicBezTo>
                <a:cubicBezTo>
                  <a:pt x="29578" y="2960"/>
                  <a:pt x="29572" y="2967"/>
                  <a:pt x="29566" y="2974"/>
                </a:cubicBezTo>
                <a:cubicBezTo>
                  <a:pt x="29559" y="2981"/>
                  <a:pt x="29552" y="2987"/>
                  <a:pt x="29544" y="2992"/>
                </a:cubicBezTo>
                <a:cubicBezTo>
                  <a:pt x="29536" y="2998"/>
                  <a:pt x="29527" y="3002"/>
                  <a:pt x="29518" y="3006"/>
                </a:cubicBezTo>
                <a:cubicBezTo>
                  <a:pt x="29510" y="3009"/>
                  <a:pt x="29501" y="3012"/>
                  <a:pt x="29491" y="3014"/>
                </a:cubicBezTo>
                <a:cubicBezTo>
                  <a:pt x="29482" y="3016"/>
                  <a:pt x="29472" y="3017"/>
                  <a:pt x="29463" y="3017"/>
                </a:cubicBezTo>
                <a:lnTo>
                  <a:pt x="146" y="3017"/>
                </a:lnTo>
                <a:cubicBezTo>
                  <a:pt x="136" y="3017"/>
                  <a:pt x="127" y="3016"/>
                  <a:pt x="118" y="3014"/>
                </a:cubicBezTo>
                <a:cubicBezTo>
                  <a:pt x="108" y="3012"/>
                  <a:pt x="99" y="3009"/>
                  <a:pt x="90" y="3006"/>
                </a:cubicBezTo>
                <a:cubicBezTo>
                  <a:pt x="81" y="3002"/>
                  <a:pt x="73" y="2998"/>
                  <a:pt x="65" y="2992"/>
                </a:cubicBezTo>
                <a:cubicBezTo>
                  <a:pt x="57" y="2987"/>
                  <a:pt x="50" y="2981"/>
                  <a:pt x="43" y="2974"/>
                </a:cubicBezTo>
                <a:cubicBezTo>
                  <a:pt x="36" y="2967"/>
                  <a:pt x="30" y="2960"/>
                  <a:pt x="25" y="2952"/>
                </a:cubicBezTo>
                <a:cubicBezTo>
                  <a:pt x="20" y="2944"/>
                  <a:pt x="15" y="2936"/>
                  <a:pt x="11" y="2927"/>
                </a:cubicBezTo>
                <a:cubicBezTo>
                  <a:pt x="8" y="2918"/>
                  <a:pt x="5" y="2909"/>
                  <a:pt x="3" y="2900"/>
                </a:cubicBezTo>
                <a:cubicBezTo>
                  <a:pt x="1" y="2890"/>
                  <a:pt x="0" y="2881"/>
                  <a:pt x="0" y="2871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923760" y="3871440"/>
            <a:ext cx="8987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Disadvantages: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Controller–View coupling can expand in complex applications, requiring refactoring.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104840" y="4848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923760" y="4490280"/>
            <a:ext cx="829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Variants: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104840" y="5171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289520" y="4757040"/>
            <a:ext cx="4751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MVVM (Model–View–ViewModel) for data-binding UIs.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289520" y="5081040"/>
            <a:ext cx="5473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MVP (Model–View–Presenter) for heavily interactive interfaces.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" descr=""/>
          <p:cNvPicPr/>
          <p:nvPr/>
        </p:nvPicPr>
        <p:blipFill>
          <a:blip r:embed="rId2"/>
          <a:stretch/>
        </p:blipFill>
        <p:spPr>
          <a:xfrm>
            <a:off x="0" y="3257640"/>
            <a:ext cx="573372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"/>
          <p:cNvSpPr txBox="1"/>
          <p:nvPr/>
        </p:nvSpPr>
        <p:spPr>
          <a:xfrm>
            <a:off x="6492240" y="3223080"/>
            <a:ext cx="376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pipe-and-ﬁlter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 structures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492240" y="3527640"/>
            <a:ext cx="426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applications as sequential processing steps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492240" y="3832560"/>
            <a:ext cx="4834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(ﬁlters) connected by channels (pipes). Each ﬁlter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492240" y="4127760"/>
            <a:ext cx="4228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transforms input before passing it onward.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96852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492240" y="-8280"/>
            <a:ext cx="49032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Pipe-and-Filter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492240" y="753480"/>
            <a:ext cx="38602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696852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766440" y="2385720"/>
            <a:ext cx="10658880" cy="1410120"/>
          </a:xfrm>
          <a:custGeom>
            <a:avLst/>
            <a:gdLst/>
            <a:ahLst/>
            <a:rect l="0" t="0" r="r" b="b"/>
            <a:pathLst>
              <a:path w="29608" h="3917">
                <a:moveTo>
                  <a:pt x="0" y="37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772"/>
                </a:lnTo>
                <a:cubicBezTo>
                  <a:pt x="29608" y="3781"/>
                  <a:pt x="29607" y="3791"/>
                  <a:pt x="29605" y="3800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5"/>
                  <a:pt x="29584" y="3852"/>
                </a:cubicBezTo>
                <a:cubicBezTo>
                  <a:pt x="29578" y="3860"/>
                  <a:pt x="29572" y="3868"/>
                  <a:pt x="29566" y="3875"/>
                </a:cubicBezTo>
                <a:cubicBezTo>
                  <a:pt x="29559" y="3881"/>
                  <a:pt x="29552" y="3887"/>
                  <a:pt x="29544" y="3893"/>
                </a:cubicBezTo>
                <a:cubicBezTo>
                  <a:pt x="29536" y="3898"/>
                  <a:pt x="29527" y="3902"/>
                  <a:pt x="29518" y="3906"/>
                </a:cubicBezTo>
                <a:cubicBezTo>
                  <a:pt x="29510" y="3910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10"/>
                  <a:pt x="90" y="3906"/>
                </a:cubicBezTo>
                <a:cubicBezTo>
                  <a:pt x="81" y="3902"/>
                  <a:pt x="73" y="3898"/>
                  <a:pt x="65" y="3893"/>
                </a:cubicBezTo>
                <a:cubicBezTo>
                  <a:pt x="57" y="3887"/>
                  <a:pt x="50" y="3881"/>
                  <a:pt x="43" y="3875"/>
                </a:cubicBezTo>
                <a:cubicBezTo>
                  <a:pt x="36" y="3868"/>
                  <a:pt x="30" y="3860"/>
                  <a:pt x="25" y="3852"/>
                </a:cubicBezTo>
                <a:cubicBezTo>
                  <a:pt x="20" y="3845"/>
                  <a:pt x="15" y="3836"/>
                  <a:pt x="11" y="3827"/>
                </a:cubicBezTo>
                <a:cubicBezTo>
                  <a:pt x="8" y="3818"/>
                  <a:pt x="5" y="3809"/>
                  <a:pt x="3" y="3800"/>
                </a:cubicBezTo>
                <a:cubicBezTo>
                  <a:pt x="1" y="3791"/>
                  <a:pt x="0" y="3781"/>
                  <a:pt x="0" y="3772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766440" y="2385720"/>
            <a:ext cx="10658880" cy="1410120"/>
          </a:xfrm>
          <a:custGeom>
            <a:avLst/>
            <a:gdLst/>
            <a:ahLst/>
            <a:rect l="0" t="0" r="r" b="b"/>
            <a:pathLst>
              <a:path fill="none" w="29608" h="3917">
                <a:moveTo>
                  <a:pt x="0" y="37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772"/>
                </a:lnTo>
                <a:cubicBezTo>
                  <a:pt x="29608" y="3781"/>
                  <a:pt x="29607" y="3791"/>
                  <a:pt x="29605" y="3800"/>
                </a:cubicBezTo>
                <a:cubicBezTo>
                  <a:pt x="29604" y="3809"/>
                  <a:pt x="29601" y="3818"/>
                  <a:pt x="29597" y="3827"/>
                </a:cubicBezTo>
                <a:cubicBezTo>
                  <a:pt x="29594" y="3836"/>
                  <a:pt x="29589" y="3845"/>
                  <a:pt x="29584" y="3852"/>
                </a:cubicBezTo>
                <a:cubicBezTo>
                  <a:pt x="29578" y="3860"/>
                  <a:pt x="29572" y="3868"/>
                  <a:pt x="29566" y="3875"/>
                </a:cubicBezTo>
                <a:cubicBezTo>
                  <a:pt x="29559" y="3881"/>
                  <a:pt x="29552" y="3887"/>
                  <a:pt x="29544" y="3893"/>
                </a:cubicBezTo>
                <a:cubicBezTo>
                  <a:pt x="29536" y="3898"/>
                  <a:pt x="29527" y="3902"/>
                  <a:pt x="29518" y="3906"/>
                </a:cubicBezTo>
                <a:cubicBezTo>
                  <a:pt x="29510" y="3910"/>
                  <a:pt x="29501" y="3912"/>
                  <a:pt x="29491" y="3914"/>
                </a:cubicBezTo>
                <a:cubicBezTo>
                  <a:pt x="29482" y="3916"/>
                  <a:pt x="29472" y="3917"/>
                  <a:pt x="29463" y="3917"/>
                </a:cubicBezTo>
                <a:lnTo>
                  <a:pt x="146" y="3917"/>
                </a:lnTo>
                <a:cubicBezTo>
                  <a:pt x="136" y="3917"/>
                  <a:pt x="127" y="3916"/>
                  <a:pt x="118" y="3914"/>
                </a:cubicBezTo>
                <a:cubicBezTo>
                  <a:pt x="108" y="3912"/>
                  <a:pt x="99" y="3910"/>
                  <a:pt x="90" y="3906"/>
                </a:cubicBezTo>
                <a:cubicBezTo>
                  <a:pt x="81" y="3902"/>
                  <a:pt x="73" y="3898"/>
                  <a:pt x="65" y="3893"/>
                </a:cubicBezTo>
                <a:cubicBezTo>
                  <a:pt x="57" y="3887"/>
                  <a:pt x="50" y="3881"/>
                  <a:pt x="43" y="3875"/>
                </a:cubicBezTo>
                <a:cubicBezTo>
                  <a:pt x="36" y="3868"/>
                  <a:pt x="30" y="3860"/>
                  <a:pt x="25" y="3852"/>
                </a:cubicBezTo>
                <a:cubicBezTo>
                  <a:pt x="20" y="3845"/>
                  <a:pt x="15" y="3836"/>
                  <a:pt x="11" y="3827"/>
                </a:cubicBezTo>
                <a:cubicBezTo>
                  <a:pt x="8" y="3818"/>
                  <a:pt x="5" y="3809"/>
                  <a:pt x="3" y="3800"/>
                </a:cubicBezTo>
                <a:cubicBezTo>
                  <a:pt x="1" y="3791"/>
                  <a:pt x="0" y="3781"/>
                  <a:pt x="0" y="3772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62120" y="372600"/>
            <a:ext cx="94690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Pipe-and-Filter – 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104840" y="2857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923760" y="2490120"/>
            <a:ext cx="110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104840" y="31716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289520" y="2766240"/>
            <a:ext cx="3058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Simple, modular processing steps.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104840" y="34956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289520" y="3080880"/>
            <a:ext cx="4420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Filters can be reused and replaced independently.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766440" y="3919320"/>
            <a:ext cx="10658880" cy="1400400"/>
          </a:xfrm>
          <a:custGeom>
            <a:avLst/>
            <a:gdLst/>
            <a:ahLst/>
            <a:rect l="0" t="0" r="r" b="b"/>
            <a:pathLst>
              <a:path w="29608" h="3890">
                <a:moveTo>
                  <a:pt x="0" y="37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745"/>
                </a:lnTo>
                <a:cubicBezTo>
                  <a:pt x="29608" y="3755"/>
                  <a:pt x="29607" y="3764"/>
                  <a:pt x="29605" y="3773"/>
                </a:cubicBezTo>
                <a:cubicBezTo>
                  <a:pt x="29604" y="3783"/>
                  <a:pt x="29601" y="3792"/>
                  <a:pt x="29597" y="3801"/>
                </a:cubicBezTo>
                <a:cubicBezTo>
                  <a:pt x="29594" y="3809"/>
                  <a:pt x="29589" y="3818"/>
                  <a:pt x="29584" y="3826"/>
                </a:cubicBezTo>
                <a:cubicBezTo>
                  <a:pt x="29578" y="3834"/>
                  <a:pt x="29572" y="3841"/>
                  <a:pt x="29566" y="3848"/>
                </a:cubicBezTo>
                <a:cubicBezTo>
                  <a:pt x="29559" y="3855"/>
                  <a:pt x="29552" y="3861"/>
                  <a:pt x="29544" y="3866"/>
                </a:cubicBezTo>
                <a:cubicBezTo>
                  <a:pt x="29536" y="3871"/>
                  <a:pt x="29527" y="3876"/>
                  <a:pt x="29518" y="3879"/>
                </a:cubicBezTo>
                <a:cubicBezTo>
                  <a:pt x="29510" y="3883"/>
                  <a:pt x="29501" y="3886"/>
                  <a:pt x="29491" y="3888"/>
                </a:cubicBezTo>
                <a:cubicBezTo>
                  <a:pt x="29482" y="3890"/>
                  <a:pt x="29472" y="3890"/>
                  <a:pt x="29463" y="3890"/>
                </a:cubicBezTo>
                <a:lnTo>
                  <a:pt x="146" y="3890"/>
                </a:lnTo>
                <a:cubicBezTo>
                  <a:pt x="136" y="3890"/>
                  <a:pt x="127" y="3890"/>
                  <a:pt x="118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50" y="3855"/>
                  <a:pt x="43" y="3848"/>
                </a:cubicBezTo>
                <a:cubicBezTo>
                  <a:pt x="36" y="3841"/>
                  <a:pt x="30" y="3834"/>
                  <a:pt x="25" y="3826"/>
                </a:cubicBezTo>
                <a:cubicBezTo>
                  <a:pt x="20" y="3818"/>
                  <a:pt x="15" y="3809"/>
                  <a:pt x="11" y="3801"/>
                </a:cubicBezTo>
                <a:cubicBezTo>
                  <a:pt x="8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766440" y="3919320"/>
            <a:ext cx="10658880" cy="1400400"/>
          </a:xfrm>
          <a:custGeom>
            <a:avLst/>
            <a:gdLst/>
            <a:ahLst/>
            <a:rect l="0" t="0" r="r" b="b"/>
            <a:pathLst>
              <a:path fill="none" w="29608" h="3890">
                <a:moveTo>
                  <a:pt x="0" y="37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745"/>
                </a:lnTo>
                <a:cubicBezTo>
                  <a:pt x="29608" y="3755"/>
                  <a:pt x="29607" y="3764"/>
                  <a:pt x="29605" y="3773"/>
                </a:cubicBezTo>
                <a:cubicBezTo>
                  <a:pt x="29604" y="3783"/>
                  <a:pt x="29601" y="3792"/>
                  <a:pt x="29597" y="3801"/>
                </a:cubicBezTo>
                <a:cubicBezTo>
                  <a:pt x="29594" y="3809"/>
                  <a:pt x="29589" y="3818"/>
                  <a:pt x="29584" y="3826"/>
                </a:cubicBezTo>
                <a:cubicBezTo>
                  <a:pt x="29578" y="3834"/>
                  <a:pt x="29572" y="3841"/>
                  <a:pt x="29566" y="3848"/>
                </a:cubicBezTo>
                <a:cubicBezTo>
                  <a:pt x="29559" y="3855"/>
                  <a:pt x="29552" y="3861"/>
                  <a:pt x="29544" y="3866"/>
                </a:cubicBezTo>
                <a:cubicBezTo>
                  <a:pt x="29536" y="3871"/>
                  <a:pt x="29527" y="3876"/>
                  <a:pt x="29518" y="3879"/>
                </a:cubicBezTo>
                <a:cubicBezTo>
                  <a:pt x="29510" y="3883"/>
                  <a:pt x="29501" y="3886"/>
                  <a:pt x="29491" y="3888"/>
                </a:cubicBezTo>
                <a:cubicBezTo>
                  <a:pt x="29482" y="3890"/>
                  <a:pt x="29472" y="3890"/>
                  <a:pt x="29463" y="3890"/>
                </a:cubicBezTo>
                <a:lnTo>
                  <a:pt x="146" y="3890"/>
                </a:lnTo>
                <a:cubicBezTo>
                  <a:pt x="136" y="3890"/>
                  <a:pt x="127" y="3890"/>
                  <a:pt x="118" y="3888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50" y="3855"/>
                  <a:pt x="43" y="3848"/>
                </a:cubicBezTo>
                <a:cubicBezTo>
                  <a:pt x="36" y="3841"/>
                  <a:pt x="30" y="3834"/>
                  <a:pt x="25" y="3826"/>
                </a:cubicBezTo>
                <a:cubicBezTo>
                  <a:pt x="20" y="3818"/>
                  <a:pt x="15" y="3809"/>
                  <a:pt x="11" y="3801"/>
                </a:cubicBezTo>
                <a:cubicBezTo>
                  <a:pt x="8" y="3792"/>
                  <a:pt x="5" y="3783"/>
                  <a:pt x="3" y="3773"/>
                </a:cubicBezTo>
                <a:cubicBezTo>
                  <a:pt x="1" y="3764"/>
                  <a:pt x="0" y="3755"/>
                  <a:pt x="0" y="3745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289520" y="3404520"/>
            <a:ext cx="4933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Fits ETL workﬂows, compilers, and streaming pipelines.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104840" y="43812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923760" y="4023720"/>
            <a:ext cx="1386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104840" y="47052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289520" y="4290480"/>
            <a:ext cx="4982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Ineﬃcient for complex branching or backtracking ﬂows.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104840" y="5019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289520" y="4614120"/>
            <a:ext cx="4218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Intermediate data storage introduces overhead.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289520" y="4928400"/>
            <a:ext cx="4067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Handling bidirectional streams is challenging.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"/>
          <p:cNvSpPr/>
          <p:nvPr/>
        </p:nvSpPr>
        <p:spPr>
          <a:xfrm>
            <a:off x="1971360" y="1676160"/>
            <a:ext cx="2924640" cy="352800"/>
          </a:xfrm>
          <a:custGeom>
            <a:avLst/>
            <a:gdLst/>
            <a:ahLst/>
            <a:rect l="0" t="0" r="r" b="b"/>
            <a:pathLst>
              <a:path w="8124" h="980">
                <a:moveTo>
                  <a:pt x="0" y="0"/>
                </a:moveTo>
                <a:lnTo>
                  <a:pt x="8124" y="0"/>
                </a:lnTo>
                <a:lnTo>
                  <a:pt x="812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4895640" y="1676160"/>
            <a:ext cx="3162600" cy="352800"/>
          </a:xfrm>
          <a:custGeom>
            <a:avLst/>
            <a:gdLst/>
            <a:ahLst/>
            <a:rect l="0" t="0" r="r" b="b"/>
            <a:pathLst>
              <a:path w="8785" h="980">
                <a:moveTo>
                  <a:pt x="0" y="0"/>
                </a:moveTo>
                <a:lnTo>
                  <a:pt x="8785" y="0"/>
                </a:lnTo>
                <a:lnTo>
                  <a:pt x="8785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8057880" y="1676160"/>
            <a:ext cx="2162520" cy="352800"/>
          </a:xfrm>
          <a:custGeom>
            <a:avLst/>
            <a:gdLst/>
            <a:ahLst/>
            <a:rect l="0" t="0" r="r" b="b"/>
            <a:pathLst>
              <a:path w="6007" h="980">
                <a:moveTo>
                  <a:pt x="0" y="0"/>
                </a:moveTo>
                <a:lnTo>
                  <a:pt x="6007" y="0"/>
                </a:lnTo>
                <a:lnTo>
                  <a:pt x="600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971360" y="2028600"/>
            <a:ext cx="2924640" cy="352800"/>
          </a:xfrm>
          <a:custGeom>
            <a:avLst/>
            <a:gdLst/>
            <a:ahLst/>
            <a:rect l="0" t="0" r="r" b="b"/>
            <a:pathLst>
              <a:path w="8124" h="980">
                <a:moveTo>
                  <a:pt x="0" y="0"/>
                </a:moveTo>
                <a:lnTo>
                  <a:pt x="8124" y="0"/>
                </a:lnTo>
                <a:lnTo>
                  <a:pt x="812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4895640" y="2028600"/>
            <a:ext cx="3162600" cy="352800"/>
          </a:xfrm>
          <a:custGeom>
            <a:avLst/>
            <a:gdLst/>
            <a:ahLst/>
            <a:rect l="0" t="0" r="r" b="b"/>
            <a:pathLst>
              <a:path w="8785" h="980">
                <a:moveTo>
                  <a:pt x="0" y="0"/>
                </a:moveTo>
                <a:lnTo>
                  <a:pt x="8785" y="0"/>
                </a:lnTo>
                <a:lnTo>
                  <a:pt x="8785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8057880" y="2028600"/>
            <a:ext cx="2162520" cy="352800"/>
          </a:xfrm>
          <a:custGeom>
            <a:avLst/>
            <a:gdLst/>
            <a:ahLst/>
            <a:rect l="0" t="0" r="r" b="b"/>
            <a:pathLst>
              <a:path w="6007" h="980">
                <a:moveTo>
                  <a:pt x="0" y="0"/>
                </a:moveTo>
                <a:lnTo>
                  <a:pt x="6007" y="0"/>
                </a:lnTo>
                <a:lnTo>
                  <a:pt x="600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971360" y="2381040"/>
            <a:ext cx="2924640" cy="352800"/>
          </a:xfrm>
          <a:custGeom>
            <a:avLst/>
            <a:gdLst/>
            <a:ahLst/>
            <a:rect l="0" t="0" r="r" b="b"/>
            <a:pathLst>
              <a:path w="8124" h="980">
                <a:moveTo>
                  <a:pt x="0" y="0"/>
                </a:moveTo>
                <a:lnTo>
                  <a:pt x="8124" y="0"/>
                </a:lnTo>
                <a:lnTo>
                  <a:pt x="812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4895640" y="2381040"/>
            <a:ext cx="3162600" cy="352800"/>
          </a:xfrm>
          <a:custGeom>
            <a:avLst/>
            <a:gdLst/>
            <a:ahLst/>
            <a:rect l="0" t="0" r="r" b="b"/>
            <a:pathLst>
              <a:path w="8785" h="980">
                <a:moveTo>
                  <a:pt x="0" y="0"/>
                </a:moveTo>
                <a:lnTo>
                  <a:pt x="8785" y="0"/>
                </a:lnTo>
                <a:lnTo>
                  <a:pt x="8785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8057880" y="2381040"/>
            <a:ext cx="2162520" cy="352800"/>
          </a:xfrm>
          <a:custGeom>
            <a:avLst/>
            <a:gdLst/>
            <a:ahLst/>
            <a:rect l="0" t="0" r="r" b="b"/>
            <a:pathLst>
              <a:path w="6007" h="980">
                <a:moveTo>
                  <a:pt x="0" y="0"/>
                </a:moveTo>
                <a:lnTo>
                  <a:pt x="6007" y="0"/>
                </a:lnTo>
                <a:lnTo>
                  <a:pt x="600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971360" y="2733480"/>
            <a:ext cx="2924640" cy="352800"/>
          </a:xfrm>
          <a:custGeom>
            <a:avLst/>
            <a:gdLst/>
            <a:ahLst/>
            <a:rect l="0" t="0" r="r" b="b"/>
            <a:pathLst>
              <a:path w="8124" h="980">
                <a:moveTo>
                  <a:pt x="0" y="0"/>
                </a:moveTo>
                <a:lnTo>
                  <a:pt x="8124" y="0"/>
                </a:lnTo>
                <a:lnTo>
                  <a:pt x="812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4895640" y="2733480"/>
            <a:ext cx="3162600" cy="352800"/>
          </a:xfrm>
          <a:custGeom>
            <a:avLst/>
            <a:gdLst/>
            <a:ahLst/>
            <a:rect l="0" t="0" r="r" b="b"/>
            <a:pathLst>
              <a:path w="8785" h="980">
                <a:moveTo>
                  <a:pt x="0" y="0"/>
                </a:moveTo>
                <a:lnTo>
                  <a:pt x="8785" y="0"/>
                </a:lnTo>
                <a:lnTo>
                  <a:pt x="8785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8057880" y="2733480"/>
            <a:ext cx="2162520" cy="352800"/>
          </a:xfrm>
          <a:custGeom>
            <a:avLst/>
            <a:gdLst/>
            <a:ahLst/>
            <a:rect l="0" t="0" r="r" b="b"/>
            <a:pathLst>
              <a:path w="6007" h="980">
                <a:moveTo>
                  <a:pt x="0" y="0"/>
                </a:moveTo>
                <a:lnTo>
                  <a:pt x="6007" y="0"/>
                </a:lnTo>
                <a:lnTo>
                  <a:pt x="600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971360" y="3085920"/>
            <a:ext cx="2924640" cy="352800"/>
          </a:xfrm>
          <a:custGeom>
            <a:avLst/>
            <a:gdLst/>
            <a:ahLst/>
            <a:rect l="0" t="0" r="r" b="b"/>
            <a:pathLst>
              <a:path w="8124" h="980">
                <a:moveTo>
                  <a:pt x="0" y="0"/>
                </a:moveTo>
                <a:lnTo>
                  <a:pt x="8124" y="0"/>
                </a:lnTo>
                <a:lnTo>
                  <a:pt x="812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4895640" y="3085920"/>
            <a:ext cx="3162600" cy="352800"/>
          </a:xfrm>
          <a:custGeom>
            <a:avLst/>
            <a:gdLst/>
            <a:ahLst/>
            <a:rect l="0" t="0" r="r" b="b"/>
            <a:pathLst>
              <a:path w="8785" h="980">
                <a:moveTo>
                  <a:pt x="0" y="0"/>
                </a:moveTo>
                <a:lnTo>
                  <a:pt x="8785" y="0"/>
                </a:lnTo>
                <a:lnTo>
                  <a:pt x="8785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8057880" y="3085920"/>
            <a:ext cx="2162520" cy="352800"/>
          </a:xfrm>
          <a:custGeom>
            <a:avLst/>
            <a:gdLst/>
            <a:ahLst/>
            <a:rect l="0" t="0" r="r" b="b"/>
            <a:pathLst>
              <a:path w="6007" h="980">
                <a:moveTo>
                  <a:pt x="0" y="0"/>
                </a:moveTo>
                <a:lnTo>
                  <a:pt x="6007" y="0"/>
                </a:lnTo>
                <a:lnTo>
                  <a:pt x="600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971360" y="3438360"/>
            <a:ext cx="2924640" cy="352800"/>
          </a:xfrm>
          <a:custGeom>
            <a:avLst/>
            <a:gdLst/>
            <a:ahLst/>
            <a:rect l="0" t="0" r="r" b="b"/>
            <a:pathLst>
              <a:path w="8124" h="980">
                <a:moveTo>
                  <a:pt x="0" y="0"/>
                </a:moveTo>
                <a:lnTo>
                  <a:pt x="8124" y="0"/>
                </a:lnTo>
                <a:lnTo>
                  <a:pt x="812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4895640" y="3438360"/>
            <a:ext cx="3162600" cy="352800"/>
          </a:xfrm>
          <a:custGeom>
            <a:avLst/>
            <a:gdLst/>
            <a:ahLst/>
            <a:rect l="0" t="0" r="r" b="b"/>
            <a:pathLst>
              <a:path w="8785" h="980">
                <a:moveTo>
                  <a:pt x="0" y="0"/>
                </a:moveTo>
                <a:lnTo>
                  <a:pt x="8785" y="0"/>
                </a:lnTo>
                <a:lnTo>
                  <a:pt x="8785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8057880" y="3438360"/>
            <a:ext cx="2162520" cy="352800"/>
          </a:xfrm>
          <a:custGeom>
            <a:avLst/>
            <a:gdLst/>
            <a:ahLst/>
            <a:rect l="0" t="0" r="r" b="b"/>
            <a:pathLst>
              <a:path w="6007" h="980">
                <a:moveTo>
                  <a:pt x="0" y="0"/>
                </a:moveTo>
                <a:lnTo>
                  <a:pt x="6007" y="0"/>
                </a:lnTo>
                <a:lnTo>
                  <a:pt x="600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971360" y="16761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971360" y="1676160"/>
            <a:ext cx="2934360" cy="10080"/>
          </a:xfrm>
          <a:custGeom>
            <a:avLst/>
            <a:gdLst/>
            <a:ahLst/>
            <a:rect l="0" t="0" r="r" b="b"/>
            <a:pathLst>
              <a:path w="8151" h="28">
                <a:moveTo>
                  <a:pt x="0" y="0"/>
                </a:moveTo>
                <a:lnTo>
                  <a:pt x="8151" y="0"/>
                </a:lnTo>
                <a:lnTo>
                  <a:pt x="81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4895640" y="16761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905360" y="1676160"/>
            <a:ext cx="3162600" cy="10080"/>
          </a:xfrm>
          <a:custGeom>
            <a:avLst/>
            <a:gdLst/>
            <a:ahLst/>
            <a:rect l="0" t="0" r="r" b="b"/>
            <a:pathLst>
              <a:path w="8785" h="28">
                <a:moveTo>
                  <a:pt x="0" y="0"/>
                </a:moveTo>
                <a:lnTo>
                  <a:pt x="8785" y="0"/>
                </a:lnTo>
                <a:lnTo>
                  <a:pt x="8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8057880" y="16761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8067600" y="1676160"/>
            <a:ext cx="2152800" cy="10080"/>
          </a:xfrm>
          <a:custGeom>
            <a:avLst/>
            <a:gdLst/>
            <a:ahLst/>
            <a:rect l="0" t="0" r="r" b="b"/>
            <a:pathLst>
              <a:path w="5980" h="28">
                <a:moveTo>
                  <a:pt x="0" y="0"/>
                </a:moveTo>
                <a:lnTo>
                  <a:pt x="5980" y="0"/>
                </a:lnTo>
                <a:lnTo>
                  <a:pt x="59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0210680" y="167616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971360" y="2028600"/>
            <a:ext cx="2934360" cy="10080"/>
          </a:xfrm>
          <a:custGeom>
            <a:avLst/>
            <a:gdLst/>
            <a:ahLst/>
            <a:rect l="0" t="0" r="r" b="b"/>
            <a:pathLst>
              <a:path w="8151" h="28">
                <a:moveTo>
                  <a:pt x="0" y="0"/>
                </a:moveTo>
                <a:lnTo>
                  <a:pt x="8151" y="0"/>
                </a:lnTo>
                <a:lnTo>
                  <a:pt x="81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4905360" y="2028600"/>
            <a:ext cx="3162600" cy="10080"/>
          </a:xfrm>
          <a:custGeom>
            <a:avLst/>
            <a:gdLst/>
            <a:ahLst/>
            <a:rect l="0" t="0" r="r" b="b"/>
            <a:pathLst>
              <a:path w="8785" h="28">
                <a:moveTo>
                  <a:pt x="0" y="0"/>
                </a:moveTo>
                <a:lnTo>
                  <a:pt x="8785" y="0"/>
                </a:lnTo>
                <a:lnTo>
                  <a:pt x="8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8067600" y="2028600"/>
            <a:ext cx="2152800" cy="10080"/>
          </a:xfrm>
          <a:custGeom>
            <a:avLst/>
            <a:gdLst/>
            <a:ahLst/>
            <a:rect l="0" t="0" r="r" b="b"/>
            <a:pathLst>
              <a:path w="5980" h="28">
                <a:moveTo>
                  <a:pt x="0" y="0"/>
                </a:moveTo>
                <a:lnTo>
                  <a:pt x="5980" y="0"/>
                </a:lnTo>
                <a:lnTo>
                  <a:pt x="59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1971360" y="20383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895640" y="20383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8057880" y="20383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0210680" y="20383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971360" y="2390760"/>
            <a:ext cx="10080" cy="352440"/>
          </a:xfrm>
          <a:custGeom>
            <a:avLst/>
            <a:gdLst/>
            <a:ahLst/>
            <a:rect l="0" t="0" r="r" b="b"/>
            <a:pathLst>
              <a:path w="28" h="979">
                <a:moveTo>
                  <a:pt x="0" y="0"/>
                </a:moveTo>
                <a:lnTo>
                  <a:pt x="28" y="0"/>
                </a:lnTo>
                <a:lnTo>
                  <a:pt x="2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971360" y="2381040"/>
            <a:ext cx="2934360" cy="10080"/>
          </a:xfrm>
          <a:custGeom>
            <a:avLst/>
            <a:gdLst/>
            <a:ahLst/>
            <a:rect l="0" t="0" r="r" b="b"/>
            <a:pathLst>
              <a:path w="8151" h="28">
                <a:moveTo>
                  <a:pt x="0" y="0"/>
                </a:moveTo>
                <a:lnTo>
                  <a:pt x="8151" y="0"/>
                </a:lnTo>
                <a:lnTo>
                  <a:pt x="81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4895640" y="2390760"/>
            <a:ext cx="10080" cy="352440"/>
          </a:xfrm>
          <a:custGeom>
            <a:avLst/>
            <a:gdLst/>
            <a:ahLst/>
            <a:rect l="0" t="0" r="r" b="b"/>
            <a:pathLst>
              <a:path w="28" h="979">
                <a:moveTo>
                  <a:pt x="0" y="0"/>
                </a:moveTo>
                <a:lnTo>
                  <a:pt x="28" y="0"/>
                </a:lnTo>
                <a:lnTo>
                  <a:pt x="2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905360" y="2381040"/>
            <a:ext cx="3162600" cy="10080"/>
          </a:xfrm>
          <a:custGeom>
            <a:avLst/>
            <a:gdLst/>
            <a:ahLst/>
            <a:rect l="0" t="0" r="r" b="b"/>
            <a:pathLst>
              <a:path w="8785" h="28">
                <a:moveTo>
                  <a:pt x="0" y="0"/>
                </a:moveTo>
                <a:lnTo>
                  <a:pt x="8785" y="0"/>
                </a:lnTo>
                <a:lnTo>
                  <a:pt x="8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8057880" y="2390760"/>
            <a:ext cx="10080" cy="352440"/>
          </a:xfrm>
          <a:custGeom>
            <a:avLst/>
            <a:gdLst/>
            <a:ahLst/>
            <a:rect l="0" t="0" r="r" b="b"/>
            <a:pathLst>
              <a:path w="28" h="979">
                <a:moveTo>
                  <a:pt x="0" y="0"/>
                </a:moveTo>
                <a:lnTo>
                  <a:pt x="28" y="0"/>
                </a:lnTo>
                <a:lnTo>
                  <a:pt x="28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8067600" y="2381040"/>
            <a:ext cx="2152800" cy="10080"/>
          </a:xfrm>
          <a:custGeom>
            <a:avLst/>
            <a:gdLst/>
            <a:ahLst/>
            <a:rect l="0" t="0" r="r" b="b"/>
            <a:pathLst>
              <a:path w="5980" h="28">
                <a:moveTo>
                  <a:pt x="0" y="0"/>
                </a:moveTo>
                <a:lnTo>
                  <a:pt x="5980" y="0"/>
                </a:lnTo>
                <a:lnTo>
                  <a:pt x="59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0210680" y="2390760"/>
            <a:ext cx="9720" cy="352440"/>
          </a:xfrm>
          <a:custGeom>
            <a:avLst/>
            <a:gdLst/>
            <a:ahLst/>
            <a:rect l="0" t="0" r="r" b="b"/>
            <a:pathLst>
              <a:path w="27" h="979">
                <a:moveTo>
                  <a:pt x="0" y="0"/>
                </a:moveTo>
                <a:lnTo>
                  <a:pt x="27" y="0"/>
                </a:lnTo>
                <a:lnTo>
                  <a:pt x="2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971360" y="27428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971360" y="273348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4895640" y="27428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905360" y="273348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8057880" y="27428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8067600" y="2733480"/>
            <a:ext cx="2152800" cy="9720"/>
          </a:xfrm>
          <a:custGeom>
            <a:avLst/>
            <a:gdLst/>
            <a:ah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0210680" y="27428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971360" y="30952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971360" y="308592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4895640" y="30952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4905360" y="308592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8057880" y="30952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8067600" y="3085920"/>
            <a:ext cx="2152800" cy="9720"/>
          </a:xfrm>
          <a:custGeom>
            <a:avLst/>
            <a:gdLst/>
            <a:ah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0210680" y="30952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971360" y="34477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971360" y="343836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4895640" y="34477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4905360" y="343836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8057880" y="34477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8067600" y="3438360"/>
            <a:ext cx="2152800" cy="9720"/>
          </a:xfrm>
          <a:custGeom>
            <a:avLst/>
            <a:gdLst/>
            <a:ah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0210680" y="34477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971360" y="379080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4905360" y="379080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8067600" y="3790800"/>
            <a:ext cx="2152800" cy="9720"/>
          </a:xfrm>
          <a:custGeom>
            <a:avLst/>
            <a:gdLst/>
            <a:ahLst/>
            <a:rect l="0" t="0" r="r" b="b"/>
            <a:pathLst>
              <a:path w="5980" h="27">
                <a:moveTo>
                  <a:pt x="0" y="0"/>
                </a:moveTo>
                <a:lnTo>
                  <a:pt x="5980" y="0"/>
                </a:lnTo>
                <a:lnTo>
                  <a:pt x="59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485800" y="400032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3895560" y="4000320"/>
            <a:ext cx="2200680" cy="352800"/>
          </a:xfrm>
          <a:custGeom>
            <a:avLst/>
            <a:gdLst/>
            <a:ahLst/>
            <a:rect l="0" t="0" r="r" b="b"/>
            <a:pathLst>
              <a:path w="6113" h="980">
                <a:moveTo>
                  <a:pt x="0" y="0"/>
                </a:moveTo>
                <a:lnTo>
                  <a:pt x="6113" y="0"/>
                </a:lnTo>
                <a:lnTo>
                  <a:pt x="611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095880" y="4000320"/>
            <a:ext cx="1295640" cy="352800"/>
          </a:xfrm>
          <a:custGeom>
            <a:avLst/>
            <a:gdLst/>
            <a:ahLst/>
            <a:rect l="0" t="0" r="r" b="b"/>
            <a:pathLst>
              <a:path w="3599" h="980">
                <a:moveTo>
                  <a:pt x="0" y="0"/>
                </a:moveTo>
                <a:lnTo>
                  <a:pt x="3599" y="0"/>
                </a:lnTo>
                <a:lnTo>
                  <a:pt x="359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7391160" y="4000320"/>
            <a:ext cx="2315160" cy="352800"/>
          </a:xfrm>
          <a:custGeom>
            <a:avLst/>
            <a:gdLst/>
            <a:ahLst/>
            <a:rect l="0" t="0" r="r" b="b"/>
            <a:pathLst>
              <a:path w="6431" h="980">
                <a:moveTo>
                  <a:pt x="0" y="0"/>
                </a:moveTo>
                <a:lnTo>
                  <a:pt x="6431" y="0"/>
                </a:lnTo>
                <a:lnTo>
                  <a:pt x="643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2485800" y="435276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3895560" y="4352760"/>
            <a:ext cx="2200680" cy="352800"/>
          </a:xfrm>
          <a:custGeom>
            <a:avLst/>
            <a:gdLst/>
            <a:ahLst/>
            <a:rect l="0" t="0" r="r" b="b"/>
            <a:pathLst>
              <a:path w="6113" h="980">
                <a:moveTo>
                  <a:pt x="0" y="0"/>
                </a:moveTo>
                <a:lnTo>
                  <a:pt x="6113" y="0"/>
                </a:lnTo>
                <a:lnTo>
                  <a:pt x="611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6095880" y="4352760"/>
            <a:ext cx="1295640" cy="352800"/>
          </a:xfrm>
          <a:custGeom>
            <a:avLst/>
            <a:gdLst/>
            <a:ahLst/>
            <a:rect l="0" t="0" r="r" b="b"/>
            <a:pathLst>
              <a:path w="3599" h="980">
                <a:moveTo>
                  <a:pt x="0" y="0"/>
                </a:moveTo>
                <a:lnTo>
                  <a:pt x="3599" y="0"/>
                </a:lnTo>
                <a:lnTo>
                  <a:pt x="359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7391160" y="4352760"/>
            <a:ext cx="2315160" cy="352800"/>
          </a:xfrm>
          <a:custGeom>
            <a:avLst/>
            <a:gdLst/>
            <a:ahLst/>
            <a:rect l="0" t="0" r="r" b="b"/>
            <a:pathLst>
              <a:path w="6431" h="980">
                <a:moveTo>
                  <a:pt x="0" y="0"/>
                </a:moveTo>
                <a:lnTo>
                  <a:pt x="6431" y="0"/>
                </a:lnTo>
                <a:lnTo>
                  <a:pt x="643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485800" y="470520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3895560" y="4705200"/>
            <a:ext cx="2200680" cy="352800"/>
          </a:xfrm>
          <a:custGeom>
            <a:avLst/>
            <a:gdLst/>
            <a:ahLst/>
            <a:rect l="0" t="0" r="r" b="b"/>
            <a:pathLst>
              <a:path w="6113" h="980">
                <a:moveTo>
                  <a:pt x="0" y="0"/>
                </a:moveTo>
                <a:lnTo>
                  <a:pt x="6113" y="0"/>
                </a:lnTo>
                <a:lnTo>
                  <a:pt x="611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6095880" y="4705200"/>
            <a:ext cx="1295640" cy="352800"/>
          </a:xfrm>
          <a:custGeom>
            <a:avLst/>
            <a:gdLst/>
            <a:ahLst/>
            <a:rect l="0" t="0" r="r" b="b"/>
            <a:pathLst>
              <a:path w="3599" h="980">
                <a:moveTo>
                  <a:pt x="0" y="0"/>
                </a:moveTo>
                <a:lnTo>
                  <a:pt x="3599" y="0"/>
                </a:lnTo>
                <a:lnTo>
                  <a:pt x="359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7391160" y="4705200"/>
            <a:ext cx="2315160" cy="352800"/>
          </a:xfrm>
          <a:custGeom>
            <a:avLst/>
            <a:gdLst/>
            <a:ahLst/>
            <a:rect l="0" t="0" r="r" b="b"/>
            <a:pathLst>
              <a:path w="6431" h="980">
                <a:moveTo>
                  <a:pt x="0" y="0"/>
                </a:moveTo>
                <a:lnTo>
                  <a:pt x="6431" y="0"/>
                </a:lnTo>
                <a:lnTo>
                  <a:pt x="643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2485800" y="505764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3895560" y="5057640"/>
            <a:ext cx="2200680" cy="352800"/>
          </a:xfrm>
          <a:custGeom>
            <a:avLst/>
            <a:gdLst/>
            <a:ahLst/>
            <a:rect l="0" t="0" r="r" b="b"/>
            <a:pathLst>
              <a:path w="6113" h="980">
                <a:moveTo>
                  <a:pt x="0" y="0"/>
                </a:moveTo>
                <a:lnTo>
                  <a:pt x="6113" y="0"/>
                </a:lnTo>
                <a:lnTo>
                  <a:pt x="611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6095880" y="5057640"/>
            <a:ext cx="1295640" cy="352800"/>
          </a:xfrm>
          <a:custGeom>
            <a:avLst/>
            <a:gdLst/>
            <a:ahLst/>
            <a:rect l="0" t="0" r="r" b="b"/>
            <a:pathLst>
              <a:path w="3599" h="980">
                <a:moveTo>
                  <a:pt x="0" y="0"/>
                </a:moveTo>
                <a:lnTo>
                  <a:pt x="3599" y="0"/>
                </a:lnTo>
                <a:lnTo>
                  <a:pt x="359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7391160" y="5057640"/>
            <a:ext cx="2315160" cy="352800"/>
          </a:xfrm>
          <a:custGeom>
            <a:avLst/>
            <a:gdLst/>
            <a:ahLst/>
            <a:rect l="0" t="0" r="r" b="b"/>
            <a:pathLst>
              <a:path w="6431" h="980">
                <a:moveTo>
                  <a:pt x="0" y="0"/>
                </a:moveTo>
                <a:lnTo>
                  <a:pt x="6431" y="0"/>
                </a:lnTo>
                <a:lnTo>
                  <a:pt x="643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485800" y="541008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3895560" y="5410080"/>
            <a:ext cx="2200680" cy="352800"/>
          </a:xfrm>
          <a:custGeom>
            <a:avLst/>
            <a:gdLst/>
            <a:ahLst/>
            <a:rect l="0" t="0" r="r" b="b"/>
            <a:pathLst>
              <a:path w="6113" h="980">
                <a:moveTo>
                  <a:pt x="0" y="0"/>
                </a:moveTo>
                <a:lnTo>
                  <a:pt x="6113" y="0"/>
                </a:lnTo>
                <a:lnTo>
                  <a:pt x="611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6095880" y="5410080"/>
            <a:ext cx="1295640" cy="352800"/>
          </a:xfrm>
          <a:custGeom>
            <a:avLst/>
            <a:gdLst/>
            <a:ahLst/>
            <a:rect l="0" t="0" r="r" b="b"/>
            <a:pathLst>
              <a:path w="3599" h="980">
                <a:moveTo>
                  <a:pt x="0" y="0"/>
                </a:moveTo>
                <a:lnTo>
                  <a:pt x="3599" y="0"/>
                </a:lnTo>
                <a:lnTo>
                  <a:pt x="359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7391160" y="5410080"/>
            <a:ext cx="2315160" cy="352800"/>
          </a:xfrm>
          <a:custGeom>
            <a:avLst/>
            <a:gdLst/>
            <a:ahLst/>
            <a:rect l="0" t="0" r="r" b="b"/>
            <a:pathLst>
              <a:path w="6431" h="980">
                <a:moveTo>
                  <a:pt x="0" y="0"/>
                </a:moveTo>
                <a:lnTo>
                  <a:pt x="6431" y="0"/>
                </a:lnTo>
                <a:lnTo>
                  <a:pt x="643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485800" y="576252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3895560" y="5762520"/>
            <a:ext cx="2200680" cy="352800"/>
          </a:xfrm>
          <a:custGeom>
            <a:avLst/>
            <a:gdLst/>
            <a:ahLst/>
            <a:rect l="0" t="0" r="r" b="b"/>
            <a:pathLst>
              <a:path w="6113" h="980">
                <a:moveTo>
                  <a:pt x="0" y="0"/>
                </a:moveTo>
                <a:lnTo>
                  <a:pt x="6113" y="0"/>
                </a:lnTo>
                <a:lnTo>
                  <a:pt x="611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095880" y="5762520"/>
            <a:ext cx="1295640" cy="352800"/>
          </a:xfrm>
          <a:custGeom>
            <a:avLst/>
            <a:gdLst/>
            <a:ahLst/>
            <a:rect l="0" t="0" r="r" b="b"/>
            <a:pathLst>
              <a:path w="3599" h="980">
                <a:moveTo>
                  <a:pt x="0" y="0"/>
                </a:moveTo>
                <a:lnTo>
                  <a:pt x="3599" y="0"/>
                </a:lnTo>
                <a:lnTo>
                  <a:pt x="359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7391160" y="5762520"/>
            <a:ext cx="2315160" cy="352800"/>
          </a:xfrm>
          <a:custGeom>
            <a:avLst/>
            <a:gdLst/>
            <a:ahLst/>
            <a:rect l="0" t="0" r="r" b="b"/>
            <a:pathLst>
              <a:path w="6431" h="980">
                <a:moveTo>
                  <a:pt x="0" y="0"/>
                </a:moveTo>
                <a:lnTo>
                  <a:pt x="6431" y="0"/>
                </a:lnTo>
                <a:lnTo>
                  <a:pt x="6431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2476440" y="400032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2476440" y="400032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3885840" y="400032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3895560" y="400032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6095880" y="400032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6105240" y="400032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7381800" y="400032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7391160" y="400032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9705960" y="400032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2476440" y="435276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3895560" y="435276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6105240" y="435276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7391160" y="435276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476440" y="4362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3885840" y="43621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6095880" y="4362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7381800" y="4362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9705960" y="4362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476440" y="47145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476440" y="470520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885840" y="47145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3895560" y="470520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6095880" y="47145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105240" y="470520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7381800" y="47145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7391160" y="470520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9705960" y="47145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2476440" y="50670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476440" y="505764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3885840" y="50670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3895560" y="505764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095880" y="50670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105240" y="505764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381800" y="50670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7391160" y="505764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9705960" y="50670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2476440" y="54194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476440" y="541008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3885840" y="54194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3895560" y="541008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095880" y="54194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105240" y="54100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381800" y="54194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7391160" y="541008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9705960" y="54194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2476440" y="57718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2476440" y="576252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3885840" y="57718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3895560" y="576252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6095880" y="57718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6105240" y="576252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7381800" y="57718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391160" y="576252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9705960" y="57718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2476440" y="611496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3895560" y="611496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6105240" y="611496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7391160" y="6114960"/>
            <a:ext cx="2324520" cy="9720"/>
          </a:xfrm>
          <a:custGeom>
            <a:avLst/>
            <a:gdLst/>
            <a:ahLst/>
            <a:rect l="0" t="0" r="r" b="b"/>
            <a:pathLst>
              <a:path w="6457" h="27">
                <a:moveTo>
                  <a:pt x="0" y="0"/>
                </a:moveTo>
                <a:lnTo>
                  <a:pt x="6457" y="0"/>
                </a:lnTo>
                <a:lnTo>
                  <a:pt x="64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3199680" y="1767240"/>
            <a:ext cx="476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6253560" y="1767240"/>
            <a:ext cx="452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8527680" y="1767240"/>
            <a:ext cx="1221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Typical Domain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2112480" y="2119680"/>
            <a:ext cx="962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Client–Server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5038560" y="2119680"/>
            <a:ext cx="2189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Centralised request–response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8196840" y="2119680"/>
            <a:ext cx="141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Internet, databases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2112480" y="2472120"/>
            <a:ext cx="2650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Service-Oriented Architecture (SOA)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5038560" y="2472120"/>
            <a:ext cx="2882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Modular services on an integration bus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8196840" y="2472120"/>
            <a:ext cx="1392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Enterprise systems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2112480" y="2824560"/>
            <a:ext cx="2366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Event-Driven Architecture (EDA)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5038560" y="2824560"/>
            <a:ext cx="2684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Asynchronous event communication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8196840" y="2824560"/>
            <a:ext cx="1875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IoT, real-time processing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112480" y="3177000"/>
            <a:ext cx="2174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Model–View–Controller (MVC)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5038560" y="3177000"/>
            <a:ext cx="2829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Separation of presentation, logic, data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8196840" y="3177000"/>
            <a:ext cx="1230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Web frameworks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2112480" y="3529440"/>
            <a:ext cx="1135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Pipe-and-Filter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5038560" y="3529440"/>
            <a:ext cx="2365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Sequential data transformations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8196840" y="3529440"/>
            <a:ext cx="1883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Compilers, data pipelines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2950920" y="4091400"/>
            <a:ext cx="476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4164120" y="4091400"/>
            <a:ext cx="1665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Communication Type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6391440" y="4091400"/>
            <a:ext cx="707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Coupling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8076600" y="4091400"/>
            <a:ext cx="946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Primary Use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2621520" y="4443840"/>
            <a:ext cx="962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Client–Server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4032000" y="4443840"/>
            <a:ext cx="1339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Request–response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6237360" y="4443840"/>
            <a:ext cx="593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Medium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7528680" y="4443840"/>
            <a:ext cx="1149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Web, databases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2621520" y="4796280"/>
            <a:ext cx="306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4032000" y="4796280"/>
            <a:ext cx="1719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Message-based via ESB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6237360" y="4796280"/>
            <a:ext cx="293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7528680" y="4796280"/>
            <a:ext cx="1606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Enterprise integration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2621520" y="5148360"/>
            <a:ext cx="302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EDA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4032000" y="5148360"/>
            <a:ext cx="1323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Publish–subscribe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6237360" y="5148360"/>
            <a:ext cx="630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Very low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7528680" y="5148360"/>
            <a:ext cx="2042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Real-time, reactive systems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2621520" y="5500800"/>
            <a:ext cx="336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MVC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4032000" y="5500800"/>
            <a:ext cx="1929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Controller-driven updates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6237360" y="5500800"/>
            <a:ext cx="101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Medium–High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7528680" y="5500800"/>
            <a:ext cx="1176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Web &amp; GUI apps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2621520" y="5853240"/>
            <a:ext cx="1135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Pipe-and-Filter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4032000" y="5853240"/>
            <a:ext cx="1494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Sequential data ﬂow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6237360" y="5853240"/>
            <a:ext cx="293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528680" y="5853240"/>
            <a:ext cx="1873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 pipelines, compilers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762120" y="372600"/>
            <a:ext cx="71002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Comparative Summary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"/>
          <p:cNvSpPr/>
          <p:nvPr/>
        </p:nvSpPr>
        <p:spPr>
          <a:xfrm>
            <a:off x="971280" y="3133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62120" y="2584800"/>
            <a:ext cx="7543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Modern enterprises combine these paradigms to meet diverse requirements: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971280" y="3485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168200" y="3042000"/>
            <a:ext cx="550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Client–server frontends often implement MVC or MVVM.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971280" y="3848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1168200" y="3394440"/>
            <a:ext cx="508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Backends expose services via SOA or microservices.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971280" y="4200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1168200" y="3756240"/>
            <a:ext cx="5452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Internal data processing uses pipe-and-ﬁlter pipelines.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168200" y="4108680"/>
            <a:ext cx="585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Asynchronous workﬂows leverage event-driven messaging.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766440" y="4538520"/>
            <a:ext cx="10658880" cy="495720"/>
          </a:xfrm>
          <a:custGeom>
            <a:avLst/>
            <a:gdLst/>
            <a:ahLst/>
            <a:rect l="0" t="0" r="r" b="b"/>
            <a:pathLst>
              <a:path w="29608" h="1377">
                <a:moveTo>
                  <a:pt x="0" y="123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1231"/>
                </a:lnTo>
                <a:cubicBezTo>
                  <a:pt x="29608" y="1241"/>
                  <a:pt x="29607" y="1250"/>
                  <a:pt x="29605" y="1260"/>
                </a:cubicBezTo>
                <a:cubicBezTo>
                  <a:pt x="29604" y="1269"/>
                  <a:pt x="29601" y="1278"/>
                  <a:pt x="29597" y="1287"/>
                </a:cubicBezTo>
                <a:cubicBezTo>
                  <a:pt x="29594" y="1296"/>
                  <a:pt x="29589" y="1304"/>
                  <a:pt x="29584" y="1312"/>
                </a:cubicBezTo>
                <a:cubicBezTo>
                  <a:pt x="29578" y="1320"/>
                  <a:pt x="29572" y="1327"/>
                  <a:pt x="29566" y="1334"/>
                </a:cubicBezTo>
                <a:cubicBezTo>
                  <a:pt x="29559" y="1341"/>
                  <a:pt x="29552" y="1347"/>
                  <a:pt x="29544" y="1352"/>
                </a:cubicBezTo>
                <a:cubicBezTo>
                  <a:pt x="29536" y="1358"/>
                  <a:pt x="29527" y="1362"/>
                  <a:pt x="29518" y="1366"/>
                </a:cubicBezTo>
                <a:cubicBezTo>
                  <a:pt x="29510" y="1369"/>
                  <a:pt x="29501" y="1372"/>
                  <a:pt x="29491" y="1374"/>
                </a:cubicBezTo>
                <a:cubicBezTo>
                  <a:pt x="29482" y="1376"/>
                  <a:pt x="29472" y="1377"/>
                  <a:pt x="29463" y="1377"/>
                </a:cubicBezTo>
                <a:lnTo>
                  <a:pt x="146" y="1377"/>
                </a:lnTo>
                <a:cubicBezTo>
                  <a:pt x="136" y="1377"/>
                  <a:pt x="127" y="1376"/>
                  <a:pt x="118" y="1374"/>
                </a:cubicBezTo>
                <a:cubicBezTo>
                  <a:pt x="108" y="1372"/>
                  <a:pt x="99" y="1369"/>
                  <a:pt x="90" y="1366"/>
                </a:cubicBezTo>
                <a:cubicBezTo>
                  <a:pt x="81" y="1362"/>
                  <a:pt x="73" y="1358"/>
                  <a:pt x="65" y="1352"/>
                </a:cubicBezTo>
                <a:cubicBezTo>
                  <a:pt x="57" y="1347"/>
                  <a:pt x="50" y="1341"/>
                  <a:pt x="43" y="1334"/>
                </a:cubicBezTo>
                <a:cubicBezTo>
                  <a:pt x="36" y="1327"/>
                  <a:pt x="30" y="1320"/>
                  <a:pt x="25" y="1312"/>
                </a:cubicBezTo>
                <a:cubicBezTo>
                  <a:pt x="20" y="1304"/>
                  <a:pt x="15" y="1296"/>
                  <a:pt x="11" y="1287"/>
                </a:cubicBezTo>
                <a:cubicBezTo>
                  <a:pt x="8" y="1278"/>
                  <a:pt x="5" y="1269"/>
                  <a:pt x="3" y="1260"/>
                </a:cubicBezTo>
                <a:cubicBezTo>
                  <a:pt x="1" y="1250"/>
                  <a:pt x="0" y="1241"/>
                  <a:pt x="0" y="1231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766440" y="4538520"/>
            <a:ext cx="10658880" cy="495720"/>
          </a:xfrm>
          <a:custGeom>
            <a:avLst/>
            <a:gdLst/>
            <a:ahLst/>
            <a:rect l="0" t="0" r="r" b="b"/>
            <a:pathLst>
              <a:path fill="none" w="29608" h="1377">
                <a:moveTo>
                  <a:pt x="0" y="123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1231"/>
                </a:lnTo>
                <a:cubicBezTo>
                  <a:pt x="29608" y="1241"/>
                  <a:pt x="29607" y="1250"/>
                  <a:pt x="29605" y="1260"/>
                </a:cubicBezTo>
                <a:cubicBezTo>
                  <a:pt x="29604" y="1269"/>
                  <a:pt x="29601" y="1278"/>
                  <a:pt x="29597" y="1287"/>
                </a:cubicBezTo>
                <a:cubicBezTo>
                  <a:pt x="29594" y="1296"/>
                  <a:pt x="29589" y="1304"/>
                  <a:pt x="29584" y="1312"/>
                </a:cubicBezTo>
                <a:cubicBezTo>
                  <a:pt x="29578" y="1320"/>
                  <a:pt x="29572" y="1327"/>
                  <a:pt x="29566" y="1334"/>
                </a:cubicBezTo>
                <a:cubicBezTo>
                  <a:pt x="29559" y="1341"/>
                  <a:pt x="29552" y="1347"/>
                  <a:pt x="29544" y="1352"/>
                </a:cubicBezTo>
                <a:cubicBezTo>
                  <a:pt x="29536" y="1358"/>
                  <a:pt x="29527" y="1362"/>
                  <a:pt x="29518" y="1366"/>
                </a:cubicBezTo>
                <a:cubicBezTo>
                  <a:pt x="29510" y="1369"/>
                  <a:pt x="29501" y="1372"/>
                  <a:pt x="29491" y="1374"/>
                </a:cubicBezTo>
                <a:cubicBezTo>
                  <a:pt x="29482" y="1376"/>
                  <a:pt x="29472" y="1377"/>
                  <a:pt x="29463" y="1377"/>
                </a:cubicBezTo>
                <a:lnTo>
                  <a:pt x="146" y="1377"/>
                </a:lnTo>
                <a:cubicBezTo>
                  <a:pt x="136" y="1377"/>
                  <a:pt x="127" y="1376"/>
                  <a:pt x="118" y="1374"/>
                </a:cubicBezTo>
                <a:cubicBezTo>
                  <a:pt x="108" y="1372"/>
                  <a:pt x="99" y="1369"/>
                  <a:pt x="90" y="1366"/>
                </a:cubicBezTo>
                <a:cubicBezTo>
                  <a:pt x="81" y="1362"/>
                  <a:pt x="73" y="1358"/>
                  <a:pt x="65" y="1352"/>
                </a:cubicBezTo>
                <a:cubicBezTo>
                  <a:pt x="57" y="1347"/>
                  <a:pt x="50" y="1341"/>
                  <a:pt x="43" y="1334"/>
                </a:cubicBezTo>
                <a:cubicBezTo>
                  <a:pt x="36" y="1327"/>
                  <a:pt x="30" y="1320"/>
                  <a:pt x="25" y="1312"/>
                </a:cubicBezTo>
                <a:cubicBezTo>
                  <a:pt x="20" y="1304"/>
                  <a:pt x="15" y="1296"/>
                  <a:pt x="11" y="1287"/>
                </a:cubicBezTo>
                <a:cubicBezTo>
                  <a:pt x="8" y="1278"/>
                  <a:pt x="5" y="1269"/>
                  <a:pt x="3" y="1260"/>
                </a:cubicBezTo>
                <a:cubicBezTo>
                  <a:pt x="1" y="1250"/>
                  <a:pt x="0" y="1241"/>
                  <a:pt x="0" y="1231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762120" y="372600"/>
            <a:ext cx="7739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Architectural Integration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923760" y="4642920"/>
            <a:ext cx="9975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Hybrid architectures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allow teams to choose patterns that best ﬁt each subsystem while maintaining coherence.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"/>
          <p:cNvSpPr/>
          <p:nvPr/>
        </p:nvSpPr>
        <p:spPr>
          <a:xfrm>
            <a:off x="971280" y="3409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971280" y="3771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168200" y="3318120"/>
            <a:ext cx="8637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Interaction-centric architectures deﬁne how components communicate and collaborate.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971280" y="4124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168200" y="3680280"/>
            <a:ext cx="7683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Selection depends on scalability, consistency, and operational maturity needs.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1168200" y="4032720"/>
            <a:ext cx="6608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Combining paradigms yields ﬂexible, resilient enterprise solutions.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762120" y="372600"/>
            <a:ext cx="2922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Summary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8" name=""/>
          <p:cNvSpPr/>
          <p:nvPr/>
        </p:nvSpPr>
        <p:spPr>
          <a:xfrm>
            <a:off x="971280" y="3057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1168200" y="2965680"/>
            <a:ext cx="4366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Bass, L., Clements, P., &amp; Kazman, R. (2021).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971280" y="3409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5593680" y="2965680"/>
            <a:ext cx="3350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Software Architecture in Practice.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1168200" y="3318120"/>
            <a:ext cx="234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Papazoglou, M. (2007).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971280" y="3771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3566520" y="3318120"/>
            <a:ext cx="6726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Service-Oriented Architecture: Concepts, Technology, and Design.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168200" y="3680280"/>
            <a:ext cx="609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Chen, L. (2019). Event-driven microservices: lessons learned.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971280" y="4124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7324200" y="3680280"/>
            <a:ext cx="20700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IEEE Software, 36(6).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168200" y="4032720"/>
            <a:ext cx="658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Kruchten, P. (1995). The 4+1 view model of software architecture.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971280" y="44766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7816680" y="4032720"/>
            <a:ext cx="20700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IEEE Software, 12(6).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168200" y="4385160"/>
            <a:ext cx="184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Fowler, M. (2003).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3069720" y="4385160"/>
            <a:ext cx="47664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Patterns of Enterprise Application Architecture.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641230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762120" y="372600"/>
            <a:ext cx="34495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References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