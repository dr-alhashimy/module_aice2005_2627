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361" r:id="rId2"/>
    <p:sldId id="362" r:id="rId3"/>
    <p:sldId id="307" r:id="rId4"/>
    <p:sldId id="275" r:id="rId5"/>
    <p:sldId id="353" r:id="rId6"/>
    <p:sldId id="312" r:id="rId7"/>
    <p:sldId id="313" r:id="rId8"/>
    <p:sldId id="314" r:id="rId9"/>
    <p:sldId id="367" r:id="rId10"/>
    <p:sldId id="317" r:id="rId11"/>
    <p:sldId id="371" r:id="rId12"/>
    <p:sldId id="278" r:id="rId13"/>
    <p:sldId id="319" r:id="rId14"/>
    <p:sldId id="372" r:id="rId15"/>
    <p:sldId id="322" r:id="rId16"/>
    <p:sldId id="323" r:id="rId17"/>
    <p:sldId id="354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44"/>
    <p:restoredTop sz="94726"/>
  </p:normalViewPr>
  <p:slideViewPr>
    <p:cSldViewPr snapToGrid="0" snapToObjects="1">
      <p:cViewPr varScale="1">
        <p:scale>
          <a:sx n="106" d="100"/>
          <a:sy n="106" d="100"/>
        </p:scale>
        <p:origin x="2160" y="480"/>
      </p:cViewPr>
      <p:guideLst>
        <p:guide orient="horz" pos="216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3C0760-A542-FE4F-8EBF-B1B1FB6407CD}" type="datetimeFigureOut">
              <a:rPr lang="en-001" smtClean="0"/>
              <a:t>12/10/2026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DD410-6F06-0944-A7D6-EF8BD4B59FC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775020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set of x squared such that x is a natural number and x is less than 5.”</a:t>
            </a:r>
          </a:p>
          <a:p>
            <a:r>
              <a:rPr lang="en-US" dirty="0"/>
              <a:t>R composed with S</a:t>
            </a:r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DD410-6F06-0944-A7D6-EF8BD4B59FCF}" type="slidenum">
              <a:rPr lang="en-001" smtClean="0"/>
              <a:t>10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66544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6"/>
            <a:ext cx="58293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4406901"/>
            <a:ext cx="58293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906713"/>
            <a:ext cx="58293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1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1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1535113"/>
            <a:ext cx="303133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174875"/>
            <a:ext cx="303133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1"/>
            <a:ext cx="3833813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1"/>
            <a:ext cx="225623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9"/>
            <a:ext cx="15430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9"/>
            <a:ext cx="45148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1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1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1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1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Logo" descr="University of Southampton logo">
            <a:extLst>
              <a:ext uri="{FF2B5EF4-FFF2-40B4-BE49-F238E27FC236}">
                <a16:creationId xmlns:a16="http://schemas.microsoft.com/office/drawing/2014/main" id="{0E2850B5-0FD3-194F-F908-F33C6E304BB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406640" y="6384033"/>
            <a:ext cx="1371600" cy="291086"/>
          </a:xfrm>
          <a:prstGeom prst="rect">
            <a:avLst/>
          </a:prstGeom>
        </p:spPr>
      </p:pic>
      <p:sp>
        <p:nvSpPr>
          <p:cNvPr id="8" name="Footer slide number">
            <a:extLst>
              <a:ext uri="{FF2B5EF4-FFF2-40B4-BE49-F238E27FC236}">
                <a16:creationId xmlns:a16="http://schemas.microsoft.com/office/drawing/2014/main" id="{A3EA00AC-4ACD-F95D-0345-28B06C9977BC}"/>
              </a:ext>
            </a:extLst>
          </p:cNvPr>
          <p:cNvSpPr txBox="1"/>
          <p:nvPr userDrawn="1"/>
        </p:nvSpPr>
        <p:spPr>
          <a:xfrm>
            <a:off x="365760" y="6384033"/>
            <a:ext cx="457200" cy="29108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fld id="{B6F15528-21DE-4FAA-801E-634DDDAF4B2B}" type="slidenum">
              <a:rPr lang="en-GB" sz="1400" dirty="0">
                <a:solidFill>
                  <a:srgbClr val="1F497D"/>
                </a:solidFill>
              </a:rPr>
              <a:t>‹#›</a:t>
            </a:fld>
            <a:endParaRPr lang="en-GB" sz="1400" dirty="0">
              <a:solidFill>
                <a:srgbClr val="1F497D"/>
              </a:solidFill>
            </a:endParaRPr>
          </a:p>
        </p:txBody>
      </p:sp>
      <p:sp>
        <p:nvSpPr>
          <p:cNvPr id="9" name="Footer SEAtS">
            <a:extLst>
              <a:ext uri="{FF2B5EF4-FFF2-40B4-BE49-F238E27FC236}">
                <a16:creationId xmlns:a16="http://schemas.microsoft.com/office/drawing/2014/main" id="{988A9ED4-3454-26C7-2687-31D5576666E4}"/>
              </a:ext>
            </a:extLst>
          </p:cNvPr>
          <p:cNvSpPr txBox="1"/>
          <p:nvPr userDrawn="1"/>
        </p:nvSpPr>
        <p:spPr>
          <a:xfrm>
            <a:off x="742950" y="6430390"/>
            <a:ext cx="3200400" cy="29108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1" dirty="0">
                <a:solidFill>
                  <a:srgbClr val="1F497D"/>
                </a:solidFill>
              </a:rPr>
              <a:t>SEAtS | 369272</a:t>
            </a:r>
          </a:p>
          <a:p>
            <a:r>
              <a:rPr lang="en-GB" sz="800" b="1" dirty="0">
                <a:solidFill>
                  <a:srgbClr val="8C8C8C"/>
                </a:solidFill>
              </a:rPr>
              <a:t>© University of Southampton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FF79A-59BD-8767-2EF4-25705F4B5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11ECB-2177-330C-719C-282B245D7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219" y="2034652"/>
            <a:ext cx="8297693" cy="1102519"/>
          </a:xfrm>
        </p:spPr>
        <p:txBody>
          <a:bodyPr>
            <a:noAutofit/>
          </a:bodyPr>
          <a:lstStyle/>
          <a:p>
            <a:r>
              <a:rPr lang="en-US" sz="4000" dirty="0"/>
              <a:t>	AICE2005 - Systematic Design</a:t>
            </a:r>
            <a:br>
              <a:rPr lang="en-US" sz="4000" dirty="0"/>
            </a:br>
            <a:br>
              <a:rPr lang="en-US" sz="4000" dirty="0"/>
            </a:br>
            <a:r>
              <a:rPr sz="4000" b="1" dirty="0">
                <a:solidFill>
                  <a:schemeClr val="tx2"/>
                </a:solidFill>
              </a:rPr>
              <a:t>Formal Specification and Verification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A3FAC-49A5-3E14-E8E9-ABDD5DEF7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15766" y="4088354"/>
            <a:ext cx="4800600" cy="13144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Asieh Salehi Fathabadi</a:t>
            </a:r>
          </a:p>
          <a:p>
            <a:r>
              <a:rPr dirty="0"/>
              <a:t>University of Southampton</a:t>
            </a:r>
            <a:endParaRPr lang="en-US" dirty="0"/>
          </a:p>
          <a:p>
            <a:r>
              <a:rPr lang="en-001" dirty="0"/>
              <a:t>2025-2026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7063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B91EC-FD0C-6FC4-0C6E-A90B0EA80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2D1DF-B2EC-C4E6-0499-641F41CE2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0"/>
            <a:ext cx="8090980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Course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71131-C8B7-5236-D291-E04D30432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1325563"/>
            <a:ext cx="8090981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/>
          </a:p>
          <a:p>
            <a:r>
              <a:rPr sz="2200" dirty="0"/>
              <a:t>Lecture 1: Introduction to Formal Methods </a:t>
            </a:r>
          </a:p>
          <a:p>
            <a:r>
              <a:rPr sz="2200" dirty="0"/>
              <a:t>Lecture 2: Formal Specification Techniques </a:t>
            </a:r>
          </a:p>
          <a:p>
            <a:r>
              <a:rPr sz="2200" dirty="0">
                <a:solidFill>
                  <a:schemeClr val="tx2"/>
                </a:solidFill>
              </a:rPr>
              <a:t>Lecture 3: Mathematical Foundations </a:t>
            </a:r>
          </a:p>
          <a:p>
            <a:r>
              <a:rPr sz="2200" dirty="0"/>
              <a:t>Lecture 4: Formal Verification Methods </a:t>
            </a:r>
          </a:p>
          <a:p>
            <a:r>
              <a:rPr sz="2200" dirty="0"/>
              <a:t>Lecture 5: Tools and Applications </a:t>
            </a:r>
          </a:p>
        </p:txBody>
      </p:sp>
    </p:spTree>
    <p:extLst>
      <p:ext uri="{BB962C8B-B14F-4D97-AF65-F5344CB8AC3E}">
        <p14:creationId xmlns:p14="http://schemas.microsoft.com/office/powerpoint/2010/main" val="383402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50838-42BA-2287-EE30-00ACCD14F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DEBE1C-D254-F8B8-C29A-B567E3862082}"/>
              </a:ext>
            </a:extLst>
          </p:cNvPr>
          <p:cNvSpPr txBox="1"/>
          <p:nvPr/>
        </p:nvSpPr>
        <p:spPr>
          <a:xfrm>
            <a:off x="603115" y="1640829"/>
            <a:ext cx="793777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tx2"/>
                </a:solidFill>
              </a:rPr>
              <a:t>LECTURE 3: </a:t>
            </a:r>
          </a:p>
          <a:p>
            <a:pPr algn="ctr"/>
            <a:endParaRPr lang="en-US" sz="3000" b="1" dirty="0">
              <a:solidFill>
                <a:schemeClr val="tx2"/>
              </a:solidFill>
            </a:endParaRPr>
          </a:p>
          <a:p>
            <a:pPr algn="ctr"/>
            <a:r>
              <a:rPr lang="en-US" sz="3200" b="1" dirty="0">
                <a:solidFill>
                  <a:schemeClr val="tx2"/>
                </a:solidFill>
              </a:rPr>
              <a:t>Mathematical Foundations </a:t>
            </a:r>
            <a:endParaRPr lang="en-US" sz="3000" b="1" dirty="0">
              <a:solidFill>
                <a:schemeClr val="tx2"/>
              </a:solidFill>
            </a:endParaRPr>
          </a:p>
        </p:txBody>
      </p:sp>
      <p:pic>
        <p:nvPicPr>
          <p:cNvPr id="3" name="Picture 2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DC840B88-378F-564F-3806-E806DA20D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749" y="3332748"/>
            <a:ext cx="2222502" cy="22225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813344-3463-CFE5-E51F-5858E07CAE1D}"/>
              </a:ext>
            </a:extLst>
          </p:cNvPr>
          <p:cNvSpPr txBox="1"/>
          <p:nvPr/>
        </p:nvSpPr>
        <p:spPr>
          <a:xfrm>
            <a:off x="3984625" y="5678906"/>
            <a:ext cx="1174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001" sz="2400" dirty="0"/>
              <a:t>369272</a:t>
            </a:r>
          </a:p>
        </p:txBody>
      </p:sp>
    </p:spTree>
    <p:extLst>
      <p:ext uri="{BB962C8B-B14F-4D97-AF65-F5344CB8AC3E}">
        <p14:creationId xmlns:p14="http://schemas.microsoft.com/office/powerpoint/2010/main" val="1761865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137" y="0"/>
            <a:ext cx="8467725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Lecture 3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137" y="1325563"/>
            <a:ext cx="8467725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Review &amp; Mathematical Foundations</a:t>
            </a:r>
            <a:r>
              <a:rPr lang="en-US" dirty="0"/>
              <a:t> (Bank case study)</a:t>
            </a:r>
            <a:endParaRPr dirty="0"/>
          </a:p>
          <a:p>
            <a:r>
              <a:rPr dirty="0"/>
              <a:t>Set Theory &amp; Relations </a:t>
            </a:r>
            <a:endParaRPr lang="en-US" dirty="0"/>
          </a:p>
          <a:p>
            <a:r>
              <a:rPr dirty="0"/>
              <a:t>Logic Foundations </a:t>
            </a:r>
            <a:endParaRPr lang="en-US" dirty="0"/>
          </a:p>
          <a:p>
            <a:r>
              <a:rPr lang="en-US" dirty="0"/>
              <a:t>Temporal Logic 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/>
              <a:t>Learning Objectives:</a:t>
            </a:r>
          </a:p>
          <a:p>
            <a:endParaRPr dirty="0"/>
          </a:p>
          <a:p>
            <a:r>
              <a:rPr dirty="0"/>
              <a:t>Apply set theory operations in formal specifications</a:t>
            </a:r>
          </a:p>
          <a:p>
            <a:r>
              <a:rPr dirty="0"/>
              <a:t>Construct logical formulas using </a:t>
            </a:r>
            <a:r>
              <a:rPr lang="en-US" dirty="0"/>
              <a:t>first order logic</a:t>
            </a:r>
            <a:endParaRPr dirty="0"/>
          </a:p>
          <a:p>
            <a:r>
              <a:rPr dirty="0"/>
              <a:t>Understand mathematical foundations underlying Event-B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9EB0C-A4CA-BF8F-E373-E98592E33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8CB8C-1016-789C-FC9C-1B737159D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32" y="0"/>
            <a:ext cx="8632135" cy="1143000"/>
          </a:xfrm>
        </p:spPr>
        <p:txBody>
          <a:bodyPr/>
          <a:lstStyle/>
          <a:p>
            <a:r>
              <a:rPr lang="en-001" b="1" dirty="0">
                <a:solidFill>
                  <a:schemeClr val="tx2"/>
                </a:solidFill>
              </a:rPr>
              <a:t>Recap: Safety Requirements and </a:t>
            </a:r>
            <a:br>
              <a:rPr lang="en-001" b="1" dirty="0">
                <a:solidFill>
                  <a:schemeClr val="tx2"/>
                </a:solidFill>
              </a:rPr>
            </a:br>
            <a:r>
              <a:rPr lang="en-001" b="1" dirty="0">
                <a:solidFill>
                  <a:schemeClr val="tx2"/>
                </a:solidFill>
              </a:rPr>
              <a:t>Event-B Specification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CED49-8A32-F17E-1523-DB7301DEB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48" y="1143001"/>
            <a:ext cx="8801101" cy="2604052"/>
          </a:xfrm>
        </p:spPr>
        <p:txBody>
          <a:bodyPr/>
          <a:lstStyle/>
          <a:p>
            <a:r>
              <a:rPr lang="en-001" b="1" dirty="0"/>
              <a:t>Safety Requirement </a:t>
            </a:r>
            <a:r>
              <a:rPr lang="en-001" dirty="0"/>
              <a:t>identification</a:t>
            </a:r>
          </a:p>
          <a:p>
            <a:r>
              <a:rPr lang="en-001" b="1" dirty="0"/>
              <a:t>Safety properties </a:t>
            </a:r>
            <a:r>
              <a:rPr lang="en-001" dirty="0"/>
              <a:t>specification</a:t>
            </a:r>
          </a:p>
          <a:p>
            <a:r>
              <a:rPr lang="en-001" b="1" dirty="0"/>
              <a:t>First Event-B model </a:t>
            </a:r>
            <a:r>
              <a:rPr lang="en-001" dirty="0"/>
              <a:t>construction</a:t>
            </a:r>
          </a:p>
          <a:p>
            <a:r>
              <a:rPr lang="en-US" b="1" dirty="0"/>
              <a:t>Platform Screen Door Control System</a:t>
            </a:r>
          </a:p>
          <a:p>
            <a:pPr lvl="1"/>
            <a:r>
              <a:rPr lang="en-US" b="1" dirty="0"/>
              <a:t>System Goal:</a:t>
            </a:r>
            <a:br>
              <a:rPr lang="en-US" dirty="0"/>
            </a:br>
            <a:r>
              <a:rPr lang="en-US" dirty="0"/>
              <a:t>Ensure passenger safety at station platforms.</a:t>
            </a:r>
            <a:endParaRPr lang="en-001" b="1" dirty="0"/>
          </a:p>
          <a:p>
            <a:endParaRPr lang="en-001" dirty="0"/>
          </a:p>
          <a:p>
            <a:endParaRPr lang="en-001" dirty="0"/>
          </a:p>
        </p:txBody>
      </p:sp>
      <p:pic>
        <p:nvPicPr>
          <p:cNvPr id="4" name="Picture 3" descr="A person and person standing in front of a train&#10;&#10;AI-generated content may be incorrect.">
            <a:extLst>
              <a:ext uri="{FF2B5EF4-FFF2-40B4-BE49-F238E27FC236}">
                <a16:creationId xmlns:a16="http://schemas.microsoft.com/office/drawing/2014/main" id="{00202A11-D709-24BC-FA3A-B8FE50EFB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589" y="973965"/>
            <a:ext cx="2748719" cy="27487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EE32EE-BADE-583E-86E8-ACA93071D113}"/>
              </a:ext>
            </a:extLst>
          </p:cNvPr>
          <p:cNvSpPr txBox="1"/>
          <p:nvPr/>
        </p:nvSpPr>
        <p:spPr>
          <a:xfrm rot="16200000">
            <a:off x="8381280" y="2349873"/>
            <a:ext cx="128272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sz="600" i="1" dirty="0"/>
              <a:t>* </a:t>
            </a:r>
            <a:r>
              <a:rPr lang="en-US" sz="600" i="1" dirty="0"/>
              <a:t>T</a:t>
            </a:r>
            <a:r>
              <a:rPr lang="en-001" sz="600" i="1" dirty="0"/>
              <a:t>he figure is guided AI-generated</a:t>
            </a:r>
          </a:p>
        </p:txBody>
      </p:sp>
      <p:pic>
        <p:nvPicPr>
          <p:cNvPr id="9" name="Picture 8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F5A701FE-EDCC-E0F6-4C46-BCA4A36B3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8" y="3907350"/>
            <a:ext cx="2886336" cy="1354811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23C91F-2448-0F32-2896-4691179EC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5322" y="3916089"/>
            <a:ext cx="2886336" cy="2151137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BFBDD9-1724-50D0-8E72-35821F5B8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636" y="3907350"/>
            <a:ext cx="1855949" cy="260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801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D1B8C-2F4C-AADF-E817-7B67C05E0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BE901-3F51-35D1-5046-E9252DF02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Set Theory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67AF8-9D1B-17D8-D6B7-00D63CE1E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600201"/>
            <a:ext cx="85725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11827"/>
                </a:solidFill>
              </a:rPr>
              <a:t>Basic Set Operations</a:t>
            </a:r>
            <a:r>
              <a:rPr lang="en-US" sz="1800" b="1" dirty="0">
                <a:solidFill>
                  <a:srgbClr val="4338CA"/>
                </a:solidFill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4338CA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4338CA"/>
                </a:solidFill>
              </a:rPr>
              <a:t>Union: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A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∪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B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=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x </a:t>
            </a:r>
            <a:r>
              <a:rPr lang="en-US" sz="1800" dirty="0">
                <a:solidFill>
                  <a:srgbClr val="7C3AED"/>
                </a:solidFill>
              </a:rPr>
              <a:t>|</a:t>
            </a:r>
            <a:r>
              <a:rPr lang="en-US" sz="1800" dirty="0">
                <a:solidFill>
                  <a:srgbClr val="111827"/>
                </a:solidFill>
              </a:rPr>
              <a:t> x ∈ </a:t>
            </a:r>
            <a:r>
              <a:rPr lang="en-US" sz="1800" dirty="0">
                <a:solidFill>
                  <a:srgbClr val="059669"/>
                </a:solidFill>
              </a:rPr>
              <a:t>A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∨</a:t>
            </a:r>
            <a:r>
              <a:rPr lang="en-US" sz="1800" dirty="0">
                <a:solidFill>
                  <a:srgbClr val="111827"/>
                </a:solidFill>
              </a:rPr>
              <a:t> x ∈ </a:t>
            </a:r>
            <a:r>
              <a:rPr lang="en-US" sz="1800" dirty="0">
                <a:solidFill>
                  <a:srgbClr val="059669"/>
                </a:solidFill>
              </a:rPr>
              <a:t>B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111827"/>
                </a:solidFill>
              </a:rPr>
              <a:t>Example</a:t>
            </a:r>
            <a:r>
              <a:rPr lang="en-US" sz="1800" dirty="0">
                <a:solidFill>
                  <a:srgbClr val="4338CA"/>
                </a:solidFill>
              </a:rPr>
              <a:t>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1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2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∪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2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3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=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1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2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3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7C3AED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4338CA"/>
                </a:solidFill>
              </a:rPr>
              <a:t>Intersection: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A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∩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B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=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x </a:t>
            </a:r>
            <a:r>
              <a:rPr lang="en-US" sz="1800" dirty="0">
                <a:solidFill>
                  <a:srgbClr val="7C3AED"/>
                </a:solidFill>
              </a:rPr>
              <a:t>|</a:t>
            </a:r>
            <a:r>
              <a:rPr lang="en-US" sz="1800" dirty="0">
                <a:solidFill>
                  <a:srgbClr val="111827"/>
                </a:solidFill>
              </a:rPr>
              <a:t> x ∈ </a:t>
            </a:r>
            <a:r>
              <a:rPr lang="en-US" sz="1800" dirty="0">
                <a:solidFill>
                  <a:srgbClr val="059669"/>
                </a:solidFill>
              </a:rPr>
              <a:t>A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∧</a:t>
            </a:r>
            <a:r>
              <a:rPr lang="en-US" sz="1800" dirty="0">
                <a:solidFill>
                  <a:srgbClr val="111827"/>
                </a:solidFill>
              </a:rPr>
              <a:t> x ∈ </a:t>
            </a:r>
            <a:r>
              <a:rPr lang="en-US" sz="1800" dirty="0">
                <a:solidFill>
                  <a:srgbClr val="059669"/>
                </a:solidFill>
              </a:rPr>
              <a:t>B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endParaRPr lang="en-US" sz="1800" dirty="0">
              <a:solidFill>
                <a:srgbClr val="7C3AED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111827"/>
                </a:solidFill>
              </a:rPr>
              <a:t>Example</a:t>
            </a:r>
            <a:r>
              <a:rPr lang="en-US" sz="1800" dirty="0">
                <a:solidFill>
                  <a:srgbClr val="4338CA"/>
                </a:solidFill>
              </a:rPr>
              <a:t>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1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2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∩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2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3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=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2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7C3AED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4338CA"/>
                </a:solidFill>
              </a:rPr>
              <a:t>Difference: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A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\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B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=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x </a:t>
            </a:r>
            <a:r>
              <a:rPr lang="en-US" sz="1800" dirty="0">
                <a:solidFill>
                  <a:srgbClr val="7C3AED"/>
                </a:solidFill>
              </a:rPr>
              <a:t>|</a:t>
            </a:r>
            <a:r>
              <a:rPr lang="en-US" sz="1800" dirty="0">
                <a:solidFill>
                  <a:srgbClr val="111827"/>
                </a:solidFill>
              </a:rPr>
              <a:t> x ∈ </a:t>
            </a:r>
            <a:r>
              <a:rPr lang="en-US" sz="1800" dirty="0">
                <a:solidFill>
                  <a:srgbClr val="059669"/>
                </a:solidFill>
              </a:rPr>
              <a:t>A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∧</a:t>
            </a:r>
            <a:r>
              <a:rPr lang="en-US" sz="1800" dirty="0">
                <a:solidFill>
                  <a:srgbClr val="111827"/>
                </a:solidFill>
              </a:rPr>
              <a:t> x </a:t>
            </a:r>
            <a:r>
              <a:rPr lang="en-US" sz="1800" dirty="0">
                <a:solidFill>
                  <a:srgbClr val="7C3AED"/>
                </a:solidFill>
              </a:rPr>
              <a:t>∉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B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endParaRPr lang="en-US" sz="1800" dirty="0">
              <a:solidFill>
                <a:srgbClr val="7C3AED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111827"/>
                </a:solidFill>
              </a:rPr>
              <a:t>Example</a:t>
            </a:r>
            <a:r>
              <a:rPr lang="en-US" sz="1800" dirty="0">
                <a:solidFill>
                  <a:srgbClr val="4338CA"/>
                </a:solidFill>
              </a:rPr>
              <a:t>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1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2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3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\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2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=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1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3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7C3AED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4338CA"/>
                </a:solidFill>
              </a:rPr>
              <a:t>Power</a:t>
            </a:r>
            <a:r>
              <a:rPr lang="en-US" sz="1800" dirty="0">
                <a:solidFill>
                  <a:srgbClr val="111827"/>
                </a:solidFill>
              </a:rPr>
              <a:t> Set</a:t>
            </a:r>
            <a:r>
              <a:rPr lang="en-US" sz="1800" dirty="0">
                <a:solidFill>
                  <a:srgbClr val="4338CA"/>
                </a:solidFill>
              </a:rPr>
              <a:t>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 err="1">
                <a:solidFill>
                  <a:srgbClr val="7C3AED"/>
                </a:solidFill>
              </a:rPr>
              <a:t>ℙ</a:t>
            </a:r>
            <a:r>
              <a:rPr lang="en-US" sz="1800" dirty="0">
                <a:solidFill>
                  <a:srgbClr val="7C3AED"/>
                </a:solidFill>
              </a:rPr>
              <a:t>(</a:t>
            </a:r>
            <a:r>
              <a:rPr lang="en-US" sz="1800" dirty="0">
                <a:solidFill>
                  <a:srgbClr val="059669"/>
                </a:solidFill>
              </a:rPr>
              <a:t>A</a:t>
            </a:r>
            <a:r>
              <a:rPr lang="en-US" sz="1800" dirty="0">
                <a:solidFill>
                  <a:srgbClr val="7C3AED"/>
                </a:solidFill>
              </a:rPr>
              <a:t>)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=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059669"/>
                </a:solidFill>
              </a:rPr>
              <a:t>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|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⊆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A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endParaRPr lang="en-US" sz="1800" dirty="0">
              <a:solidFill>
                <a:srgbClr val="7C3AED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111827"/>
                </a:solidFill>
              </a:rPr>
              <a:t>Example</a:t>
            </a:r>
            <a:r>
              <a:rPr lang="en-US" sz="1800" dirty="0">
                <a:solidFill>
                  <a:srgbClr val="4338CA"/>
                </a:solidFill>
              </a:rPr>
              <a:t>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 err="1">
                <a:solidFill>
                  <a:srgbClr val="7C3AED"/>
                </a:solidFill>
              </a:rPr>
              <a:t>ℙ</a:t>
            </a:r>
            <a:r>
              <a:rPr lang="en-US" sz="1800" dirty="0">
                <a:solidFill>
                  <a:srgbClr val="7C3AED"/>
                </a:solidFill>
              </a:rPr>
              <a:t>({</a:t>
            </a:r>
            <a:r>
              <a:rPr lang="en-US" sz="1800" dirty="0">
                <a:solidFill>
                  <a:srgbClr val="111827"/>
                </a:solidFill>
              </a:rPr>
              <a:t>1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2</a:t>
            </a:r>
            <a:r>
              <a:rPr lang="en-US" sz="1800" dirty="0">
                <a:solidFill>
                  <a:srgbClr val="7C3AED"/>
                </a:solidFill>
              </a:rPr>
              <a:t>})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=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∅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1</a:t>
            </a:r>
            <a:r>
              <a:rPr lang="en-US" sz="1800" dirty="0">
                <a:solidFill>
                  <a:srgbClr val="7C3AED"/>
                </a:solidFill>
              </a:rPr>
              <a:t>},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2</a:t>
            </a:r>
            <a:r>
              <a:rPr lang="en-US" sz="1800" dirty="0">
                <a:solidFill>
                  <a:srgbClr val="7C3AED"/>
                </a:solidFill>
              </a:rPr>
              <a:t>},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1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2</a:t>
            </a:r>
            <a:r>
              <a:rPr lang="en-US" sz="1800" dirty="0">
                <a:solidFill>
                  <a:srgbClr val="7C3AED"/>
                </a:solidFill>
              </a:rPr>
              <a:t>}}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3689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8AE7C-1E2D-E295-6FEB-8D020EBF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FCB8E-69E3-6665-73B8-F3BD44CC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0"/>
            <a:ext cx="8572500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Set Theory Fundamentals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40049C-69D5-A3B4-EED9-57F13F97AF02}"/>
              </a:ext>
            </a:extLst>
          </p:cNvPr>
          <p:cNvSpPr txBox="1"/>
          <p:nvPr/>
        </p:nvSpPr>
        <p:spPr>
          <a:xfrm>
            <a:off x="558165" y="1143000"/>
            <a:ext cx="8046720" cy="4645152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111827"/>
                </a:solidFill>
              </a:rPr>
              <a:t>Relations and Functions</a:t>
            </a:r>
            <a:r>
              <a:rPr b="1" dirty="0">
                <a:solidFill>
                  <a:srgbClr val="4338CA"/>
                </a:solidFill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dirty="0">
              <a:solidFill>
                <a:srgbClr val="4338CA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4338CA"/>
                </a:solidFill>
              </a:rPr>
              <a:t>Relation: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R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⊆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A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×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B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>
                <a:solidFill>
                  <a:srgbClr val="111827"/>
                </a:solidFill>
              </a:rPr>
              <a:t>subset of Cartesian product</a:t>
            </a:r>
            <a:r>
              <a:rPr dirty="0">
                <a:solidFill>
                  <a:srgbClr val="7C3AED"/>
                </a:solidFill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4338CA"/>
                </a:solidFill>
              </a:rPr>
              <a:t>Domain: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 err="1">
                <a:solidFill>
                  <a:srgbClr val="4338CA"/>
                </a:solidFill>
              </a:rPr>
              <a:t>dom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>
                <a:solidFill>
                  <a:srgbClr val="059669"/>
                </a:solidFill>
              </a:rPr>
              <a:t>R</a:t>
            </a:r>
            <a:r>
              <a:rPr dirty="0">
                <a:solidFill>
                  <a:srgbClr val="7C3AED"/>
                </a:solidFill>
              </a:rPr>
              <a:t>)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=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{</a:t>
            </a:r>
            <a:r>
              <a:rPr dirty="0">
                <a:solidFill>
                  <a:srgbClr val="111827"/>
                </a:solidFill>
              </a:rPr>
              <a:t>a </a:t>
            </a:r>
            <a:r>
              <a:rPr dirty="0">
                <a:solidFill>
                  <a:srgbClr val="7C3AED"/>
                </a:solidFill>
              </a:rPr>
              <a:t>|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∃</a:t>
            </a:r>
            <a:r>
              <a:rPr dirty="0">
                <a:solidFill>
                  <a:srgbClr val="111827"/>
                </a:solidFill>
              </a:rPr>
              <a:t>b </a:t>
            </a:r>
            <a:r>
              <a:rPr dirty="0">
                <a:solidFill>
                  <a:srgbClr val="7C3AED"/>
                </a:solidFill>
              </a:rPr>
              <a:t>•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 err="1">
                <a:solidFill>
                  <a:srgbClr val="111827"/>
                </a:solidFill>
              </a:rPr>
              <a:t>a</a:t>
            </a:r>
            <a:r>
              <a:rPr dirty="0" err="1">
                <a:solidFill>
                  <a:srgbClr val="7C3AED"/>
                </a:solidFill>
              </a:rPr>
              <a:t>,</a:t>
            </a:r>
            <a:r>
              <a:rPr dirty="0" err="1">
                <a:solidFill>
                  <a:srgbClr val="111827"/>
                </a:solidFill>
              </a:rPr>
              <a:t>b</a:t>
            </a:r>
            <a:r>
              <a:rPr dirty="0">
                <a:solidFill>
                  <a:srgbClr val="7C3AED"/>
                </a:solidFill>
              </a:rPr>
              <a:t>)</a:t>
            </a:r>
            <a:r>
              <a:rPr dirty="0">
                <a:solidFill>
                  <a:srgbClr val="111827"/>
                </a:solidFill>
              </a:rPr>
              <a:t> ∈ </a:t>
            </a:r>
            <a:r>
              <a:rPr dirty="0">
                <a:solidFill>
                  <a:srgbClr val="059669"/>
                </a:solidFill>
              </a:rPr>
              <a:t>R</a:t>
            </a:r>
            <a:r>
              <a:rPr dirty="0">
                <a:solidFill>
                  <a:srgbClr val="7C3AED"/>
                </a:solidFill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4338CA"/>
                </a:solidFill>
              </a:rPr>
              <a:t>Range: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4338CA"/>
                </a:solidFill>
              </a:rPr>
              <a:t>ran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>
                <a:solidFill>
                  <a:srgbClr val="059669"/>
                </a:solidFill>
              </a:rPr>
              <a:t>R</a:t>
            </a:r>
            <a:r>
              <a:rPr dirty="0">
                <a:solidFill>
                  <a:srgbClr val="7C3AED"/>
                </a:solidFill>
              </a:rPr>
              <a:t>)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=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{</a:t>
            </a:r>
            <a:r>
              <a:rPr dirty="0">
                <a:solidFill>
                  <a:srgbClr val="111827"/>
                </a:solidFill>
              </a:rPr>
              <a:t>b </a:t>
            </a:r>
            <a:r>
              <a:rPr dirty="0">
                <a:solidFill>
                  <a:srgbClr val="7C3AED"/>
                </a:solidFill>
              </a:rPr>
              <a:t>|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∃</a:t>
            </a:r>
            <a:r>
              <a:rPr dirty="0">
                <a:solidFill>
                  <a:srgbClr val="111827"/>
                </a:solidFill>
              </a:rPr>
              <a:t>a </a:t>
            </a:r>
            <a:r>
              <a:rPr dirty="0">
                <a:solidFill>
                  <a:srgbClr val="7C3AED"/>
                </a:solidFill>
              </a:rPr>
              <a:t>•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 err="1">
                <a:solidFill>
                  <a:srgbClr val="111827"/>
                </a:solidFill>
              </a:rPr>
              <a:t>a</a:t>
            </a:r>
            <a:r>
              <a:rPr dirty="0" err="1">
                <a:solidFill>
                  <a:srgbClr val="7C3AED"/>
                </a:solidFill>
              </a:rPr>
              <a:t>,</a:t>
            </a:r>
            <a:r>
              <a:rPr dirty="0" err="1">
                <a:solidFill>
                  <a:srgbClr val="111827"/>
                </a:solidFill>
              </a:rPr>
              <a:t>b</a:t>
            </a:r>
            <a:r>
              <a:rPr dirty="0">
                <a:solidFill>
                  <a:srgbClr val="7C3AED"/>
                </a:solidFill>
              </a:rPr>
              <a:t>)</a:t>
            </a:r>
            <a:r>
              <a:rPr dirty="0">
                <a:solidFill>
                  <a:srgbClr val="111827"/>
                </a:solidFill>
              </a:rPr>
              <a:t> ∈ </a:t>
            </a:r>
            <a:r>
              <a:rPr dirty="0">
                <a:solidFill>
                  <a:srgbClr val="059669"/>
                </a:solidFill>
              </a:rPr>
              <a:t>R</a:t>
            </a:r>
            <a:r>
              <a:rPr dirty="0">
                <a:solidFill>
                  <a:srgbClr val="7C3AED"/>
                </a:solidFill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4338CA"/>
                </a:solidFill>
              </a:rPr>
              <a:t>Function: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4338CA"/>
                </a:solidFill>
              </a:rPr>
              <a:t>Relation</a:t>
            </a:r>
            <a:r>
              <a:rPr dirty="0">
                <a:solidFill>
                  <a:srgbClr val="111827"/>
                </a:solidFill>
              </a:rPr>
              <a:t> where each input maps to exactly one output</a:t>
            </a:r>
            <a:endParaRPr lang="en-US" dirty="0">
              <a:solidFill>
                <a:srgbClr val="111827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001" dirty="0">
              <a:solidFill>
                <a:srgbClr val="111827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B/Event-B Relation Types: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4338CA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4338CA"/>
                </a:solidFill>
              </a:rPr>
              <a:t>Relation: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059669"/>
                </a:solidFill>
              </a:rPr>
              <a:t>A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7C3AED"/>
                </a:solidFill>
              </a:rPr>
              <a:t>↔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059669"/>
                </a:solidFill>
              </a:rPr>
              <a:t>B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7C3AED"/>
                </a:solidFill>
              </a:rPr>
              <a:t>|</a:t>
            </a:r>
            <a:r>
              <a:rPr lang="en-US" dirty="0">
                <a:solidFill>
                  <a:srgbClr val="111827"/>
                </a:solidFill>
              </a:rPr>
              <a:t> Any relation from </a:t>
            </a:r>
            <a:r>
              <a:rPr lang="en-US" dirty="0">
                <a:solidFill>
                  <a:srgbClr val="059669"/>
                </a:solidFill>
              </a:rPr>
              <a:t>A</a:t>
            </a:r>
            <a:r>
              <a:rPr lang="en-US" dirty="0">
                <a:solidFill>
                  <a:srgbClr val="111827"/>
                </a:solidFill>
              </a:rPr>
              <a:t> to </a:t>
            </a:r>
            <a:r>
              <a:rPr lang="en-US" dirty="0">
                <a:solidFill>
                  <a:srgbClr val="059669"/>
                </a:solidFill>
              </a:rPr>
              <a:t>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4338CA"/>
                </a:solidFill>
              </a:rPr>
              <a:t>Partial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4338CA"/>
                </a:solidFill>
              </a:rPr>
              <a:t>Function: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059669"/>
                </a:solidFill>
              </a:rPr>
              <a:t>A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7C3AED"/>
                </a:solidFill>
              </a:rPr>
              <a:t>⇸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059669"/>
                </a:solidFill>
              </a:rPr>
              <a:t>B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7C3AED"/>
                </a:solidFill>
              </a:rPr>
              <a:t>|</a:t>
            </a:r>
            <a:r>
              <a:rPr lang="en-US" dirty="0">
                <a:solidFill>
                  <a:srgbClr val="111827"/>
                </a:solidFill>
              </a:rPr>
              <a:t> Each input maps to at most one output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4338CA"/>
                </a:solidFill>
              </a:rPr>
              <a:t>Total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4338CA"/>
                </a:solidFill>
              </a:rPr>
              <a:t>Function: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059669"/>
                </a:solidFill>
              </a:rPr>
              <a:t>A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7C3AED"/>
                </a:solidFill>
              </a:rPr>
              <a:t>→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059669"/>
                </a:solidFill>
              </a:rPr>
              <a:t>B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7C3AED"/>
                </a:solidFill>
              </a:rPr>
              <a:t>|</a:t>
            </a:r>
            <a:r>
              <a:rPr lang="en-US" dirty="0">
                <a:solidFill>
                  <a:srgbClr val="111827"/>
                </a:solidFill>
              </a:rPr>
              <a:t> Each input maps to exactly one output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4338CA"/>
                </a:solidFill>
              </a:rPr>
              <a:t>Injection: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059669"/>
                </a:solidFill>
              </a:rPr>
              <a:t>A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7C3AED"/>
                </a:solidFill>
              </a:rPr>
              <a:t>↣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059669"/>
                </a:solidFill>
              </a:rPr>
              <a:t>B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7C3AED"/>
                </a:solidFill>
              </a:rPr>
              <a:t>|</a:t>
            </a:r>
            <a:r>
              <a:rPr lang="en-US" dirty="0">
                <a:solidFill>
                  <a:srgbClr val="111827"/>
                </a:solidFill>
              </a:rPr>
              <a:t> One</a:t>
            </a:r>
            <a:r>
              <a:rPr lang="en-US" dirty="0">
                <a:solidFill>
                  <a:srgbClr val="7C3AED"/>
                </a:solidFill>
              </a:rPr>
              <a:t>-</a:t>
            </a:r>
            <a:r>
              <a:rPr lang="en-US" dirty="0">
                <a:solidFill>
                  <a:srgbClr val="111827"/>
                </a:solidFill>
              </a:rPr>
              <a:t>to</a:t>
            </a:r>
            <a:r>
              <a:rPr lang="en-US" dirty="0">
                <a:solidFill>
                  <a:srgbClr val="7C3AED"/>
                </a:solidFill>
              </a:rPr>
              <a:t>-</a:t>
            </a:r>
            <a:r>
              <a:rPr lang="en-US" dirty="0">
                <a:solidFill>
                  <a:srgbClr val="111827"/>
                </a:solidFill>
              </a:rPr>
              <a:t>one mapping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4338CA"/>
                </a:solidFill>
              </a:rPr>
              <a:t>Surjection: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059669"/>
                </a:solidFill>
              </a:rPr>
              <a:t>A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7C3AED"/>
                </a:solidFill>
              </a:rPr>
              <a:t>↠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059669"/>
                </a:solidFill>
              </a:rPr>
              <a:t>B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7C3AED"/>
                </a:solidFill>
              </a:rPr>
              <a:t>|</a:t>
            </a:r>
            <a:r>
              <a:rPr lang="en-US" dirty="0">
                <a:solidFill>
                  <a:srgbClr val="111827"/>
                </a:solidFill>
              </a:rPr>
              <a:t> Onto mapping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4338CA"/>
                </a:solidFill>
              </a:rPr>
              <a:t>Bijection: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059669"/>
                </a:solidFill>
              </a:rPr>
              <a:t>A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7C3AED"/>
                </a:solidFill>
              </a:rPr>
              <a:t>⤖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059669"/>
                </a:solidFill>
              </a:rPr>
              <a:t>B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7C3AED"/>
                </a:solidFill>
              </a:rPr>
              <a:t>|</a:t>
            </a:r>
            <a:r>
              <a:rPr lang="en-US" dirty="0">
                <a:solidFill>
                  <a:srgbClr val="111827"/>
                </a:solidFill>
              </a:rPr>
              <a:t> One</a:t>
            </a:r>
            <a:r>
              <a:rPr lang="en-US" dirty="0">
                <a:solidFill>
                  <a:srgbClr val="7C3AED"/>
                </a:solidFill>
              </a:rPr>
              <a:t>-</a:t>
            </a:r>
            <a:r>
              <a:rPr lang="en-US" dirty="0">
                <a:solidFill>
                  <a:srgbClr val="111827"/>
                </a:solidFill>
              </a:rPr>
              <a:t>to</a:t>
            </a:r>
            <a:r>
              <a:rPr lang="en-US" dirty="0">
                <a:solidFill>
                  <a:srgbClr val="7C3AED"/>
                </a:solidFill>
              </a:rPr>
              <a:t>-</a:t>
            </a:r>
            <a:r>
              <a:rPr lang="en-US" dirty="0">
                <a:solidFill>
                  <a:srgbClr val="111827"/>
                </a:solidFill>
              </a:rPr>
              <a:t>one and onto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dirty="0">
              <a:solidFill>
                <a:srgbClr val="1118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836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9910E-7EE2-4EED-C2CF-E9E8F68EF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5" y="793412"/>
            <a:ext cx="8629650" cy="1143000"/>
          </a:xfrm>
        </p:spPr>
        <p:txBody>
          <a:bodyPr/>
          <a:lstStyle/>
          <a:p>
            <a:r>
              <a:rPr lang="en-001" b="1" dirty="0">
                <a:solidFill>
                  <a:schemeClr val="tx2"/>
                </a:solidFill>
              </a:rPr>
              <a:t>Set Theory Exercise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EBDC1-DD79-1876-D650-B64A31EC22B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210702" y="1689274"/>
            <a:ext cx="5761846" cy="4525963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>
                <a:solidFill>
                  <a:srgbClr val="4338CA"/>
                </a:solidFill>
              </a:rPr>
              <a:t>Given</a:t>
            </a:r>
            <a:endParaRPr lang="en-US" sz="1800" dirty="0">
              <a:solidFill>
                <a:srgbClr val="111827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111827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>
                <a:solidFill>
                  <a:srgbClr val="111827"/>
                </a:solidFill>
              </a:rPr>
              <a:t>enrolled </a:t>
            </a:r>
            <a:r>
              <a:rPr sz="1800" dirty="0">
                <a:solidFill>
                  <a:srgbClr val="7C3AED"/>
                </a:solidFill>
              </a:rPr>
              <a:t>=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7C3AED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(</a:t>
            </a:r>
            <a:r>
              <a:rPr sz="1800" dirty="0" err="1">
                <a:solidFill>
                  <a:srgbClr val="111827"/>
                </a:solidFill>
              </a:rPr>
              <a:t>alice</a:t>
            </a:r>
            <a:r>
              <a:rPr sz="1800" dirty="0">
                <a:solidFill>
                  <a:srgbClr val="7C3AED"/>
                </a:solidFill>
              </a:rPr>
              <a:t>,</a:t>
            </a:r>
            <a:r>
              <a:rPr sz="1800" dirty="0">
                <a:solidFill>
                  <a:srgbClr val="111827"/>
                </a:solidFill>
              </a:rPr>
              <a:t> math</a:t>
            </a:r>
            <a:r>
              <a:rPr sz="1800" dirty="0">
                <a:solidFill>
                  <a:srgbClr val="7C3AED"/>
                </a:solidFill>
              </a:rPr>
              <a:t>),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(</a:t>
            </a:r>
            <a:r>
              <a:rPr sz="1800" dirty="0">
                <a:solidFill>
                  <a:srgbClr val="111827"/>
                </a:solidFill>
              </a:rPr>
              <a:t>bob</a:t>
            </a:r>
            <a:r>
              <a:rPr sz="1800" dirty="0">
                <a:solidFill>
                  <a:srgbClr val="7C3AED"/>
                </a:solidFill>
              </a:rPr>
              <a:t>,</a:t>
            </a:r>
            <a:r>
              <a:rPr sz="1800" dirty="0">
                <a:solidFill>
                  <a:srgbClr val="111827"/>
                </a:solidFill>
              </a:rPr>
              <a:t> math</a:t>
            </a:r>
            <a:r>
              <a:rPr sz="1800" dirty="0">
                <a:solidFill>
                  <a:srgbClr val="7C3AED"/>
                </a:solidFill>
              </a:rPr>
              <a:t>),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(</a:t>
            </a:r>
            <a:r>
              <a:rPr sz="1800" dirty="0" err="1">
                <a:solidFill>
                  <a:srgbClr val="111827"/>
                </a:solidFill>
              </a:rPr>
              <a:t>charlie</a:t>
            </a:r>
            <a:r>
              <a:rPr sz="1800" dirty="0">
                <a:solidFill>
                  <a:srgbClr val="7C3AED"/>
                </a:solidFill>
              </a:rPr>
              <a:t>,</a:t>
            </a:r>
            <a:r>
              <a:rPr sz="1800" dirty="0">
                <a:solidFill>
                  <a:srgbClr val="111827"/>
                </a:solidFill>
              </a:rPr>
              <a:t> chemistry</a:t>
            </a:r>
            <a:r>
              <a:rPr sz="1800" dirty="0">
                <a:solidFill>
                  <a:srgbClr val="7C3AED"/>
                </a:solidFill>
              </a:rPr>
              <a:t>)</a:t>
            </a:r>
            <a:r>
              <a:rPr lang="en-US" sz="1800" dirty="0">
                <a:solidFill>
                  <a:srgbClr val="7C3AED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}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>
                <a:solidFill>
                  <a:srgbClr val="4338CA"/>
                </a:solidFill>
              </a:rPr>
              <a:t>Find</a:t>
            </a:r>
            <a:endParaRPr lang="en-US"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4338CA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4338CA"/>
                </a:solidFill>
              </a:rPr>
              <a:t>d</a:t>
            </a:r>
            <a:r>
              <a:rPr sz="1800" dirty="0" err="1">
                <a:solidFill>
                  <a:srgbClr val="4338CA"/>
                </a:solidFill>
              </a:rPr>
              <a:t>om</a:t>
            </a:r>
            <a:r>
              <a:rPr lang="en-US" sz="1800" dirty="0">
                <a:solidFill>
                  <a:srgbClr val="111827"/>
                </a:solidFill>
              </a:rPr>
              <a:t>(</a:t>
            </a:r>
            <a:r>
              <a:rPr sz="1800" dirty="0">
                <a:solidFill>
                  <a:srgbClr val="111827"/>
                </a:solidFill>
              </a:rPr>
              <a:t>enrolled</a:t>
            </a:r>
            <a:r>
              <a:rPr lang="en-US" sz="1800" dirty="0">
                <a:solidFill>
                  <a:srgbClr val="111827"/>
                </a:solidFill>
              </a:rPr>
              <a:t>)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=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?</a:t>
            </a:r>
            <a:endParaRPr sz="1800" dirty="0">
              <a:solidFill>
                <a:srgbClr val="7C3AED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4338CA"/>
                </a:solidFill>
              </a:rPr>
              <a:t>r</a:t>
            </a:r>
            <a:r>
              <a:rPr sz="1800" dirty="0">
                <a:solidFill>
                  <a:srgbClr val="4338CA"/>
                </a:solidFill>
              </a:rPr>
              <a:t>an</a:t>
            </a:r>
            <a:r>
              <a:rPr lang="en-US" sz="1800" dirty="0">
                <a:solidFill>
                  <a:srgbClr val="111827"/>
                </a:solidFill>
              </a:rPr>
              <a:t>(</a:t>
            </a:r>
            <a:r>
              <a:rPr sz="1800" dirty="0">
                <a:solidFill>
                  <a:srgbClr val="111827"/>
                </a:solidFill>
              </a:rPr>
              <a:t>enrolled</a:t>
            </a:r>
            <a:r>
              <a:rPr lang="en-US" sz="1800" dirty="0">
                <a:solidFill>
                  <a:srgbClr val="111827"/>
                </a:solidFill>
              </a:rPr>
              <a:t>)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=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?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sz="1800" dirty="0">
              <a:solidFill>
                <a:srgbClr val="7C3AE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57FC2-7A37-04E7-678C-7183F0F78F01}"/>
              </a:ext>
            </a:extLst>
          </p:cNvPr>
          <p:cNvSpPr txBox="1"/>
          <p:nvPr/>
        </p:nvSpPr>
        <p:spPr>
          <a:xfrm>
            <a:off x="998098" y="270192"/>
            <a:ext cx="7022779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dirty="0"/>
              <a:t>Let's think and reflect</a:t>
            </a:r>
          </a:p>
        </p:txBody>
      </p:sp>
      <p:pic>
        <p:nvPicPr>
          <p:cNvPr id="6" name="Picture 5" descr="A screen shot of a phone&#10;&#10;AI-generated content may be incorrect.">
            <a:extLst>
              <a:ext uri="{FF2B5EF4-FFF2-40B4-BE49-F238E27FC236}">
                <a16:creationId xmlns:a16="http://schemas.microsoft.com/office/drawing/2014/main" id="{9F4192A6-63CC-8A26-C98F-8F6A16E9B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82" y="1689274"/>
            <a:ext cx="2696513" cy="468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083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14CD2-6105-8C0E-9BD1-E37617AE5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F260A-AD14-A17A-E1E4-C0144E449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243" y="841857"/>
            <a:ext cx="8629650" cy="1143000"/>
          </a:xfrm>
        </p:spPr>
        <p:txBody>
          <a:bodyPr/>
          <a:lstStyle/>
          <a:p>
            <a:r>
              <a:rPr lang="en-001" b="1" dirty="0">
                <a:solidFill>
                  <a:schemeClr val="tx2"/>
                </a:solidFill>
              </a:rPr>
              <a:t>Function Types Exercise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1BE43F-2CA9-01BA-6123-D7A8FC6CAC2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29967" y="1648646"/>
            <a:ext cx="8629649" cy="4525963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4338CA"/>
                </a:solidFill>
              </a:rPr>
              <a:t>Given</a:t>
            </a:r>
            <a:endParaRPr lang="en-US" sz="1800" dirty="0">
              <a:solidFill>
                <a:srgbClr val="0070C0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7C3AED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4338CA"/>
                </a:solidFill>
              </a:rPr>
              <a:t>Fill with Yes or No</a:t>
            </a:r>
            <a:endParaRPr sz="1800" dirty="0">
              <a:solidFill>
                <a:srgbClr val="7C3AED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3EB755-B973-D1FF-CC33-932A0D199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833576"/>
              </p:ext>
            </p:extLst>
          </p:nvPr>
        </p:nvGraphicFramePr>
        <p:xfrm>
          <a:off x="3008155" y="4494431"/>
          <a:ext cx="5794284" cy="19976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5714">
                  <a:extLst>
                    <a:ext uri="{9D8B030D-6E8A-4147-A177-3AD203B41FA5}">
                      <a16:colId xmlns:a16="http://schemas.microsoft.com/office/drawing/2014/main" val="2107861899"/>
                    </a:ext>
                  </a:extLst>
                </a:gridCol>
                <a:gridCol w="965714">
                  <a:extLst>
                    <a:ext uri="{9D8B030D-6E8A-4147-A177-3AD203B41FA5}">
                      <a16:colId xmlns:a16="http://schemas.microsoft.com/office/drawing/2014/main" val="1103286747"/>
                    </a:ext>
                  </a:extLst>
                </a:gridCol>
                <a:gridCol w="965714">
                  <a:extLst>
                    <a:ext uri="{9D8B030D-6E8A-4147-A177-3AD203B41FA5}">
                      <a16:colId xmlns:a16="http://schemas.microsoft.com/office/drawing/2014/main" val="1209844880"/>
                    </a:ext>
                  </a:extLst>
                </a:gridCol>
                <a:gridCol w="965714">
                  <a:extLst>
                    <a:ext uri="{9D8B030D-6E8A-4147-A177-3AD203B41FA5}">
                      <a16:colId xmlns:a16="http://schemas.microsoft.com/office/drawing/2014/main" val="3616030708"/>
                    </a:ext>
                  </a:extLst>
                </a:gridCol>
                <a:gridCol w="965714">
                  <a:extLst>
                    <a:ext uri="{9D8B030D-6E8A-4147-A177-3AD203B41FA5}">
                      <a16:colId xmlns:a16="http://schemas.microsoft.com/office/drawing/2014/main" val="637552260"/>
                    </a:ext>
                  </a:extLst>
                </a:gridCol>
                <a:gridCol w="965714">
                  <a:extLst>
                    <a:ext uri="{9D8B030D-6E8A-4147-A177-3AD203B41FA5}">
                      <a16:colId xmlns:a16="http://schemas.microsoft.com/office/drawing/2014/main" val="504458370"/>
                    </a:ext>
                  </a:extLst>
                </a:gridCol>
              </a:tblGrid>
              <a:tr h="399528">
                <a:tc>
                  <a:txBody>
                    <a:bodyPr/>
                    <a:lstStyle/>
                    <a:p>
                      <a:r>
                        <a:rPr lang="en-US" b="1"/>
                        <a:t>Question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Injective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Surjective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Bijective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6838554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r>
                        <a:rPr lang="en-US" b="1"/>
                        <a:t>Q1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5984776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r>
                        <a:rPr lang="en-US" b="1"/>
                        <a:t>Q2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5202099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r>
                        <a:rPr lang="en-US" b="1"/>
                        <a:t>Q3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111790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r>
                        <a:rPr lang="en-US" b="1" dirty="0"/>
                        <a:t>Q4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 dirty="0"/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2093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A9DFCE2-ABC8-90D4-4274-370CD64922B3}"/>
              </a:ext>
            </a:extLst>
          </p:cNvPr>
          <p:cNvSpPr txBox="1"/>
          <p:nvPr/>
        </p:nvSpPr>
        <p:spPr>
          <a:xfrm>
            <a:off x="3358791" y="2408840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A = { 1, 2, 3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B = { x, y, z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71DE94-5333-958F-97E6-4CF97103243C}"/>
              </a:ext>
            </a:extLst>
          </p:cNvPr>
          <p:cNvSpPr txBox="1"/>
          <p:nvPr/>
        </p:nvSpPr>
        <p:spPr>
          <a:xfrm>
            <a:off x="5328150" y="2408840"/>
            <a:ext cx="325846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Q1: { 1→x,  2→y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Q2: { 1→x, 2→x, 3→x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Q3: { 1→x, 1→y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Q4: { 1→x, 2→y, 3→z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026A80-3DC8-0675-B411-02DF0869998F}"/>
              </a:ext>
            </a:extLst>
          </p:cNvPr>
          <p:cNvSpPr txBox="1"/>
          <p:nvPr/>
        </p:nvSpPr>
        <p:spPr>
          <a:xfrm>
            <a:off x="998098" y="270192"/>
            <a:ext cx="7022779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dirty="0"/>
              <a:t>Let's think and reflect</a:t>
            </a:r>
          </a:p>
        </p:txBody>
      </p:sp>
      <p:pic>
        <p:nvPicPr>
          <p:cNvPr id="6" name="Picture 5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F5CA684F-D31B-B09C-8981-662D14752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56" y="1120374"/>
            <a:ext cx="2617091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045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FE5D7-6FF9-6E9E-5BC5-81CBDFE63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84A0C-4143-526A-2871-98A2842F7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87" y="0"/>
            <a:ext cx="8505825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Relations in Formal Specifications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7E00D5-BAF9-7645-6FDF-C9B220C12F3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19087" y="1039813"/>
            <a:ext cx="8505825" cy="452596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600" b="1" dirty="0">
                <a:solidFill>
                  <a:srgbClr val="111827"/>
                </a:solidFill>
              </a:rPr>
              <a:t>Set Comprehension </a:t>
            </a:r>
            <a:r>
              <a:rPr sz="1600" b="1" dirty="0">
                <a:solidFill>
                  <a:srgbClr val="059669"/>
                </a:solidFill>
              </a:rPr>
              <a:t>in</a:t>
            </a:r>
            <a:r>
              <a:rPr sz="1600" b="1" dirty="0">
                <a:solidFill>
                  <a:srgbClr val="111827"/>
                </a:solidFill>
              </a:rPr>
              <a:t> </a:t>
            </a:r>
            <a:r>
              <a:rPr sz="1600" b="1" dirty="0">
                <a:solidFill>
                  <a:srgbClr val="4338CA"/>
                </a:solidFill>
              </a:rPr>
              <a:t>B</a:t>
            </a:r>
            <a:r>
              <a:rPr sz="1600" b="1" dirty="0">
                <a:solidFill>
                  <a:srgbClr val="111827"/>
                </a:solidFill>
              </a:rPr>
              <a:t>/Event</a:t>
            </a:r>
            <a:r>
              <a:rPr sz="1600" b="1" dirty="0">
                <a:solidFill>
                  <a:srgbClr val="7C3AED"/>
                </a:solidFill>
              </a:rPr>
              <a:t>-</a:t>
            </a:r>
            <a:r>
              <a:rPr sz="1600" b="1" dirty="0">
                <a:solidFill>
                  <a:srgbClr val="4338CA"/>
                </a:solidFill>
              </a:rPr>
              <a:t>B:</a:t>
            </a:r>
            <a:endParaRPr lang="en-US" sz="1600" b="1" dirty="0">
              <a:solidFill>
                <a:srgbClr val="4338CA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4338CA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600" i="1" dirty="0">
                <a:solidFill>
                  <a:srgbClr val="6B7280"/>
                </a:solidFill>
              </a:rPr>
              <a:t>-- General form: {expression | predicate}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7C3AED"/>
                </a:solidFill>
              </a:rPr>
              <a:t>{</a:t>
            </a:r>
            <a:r>
              <a:rPr sz="1600" dirty="0">
                <a:solidFill>
                  <a:srgbClr val="111827"/>
                </a:solidFill>
              </a:rPr>
              <a:t>x² </a:t>
            </a:r>
            <a:r>
              <a:rPr sz="1600" dirty="0">
                <a:solidFill>
                  <a:srgbClr val="7C3AED"/>
                </a:solidFill>
              </a:rPr>
              <a:t>|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059669"/>
                </a:solidFill>
              </a:rPr>
              <a:t>x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7C3AED"/>
                </a:solidFill>
              </a:rPr>
              <a:t>∈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 err="1">
                <a:solidFill>
                  <a:srgbClr val="111827"/>
                </a:solidFill>
              </a:rPr>
              <a:t>ℕ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7C3AED"/>
                </a:solidFill>
              </a:rPr>
              <a:t>∧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059669"/>
                </a:solidFill>
              </a:rPr>
              <a:t>x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7C3AED"/>
                </a:solidFill>
              </a:rPr>
              <a:t>&lt;</a:t>
            </a:r>
            <a:r>
              <a:rPr sz="1600" dirty="0">
                <a:solidFill>
                  <a:srgbClr val="111827"/>
                </a:solidFill>
              </a:rPr>
              <a:t> 5</a:t>
            </a:r>
            <a:r>
              <a:rPr sz="1600" dirty="0">
                <a:solidFill>
                  <a:srgbClr val="7C3AED"/>
                </a:solidFill>
              </a:rPr>
              <a:t>}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7C3AED"/>
                </a:solidFill>
              </a:rPr>
              <a:t>=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7C3AED"/>
                </a:solidFill>
              </a:rPr>
              <a:t>{</a:t>
            </a:r>
            <a:r>
              <a:rPr sz="1600" dirty="0">
                <a:solidFill>
                  <a:srgbClr val="111827"/>
                </a:solidFill>
              </a:rPr>
              <a:t>0</a:t>
            </a:r>
            <a:r>
              <a:rPr sz="1600" dirty="0">
                <a:solidFill>
                  <a:srgbClr val="7C3AED"/>
                </a:solidFill>
              </a:rPr>
              <a:t>,</a:t>
            </a:r>
            <a:r>
              <a:rPr sz="1600" dirty="0">
                <a:solidFill>
                  <a:srgbClr val="111827"/>
                </a:solidFill>
              </a:rPr>
              <a:t> 1</a:t>
            </a:r>
            <a:r>
              <a:rPr sz="1600" dirty="0">
                <a:solidFill>
                  <a:srgbClr val="7C3AED"/>
                </a:solidFill>
              </a:rPr>
              <a:t>,</a:t>
            </a:r>
            <a:r>
              <a:rPr sz="1600" dirty="0">
                <a:solidFill>
                  <a:srgbClr val="111827"/>
                </a:solidFill>
              </a:rPr>
              <a:t> 4</a:t>
            </a:r>
            <a:r>
              <a:rPr sz="1600" dirty="0">
                <a:solidFill>
                  <a:srgbClr val="7C3AED"/>
                </a:solidFill>
              </a:rPr>
              <a:t>,</a:t>
            </a:r>
            <a:r>
              <a:rPr sz="1600" dirty="0">
                <a:solidFill>
                  <a:srgbClr val="111827"/>
                </a:solidFill>
              </a:rPr>
              <a:t> 9</a:t>
            </a:r>
            <a:r>
              <a:rPr sz="1600" dirty="0">
                <a:solidFill>
                  <a:srgbClr val="7C3AED"/>
                </a:solidFill>
              </a:rPr>
              <a:t>,</a:t>
            </a:r>
            <a:r>
              <a:rPr sz="1600" dirty="0">
                <a:solidFill>
                  <a:srgbClr val="111827"/>
                </a:solidFill>
              </a:rPr>
              <a:t> 16</a:t>
            </a:r>
            <a:r>
              <a:rPr sz="1600" dirty="0">
                <a:solidFill>
                  <a:srgbClr val="7C3AED"/>
                </a:solidFill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59669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600" i="1" dirty="0">
                <a:solidFill>
                  <a:srgbClr val="6B7280"/>
                </a:solidFill>
              </a:rPr>
              <a:t>-- Set operations in Event-B context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dirty="0" err="1">
                <a:solidFill>
                  <a:srgbClr val="059669"/>
                </a:solidFill>
              </a:rPr>
              <a:t>valid_accounts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7C3AED"/>
                </a:solidFill>
              </a:rPr>
              <a:t>=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7C3AED"/>
                </a:solidFill>
              </a:rPr>
              <a:t>{</a:t>
            </a:r>
            <a:r>
              <a:rPr sz="1600" dirty="0">
                <a:solidFill>
                  <a:srgbClr val="059669"/>
                </a:solidFill>
              </a:rPr>
              <a:t>acc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7C3AED"/>
                </a:solidFill>
              </a:rPr>
              <a:t>|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059669"/>
                </a:solidFill>
              </a:rPr>
              <a:t>acc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7C3AED"/>
                </a:solidFill>
              </a:rPr>
              <a:t>∈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4338CA"/>
                </a:solidFill>
              </a:rPr>
              <a:t>ACCOUNT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7C3AED"/>
                </a:solidFill>
              </a:rPr>
              <a:t>∧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059669"/>
                </a:solidFill>
              </a:rPr>
              <a:t>balance</a:t>
            </a:r>
            <a:r>
              <a:rPr sz="1600" dirty="0">
                <a:solidFill>
                  <a:srgbClr val="7C3AED"/>
                </a:solidFill>
              </a:rPr>
              <a:t>(</a:t>
            </a:r>
            <a:r>
              <a:rPr sz="1600" dirty="0">
                <a:solidFill>
                  <a:srgbClr val="059669"/>
                </a:solidFill>
              </a:rPr>
              <a:t>acc</a:t>
            </a:r>
            <a:r>
              <a:rPr sz="1600" dirty="0">
                <a:solidFill>
                  <a:srgbClr val="7C3AED"/>
                </a:solidFill>
              </a:rPr>
              <a:t>)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7C3AED"/>
                </a:solidFill>
              </a:rPr>
              <a:t>≥</a:t>
            </a:r>
            <a:r>
              <a:rPr sz="1600" dirty="0">
                <a:solidFill>
                  <a:srgbClr val="111827"/>
                </a:solidFill>
              </a:rPr>
              <a:t> 0</a:t>
            </a:r>
            <a:r>
              <a:rPr sz="1600" dirty="0">
                <a:solidFill>
                  <a:srgbClr val="7C3AED"/>
                </a:solidFill>
              </a:rPr>
              <a:t>}</a:t>
            </a:r>
            <a:endParaRPr lang="en-US" sz="1600" dirty="0">
              <a:solidFill>
                <a:srgbClr val="7C3AED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001" sz="1600" dirty="0">
              <a:solidFill>
                <a:srgbClr val="7C3AED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11827"/>
                </a:solidFill>
              </a:rPr>
              <a:t>Relational Operations</a:t>
            </a:r>
            <a:r>
              <a:rPr lang="en-US" sz="1600" b="1" dirty="0">
                <a:solidFill>
                  <a:srgbClr val="4338CA"/>
                </a:solidFill>
              </a:rPr>
              <a:t>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600" b="1" dirty="0">
              <a:solidFill>
                <a:srgbClr val="4338CA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rgbClr val="6B7280"/>
                </a:solidFill>
              </a:rPr>
              <a:t>-- Relational composition (R ; 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59669"/>
                </a:solidFill>
              </a:rPr>
              <a:t>parent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=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{ (</a:t>
            </a:r>
            <a:r>
              <a:rPr lang="en-US" sz="1600" dirty="0">
                <a:solidFill>
                  <a:srgbClr val="059669"/>
                </a:solidFill>
              </a:rPr>
              <a:t>john</a:t>
            </a:r>
            <a:r>
              <a:rPr lang="en-US" sz="1600" dirty="0">
                <a:solidFill>
                  <a:srgbClr val="7C3AED"/>
                </a:solidFill>
              </a:rPr>
              <a:t>,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 err="1">
                <a:solidFill>
                  <a:srgbClr val="059669"/>
                </a:solidFill>
              </a:rPr>
              <a:t>mary</a:t>
            </a:r>
            <a:r>
              <a:rPr lang="en-US" sz="1600" dirty="0">
                <a:solidFill>
                  <a:srgbClr val="7C3AED"/>
                </a:solidFill>
              </a:rPr>
              <a:t>),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(</a:t>
            </a:r>
            <a:r>
              <a:rPr lang="en-US" sz="1600" dirty="0" err="1">
                <a:solidFill>
                  <a:srgbClr val="059669"/>
                </a:solidFill>
              </a:rPr>
              <a:t>mary</a:t>
            </a:r>
            <a:r>
              <a:rPr lang="en-US" sz="1600" dirty="0">
                <a:solidFill>
                  <a:srgbClr val="7C3AED"/>
                </a:solidFill>
              </a:rPr>
              <a:t>,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 err="1">
                <a:solidFill>
                  <a:srgbClr val="059669"/>
                </a:solidFill>
              </a:rPr>
              <a:t>susan</a:t>
            </a:r>
            <a:r>
              <a:rPr lang="en-US" sz="1600" dirty="0">
                <a:solidFill>
                  <a:srgbClr val="7C3AED"/>
                </a:solidFill>
              </a:rPr>
              <a:t>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59669"/>
                </a:solidFill>
              </a:rPr>
              <a:t>grandparent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=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059669"/>
                </a:solidFill>
              </a:rPr>
              <a:t>parent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;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059669"/>
                </a:solidFill>
              </a:rPr>
              <a:t>parent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=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{ (</a:t>
            </a:r>
            <a:r>
              <a:rPr lang="en-US" sz="1600" dirty="0">
                <a:solidFill>
                  <a:srgbClr val="059669"/>
                </a:solidFill>
              </a:rPr>
              <a:t>john</a:t>
            </a:r>
            <a:r>
              <a:rPr lang="en-US" sz="1600" dirty="0">
                <a:solidFill>
                  <a:srgbClr val="7C3AED"/>
                </a:solidFill>
              </a:rPr>
              <a:t>,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 err="1">
                <a:solidFill>
                  <a:srgbClr val="059669"/>
                </a:solidFill>
              </a:rPr>
              <a:t>susan</a:t>
            </a:r>
            <a:r>
              <a:rPr lang="en-US" sz="1600" dirty="0">
                <a:solidFill>
                  <a:srgbClr val="7C3AED"/>
                </a:solidFill>
              </a:rPr>
              <a:t>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rgbClr val="7C3AED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rgbClr val="6B7280"/>
                </a:solidFill>
              </a:rPr>
              <a:t>-- Relational inverse (R⁻¹)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59669"/>
                </a:solidFill>
              </a:rPr>
              <a:t>teaches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=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{ (</a:t>
            </a:r>
            <a:r>
              <a:rPr lang="en-US" sz="1600" dirty="0" err="1">
                <a:solidFill>
                  <a:srgbClr val="059669"/>
                </a:solidFill>
              </a:rPr>
              <a:t>prof_smith</a:t>
            </a:r>
            <a:r>
              <a:rPr lang="en-US" sz="1600" dirty="0">
                <a:solidFill>
                  <a:srgbClr val="7C3AED"/>
                </a:solidFill>
              </a:rPr>
              <a:t>,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059669"/>
                </a:solidFill>
              </a:rPr>
              <a:t>math</a:t>
            </a:r>
            <a:r>
              <a:rPr lang="en-US" sz="1600" dirty="0">
                <a:solidFill>
                  <a:srgbClr val="7C3AED"/>
                </a:solidFill>
              </a:rPr>
              <a:t>),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(</a:t>
            </a:r>
            <a:r>
              <a:rPr lang="en-US" sz="1600" dirty="0" err="1">
                <a:solidFill>
                  <a:srgbClr val="059669"/>
                </a:solidFill>
              </a:rPr>
              <a:t>prof_jones</a:t>
            </a:r>
            <a:r>
              <a:rPr lang="en-US" sz="1600" dirty="0">
                <a:solidFill>
                  <a:srgbClr val="7C3AED"/>
                </a:solidFill>
              </a:rPr>
              <a:t>,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059669"/>
                </a:solidFill>
              </a:rPr>
              <a:t>physics</a:t>
            </a:r>
            <a:r>
              <a:rPr lang="en-US" sz="1600" dirty="0">
                <a:solidFill>
                  <a:srgbClr val="7C3AED"/>
                </a:solidFill>
              </a:rPr>
              <a:t>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059669"/>
                </a:solidFill>
              </a:rPr>
              <a:t>taught_by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=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059669"/>
                </a:solidFill>
              </a:rPr>
              <a:t>teaches</a:t>
            </a:r>
            <a:r>
              <a:rPr lang="en-US" sz="1600" dirty="0">
                <a:solidFill>
                  <a:srgbClr val="7C3AED"/>
                </a:solidFill>
              </a:rPr>
              <a:t>⁻¹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=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{ (</a:t>
            </a:r>
            <a:r>
              <a:rPr lang="en-US" sz="1600" dirty="0">
                <a:solidFill>
                  <a:srgbClr val="059669"/>
                </a:solidFill>
              </a:rPr>
              <a:t>math</a:t>
            </a:r>
            <a:r>
              <a:rPr lang="en-US" sz="1600" dirty="0">
                <a:solidFill>
                  <a:srgbClr val="7C3AED"/>
                </a:solidFill>
              </a:rPr>
              <a:t>,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 err="1">
                <a:solidFill>
                  <a:srgbClr val="059669"/>
                </a:solidFill>
              </a:rPr>
              <a:t>prof_smith</a:t>
            </a:r>
            <a:r>
              <a:rPr lang="en-US" sz="1600" dirty="0">
                <a:solidFill>
                  <a:srgbClr val="7C3AED"/>
                </a:solidFill>
              </a:rPr>
              <a:t>),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(</a:t>
            </a:r>
            <a:r>
              <a:rPr lang="en-US" sz="1600" dirty="0">
                <a:solidFill>
                  <a:srgbClr val="059669"/>
                </a:solidFill>
              </a:rPr>
              <a:t>physics</a:t>
            </a:r>
            <a:r>
              <a:rPr lang="en-US" sz="1600" dirty="0">
                <a:solidFill>
                  <a:srgbClr val="7C3AED"/>
                </a:solidFill>
              </a:rPr>
              <a:t>,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 err="1">
                <a:solidFill>
                  <a:srgbClr val="059669"/>
                </a:solidFill>
              </a:rPr>
              <a:t>prof_jones</a:t>
            </a:r>
            <a:r>
              <a:rPr lang="en-US" sz="1600" dirty="0">
                <a:solidFill>
                  <a:srgbClr val="7C3AED"/>
                </a:solidFill>
              </a:rPr>
              <a:t>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rgbClr val="7C3AED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rgbClr val="6B7280"/>
                </a:solidFill>
              </a:rPr>
              <a:t>-- Domain/Range restriction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4338CA"/>
                </a:solidFill>
              </a:rPr>
              <a:t>R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◁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4338CA"/>
                </a:solidFill>
              </a:rPr>
              <a:t>S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=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{ (</a:t>
            </a:r>
            <a:r>
              <a:rPr lang="en-US" sz="1600" dirty="0" err="1">
                <a:solidFill>
                  <a:srgbClr val="059669"/>
                </a:solidFill>
              </a:rPr>
              <a:t>x</a:t>
            </a:r>
            <a:r>
              <a:rPr lang="en-US" sz="1600" dirty="0" err="1">
                <a:solidFill>
                  <a:srgbClr val="7C3AED"/>
                </a:solidFill>
              </a:rPr>
              <a:t>,</a:t>
            </a:r>
            <a:r>
              <a:rPr lang="en-US" sz="1600" dirty="0" err="1">
                <a:solidFill>
                  <a:srgbClr val="059669"/>
                </a:solidFill>
              </a:rPr>
              <a:t>y</a:t>
            </a:r>
            <a:r>
              <a:rPr lang="en-US" sz="1600" dirty="0">
                <a:solidFill>
                  <a:srgbClr val="7C3AED"/>
                </a:solidFill>
              </a:rPr>
              <a:t>)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|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(</a:t>
            </a:r>
            <a:r>
              <a:rPr lang="en-US" sz="1600" dirty="0" err="1">
                <a:solidFill>
                  <a:srgbClr val="059669"/>
                </a:solidFill>
              </a:rPr>
              <a:t>x</a:t>
            </a:r>
            <a:r>
              <a:rPr lang="en-US" sz="1600" dirty="0" err="1">
                <a:solidFill>
                  <a:srgbClr val="7C3AED"/>
                </a:solidFill>
              </a:rPr>
              <a:t>,</a:t>
            </a:r>
            <a:r>
              <a:rPr lang="en-US" sz="1600" dirty="0" err="1">
                <a:solidFill>
                  <a:srgbClr val="059669"/>
                </a:solidFill>
              </a:rPr>
              <a:t>y</a:t>
            </a:r>
            <a:r>
              <a:rPr lang="en-US" sz="1600" dirty="0">
                <a:solidFill>
                  <a:srgbClr val="7C3AED"/>
                </a:solidFill>
              </a:rPr>
              <a:t>)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∈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4338CA"/>
                </a:solidFill>
              </a:rPr>
              <a:t>R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∧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059669"/>
                </a:solidFill>
              </a:rPr>
              <a:t>x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∈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4338CA"/>
                </a:solidFill>
              </a:rPr>
              <a:t>S </a:t>
            </a:r>
            <a:r>
              <a:rPr lang="en-US" sz="1600" dirty="0">
                <a:solidFill>
                  <a:srgbClr val="7C3AED"/>
                </a:solidFill>
              </a:rPr>
              <a:t>}</a:t>
            </a:r>
            <a:r>
              <a:rPr lang="en-US" sz="1600" dirty="0">
                <a:solidFill>
                  <a:srgbClr val="111827"/>
                </a:solidFill>
              </a:rPr>
              <a:t>    </a:t>
            </a:r>
            <a:r>
              <a:rPr lang="en-US" sz="1600" i="1" dirty="0">
                <a:solidFill>
                  <a:srgbClr val="6B7280"/>
                </a:solidFill>
              </a:rPr>
              <a:t>-- Domain restriction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4338CA"/>
                </a:solidFill>
              </a:rPr>
              <a:t>R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▷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4338CA"/>
                </a:solidFill>
              </a:rPr>
              <a:t>S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=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{ (</a:t>
            </a:r>
            <a:r>
              <a:rPr lang="en-US" sz="1600" dirty="0" err="1">
                <a:solidFill>
                  <a:srgbClr val="059669"/>
                </a:solidFill>
              </a:rPr>
              <a:t>x</a:t>
            </a:r>
            <a:r>
              <a:rPr lang="en-US" sz="1600" dirty="0" err="1">
                <a:solidFill>
                  <a:srgbClr val="7C3AED"/>
                </a:solidFill>
              </a:rPr>
              <a:t>,</a:t>
            </a:r>
            <a:r>
              <a:rPr lang="en-US" sz="1600" dirty="0" err="1">
                <a:solidFill>
                  <a:srgbClr val="059669"/>
                </a:solidFill>
              </a:rPr>
              <a:t>y</a:t>
            </a:r>
            <a:r>
              <a:rPr lang="en-US" sz="1600" dirty="0">
                <a:solidFill>
                  <a:srgbClr val="7C3AED"/>
                </a:solidFill>
              </a:rPr>
              <a:t>)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|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(</a:t>
            </a:r>
            <a:r>
              <a:rPr lang="en-US" sz="1600" dirty="0" err="1">
                <a:solidFill>
                  <a:srgbClr val="059669"/>
                </a:solidFill>
              </a:rPr>
              <a:t>x</a:t>
            </a:r>
            <a:r>
              <a:rPr lang="en-US" sz="1600" dirty="0" err="1">
                <a:solidFill>
                  <a:srgbClr val="7C3AED"/>
                </a:solidFill>
              </a:rPr>
              <a:t>,</a:t>
            </a:r>
            <a:r>
              <a:rPr lang="en-US" sz="1600" dirty="0" err="1">
                <a:solidFill>
                  <a:srgbClr val="059669"/>
                </a:solidFill>
              </a:rPr>
              <a:t>y</a:t>
            </a:r>
            <a:r>
              <a:rPr lang="en-US" sz="1600" dirty="0">
                <a:solidFill>
                  <a:srgbClr val="7C3AED"/>
                </a:solidFill>
              </a:rPr>
              <a:t>)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∈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4338CA"/>
                </a:solidFill>
              </a:rPr>
              <a:t>R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∧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059669"/>
                </a:solidFill>
              </a:rPr>
              <a:t>y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∈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4338CA"/>
                </a:solidFill>
              </a:rPr>
              <a:t>S </a:t>
            </a:r>
            <a:r>
              <a:rPr lang="en-US" sz="1600" dirty="0">
                <a:solidFill>
                  <a:srgbClr val="7C3AED"/>
                </a:solidFill>
              </a:rPr>
              <a:t>}</a:t>
            </a:r>
            <a:r>
              <a:rPr lang="en-US" sz="1600" dirty="0">
                <a:solidFill>
                  <a:srgbClr val="111827"/>
                </a:solidFill>
              </a:rPr>
              <a:t>    </a:t>
            </a:r>
            <a:r>
              <a:rPr lang="en-US" sz="1600" i="1" dirty="0">
                <a:solidFill>
                  <a:srgbClr val="6B7280"/>
                </a:solidFill>
              </a:rPr>
              <a:t>-- Range restriction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 dirty="0">
              <a:solidFill>
                <a:srgbClr val="7C3AE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391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2F741-90CA-07F6-654F-35EBF2919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2D121-3647-F0EC-85F6-C41963FC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46" y="872135"/>
            <a:ext cx="8629650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Relations </a:t>
            </a:r>
            <a:r>
              <a:rPr lang="en-001" b="1" dirty="0">
                <a:solidFill>
                  <a:schemeClr val="tx2"/>
                </a:solidFill>
              </a:rPr>
              <a:t>Exercise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7383C-E516-30B2-6910-FF1D5BCE2F1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547970" y="1678924"/>
            <a:ext cx="8629649" cy="4525963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>
                <a:solidFill>
                  <a:srgbClr val="4338CA"/>
                </a:solidFill>
              </a:rPr>
              <a:t>Given</a:t>
            </a:r>
            <a:endParaRPr lang="en-US" sz="1800" dirty="0">
              <a:solidFill>
                <a:srgbClr val="111827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111827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accounts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=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/>
              <a:t>acc1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/>
              <a:t>acc2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/>
              <a:t>acc3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customers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=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 err="1"/>
              <a:t>alice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/>
              <a:t>bob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 err="1"/>
              <a:t>charlie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owns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=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 err="1"/>
              <a:t>alice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↦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/>
              <a:t>acc1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 err="1"/>
              <a:t>alice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↦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/>
              <a:t>acc2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/>
              <a:t>bob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↦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/>
              <a:t>acc3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balance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=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/>
              <a:t>acc1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↦</a:t>
            </a:r>
            <a:r>
              <a:rPr lang="en-US" sz="1800" dirty="0">
                <a:solidFill>
                  <a:srgbClr val="111827"/>
                </a:solidFill>
              </a:rPr>
              <a:t> 1000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/>
              <a:t>acc2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↦</a:t>
            </a:r>
            <a:r>
              <a:rPr lang="en-US" sz="1800" dirty="0">
                <a:solidFill>
                  <a:srgbClr val="111827"/>
                </a:solidFill>
              </a:rPr>
              <a:t> 500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/>
              <a:t>acc3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↦</a:t>
            </a:r>
            <a:r>
              <a:rPr lang="en-US" sz="1800" dirty="0">
                <a:solidFill>
                  <a:srgbClr val="111827"/>
                </a:solidFill>
              </a:rPr>
              <a:t> 2000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>
                <a:solidFill>
                  <a:srgbClr val="4338CA"/>
                </a:solidFill>
              </a:rPr>
              <a:t>Find</a:t>
            </a:r>
            <a:endParaRPr lang="en-US"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4338CA"/>
              </a:solidFill>
            </a:endParaRPr>
          </a:p>
          <a:p>
            <a:pPr algn="ctr">
              <a:spcBef>
                <a:spcPts val="0"/>
              </a:spcBef>
            </a:pPr>
            <a:r>
              <a:rPr lang="en-US" sz="1800" dirty="0"/>
              <a:t>Customers balance relation ?</a:t>
            </a:r>
          </a:p>
          <a:p>
            <a:pPr algn="ctr">
              <a:spcBef>
                <a:spcPts val="0"/>
              </a:spcBef>
            </a:pPr>
            <a:endParaRPr lang="en-US" sz="1800" dirty="0"/>
          </a:p>
          <a:p>
            <a:pPr algn="ctr">
              <a:spcBef>
                <a:spcPts val="0"/>
              </a:spcBef>
            </a:pPr>
            <a:r>
              <a:rPr lang="en-US" sz="1800" dirty="0"/>
              <a:t>Customers with account balance less than 1500 ?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sz="1800" dirty="0">
              <a:solidFill>
                <a:srgbClr val="7C3AE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4DC6DD-4235-64B0-F1DD-1CCA4C1E1C3A}"/>
              </a:ext>
            </a:extLst>
          </p:cNvPr>
          <p:cNvSpPr txBox="1"/>
          <p:nvPr/>
        </p:nvSpPr>
        <p:spPr>
          <a:xfrm>
            <a:off x="998098" y="270192"/>
            <a:ext cx="7022779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dirty="0"/>
              <a:t>Let's think and reflect</a:t>
            </a:r>
          </a:p>
        </p:txBody>
      </p:sp>
      <p:pic>
        <p:nvPicPr>
          <p:cNvPr id="6" name="Picture 5" descr="A screen shot of a qr code&#10;&#10;AI-generated content may be incorrect.">
            <a:extLst>
              <a:ext uri="{FF2B5EF4-FFF2-40B4-BE49-F238E27FC236}">
                <a16:creationId xmlns:a16="http://schemas.microsoft.com/office/drawing/2014/main" id="{8848A748-42A0-05CF-781C-CA8AC6B80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9" y="1242023"/>
            <a:ext cx="2487094" cy="452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730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74613"/>
            <a:ext cx="8572500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Logic Foundations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61618-FB24-2F1E-6919-B4D3DC635E3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85750" y="1400175"/>
            <a:ext cx="8572500" cy="4525963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>
                <a:solidFill>
                  <a:srgbClr val="111827"/>
                </a:solidFill>
              </a:rPr>
              <a:t>Propositional Logic </a:t>
            </a:r>
            <a:r>
              <a:rPr sz="1800" b="1" dirty="0">
                <a:solidFill>
                  <a:srgbClr val="059669"/>
                </a:solidFill>
              </a:rPr>
              <a:t>in</a:t>
            </a:r>
            <a:r>
              <a:rPr sz="1800" b="1" dirty="0">
                <a:solidFill>
                  <a:srgbClr val="111827"/>
                </a:solidFill>
              </a:rPr>
              <a:t> Formal Methods</a:t>
            </a:r>
            <a:r>
              <a:rPr sz="1800" b="1" dirty="0">
                <a:solidFill>
                  <a:srgbClr val="4338CA"/>
                </a:solidFill>
              </a:rPr>
              <a:t>:</a:t>
            </a:r>
            <a:endParaRPr lang="en-US" sz="1800" b="1" dirty="0">
              <a:solidFill>
                <a:srgbClr val="4338CA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4338CA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111827"/>
                </a:solidFill>
              </a:rPr>
              <a:t>Negation</a:t>
            </a:r>
            <a:r>
              <a:rPr sz="1800" dirty="0">
                <a:solidFill>
                  <a:srgbClr val="4338CA"/>
                </a:solidFill>
              </a:rPr>
              <a:t>: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¬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|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not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|</a:t>
            </a:r>
            <a:r>
              <a:rPr sz="1800" dirty="0">
                <a:solidFill>
                  <a:srgbClr val="111827"/>
                </a:solidFill>
              </a:rPr>
              <a:t> True </a:t>
            </a:r>
            <a:r>
              <a:rPr sz="1800" dirty="0">
                <a:solidFill>
                  <a:srgbClr val="059669"/>
                </a:solidFill>
              </a:rPr>
              <a:t>when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is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false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111827"/>
                </a:solidFill>
              </a:rPr>
              <a:t>Conjunction</a:t>
            </a:r>
            <a:r>
              <a:rPr sz="1800" dirty="0">
                <a:solidFill>
                  <a:srgbClr val="4338CA"/>
                </a:solidFill>
              </a:rPr>
              <a:t>: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∧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Q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|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&amp;</a:t>
            </a:r>
            <a:r>
              <a:rPr sz="1800" dirty="0">
                <a:solidFill>
                  <a:schemeClr val="accent3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Q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|</a:t>
            </a:r>
            <a:r>
              <a:rPr sz="1800" dirty="0">
                <a:solidFill>
                  <a:srgbClr val="111827"/>
                </a:solidFill>
              </a:rPr>
              <a:t> True </a:t>
            </a:r>
            <a:r>
              <a:rPr sz="1800" dirty="0">
                <a:solidFill>
                  <a:srgbClr val="059669"/>
                </a:solidFill>
              </a:rPr>
              <a:t>when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both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and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Q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are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111827"/>
                </a:solidFill>
              </a:rPr>
              <a:t>Disjunction</a:t>
            </a:r>
            <a:r>
              <a:rPr sz="1800" dirty="0">
                <a:solidFill>
                  <a:srgbClr val="4338CA"/>
                </a:solidFill>
              </a:rPr>
              <a:t>: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∨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Q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|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or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Q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|</a:t>
            </a:r>
            <a:r>
              <a:rPr sz="1800" dirty="0">
                <a:solidFill>
                  <a:srgbClr val="111827"/>
                </a:solidFill>
              </a:rPr>
              <a:t> True </a:t>
            </a:r>
            <a:r>
              <a:rPr sz="1800" dirty="0">
                <a:solidFill>
                  <a:srgbClr val="059669"/>
                </a:solidFill>
              </a:rPr>
              <a:t>when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or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Q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(</a:t>
            </a:r>
            <a:r>
              <a:rPr sz="1800" dirty="0">
                <a:solidFill>
                  <a:srgbClr val="059669"/>
                </a:solidFill>
              </a:rPr>
              <a:t>or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both</a:t>
            </a:r>
            <a:r>
              <a:rPr sz="1800" dirty="0">
                <a:solidFill>
                  <a:srgbClr val="7C3AED"/>
                </a:solidFill>
              </a:rPr>
              <a:t>)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111827"/>
                </a:solidFill>
              </a:rPr>
              <a:t>Implication</a:t>
            </a:r>
            <a:r>
              <a:rPr sz="1800" dirty="0">
                <a:solidFill>
                  <a:srgbClr val="4338CA"/>
                </a:solidFill>
              </a:rPr>
              <a:t>: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→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Q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|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⇒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Q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|</a:t>
            </a:r>
            <a:r>
              <a:rPr sz="1800" dirty="0">
                <a:solidFill>
                  <a:srgbClr val="111827"/>
                </a:solidFill>
              </a:rPr>
              <a:t> False </a:t>
            </a:r>
            <a:r>
              <a:rPr sz="1800" dirty="0">
                <a:solidFill>
                  <a:srgbClr val="059669"/>
                </a:solidFill>
              </a:rPr>
              <a:t>only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when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true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and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Q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false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111827"/>
                </a:solidFill>
              </a:rPr>
              <a:t>Equivalence</a:t>
            </a:r>
            <a:r>
              <a:rPr sz="1800" dirty="0">
                <a:solidFill>
                  <a:srgbClr val="4338CA"/>
                </a:solidFill>
              </a:rPr>
              <a:t>: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↔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Q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|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⇔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Q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|</a:t>
            </a:r>
            <a:r>
              <a:rPr sz="1800" dirty="0">
                <a:solidFill>
                  <a:srgbClr val="111827"/>
                </a:solidFill>
              </a:rPr>
              <a:t> True </a:t>
            </a:r>
            <a:r>
              <a:rPr sz="1800" dirty="0">
                <a:solidFill>
                  <a:srgbClr val="059669"/>
                </a:solidFill>
              </a:rPr>
              <a:t>when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and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Q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same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truth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value</a:t>
            </a:r>
            <a:endParaRPr lang="en-US" sz="1800" dirty="0">
              <a:solidFill>
                <a:srgbClr val="059669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001" sz="1800" dirty="0">
              <a:solidFill>
                <a:srgbClr val="059669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11827"/>
                </a:solidFill>
              </a:rPr>
              <a:t>Predicate Logic </a:t>
            </a:r>
            <a:r>
              <a:rPr lang="en-US" sz="1800" b="1" dirty="0">
                <a:solidFill>
                  <a:srgbClr val="059669"/>
                </a:solidFill>
              </a:rPr>
              <a:t>in</a:t>
            </a:r>
            <a:r>
              <a:rPr lang="en-US" sz="1800" b="1" dirty="0">
                <a:solidFill>
                  <a:srgbClr val="111827"/>
                </a:solidFill>
              </a:rPr>
              <a:t> </a:t>
            </a:r>
            <a:r>
              <a:rPr lang="en-US" sz="1800" b="1" dirty="0">
                <a:solidFill>
                  <a:srgbClr val="4338CA"/>
                </a:solidFill>
              </a:rPr>
              <a:t>B</a:t>
            </a:r>
            <a:r>
              <a:rPr lang="en-US" sz="1800" b="1" dirty="0">
                <a:solidFill>
                  <a:srgbClr val="111827"/>
                </a:solidFill>
              </a:rPr>
              <a:t>/Event-</a:t>
            </a:r>
            <a:r>
              <a:rPr lang="en-US" sz="1800" b="1" dirty="0">
                <a:solidFill>
                  <a:srgbClr val="4338CA"/>
                </a:solidFill>
              </a:rPr>
              <a:t>B: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4338CA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111827"/>
                </a:solidFill>
              </a:rPr>
              <a:t>Universal</a:t>
            </a:r>
            <a:r>
              <a:rPr lang="en-US" sz="1800" dirty="0">
                <a:solidFill>
                  <a:srgbClr val="4338CA"/>
                </a:solidFill>
              </a:rPr>
              <a:t>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7C3AED"/>
                </a:solidFill>
              </a:rPr>
              <a:t>∀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•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4338CA"/>
                </a:solidFill>
              </a:rPr>
              <a:t>P</a:t>
            </a:r>
            <a:r>
              <a:rPr lang="en-US" sz="1800" dirty="0">
                <a:solidFill>
                  <a:srgbClr val="7C3AED"/>
                </a:solidFill>
              </a:rPr>
              <a:t>(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7C3AED"/>
                </a:solidFill>
              </a:rPr>
              <a:t>)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|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∀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7C3AED"/>
                </a:solidFill>
              </a:rPr>
              <a:t>·(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∈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4338CA"/>
                </a:solidFill>
              </a:rPr>
              <a:t>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⇒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4338CA"/>
                </a:solidFill>
              </a:rPr>
              <a:t>P</a:t>
            </a:r>
            <a:r>
              <a:rPr lang="en-US" sz="1800" dirty="0">
                <a:solidFill>
                  <a:srgbClr val="7C3AED"/>
                </a:solidFill>
              </a:rPr>
              <a:t>(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7C3AED"/>
                </a:solidFill>
              </a:rPr>
              <a:t>))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|</a:t>
            </a:r>
            <a:r>
              <a:rPr lang="en-US" sz="1800" dirty="0">
                <a:solidFill>
                  <a:srgbClr val="111827"/>
                </a:solidFill>
              </a:rPr>
              <a:t> For </a:t>
            </a:r>
            <a:r>
              <a:rPr lang="en-US" sz="1800" dirty="0">
                <a:solidFill>
                  <a:srgbClr val="059669"/>
                </a:solidFill>
              </a:rPr>
              <a:t>all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in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4338CA"/>
                </a:solidFill>
              </a:rPr>
              <a:t>S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4338CA"/>
                </a:solidFill>
              </a:rPr>
              <a:t>P</a:t>
            </a:r>
            <a:r>
              <a:rPr lang="en-US" sz="1800" dirty="0">
                <a:solidFill>
                  <a:srgbClr val="7C3AED"/>
                </a:solidFill>
              </a:rPr>
              <a:t>(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7C3AED"/>
                </a:solidFill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111827"/>
                </a:solidFill>
              </a:rPr>
              <a:t>Existential</a:t>
            </a:r>
            <a:r>
              <a:rPr lang="en-US" sz="1800" dirty="0">
                <a:solidFill>
                  <a:srgbClr val="4338CA"/>
                </a:solidFill>
              </a:rPr>
              <a:t>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7C3AED"/>
                </a:solidFill>
              </a:rPr>
              <a:t>∃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•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4338CA"/>
                </a:solidFill>
              </a:rPr>
              <a:t>P</a:t>
            </a:r>
            <a:r>
              <a:rPr lang="en-US" sz="1800" dirty="0">
                <a:solidFill>
                  <a:srgbClr val="7C3AED"/>
                </a:solidFill>
              </a:rPr>
              <a:t>(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7C3AED"/>
                </a:solidFill>
              </a:rPr>
              <a:t>)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|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∃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7C3AED"/>
                </a:solidFill>
              </a:rPr>
              <a:t>·(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∈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4338CA"/>
                </a:solidFill>
              </a:rPr>
              <a:t>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∧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4338CA"/>
                </a:solidFill>
              </a:rPr>
              <a:t>P</a:t>
            </a:r>
            <a:r>
              <a:rPr lang="en-US" sz="1800" dirty="0">
                <a:solidFill>
                  <a:srgbClr val="7C3AED"/>
                </a:solidFill>
              </a:rPr>
              <a:t>(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7C3AED"/>
                </a:solidFill>
              </a:rPr>
              <a:t>))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|</a:t>
            </a:r>
            <a:r>
              <a:rPr lang="en-US" sz="1800" dirty="0">
                <a:solidFill>
                  <a:srgbClr val="111827"/>
                </a:solidFill>
              </a:rPr>
              <a:t> Exists 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in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4338CA"/>
                </a:solidFill>
              </a:rPr>
              <a:t>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such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that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4338CA"/>
                </a:solidFill>
              </a:rPr>
              <a:t>P</a:t>
            </a:r>
            <a:r>
              <a:rPr lang="en-US" sz="1800" dirty="0">
                <a:solidFill>
                  <a:srgbClr val="7C3AED"/>
                </a:solidFill>
              </a:rPr>
              <a:t>(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7C3AED"/>
                </a:solidFill>
              </a:rPr>
              <a:t>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5966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30519-8D45-0487-AE3F-82E2D9054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B3A04-17C8-C3BD-4EB6-354054F12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87" y="0"/>
            <a:ext cx="8505825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Logic</a:t>
            </a:r>
            <a:r>
              <a:rPr b="1" dirty="0">
                <a:solidFill>
                  <a:schemeClr val="tx2"/>
                </a:solidFill>
              </a:rPr>
              <a:t> </a:t>
            </a:r>
            <a:r>
              <a:rPr lang="en-US" b="1" dirty="0">
                <a:solidFill>
                  <a:schemeClr val="tx2"/>
                </a:solidFill>
              </a:rPr>
              <a:t>Example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3CD408-AD4C-EA4D-5C58-F47DB8A2EFC9}"/>
              </a:ext>
            </a:extLst>
          </p:cNvPr>
          <p:cNvSpPr txBox="1"/>
          <p:nvPr/>
        </p:nvSpPr>
        <p:spPr>
          <a:xfrm>
            <a:off x="319088" y="1344168"/>
            <a:ext cx="8682038" cy="4645152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i="1" dirty="0">
                <a:solidFill>
                  <a:srgbClr val="6B7280"/>
                </a:solidFill>
              </a:rPr>
              <a:t>-- Banking system invariants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7C3AED"/>
                </a:solidFill>
              </a:rPr>
              <a:t>∀</a:t>
            </a:r>
            <a:r>
              <a:rPr dirty="0">
                <a:solidFill>
                  <a:srgbClr val="059669"/>
                </a:solidFill>
              </a:rPr>
              <a:t>acc</a:t>
            </a:r>
            <a:r>
              <a:rPr dirty="0">
                <a:solidFill>
                  <a:srgbClr val="7C3AED"/>
                </a:solidFill>
              </a:rPr>
              <a:t>·</a:t>
            </a:r>
            <a:r>
              <a:rPr lang="en-US" dirty="0">
                <a:solidFill>
                  <a:srgbClr val="7C3AED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lang="en-US" dirty="0">
                <a:solidFill>
                  <a:srgbClr val="7C3AED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acc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∈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accounts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⇒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balance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>
                <a:solidFill>
                  <a:srgbClr val="059669"/>
                </a:solidFill>
              </a:rPr>
              <a:t>acc</a:t>
            </a:r>
            <a:r>
              <a:rPr dirty="0">
                <a:solidFill>
                  <a:srgbClr val="7C3AED"/>
                </a:solidFill>
              </a:rPr>
              <a:t>)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≥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 err="1">
                <a:solidFill>
                  <a:srgbClr val="059669"/>
                </a:solidFill>
              </a:rPr>
              <a:t>overdraft_limit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>
                <a:solidFill>
                  <a:srgbClr val="059669"/>
                </a:solidFill>
              </a:rPr>
              <a:t>acc</a:t>
            </a:r>
            <a:r>
              <a:rPr dirty="0">
                <a:solidFill>
                  <a:srgbClr val="7C3AED"/>
                </a:solidFill>
              </a:rPr>
              <a:t>)</a:t>
            </a:r>
            <a:r>
              <a:rPr lang="en-US" dirty="0">
                <a:solidFill>
                  <a:srgbClr val="7C3AED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7C3AED"/>
                </a:solidFill>
              </a:rPr>
              <a:t>∃</a:t>
            </a:r>
            <a:r>
              <a:rPr dirty="0" err="1">
                <a:solidFill>
                  <a:srgbClr val="059669"/>
                </a:solidFill>
              </a:rPr>
              <a:t>mgr</a:t>
            </a:r>
            <a:r>
              <a:rPr dirty="0">
                <a:solidFill>
                  <a:srgbClr val="7C3AED"/>
                </a:solidFill>
              </a:rPr>
              <a:t>·</a:t>
            </a:r>
            <a:r>
              <a:rPr lang="en-US" dirty="0">
                <a:solidFill>
                  <a:srgbClr val="7C3AED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 err="1">
                <a:solidFill>
                  <a:srgbClr val="059669"/>
                </a:solidFill>
              </a:rPr>
              <a:t>mgr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∈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managers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∧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 err="1">
                <a:solidFill>
                  <a:srgbClr val="059669"/>
                </a:solidFill>
              </a:rPr>
              <a:t>responsible_for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 err="1">
                <a:solidFill>
                  <a:srgbClr val="059669"/>
                </a:solidFill>
              </a:rPr>
              <a:t>mgr</a:t>
            </a:r>
            <a:r>
              <a:rPr dirty="0">
                <a:solidFill>
                  <a:srgbClr val="7C3AED"/>
                </a:solidFill>
              </a:rPr>
              <a:t>,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accounts</a:t>
            </a:r>
            <a:r>
              <a:rPr dirty="0">
                <a:solidFill>
                  <a:srgbClr val="7C3AED"/>
                </a:solidFill>
              </a:rPr>
              <a:t>)</a:t>
            </a:r>
            <a:r>
              <a:rPr lang="en-US" dirty="0">
                <a:solidFill>
                  <a:srgbClr val="7C3AED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059669"/>
                </a:solidFill>
              </a:rPr>
              <a:t>card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∈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lang="en-US" dirty="0" err="1">
                <a:solidFill>
                  <a:srgbClr val="059669"/>
                </a:solidFill>
              </a:rPr>
              <a:t>accepted</a:t>
            </a:r>
            <a:r>
              <a:rPr dirty="0" err="1">
                <a:solidFill>
                  <a:srgbClr val="059669"/>
                </a:solidFill>
              </a:rPr>
              <a:t>_cards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⇒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 err="1">
                <a:solidFill>
                  <a:srgbClr val="059669"/>
                </a:solidFill>
              </a:rPr>
              <a:t>valid_pin_entered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=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4338CA"/>
                </a:solidFill>
              </a:rPr>
              <a:t>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dirty="0">
              <a:solidFill>
                <a:srgbClr val="4338CA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i="1" dirty="0">
                <a:solidFill>
                  <a:srgbClr val="6B7280"/>
                </a:solidFill>
              </a:rPr>
              <a:t>-- Event guards using logic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4338CA"/>
                </a:solidFill>
              </a:rPr>
              <a:t>ANY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customer</a:t>
            </a:r>
            <a:r>
              <a:rPr dirty="0">
                <a:solidFill>
                  <a:srgbClr val="7C3AED"/>
                </a:solidFill>
              </a:rPr>
              <a:t>,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account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4338CA"/>
                </a:solidFill>
              </a:rPr>
              <a:t>WHERE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059669"/>
                </a:solidFill>
              </a:rPr>
              <a:t>customer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∈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customers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∧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059669"/>
                </a:solidFill>
              </a:rPr>
              <a:t>account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∈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accounts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∧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059669"/>
                </a:solidFill>
              </a:rPr>
              <a:t>owns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>
                <a:solidFill>
                  <a:srgbClr val="059669"/>
                </a:solidFill>
              </a:rPr>
              <a:t>customer</a:t>
            </a:r>
            <a:r>
              <a:rPr dirty="0">
                <a:solidFill>
                  <a:srgbClr val="7C3AED"/>
                </a:solidFill>
              </a:rPr>
              <a:t>,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account</a:t>
            </a:r>
            <a:r>
              <a:rPr dirty="0">
                <a:solidFill>
                  <a:srgbClr val="7C3AED"/>
                </a:solidFill>
              </a:rPr>
              <a:t>)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∧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059669"/>
                </a:solidFill>
              </a:rPr>
              <a:t>balance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>
                <a:solidFill>
                  <a:srgbClr val="059669"/>
                </a:solidFill>
              </a:rPr>
              <a:t>account</a:t>
            </a:r>
            <a:r>
              <a:rPr dirty="0">
                <a:solidFill>
                  <a:srgbClr val="7C3AED"/>
                </a:solidFill>
              </a:rPr>
              <a:t>)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≥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amount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4338CA"/>
                </a:solidFill>
              </a:rPr>
              <a:t>THEN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059669"/>
                </a:solidFill>
              </a:rPr>
              <a:t>balance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:=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balance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&lt;+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{</a:t>
            </a:r>
            <a:r>
              <a:rPr dirty="0">
                <a:solidFill>
                  <a:srgbClr val="059669"/>
                </a:solidFill>
              </a:rPr>
              <a:t>account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↦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>
                <a:solidFill>
                  <a:srgbClr val="059669"/>
                </a:solidFill>
              </a:rPr>
              <a:t>balance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>
                <a:solidFill>
                  <a:srgbClr val="059669"/>
                </a:solidFill>
              </a:rPr>
              <a:t>account</a:t>
            </a:r>
            <a:r>
              <a:rPr dirty="0">
                <a:solidFill>
                  <a:srgbClr val="7C3AED"/>
                </a:solidFill>
              </a:rPr>
              <a:t>)</a:t>
            </a:r>
            <a:r>
              <a:rPr dirty="0">
                <a:solidFill>
                  <a:srgbClr val="111827"/>
                </a:solidFill>
              </a:rPr>
              <a:t> - </a:t>
            </a:r>
            <a:r>
              <a:rPr dirty="0">
                <a:solidFill>
                  <a:srgbClr val="059669"/>
                </a:solidFill>
              </a:rPr>
              <a:t>amount</a:t>
            </a:r>
            <a:r>
              <a:rPr dirty="0">
                <a:solidFill>
                  <a:srgbClr val="7C3AED"/>
                </a:solidFill>
              </a:rPr>
              <a:t>)}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4338CA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927358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70E77-696E-229E-DF6A-2A3718BE0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DA7E3-4F78-E10C-880D-14EAE9599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5" y="793412"/>
            <a:ext cx="8629650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Logic </a:t>
            </a:r>
            <a:r>
              <a:rPr lang="en-001" b="1" dirty="0">
                <a:solidFill>
                  <a:schemeClr val="tx2"/>
                </a:solidFill>
              </a:rPr>
              <a:t>Exercise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2F2618-C0D1-E85C-C34A-CE7CB3B44920}"/>
              </a:ext>
            </a:extLst>
          </p:cNvPr>
          <p:cNvSpPr txBox="1"/>
          <p:nvPr/>
        </p:nvSpPr>
        <p:spPr>
          <a:xfrm>
            <a:off x="998098" y="270192"/>
            <a:ext cx="7022779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dirty="0"/>
              <a:t>Let's think and reflect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E643CE-1A9E-BC23-3B6C-63AE128AAE42}"/>
              </a:ext>
            </a:extLst>
          </p:cNvPr>
          <p:cNvSpPr txBox="1"/>
          <p:nvPr/>
        </p:nvSpPr>
        <p:spPr>
          <a:xfrm>
            <a:off x="3305053" y="4088896"/>
            <a:ext cx="5376442" cy="2808384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1400" dirty="0">
              <a:solidFill>
                <a:srgbClr val="4338CA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1400" dirty="0">
              <a:solidFill>
                <a:srgbClr val="4338CA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1400" dirty="0">
              <a:solidFill>
                <a:srgbClr val="4338CA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001" sz="1400" dirty="0">
                <a:solidFill>
                  <a:srgbClr val="4338CA"/>
                </a:solidFill>
                <a:latin typeface="Calibri"/>
              </a:rPr>
              <a:t>Invariant specifying</a:t>
            </a:r>
            <a:endParaRPr sz="1400" dirty="0">
              <a:solidFill>
                <a:srgbClr val="4338CA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111827"/>
                </a:solidFill>
                <a:latin typeface="Consolas"/>
              </a:rPr>
              <a:t>"Every </a:t>
            </a:r>
            <a:r>
              <a:rPr sz="1400" dirty="0">
                <a:solidFill>
                  <a:srgbClr val="059669"/>
                </a:solidFill>
                <a:latin typeface="Consolas"/>
              </a:rPr>
              <a:t>customer</a:t>
            </a:r>
            <a:r>
              <a:rPr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sz="1400" dirty="0">
                <a:solidFill>
                  <a:srgbClr val="059669"/>
                </a:solidFill>
                <a:latin typeface="Consolas"/>
              </a:rPr>
              <a:t>owns</a:t>
            </a:r>
            <a:r>
              <a:rPr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sz="1400" dirty="0">
                <a:solidFill>
                  <a:srgbClr val="059669"/>
                </a:solidFill>
                <a:latin typeface="Consolas"/>
              </a:rPr>
              <a:t>at</a:t>
            </a:r>
            <a:r>
              <a:rPr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sz="1400" dirty="0">
                <a:solidFill>
                  <a:srgbClr val="059669"/>
                </a:solidFill>
                <a:latin typeface="Consolas"/>
              </a:rPr>
              <a:t>least</a:t>
            </a:r>
            <a:r>
              <a:rPr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sz="1400" dirty="0">
                <a:solidFill>
                  <a:srgbClr val="059669"/>
                </a:solidFill>
                <a:latin typeface="Consolas"/>
              </a:rPr>
              <a:t>one</a:t>
            </a:r>
            <a:r>
              <a:rPr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sz="1400" dirty="0">
                <a:solidFill>
                  <a:srgbClr val="059669"/>
                </a:solidFill>
                <a:latin typeface="Consolas"/>
              </a:rPr>
              <a:t>account</a:t>
            </a:r>
            <a:r>
              <a:rPr sz="1400" dirty="0">
                <a:solidFill>
                  <a:srgbClr val="111827"/>
                </a:solidFill>
                <a:latin typeface="Consolas"/>
              </a:rPr>
              <a:t>"</a:t>
            </a:r>
            <a:endParaRPr lang="en-US" sz="1400" dirty="0">
              <a:solidFill>
                <a:srgbClr val="111827"/>
              </a:solidFill>
              <a:latin typeface="Consola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001" sz="1400" dirty="0">
              <a:solidFill>
                <a:srgbClr val="111827"/>
              </a:solidFill>
              <a:latin typeface="Consola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7C3AED"/>
                </a:solidFill>
                <a:latin typeface="Cambria Math"/>
              </a:rPr>
              <a:t>?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1400" dirty="0">
              <a:solidFill>
                <a:srgbClr val="7C3AED"/>
              </a:solidFill>
              <a:latin typeface="Cambria Math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4338CA"/>
                </a:solidFill>
              </a:rPr>
              <a:t>Invariant specifying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111827"/>
                </a:solidFill>
                <a:latin typeface="Consolas"/>
              </a:rPr>
              <a:t>"No </a:t>
            </a:r>
            <a:r>
              <a:rPr sz="1400" dirty="0">
                <a:solidFill>
                  <a:srgbClr val="059669"/>
                </a:solidFill>
                <a:latin typeface="Consolas"/>
              </a:rPr>
              <a:t>account</a:t>
            </a:r>
            <a:r>
              <a:rPr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sz="1400" dirty="0">
                <a:solidFill>
                  <a:srgbClr val="059669"/>
                </a:solidFill>
                <a:latin typeface="Consolas"/>
              </a:rPr>
              <a:t>can</a:t>
            </a:r>
            <a:r>
              <a:rPr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sz="1400" dirty="0">
                <a:solidFill>
                  <a:srgbClr val="059669"/>
                </a:solidFill>
                <a:latin typeface="Consolas"/>
              </a:rPr>
              <a:t>have</a:t>
            </a:r>
            <a:r>
              <a:rPr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sz="1400" dirty="0">
                <a:solidFill>
                  <a:srgbClr val="059669"/>
                </a:solidFill>
                <a:latin typeface="Consolas"/>
              </a:rPr>
              <a:t>negative</a:t>
            </a:r>
            <a:r>
              <a:rPr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sz="1400" dirty="0">
                <a:solidFill>
                  <a:srgbClr val="059669"/>
                </a:solidFill>
                <a:latin typeface="Consolas"/>
              </a:rPr>
              <a:t>balance</a:t>
            </a:r>
            <a:r>
              <a:rPr sz="1400" dirty="0">
                <a:solidFill>
                  <a:srgbClr val="111827"/>
                </a:solidFill>
                <a:latin typeface="Consolas"/>
              </a:rPr>
              <a:t>"</a:t>
            </a:r>
            <a:endParaRPr lang="en-US" sz="1400" dirty="0">
              <a:solidFill>
                <a:srgbClr val="111827"/>
              </a:solidFill>
              <a:latin typeface="Consola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1400" dirty="0">
              <a:solidFill>
                <a:srgbClr val="111827"/>
              </a:solidFill>
              <a:latin typeface="Consolas"/>
            </a:endParaRPr>
          </a:p>
          <a:p>
            <a:pPr algn="ctr"/>
            <a:r>
              <a:rPr lang="en-US" sz="1400" dirty="0">
                <a:solidFill>
                  <a:srgbClr val="7C3AED"/>
                </a:solidFill>
                <a:latin typeface="Cambria Math"/>
              </a:rPr>
              <a:t>?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dirty="0">
              <a:solidFill>
                <a:srgbClr val="4338CA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dirty="0">
              <a:solidFill>
                <a:srgbClr val="7C3AED"/>
              </a:solidFill>
              <a:latin typeface="Cambria Math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D9838B-F8BD-911E-EDBA-7E220F501646}"/>
              </a:ext>
            </a:extLst>
          </p:cNvPr>
          <p:cNvSpPr txBox="1"/>
          <p:nvPr/>
        </p:nvSpPr>
        <p:spPr>
          <a:xfrm>
            <a:off x="4122563" y="1957793"/>
            <a:ext cx="156972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001" sz="1200" dirty="0"/>
              <a:t>Context</a:t>
            </a:r>
          </a:p>
          <a:p>
            <a:r>
              <a:rPr lang="en-001" sz="1200" dirty="0"/>
              <a:t>SETS</a:t>
            </a:r>
          </a:p>
          <a:p>
            <a:r>
              <a:rPr lang="en-001" sz="1200" dirty="0"/>
              <a:t>    CUSTOMERS</a:t>
            </a:r>
          </a:p>
          <a:p>
            <a:r>
              <a:rPr lang="en-001" sz="1200" dirty="0"/>
              <a:t>    ACCOUNTS</a:t>
            </a:r>
          </a:p>
          <a:p>
            <a:endParaRPr lang="en-001" sz="1200" dirty="0"/>
          </a:p>
          <a:p>
            <a:endParaRPr lang="en-001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6EC723-84E1-C2D1-6E35-A67A31E6CEF8}"/>
              </a:ext>
            </a:extLst>
          </p:cNvPr>
          <p:cNvSpPr txBox="1"/>
          <p:nvPr/>
        </p:nvSpPr>
        <p:spPr>
          <a:xfrm>
            <a:off x="5825515" y="1950825"/>
            <a:ext cx="261906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/>
              <a:t>Machine</a:t>
            </a:r>
          </a:p>
          <a:p>
            <a:r>
              <a:rPr lang="en-US" sz="1200" dirty="0"/>
              <a:t>VARIABLES</a:t>
            </a:r>
          </a:p>
          <a:p>
            <a:r>
              <a:rPr lang="en-US" sz="1200" dirty="0"/>
              <a:t>    customers</a:t>
            </a:r>
          </a:p>
          <a:p>
            <a:r>
              <a:rPr lang="en-US" sz="1200" dirty="0"/>
              <a:t>    accounts</a:t>
            </a:r>
          </a:p>
          <a:p>
            <a:r>
              <a:rPr lang="en-US" sz="1200" dirty="0"/>
              <a:t>    owns</a:t>
            </a:r>
          </a:p>
          <a:p>
            <a:r>
              <a:rPr lang="en-US" sz="1200" dirty="0"/>
              <a:t>    balance</a:t>
            </a:r>
          </a:p>
          <a:p>
            <a:endParaRPr lang="en-US" sz="1200" dirty="0"/>
          </a:p>
          <a:p>
            <a:r>
              <a:rPr lang="en-US" sz="1200" dirty="0"/>
              <a:t>INVARIANTS</a:t>
            </a:r>
          </a:p>
          <a:p>
            <a:r>
              <a:rPr lang="en-US" sz="1200" dirty="0"/>
              <a:t>    inv1: customers ⊆ CUSTOMERS</a:t>
            </a:r>
          </a:p>
          <a:p>
            <a:r>
              <a:rPr lang="en-US" sz="1200" dirty="0"/>
              <a:t>    inv2: accounts  ⊆ ACCOUNTS</a:t>
            </a:r>
          </a:p>
          <a:p>
            <a:r>
              <a:rPr lang="en-US" sz="1200" dirty="0"/>
              <a:t>    inv3: owns ⊆ customers × accounts</a:t>
            </a:r>
          </a:p>
          <a:p>
            <a:r>
              <a:rPr lang="en-US" sz="1200" dirty="0"/>
              <a:t>    inv4: balance ∈ accounts → </a:t>
            </a:r>
            <a:r>
              <a:rPr lang="en-US" sz="1200" dirty="0" err="1"/>
              <a:t>ℤ</a:t>
            </a:r>
            <a:endParaRPr lang="en-001" sz="1200" dirty="0"/>
          </a:p>
        </p:txBody>
      </p:sp>
      <p:pic>
        <p:nvPicPr>
          <p:cNvPr id="9" name="Picture 8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80B92F02-7D5A-BF76-E79F-5B38A254D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78" y="1807961"/>
            <a:ext cx="2624864" cy="456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14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7E159-CD58-84E5-FD79-7D887D2D7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C085-7101-217F-937A-F2605B824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5" y="0"/>
            <a:ext cx="8553450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Linear Temporal Logic (LTL)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1A735-42B0-FBCB-58F6-00BC93B68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49338"/>
            <a:ext cx="8553450" cy="52276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b="1" dirty="0"/>
              <a:t>Why Temporal Logic?</a:t>
            </a:r>
          </a:p>
          <a:p>
            <a:r>
              <a:rPr sz="1800" dirty="0"/>
              <a:t>Static Logic Limitation: Classical logic describes single states</a:t>
            </a:r>
          </a:p>
          <a:p>
            <a:r>
              <a:rPr sz="1800" dirty="0"/>
              <a:t>Dynamic Systems: Real systems change over time through events</a:t>
            </a:r>
          </a:p>
          <a:p>
            <a:r>
              <a:rPr sz="1800" dirty="0"/>
              <a:t>Temporal Properties: "Eventually," "always," "until," "next"</a:t>
            </a:r>
          </a:p>
          <a:p>
            <a:r>
              <a:rPr sz="1800" dirty="0"/>
              <a:t>Event-B Connection: Events cause state transitions</a:t>
            </a:r>
          </a:p>
          <a:p>
            <a:endParaRPr sz="1800" dirty="0"/>
          </a:p>
          <a:p>
            <a:pPr marL="0" indent="0">
              <a:buNone/>
            </a:pPr>
            <a:r>
              <a:rPr sz="1800" dirty="0"/>
              <a:t>LTL Operators:</a:t>
            </a:r>
            <a:endParaRPr lang="en-US" sz="1800" dirty="0"/>
          </a:p>
          <a:p>
            <a:pPr marL="0" indent="0">
              <a:buNone/>
            </a:pPr>
            <a:endParaRPr sz="18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111827"/>
                </a:solidFill>
              </a:rPr>
              <a:t>Next</a:t>
            </a:r>
            <a:r>
              <a:rPr lang="en-US" sz="1800" dirty="0">
                <a:solidFill>
                  <a:srgbClr val="4338CA"/>
                </a:solidFill>
              </a:rPr>
              <a:t>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○</a:t>
            </a:r>
            <a:r>
              <a:rPr lang="el-GR" sz="1800" dirty="0">
                <a:solidFill>
                  <a:srgbClr val="111827"/>
                </a:solidFill>
              </a:rPr>
              <a:t>φ </a:t>
            </a:r>
            <a:r>
              <a:rPr lang="el-GR" sz="1800" dirty="0">
                <a:solidFill>
                  <a:srgbClr val="7C3AED"/>
                </a:solidFill>
              </a:rPr>
              <a:t>|</a:t>
            </a:r>
            <a:r>
              <a:rPr lang="el-GR" sz="1800" dirty="0">
                <a:solidFill>
                  <a:srgbClr val="111827"/>
                </a:solidFill>
              </a:rPr>
              <a:t> φ </a:t>
            </a:r>
            <a:r>
              <a:rPr lang="en-US" sz="1800" dirty="0">
                <a:solidFill>
                  <a:srgbClr val="059669"/>
                </a:solidFill>
              </a:rPr>
              <a:t>holds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after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next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event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7C3AED"/>
                </a:solidFill>
              </a:rPr>
              <a:t>○(</a:t>
            </a:r>
            <a:r>
              <a:rPr lang="en-US" sz="1800" dirty="0">
                <a:solidFill>
                  <a:srgbClr val="059669"/>
                </a:solidFill>
              </a:rPr>
              <a:t>balance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&gt;</a:t>
            </a:r>
            <a:r>
              <a:rPr lang="en-US" sz="1800" dirty="0">
                <a:solidFill>
                  <a:srgbClr val="111827"/>
                </a:solidFill>
              </a:rPr>
              <a:t> 0</a:t>
            </a:r>
            <a:r>
              <a:rPr lang="en-US" sz="1800" dirty="0">
                <a:solidFill>
                  <a:srgbClr val="7C3AED"/>
                </a:solidFill>
              </a:rPr>
              <a:t>)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7C3AED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111827"/>
                </a:solidFill>
              </a:rPr>
              <a:t>Eventually</a:t>
            </a:r>
            <a:r>
              <a:rPr lang="en-US" sz="1800" dirty="0">
                <a:solidFill>
                  <a:srgbClr val="4338CA"/>
                </a:solidFill>
              </a:rPr>
              <a:t>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◊</a:t>
            </a:r>
            <a:r>
              <a:rPr lang="el-GR" sz="1800" dirty="0">
                <a:solidFill>
                  <a:srgbClr val="111827"/>
                </a:solidFill>
              </a:rPr>
              <a:t>φ </a:t>
            </a:r>
            <a:r>
              <a:rPr lang="el-GR" sz="1800" dirty="0">
                <a:solidFill>
                  <a:srgbClr val="7C3AED"/>
                </a:solidFill>
              </a:rPr>
              <a:t>|</a:t>
            </a:r>
            <a:r>
              <a:rPr lang="el-GR" sz="1800" dirty="0">
                <a:solidFill>
                  <a:srgbClr val="111827"/>
                </a:solidFill>
              </a:rPr>
              <a:t> φ </a:t>
            </a:r>
            <a:r>
              <a:rPr lang="en-US" sz="1800" dirty="0">
                <a:solidFill>
                  <a:srgbClr val="059669"/>
                </a:solidFill>
              </a:rPr>
              <a:t>will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hold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after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some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events</a:t>
            </a:r>
            <a:endParaRPr lang="en-US" sz="1800" dirty="0">
              <a:solidFill>
                <a:srgbClr val="111827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◊(</a:t>
            </a:r>
            <a:r>
              <a:rPr lang="en-US" sz="1800" dirty="0" err="1">
                <a:solidFill>
                  <a:srgbClr val="059669"/>
                </a:solidFill>
              </a:rPr>
              <a:t>transaction_complete</a:t>
            </a:r>
            <a:r>
              <a:rPr lang="en-US" sz="1800" dirty="0">
                <a:solidFill>
                  <a:srgbClr val="7C3AED"/>
                </a:solidFill>
              </a:rPr>
              <a:t>)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7C3AED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111827"/>
                </a:solidFill>
              </a:rPr>
              <a:t>Always</a:t>
            </a:r>
            <a:r>
              <a:rPr lang="en-US" sz="1800" dirty="0">
                <a:solidFill>
                  <a:srgbClr val="4338CA"/>
                </a:solidFill>
              </a:rPr>
              <a:t>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□</a:t>
            </a:r>
            <a:r>
              <a:rPr lang="el-GR" sz="1800" dirty="0">
                <a:solidFill>
                  <a:srgbClr val="111827"/>
                </a:solidFill>
              </a:rPr>
              <a:t>φ </a:t>
            </a:r>
            <a:r>
              <a:rPr lang="el-GR" sz="1800" dirty="0">
                <a:solidFill>
                  <a:srgbClr val="7C3AED"/>
                </a:solidFill>
              </a:rPr>
              <a:t>|</a:t>
            </a:r>
            <a:r>
              <a:rPr lang="el-GR" sz="1800" dirty="0">
                <a:solidFill>
                  <a:srgbClr val="111827"/>
                </a:solidFill>
              </a:rPr>
              <a:t> φ </a:t>
            </a:r>
            <a:r>
              <a:rPr lang="en-US" sz="1800" dirty="0">
                <a:solidFill>
                  <a:srgbClr val="059669"/>
                </a:solidFill>
              </a:rPr>
              <a:t>holds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after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all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event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sequences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endParaRPr lang="en-US" sz="1800" dirty="0">
              <a:solidFill>
                <a:srgbClr val="7C3AED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7C3AED"/>
                </a:solidFill>
              </a:rPr>
              <a:t>□(</a:t>
            </a:r>
            <a:r>
              <a:rPr lang="en-US" sz="1800" dirty="0">
                <a:solidFill>
                  <a:srgbClr val="059669"/>
                </a:solidFill>
              </a:rPr>
              <a:t>balance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≥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 err="1">
                <a:solidFill>
                  <a:srgbClr val="059669"/>
                </a:solidFill>
              </a:rPr>
              <a:t>overdraft_limit</a:t>
            </a:r>
            <a:r>
              <a:rPr lang="en-US" sz="1800" dirty="0">
                <a:solidFill>
                  <a:srgbClr val="7C3AED"/>
                </a:solidFill>
              </a:rPr>
              <a:t>)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7C3AED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Until</a:t>
            </a:r>
            <a:r>
              <a:rPr lang="en-US" sz="1800" dirty="0">
                <a:solidFill>
                  <a:srgbClr val="4338CA"/>
                </a:solidFill>
              </a:rPr>
              <a:t>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l-GR" sz="1800" dirty="0">
                <a:solidFill>
                  <a:srgbClr val="111827"/>
                </a:solidFill>
              </a:rPr>
              <a:t>φ </a:t>
            </a:r>
            <a:r>
              <a:rPr lang="en-US" sz="1800" dirty="0">
                <a:solidFill>
                  <a:srgbClr val="7C3AED"/>
                </a:solidFill>
              </a:rPr>
              <a:t>U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l-GR" sz="1800" dirty="0">
                <a:solidFill>
                  <a:srgbClr val="111827"/>
                </a:solidFill>
              </a:rPr>
              <a:t>ψ </a:t>
            </a:r>
            <a:r>
              <a:rPr lang="el-GR" sz="1800" dirty="0">
                <a:solidFill>
                  <a:srgbClr val="7C3AED"/>
                </a:solidFill>
              </a:rPr>
              <a:t>|</a:t>
            </a:r>
            <a:r>
              <a:rPr lang="el-GR" sz="1800" dirty="0">
                <a:solidFill>
                  <a:srgbClr val="111827"/>
                </a:solidFill>
              </a:rPr>
              <a:t> φ </a:t>
            </a:r>
            <a:r>
              <a:rPr lang="en-US" sz="1800" dirty="0">
                <a:solidFill>
                  <a:srgbClr val="059669"/>
                </a:solidFill>
              </a:rPr>
              <a:t>holds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until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l-GR" sz="1800" dirty="0">
                <a:solidFill>
                  <a:srgbClr val="111827"/>
                </a:solidFill>
              </a:rPr>
              <a:t>ψ </a:t>
            </a:r>
            <a:r>
              <a:rPr lang="en-US" sz="1800" dirty="0">
                <a:solidFill>
                  <a:srgbClr val="059669"/>
                </a:solidFill>
              </a:rPr>
              <a:t>becomes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true</a:t>
            </a:r>
            <a:endParaRPr lang="en-US" sz="1800" dirty="0">
              <a:solidFill>
                <a:srgbClr val="111827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59669"/>
                </a:solidFill>
              </a:rPr>
              <a:t>authenticating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U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authenticated</a:t>
            </a:r>
          </a:p>
          <a:p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765479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8078-FA06-4F94-2879-992A82B0B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75D62-5C1E-6FF5-5D9E-84F7176F7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5" y="0"/>
            <a:ext cx="8553450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LTL</a:t>
            </a:r>
            <a:r>
              <a:rPr lang="en-US" b="1" dirty="0">
                <a:solidFill>
                  <a:schemeClr val="tx2"/>
                </a:solidFill>
              </a:rPr>
              <a:t> Examples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3AC71-0F19-8C51-F4E7-AAC4D4A1A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887413"/>
            <a:ext cx="8553450" cy="5646737"/>
          </a:xfrm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11827"/>
                </a:solidFill>
              </a:rPr>
              <a:t>Safety Properties </a:t>
            </a:r>
            <a:r>
              <a:rPr lang="en-US" sz="1800" b="1" dirty="0">
                <a:solidFill>
                  <a:srgbClr val="7C3AED"/>
                </a:solidFill>
              </a:rPr>
              <a:t>("</a:t>
            </a:r>
            <a:r>
              <a:rPr lang="en-US" sz="1800" b="1" dirty="0">
                <a:solidFill>
                  <a:srgbClr val="111827"/>
                </a:solidFill>
              </a:rPr>
              <a:t>Bad </a:t>
            </a:r>
            <a:r>
              <a:rPr lang="en-US" sz="1800" b="1" dirty="0">
                <a:solidFill>
                  <a:srgbClr val="059669"/>
                </a:solidFill>
              </a:rPr>
              <a:t>things</a:t>
            </a:r>
            <a:r>
              <a:rPr lang="en-US" sz="1800" b="1" dirty="0">
                <a:solidFill>
                  <a:srgbClr val="111827"/>
                </a:solidFill>
              </a:rPr>
              <a:t> </a:t>
            </a:r>
            <a:r>
              <a:rPr lang="en-US" sz="1800" b="1" dirty="0">
                <a:solidFill>
                  <a:srgbClr val="059669"/>
                </a:solidFill>
              </a:rPr>
              <a:t>never</a:t>
            </a:r>
            <a:r>
              <a:rPr lang="en-US" sz="1800" b="1" dirty="0">
                <a:solidFill>
                  <a:srgbClr val="111827"/>
                </a:solidFill>
              </a:rPr>
              <a:t> </a:t>
            </a:r>
            <a:r>
              <a:rPr lang="en-US" sz="1800" b="1" dirty="0">
                <a:solidFill>
                  <a:srgbClr val="059669"/>
                </a:solidFill>
              </a:rPr>
              <a:t>happen</a:t>
            </a:r>
            <a:r>
              <a:rPr lang="en-US" sz="1800" b="1" dirty="0">
                <a:solidFill>
                  <a:srgbClr val="7C3AED"/>
                </a:solidFill>
              </a:rPr>
              <a:t>")</a:t>
            </a:r>
            <a:endParaRPr lang="en-US" sz="1800" b="1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4338CA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i="1" dirty="0">
                <a:solidFill>
                  <a:srgbClr val="6B7280"/>
                </a:solidFill>
              </a:rPr>
              <a:t>-- Mutual exclusion in concurrent ATM access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7C3AED"/>
                </a:solidFill>
              </a:rPr>
              <a:t>□(¬(</a:t>
            </a:r>
            <a:r>
              <a:rPr lang="en-US" sz="1800" dirty="0">
                <a:solidFill>
                  <a:srgbClr val="059669"/>
                </a:solidFill>
              </a:rPr>
              <a:t>atm1_processing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∧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atm2_processing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∧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 err="1">
                <a:solidFill>
                  <a:srgbClr val="059669"/>
                </a:solidFill>
              </a:rPr>
              <a:t>same_account</a:t>
            </a:r>
            <a:r>
              <a:rPr lang="en-US" sz="1800" dirty="0">
                <a:solidFill>
                  <a:srgbClr val="7C3AED"/>
                </a:solidFill>
              </a:rPr>
              <a:t>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7C3AED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i="1" dirty="0">
                <a:solidFill>
                  <a:srgbClr val="6B7280"/>
                </a:solidFill>
              </a:rPr>
              <a:t>-- Account balance never goes below limit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7C3AED"/>
                </a:solidFill>
              </a:rPr>
              <a:t>□(∀</a:t>
            </a:r>
            <a:r>
              <a:rPr lang="en-US" sz="1800" dirty="0">
                <a:solidFill>
                  <a:srgbClr val="059669"/>
                </a:solidFill>
              </a:rPr>
              <a:t>acc</a:t>
            </a:r>
            <a:r>
              <a:rPr lang="en-US" sz="1800" dirty="0">
                <a:solidFill>
                  <a:srgbClr val="7C3AED"/>
                </a:solidFill>
              </a:rPr>
              <a:t>·(</a:t>
            </a:r>
            <a:r>
              <a:rPr lang="en-US" sz="1800" dirty="0">
                <a:solidFill>
                  <a:srgbClr val="059669"/>
                </a:solidFill>
              </a:rPr>
              <a:t>acc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∈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accounts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⇒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balance</a:t>
            </a:r>
            <a:r>
              <a:rPr lang="en-US" sz="1800" dirty="0">
                <a:solidFill>
                  <a:srgbClr val="7C3AED"/>
                </a:solidFill>
              </a:rPr>
              <a:t>(</a:t>
            </a:r>
            <a:r>
              <a:rPr lang="en-US" sz="1800" dirty="0">
                <a:solidFill>
                  <a:srgbClr val="059669"/>
                </a:solidFill>
              </a:rPr>
              <a:t>acc</a:t>
            </a:r>
            <a:r>
              <a:rPr lang="en-US" sz="1800" dirty="0">
                <a:solidFill>
                  <a:srgbClr val="7C3AED"/>
                </a:solidFill>
              </a:rPr>
              <a:t>)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≥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 err="1">
                <a:solidFill>
                  <a:srgbClr val="059669"/>
                </a:solidFill>
              </a:rPr>
              <a:t>overdraft_limit</a:t>
            </a:r>
            <a:r>
              <a:rPr lang="en-US" sz="1800" dirty="0">
                <a:solidFill>
                  <a:srgbClr val="7C3AED"/>
                </a:solidFill>
              </a:rPr>
              <a:t>(</a:t>
            </a:r>
            <a:r>
              <a:rPr lang="en-US" sz="1800" dirty="0">
                <a:solidFill>
                  <a:srgbClr val="059669"/>
                </a:solidFill>
              </a:rPr>
              <a:t>acc</a:t>
            </a:r>
            <a:r>
              <a:rPr lang="en-US" sz="1800" dirty="0">
                <a:solidFill>
                  <a:srgbClr val="7C3AED"/>
                </a:solidFill>
              </a:rPr>
              <a:t>)))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7C3AED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i="1" dirty="0">
                <a:solidFill>
                  <a:srgbClr val="6B7280"/>
                </a:solidFill>
              </a:rPr>
              <a:t>-- System security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7C3AED"/>
                </a:solidFill>
              </a:rPr>
              <a:t>□(</a:t>
            </a:r>
            <a:r>
              <a:rPr lang="en-US" sz="1800" dirty="0" err="1">
                <a:solidFill>
                  <a:srgbClr val="059669"/>
                </a:solidFill>
              </a:rPr>
              <a:t>sensitive_operation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⇒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authenticated</a:t>
            </a:r>
            <a:r>
              <a:rPr lang="en-US" sz="1800" dirty="0">
                <a:solidFill>
                  <a:srgbClr val="7C3AED"/>
                </a:solidFill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7C3AED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11827"/>
                </a:solidFill>
              </a:rPr>
              <a:t>Liveness Properties </a:t>
            </a:r>
            <a:r>
              <a:rPr lang="en-US" sz="1800" b="1" dirty="0">
                <a:solidFill>
                  <a:srgbClr val="7C3AED"/>
                </a:solidFill>
              </a:rPr>
              <a:t>("</a:t>
            </a:r>
            <a:r>
              <a:rPr lang="en-US" sz="1800" b="1" dirty="0">
                <a:solidFill>
                  <a:srgbClr val="111827"/>
                </a:solidFill>
              </a:rPr>
              <a:t>Good </a:t>
            </a:r>
            <a:r>
              <a:rPr lang="en-US" sz="1800" b="1" dirty="0">
                <a:solidFill>
                  <a:srgbClr val="059669"/>
                </a:solidFill>
              </a:rPr>
              <a:t>things</a:t>
            </a:r>
            <a:r>
              <a:rPr lang="en-US" sz="1800" b="1" dirty="0">
                <a:solidFill>
                  <a:srgbClr val="111827"/>
                </a:solidFill>
              </a:rPr>
              <a:t> </a:t>
            </a:r>
            <a:r>
              <a:rPr lang="en-US" sz="1800" b="1" dirty="0">
                <a:solidFill>
                  <a:srgbClr val="059669"/>
                </a:solidFill>
              </a:rPr>
              <a:t>eventually</a:t>
            </a:r>
            <a:r>
              <a:rPr lang="en-US" sz="1800" b="1" dirty="0">
                <a:solidFill>
                  <a:srgbClr val="111827"/>
                </a:solidFill>
              </a:rPr>
              <a:t> </a:t>
            </a:r>
            <a:r>
              <a:rPr lang="en-US" sz="1800" b="1" dirty="0">
                <a:solidFill>
                  <a:srgbClr val="059669"/>
                </a:solidFill>
              </a:rPr>
              <a:t>happen</a:t>
            </a:r>
            <a:r>
              <a:rPr lang="en-US" sz="1800" b="1" dirty="0">
                <a:solidFill>
                  <a:srgbClr val="7C3AED"/>
                </a:solidFill>
              </a:rPr>
              <a:t>")</a:t>
            </a:r>
            <a:endParaRPr lang="en-US" sz="1800" b="1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4338CA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i="1" dirty="0">
                <a:solidFill>
                  <a:srgbClr val="6B7280"/>
                </a:solidFill>
              </a:rPr>
              <a:t>-- Every transaction request eventually completes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7C3AED"/>
                </a:solidFill>
              </a:rPr>
              <a:t>□(</a:t>
            </a:r>
            <a:r>
              <a:rPr lang="en-US" sz="1800" dirty="0" err="1">
                <a:solidFill>
                  <a:srgbClr val="059669"/>
                </a:solidFill>
              </a:rPr>
              <a:t>transaction_requested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→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◊</a:t>
            </a:r>
            <a:r>
              <a:rPr lang="en-US" sz="1800" dirty="0" err="1">
                <a:solidFill>
                  <a:srgbClr val="059669"/>
                </a:solidFill>
              </a:rPr>
              <a:t>transaction_completed</a:t>
            </a:r>
            <a:r>
              <a:rPr lang="en-US" sz="1800" dirty="0">
                <a:solidFill>
                  <a:srgbClr val="7C3AED"/>
                </a:solidFill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7C3AED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i="1" dirty="0">
                <a:solidFill>
                  <a:srgbClr val="6B7280"/>
                </a:solidFill>
              </a:rPr>
              <a:t>-- Every authentication attempt gets response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7C3AED"/>
                </a:solidFill>
              </a:rPr>
              <a:t>□(</a:t>
            </a:r>
            <a:r>
              <a:rPr lang="en-US" sz="1800" dirty="0" err="1">
                <a:solidFill>
                  <a:srgbClr val="059669"/>
                </a:solidFill>
              </a:rPr>
              <a:t>pin_entered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→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◊(</a:t>
            </a:r>
            <a:r>
              <a:rPr lang="en-US" sz="1800" dirty="0">
                <a:solidFill>
                  <a:srgbClr val="059669"/>
                </a:solidFill>
              </a:rPr>
              <a:t>authenticated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∨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 err="1">
                <a:solidFill>
                  <a:srgbClr val="059669"/>
                </a:solidFill>
              </a:rPr>
              <a:t>authentication_failed</a:t>
            </a:r>
            <a:r>
              <a:rPr lang="en-US" sz="1800" dirty="0">
                <a:solidFill>
                  <a:srgbClr val="7C3AED"/>
                </a:solidFill>
              </a:rPr>
              <a:t>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7C3AED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i="1" dirty="0">
                <a:solidFill>
                  <a:srgbClr val="6B7280"/>
                </a:solidFill>
              </a:rPr>
              <a:t>-- System progress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7C3AED"/>
                </a:solidFill>
              </a:rPr>
              <a:t>□(</a:t>
            </a:r>
            <a:r>
              <a:rPr lang="en-US" sz="1800" dirty="0" err="1">
                <a:solidFill>
                  <a:srgbClr val="059669"/>
                </a:solidFill>
              </a:rPr>
              <a:t>session_started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→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◊</a:t>
            </a:r>
            <a:r>
              <a:rPr lang="en-US" sz="1800" dirty="0" err="1">
                <a:solidFill>
                  <a:srgbClr val="059669"/>
                </a:solidFill>
              </a:rPr>
              <a:t>session_ended</a:t>
            </a:r>
            <a:r>
              <a:rPr lang="en-US" sz="1800" dirty="0">
                <a:solidFill>
                  <a:srgbClr val="7C3AED"/>
                </a:solidFill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7C3AE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857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AA755-9ADF-579F-8D5B-62A0F9345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C7EB5-93E7-690B-1FE3-3AB8FA56F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0"/>
            <a:ext cx="8636508" cy="1143000"/>
          </a:xfrm>
        </p:spPr>
        <p:txBody>
          <a:bodyPr/>
          <a:lstStyle/>
          <a:p>
            <a:r>
              <a:rPr lang="en-001" b="1" dirty="0">
                <a:solidFill>
                  <a:schemeClr val="tx2"/>
                </a:solidFill>
              </a:rPr>
              <a:t>Summery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0CB67-FB7C-73BF-DFA1-23DB43B04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61873"/>
            <a:ext cx="8636508" cy="4608260"/>
          </a:xfrm>
        </p:spPr>
        <p:txBody>
          <a:bodyPr>
            <a:normAutofit fontScale="92500" lnSpcReduction="20000"/>
          </a:bodyPr>
          <a:lstStyle/>
          <a:p>
            <a:r>
              <a:rPr lang="en-001" dirty="0"/>
              <a:t>Overview of </a:t>
            </a:r>
            <a:r>
              <a:rPr lang="en-001" b="1" dirty="0"/>
              <a:t>Set theory</a:t>
            </a:r>
          </a:p>
          <a:p>
            <a:r>
              <a:rPr lang="en-001" dirty="0"/>
              <a:t>Overview of </a:t>
            </a:r>
            <a:r>
              <a:rPr lang="en-001" b="1" dirty="0"/>
              <a:t>Logic</a:t>
            </a:r>
          </a:p>
          <a:p>
            <a:r>
              <a:rPr lang="en-US" dirty="0"/>
              <a:t>Overview of </a:t>
            </a:r>
            <a:r>
              <a:rPr lang="en-US" b="1" dirty="0"/>
              <a:t>Linear Temporal Logic</a:t>
            </a:r>
          </a:p>
          <a:p>
            <a:r>
              <a:rPr lang="en-001" dirty="0"/>
              <a:t>Application of set theory and logic in </a:t>
            </a:r>
            <a:r>
              <a:rPr lang="en-001" b="1" dirty="0"/>
              <a:t>formal specification</a:t>
            </a:r>
          </a:p>
          <a:p>
            <a:endParaRPr lang="en-001" b="1" dirty="0"/>
          </a:p>
          <a:p>
            <a:endParaRPr lang="en-001" dirty="0"/>
          </a:p>
          <a:p>
            <a:endParaRPr lang="en-001" dirty="0"/>
          </a:p>
          <a:p>
            <a:endParaRPr lang="en-001" dirty="0">
              <a:solidFill>
                <a:schemeClr val="tx2"/>
              </a:solidFill>
            </a:endParaRPr>
          </a:p>
          <a:p>
            <a:endParaRPr lang="en-001" dirty="0">
              <a:solidFill>
                <a:schemeClr val="tx2"/>
              </a:solidFill>
            </a:endParaRPr>
          </a:p>
          <a:p>
            <a:endParaRPr lang="en-001" dirty="0"/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Modeling in Event-B: System and Software Engineering </a:t>
            </a:r>
          </a:p>
          <a:p>
            <a:pPr marL="342900" lvl="1" indent="0">
              <a:buNone/>
            </a:pPr>
            <a:r>
              <a:rPr lang="en-US" dirty="0"/>
              <a:t>    by Jean-Raymond Abrial</a:t>
            </a:r>
          </a:p>
          <a:p>
            <a:endParaRPr lang="en-00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A9C51E-FFEE-54FE-94EA-F4A8140F67FD}"/>
              </a:ext>
            </a:extLst>
          </p:cNvPr>
          <p:cNvSpPr txBox="1"/>
          <p:nvPr/>
        </p:nvSpPr>
        <p:spPr>
          <a:xfrm>
            <a:off x="992533" y="3566003"/>
            <a:ext cx="6619774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/>
              <a:t>Let’s read and explore</a:t>
            </a:r>
          </a:p>
        </p:txBody>
      </p:sp>
    </p:spTree>
    <p:extLst>
      <p:ext uri="{BB962C8B-B14F-4D97-AF65-F5344CB8AC3E}">
        <p14:creationId xmlns:p14="http://schemas.microsoft.com/office/powerpoint/2010/main" val="694071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28334</TotalTime>
  <Words>1506</Words>
  <Application>Microsoft Macintosh PowerPoint</Application>
  <PresentationFormat>On-screen Show (4:3)</PresentationFormat>
  <Paragraphs>282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Cambria Math</vt:lpstr>
      <vt:lpstr>Consolas</vt:lpstr>
      <vt:lpstr>Office Theme</vt:lpstr>
      <vt:lpstr> AICE2005 - Systematic Design  Formal Specification and Verification</vt:lpstr>
      <vt:lpstr>Course Introduction</vt:lpstr>
      <vt:lpstr>PowerPoint Presentation</vt:lpstr>
      <vt:lpstr>Lecture 3 Overview</vt:lpstr>
      <vt:lpstr>Recap: Safety Requirements and  Event-B Specification </vt:lpstr>
      <vt:lpstr>Set Theory Fundamentals</vt:lpstr>
      <vt:lpstr>Set Theory Fundamentals</vt:lpstr>
      <vt:lpstr>Set Theory Exercise</vt:lpstr>
      <vt:lpstr>Function Types Exercise</vt:lpstr>
      <vt:lpstr>Relations in Formal Specifications</vt:lpstr>
      <vt:lpstr>Relations Exercise</vt:lpstr>
      <vt:lpstr>Logic Foundations</vt:lpstr>
      <vt:lpstr>Logic Example</vt:lpstr>
      <vt:lpstr>Logic Exercise</vt:lpstr>
      <vt:lpstr>Linear Temporal Logic (LTL)</vt:lpstr>
      <vt:lpstr>LTL Examples</vt:lpstr>
      <vt:lpstr>Summery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Asieh Salehi Fathabadi</cp:lastModifiedBy>
  <cp:revision>41</cp:revision>
  <dcterms:created xsi:type="dcterms:W3CDTF">2013-01-27T09:14:16Z</dcterms:created>
  <dcterms:modified xsi:type="dcterms:W3CDTF">2026-10-12T12:57:07Z</dcterms:modified>
  <cp:category/>
</cp:coreProperties>
</file>