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301" r:id="rId4"/>
    <p:sldId id="258" r:id="rId5"/>
    <p:sldId id="334" r:id="rId6"/>
    <p:sldId id="259" r:id="rId7"/>
    <p:sldId id="378" r:id="rId8"/>
    <p:sldId id="335" r:id="rId9"/>
    <p:sldId id="260" r:id="rId10"/>
    <p:sldId id="261" r:id="rId11"/>
    <p:sldId id="263" r:id="rId12"/>
    <p:sldId id="336" r:id="rId13"/>
    <p:sldId id="262" r:id="rId14"/>
    <p:sldId id="337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81"/>
    <p:restoredTop sz="96534"/>
  </p:normalViewPr>
  <p:slideViewPr>
    <p:cSldViewPr snapToGrid="0" snapToObjects="1">
      <p:cViewPr varScale="1">
        <p:scale>
          <a:sx n="120" d="100"/>
          <a:sy n="120" d="100"/>
        </p:scale>
        <p:origin x="2256" y="48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B12377-2E7C-EFB2-60F9-F287D9F6F5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4A4223-A53C-58BC-1F79-71F115076D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01D81-1374-D94A-9FC1-643B3B8DB755}" type="datetimeFigureOut">
              <a:rPr lang="en-001" smtClean="0"/>
              <a:t>12/10/2026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FCACA-76CA-223B-D1F8-2862751156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EF81F7-3EC1-F1CC-F6A8-9749238597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23DA4-CC2F-624E-984F-5887AFCD239D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1909299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12/10/2026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term "software engineering" was popularized by the 1968 NATO Software Engineering Conference in Garmisch, Germany, which was held to address the "software crisis"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9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174765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 b="1" dirty="0"/>
              <a:t>Poor Candidates:</a:t>
            </a:r>
          </a:p>
          <a:p>
            <a:r>
              <a:rPr lang="en-US" sz="1200" dirty="0"/>
              <a:t>Prototype systems: Requirements evolving rapidly</a:t>
            </a:r>
          </a:p>
          <a:p>
            <a:r>
              <a:rPr lang="en-US" sz="1200" dirty="0"/>
              <a:t>Simple applications: Low complexity, low risk</a:t>
            </a:r>
          </a:p>
          <a:p>
            <a:r>
              <a:rPr lang="en-US" sz="1200" dirty="0"/>
              <a:t>Short-term projects: Cost exceeds benefits</a:t>
            </a:r>
          </a:p>
          <a:p>
            <a:r>
              <a:rPr lang="en-US" sz="1200" dirty="0"/>
              <a:t>UI/UX focused: User experience is primary concern</a:t>
            </a:r>
          </a:p>
          <a:p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11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412103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BB395-2FC9-B144-0D15-934B4F5105F9}"/>
              </a:ext>
            </a:extLst>
          </p:cNvPr>
          <p:cNvSpPr txBox="1"/>
          <p:nvPr userDrawn="1"/>
        </p:nvSpPr>
        <p:spPr>
          <a:xfrm>
            <a:off x="1381539" y="649025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Logo" descr="University of Southampton logo">
            <a:extLst>
              <a:ext uri="{FF2B5EF4-FFF2-40B4-BE49-F238E27FC236}">
                <a16:creationId xmlns:a16="http://schemas.microsoft.com/office/drawing/2014/main" id="{BEFAF8AA-C297-DED6-7B1D-52EC0B02C83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406640" y="6384033"/>
            <a:ext cx="1371600" cy="291086"/>
          </a:xfrm>
          <a:prstGeom prst="rect">
            <a:avLst/>
          </a:prstGeom>
        </p:spPr>
      </p:pic>
      <p:sp>
        <p:nvSpPr>
          <p:cNvPr id="10" name="Footer slide number">
            <a:extLst>
              <a:ext uri="{FF2B5EF4-FFF2-40B4-BE49-F238E27FC236}">
                <a16:creationId xmlns:a16="http://schemas.microsoft.com/office/drawing/2014/main" id="{4749B520-07B6-4C48-8DF5-DA1BAEA6020C}"/>
              </a:ext>
            </a:extLst>
          </p:cNvPr>
          <p:cNvSpPr txBox="1"/>
          <p:nvPr userDrawn="1"/>
        </p:nvSpPr>
        <p:spPr>
          <a:xfrm>
            <a:off x="365760" y="6384033"/>
            <a:ext cx="4572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fld id="{B6F15528-21DE-4FAA-801E-634DDDAF4B2B}" type="slidenum">
              <a:rPr lang="en-GB" sz="1400" dirty="0">
                <a:solidFill>
                  <a:srgbClr val="1F497D"/>
                </a:solidFill>
              </a:rPr>
              <a:t>‹#›</a:t>
            </a:fld>
            <a:endParaRPr lang="en-GB" sz="1400" dirty="0">
              <a:solidFill>
                <a:srgbClr val="1F497D"/>
              </a:solidFill>
            </a:endParaRPr>
          </a:p>
        </p:txBody>
      </p:sp>
      <p:sp>
        <p:nvSpPr>
          <p:cNvPr id="11" name="Footer SEAtS">
            <a:extLst>
              <a:ext uri="{FF2B5EF4-FFF2-40B4-BE49-F238E27FC236}">
                <a16:creationId xmlns:a16="http://schemas.microsoft.com/office/drawing/2014/main" id="{8353FC27-3582-24AF-8BED-B709ED52ACF8}"/>
              </a:ext>
            </a:extLst>
          </p:cNvPr>
          <p:cNvSpPr txBox="1"/>
          <p:nvPr userDrawn="1"/>
        </p:nvSpPr>
        <p:spPr>
          <a:xfrm>
            <a:off x="742950" y="6430390"/>
            <a:ext cx="3200400" cy="29108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1F497D"/>
                </a:solidFill>
              </a:rPr>
              <a:t>SEAtS | 857647</a:t>
            </a:r>
          </a:p>
          <a:p>
            <a:r>
              <a:rPr lang="en-GB" sz="800" b="1" dirty="0">
                <a:solidFill>
                  <a:srgbClr val="8C8C8C"/>
                </a:solidFill>
              </a:rPr>
              <a:t>© University of Southampton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2026-2027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Week 4-5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Overview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>
                <a:solidFill>
                  <a:schemeClr val="tx2"/>
                </a:solidFill>
              </a:rPr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/>
              <a:t>Lecture 3: Mathematical Foundations </a:t>
            </a:r>
          </a:p>
          <a:p>
            <a:r>
              <a:rPr sz="2200" dirty="0"/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911DC-AAE1-6287-E854-02379A2B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651" y="2755841"/>
            <a:ext cx="8404698" cy="85725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LECTURE 1: </a:t>
            </a:r>
            <a:br>
              <a:rPr lang="en-US" b="1" dirty="0">
                <a:solidFill>
                  <a:schemeClr val="tx2"/>
                </a:solidFill>
              </a:rPr>
            </a:b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INTRODUCTION TO FORMAL METHODS</a:t>
            </a:r>
            <a:br>
              <a:rPr lang="en-US" b="1" dirty="0">
                <a:solidFill>
                  <a:schemeClr val="tx2"/>
                </a:solidFill>
              </a:rPr>
            </a:br>
            <a:endParaRPr lang="en-001" b="1" dirty="0">
              <a:solidFill>
                <a:schemeClr val="tx2"/>
              </a:solidFill>
            </a:endParaRPr>
          </a:p>
        </p:txBody>
      </p:sp>
      <p:pic>
        <p:nvPicPr>
          <p:cNvPr id="4" name="Picture 3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81979CA4-6024-6E04-CEA0-DA44588E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0513" y="4024705"/>
            <a:ext cx="1691336" cy="1696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BB4809-88A2-90A1-53FC-72D3D712E07A}"/>
              </a:ext>
            </a:extLst>
          </p:cNvPr>
          <p:cNvSpPr txBox="1"/>
          <p:nvPr/>
        </p:nvSpPr>
        <p:spPr>
          <a:xfrm>
            <a:off x="3869493" y="5721022"/>
            <a:ext cx="12333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sz="2400" dirty="0"/>
              <a:t>857647</a:t>
            </a:r>
          </a:p>
        </p:txBody>
      </p:sp>
    </p:spTree>
    <p:extLst>
      <p:ext uri="{BB962C8B-B14F-4D97-AF65-F5344CB8AC3E}">
        <p14:creationId xmlns:p14="http://schemas.microsoft.com/office/powerpoint/2010/main" val="27800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60380"/>
            <a:ext cx="6172200" cy="85725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1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600201"/>
            <a:ext cx="8382811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What are </a:t>
            </a:r>
            <a:r>
              <a:rPr b="1" dirty="0">
                <a:solidFill>
                  <a:schemeClr val="tx2"/>
                </a:solidFill>
              </a:rPr>
              <a:t>Formal Methods</a:t>
            </a:r>
            <a:r>
              <a:rPr dirty="0"/>
              <a:t>?</a:t>
            </a:r>
          </a:p>
          <a:p>
            <a:r>
              <a:rPr dirty="0"/>
              <a:t>Historical Context &amp; Motivation</a:t>
            </a:r>
          </a:p>
          <a:p>
            <a:r>
              <a:rPr dirty="0"/>
              <a:t>Types of Formal Methods</a:t>
            </a:r>
          </a:p>
          <a:p>
            <a:r>
              <a:rPr dirty="0"/>
              <a:t>Industry Applications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Learning Objectives:</a:t>
            </a:r>
          </a:p>
          <a:p>
            <a:endParaRPr dirty="0"/>
          </a:p>
          <a:p>
            <a:r>
              <a:rPr dirty="0"/>
              <a:t>Define formal methods and their role in systems engineering</a:t>
            </a:r>
          </a:p>
          <a:p>
            <a:r>
              <a:rPr dirty="0"/>
              <a:t>Identify when formal methods are appropriate to use</a:t>
            </a:r>
          </a:p>
          <a:p>
            <a:r>
              <a:rPr dirty="0"/>
              <a:t>Classify different types of formal methods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15606-D650-5625-9575-DA9987CF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48541-CB40-2C9F-F9F9-C5461DD3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713"/>
            <a:ext cx="8528726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Why </a:t>
            </a:r>
            <a:r>
              <a:rPr b="1" dirty="0">
                <a:solidFill>
                  <a:schemeClr val="tx2"/>
                </a:solidFill>
              </a:rPr>
              <a:t>Formal Methods?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5DE7C-0E12-0306-2D2E-497386376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956817"/>
            <a:ext cx="8528726" cy="4663440"/>
          </a:xfrm>
        </p:spPr>
        <p:txBody>
          <a:bodyPr>
            <a:noAutofit/>
          </a:bodyPr>
          <a:lstStyle/>
          <a:p>
            <a:r>
              <a:rPr lang="en-US" sz="1800" b="1" dirty="0"/>
              <a:t>Software is everywhere:</a:t>
            </a:r>
            <a:r>
              <a:rPr lang="en-US" sz="1800" dirty="0"/>
              <a:t> from AI to aerospace, errors can be </a:t>
            </a:r>
            <a:r>
              <a:rPr lang="en-US" sz="1800" i="1" dirty="0"/>
              <a:t>catastrophic</a:t>
            </a:r>
            <a:endParaRPr lang="en-US" sz="1800" dirty="0"/>
          </a:p>
          <a:p>
            <a:r>
              <a:rPr lang="en-US" sz="1800" b="1" dirty="0"/>
              <a:t>Traditional testing ≠ enough:</a:t>
            </a:r>
            <a:r>
              <a:rPr lang="en-US" sz="1800" dirty="0"/>
              <a:t> can only show </a:t>
            </a:r>
            <a:r>
              <a:rPr lang="en-US" sz="1800" i="1" dirty="0"/>
              <a:t>presence</a:t>
            </a:r>
            <a:r>
              <a:rPr lang="en-US" sz="1800" dirty="0"/>
              <a:t>, not </a:t>
            </a:r>
            <a:r>
              <a:rPr lang="en-US" sz="1800" i="1" dirty="0"/>
              <a:t>absence</a:t>
            </a:r>
            <a:r>
              <a:rPr lang="en-US" sz="1800" dirty="0"/>
              <a:t> of bugs</a:t>
            </a:r>
          </a:p>
          <a:p>
            <a:pPr algn="ctr">
              <a:buFont typeface="Wingdings" pitchFamily="2" charset="2"/>
              <a:buChar char="Ø"/>
            </a:pPr>
            <a:r>
              <a:rPr lang="en-US" sz="1800" dirty="0"/>
              <a:t>Ambiguous requirements </a:t>
            </a:r>
            <a:r>
              <a:rPr lang="en-US" sz="1800" dirty="0">
                <a:sym typeface="Wingdings" pitchFamily="2" charset="2"/>
              </a:rPr>
              <a:t> Precise, mathematical specifications</a:t>
            </a:r>
          </a:p>
          <a:p>
            <a:pPr algn="ctr">
              <a:buFont typeface="Wingdings" pitchFamily="2" charset="2"/>
              <a:buChar char="Ø"/>
            </a:pPr>
            <a:r>
              <a:rPr lang="en-US" sz="1800" dirty="0"/>
              <a:t>Hidden design errors </a:t>
            </a:r>
            <a:r>
              <a:rPr lang="en-US" sz="1800" dirty="0">
                <a:sym typeface="Wingdings" pitchFamily="2" charset="2"/>
              </a:rPr>
              <a:t> </a:t>
            </a:r>
            <a:r>
              <a:rPr lang="en-US" sz="1800" dirty="0">
                <a:solidFill>
                  <a:srgbClr val="002060"/>
                </a:solidFill>
                <a:sym typeface="Wingdings" pitchFamily="2" charset="2"/>
              </a:rPr>
              <a:t>Early detection </a:t>
            </a:r>
            <a:r>
              <a:rPr lang="en-US" sz="1800" dirty="0">
                <a:sym typeface="Wingdings" pitchFamily="2" charset="2"/>
              </a:rPr>
              <a:t>via proofs &amp; formal analysis</a:t>
            </a:r>
          </a:p>
          <a:p>
            <a:pPr algn="ctr">
              <a:buFont typeface="Wingdings" pitchFamily="2" charset="2"/>
              <a:buChar char="Ø"/>
            </a:pPr>
            <a:r>
              <a:rPr lang="en-US" sz="1800" dirty="0"/>
              <a:t>Complex AI systems </a:t>
            </a:r>
            <a:r>
              <a:rPr lang="en-US" sz="1800" dirty="0">
                <a:sym typeface="Wingdings" pitchFamily="2" charset="2"/>
              </a:rPr>
              <a:t> Rigorous reasoning about safety &amp; security</a:t>
            </a:r>
            <a:endParaRPr lang="en-US" sz="1800" dirty="0"/>
          </a:p>
          <a:p>
            <a:pPr marL="0" indent="0" algn="ctr">
              <a:buNone/>
            </a:pPr>
            <a:endParaRPr lang="en-US" sz="1800" b="1" dirty="0"/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endParaRPr lang="en-US"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98D78F-D346-8CB5-4219-4C532EC17545}"/>
              </a:ext>
            </a:extLst>
          </p:cNvPr>
          <p:cNvSpPr txBox="1"/>
          <p:nvPr/>
        </p:nvSpPr>
        <p:spPr>
          <a:xfrm>
            <a:off x="1167064" y="1164713"/>
            <a:ext cx="6619774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Formal Methods = Design it right, not just test it later.</a:t>
            </a:r>
            <a:br>
              <a:rPr lang="en-US" sz="2000" dirty="0"/>
            </a:br>
            <a:r>
              <a:rPr lang="en-US" sz="2000" i="1" dirty="0"/>
              <a:t>turn uncertainty into proof</a:t>
            </a:r>
            <a:endParaRPr lang="en-US" sz="2000" b="1" dirty="0"/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0273E37-FFC5-8ECB-D270-DE2178089BBE}"/>
              </a:ext>
            </a:extLst>
          </p:cNvPr>
          <p:cNvSpPr/>
          <p:nvPr/>
        </p:nvSpPr>
        <p:spPr>
          <a:xfrm rot="10800000">
            <a:off x="2539129" y="3834987"/>
            <a:ext cx="3639312" cy="2785270"/>
          </a:xfrm>
          <a:prstGeom prst="triangl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8900000" scaled="1"/>
            <a:tileRect/>
          </a:gradFill>
          <a:ln w="317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0ACA04-2573-25A9-23F4-955E924CF075}"/>
              </a:ext>
            </a:extLst>
          </p:cNvPr>
          <p:cNvSpPr txBox="1"/>
          <p:nvPr/>
        </p:nvSpPr>
        <p:spPr>
          <a:xfrm>
            <a:off x="3622750" y="3875134"/>
            <a:ext cx="1472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Informal Spec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88676-ACD5-4D52-19FD-EA0880166DCC}"/>
              </a:ext>
            </a:extLst>
          </p:cNvPr>
          <p:cNvSpPr txBox="1"/>
          <p:nvPr/>
        </p:nvSpPr>
        <p:spPr>
          <a:xfrm>
            <a:off x="3622750" y="4508067"/>
            <a:ext cx="1486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Formal model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61C31D-961B-A064-E14B-3C14C2E31607}"/>
              </a:ext>
            </a:extLst>
          </p:cNvPr>
          <p:cNvSpPr txBox="1"/>
          <p:nvPr/>
        </p:nvSpPr>
        <p:spPr>
          <a:xfrm>
            <a:off x="3549364" y="5143648"/>
            <a:ext cx="1633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dirty="0"/>
              <a:t>Verified System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402D40-8514-8BE2-ED95-C60DDE0C6530}"/>
              </a:ext>
            </a:extLst>
          </p:cNvPr>
          <p:cNvCxnSpPr>
            <a:cxnSpLocks/>
          </p:cNvCxnSpPr>
          <p:nvPr/>
        </p:nvCxnSpPr>
        <p:spPr>
          <a:xfrm>
            <a:off x="2878770" y="4345049"/>
            <a:ext cx="295702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B98D66-21E7-13C5-A907-F06D06C3CC39}"/>
              </a:ext>
            </a:extLst>
          </p:cNvPr>
          <p:cNvCxnSpPr>
            <a:cxnSpLocks/>
          </p:cNvCxnSpPr>
          <p:nvPr/>
        </p:nvCxnSpPr>
        <p:spPr>
          <a:xfrm>
            <a:off x="3280638" y="4972937"/>
            <a:ext cx="217416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78CEF8-0820-1E66-5F49-C1F42D182F22}"/>
              </a:ext>
            </a:extLst>
          </p:cNvPr>
          <p:cNvSpPr/>
          <p:nvPr/>
        </p:nvSpPr>
        <p:spPr>
          <a:xfrm>
            <a:off x="3625923" y="5649216"/>
            <a:ext cx="1395197" cy="1066581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22C429-9AAF-FDF9-85C0-D7B76F9E9378}"/>
              </a:ext>
            </a:extLst>
          </p:cNvPr>
          <p:cNvCxnSpPr>
            <a:cxnSpLocks/>
          </p:cNvCxnSpPr>
          <p:nvPr/>
        </p:nvCxnSpPr>
        <p:spPr>
          <a:xfrm>
            <a:off x="3695642" y="5644525"/>
            <a:ext cx="1325478" cy="4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57EA80A-AE5D-7C49-62DF-0CA1987A4AC0}"/>
              </a:ext>
            </a:extLst>
          </p:cNvPr>
          <p:cNvSpPr txBox="1"/>
          <p:nvPr/>
        </p:nvSpPr>
        <p:spPr>
          <a:xfrm>
            <a:off x="918586" y="6041210"/>
            <a:ext cx="7066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Formal methods = mathematical confidence</a:t>
            </a:r>
            <a:r>
              <a:rPr lang="en-US" sz="2000" dirty="0">
                <a:solidFill>
                  <a:schemeClr val="tx2"/>
                </a:solidFill>
              </a:rPr>
              <a:t> in correctness</a:t>
            </a:r>
          </a:p>
        </p:txBody>
      </p:sp>
    </p:spTree>
    <p:extLst>
      <p:ext uri="{BB962C8B-B14F-4D97-AF65-F5344CB8AC3E}">
        <p14:creationId xmlns:p14="http://schemas.microsoft.com/office/powerpoint/2010/main" val="32852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1713"/>
            <a:ext cx="8528726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What are Formal Methods?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332037"/>
            <a:ext cx="852872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/>
              <a:t>Key Characteristics:</a:t>
            </a:r>
            <a:endParaRPr sz="1800" dirty="0"/>
          </a:p>
          <a:p>
            <a:r>
              <a:rPr sz="1800" b="1" dirty="0"/>
              <a:t>Mathematical Foundation</a:t>
            </a:r>
            <a:r>
              <a:rPr sz="1800" dirty="0"/>
              <a:t>: Based on mathematical logic, set theory, and discrete mathematics</a:t>
            </a:r>
          </a:p>
          <a:p>
            <a:r>
              <a:rPr sz="1800" b="1" dirty="0"/>
              <a:t>Precision</a:t>
            </a:r>
            <a:r>
              <a:rPr sz="1800" dirty="0"/>
              <a:t>: Eliminate ambiguity through precise mathematical notation</a:t>
            </a:r>
          </a:p>
          <a:p>
            <a:r>
              <a:rPr sz="1800" b="1" dirty="0"/>
              <a:t>Rigor</a:t>
            </a:r>
            <a:r>
              <a:rPr sz="1800" dirty="0"/>
              <a:t>: Enable mathematical reasoning about system properties</a:t>
            </a:r>
          </a:p>
          <a:p>
            <a:r>
              <a:rPr sz="1800" b="1" dirty="0"/>
              <a:t>Tool Support</a:t>
            </a:r>
            <a:r>
              <a:rPr sz="1800" dirty="0"/>
              <a:t>: Automated analysis and verification capabilities</a:t>
            </a:r>
          </a:p>
          <a:p>
            <a:endParaRPr sz="1800" dirty="0"/>
          </a:p>
          <a:p>
            <a:pPr marL="0" indent="0">
              <a:buNone/>
            </a:pPr>
            <a:r>
              <a:rPr sz="1800" b="1" dirty="0"/>
              <a:t>Informal vs Formal Methods:</a:t>
            </a:r>
            <a:endParaRPr sz="1800" dirty="0"/>
          </a:p>
          <a:p>
            <a:r>
              <a:rPr sz="1800" b="1" dirty="0">
                <a:solidFill>
                  <a:schemeClr val="tx2"/>
                </a:solidFill>
              </a:rPr>
              <a:t>Informal</a:t>
            </a:r>
            <a:r>
              <a:rPr sz="1800" dirty="0"/>
              <a:t>: Natural language requirements → Ambiguous interpretations → Manual review and testing → Error detection during testing</a:t>
            </a:r>
          </a:p>
          <a:p>
            <a:r>
              <a:rPr sz="1800" b="1" i="1" dirty="0">
                <a:solidFill>
                  <a:schemeClr val="tx2"/>
                </a:solidFill>
              </a:rPr>
              <a:t>Formal</a:t>
            </a:r>
            <a:r>
              <a:rPr sz="1800" dirty="0"/>
              <a:t>: Mathematical specifications → Precise, unambiguous meaning → Mathematical proof and verification → Error prevention during design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838C5B-BBD7-AEBD-35FC-EE7E21B88A9C}"/>
              </a:ext>
            </a:extLst>
          </p:cNvPr>
          <p:cNvSpPr txBox="1"/>
          <p:nvPr/>
        </p:nvSpPr>
        <p:spPr>
          <a:xfrm>
            <a:off x="1167064" y="1164713"/>
            <a:ext cx="6619774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Formal methods are mathematically rigorous techniques for the specification, development, and verification of </a:t>
            </a:r>
          </a:p>
          <a:p>
            <a:pPr marL="0" indent="0" algn="ctr">
              <a:buNone/>
            </a:pPr>
            <a:r>
              <a:rPr lang="en-US" sz="2000" b="1" dirty="0"/>
              <a:t>software and hardware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AB24A-7008-95CD-B116-F27594426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A7F6D-BF5A-9310-52E4-6F84043CE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21713"/>
            <a:ext cx="8528726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Formal Modelling vs Programming</a:t>
            </a:r>
            <a:endParaRPr b="1" dirty="0">
              <a:solidFill>
                <a:schemeClr val="tx2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12E6D5-84B5-4557-2A3A-A3953F519E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328897"/>
              </p:ext>
            </p:extLst>
          </p:nvPr>
        </p:nvGraphicFramePr>
        <p:xfrm>
          <a:off x="225669" y="2307711"/>
          <a:ext cx="8683870" cy="443305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341935">
                  <a:extLst>
                    <a:ext uri="{9D8B030D-6E8A-4147-A177-3AD203B41FA5}">
                      <a16:colId xmlns:a16="http://schemas.microsoft.com/office/drawing/2014/main" val="1862876717"/>
                    </a:ext>
                  </a:extLst>
                </a:gridCol>
                <a:gridCol w="4341935">
                  <a:extLst>
                    <a:ext uri="{9D8B030D-6E8A-4147-A177-3AD203B41FA5}">
                      <a16:colId xmlns:a16="http://schemas.microsoft.com/office/drawing/2014/main" val="399936658"/>
                    </a:ext>
                  </a:extLst>
                </a:gridCol>
              </a:tblGrid>
              <a:tr h="422346">
                <a:tc>
                  <a:txBody>
                    <a:bodyPr/>
                    <a:lstStyle/>
                    <a:p>
                      <a:r>
                        <a:rPr lang="en-US" sz="1800" b="1" dirty="0"/>
                        <a:t>Formal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Programming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910204"/>
                  </a:ext>
                </a:extLst>
              </a:tr>
              <a:tr h="422346">
                <a:tc>
                  <a:txBody>
                    <a:bodyPr/>
                    <a:lstStyle/>
                    <a:p>
                      <a:r>
                        <a:rPr lang="en-US" sz="1800" dirty="0"/>
                        <a:t>Focuses on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what the system should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Focuses on </a:t>
                      </a:r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how to implement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744539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/>
                        <a:t>Abstract, high-level representation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Concrete, low-level instructions to a computer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75040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 dirty="0"/>
                        <a:t>Uses mathematical notation (e.g., sets, logic, invariants)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executable programming languages (e.g., Python, C, Java)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179803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Detects design errors early (before coding)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tx2"/>
                          </a:solidFill>
                        </a:rPr>
                        <a:t>Errors often discovered later (testing/debugging)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9555018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 dirty="0"/>
                        <a:t>Prioritizes correctness, consistency, and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Prioritizes functionality and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1506656"/>
                  </a:ext>
                </a:extLst>
              </a:tr>
              <a:tr h="717673">
                <a:tc>
                  <a:txBody>
                    <a:bodyPr/>
                    <a:lstStyle/>
                    <a:p>
                      <a:r>
                        <a:rPr lang="en-US" sz="1800"/>
                        <a:t>Tool support: proof, model-checking, animation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Tool support: compilers, debuggers, test frameworks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682769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4DEA7E8-CF8B-1304-2443-156FE81EC3A9}"/>
              </a:ext>
            </a:extLst>
          </p:cNvPr>
          <p:cNvSpPr txBox="1"/>
          <p:nvPr/>
        </p:nvSpPr>
        <p:spPr>
          <a:xfrm>
            <a:off x="342900" y="1164713"/>
            <a:ext cx="8141059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dirty="0"/>
              <a:t>Formal modelling helps ensure the </a:t>
            </a:r>
            <a:r>
              <a:rPr lang="en-US" sz="2000" b="1" dirty="0"/>
              <a:t>design is correct</a:t>
            </a:r>
            <a:r>
              <a:rPr lang="en-US" sz="2000" dirty="0"/>
              <a:t> before writing any code.</a:t>
            </a:r>
          </a:p>
          <a:p>
            <a:pPr algn="ctr"/>
            <a:r>
              <a:rPr lang="en-US" sz="2000" b="1" dirty="0"/>
              <a:t>Formal modelling: “Prove it.” </a:t>
            </a:r>
          </a:p>
          <a:p>
            <a:pPr algn="ctr"/>
            <a:r>
              <a:rPr lang="en-US" sz="2000" b="1" dirty="0"/>
              <a:t>Programming: “Make it run.”</a:t>
            </a:r>
          </a:p>
        </p:txBody>
      </p:sp>
    </p:spTree>
    <p:extLst>
      <p:ext uri="{BB962C8B-B14F-4D97-AF65-F5344CB8AC3E}">
        <p14:creationId xmlns:p14="http://schemas.microsoft.com/office/powerpoint/2010/main" val="371161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35D68-1B83-13F8-F450-3DE18C399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74" y="793412"/>
            <a:ext cx="8645652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Informal  -  Semi-Formal  -  Formal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9F90D7-32E8-6C54-01F1-CE8C810A5E53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9" name="Picture 8" descr="A screenshot of a qr code&#10;&#10;AI-generated content may be incorrect.">
            <a:extLst>
              <a:ext uri="{FF2B5EF4-FFF2-40B4-BE49-F238E27FC236}">
                <a16:creationId xmlns:a16="http://schemas.microsoft.com/office/drawing/2014/main" id="{4804BDDB-7786-ED66-CD70-791E1ACB5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503" y="1677970"/>
            <a:ext cx="3186993" cy="509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543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37" y="0"/>
            <a:ext cx="8528726" cy="11430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chemeClr val="tx2"/>
                </a:solidFill>
              </a:rPr>
              <a:t>Historical Context &amp; Famous Failures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7637" y="1325563"/>
            <a:ext cx="852872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2000" b="1" dirty="0"/>
              <a:t>Software Crisis of 1960s-70s:</a:t>
            </a:r>
          </a:p>
          <a:p>
            <a:r>
              <a:rPr sz="2000" dirty="0"/>
              <a:t>Problem: Projects consistently over budget, late, unreliable</a:t>
            </a:r>
          </a:p>
          <a:p>
            <a:r>
              <a:rPr sz="2000" dirty="0"/>
              <a:t>NATO Conference (1968): Coined "software engineering"</a:t>
            </a:r>
          </a:p>
          <a:p>
            <a:r>
              <a:rPr sz="2000" dirty="0"/>
              <a:t>Response: Need for </a:t>
            </a:r>
            <a:r>
              <a:rPr sz="2000" b="1" dirty="0"/>
              <a:t>more rigorous </a:t>
            </a:r>
            <a:r>
              <a:rPr sz="2000" dirty="0"/>
              <a:t>development methods</a:t>
            </a:r>
          </a:p>
          <a:p>
            <a:endParaRPr lang="en-US" sz="2000" dirty="0"/>
          </a:p>
          <a:p>
            <a:endParaRPr sz="2000" dirty="0"/>
          </a:p>
          <a:p>
            <a:pPr marL="0" indent="0">
              <a:buNone/>
            </a:pPr>
            <a:r>
              <a:rPr sz="2000" b="1" dirty="0"/>
              <a:t>Costly Software Failures:</a:t>
            </a:r>
          </a:p>
          <a:p>
            <a:r>
              <a:rPr sz="2000" dirty="0"/>
              <a:t>1994 - Intel Pentium: Floating-point division bug ($475 million recall)</a:t>
            </a:r>
          </a:p>
          <a:p>
            <a:r>
              <a:rPr sz="2000" dirty="0"/>
              <a:t>1996 - Ariane 5: Integer overflow in guidance ($370 million rocket destroyed)</a:t>
            </a:r>
          </a:p>
          <a:p>
            <a:r>
              <a:rPr sz="2000" dirty="0"/>
              <a:t>1999 - Mars Climate Orbiter: Unit conversion error ($125 million spacecraft lost)</a:t>
            </a:r>
          </a:p>
          <a:p>
            <a:r>
              <a:rPr sz="2000" dirty="0"/>
              <a:t>2003 - Northeast Blackout: Race condition in alarm system (55 million people affected)</a:t>
            </a:r>
          </a:p>
          <a:p>
            <a:pPr marL="0" indent="0">
              <a:buNone/>
            </a:pPr>
            <a:endParaRPr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37" y="0"/>
            <a:ext cx="8528726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Types of Formal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600201"/>
            <a:ext cx="852872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600" b="1" dirty="0"/>
              <a:t>Specification Methods:</a:t>
            </a:r>
          </a:p>
          <a:p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Z Notation</a:t>
            </a:r>
            <a:r>
              <a:rPr sz="1600" dirty="0"/>
              <a:t>: Set theory, predicate logic → Data-intensive systems → Z/EVES, CZT</a:t>
            </a:r>
          </a:p>
          <a:p>
            <a:r>
              <a:rPr sz="1600" b="1" dirty="0">
                <a:solidFill>
                  <a:schemeClr val="tx2"/>
                </a:solidFill>
              </a:rPr>
              <a:t>B Method</a:t>
            </a:r>
            <a:r>
              <a:rPr sz="1600" dirty="0"/>
              <a:t>: Set theory, refinement → Sequential systems → Atelier B, </a:t>
            </a:r>
            <a:r>
              <a:rPr sz="1600" dirty="0" err="1"/>
              <a:t>ProB</a:t>
            </a:r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Event-B</a:t>
            </a:r>
            <a:r>
              <a:rPr sz="1600" dirty="0"/>
              <a:t>: Set theory, events → Distributed/concurrent systems → Rodin Platform</a:t>
            </a:r>
          </a:p>
          <a:p>
            <a:r>
              <a:rPr sz="1600" b="1" dirty="0">
                <a:solidFill>
                  <a:schemeClr val="tx2"/>
                </a:solidFill>
              </a:rPr>
              <a:t>VDM</a:t>
            </a:r>
            <a:r>
              <a:rPr sz="1600" dirty="0"/>
              <a:t>: Model-based specification → Sequential systems → </a:t>
            </a:r>
            <a:r>
              <a:rPr sz="1600" dirty="0" err="1"/>
              <a:t>VDMTools</a:t>
            </a:r>
            <a:r>
              <a:rPr sz="1600" dirty="0"/>
              <a:t>, Overture</a:t>
            </a:r>
          </a:p>
          <a:p>
            <a:r>
              <a:rPr sz="1600" b="1" dirty="0">
                <a:solidFill>
                  <a:schemeClr val="tx2"/>
                </a:solidFill>
              </a:rPr>
              <a:t>CSP</a:t>
            </a:r>
            <a:r>
              <a:rPr sz="1600" dirty="0"/>
              <a:t>: Process algebra → Concurrent systems → FDR, PAT</a:t>
            </a:r>
          </a:p>
          <a:p>
            <a:r>
              <a:rPr sz="1600" b="1" dirty="0">
                <a:solidFill>
                  <a:schemeClr val="tx2"/>
                </a:solidFill>
              </a:rPr>
              <a:t>TLA+</a:t>
            </a:r>
            <a:r>
              <a:rPr sz="1600" dirty="0"/>
              <a:t>: Temporal logic, set theory → Distributed systems → TLC, TLAPS</a:t>
            </a:r>
          </a:p>
          <a:p>
            <a:endParaRPr sz="1600" b="1" dirty="0"/>
          </a:p>
          <a:p>
            <a:pPr marL="0" indent="0">
              <a:buNone/>
            </a:pPr>
            <a:r>
              <a:rPr sz="1600" b="1" dirty="0"/>
              <a:t>Verification Methods:</a:t>
            </a:r>
          </a:p>
          <a:p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Model Checking: </a:t>
            </a:r>
            <a:r>
              <a:rPr lang="en-US" sz="1600" dirty="0"/>
              <a:t>Automatically explores all possible system states to ensure no bad behavior can occur </a:t>
            </a:r>
            <a:r>
              <a:rPr lang="en-001" sz="1600" dirty="0"/>
              <a:t>→ </a:t>
            </a:r>
            <a:r>
              <a:rPr sz="1600" dirty="0"/>
              <a:t>Exhaustive state space exploration</a:t>
            </a:r>
          </a:p>
          <a:p>
            <a:r>
              <a:rPr sz="1600" b="1" dirty="0">
                <a:solidFill>
                  <a:schemeClr val="tx2"/>
                </a:solidFill>
              </a:rPr>
              <a:t>Theorem Proving: </a:t>
            </a:r>
            <a:r>
              <a:rPr sz="1600" dirty="0"/>
              <a:t>Interactive proof construction</a:t>
            </a:r>
            <a:r>
              <a:rPr lang="en-US" sz="1600" dirty="0"/>
              <a:t>: uses mathematical logic and proofs (often with human guidance, Interactive) to show a system always meets its specification.</a:t>
            </a:r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Static Analysis: </a:t>
            </a:r>
            <a:r>
              <a:rPr lang="en-US" sz="1600" dirty="0"/>
              <a:t>Analyzes source code without running it to find potential bugs and vulnerabilities.</a:t>
            </a:r>
            <a:endParaRPr sz="1600" dirty="0"/>
          </a:p>
          <a:p>
            <a:r>
              <a:rPr sz="1600" b="1" dirty="0">
                <a:solidFill>
                  <a:schemeClr val="tx2"/>
                </a:solidFill>
              </a:rPr>
              <a:t>Runtime Verification: </a:t>
            </a:r>
            <a:r>
              <a:rPr lang="en-US" sz="1600" dirty="0"/>
              <a:t>Monitors a running system to ensure its behavior matches expected properties during execution.</a:t>
            </a:r>
            <a:endParaRPr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899" y="0"/>
            <a:ext cx="8596819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When to Use Formal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325563"/>
            <a:ext cx="859681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Strong Candidates:</a:t>
            </a:r>
          </a:p>
          <a:p>
            <a:r>
              <a:rPr sz="1800" b="1" dirty="0"/>
              <a:t>Safety-critical systems</a:t>
            </a:r>
            <a:r>
              <a:rPr sz="1800" dirty="0"/>
              <a:t>: Lives depend on correctness</a:t>
            </a:r>
          </a:p>
          <a:p>
            <a:r>
              <a:rPr sz="1800" b="1" dirty="0"/>
              <a:t>Security-critical systems</a:t>
            </a:r>
            <a:r>
              <a:rPr sz="1800" dirty="0"/>
              <a:t>: High-value assets to protect</a:t>
            </a:r>
          </a:p>
          <a:p>
            <a:r>
              <a:rPr sz="1800" b="1" dirty="0"/>
              <a:t>High-cost failures</a:t>
            </a:r>
            <a:r>
              <a:rPr sz="1800" dirty="0"/>
              <a:t>: Financial impact of bugs is severe</a:t>
            </a:r>
          </a:p>
          <a:p>
            <a:r>
              <a:rPr sz="1800" dirty="0"/>
              <a:t>Regulatory requirements: Standards mandate formal methods</a:t>
            </a:r>
          </a:p>
          <a:p>
            <a:r>
              <a:rPr sz="1800" dirty="0"/>
              <a:t>Complex concurrent systems: Race conditions possible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sz="1800" b="1" dirty="0"/>
              <a:t>Cost-Benefit Analysis:</a:t>
            </a:r>
          </a:p>
          <a:p>
            <a:r>
              <a:rPr sz="1800" b="1" dirty="0"/>
              <a:t>Learning curve</a:t>
            </a:r>
            <a:r>
              <a:rPr sz="1800" dirty="0"/>
              <a:t>: </a:t>
            </a:r>
            <a:r>
              <a:rPr lang="en-US" sz="1800" dirty="0"/>
              <a:t>High initial training effort → pays off through fewer defects and rework</a:t>
            </a:r>
          </a:p>
          <a:p>
            <a:r>
              <a:rPr lang="en-US" sz="1800" b="1" dirty="0"/>
              <a:t>Tooling Costs:</a:t>
            </a:r>
            <a:r>
              <a:rPr lang="en-US" sz="1800" dirty="0"/>
              <a:t> Licensing investment → typically positive ROI in high-assurance domains</a:t>
            </a:r>
          </a:p>
          <a:p>
            <a:r>
              <a:rPr lang="en-US" sz="1800" b="1" dirty="0"/>
              <a:t>Specification Effort:</a:t>
            </a:r>
            <a:r>
              <a:rPr lang="en-US" sz="1800" dirty="0"/>
              <a:t> Requires upfront rigor → yields clearer requirements and fewer design errors</a:t>
            </a:r>
          </a:p>
          <a:p>
            <a:r>
              <a:rPr lang="en-US" sz="1800" b="1" dirty="0"/>
              <a:t>Maintenance:</a:t>
            </a:r>
            <a:r>
              <a:rPr lang="en-US" sz="1800" dirty="0"/>
              <a:t> Moderate ongoing effort → improved system maintainability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2FFA0-B78F-3481-A7E1-D423229C7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1D920-2DA5-B40B-0D81-DF99AAF2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172" y="783287"/>
            <a:ext cx="8645652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When to use Formal Methods (FM)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73B3B-7FBF-A469-1150-0D106E0A6E8C}"/>
              </a:ext>
            </a:extLst>
          </p:cNvPr>
          <p:cNvSpPr txBox="1"/>
          <p:nvPr/>
        </p:nvSpPr>
        <p:spPr>
          <a:xfrm>
            <a:off x="1060609" y="260067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9" name="Picture 8" descr="A screen shot of a qr code&#10;&#10;AI-generated content may be incorrect.">
            <a:extLst>
              <a:ext uri="{FF2B5EF4-FFF2-40B4-BE49-F238E27FC236}">
                <a16:creationId xmlns:a16="http://schemas.microsoft.com/office/drawing/2014/main" id="{1DADB89A-3552-F230-FED6-02C09535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781" y="1771524"/>
            <a:ext cx="3036712" cy="482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694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899" y="0"/>
            <a:ext cx="8596819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Industry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899" y="1166018"/>
            <a:ext cx="859681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Aerospace &amp; Defense:</a:t>
            </a:r>
          </a:p>
          <a:p>
            <a:r>
              <a:rPr sz="1800" dirty="0"/>
              <a:t>Flight Control Systems: Airbus A380 uses SCADE</a:t>
            </a:r>
          </a:p>
          <a:p>
            <a:r>
              <a:rPr sz="1800" dirty="0"/>
              <a:t>Avionics Software: DO-</a:t>
            </a:r>
            <a:r>
              <a:rPr lang="en-US" sz="1800" dirty="0"/>
              <a:t>333</a:t>
            </a:r>
            <a:r>
              <a:rPr sz="1800" dirty="0"/>
              <a:t> </a:t>
            </a:r>
            <a:r>
              <a:rPr lang="en-US" sz="1800" dirty="0"/>
              <a:t>recommends</a:t>
            </a:r>
            <a:r>
              <a:rPr sz="1800" dirty="0"/>
              <a:t> formal methods for Level A</a:t>
            </a:r>
          </a:p>
          <a:p>
            <a:r>
              <a:rPr sz="1800" dirty="0"/>
              <a:t>Satellite Systems: NASA uses formal verification</a:t>
            </a:r>
          </a:p>
          <a:p>
            <a:r>
              <a:rPr sz="1800" dirty="0"/>
              <a:t>Military Systems: Cryptographic protocols</a:t>
            </a:r>
          </a:p>
          <a:p>
            <a:pPr marL="0" indent="0">
              <a:buNone/>
            </a:pPr>
            <a:r>
              <a:rPr sz="1800" b="1" dirty="0"/>
              <a:t>Transportation:</a:t>
            </a:r>
          </a:p>
          <a:p>
            <a:r>
              <a:rPr sz="1800" dirty="0"/>
              <a:t>Paris Metro Line 14: Event-B for automatic train control</a:t>
            </a:r>
          </a:p>
          <a:p>
            <a:r>
              <a:rPr sz="1800" dirty="0"/>
              <a:t>Railway Signaling: B Method for interlocking systems</a:t>
            </a:r>
          </a:p>
          <a:p>
            <a:r>
              <a:rPr sz="1800" dirty="0"/>
              <a:t>Automotive: ISO 26262 promotes formal methods</a:t>
            </a:r>
          </a:p>
          <a:p>
            <a:pPr marL="0" indent="0">
              <a:buNone/>
            </a:pPr>
            <a:r>
              <a:rPr sz="1800" b="1" dirty="0"/>
              <a:t>Medical Devices:</a:t>
            </a:r>
          </a:p>
          <a:p>
            <a:r>
              <a:rPr sz="1800" dirty="0"/>
              <a:t>Pacemakers: Boston Scientific uses formal verification</a:t>
            </a:r>
          </a:p>
          <a:p>
            <a:r>
              <a:rPr sz="1800" dirty="0"/>
              <a:t>Insulin Pumps: FDA encourages formal methods</a:t>
            </a:r>
          </a:p>
          <a:p>
            <a:r>
              <a:rPr sz="1800" dirty="0"/>
              <a:t>Radiation Therapy: Post-Therac-25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CDEDF0-2BAD-A362-1BD1-680540F73800}"/>
              </a:ext>
            </a:extLst>
          </p:cNvPr>
          <p:cNvSpPr txBox="1"/>
          <p:nvPr/>
        </p:nvSpPr>
        <p:spPr>
          <a:xfrm>
            <a:off x="2026118" y="5616688"/>
            <a:ext cx="526165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Success Story - Paris Metro Line 14:</a:t>
            </a:r>
          </a:p>
          <a:p>
            <a:pPr algn="ctr"/>
            <a:r>
              <a:rPr lang="en-US" sz="2000" dirty="0"/>
              <a:t>Event-B for Automatic Train Operation system</a:t>
            </a:r>
          </a:p>
          <a:p>
            <a:pPr algn="ctr"/>
            <a:r>
              <a:rPr lang="en-US" sz="2000" dirty="0"/>
              <a:t>Zero safety incidents since 1998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4688-61E8-5FBA-5B43-48802BDB9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005E2-863E-C50B-1D11-4AC026AB3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85000" lnSpcReduction="20000"/>
          </a:bodyPr>
          <a:lstStyle/>
          <a:p>
            <a:r>
              <a:rPr lang="en-001" b="1" dirty="0"/>
              <a:t>What is a Formal Method (</a:t>
            </a:r>
            <a:r>
              <a:rPr lang="en-001" sz="2800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): </a:t>
            </a:r>
          </a:p>
          <a:p>
            <a:pPr marL="0" indent="0">
              <a:buNone/>
            </a:pPr>
            <a:r>
              <a:rPr lang="en-001" dirty="0"/>
              <a:t>     mathematical techniques to specify and verify sw and hw systems </a:t>
            </a:r>
          </a:p>
          <a:p>
            <a:r>
              <a:rPr lang="en-001" b="1" dirty="0"/>
              <a:t>Why </a:t>
            </a:r>
            <a:r>
              <a:rPr lang="en-001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earlier bug detection</a:t>
            </a:r>
          </a:p>
          <a:p>
            <a:r>
              <a:rPr lang="en-001" b="1" dirty="0"/>
              <a:t>When</a:t>
            </a:r>
            <a:r>
              <a:rPr lang="en-001" b="1" dirty="0">
                <a:solidFill>
                  <a:schemeClr val="tx2"/>
                </a:solidFill>
              </a:rPr>
              <a:t> 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Safety-critical and Security-critical Systems</a:t>
            </a:r>
          </a:p>
          <a:p>
            <a:r>
              <a:rPr lang="en-001" b="1" dirty="0"/>
              <a:t>Types of </a:t>
            </a:r>
            <a:r>
              <a:rPr lang="en-001" b="1" dirty="0">
                <a:solidFill>
                  <a:schemeClr val="tx2"/>
                </a:solidFill>
              </a:rPr>
              <a:t>FM</a:t>
            </a:r>
            <a:r>
              <a:rPr lang="en-001" b="1" dirty="0"/>
              <a:t>: </a:t>
            </a:r>
          </a:p>
          <a:p>
            <a:pPr marL="0" indent="0">
              <a:buNone/>
            </a:pPr>
            <a:r>
              <a:rPr lang="en-001" dirty="0"/>
              <a:t>     Z, B, Event-B, CPS, TLA, …</a:t>
            </a: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Systems Engineering Principles and Practice, Alexander </a:t>
            </a:r>
            <a:r>
              <a:rPr lang="en-US" dirty="0" err="1"/>
              <a:t>Kossiakoff</a:t>
            </a:r>
            <a:r>
              <a:rPr lang="en-US" dirty="0"/>
              <a:t> et. al., 2011</a:t>
            </a:r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Abrial, 2010</a:t>
            </a:r>
          </a:p>
          <a:p>
            <a:pPr marL="342900" lvl="1" indent="0">
              <a:buNone/>
            </a:pPr>
            <a:endParaRPr lang="en-001" dirty="0"/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0D07EC-CEEC-F4D4-4ABA-33F8231B0214}"/>
              </a:ext>
            </a:extLst>
          </p:cNvPr>
          <p:cNvSpPr txBox="1"/>
          <p:nvPr/>
        </p:nvSpPr>
        <p:spPr>
          <a:xfrm>
            <a:off x="1002472" y="4191377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207845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27097</TotalTime>
  <Words>1083</Words>
  <Application>Microsoft Macintosh PowerPoint</Application>
  <PresentationFormat>On-screen Show (4:3)</PresentationFormat>
  <Paragraphs>159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Wingdings</vt:lpstr>
      <vt:lpstr>Office Theme</vt:lpstr>
      <vt:lpstr> AICE2005 - Systematic Design  Formal Specification and Verification</vt:lpstr>
      <vt:lpstr>Week 4-5 Overview</vt:lpstr>
      <vt:lpstr>LECTURE 1:   INTRODUCTION TO FORMAL METHODS </vt:lpstr>
      <vt:lpstr>Lecture 1 Overview</vt:lpstr>
      <vt:lpstr>Why Formal Methods?</vt:lpstr>
      <vt:lpstr>What are Formal Methods?</vt:lpstr>
      <vt:lpstr>Formal Modelling vs Programming</vt:lpstr>
      <vt:lpstr>Informal  -  Semi-Formal  -  Formal</vt:lpstr>
      <vt:lpstr>Historical Context &amp; Famous Failures</vt:lpstr>
      <vt:lpstr>Types of Formal Methods</vt:lpstr>
      <vt:lpstr>When to Use Formal Methods</vt:lpstr>
      <vt:lpstr>When to use Formal Methods (FM)</vt:lpstr>
      <vt:lpstr>Industry Applications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33</cp:revision>
  <dcterms:created xsi:type="dcterms:W3CDTF">2013-01-27T09:14:16Z</dcterms:created>
  <dcterms:modified xsi:type="dcterms:W3CDTF">2026-10-12T12:52:44Z</dcterms:modified>
  <cp:category/>
</cp:coreProperties>
</file>