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1558800"/>
            <a:ext cx="85212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Software Architecture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2454120"/>
            <a:ext cx="106387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Models: Monolithic, N-Tier,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3349440"/>
            <a:ext cx="1014948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and Microservices Models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62120" y="4483800"/>
            <a:ext cx="741600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structure, trade-oﬀs, and evolution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4095720" y="2232360"/>
            <a:ext cx="438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244760" y="2689560"/>
            <a:ext cx="643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Describe the deﬁning characteristics of monolithic, N-tier,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502160" y="2994480"/>
            <a:ext cx="2747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microservices architectures.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244760" y="3346920"/>
            <a:ext cx="670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Compare the strengths, weaknesses, and ideal use cases for each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02160" y="3651480"/>
            <a:ext cx="677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244760" y="4003920"/>
            <a:ext cx="6068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how architectural evolution inﬂuences deployment,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502160" y="4308840"/>
            <a:ext cx="2851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scalability, and maintenance.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"/>
          <p:cNvSpPr txBox="1"/>
          <p:nvPr/>
        </p:nvSpPr>
        <p:spPr>
          <a:xfrm>
            <a:off x="762120" y="3146760"/>
            <a:ext cx="980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 software engineering, architecture is the fundamental organisation of a system—its components,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62120" y="3451680"/>
            <a:ext cx="366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relationships, and guiding principles.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62120" y="3908880"/>
            <a:ext cx="1010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Architecture articulates a strategic balance between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delivery speed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operational stability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and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62120" y="4204080"/>
            <a:ext cx="822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evolution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 We explore this balance by contrasting three widely adopted paradigms.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62120" y="372600"/>
            <a:ext cx="102884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 as System Structure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"/>
          <p:cNvSpPr txBox="1"/>
          <p:nvPr/>
        </p:nvSpPr>
        <p:spPr>
          <a:xfrm>
            <a:off x="762120" y="3022920"/>
            <a:ext cx="972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 architecture evolution reﬂects a move from tight coupling toward modular independence.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62120" y="-8280"/>
            <a:ext cx="7224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Evolution of Enterprise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766440" y="3452760"/>
            <a:ext cx="10658880" cy="1143360"/>
          </a:xfrm>
          <a:custGeom>
            <a:avLst/>
            <a:gdLst/>
            <a:ahLst/>
            <a:rect l="0" t="0" r="r" b="b"/>
            <a:pathLst>
              <a:path w="29608" h="3176">
                <a:moveTo>
                  <a:pt x="0" y="30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030"/>
                </a:lnTo>
                <a:cubicBezTo>
                  <a:pt x="29608" y="3040"/>
                  <a:pt x="29607" y="3049"/>
                  <a:pt x="29605" y="3059"/>
                </a:cubicBezTo>
                <a:cubicBezTo>
                  <a:pt x="29604" y="3068"/>
                  <a:pt x="29601" y="3077"/>
                  <a:pt x="29597" y="3086"/>
                </a:cubicBezTo>
                <a:cubicBezTo>
                  <a:pt x="29594" y="3095"/>
                  <a:pt x="29589" y="3103"/>
                  <a:pt x="29584" y="3111"/>
                </a:cubicBezTo>
                <a:cubicBezTo>
                  <a:pt x="29578" y="3119"/>
                  <a:pt x="29572" y="3126"/>
                  <a:pt x="29566" y="3133"/>
                </a:cubicBezTo>
                <a:cubicBezTo>
                  <a:pt x="29559" y="3140"/>
                  <a:pt x="29552" y="3146"/>
                  <a:pt x="29544" y="3151"/>
                </a:cubicBezTo>
                <a:cubicBezTo>
                  <a:pt x="29536" y="3156"/>
                  <a:pt x="29527" y="3161"/>
                  <a:pt x="29518" y="3165"/>
                </a:cubicBezTo>
                <a:cubicBezTo>
                  <a:pt x="29510" y="3168"/>
                  <a:pt x="29501" y="3171"/>
                  <a:pt x="29491" y="3173"/>
                </a:cubicBezTo>
                <a:cubicBezTo>
                  <a:pt x="29482" y="3175"/>
                  <a:pt x="29472" y="3176"/>
                  <a:pt x="29463" y="3176"/>
                </a:cubicBezTo>
                <a:lnTo>
                  <a:pt x="146" y="3176"/>
                </a:lnTo>
                <a:cubicBezTo>
                  <a:pt x="136" y="3176"/>
                  <a:pt x="127" y="3175"/>
                  <a:pt x="118" y="3173"/>
                </a:cubicBezTo>
                <a:cubicBezTo>
                  <a:pt x="108" y="3171"/>
                  <a:pt x="99" y="3168"/>
                  <a:pt x="90" y="3165"/>
                </a:cubicBezTo>
                <a:cubicBezTo>
                  <a:pt x="81" y="3161"/>
                  <a:pt x="73" y="3156"/>
                  <a:pt x="65" y="3151"/>
                </a:cubicBezTo>
                <a:cubicBezTo>
                  <a:pt x="57" y="3146"/>
                  <a:pt x="50" y="3140"/>
                  <a:pt x="43" y="3133"/>
                </a:cubicBezTo>
                <a:cubicBezTo>
                  <a:pt x="36" y="3126"/>
                  <a:pt x="30" y="3119"/>
                  <a:pt x="25" y="3111"/>
                </a:cubicBezTo>
                <a:cubicBezTo>
                  <a:pt x="20" y="3103"/>
                  <a:pt x="15" y="3095"/>
                  <a:pt x="11" y="3086"/>
                </a:cubicBezTo>
                <a:cubicBezTo>
                  <a:pt x="8" y="3077"/>
                  <a:pt x="5" y="3068"/>
                  <a:pt x="3" y="3059"/>
                </a:cubicBezTo>
                <a:cubicBezTo>
                  <a:pt x="1" y="3049"/>
                  <a:pt x="0" y="3040"/>
                  <a:pt x="0" y="303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766440" y="3452760"/>
            <a:ext cx="10658880" cy="1143360"/>
          </a:xfrm>
          <a:custGeom>
            <a:avLst/>
            <a:gdLst/>
            <a:ahLst/>
            <a:rect l="0" t="0" r="r" b="b"/>
            <a:pathLst>
              <a:path fill="none" w="29608" h="3176">
                <a:moveTo>
                  <a:pt x="0" y="30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030"/>
                </a:lnTo>
                <a:cubicBezTo>
                  <a:pt x="29608" y="3040"/>
                  <a:pt x="29607" y="3049"/>
                  <a:pt x="29605" y="3059"/>
                </a:cubicBezTo>
                <a:cubicBezTo>
                  <a:pt x="29604" y="3068"/>
                  <a:pt x="29601" y="3077"/>
                  <a:pt x="29597" y="3086"/>
                </a:cubicBezTo>
                <a:cubicBezTo>
                  <a:pt x="29594" y="3095"/>
                  <a:pt x="29589" y="3103"/>
                  <a:pt x="29584" y="3111"/>
                </a:cubicBezTo>
                <a:cubicBezTo>
                  <a:pt x="29578" y="3119"/>
                  <a:pt x="29572" y="3126"/>
                  <a:pt x="29566" y="3133"/>
                </a:cubicBezTo>
                <a:cubicBezTo>
                  <a:pt x="29559" y="3140"/>
                  <a:pt x="29552" y="3146"/>
                  <a:pt x="29544" y="3151"/>
                </a:cubicBezTo>
                <a:cubicBezTo>
                  <a:pt x="29536" y="3156"/>
                  <a:pt x="29527" y="3161"/>
                  <a:pt x="29518" y="3165"/>
                </a:cubicBezTo>
                <a:cubicBezTo>
                  <a:pt x="29510" y="3168"/>
                  <a:pt x="29501" y="3171"/>
                  <a:pt x="29491" y="3173"/>
                </a:cubicBezTo>
                <a:cubicBezTo>
                  <a:pt x="29482" y="3175"/>
                  <a:pt x="29472" y="3176"/>
                  <a:pt x="29463" y="3176"/>
                </a:cubicBezTo>
                <a:lnTo>
                  <a:pt x="146" y="3176"/>
                </a:lnTo>
                <a:cubicBezTo>
                  <a:pt x="136" y="3176"/>
                  <a:pt x="127" y="3175"/>
                  <a:pt x="118" y="3173"/>
                </a:cubicBezTo>
                <a:cubicBezTo>
                  <a:pt x="108" y="3171"/>
                  <a:pt x="99" y="3168"/>
                  <a:pt x="90" y="3165"/>
                </a:cubicBezTo>
                <a:cubicBezTo>
                  <a:pt x="81" y="3161"/>
                  <a:pt x="73" y="3156"/>
                  <a:pt x="65" y="3151"/>
                </a:cubicBezTo>
                <a:cubicBezTo>
                  <a:pt x="57" y="3146"/>
                  <a:pt x="50" y="3140"/>
                  <a:pt x="43" y="3133"/>
                </a:cubicBezTo>
                <a:cubicBezTo>
                  <a:pt x="36" y="3126"/>
                  <a:pt x="30" y="3119"/>
                  <a:pt x="25" y="3111"/>
                </a:cubicBezTo>
                <a:cubicBezTo>
                  <a:pt x="20" y="3103"/>
                  <a:pt x="15" y="3095"/>
                  <a:pt x="11" y="3086"/>
                </a:cubicBezTo>
                <a:cubicBezTo>
                  <a:pt x="8" y="3077"/>
                  <a:pt x="5" y="3068"/>
                  <a:pt x="3" y="3059"/>
                </a:cubicBezTo>
                <a:cubicBezTo>
                  <a:pt x="1" y="3049"/>
                  <a:pt x="0" y="3040"/>
                  <a:pt x="0" y="303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62120" y="753480"/>
            <a:ext cx="3860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23760" y="3556800"/>
            <a:ext cx="2200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Monolithic (pre-2000s)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23760" y="3833280"/>
            <a:ext cx="2257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Uniﬁed codebases, single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23760" y="4109400"/>
            <a:ext cx="1933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deployment artefacts.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304880" y="3556800"/>
            <a:ext cx="1363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N-tier (2000s)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304880" y="3833280"/>
            <a:ext cx="3150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Layered separation of presentation,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304880" y="4109400"/>
            <a:ext cx="2409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application logic, and data.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813440" y="3556800"/>
            <a:ext cx="288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Microservices (2010s–present)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813440" y="3833280"/>
            <a:ext cx="3362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Distributed services with independent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813440" y="4109400"/>
            <a:ext cx="1105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deployment.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361800" y="324000"/>
            <a:ext cx="2923920" cy="621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4419720" y="3375360"/>
            <a:ext cx="6815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monolithic architecture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packages all functionality—user interface,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419720" y="3680280"/>
            <a:ext cx="694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business logic, and data access—into a single executable. Deployment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419720" y="3975480"/>
            <a:ext cx="381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scaling are performed as one unit.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8960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419720" y="-8280"/>
            <a:ext cx="3299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Monolithic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419720" y="753480"/>
            <a:ext cx="3860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8960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762120" y="5318640"/>
            <a:ext cx="602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Early e-commerce platforms and legacy ERP suites.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766440" y="2118960"/>
            <a:ext cx="10658880" cy="1467360"/>
          </a:xfrm>
          <a:custGeom>
            <a:avLst/>
            <a:gdLst/>
            <a:ahLst/>
            <a:rect l="0" t="0" r="r" b="b"/>
            <a:pathLst>
              <a:path w="29608" h="4076">
                <a:moveTo>
                  <a:pt x="0" y="3931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1"/>
                </a:lnTo>
                <a:cubicBezTo>
                  <a:pt x="29608" y="3940"/>
                  <a:pt x="29607" y="3950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2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2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50"/>
                  <a:pt x="0" y="3940"/>
                  <a:pt x="0" y="393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766440" y="2118960"/>
            <a:ext cx="10658880" cy="1467360"/>
          </a:xfrm>
          <a:custGeom>
            <a:avLst/>
            <a:gdLst/>
            <a:ahLst/>
            <a:rect l="0" t="0" r="r" b="b"/>
            <a:pathLst>
              <a:path fill="none" w="29608" h="4076">
                <a:moveTo>
                  <a:pt x="0" y="3931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1"/>
                </a:lnTo>
                <a:cubicBezTo>
                  <a:pt x="29608" y="3940"/>
                  <a:pt x="29607" y="3950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2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2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50"/>
                  <a:pt x="0" y="3940"/>
                  <a:pt x="0" y="393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62120" y="372600"/>
            <a:ext cx="7359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Monolithic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104840" y="2647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49"/>
                  <a:pt x="31" y="143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23760" y="222336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104840" y="2962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289520" y="2556720"/>
            <a:ext cx="3901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Simple initial development and deployment.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104840" y="32860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289520" y="2871000"/>
            <a:ext cx="4685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Straightforward debugging within a single codebase.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66440" y="3709800"/>
            <a:ext cx="10658880" cy="1457640"/>
          </a:xfrm>
          <a:custGeom>
            <a:avLst/>
            <a:gdLst/>
            <a:ahLst/>
            <a:rect l="0" t="0" r="r" b="b"/>
            <a:pathLst>
              <a:path w="29608" h="4049">
                <a:moveTo>
                  <a:pt x="0" y="390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04"/>
                </a:lnTo>
                <a:cubicBezTo>
                  <a:pt x="29608" y="3913"/>
                  <a:pt x="29607" y="3923"/>
                  <a:pt x="29605" y="3932"/>
                </a:cubicBezTo>
                <a:cubicBezTo>
                  <a:pt x="29604" y="3941"/>
                  <a:pt x="29601" y="3950"/>
                  <a:pt x="29597" y="3959"/>
                </a:cubicBezTo>
                <a:cubicBezTo>
                  <a:pt x="29594" y="3968"/>
                  <a:pt x="29589" y="3977"/>
                  <a:pt x="29584" y="3984"/>
                </a:cubicBezTo>
                <a:cubicBezTo>
                  <a:pt x="29578" y="3992"/>
                  <a:pt x="29572" y="4000"/>
                  <a:pt x="29566" y="4007"/>
                </a:cubicBezTo>
                <a:cubicBezTo>
                  <a:pt x="29559" y="4013"/>
                  <a:pt x="29552" y="4019"/>
                  <a:pt x="29544" y="4025"/>
                </a:cubicBezTo>
                <a:cubicBezTo>
                  <a:pt x="29536" y="4030"/>
                  <a:pt x="29527" y="4034"/>
                  <a:pt x="29518" y="4038"/>
                </a:cubicBezTo>
                <a:cubicBezTo>
                  <a:pt x="29510" y="4042"/>
                  <a:pt x="29501" y="4044"/>
                  <a:pt x="29491" y="4046"/>
                </a:cubicBezTo>
                <a:cubicBezTo>
                  <a:pt x="29482" y="4048"/>
                  <a:pt x="29472" y="4049"/>
                  <a:pt x="29463" y="4049"/>
                </a:cubicBezTo>
                <a:lnTo>
                  <a:pt x="146" y="4049"/>
                </a:lnTo>
                <a:cubicBezTo>
                  <a:pt x="136" y="4049"/>
                  <a:pt x="127" y="4048"/>
                  <a:pt x="118" y="4046"/>
                </a:cubicBezTo>
                <a:cubicBezTo>
                  <a:pt x="108" y="4044"/>
                  <a:pt x="99" y="4042"/>
                  <a:pt x="90" y="4038"/>
                </a:cubicBezTo>
                <a:cubicBezTo>
                  <a:pt x="81" y="4034"/>
                  <a:pt x="73" y="4030"/>
                  <a:pt x="65" y="4025"/>
                </a:cubicBezTo>
                <a:cubicBezTo>
                  <a:pt x="57" y="4019"/>
                  <a:pt x="50" y="4013"/>
                  <a:pt x="43" y="4007"/>
                </a:cubicBezTo>
                <a:cubicBezTo>
                  <a:pt x="36" y="4000"/>
                  <a:pt x="30" y="3992"/>
                  <a:pt x="25" y="3984"/>
                </a:cubicBezTo>
                <a:cubicBezTo>
                  <a:pt x="20" y="3977"/>
                  <a:pt x="15" y="3968"/>
                  <a:pt x="11" y="3959"/>
                </a:cubicBezTo>
                <a:cubicBezTo>
                  <a:pt x="8" y="3950"/>
                  <a:pt x="5" y="3941"/>
                  <a:pt x="3" y="3932"/>
                </a:cubicBezTo>
                <a:cubicBezTo>
                  <a:pt x="1" y="3923"/>
                  <a:pt x="0" y="3913"/>
                  <a:pt x="0" y="3904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66440" y="3709800"/>
            <a:ext cx="10658880" cy="1457640"/>
          </a:xfrm>
          <a:custGeom>
            <a:avLst/>
            <a:gdLst/>
            <a:ahLst/>
            <a:rect l="0" t="0" r="r" b="b"/>
            <a:pathLst>
              <a:path fill="none" w="29608" h="4049">
                <a:moveTo>
                  <a:pt x="0" y="390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04"/>
                </a:lnTo>
                <a:cubicBezTo>
                  <a:pt x="29608" y="3913"/>
                  <a:pt x="29607" y="3923"/>
                  <a:pt x="29605" y="3932"/>
                </a:cubicBezTo>
                <a:cubicBezTo>
                  <a:pt x="29604" y="3941"/>
                  <a:pt x="29601" y="3950"/>
                  <a:pt x="29597" y="3959"/>
                </a:cubicBezTo>
                <a:cubicBezTo>
                  <a:pt x="29594" y="3968"/>
                  <a:pt x="29589" y="3977"/>
                  <a:pt x="29584" y="3984"/>
                </a:cubicBezTo>
                <a:cubicBezTo>
                  <a:pt x="29578" y="3992"/>
                  <a:pt x="29572" y="4000"/>
                  <a:pt x="29566" y="4007"/>
                </a:cubicBezTo>
                <a:cubicBezTo>
                  <a:pt x="29559" y="4013"/>
                  <a:pt x="29552" y="4019"/>
                  <a:pt x="29544" y="4025"/>
                </a:cubicBezTo>
                <a:cubicBezTo>
                  <a:pt x="29536" y="4030"/>
                  <a:pt x="29527" y="4034"/>
                  <a:pt x="29518" y="4038"/>
                </a:cubicBezTo>
                <a:cubicBezTo>
                  <a:pt x="29510" y="4042"/>
                  <a:pt x="29501" y="4044"/>
                  <a:pt x="29491" y="4046"/>
                </a:cubicBezTo>
                <a:cubicBezTo>
                  <a:pt x="29482" y="4048"/>
                  <a:pt x="29472" y="4049"/>
                  <a:pt x="29463" y="4049"/>
                </a:cubicBezTo>
                <a:lnTo>
                  <a:pt x="146" y="4049"/>
                </a:lnTo>
                <a:cubicBezTo>
                  <a:pt x="136" y="4049"/>
                  <a:pt x="127" y="4048"/>
                  <a:pt x="118" y="4046"/>
                </a:cubicBezTo>
                <a:cubicBezTo>
                  <a:pt x="108" y="4044"/>
                  <a:pt x="99" y="4042"/>
                  <a:pt x="90" y="4038"/>
                </a:cubicBezTo>
                <a:cubicBezTo>
                  <a:pt x="81" y="4034"/>
                  <a:pt x="73" y="4030"/>
                  <a:pt x="65" y="4025"/>
                </a:cubicBezTo>
                <a:cubicBezTo>
                  <a:pt x="57" y="4019"/>
                  <a:pt x="50" y="4013"/>
                  <a:pt x="43" y="4007"/>
                </a:cubicBezTo>
                <a:cubicBezTo>
                  <a:pt x="36" y="4000"/>
                  <a:pt x="30" y="3992"/>
                  <a:pt x="25" y="3984"/>
                </a:cubicBezTo>
                <a:cubicBezTo>
                  <a:pt x="20" y="3977"/>
                  <a:pt x="15" y="3968"/>
                  <a:pt x="11" y="3959"/>
                </a:cubicBezTo>
                <a:cubicBezTo>
                  <a:pt x="8" y="3950"/>
                  <a:pt x="5" y="3941"/>
                  <a:pt x="3" y="3932"/>
                </a:cubicBezTo>
                <a:cubicBezTo>
                  <a:pt x="1" y="3923"/>
                  <a:pt x="0" y="3913"/>
                  <a:pt x="0" y="3904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289520" y="3195000"/>
            <a:ext cx="4867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performance through in-process communication.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104840" y="42289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23760" y="381420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104840" y="45529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289520" y="4137840"/>
            <a:ext cx="5698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Limited horizontal scalability—the entire application must scale.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104840" y="48672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3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289520" y="4461840"/>
            <a:ext cx="5708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Redeploying any change requires redeploying the whole system.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289520" y="4776120"/>
            <a:ext cx="5478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Technology lock-in around a single language and framework.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361800" y="1181160"/>
            <a:ext cx="2923920" cy="448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 txBox="1"/>
          <p:nvPr/>
        </p:nvSpPr>
        <p:spPr>
          <a:xfrm>
            <a:off x="4419720" y="3375360"/>
            <a:ext cx="6771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N-tier (layered) architecture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separates responsibilities across tiers,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419720" y="3680280"/>
            <a:ext cx="6779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typically presentation, application, and data. Layers interact via well-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419720" y="3975480"/>
            <a:ext cx="420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deﬁned interfaces, often REST or RPC APIs.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8960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419720" y="372600"/>
            <a:ext cx="6172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N-Tier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8960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"/>
          <p:cNvSpPr txBox="1"/>
          <p:nvPr/>
        </p:nvSpPr>
        <p:spPr>
          <a:xfrm>
            <a:off x="762120" y="5318640"/>
            <a:ext cx="6334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Online banking portals built with Java EE or .NET MVC.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66440" y="2118960"/>
            <a:ext cx="10658880" cy="1467360"/>
          </a:xfrm>
          <a:custGeom>
            <a:avLst/>
            <a:gdLst/>
            <a:ahLst/>
            <a:rect l="0" t="0" r="r" b="b"/>
            <a:pathLst>
              <a:path w="29608" h="4076">
                <a:moveTo>
                  <a:pt x="0" y="3931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1"/>
                </a:lnTo>
                <a:cubicBezTo>
                  <a:pt x="29608" y="3940"/>
                  <a:pt x="29607" y="3950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2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2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50"/>
                  <a:pt x="0" y="3940"/>
                  <a:pt x="0" y="3931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66440" y="2118960"/>
            <a:ext cx="10658880" cy="1467360"/>
          </a:xfrm>
          <a:custGeom>
            <a:avLst/>
            <a:gdLst/>
            <a:ahLst/>
            <a:rect l="0" t="0" r="r" b="b"/>
            <a:pathLst>
              <a:path fill="none" w="29608" h="4076">
                <a:moveTo>
                  <a:pt x="0" y="3931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1"/>
                </a:lnTo>
                <a:cubicBezTo>
                  <a:pt x="29608" y="3940"/>
                  <a:pt x="29607" y="3950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2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2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50"/>
                  <a:pt x="0" y="3940"/>
                  <a:pt x="0" y="3931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62120" y="372600"/>
            <a:ext cx="6172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N-Tier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104840" y="2647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49"/>
                  <a:pt x="31" y="143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923760" y="222336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104840" y="2962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289520" y="2556720"/>
            <a:ext cx="5391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Separation of concerns improves maintainability and testing.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104840" y="32860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289520" y="2871000"/>
            <a:ext cx="3557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Individual tiers can scale independently.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66440" y="3709800"/>
            <a:ext cx="10658880" cy="1457640"/>
          </a:xfrm>
          <a:custGeom>
            <a:avLst/>
            <a:gdLst/>
            <a:ahLst/>
            <a:rect l="0" t="0" r="r" b="b"/>
            <a:pathLst>
              <a:path w="29608" h="4049">
                <a:moveTo>
                  <a:pt x="0" y="390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04"/>
                </a:lnTo>
                <a:cubicBezTo>
                  <a:pt x="29608" y="3913"/>
                  <a:pt x="29607" y="3923"/>
                  <a:pt x="29605" y="3932"/>
                </a:cubicBezTo>
                <a:cubicBezTo>
                  <a:pt x="29604" y="3941"/>
                  <a:pt x="29601" y="3950"/>
                  <a:pt x="29597" y="3959"/>
                </a:cubicBezTo>
                <a:cubicBezTo>
                  <a:pt x="29594" y="3968"/>
                  <a:pt x="29589" y="3977"/>
                  <a:pt x="29584" y="3984"/>
                </a:cubicBezTo>
                <a:cubicBezTo>
                  <a:pt x="29578" y="3992"/>
                  <a:pt x="29572" y="4000"/>
                  <a:pt x="29566" y="4007"/>
                </a:cubicBezTo>
                <a:cubicBezTo>
                  <a:pt x="29559" y="4013"/>
                  <a:pt x="29552" y="4019"/>
                  <a:pt x="29544" y="4025"/>
                </a:cubicBezTo>
                <a:cubicBezTo>
                  <a:pt x="29536" y="4030"/>
                  <a:pt x="29527" y="4034"/>
                  <a:pt x="29518" y="4038"/>
                </a:cubicBezTo>
                <a:cubicBezTo>
                  <a:pt x="29510" y="4042"/>
                  <a:pt x="29501" y="4044"/>
                  <a:pt x="29491" y="4046"/>
                </a:cubicBezTo>
                <a:cubicBezTo>
                  <a:pt x="29482" y="4048"/>
                  <a:pt x="29472" y="4049"/>
                  <a:pt x="29463" y="4049"/>
                </a:cubicBezTo>
                <a:lnTo>
                  <a:pt x="146" y="4049"/>
                </a:lnTo>
                <a:cubicBezTo>
                  <a:pt x="136" y="4049"/>
                  <a:pt x="127" y="4048"/>
                  <a:pt x="118" y="4046"/>
                </a:cubicBezTo>
                <a:cubicBezTo>
                  <a:pt x="108" y="4044"/>
                  <a:pt x="99" y="4042"/>
                  <a:pt x="90" y="4038"/>
                </a:cubicBezTo>
                <a:cubicBezTo>
                  <a:pt x="81" y="4034"/>
                  <a:pt x="73" y="4030"/>
                  <a:pt x="65" y="4025"/>
                </a:cubicBezTo>
                <a:cubicBezTo>
                  <a:pt x="57" y="4019"/>
                  <a:pt x="50" y="4013"/>
                  <a:pt x="43" y="4007"/>
                </a:cubicBezTo>
                <a:cubicBezTo>
                  <a:pt x="36" y="4000"/>
                  <a:pt x="30" y="3992"/>
                  <a:pt x="25" y="3984"/>
                </a:cubicBezTo>
                <a:cubicBezTo>
                  <a:pt x="20" y="3977"/>
                  <a:pt x="15" y="3968"/>
                  <a:pt x="11" y="3959"/>
                </a:cubicBezTo>
                <a:cubicBezTo>
                  <a:pt x="8" y="3950"/>
                  <a:pt x="5" y="3941"/>
                  <a:pt x="3" y="3932"/>
                </a:cubicBezTo>
                <a:cubicBezTo>
                  <a:pt x="1" y="3923"/>
                  <a:pt x="0" y="3913"/>
                  <a:pt x="0" y="3904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66440" y="3709800"/>
            <a:ext cx="10658880" cy="1457640"/>
          </a:xfrm>
          <a:custGeom>
            <a:avLst/>
            <a:gdLst/>
            <a:ahLst/>
            <a:rect l="0" t="0" r="r" b="b"/>
            <a:pathLst>
              <a:path fill="none" w="29608" h="4049">
                <a:moveTo>
                  <a:pt x="0" y="390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04"/>
                </a:lnTo>
                <a:cubicBezTo>
                  <a:pt x="29608" y="3913"/>
                  <a:pt x="29607" y="3923"/>
                  <a:pt x="29605" y="3932"/>
                </a:cubicBezTo>
                <a:cubicBezTo>
                  <a:pt x="29604" y="3941"/>
                  <a:pt x="29601" y="3950"/>
                  <a:pt x="29597" y="3959"/>
                </a:cubicBezTo>
                <a:cubicBezTo>
                  <a:pt x="29594" y="3968"/>
                  <a:pt x="29589" y="3977"/>
                  <a:pt x="29584" y="3984"/>
                </a:cubicBezTo>
                <a:cubicBezTo>
                  <a:pt x="29578" y="3992"/>
                  <a:pt x="29572" y="4000"/>
                  <a:pt x="29566" y="4007"/>
                </a:cubicBezTo>
                <a:cubicBezTo>
                  <a:pt x="29559" y="4013"/>
                  <a:pt x="29552" y="4019"/>
                  <a:pt x="29544" y="4025"/>
                </a:cubicBezTo>
                <a:cubicBezTo>
                  <a:pt x="29536" y="4030"/>
                  <a:pt x="29527" y="4034"/>
                  <a:pt x="29518" y="4038"/>
                </a:cubicBezTo>
                <a:cubicBezTo>
                  <a:pt x="29510" y="4042"/>
                  <a:pt x="29501" y="4044"/>
                  <a:pt x="29491" y="4046"/>
                </a:cubicBezTo>
                <a:cubicBezTo>
                  <a:pt x="29482" y="4048"/>
                  <a:pt x="29472" y="4049"/>
                  <a:pt x="29463" y="4049"/>
                </a:cubicBezTo>
                <a:lnTo>
                  <a:pt x="146" y="4049"/>
                </a:lnTo>
                <a:cubicBezTo>
                  <a:pt x="136" y="4049"/>
                  <a:pt x="127" y="4048"/>
                  <a:pt x="118" y="4046"/>
                </a:cubicBezTo>
                <a:cubicBezTo>
                  <a:pt x="108" y="4044"/>
                  <a:pt x="99" y="4042"/>
                  <a:pt x="90" y="4038"/>
                </a:cubicBezTo>
                <a:cubicBezTo>
                  <a:pt x="81" y="4034"/>
                  <a:pt x="73" y="4030"/>
                  <a:pt x="65" y="4025"/>
                </a:cubicBezTo>
                <a:cubicBezTo>
                  <a:pt x="57" y="4019"/>
                  <a:pt x="50" y="4013"/>
                  <a:pt x="43" y="4007"/>
                </a:cubicBezTo>
                <a:cubicBezTo>
                  <a:pt x="36" y="4000"/>
                  <a:pt x="30" y="3992"/>
                  <a:pt x="25" y="3984"/>
                </a:cubicBezTo>
                <a:cubicBezTo>
                  <a:pt x="20" y="3977"/>
                  <a:pt x="15" y="3968"/>
                  <a:pt x="11" y="3959"/>
                </a:cubicBezTo>
                <a:cubicBezTo>
                  <a:pt x="8" y="3950"/>
                  <a:pt x="5" y="3941"/>
                  <a:pt x="3" y="3932"/>
                </a:cubicBezTo>
                <a:cubicBezTo>
                  <a:pt x="1" y="3923"/>
                  <a:pt x="0" y="3913"/>
                  <a:pt x="0" y="3904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289520" y="3195000"/>
            <a:ext cx="418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Facilitates integration via APIs and middleware.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104840" y="42289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923760" y="381420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104840" y="45529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289520" y="4137840"/>
            <a:ext cx="430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Network hops introduce latency and complexity.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104840" y="48672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3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289520" y="4461840"/>
            <a:ext cx="5619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Coordination required between teams managing diﬀerent tiers.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289520" y="4776120"/>
            <a:ext cx="4746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Application tier can still become a scaling bottleneck.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0" y="1333440"/>
            <a:ext cx="6095520" cy="418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 txBox="1"/>
          <p:nvPr/>
        </p:nvSpPr>
        <p:spPr>
          <a:xfrm>
            <a:off x="6858000" y="2918160"/>
            <a:ext cx="435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Microservices architecture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decomposes an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858000" y="3223080"/>
            <a:ext cx="4128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application into independently deployable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858000" y="3527640"/>
            <a:ext cx="391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services, each encapsulating a bounded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858000" y="3832560"/>
            <a:ext cx="338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context. Services communicate via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858000" y="4127760"/>
            <a:ext cx="342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synchronous APIs or asynchronous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858000" y="4432680"/>
            <a:ext cx="112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messaging.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33428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858000" y="-8280"/>
            <a:ext cx="4308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Microservices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858000" y="753480"/>
            <a:ext cx="3860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33428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"/>
          <p:cNvSpPr txBox="1"/>
          <p:nvPr/>
        </p:nvSpPr>
        <p:spPr>
          <a:xfrm>
            <a:off x="762120" y="5480280"/>
            <a:ext cx="825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Netﬂix, Amazon, and Spotify underpin their platforms with microservices.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766440" y="1957320"/>
            <a:ext cx="10658880" cy="1781280"/>
          </a:xfrm>
          <a:custGeom>
            <a:avLst/>
            <a:gdLst/>
            <a:ahLst/>
            <a:rect l="0" t="0" r="r" b="b"/>
            <a:pathLst>
              <a:path w="29608" h="4948">
                <a:moveTo>
                  <a:pt x="0" y="480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803"/>
                </a:lnTo>
                <a:cubicBezTo>
                  <a:pt x="29608" y="4812"/>
                  <a:pt x="29607" y="4822"/>
                  <a:pt x="29605" y="4831"/>
                </a:cubicBezTo>
                <a:cubicBezTo>
                  <a:pt x="29604" y="4841"/>
                  <a:pt x="29601" y="4850"/>
                  <a:pt x="29597" y="4859"/>
                </a:cubicBezTo>
                <a:cubicBezTo>
                  <a:pt x="29594" y="4867"/>
                  <a:pt x="29589" y="4876"/>
                  <a:pt x="29584" y="4884"/>
                </a:cubicBezTo>
                <a:cubicBezTo>
                  <a:pt x="29578" y="4892"/>
                  <a:pt x="29572" y="4899"/>
                  <a:pt x="29566" y="4906"/>
                </a:cubicBezTo>
                <a:cubicBezTo>
                  <a:pt x="29559" y="4913"/>
                  <a:pt x="29552" y="4919"/>
                  <a:pt x="29544" y="4924"/>
                </a:cubicBezTo>
                <a:cubicBezTo>
                  <a:pt x="29536" y="4929"/>
                  <a:pt x="29527" y="4934"/>
                  <a:pt x="29518" y="4937"/>
                </a:cubicBezTo>
                <a:cubicBezTo>
                  <a:pt x="29510" y="4941"/>
                  <a:pt x="29501" y="4944"/>
                  <a:pt x="29491" y="4946"/>
                </a:cubicBezTo>
                <a:cubicBezTo>
                  <a:pt x="29482" y="4947"/>
                  <a:pt x="29472" y="4948"/>
                  <a:pt x="29463" y="4948"/>
                </a:cubicBezTo>
                <a:lnTo>
                  <a:pt x="146" y="4948"/>
                </a:lnTo>
                <a:cubicBezTo>
                  <a:pt x="136" y="4948"/>
                  <a:pt x="127" y="4947"/>
                  <a:pt x="118" y="4946"/>
                </a:cubicBezTo>
                <a:cubicBezTo>
                  <a:pt x="108" y="4944"/>
                  <a:pt x="99" y="4941"/>
                  <a:pt x="90" y="4937"/>
                </a:cubicBezTo>
                <a:cubicBezTo>
                  <a:pt x="81" y="4934"/>
                  <a:pt x="73" y="4929"/>
                  <a:pt x="65" y="4924"/>
                </a:cubicBezTo>
                <a:cubicBezTo>
                  <a:pt x="57" y="4919"/>
                  <a:pt x="50" y="4913"/>
                  <a:pt x="43" y="4906"/>
                </a:cubicBezTo>
                <a:cubicBezTo>
                  <a:pt x="36" y="4899"/>
                  <a:pt x="30" y="4892"/>
                  <a:pt x="25" y="4884"/>
                </a:cubicBezTo>
                <a:cubicBezTo>
                  <a:pt x="20" y="4876"/>
                  <a:pt x="15" y="4867"/>
                  <a:pt x="11" y="4859"/>
                </a:cubicBezTo>
                <a:cubicBezTo>
                  <a:pt x="8" y="4850"/>
                  <a:pt x="5" y="4841"/>
                  <a:pt x="3" y="4831"/>
                </a:cubicBezTo>
                <a:cubicBezTo>
                  <a:pt x="1" y="4822"/>
                  <a:pt x="0" y="4812"/>
                  <a:pt x="0" y="4803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766440" y="1957320"/>
            <a:ext cx="10658880" cy="1781280"/>
          </a:xfrm>
          <a:custGeom>
            <a:avLst/>
            <a:gdLst/>
            <a:ahLst/>
            <a:rect l="0" t="0" r="r" b="b"/>
            <a:pathLst>
              <a:path fill="none" w="29608" h="4948">
                <a:moveTo>
                  <a:pt x="0" y="480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803"/>
                </a:lnTo>
                <a:cubicBezTo>
                  <a:pt x="29608" y="4812"/>
                  <a:pt x="29607" y="4822"/>
                  <a:pt x="29605" y="4831"/>
                </a:cubicBezTo>
                <a:cubicBezTo>
                  <a:pt x="29604" y="4841"/>
                  <a:pt x="29601" y="4850"/>
                  <a:pt x="29597" y="4859"/>
                </a:cubicBezTo>
                <a:cubicBezTo>
                  <a:pt x="29594" y="4867"/>
                  <a:pt x="29589" y="4876"/>
                  <a:pt x="29584" y="4884"/>
                </a:cubicBezTo>
                <a:cubicBezTo>
                  <a:pt x="29578" y="4892"/>
                  <a:pt x="29572" y="4899"/>
                  <a:pt x="29566" y="4906"/>
                </a:cubicBezTo>
                <a:cubicBezTo>
                  <a:pt x="29559" y="4913"/>
                  <a:pt x="29552" y="4919"/>
                  <a:pt x="29544" y="4924"/>
                </a:cubicBezTo>
                <a:cubicBezTo>
                  <a:pt x="29536" y="4929"/>
                  <a:pt x="29527" y="4934"/>
                  <a:pt x="29518" y="4937"/>
                </a:cubicBezTo>
                <a:cubicBezTo>
                  <a:pt x="29510" y="4941"/>
                  <a:pt x="29501" y="4944"/>
                  <a:pt x="29491" y="4946"/>
                </a:cubicBezTo>
                <a:cubicBezTo>
                  <a:pt x="29482" y="4947"/>
                  <a:pt x="29472" y="4948"/>
                  <a:pt x="29463" y="4948"/>
                </a:cubicBezTo>
                <a:lnTo>
                  <a:pt x="146" y="4948"/>
                </a:lnTo>
                <a:cubicBezTo>
                  <a:pt x="136" y="4948"/>
                  <a:pt x="127" y="4947"/>
                  <a:pt x="118" y="4946"/>
                </a:cubicBezTo>
                <a:cubicBezTo>
                  <a:pt x="108" y="4944"/>
                  <a:pt x="99" y="4941"/>
                  <a:pt x="90" y="4937"/>
                </a:cubicBezTo>
                <a:cubicBezTo>
                  <a:pt x="81" y="4934"/>
                  <a:pt x="73" y="4929"/>
                  <a:pt x="65" y="4924"/>
                </a:cubicBezTo>
                <a:cubicBezTo>
                  <a:pt x="57" y="4919"/>
                  <a:pt x="50" y="4913"/>
                  <a:pt x="43" y="4906"/>
                </a:cubicBezTo>
                <a:cubicBezTo>
                  <a:pt x="36" y="4899"/>
                  <a:pt x="30" y="4892"/>
                  <a:pt x="25" y="4884"/>
                </a:cubicBezTo>
                <a:cubicBezTo>
                  <a:pt x="20" y="4876"/>
                  <a:pt x="15" y="4867"/>
                  <a:pt x="11" y="4859"/>
                </a:cubicBezTo>
                <a:cubicBezTo>
                  <a:pt x="8" y="4850"/>
                  <a:pt x="5" y="4841"/>
                  <a:pt x="3" y="4831"/>
                </a:cubicBezTo>
                <a:cubicBezTo>
                  <a:pt x="1" y="4822"/>
                  <a:pt x="0" y="4812"/>
                  <a:pt x="0" y="4803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62120" y="372600"/>
            <a:ext cx="8368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Microservices 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104840" y="2485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923760" y="2061360"/>
            <a:ext cx="110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104840" y="2800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289520" y="2395080"/>
            <a:ext cx="5685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Independent development, deployment, and scaling per service.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104840" y="3124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289520" y="2709360"/>
            <a:ext cx="6231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Fault isolation—individual service failures need not topple the system.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104840" y="3447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289520" y="3033000"/>
            <a:ext cx="5356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Technology heterogeneity—teams choose the best-ﬁt stack.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66440" y="3862080"/>
            <a:ext cx="10658880" cy="1467360"/>
          </a:xfrm>
          <a:custGeom>
            <a:avLst/>
            <a:gdLst/>
            <a:ahLst/>
            <a:rect l="0" t="0" r="r" b="b"/>
            <a:pathLst>
              <a:path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766440" y="3862080"/>
            <a:ext cx="10658880" cy="1467360"/>
          </a:xfrm>
          <a:custGeom>
            <a:avLst/>
            <a:gdLst/>
            <a:ahLst/>
            <a:rect l="0" t="0" r="r" b="b"/>
            <a:pathLst>
              <a:path fill="none" w="29608" h="4076">
                <a:moveTo>
                  <a:pt x="0" y="393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930"/>
                </a:lnTo>
                <a:cubicBezTo>
                  <a:pt x="29608" y="3940"/>
                  <a:pt x="29607" y="3949"/>
                  <a:pt x="29605" y="3959"/>
                </a:cubicBezTo>
                <a:cubicBezTo>
                  <a:pt x="29604" y="3968"/>
                  <a:pt x="29601" y="3977"/>
                  <a:pt x="29597" y="3986"/>
                </a:cubicBezTo>
                <a:cubicBezTo>
                  <a:pt x="29594" y="3995"/>
                  <a:pt x="29589" y="4003"/>
                  <a:pt x="29584" y="4011"/>
                </a:cubicBezTo>
                <a:cubicBezTo>
                  <a:pt x="29578" y="4019"/>
                  <a:pt x="29572" y="4027"/>
                  <a:pt x="29566" y="4033"/>
                </a:cubicBezTo>
                <a:cubicBezTo>
                  <a:pt x="29559" y="4040"/>
                  <a:pt x="29552" y="4046"/>
                  <a:pt x="29544" y="4051"/>
                </a:cubicBezTo>
                <a:cubicBezTo>
                  <a:pt x="29536" y="4057"/>
                  <a:pt x="29527" y="4061"/>
                  <a:pt x="29518" y="4065"/>
                </a:cubicBezTo>
                <a:cubicBezTo>
                  <a:pt x="29510" y="4069"/>
                  <a:pt x="29501" y="4071"/>
                  <a:pt x="29491" y="4073"/>
                </a:cubicBezTo>
                <a:cubicBezTo>
                  <a:pt x="29482" y="4075"/>
                  <a:pt x="29472" y="4076"/>
                  <a:pt x="29463" y="4076"/>
                </a:cubicBezTo>
                <a:lnTo>
                  <a:pt x="146" y="4076"/>
                </a:lnTo>
                <a:cubicBezTo>
                  <a:pt x="136" y="4076"/>
                  <a:pt x="127" y="4075"/>
                  <a:pt x="118" y="4073"/>
                </a:cubicBezTo>
                <a:cubicBezTo>
                  <a:pt x="108" y="4071"/>
                  <a:pt x="99" y="4069"/>
                  <a:pt x="90" y="4065"/>
                </a:cubicBezTo>
                <a:cubicBezTo>
                  <a:pt x="81" y="4061"/>
                  <a:pt x="73" y="4057"/>
                  <a:pt x="65" y="4051"/>
                </a:cubicBezTo>
                <a:cubicBezTo>
                  <a:pt x="57" y="4046"/>
                  <a:pt x="50" y="4040"/>
                  <a:pt x="43" y="4033"/>
                </a:cubicBezTo>
                <a:cubicBezTo>
                  <a:pt x="36" y="4027"/>
                  <a:pt x="30" y="4019"/>
                  <a:pt x="25" y="4011"/>
                </a:cubicBezTo>
                <a:cubicBezTo>
                  <a:pt x="20" y="4003"/>
                  <a:pt x="15" y="3995"/>
                  <a:pt x="11" y="3986"/>
                </a:cubicBezTo>
                <a:cubicBezTo>
                  <a:pt x="8" y="3977"/>
                  <a:pt x="5" y="3968"/>
                  <a:pt x="3" y="3959"/>
                </a:cubicBezTo>
                <a:cubicBezTo>
                  <a:pt x="1" y="3949"/>
                  <a:pt x="0" y="3940"/>
                  <a:pt x="0" y="3930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289520" y="3357000"/>
            <a:ext cx="4950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Enables continuous delivery and rapid experimentation.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104840" y="43909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923760" y="3966480"/>
            <a:ext cx="1386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Disadvantages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104840" y="4714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289520" y="4299840"/>
            <a:ext cx="6660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Distributed systems complexity: latency, consistency, monitoring, security.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104840" y="5028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289520" y="4623840"/>
            <a:ext cx="550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Requires mature DevOps, CI/CD, and orchestration platforms.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289520" y="4938120"/>
            <a:ext cx="5842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Higher operational overhead, especially for smaller organisations.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"/>
          <p:cNvSpPr/>
          <p:nvPr/>
        </p:nvSpPr>
        <p:spPr>
          <a:xfrm>
            <a:off x="771480" y="2514240"/>
            <a:ext cx="1695600" cy="429120"/>
          </a:xfrm>
          <a:custGeom>
            <a:avLst/>
            <a:gdLst/>
            <a:ahLst/>
            <a:rect l="0" t="0" r="r" b="b"/>
            <a:pathLst>
              <a:path w="4710" h="1192">
                <a:moveTo>
                  <a:pt x="0" y="0"/>
                </a:moveTo>
                <a:lnTo>
                  <a:pt x="4710" y="0"/>
                </a:lnTo>
                <a:lnTo>
                  <a:pt x="471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466720" y="2514240"/>
            <a:ext cx="2172240" cy="429120"/>
          </a:xfrm>
          <a:custGeom>
            <a:avLst/>
            <a:gdLst/>
            <a:ahLst/>
            <a:rect l="0" t="0" r="r" b="b"/>
            <a:pathLst>
              <a:path w="6034" h="1192">
                <a:moveTo>
                  <a:pt x="0" y="0"/>
                </a:moveTo>
                <a:lnTo>
                  <a:pt x="6034" y="0"/>
                </a:lnTo>
                <a:lnTo>
                  <a:pt x="603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4638600" y="2514240"/>
            <a:ext cx="2791080" cy="429120"/>
          </a:xfrm>
          <a:custGeom>
            <a:avLst/>
            <a:gdLst/>
            <a:ahLst/>
            <a:rect l="0" t="0" r="r" b="b"/>
            <a:pathLst>
              <a:path w="7753" h="1192">
                <a:moveTo>
                  <a:pt x="0" y="0"/>
                </a:moveTo>
                <a:lnTo>
                  <a:pt x="7753" y="0"/>
                </a:lnTo>
                <a:lnTo>
                  <a:pt x="775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429320" y="2514240"/>
            <a:ext cx="3381840" cy="429120"/>
          </a:xfrm>
          <a:custGeom>
            <a:avLst/>
            <a:gdLst/>
            <a:ahLst/>
            <a:rect l="0" t="0" r="r" b="b"/>
            <a:pathLst>
              <a:path w="9394" h="1192">
                <a:moveTo>
                  <a:pt x="0" y="0"/>
                </a:moveTo>
                <a:lnTo>
                  <a:pt x="9394" y="0"/>
                </a:lnTo>
                <a:lnTo>
                  <a:pt x="939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771480" y="2943000"/>
            <a:ext cx="1695600" cy="429120"/>
          </a:xfrm>
          <a:custGeom>
            <a:avLst/>
            <a:gdLst/>
            <a:ahLst/>
            <a:rect l="0" t="0" r="r" b="b"/>
            <a:pathLst>
              <a:path w="4710" h="1192">
                <a:moveTo>
                  <a:pt x="0" y="0"/>
                </a:moveTo>
                <a:lnTo>
                  <a:pt x="4710" y="0"/>
                </a:lnTo>
                <a:lnTo>
                  <a:pt x="471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466720" y="2943000"/>
            <a:ext cx="2172240" cy="429120"/>
          </a:xfrm>
          <a:custGeom>
            <a:avLst/>
            <a:gdLst/>
            <a:ahLst/>
            <a:rect l="0" t="0" r="r" b="b"/>
            <a:pathLst>
              <a:path w="6034" h="1192">
                <a:moveTo>
                  <a:pt x="0" y="0"/>
                </a:moveTo>
                <a:lnTo>
                  <a:pt x="6034" y="0"/>
                </a:lnTo>
                <a:lnTo>
                  <a:pt x="603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4638600" y="2943000"/>
            <a:ext cx="2791080" cy="429120"/>
          </a:xfrm>
          <a:custGeom>
            <a:avLst/>
            <a:gdLst/>
            <a:ahLst/>
            <a:rect l="0" t="0" r="r" b="b"/>
            <a:pathLst>
              <a:path w="7753" h="1192">
                <a:moveTo>
                  <a:pt x="0" y="0"/>
                </a:moveTo>
                <a:lnTo>
                  <a:pt x="7753" y="0"/>
                </a:lnTo>
                <a:lnTo>
                  <a:pt x="775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7429320" y="2943000"/>
            <a:ext cx="3381840" cy="429120"/>
          </a:xfrm>
          <a:custGeom>
            <a:avLst/>
            <a:gdLst/>
            <a:ahLst/>
            <a:rect l="0" t="0" r="r" b="b"/>
            <a:pathLst>
              <a:path w="9394" h="1192">
                <a:moveTo>
                  <a:pt x="0" y="0"/>
                </a:moveTo>
                <a:lnTo>
                  <a:pt x="9394" y="0"/>
                </a:lnTo>
                <a:lnTo>
                  <a:pt x="939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71480" y="3371760"/>
            <a:ext cx="1695600" cy="428760"/>
          </a:xfrm>
          <a:custGeom>
            <a:avLst/>
            <a:gdLst/>
            <a:ahLst/>
            <a:rect l="0" t="0" r="r" b="b"/>
            <a:pathLst>
              <a:path w="4710" h="1191">
                <a:moveTo>
                  <a:pt x="0" y="0"/>
                </a:moveTo>
                <a:lnTo>
                  <a:pt x="4710" y="0"/>
                </a:lnTo>
                <a:lnTo>
                  <a:pt x="471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466720" y="3371760"/>
            <a:ext cx="2172240" cy="428760"/>
          </a:xfrm>
          <a:custGeom>
            <a:avLst/>
            <a:gdLst/>
            <a:ahLst/>
            <a:rect l="0" t="0" r="r" b="b"/>
            <a:pathLst>
              <a:path w="6034" h="1191">
                <a:moveTo>
                  <a:pt x="0" y="0"/>
                </a:moveTo>
                <a:lnTo>
                  <a:pt x="6034" y="0"/>
                </a:lnTo>
                <a:lnTo>
                  <a:pt x="603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4638600" y="3371760"/>
            <a:ext cx="2791080" cy="428760"/>
          </a:xfrm>
          <a:custGeom>
            <a:avLst/>
            <a:gdLst/>
            <a:ahLst/>
            <a:rect l="0" t="0" r="r" b="b"/>
            <a:pathLst>
              <a:path w="7753" h="1191">
                <a:moveTo>
                  <a:pt x="0" y="0"/>
                </a:moveTo>
                <a:lnTo>
                  <a:pt x="7753" y="0"/>
                </a:lnTo>
                <a:lnTo>
                  <a:pt x="775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429320" y="3371760"/>
            <a:ext cx="3381840" cy="428760"/>
          </a:xfrm>
          <a:custGeom>
            <a:avLst/>
            <a:gdLst/>
            <a:ahLst/>
            <a:rect l="0" t="0" r="r" b="b"/>
            <a:pathLst>
              <a:path w="9394" h="1191">
                <a:moveTo>
                  <a:pt x="0" y="0"/>
                </a:moveTo>
                <a:lnTo>
                  <a:pt x="9394" y="0"/>
                </a:lnTo>
                <a:lnTo>
                  <a:pt x="939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71480" y="3800160"/>
            <a:ext cx="1695600" cy="419760"/>
          </a:xfrm>
          <a:custGeom>
            <a:avLst/>
            <a:gdLst/>
            <a:ahLst/>
            <a:rect l="0" t="0" r="r" b="b"/>
            <a:pathLst>
              <a:path w="4710" h="1166">
                <a:moveTo>
                  <a:pt x="0" y="0"/>
                </a:moveTo>
                <a:lnTo>
                  <a:pt x="4710" y="0"/>
                </a:lnTo>
                <a:lnTo>
                  <a:pt x="471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466720" y="3800160"/>
            <a:ext cx="2172240" cy="419760"/>
          </a:xfrm>
          <a:custGeom>
            <a:avLst/>
            <a:gdLst/>
            <a:ahLst/>
            <a:rect l="0" t="0" r="r" b="b"/>
            <a:pathLst>
              <a:path w="6034" h="1166">
                <a:moveTo>
                  <a:pt x="0" y="0"/>
                </a:moveTo>
                <a:lnTo>
                  <a:pt x="6034" y="0"/>
                </a:lnTo>
                <a:lnTo>
                  <a:pt x="603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4638600" y="3800160"/>
            <a:ext cx="2791080" cy="419760"/>
          </a:xfrm>
          <a:custGeom>
            <a:avLst/>
            <a:gdLst/>
            <a:ahLst/>
            <a:rect l="0" t="0" r="r" b="b"/>
            <a:pathLst>
              <a:path w="7753" h="1166">
                <a:moveTo>
                  <a:pt x="0" y="0"/>
                </a:moveTo>
                <a:lnTo>
                  <a:pt x="7753" y="0"/>
                </a:lnTo>
                <a:lnTo>
                  <a:pt x="775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429320" y="3800160"/>
            <a:ext cx="3381840" cy="419760"/>
          </a:xfrm>
          <a:custGeom>
            <a:avLst/>
            <a:gdLst/>
            <a:ahLst/>
            <a:rect l="0" t="0" r="r" b="b"/>
            <a:pathLst>
              <a:path w="9394" h="1166">
                <a:moveTo>
                  <a:pt x="0" y="0"/>
                </a:moveTo>
                <a:lnTo>
                  <a:pt x="9394" y="0"/>
                </a:lnTo>
                <a:lnTo>
                  <a:pt x="939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71480" y="4219560"/>
            <a:ext cx="1695600" cy="428760"/>
          </a:xfrm>
          <a:custGeom>
            <a:avLst/>
            <a:gdLst/>
            <a:ahLst/>
            <a:rect l="0" t="0" r="r" b="b"/>
            <a:pathLst>
              <a:path w="4710" h="1191">
                <a:moveTo>
                  <a:pt x="0" y="0"/>
                </a:moveTo>
                <a:lnTo>
                  <a:pt x="4710" y="0"/>
                </a:lnTo>
                <a:lnTo>
                  <a:pt x="471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466720" y="4219560"/>
            <a:ext cx="2172240" cy="428760"/>
          </a:xfrm>
          <a:custGeom>
            <a:avLst/>
            <a:gdLst/>
            <a:ahLst/>
            <a:rect l="0" t="0" r="r" b="b"/>
            <a:pathLst>
              <a:path w="6034" h="1191">
                <a:moveTo>
                  <a:pt x="0" y="0"/>
                </a:moveTo>
                <a:lnTo>
                  <a:pt x="6034" y="0"/>
                </a:lnTo>
                <a:lnTo>
                  <a:pt x="603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638600" y="4219560"/>
            <a:ext cx="2791080" cy="428760"/>
          </a:xfrm>
          <a:custGeom>
            <a:avLst/>
            <a:gdLst/>
            <a:ahLst/>
            <a:rect l="0" t="0" r="r" b="b"/>
            <a:pathLst>
              <a:path w="7753" h="1191">
                <a:moveTo>
                  <a:pt x="0" y="0"/>
                </a:moveTo>
                <a:lnTo>
                  <a:pt x="7753" y="0"/>
                </a:lnTo>
                <a:lnTo>
                  <a:pt x="775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429320" y="4219560"/>
            <a:ext cx="3381840" cy="428760"/>
          </a:xfrm>
          <a:custGeom>
            <a:avLst/>
            <a:gdLst/>
            <a:ahLst/>
            <a:rect l="0" t="0" r="r" b="b"/>
            <a:pathLst>
              <a:path w="9394" h="1191">
                <a:moveTo>
                  <a:pt x="0" y="0"/>
                </a:moveTo>
                <a:lnTo>
                  <a:pt x="9394" y="0"/>
                </a:lnTo>
                <a:lnTo>
                  <a:pt x="939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771480" y="4647960"/>
            <a:ext cx="1695600" cy="429120"/>
          </a:xfrm>
          <a:custGeom>
            <a:avLst/>
            <a:gdLst/>
            <a:ahLst/>
            <a:rect l="0" t="0" r="r" b="b"/>
            <a:pathLst>
              <a:path w="4710" h="1192">
                <a:moveTo>
                  <a:pt x="0" y="0"/>
                </a:moveTo>
                <a:lnTo>
                  <a:pt x="4710" y="0"/>
                </a:lnTo>
                <a:lnTo>
                  <a:pt x="471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466720" y="4647960"/>
            <a:ext cx="2172240" cy="429120"/>
          </a:xfrm>
          <a:custGeom>
            <a:avLst/>
            <a:gdLst/>
            <a:ahLst/>
            <a:rect l="0" t="0" r="r" b="b"/>
            <a:pathLst>
              <a:path w="6034" h="1192">
                <a:moveTo>
                  <a:pt x="0" y="0"/>
                </a:moveTo>
                <a:lnTo>
                  <a:pt x="6034" y="0"/>
                </a:lnTo>
                <a:lnTo>
                  <a:pt x="603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4638600" y="4647960"/>
            <a:ext cx="2791080" cy="429120"/>
          </a:xfrm>
          <a:custGeom>
            <a:avLst/>
            <a:gdLst/>
            <a:ahLst/>
            <a:rect l="0" t="0" r="r" b="b"/>
            <a:pathLst>
              <a:path w="7753" h="1192">
                <a:moveTo>
                  <a:pt x="0" y="0"/>
                </a:moveTo>
                <a:lnTo>
                  <a:pt x="7753" y="0"/>
                </a:lnTo>
                <a:lnTo>
                  <a:pt x="775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7429320" y="4647960"/>
            <a:ext cx="3381840" cy="429120"/>
          </a:xfrm>
          <a:custGeom>
            <a:avLst/>
            <a:gdLst/>
            <a:ahLst/>
            <a:rect l="0" t="0" r="r" b="b"/>
            <a:pathLst>
              <a:path w="9394" h="1192">
                <a:moveTo>
                  <a:pt x="0" y="0"/>
                </a:moveTo>
                <a:lnTo>
                  <a:pt x="9394" y="0"/>
                </a:lnTo>
                <a:lnTo>
                  <a:pt x="939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761760" y="25048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61760" y="2504880"/>
            <a:ext cx="1715040" cy="9720"/>
          </a:xfrm>
          <a:custGeom>
            <a:avLst/>
            <a:gdLst/>
            <a:ahLst/>
            <a:rect l="0" t="0" r="r" b="b"/>
            <a:pathLst>
              <a:path w="4764" h="27">
                <a:moveTo>
                  <a:pt x="0" y="0"/>
                </a:moveTo>
                <a:lnTo>
                  <a:pt x="4764" y="0"/>
                </a:lnTo>
                <a:lnTo>
                  <a:pt x="4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466720" y="25048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476440" y="250488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628880" y="25048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4638600" y="2504880"/>
            <a:ext cx="2800440" cy="9720"/>
          </a:xfrm>
          <a:custGeom>
            <a:avLst/>
            <a:gdLst/>
            <a:ahLst/>
            <a:rect l="0" t="0" r="r" b="b"/>
            <a:pathLst>
              <a:path w="7779" h="27">
                <a:moveTo>
                  <a:pt x="0" y="0"/>
                </a:moveTo>
                <a:lnTo>
                  <a:pt x="7779" y="0"/>
                </a:lnTo>
                <a:lnTo>
                  <a:pt x="7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429320" y="2504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7438680" y="250488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0810800" y="2504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61760" y="2933640"/>
            <a:ext cx="1715040" cy="9720"/>
          </a:xfrm>
          <a:custGeom>
            <a:avLst/>
            <a:gdLst/>
            <a:ahLst/>
            <a:rect l="0" t="0" r="r" b="b"/>
            <a:pathLst>
              <a:path w="4764" h="27">
                <a:moveTo>
                  <a:pt x="0" y="0"/>
                </a:moveTo>
                <a:lnTo>
                  <a:pt x="4764" y="0"/>
                </a:lnTo>
                <a:lnTo>
                  <a:pt x="4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476440" y="293364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4638600" y="2933640"/>
            <a:ext cx="2800440" cy="9720"/>
          </a:xfrm>
          <a:custGeom>
            <a:avLst/>
            <a:gdLst/>
            <a:ahLst/>
            <a:rect l="0" t="0" r="r" b="b"/>
            <a:pathLst>
              <a:path w="7779" h="27">
                <a:moveTo>
                  <a:pt x="0" y="0"/>
                </a:moveTo>
                <a:lnTo>
                  <a:pt x="7779" y="0"/>
                </a:lnTo>
                <a:lnTo>
                  <a:pt x="7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438680" y="293364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761760" y="29430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466720" y="29430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628880" y="29430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7429320" y="29430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0810800" y="29430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61760" y="33717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761760" y="3362040"/>
            <a:ext cx="1715040" cy="10080"/>
          </a:xfrm>
          <a:custGeom>
            <a:avLst/>
            <a:gdLst/>
            <a:ahLst/>
            <a:rect l="0" t="0" r="r" b="b"/>
            <a:pathLst>
              <a:path w="4764" h="28">
                <a:moveTo>
                  <a:pt x="0" y="0"/>
                </a:moveTo>
                <a:lnTo>
                  <a:pt x="4764" y="0"/>
                </a:lnTo>
                <a:lnTo>
                  <a:pt x="4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466720" y="33717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476440" y="3362040"/>
            <a:ext cx="2162520" cy="10080"/>
          </a:xfrm>
          <a:custGeom>
            <a:avLst/>
            <a:gdLst/>
            <a:ahLst/>
            <a:rect l="0" t="0" r="r" b="b"/>
            <a:pathLst>
              <a:path w="6007" h="28">
                <a:moveTo>
                  <a:pt x="0" y="0"/>
                </a:moveTo>
                <a:lnTo>
                  <a:pt x="6007" y="0"/>
                </a:lnTo>
                <a:lnTo>
                  <a:pt x="60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628880" y="33717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4638600" y="3362040"/>
            <a:ext cx="2800440" cy="10080"/>
          </a:xfrm>
          <a:custGeom>
            <a:avLst/>
            <a:gdLst/>
            <a:ahLst/>
            <a:rect l="0" t="0" r="r" b="b"/>
            <a:pathLst>
              <a:path w="7779" h="28">
                <a:moveTo>
                  <a:pt x="0" y="0"/>
                </a:moveTo>
                <a:lnTo>
                  <a:pt x="7779" y="0"/>
                </a:lnTo>
                <a:lnTo>
                  <a:pt x="77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7429320" y="33717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438680" y="336204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0810800" y="33717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761760" y="38001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761760" y="3790800"/>
            <a:ext cx="1715040" cy="9720"/>
          </a:xfrm>
          <a:custGeom>
            <a:avLst/>
            <a:gdLst/>
            <a:ahLst/>
            <a:rect l="0" t="0" r="r" b="b"/>
            <a:pathLst>
              <a:path w="4764" h="27">
                <a:moveTo>
                  <a:pt x="0" y="0"/>
                </a:moveTo>
                <a:lnTo>
                  <a:pt x="4764" y="0"/>
                </a:lnTo>
                <a:lnTo>
                  <a:pt x="4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466720" y="38001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476440" y="379080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4628880" y="38001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4638600" y="3790800"/>
            <a:ext cx="2800440" cy="9720"/>
          </a:xfrm>
          <a:custGeom>
            <a:avLst/>
            <a:gdLst/>
            <a:ahLst/>
            <a:rect l="0" t="0" r="r" b="b"/>
            <a:pathLst>
              <a:path w="7779" h="27">
                <a:moveTo>
                  <a:pt x="0" y="0"/>
                </a:moveTo>
                <a:lnTo>
                  <a:pt x="7779" y="0"/>
                </a:lnTo>
                <a:lnTo>
                  <a:pt x="7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7429320" y="38001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7438680" y="379080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0810800" y="38001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761760" y="42289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761760" y="4219560"/>
            <a:ext cx="1715040" cy="9720"/>
          </a:xfrm>
          <a:custGeom>
            <a:avLst/>
            <a:gdLst/>
            <a:ahLst/>
            <a:rect l="0" t="0" r="r" b="b"/>
            <a:pathLst>
              <a:path w="4764" h="27">
                <a:moveTo>
                  <a:pt x="0" y="0"/>
                </a:moveTo>
                <a:lnTo>
                  <a:pt x="4764" y="0"/>
                </a:lnTo>
                <a:lnTo>
                  <a:pt x="4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466720" y="42289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476440" y="421956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4628880" y="42289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4638600" y="4219560"/>
            <a:ext cx="2800440" cy="9720"/>
          </a:xfrm>
          <a:custGeom>
            <a:avLst/>
            <a:gdLst/>
            <a:ahLst/>
            <a:rect l="0" t="0" r="r" b="b"/>
            <a:pathLst>
              <a:path w="7779" h="27">
                <a:moveTo>
                  <a:pt x="0" y="0"/>
                </a:moveTo>
                <a:lnTo>
                  <a:pt x="7779" y="0"/>
                </a:lnTo>
                <a:lnTo>
                  <a:pt x="7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7429320" y="42289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438680" y="421956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0810800" y="42289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761760" y="46576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761760" y="4647960"/>
            <a:ext cx="1715040" cy="10080"/>
          </a:xfrm>
          <a:custGeom>
            <a:avLst/>
            <a:gdLst/>
            <a:ahLst/>
            <a:rect l="0" t="0" r="r" b="b"/>
            <a:pathLst>
              <a:path w="4764" h="28">
                <a:moveTo>
                  <a:pt x="0" y="0"/>
                </a:moveTo>
                <a:lnTo>
                  <a:pt x="4764" y="0"/>
                </a:lnTo>
                <a:lnTo>
                  <a:pt x="4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466720" y="46576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476440" y="4647960"/>
            <a:ext cx="2162520" cy="10080"/>
          </a:xfrm>
          <a:custGeom>
            <a:avLst/>
            <a:gdLst/>
            <a:ahLst/>
            <a:rect l="0" t="0" r="r" b="b"/>
            <a:pathLst>
              <a:path w="6007" h="28">
                <a:moveTo>
                  <a:pt x="0" y="0"/>
                </a:moveTo>
                <a:lnTo>
                  <a:pt x="6007" y="0"/>
                </a:lnTo>
                <a:lnTo>
                  <a:pt x="60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4628880" y="46576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4638600" y="4647960"/>
            <a:ext cx="2800440" cy="10080"/>
          </a:xfrm>
          <a:custGeom>
            <a:avLst/>
            <a:gdLst/>
            <a:ahLst/>
            <a:rect l="0" t="0" r="r" b="b"/>
            <a:pathLst>
              <a:path w="7779" h="28">
                <a:moveTo>
                  <a:pt x="0" y="0"/>
                </a:moveTo>
                <a:lnTo>
                  <a:pt x="7779" y="0"/>
                </a:lnTo>
                <a:lnTo>
                  <a:pt x="77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7429320" y="46576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7438680" y="4647960"/>
            <a:ext cx="3381840" cy="10080"/>
          </a:xfrm>
          <a:custGeom>
            <a:avLst/>
            <a:gdLst/>
            <a:ahLst/>
            <a:rect l="0" t="0" r="r" b="b"/>
            <a:pathLst>
              <a:path w="9394" h="28">
                <a:moveTo>
                  <a:pt x="0" y="0"/>
                </a:moveTo>
                <a:lnTo>
                  <a:pt x="9394" y="0"/>
                </a:lnTo>
                <a:lnTo>
                  <a:pt x="93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0810800" y="46576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761760" y="5076720"/>
            <a:ext cx="1715040" cy="9720"/>
          </a:xfrm>
          <a:custGeom>
            <a:avLst/>
            <a:gdLst/>
            <a:ahLst/>
            <a:rect l="0" t="0" r="r" b="b"/>
            <a:pathLst>
              <a:path w="4764" h="27">
                <a:moveTo>
                  <a:pt x="0" y="0"/>
                </a:moveTo>
                <a:lnTo>
                  <a:pt x="4764" y="0"/>
                </a:lnTo>
                <a:lnTo>
                  <a:pt x="4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476440" y="507672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4638600" y="5076720"/>
            <a:ext cx="2800440" cy="9720"/>
          </a:xfrm>
          <a:custGeom>
            <a:avLst/>
            <a:gdLst/>
            <a:ahLst/>
            <a:rect l="0" t="0" r="r" b="b"/>
            <a:pathLst>
              <a:path w="7779" h="27">
                <a:moveTo>
                  <a:pt x="0" y="0"/>
                </a:moveTo>
                <a:lnTo>
                  <a:pt x="7779" y="0"/>
                </a:lnTo>
                <a:lnTo>
                  <a:pt x="7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7438680" y="5076720"/>
            <a:ext cx="3381840" cy="9720"/>
          </a:xfrm>
          <a:custGeom>
            <a:avLst/>
            <a:gdLst/>
            <a:ahLst/>
            <a:rect l="0" t="0" r="r" b="b"/>
            <a:pathLst>
              <a:path w="9394" h="27">
                <a:moveTo>
                  <a:pt x="0" y="0"/>
                </a:moveTo>
                <a:lnTo>
                  <a:pt x="9394" y="0"/>
                </a:lnTo>
                <a:lnTo>
                  <a:pt x="93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225800" y="2603880"/>
            <a:ext cx="78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Feature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3003120" y="2603880"/>
            <a:ext cx="109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Monolithic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683320" y="2603880"/>
            <a:ext cx="70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N-Tier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8404920" y="2603880"/>
            <a:ext cx="143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Microservices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95320" y="3032640"/>
            <a:ext cx="118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Deployment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595960" y="3032640"/>
            <a:ext cx="140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Single artefact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4766760" y="3032640"/>
            <a:ext cx="253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Multiple coordinated tiers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560360" y="3032640"/>
            <a:ext cx="208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Independent services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95320" y="3461040"/>
            <a:ext cx="98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2595960" y="3461040"/>
            <a:ext cx="73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Limited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4766760" y="3461040"/>
            <a:ext cx="208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Moderate, tier-based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560360" y="3461040"/>
            <a:ext cx="264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Fine-grained, service-level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895320" y="3889800"/>
            <a:ext cx="144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Maintainability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2595960" y="3889800"/>
            <a:ext cx="1757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Low as apps grow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766760" y="3889800"/>
            <a:ext cx="9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560360" y="3889800"/>
            <a:ext cx="284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with strong governance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95320" y="4318560"/>
            <a:ext cx="1118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595960" y="4318560"/>
            <a:ext cx="116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Low initially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4766760" y="4318560"/>
            <a:ext cx="78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Medium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7560360" y="4318560"/>
            <a:ext cx="180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operationally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95320" y="4746960"/>
            <a:ext cx="78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Best For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595960" y="4746960"/>
            <a:ext cx="1909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Simple, stable apps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766760" y="4746960"/>
            <a:ext cx="252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Enterprise web workloads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560360" y="4746960"/>
            <a:ext cx="311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Large, cloud-native ecosystems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62120" y="372600"/>
            <a:ext cx="5685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Comparative View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"/>
          <p:cNvSpPr txBox="1"/>
          <p:nvPr/>
        </p:nvSpPr>
        <p:spPr>
          <a:xfrm>
            <a:off x="762120" y="2708640"/>
            <a:ext cx="7818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Enterprises rarely jump directly from monolith to microservices. Common path: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911160" y="3165840"/>
            <a:ext cx="641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Refactor monolith into modular N-tier or “modulith” structure.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911160" y="3527640"/>
            <a:ext cx="601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bounded contexts where autonomy delivers value.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911160" y="3880080"/>
            <a:ext cx="691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Gradually extract services, backed by automation and observability.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62120" y="4337280"/>
            <a:ext cx="1035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Case example: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Amazon evolved from a monolithic retail platform to service-oriented architecture before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62120" y="4642200"/>
            <a:ext cx="4192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embracing microservices (Newman, 2021).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62120" y="372600"/>
            <a:ext cx="7696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Transitioning in Practice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"/>
          <p:cNvSpPr txBox="1"/>
          <p:nvPr/>
        </p:nvSpPr>
        <p:spPr>
          <a:xfrm>
            <a:off x="762120" y="2737080"/>
            <a:ext cx="38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When choosing an architecture, assess: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911160" y="3194280"/>
            <a:ext cx="76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complexity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microservices add overhead unless scale demands 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911160" y="3546720"/>
            <a:ext cx="7764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Team size and autonomy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small teams beneﬁt from simpler deployments.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911160" y="3908880"/>
            <a:ext cx="6895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Scalability requirements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evaluate load patterns and bottlenecks.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911160" y="4261320"/>
            <a:ext cx="737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Operational maturity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CI/CD pipelines, monitoring, incident response.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11160" y="4613760"/>
            <a:ext cx="632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 integrity needs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monoliths simplify ACID transactions.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62120" y="372600"/>
            <a:ext cx="5369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Selection Criteria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971280" y="3057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62120" y="2508480"/>
            <a:ext cx="3700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Regardless of architecture, adhere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971280" y="34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168200" y="2965680"/>
            <a:ext cx="568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Separation of concerns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isolate distinct responsibilities.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168200" y="3318120"/>
            <a:ext cx="599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Loose coupling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minimise cross-component dependencies.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168200" y="3680280"/>
            <a:ext cx="519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High cohesion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keep related functionality together.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971280" y="44766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168200" y="4032720"/>
            <a:ext cx="5727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Clear contracts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document APIs and service agreements.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168200" y="4385160"/>
            <a:ext cx="863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Automation &amp; testing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– use CI/CD and observability to preserve architectural integrity.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62120" y="4842360"/>
            <a:ext cx="576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These principles underpin sustainable enterprise software.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62120" y="372600"/>
            <a:ext cx="10241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Principles Across Models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"/>
          <p:cNvSpPr txBox="1"/>
          <p:nvPr/>
        </p:nvSpPr>
        <p:spPr>
          <a:xfrm>
            <a:off x="762120" y="3375360"/>
            <a:ext cx="10313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“Architecture is the art of determining whatʼs important in a system and suppressing everything else.” —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762120" y="3680280"/>
            <a:ext cx="1056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David Parnas (1972). Skilled architects balance simplicity, ﬂexibility, and scalability to match organisational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762120" y="3975480"/>
            <a:ext cx="89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maturity.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62120" y="372600"/>
            <a:ext cx="52290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Closing Thought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"/>
          <p:cNvSpPr/>
          <p:nvPr/>
        </p:nvSpPr>
        <p:spPr>
          <a:xfrm>
            <a:off x="971280" y="32382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8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971280" y="3590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168200" y="3146760"/>
            <a:ext cx="6869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Monolithic architectures favour simplicity but limit scaling and agility.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971280" y="39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168200" y="3499200"/>
            <a:ext cx="842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N-tier architectures introduce separation of concerns without fully decoupling teams.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71280" y="4295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9" y="4"/>
                  <a:pt x="81" y="0"/>
                  <a:pt x="93" y="0"/>
                </a:cubicBezTo>
                <a:cubicBezTo>
                  <a:pt x="105" y="0"/>
                  <a:pt x="117" y="4"/>
                  <a:pt x="128" y="8"/>
                </a:cubicBezTo>
                <a:cubicBezTo>
                  <a:pt x="140" y="13"/>
                  <a:pt x="150" y="20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168200" y="3851640"/>
            <a:ext cx="814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Microservices deliver ﬁne-grained scalability at the cost of operational complexity.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168200" y="4204080"/>
            <a:ext cx="1013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Choose architectures based on system complexity, organisational maturity, and measurable outcomes.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62120" y="372600"/>
            <a:ext cx="2922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Summary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"/>
          <p:cNvSpPr/>
          <p:nvPr/>
        </p:nvSpPr>
        <p:spPr>
          <a:xfrm>
            <a:off x="971280" y="2752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168200" y="2661120"/>
            <a:ext cx="4366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Bass, L., Clements, P., &amp; Kazman, R. (2021).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5593680" y="2661120"/>
            <a:ext cx="32842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 Architecture in Practice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971280" y="3105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8739720" y="2661120"/>
            <a:ext cx="267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(4th ed.). Addison-Wesley.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168200" y="3013560"/>
            <a:ext cx="9236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Kruchten, P. (1995). Architectural blueprints—The 4 + 1 view model of software architecture.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0475280" y="3013560"/>
            <a:ext cx="400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IEEE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217520" y="3318120"/>
            <a:ext cx="1604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Software, 12(6).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168200" y="3680280"/>
            <a:ext cx="198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Newman, S. (2021).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3206520" y="3680280"/>
            <a:ext cx="2255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Building Microservices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5351760" y="3680280"/>
            <a:ext cx="253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(2nd ed.). OʼReilly Media.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168200" y="4032720"/>
            <a:ext cx="809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TatvaSoft. (2022). Enterprise application architecture and its types. Retrieved from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971280" y="4781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168200" y="4337280"/>
            <a:ext cx="9031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969da"/>
                </a:solidFill>
                <a:effectLst/>
                <a:uFillTx/>
                <a:latin typeface="LucidaGrande"/>
                <a:ea typeface="LucidaGrande"/>
              </a:rPr>
              <a:t>https://www.tatvasoft.com/outsourcing/2022/10/enterprise-application-architecture.html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168200" y="4689720"/>
            <a:ext cx="8646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ISO/IEC/IEEE 42010:2011. Systems and software engineering—Architecture description.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62120" y="372600"/>
            <a:ext cx="3449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References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/>
          <p:nvPr/>
        </p:nvSpPr>
        <p:spPr>
          <a:xfrm>
            <a:off x="571320" y="761760"/>
            <a:ext cx="11049480" cy="5410440"/>
          </a:xfrm>
          <a:custGeom>
            <a:avLst/>
            <a:gdLst/>
            <a:ahLst/>
            <a:rect l="0" t="0" r="r" b="b"/>
            <a:pathLst>
              <a:path w="30693" h="15029">
                <a:moveTo>
                  <a:pt x="0" y="0"/>
                </a:moveTo>
                <a:lnTo>
                  <a:pt x="30693" y="0"/>
                </a:lnTo>
                <a:lnTo>
                  <a:pt x="30693" y="15029"/>
                </a:lnTo>
                <a:lnTo>
                  <a:pt x="0" y="150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3" name="" descr=""/>
          <p:cNvPicPr/>
          <p:nvPr/>
        </p:nvPicPr>
        <p:blipFill>
          <a:blip r:embed="rId2"/>
          <a:stretch/>
        </p:blipFill>
        <p:spPr>
          <a:xfrm>
            <a:off x="5753160" y="296244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188398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