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png" ContentType="image/png"/>
  <Override PartName="/ppt/media/image2.png" ContentType="image/png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"/>
          <p:cNvSpPr txBox="1"/>
          <p:nvPr/>
        </p:nvSpPr>
        <p:spPr>
          <a:xfrm>
            <a:off x="762120" y="5183640"/>
            <a:ext cx="1905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62120" y="2454120"/>
            <a:ext cx="945972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Systems Thinking for AI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62120" y="3349440"/>
            <a:ext cx="388008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Engineers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62120" y="4483800"/>
            <a:ext cx="460404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4488cc"/>
                </a:solidFill>
                <a:effectLst/>
                <a:uFillTx/>
                <a:latin typeface="LucidaGrande"/>
                <a:ea typeface="LucidaGrande"/>
              </a:rPr>
              <a:t>Dr Nawfal Al Hashimy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"/>
          <p:cNvSpPr txBox="1"/>
          <p:nvPr/>
        </p:nvSpPr>
        <p:spPr>
          <a:xfrm>
            <a:off x="4095720" y="1565640"/>
            <a:ext cx="494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By the end of this lecture, students will be able to: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4244760" y="2022840"/>
            <a:ext cx="6843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Explain the principles of systems thinking and their relevance to AI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4502160" y="2327760"/>
            <a:ext cx="1233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engineering.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4244760" y="2689560"/>
            <a:ext cx="6854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Distinguish systems thinking from system theory, systemic design,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502160" y="2994480"/>
            <a:ext cx="2253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systematic design.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4244760" y="3346920"/>
            <a:ext cx="6945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Explain the nine foundational concepts of systems thinking (holism,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4502160" y="3651480"/>
            <a:ext cx="6246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reductionism, interconnectedness, boundaries, feedback loops,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4502160" y="3956400"/>
            <a:ext cx="566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emergence, hierarchy, delays, adaptation) with examples.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4244760" y="4308840"/>
            <a:ext cx="6880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Apply systems-thinking tools and mindsets to analyse a real-world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502160" y="4613760"/>
            <a:ext cx="1384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case problem.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0" y="0"/>
            <a:ext cx="4067280" cy="6191280"/>
          </a:xfrm>
          <a:custGeom>
            <a:avLst/>
            <a:gdLst/>
            <a:ahLst/>
            <a:rect l="0" t="0" r="r" b="b"/>
            <a:pathLst>
              <a:path w="11298" h="17198">
                <a:moveTo>
                  <a:pt x="0" y="0"/>
                </a:moveTo>
                <a:lnTo>
                  <a:pt x="11298" y="0"/>
                </a:lnTo>
                <a:lnTo>
                  <a:pt x="11298" y="17198"/>
                </a:lnTo>
                <a:lnTo>
                  <a:pt x="0" y="17198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4244760" y="4975560"/>
            <a:ext cx="6307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Identify leverage points for intervention in a complex system.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46920" y="381960"/>
            <a:ext cx="27727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Intended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658800" y="1296360"/>
            <a:ext cx="27489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Learning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455040" y="2210760"/>
            <a:ext cx="31568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Outcomes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"/>
          <p:cNvSpPr/>
          <p:nvPr/>
        </p:nvSpPr>
        <p:spPr>
          <a:xfrm>
            <a:off x="4448160" y="22953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2" y="255"/>
                </a:cubicBezTo>
                <a:cubicBezTo>
                  <a:pt x="166" y="262"/>
                  <a:pt x="149" y="266"/>
                  <a:pt x="132" y="266"/>
                </a:cubicBezTo>
                <a:cubicBezTo>
                  <a:pt x="114" y="266"/>
                  <a:pt x="97" y="262"/>
                  <a:pt x="81" y="255"/>
                </a:cubicBezTo>
                <a:cubicBezTo>
                  <a:pt x="65" y="249"/>
                  <a:pt x="51" y="239"/>
                  <a:pt x="38" y="227"/>
                </a:cubicBezTo>
                <a:cubicBezTo>
                  <a:pt x="26" y="214"/>
                  <a:pt x="16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2"/>
                </a:cubicBezTo>
                <a:cubicBezTo>
                  <a:pt x="16" y="65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4448160" y="28288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49"/>
                  <a:pt x="262" y="166"/>
                  <a:pt x="255" y="183"/>
                </a:cubicBezTo>
                <a:cubicBezTo>
                  <a:pt x="248" y="200"/>
                  <a:pt x="239" y="214"/>
                  <a:pt x="226" y="226"/>
                </a:cubicBezTo>
                <a:cubicBezTo>
                  <a:pt x="214" y="239"/>
                  <a:pt x="200" y="248"/>
                  <a:pt x="182" y="255"/>
                </a:cubicBezTo>
                <a:cubicBezTo>
                  <a:pt x="166" y="262"/>
                  <a:pt x="149" y="265"/>
                  <a:pt x="132" y="265"/>
                </a:cubicBezTo>
                <a:cubicBezTo>
                  <a:pt x="114" y="265"/>
                  <a:pt x="97" y="262"/>
                  <a:pt x="81" y="255"/>
                </a:cubicBezTo>
                <a:cubicBezTo>
                  <a:pt x="65" y="248"/>
                  <a:pt x="51" y="239"/>
                  <a:pt x="38" y="226"/>
                </a:cubicBezTo>
                <a:cubicBezTo>
                  <a:pt x="26" y="214"/>
                  <a:pt x="16" y="200"/>
                  <a:pt x="10" y="183"/>
                </a:cubicBezTo>
                <a:cubicBezTo>
                  <a:pt x="3" y="166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6" y="65"/>
                  <a:pt x="26" y="51"/>
                  <a:pt x="38" y="38"/>
                </a:cubicBezTo>
                <a:cubicBezTo>
                  <a:pt x="51" y="26"/>
                  <a:pt x="65" y="16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705200" y="2143800"/>
            <a:ext cx="163296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Vocabulary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4448160" y="33620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40"/>
                  <a:pt x="200" y="249"/>
                  <a:pt x="182" y="256"/>
                </a:cubicBezTo>
                <a:cubicBezTo>
                  <a:pt x="166" y="263"/>
                  <a:pt x="149" y="266"/>
                  <a:pt x="132" y="266"/>
                </a:cubicBezTo>
                <a:cubicBezTo>
                  <a:pt x="114" y="266"/>
                  <a:pt x="97" y="263"/>
                  <a:pt x="81" y="256"/>
                </a:cubicBezTo>
                <a:cubicBezTo>
                  <a:pt x="65" y="249"/>
                  <a:pt x="51" y="240"/>
                  <a:pt x="38" y="227"/>
                </a:cubicBezTo>
                <a:cubicBezTo>
                  <a:pt x="26" y="215"/>
                  <a:pt x="16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6" y="67"/>
                  <a:pt x="26" y="52"/>
                  <a:pt x="38" y="40"/>
                </a:cubicBezTo>
                <a:cubicBezTo>
                  <a:pt x="51" y="27"/>
                  <a:pt x="65" y="17"/>
                  <a:pt x="81" y="10"/>
                </a:cubicBezTo>
                <a:cubicBezTo>
                  <a:pt x="97" y="4"/>
                  <a:pt x="114" y="0"/>
                  <a:pt x="132" y="0"/>
                </a:cubicBezTo>
                <a:cubicBezTo>
                  <a:pt x="149" y="0"/>
                  <a:pt x="166" y="4"/>
                  <a:pt x="182" y="10"/>
                </a:cubicBezTo>
                <a:cubicBezTo>
                  <a:pt x="200" y="17"/>
                  <a:pt x="214" y="27"/>
                  <a:pt x="226" y="40"/>
                </a:cubicBezTo>
                <a:cubicBezTo>
                  <a:pt x="239" y="52"/>
                  <a:pt x="248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705200" y="2676960"/>
            <a:ext cx="343836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Why Systems Thinking?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4448160" y="38955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2" y="255"/>
                </a:cubicBezTo>
                <a:cubicBezTo>
                  <a:pt x="166" y="262"/>
                  <a:pt x="149" y="266"/>
                  <a:pt x="132" y="266"/>
                </a:cubicBezTo>
                <a:cubicBezTo>
                  <a:pt x="114" y="266"/>
                  <a:pt x="97" y="262"/>
                  <a:pt x="81" y="255"/>
                </a:cubicBezTo>
                <a:cubicBezTo>
                  <a:pt x="65" y="249"/>
                  <a:pt x="51" y="239"/>
                  <a:pt x="38" y="227"/>
                </a:cubicBezTo>
                <a:cubicBezTo>
                  <a:pt x="26" y="214"/>
                  <a:pt x="16" y="200"/>
                  <a:pt x="10" y="184"/>
                </a:cubicBezTo>
                <a:cubicBezTo>
                  <a:pt x="3" y="168"/>
                  <a:pt x="0" y="151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6" y="65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705200" y="3210480"/>
            <a:ext cx="182376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Foundations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4448160" y="44290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49"/>
                  <a:pt x="262" y="166"/>
                  <a:pt x="255" y="183"/>
                </a:cubicBezTo>
                <a:cubicBezTo>
                  <a:pt x="248" y="199"/>
                  <a:pt x="239" y="213"/>
                  <a:pt x="226" y="225"/>
                </a:cubicBezTo>
                <a:cubicBezTo>
                  <a:pt x="214" y="239"/>
                  <a:pt x="200" y="248"/>
                  <a:pt x="182" y="255"/>
                </a:cubicBezTo>
                <a:cubicBezTo>
                  <a:pt x="166" y="262"/>
                  <a:pt x="149" y="265"/>
                  <a:pt x="132" y="265"/>
                </a:cubicBezTo>
                <a:cubicBezTo>
                  <a:pt x="114" y="265"/>
                  <a:pt x="97" y="262"/>
                  <a:pt x="81" y="255"/>
                </a:cubicBezTo>
                <a:cubicBezTo>
                  <a:pt x="65" y="248"/>
                  <a:pt x="51" y="239"/>
                  <a:pt x="38" y="225"/>
                </a:cubicBezTo>
                <a:cubicBezTo>
                  <a:pt x="26" y="213"/>
                  <a:pt x="16" y="199"/>
                  <a:pt x="10" y="183"/>
                </a:cubicBezTo>
                <a:cubicBezTo>
                  <a:pt x="3" y="166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6" y="65"/>
                  <a:pt x="26" y="51"/>
                  <a:pt x="38" y="38"/>
                </a:cubicBezTo>
                <a:cubicBezTo>
                  <a:pt x="51" y="26"/>
                  <a:pt x="65" y="16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705200" y="3744000"/>
            <a:ext cx="349380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Case Example: Suzanne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0" y="0"/>
            <a:ext cx="4067280" cy="6191280"/>
          </a:xfrm>
          <a:custGeom>
            <a:avLst/>
            <a:gdLst/>
            <a:ahLst/>
            <a:rect l="0" t="0" r="r" b="b"/>
            <a:pathLst>
              <a:path w="11298" h="17198">
                <a:moveTo>
                  <a:pt x="0" y="0"/>
                </a:moveTo>
                <a:lnTo>
                  <a:pt x="11298" y="0"/>
                </a:lnTo>
                <a:lnTo>
                  <a:pt x="11298" y="17198"/>
                </a:lnTo>
                <a:lnTo>
                  <a:pt x="0" y="171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4705200" y="4277160"/>
            <a:ext cx="164124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Conclusion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847440" y="381960"/>
            <a:ext cx="23716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Agenda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766440" y="1680840"/>
            <a:ext cx="10658880" cy="991080"/>
          </a:xfrm>
          <a:custGeom>
            <a:avLst/>
            <a:gdLst/>
            <a:ahLst/>
            <a:rect l="0" t="0" r="r" b="b"/>
            <a:pathLst>
              <a:path w="29608" h="2753">
                <a:moveTo>
                  <a:pt x="0" y="2608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2608"/>
                </a:lnTo>
                <a:cubicBezTo>
                  <a:pt x="29608" y="2617"/>
                  <a:pt x="29607" y="2627"/>
                  <a:pt x="29605" y="2636"/>
                </a:cubicBezTo>
                <a:cubicBezTo>
                  <a:pt x="29604" y="2645"/>
                  <a:pt x="29601" y="2654"/>
                  <a:pt x="29597" y="2663"/>
                </a:cubicBezTo>
                <a:cubicBezTo>
                  <a:pt x="29594" y="2672"/>
                  <a:pt x="29589" y="2680"/>
                  <a:pt x="29584" y="2688"/>
                </a:cubicBezTo>
                <a:cubicBezTo>
                  <a:pt x="29578" y="2696"/>
                  <a:pt x="29572" y="2704"/>
                  <a:pt x="29566" y="2710"/>
                </a:cubicBezTo>
                <a:cubicBezTo>
                  <a:pt x="29559" y="2717"/>
                  <a:pt x="29552" y="2723"/>
                  <a:pt x="29544" y="2729"/>
                </a:cubicBezTo>
                <a:cubicBezTo>
                  <a:pt x="29536" y="2734"/>
                  <a:pt x="29527" y="2738"/>
                  <a:pt x="29518" y="2742"/>
                </a:cubicBezTo>
                <a:cubicBezTo>
                  <a:pt x="29510" y="2746"/>
                  <a:pt x="29501" y="2748"/>
                  <a:pt x="29491" y="2750"/>
                </a:cubicBezTo>
                <a:cubicBezTo>
                  <a:pt x="29482" y="2752"/>
                  <a:pt x="29472" y="2753"/>
                  <a:pt x="29463" y="2753"/>
                </a:cubicBezTo>
                <a:lnTo>
                  <a:pt x="146" y="2753"/>
                </a:lnTo>
                <a:cubicBezTo>
                  <a:pt x="136" y="2753"/>
                  <a:pt x="127" y="2752"/>
                  <a:pt x="118" y="2750"/>
                </a:cubicBezTo>
                <a:cubicBezTo>
                  <a:pt x="108" y="2748"/>
                  <a:pt x="99" y="2746"/>
                  <a:pt x="90" y="2742"/>
                </a:cubicBezTo>
                <a:cubicBezTo>
                  <a:pt x="81" y="2738"/>
                  <a:pt x="73" y="2734"/>
                  <a:pt x="65" y="2729"/>
                </a:cubicBezTo>
                <a:cubicBezTo>
                  <a:pt x="57" y="2723"/>
                  <a:pt x="50" y="2717"/>
                  <a:pt x="43" y="2710"/>
                </a:cubicBezTo>
                <a:cubicBezTo>
                  <a:pt x="36" y="2704"/>
                  <a:pt x="30" y="2696"/>
                  <a:pt x="25" y="2688"/>
                </a:cubicBezTo>
                <a:cubicBezTo>
                  <a:pt x="20" y="2680"/>
                  <a:pt x="15" y="2672"/>
                  <a:pt x="11" y="2663"/>
                </a:cubicBezTo>
                <a:cubicBezTo>
                  <a:pt x="8" y="2654"/>
                  <a:pt x="5" y="2645"/>
                  <a:pt x="3" y="2636"/>
                </a:cubicBezTo>
                <a:cubicBezTo>
                  <a:pt x="1" y="2627"/>
                  <a:pt x="0" y="2617"/>
                  <a:pt x="0" y="2608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766440" y="1680840"/>
            <a:ext cx="10658880" cy="991080"/>
          </a:xfrm>
          <a:custGeom>
            <a:avLst/>
            <a:gdLst/>
            <a:ahLst/>
            <a:rect l="0" t="0" r="r" b="b"/>
            <a:pathLst>
              <a:path fill="none" w="29608" h="2753">
                <a:moveTo>
                  <a:pt x="0" y="2608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2608"/>
                </a:lnTo>
                <a:cubicBezTo>
                  <a:pt x="29608" y="2617"/>
                  <a:pt x="29607" y="2627"/>
                  <a:pt x="29605" y="2636"/>
                </a:cubicBezTo>
                <a:cubicBezTo>
                  <a:pt x="29604" y="2645"/>
                  <a:pt x="29601" y="2654"/>
                  <a:pt x="29597" y="2663"/>
                </a:cubicBezTo>
                <a:cubicBezTo>
                  <a:pt x="29594" y="2672"/>
                  <a:pt x="29589" y="2680"/>
                  <a:pt x="29584" y="2688"/>
                </a:cubicBezTo>
                <a:cubicBezTo>
                  <a:pt x="29578" y="2696"/>
                  <a:pt x="29572" y="2704"/>
                  <a:pt x="29566" y="2710"/>
                </a:cubicBezTo>
                <a:cubicBezTo>
                  <a:pt x="29559" y="2717"/>
                  <a:pt x="29552" y="2723"/>
                  <a:pt x="29544" y="2729"/>
                </a:cubicBezTo>
                <a:cubicBezTo>
                  <a:pt x="29536" y="2734"/>
                  <a:pt x="29527" y="2738"/>
                  <a:pt x="29518" y="2742"/>
                </a:cubicBezTo>
                <a:cubicBezTo>
                  <a:pt x="29510" y="2746"/>
                  <a:pt x="29501" y="2748"/>
                  <a:pt x="29491" y="2750"/>
                </a:cubicBezTo>
                <a:cubicBezTo>
                  <a:pt x="29482" y="2752"/>
                  <a:pt x="29472" y="2753"/>
                  <a:pt x="29463" y="2753"/>
                </a:cubicBezTo>
                <a:lnTo>
                  <a:pt x="146" y="2753"/>
                </a:lnTo>
                <a:cubicBezTo>
                  <a:pt x="136" y="2753"/>
                  <a:pt x="127" y="2752"/>
                  <a:pt x="118" y="2750"/>
                </a:cubicBezTo>
                <a:cubicBezTo>
                  <a:pt x="108" y="2748"/>
                  <a:pt x="99" y="2746"/>
                  <a:pt x="90" y="2742"/>
                </a:cubicBezTo>
                <a:cubicBezTo>
                  <a:pt x="81" y="2738"/>
                  <a:pt x="73" y="2734"/>
                  <a:pt x="65" y="2729"/>
                </a:cubicBezTo>
                <a:cubicBezTo>
                  <a:pt x="57" y="2723"/>
                  <a:pt x="50" y="2717"/>
                  <a:pt x="43" y="2710"/>
                </a:cubicBezTo>
                <a:cubicBezTo>
                  <a:pt x="36" y="2704"/>
                  <a:pt x="30" y="2696"/>
                  <a:pt x="25" y="2688"/>
                </a:cubicBezTo>
                <a:cubicBezTo>
                  <a:pt x="20" y="2680"/>
                  <a:pt x="15" y="2672"/>
                  <a:pt x="11" y="2663"/>
                </a:cubicBezTo>
                <a:cubicBezTo>
                  <a:pt x="8" y="2654"/>
                  <a:pt x="5" y="2645"/>
                  <a:pt x="3" y="2636"/>
                </a:cubicBezTo>
                <a:cubicBezTo>
                  <a:pt x="1" y="2627"/>
                  <a:pt x="0" y="2617"/>
                  <a:pt x="0" y="2608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762120" y="372600"/>
            <a:ext cx="99957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Vocabulary: Four Related Terms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942840" y="189540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4"/>
                </a:moveTo>
                <a:cubicBezTo>
                  <a:pt x="530" y="282"/>
                  <a:pt x="528" y="300"/>
                  <a:pt x="525" y="317"/>
                </a:cubicBezTo>
                <a:cubicBezTo>
                  <a:pt x="522" y="334"/>
                  <a:pt x="517" y="350"/>
                  <a:pt x="510" y="367"/>
                </a:cubicBezTo>
                <a:cubicBezTo>
                  <a:pt x="503" y="383"/>
                  <a:pt x="495" y="398"/>
                  <a:pt x="485" y="412"/>
                </a:cubicBezTo>
                <a:cubicBezTo>
                  <a:pt x="476" y="427"/>
                  <a:pt x="465" y="440"/>
                  <a:pt x="453" y="452"/>
                </a:cubicBezTo>
                <a:cubicBezTo>
                  <a:pt x="440" y="465"/>
                  <a:pt x="427" y="476"/>
                  <a:pt x="412" y="485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6"/>
                  <a:pt x="334" y="521"/>
                  <a:pt x="317" y="525"/>
                </a:cubicBezTo>
                <a:cubicBezTo>
                  <a:pt x="300" y="528"/>
                  <a:pt x="282" y="530"/>
                  <a:pt x="264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1"/>
                  <a:pt x="179" y="516"/>
                  <a:pt x="163" y="510"/>
                </a:cubicBezTo>
                <a:cubicBezTo>
                  <a:pt x="147" y="503"/>
                  <a:pt x="132" y="495"/>
                  <a:pt x="117" y="485"/>
                </a:cubicBezTo>
                <a:cubicBezTo>
                  <a:pt x="103" y="476"/>
                  <a:pt x="90" y="465"/>
                  <a:pt x="77" y="452"/>
                </a:cubicBezTo>
                <a:cubicBezTo>
                  <a:pt x="65" y="440"/>
                  <a:pt x="54" y="427"/>
                  <a:pt x="44" y="412"/>
                </a:cubicBezTo>
                <a:cubicBezTo>
                  <a:pt x="35" y="398"/>
                  <a:pt x="27" y="383"/>
                  <a:pt x="20" y="367"/>
                </a:cubicBezTo>
                <a:cubicBezTo>
                  <a:pt x="13" y="350"/>
                  <a:pt x="8" y="334"/>
                  <a:pt x="5" y="317"/>
                </a:cubicBezTo>
                <a:cubicBezTo>
                  <a:pt x="2" y="300"/>
                  <a:pt x="0" y="282"/>
                  <a:pt x="0" y="264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4" y="117"/>
                </a:cubicBezTo>
                <a:cubicBezTo>
                  <a:pt x="54" y="103"/>
                  <a:pt x="65" y="89"/>
                  <a:pt x="77" y="77"/>
                </a:cubicBezTo>
                <a:cubicBezTo>
                  <a:pt x="90" y="65"/>
                  <a:pt x="103" y="54"/>
                  <a:pt x="117" y="44"/>
                </a:cubicBezTo>
                <a:cubicBezTo>
                  <a:pt x="132" y="35"/>
                  <a:pt x="147" y="26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1"/>
                  <a:pt x="247" y="0"/>
                  <a:pt x="264" y="0"/>
                </a:cubicBezTo>
                <a:cubicBezTo>
                  <a:pt x="282" y="0"/>
                  <a:pt x="300" y="1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6"/>
                  <a:pt x="398" y="35"/>
                  <a:pt x="412" y="44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89"/>
                  <a:pt x="476" y="103"/>
                  <a:pt x="485" y="117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4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037880" y="195228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923760" y="2280600"/>
            <a:ext cx="5144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Knowledge about how systems work (general knowledge).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766440" y="2795400"/>
            <a:ext cx="10658880" cy="1000440"/>
          </a:xfrm>
          <a:custGeom>
            <a:avLst/>
            <a:gdLst/>
            <a:ahLst/>
            <a:rect l="0" t="0" r="r" b="b"/>
            <a:pathLst>
              <a:path w="29608" h="2779">
                <a:moveTo>
                  <a:pt x="0" y="263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2634"/>
                </a:lnTo>
                <a:cubicBezTo>
                  <a:pt x="29608" y="2643"/>
                  <a:pt x="29607" y="2653"/>
                  <a:pt x="29605" y="2662"/>
                </a:cubicBezTo>
                <a:cubicBezTo>
                  <a:pt x="29604" y="2671"/>
                  <a:pt x="29601" y="2680"/>
                  <a:pt x="29597" y="2689"/>
                </a:cubicBezTo>
                <a:cubicBezTo>
                  <a:pt x="29594" y="2698"/>
                  <a:pt x="29589" y="2707"/>
                  <a:pt x="29584" y="2714"/>
                </a:cubicBezTo>
                <a:cubicBezTo>
                  <a:pt x="29578" y="2722"/>
                  <a:pt x="29572" y="2730"/>
                  <a:pt x="29566" y="2737"/>
                </a:cubicBezTo>
                <a:cubicBezTo>
                  <a:pt x="29559" y="2743"/>
                  <a:pt x="29552" y="2749"/>
                  <a:pt x="29544" y="2755"/>
                </a:cubicBezTo>
                <a:cubicBezTo>
                  <a:pt x="29536" y="2760"/>
                  <a:pt x="29527" y="2764"/>
                  <a:pt x="29518" y="2768"/>
                </a:cubicBezTo>
                <a:cubicBezTo>
                  <a:pt x="29510" y="2772"/>
                  <a:pt x="29501" y="2774"/>
                  <a:pt x="29491" y="2776"/>
                </a:cubicBezTo>
                <a:cubicBezTo>
                  <a:pt x="29482" y="2778"/>
                  <a:pt x="29472" y="2779"/>
                  <a:pt x="29463" y="2779"/>
                </a:cubicBezTo>
                <a:lnTo>
                  <a:pt x="146" y="2779"/>
                </a:lnTo>
                <a:cubicBezTo>
                  <a:pt x="136" y="2779"/>
                  <a:pt x="127" y="2778"/>
                  <a:pt x="118" y="2776"/>
                </a:cubicBezTo>
                <a:cubicBezTo>
                  <a:pt x="108" y="2774"/>
                  <a:pt x="99" y="2772"/>
                  <a:pt x="90" y="2768"/>
                </a:cubicBezTo>
                <a:cubicBezTo>
                  <a:pt x="81" y="2764"/>
                  <a:pt x="73" y="2760"/>
                  <a:pt x="65" y="2755"/>
                </a:cubicBezTo>
                <a:cubicBezTo>
                  <a:pt x="57" y="2749"/>
                  <a:pt x="50" y="2743"/>
                  <a:pt x="43" y="2737"/>
                </a:cubicBezTo>
                <a:cubicBezTo>
                  <a:pt x="36" y="2730"/>
                  <a:pt x="30" y="2722"/>
                  <a:pt x="25" y="2714"/>
                </a:cubicBezTo>
                <a:cubicBezTo>
                  <a:pt x="20" y="2707"/>
                  <a:pt x="15" y="2698"/>
                  <a:pt x="11" y="2689"/>
                </a:cubicBezTo>
                <a:cubicBezTo>
                  <a:pt x="8" y="2680"/>
                  <a:pt x="5" y="2671"/>
                  <a:pt x="3" y="2662"/>
                </a:cubicBezTo>
                <a:cubicBezTo>
                  <a:pt x="1" y="2653"/>
                  <a:pt x="0" y="2643"/>
                  <a:pt x="0" y="2634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766440" y="2795400"/>
            <a:ext cx="10658880" cy="1000440"/>
          </a:xfrm>
          <a:custGeom>
            <a:avLst/>
            <a:gdLst/>
            <a:ahLst/>
            <a:rect l="0" t="0" r="r" b="b"/>
            <a:pathLst>
              <a:path fill="none" w="29608" h="2779">
                <a:moveTo>
                  <a:pt x="0" y="263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2634"/>
                </a:lnTo>
                <a:cubicBezTo>
                  <a:pt x="29608" y="2643"/>
                  <a:pt x="29607" y="2653"/>
                  <a:pt x="29605" y="2662"/>
                </a:cubicBezTo>
                <a:cubicBezTo>
                  <a:pt x="29604" y="2671"/>
                  <a:pt x="29601" y="2680"/>
                  <a:pt x="29597" y="2689"/>
                </a:cubicBezTo>
                <a:cubicBezTo>
                  <a:pt x="29594" y="2698"/>
                  <a:pt x="29589" y="2707"/>
                  <a:pt x="29584" y="2714"/>
                </a:cubicBezTo>
                <a:cubicBezTo>
                  <a:pt x="29578" y="2722"/>
                  <a:pt x="29572" y="2730"/>
                  <a:pt x="29566" y="2737"/>
                </a:cubicBezTo>
                <a:cubicBezTo>
                  <a:pt x="29559" y="2743"/>
                  <a:pt x="29552" y="2749"/>
                  <a:pt x="29544" y="2755"/>
                </a:cubicBezTo>
                <a:cubicBezTo>
                  <a:pt x="29536" y="2760"/>
                  <a:pt x="29527" y="2764"/>
                  <a:pt x="29518" y="2768"/>
                </a:cubicBezTo>
                <a:cubicBezTo>
                  <a:pt x="29510" y="2772"/>
                  <a:pt x="29501" y="2774"/>
                  <a:pt x="29491" y="2776"/>
                </a:cubicBezTo>
                <a:cubicBezTo>
                  <a:pt x="29482" y="2778"/>
                  <a:pt x="29472" y="2779"/>
                  <a:pt x="29463" y="2779"/>
                </a:cubicBezTo>
                <a:lnTo>
                  <a:pt x="146" y="2779"/>
                </a:lnTo>
                <a:cubicBezTo>
                  <a:pt x="136" y="2779"/>
                  <a:pt x="127" y="2778"/>
                  <a:pt x="118" y="2776"/>
                </a:cubicBezTo>
                <a:cubicBezTo>
                  <a:pt x="108" y="2774"/>
                  <a:pt x="99" y="2772"/>
                  <a:pt x="90" y="2768"/>
                </a:cubicBezTo>
                <a:cubicBezTo>
                  <a:pt x="81" y="2764"/>
                  <a:pt x="73" y="2760"/>
                  <a:pt x="65" y="2755"/>
                </a:cubicBezTo>
                <a:cubicBezTo>
                  <a:pt x="57" y="2749"/>
                  <a:pt x="50" y="2743"/>
                  <a:pt x="43" y="2737"/>
                </a:cubicBezTo>
                <a:cubicBezTo>
                  <a:pt x="36" y="2730"/>
                  <a:pt x="30" y="2722"/>
                  <a:pt x="25" y="2714"/>
                </a:cubicBezTo>
                <a:cubicBezTo>
                  <a:pt x="20" y="2707"/>
                  <a:pt x="15" y="2698"/>
                  <a:pt x="11" y="2689"/>
                </a:cubicBezTo>
                <a:cubicBezTo>
                  <a:pt x="8" y="2680"/>
                  <a:pt x="5" y="2671"/>
                  <a:pt x="3" y="2662"/>
                </a:cubicBezTo>
                <a:cubicBezTo>
                  <a:pt x="1" y="2653"/>
                  <a:pt x="0" y="2643"/>
                  <a:pt x="0" y="2634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203120" y="1883880"/>
            <a:ext cx="1742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System Theory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923760" y="3404520"/>
            <a:ext cx="12218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Diagnosing a 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2189160" y="3404520"/>
            <a:ext cx="6912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9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speciﬁc</a:t>
            </a:r>
            <a:endParaRPr b="0" lang="en-US" sz="14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942840" y="300960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8" y="299"/>
                  <a:pt x="525" y="317"/>
                </a:cubicBezTo>
                <a:cubicBezTo>
                  <a:pt x="522" y="334"/>
                  <a:pt x="517" y="350"/>
                  <a:pt x="510" y="366"/>
                </a:cubicBezTo>
                <a:cubicBezTo>
                  <a:pt x="503" y="383"/>
                  <a:pt x="495" y="398"/>
                  <a:pt x="485" y="413"/>
                </a:cubicBezTo>
                <a:cubicBezTo>
                  <a:pt x="476" y="427"/>
                  <a:pt x="465" y="441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6"/>
                  <a:pt x="383" y="504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9"/>
                  <a:pt x="282" y="530"/>
                  <a:pt x="264" y="530"/>
                </a:cubicBezTo>
                <a:cubicBezTo>
                  <a:pt x="247" y="530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4"/>
                  <a:pt x="132" y="496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1"/>
                  <a:pt x="54" y="427"/>
                  <a:pt x="44" y="413"/>
                </a:cubicBezTo>
                <a:cubicBezTo>
                  <a:pt x="35" y="398"/>
                  <a:pt x="27" y="383"/>
                  <a:pt x="20" y="366"/>
                </a:cubicBezTo>
                <a:cubicBezTo>
                  <a:pt x="13" y="350"/>
                  <a:pt x="8" y="334"/>
                  <a:pt x="5" y="317"/>
                </a:cubicBezTo>
                <a:cubicBezTo>
                  <a:pt x="2" y="299"/>
                  <a:pt x="0" y="282"/>
                  <a:pt x="0" y="265"/>
                </a:cubicBezTo>
                <a:cubicBezTo>
                  <a:pt x="0" y="248"/>
                  <a:pt x="2" y="230"/>
                  <a:pt x="5" y="213"/>
                </a:cubicBezTo>
                <a:cubicBezTo>
                  <a:pt x="8" y="196"/>
                  <a:pt x="13" y="180"/>
                  <a:pt x="20" y="164"/>
                </a:cubicBezTo>
                <a:cubicBezTo>
                  <a:pt x="27" y="148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90" y="66"/>
                  <a:pt x="103" y="55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9"/>
                  <a:pt x="351" y="14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3" y="78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7" y="180"/>
                  <a:pt x="522" y="196"/>
                  <a:pt x="525" y="213"/>
                </a:cubicBezTo>
                <a:cubicBezTo>
                  <a:pt x="528" y="230"/>
                  <a:pt x="530" y="248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1037880" y="306684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2813400" y="3404520"/>
            <a:ext cx="2830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problem using that knowledge.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766440" y="3919320"/>
            <a:ext cx="10658880" cy="991080"/>
          </a:xfrm>
          <a:custGeom>
            <a:avLst/>
            <a:gdLst/>
            <a:ahLst/>
            <a:rect l="0" t="0" r="r" b="b"/>
            <a:pathLst>
              <a:path w="29608" h="2753">
                <a:moveTo>
                  <a:pt x="0" y="260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2607"/>
                </a:lnTo>
                <a:cubicBezTo>
                  <a:pt x="29608" y="2617"/>
                  <a:pt x="29607" y="2626"/>
                  <a:pt x="29605" y="2636"/>
                </a:cubicBezTo>
                <a:cubicBezTo>
                  <a:pt x="29604" y="2645"/>
                  <a:pt x="29601" y="2654"/>
                  <a:pt x="29597" y="2663"/>
                </a:cubicBezTo>
                <a:cubicBezTo>
                  <a:pt x="29594" y="2672"/>
                  <a:pt x="29589" y="2680"/>
                  <a:pt x="29584" y="2688"/>
                </a:cubicBezTo>
                <a:cubicBezTo>
                  <a:pt x="29578" y="2696"/>
                  <a:pt x="29572" y="2703"/>
                  <a:pt x="29566" y="2710"/>
                </a:cubicBezTo>
                <a:cubicBezTo>
                  <a:pt x="29559" y="2717"/>
                  <a:pt x="29552" y="2723"/>
                  <a:pt x="29544" y="2728"/>
                </a:cubicBezTo>
                <a:cubicBezTo>
                  <a:pt x="29536" y="2734"/>
                  <a:pt x="29527" y="2738"/>
                  <a:pt x="29518" y="2742"/>
                </a:cubicBezTo>
                <a:cubicBezTo>
                  <a:pt x="29510" y="2745"/>
                  <a:pt x="29501" y="2748"/>
                  <a:pt x="29491" y="2750"/>
                </a:cubicBezTo>
                <a:cubicBezTo>
                  <a:pt x="29482" y="2752"/>
                  <a:pt x="29472" y="2753"/>
                  <a:pt x="29463" y="2753"/>
                </a:cubicBezTo>
                <a:lnTo>
                  <a:pt x="146" y="2753"/>
                </a:lnTo>
                <a:cubicBezTo>
                  <a:pt x="136" y="2753"/>
                  <a:pt x="127" y="2752"/>
                  <a:pt x="118" y="2750"/>
                </a:cubicBezTo>
                <a:cubicBezTo>
                  <a:pt x="108" y="2748"/>
                  <a:pt x="99" y="2745"/>
                  <a:pt x="90" y="2742"/>
                </a:cubicBezTo>
                <a:cubicBezTo>
                  <a:pt x="81" y="2738"/>
                  <a:pt x="73" y="2734"/>
                  <a:pt x="65" y="2728"/>
                </a:cubicBezTo>
                <a:cubicBezTo>
                  <a:pt x="57" y="2723"/>
                  <a:pt x="50" y="2717"/>
                  <a:pt x="43" y="2710"/>
                </a:cubicBezTo>
                <a:cubicBezTo>
                  <a:pt x="36" y="2703"/>
                  <a:pt x="30" y="2696"/>
                  <a:pt x="25" y="2688"/>
                </a:cubicBezTo>
                <a:cubicBezTo>
                  <a:pt x="20" y="2680"/>
                  <a:pt x="15" y="2672"/>
                  <a:pt x="11" y="2663"/>
                </a:cubicBezTo>
                <a:cubicBezTo>
                  <a:pt x="8" y="2654"/>
                  <a:pt x="5" y="2645"/>
                  <a:pt x="3" y="2636"/>
                </a:cubicBezTo>
                <a:cubicBezTo>
                  <a:pt x="1" y="2626"/>
                  <a:pt x="0" y="2617"/>
                  <a:pt x="0" y="2607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766440" y="3919320"/>
            <a:ext cx="10658880" cy="991080"/>
          </a:xfrm>
          <a:custGeom>
            <a:avLst/>
            <a:gdLst/>
            <a:ahLst/>
            <a:rect l="0" t="0" r="r" b="b"/>
            <a:pathLst>
              <a:path fill="none" w="29608" h="2753">
                <a:moveTo>
                  <a:pt x="0" y="260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2607"/>
                </a:lnTo>
                <a:cubicBezTo>
                  <a:pt x="29608" y="2617"/>
                  <a:pt x="29607" y="2626"/>
                  <a:pt x="29605" y="2636"/>
                </a:cubicBezTo>
                <a:cubicBezTo>
                  <a:pt x="29604" y="2645"/>
                  <a:pt x="29601" y="2654"/>
                  <a:pt x="29597" y="2663"/>
                </a:cubicBezTo>
                <a:cubicBezTo>
                  <a:pt x="29594" y="2672"/>
                  <a:pt x="29589" y="2680"/>
                  <a:pt x="29584" y="2688"/>
                </a:cubicBezTo>
                <a:cubicBezTo>
                  <a:pt x="29578" y="2696"/>
                  <a:pt x="29572" y="2703"/>
                  <a:pt x="29566" y="2710"/>
                </a:cubicBezTo>
                <a:cubicBezTo>
                  <a:pt x="29559" y="2717"/>
                  <a:pt x="29552" y="2723"/>
                  <a:pt x="29544" y="2728"/>
                </a:cubicBezTo>
                <a:cubicBezTo>
                  <a:pt x="29536" y="2734"/>
                  <a:pt x="29527" y="2738"/>
                  <a:pt x="29518" y="2742"/>
                </a:cubicBezTo>
                <a:cubicBezTo>
                  <a:pt x="29510" y="2745"/>
                  <a:pt x="29501" y="2748"/>
                  <a:pt x="29491" y="2750"/>
                </a:cubicBezTo>
                <a:cubicBezTo>
                  <a:pt x="29482" y="2752"/>
                  <a:pt x="29472" y="2753"/>
                  <a:pt x="29463" y="2753"/>
                </a:cubicBezTo>
                <a:lnTo>
                  <a:pt x="146" y="2753"/>
                </a:lnTo>
                <a:cubicBezTo>
                  <a:pt x="136" y="2753"/>
                  <a:pt x="127" y="2752"/>
                  <a:pt x="118" y="2750"/>
                </a:cubicBezTo>
                <a:cubicBezTo>
                  <a:pt x="108" y="2748"/>
                  <a:pt x="99" y="2745"/>
                  <a:pt x="90" y="2742"/>
                </a:cubicBezTo>
                <a:cubicBezTo>
                  <a:pt x="81" y="2738"/>
                  <a:pt x="73" y="2734"/>
                  <a:pt x="65" y="2728"/>
                </a:cubicBezTo>
                <a:cubicBezTo>
                  <a:pt x="57" y="2723"/>
                  <a:pt x="50" y="2717"/>
                  <a:pt x="43" y="2710"/>
                </a:cubicBezTo>
                <a:cubicBezTo>
                  <a:pt x="36" y="2703"/>
                  <a:pt x="30" y="2696"/>
                  <a:pt x="25" y="2688"/>
                </a:cubicBezTo>
                <a:cubicBezTo>
                  <a:pt x="20" y="2680"/>
                  <a:pt x="15" y="2672"/>
                  <a:pt x="11" y="2663"/>
                </a:cubicBezTo>
                <a:cubicBezTo>
                  <a:pt x="8" y="2654"/>
                  <a:pt x="5" y="2645"/>
                  <a:pt x="3" y="2636"/>
                </a:cubicBezTo>
                <a:cubicBezTo>
                  <a:pt x="1" y="2626"/>
                  <a:pt x="0" y="2617"/>
                  <a:pt x="0" y="2607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203120" y="2998440"/>
            <a:ext cx="2098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Systems Thinking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942840" y="4133520"/>
            <a:ext cx="190800" cy="191160"/>
          </a:xfrm>
          <a:custGeom>
            <a:avLst/>
            <a:gdLst/>
            <a:ahLst/>
            <a:rect l="0" t="0" r="r" b="b"/>
            <a:pathLst>
              <a:path fill="none" w="530" h="531">
                <a:moveTo>
                  <a:pt x="530" y="265"/>
                </a:moveTo>
                <a:cubicBezTo>
                  <a:pt x="530" y="282"/>
                  <a:pt x="528" y="300"/>
                  <a:pt x="525" y="317"/>
                </a:cubicBezTo>
                <a:cubicBezTo>
                  <a:pt x="522" y="334"/>
                  <a:pt x="517" y="350"/>
                  <a:pt x="510" y="366"/>
                </a:cubicBezTo>
                <a:cubicBezTo>
                  <a:pt x="503" y="382"/>
                  <a:pt x="495" y="398"/>
                  <a:pt x="485" y="412"/>
                </a:cubicBezTo>
                <a:cubicBezTo>
                  <a:pt x="476" y="427"/>
                  <a:pt x="465" y="441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6"/>
                  <a:pt x="383" y="504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9"/>
                  <a:pt x="282" y="531"/>
                  <a:pt x="264" y="531"/>
                </a:cubicBezTo>
                <a:cubicBezTo>
                  <a:pt x="247" y="531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4"/>
                  <a:pt x="132" y="496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1"/>
                  <a:pt x="54" y="427"/>
                  <a:pt x="44" y="412"/>
                </a:cubicBezTo>
                <a:cubicBezTo>
                  <a:pt x="35" y="398"/>
                  <a:pt x="27" y="382"/>
                  <a:pt x="20" y="366"/>
                </a:cubicBezTo>
                <a:cubicBezTo>
                  <a:pt x="13" y="350"/>
                  <a:pt x="8" y="334"/>
                  <a:pt x="5" y="317"/>
                </a:cubicBezTo>
                <a:cubicBezTo>
                  <a:pt x="2" y="300"/>
                  <a:pt x="0" y="282"/>
                  <a:pt x="0" y="265"/>
                </a:cubicBezTo>
                <a:cubicBezTo>
                  <a:pt x="0" y="248"/>
                  <a:pt x="2" y="230"/>
                  <a:pt x="5" y="213"/>
                </a:cubicBezTo>
                <a:cubicBezTo>
                  <a:pt x="8" y="196"/>
                  <a:pt x="13" y="180"/>
                  <a:pt x="20" y="164"/>
                </a:cubicBezTo>
                <a:cubicBezTo>
                  <a:pt x="27" y="148"/>
                  <a:pt x="35" y="132"/>
                  <a:pt x="44" y="118"/>
                </a:cubicBezTo>
                <a:cubicBezTo>
                  <a:pt x="54" y="104"/>
                  <a:pt x="65" y="90"/>
                  <a:pt x="77" y="78"/>
                </a:cubicBezTo>
                <a:cubicBezTo>
                  <a:pt x="90" y="66"/>
                  <a:pt x="103" y="55"/>
                  <a:pt x="117" y="45"/>
                </a:cubicBezTo>
                <a:cubicBezTo>
                  <a:pt x="132" y="35"/>
                  <a:pt x="147" y="27"/>
                  <a:pt x="163" y="21"/>
                </a:cubicBezTo>
                <a:cubicBezTo>
                  <a:pt x="179" y="14"/>
                  <a:pt x="196" y="9"/>
                  <a:pt x="213" y="6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6"/>
                </a:cubicBezTo>
                <a:cubicBezTo>
                  <a:pt x="334" y="9"/>
                  <a:pt x="351" y="14"/>
                  <a:pt x="367" y="21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3" y="78"/>
                </a:cubicBezTo>
                <a:cubicBezTo>
                  <a:pt x="465" y="90"/>
                  <a:pt x="476" y="104"/>
                  <a:pt x="485" y="118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7" y="180"/>
                  <a:pt x="522" y="196"/>
                  <a:pt x="525" y="213"/>
                </a:cubicBezTo>
                <a:cubicBezTo>
                  <a:pt x="528" y="230"/>
                  <a:pt x="530" y="248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1037880" y="419076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923760" y="4519080"/>
            <a:ext cx="6963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Designing solutions that account for the whole system and its feedback loops.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766440" y="5033880"/>
            <a:ext cx="10658880" cy="990720"/>
          </a:xfrm>
          <a:custGeom>
            <a:avLst/>
            <a:gdLst/>
            <a:ahLst/>
            <a:rect l="0" t="0" r="r" b="b"/>
            <a:pathLst>
              <a:path w="29608" h="2752">
                <a:moveTo>
                  <a:pt x="0" y="260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2607"/>
                </a:lnTo>
                <a:cubicBezTo>
                  <a:pt x="29608" y="2616"/>
                  <a:pt x="29607" y="2626"/>
                  <a:pt x="29605" y="2635"/>
                </a:cubicBezTo>
                <a:cubicBezTo>
                  <a:pt x="29604" y="2645"/>
                  <a:pt x="29601" y="2654"/>
                  <a:pt x="29597" y="2663"/>
                </a:cubicBezTo>
                <a:cubicBezTo>
                  <a:pt x="29594" y="2671"/>
                  <a:pt x="29589" y="2680"/>
                  <a:pt x="29584" y="2688"/>
                </a:cubicBezTo>
                <a:cubicBezTo>
                  <a:pt x="29578" y="2696"/>
                  <a:pt x="29572" y="2703"/>
                  <a:pt x="29566" y="2710"/>
                </a:cubicBezTo>
                <a:cubicBezTo>
                  <a:pt x="29559" y="2717"/>
                  <a:pt x="29552" y="2723"/>
                  <a:pt x="29544" y="2728"/>
                </a:cubicBezTo>
                <a:cubicBezTo>
                  <a:pt x="29536" y="2733"/>
                  <a:pt x="29527" y="2738"/>
                  <a:pt x="29518" y="2741"/>
                </a:cubicBezTo>
                <a:cubicBezTo>
                  <a:pt x="29510" y="2745"/>
                  <a:pt x="29501" y="2748"/>
                  <a:pt x="29491" y="2750"/>
                </a:cubicBezTo>
                <a:cubicBezTo>
                  <a:pt x="29482" y="2751"/>
                  <a:pt x="29472" y="2752"/>
                  <a:pt x="29463" y="2752"/>
                </a:cubicBezTo>
                <a:lnTo>
                  <a:pt x="146" y="2752"/>
                </a:lnTo>
                <a:cubicBezTo>
                  <a:pt x="136" y="2752"/>
                  <a:pt x="127" y="2751"/>
                  <a:pt x="118" y="2750"/>
                </a:cubicBezTo>
                <a:cubicBezTo>
                  <a:pt x="108" y="2748"/>
                  <a:pt x="99" y="2745"/>
                  <a:pt x="90" y="2741"/>
                </a:cubicBezTo>
                <a:cubicBezTo>
                  <a:pt x="81" y="2738"/>
                  <a:pt x="73" y="2733"/>
                  <a:pt x="65" y="2728"/>
                </a:cubicBezTo>
                <a:cubicBezTo>
                  <a:pt x="57" y="2723"/>
                  <a:pt x="50" y="2717"/>
                  <a:pt x="43" y="2710"/>
                </a:cubicBezTo>
                <a:cubicBezTo>
                  <a:pt x="36" y="2703"/>
                  <a:pt x="30" y="2696"/>
                  <a:pt x="25" y="2688"/>
                </a:cubicBezTo>
                <a:cubicBezTo>
                  <a:pt x="20" y="2680"/>
                  <a:pt x="15" y="2671"/>
                  <a:pt x="11" y="2663"/>
                </a:cubicBezTo>
                <a:cubicBezTo>
                  <a:pt x="8" y="2654"/>
                  <a:pt x="5" y="2645"/>
                  <a:pt x="3" y="2635"/>
                </a:cubicBezTo>
                <a:cubicBezTo>
                  <a:pt x="1" y="2626"/>
                  <a:pt x="0" y="2616"/>
                  <a:pt x="0" y="2607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766440" y="5033880"/>
            <a:ext cx="10658880" cy="990720"/>
          </a:xfrm>
          <a:custGeom>
            <a:avLst/>
            <a:gdLst/>
            <a:ahLst/>
            <a:rect l="0" t="0" r="r" b="b"/>
            <a:pathLst>
              <a:path fill="none" w="29608" h="2752">
                <a:moveTo>
                  <a:pt x="0" y="260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2607"/>
                </a:lnTo>
                <a:cubicBezTo>
                  <a:pt x="29608" y="2616"/>
                  <a:pt x="29607" y="2626"/>
                  <a:pt x="29605" y="2635"/>
                </a:cubicBezTo>
                <a:cubicBezTo>
                  <a:pt x="29604" y="2645"/>
                  <a:pt x="29601" y="2654"/>
                  <a:pt x="29597" y="2663"/>
                </a:cubicBezTo>
                <a:cubicBezTo>
                  <a:pt x="29594" y="2671"/>
                  <a:pt x="29589" y="2680"/>
                  <a:pt x="29584" y="2688"/>
                </a:cubicBezTo>
                <a:cubicBezTo>
                  <a:pt x="29578" y="2696"/>
                  <a:pt x="29572" y="2703"/>
                  <a:pt x="29566" y="2710"/>
                </a:cubicBezTo>
                <a:cubicBezTo>
                  <a:pt x="29559" y="2717"/>
                  <a:pt x="29552" y="2723"/>
                  <a:pt x="29544" y="2728"/>
                </a:cubicBezTo>
                <a:cubicBezTo>
                  <a:pt x="29536" y="2733"/>
                  <a:pt x="29527" y="2738"/>
                  <a:pt x="29518" y="2741"/>
                </a:cubicBezTo>
                <a:cubicBezTo>
                  <a:pt x="29510" y="2745"/>
                  <a:pt x="29501" y="2748"/>
                  <a:pt x="29491" y="2750"/>
                </a:cubicBezTo>
                <a:cubicBezTo>
                  <a:pt x="29482" y="2751"/>
                  <a:pt x="29472" y="2752"/>
                  <a:pt x="29463" y="2752"/>
                </a:cubicBezTo>
                <a:lnTo>
                  <a:pt x="146" y="2752"/>
                </a:lnTo>
                <a:cubicBezTo>
                  <a:pt x="136" y="2752"/>
                  <a:pt x="127" y="2751"/>
                  <a:pt x="118" y="2750"/>
                </a:cubicBezTo>
                <a:cubicBezTo>
                  <a:pt x="108" y="2748"/>
                  <a:pt x="99" y="2745"/>
                  <a:pt x="90" y="2741"/>
                </a:cubicBezTo>
                <a:cubicBezTo>
                  <a:pt x="81" y="2738"/>
                  <a:pt x="73" y="2733"/>
                  <a:pt x="65" y="2728"/>
                </a:cubicBezTo>
                <a:cubicBezTo>
                  <a:pt x="57" y="2723"/>
                  <a:pt x="50" y="2717"/>
                  <a:pt x="43" y="2710"/>
                </a:cubicBezTo>
                <a:cubicBezTo>
                  <a:pt x="36" y="2703"/>
                  <a:pt x="30" y="2696"/>
                  <a:pt x="25" y="2688"/>
                </a:cubicBezTo>
                <a:cubicBezTo>
                  <a:pt x="20" y="2680"/>
                  <a:pt x="15" y="2671"/>
                  <a:pt x="11" y="2663"/>
                </a:cubicBezTo>
                <a:cubicBezTo>
                  <a:pt x="8" y="2654"/>
                  <a:pt x="5" y="2645"/>
                  <a:pt x="3" y="2635"/>
                </a:cubicBezTo>
                <a:cubicBezTo>
                  <a:pt x="1" y="2626"/>
                  <a:pt x="0" y="2616"/>
                  <a:pt x="0" y="2607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203120" y="4122360"/>
            <a:ext cx="1933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Systemic Design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942840" y="524808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2" y="333"/>
                  <a:pt x="517" y="350"/>
                  <a:pt x="510" y="366"/>
                </a:cubicBezTo>
                <a:cubicBezTo>
                  <a:pt x="503" y="382"/>
                  <a:pt x="495" y="397"/>
                  <a:pt x="485" y="412"/>
                </a:cubicBezTo>
                <a:cubicBezTo>
                  <a:pt x="476" y="426"/>
                  <a:pt x="465" y="439"/>
                  <a:pt x="453" y="452"/>
                </a:cubicBezTo>
                <a:cubicBezTo>
                  <a:pt x="440" y="464"/>
                  <a:pt x="427" y="475"/>
                  <a:pt x="412" y="485"/>
                </a:cubicBezTo>
                <a:cubicBezTo>
                  <a:pt x="398" y="494"/>
                  <a:pt x="383" y="503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9"/>
                  <a:pt x="282" y="530"/>
                  <a:pt x="264" y="530"/>
                </a:cubicBezTo>
                <a:cubicBezTo>
                  <a:pt x="247" y="530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4"/>
                  <a:pt x="117" y="485"/>
                </a:cubicBezTo>
                <a:cubicBezTo>
                  <a:pt x="103" y="475"/>
                  <a:pt x="90" y="464"/>
                  <a:pt x="77" y="452"/>
                </a:cubicBezTo>
                <a:cubicBezTo>
                  <a:pt x="65" y="439"/>
                  <a:pt x="54" y="426"/>
                  <a:pt x="44" y="412"/>
                </a:cubicBezTo>
                <a:cubicBezTo>
                  <a:pt x="35" y="397"/>
                  <a:pt x="27" y="382"/>
                  <a:pt x="20" y="366"/>
                </a:cubicBezTo>
                <a:cubicBezTo>
                  <a:pt x="13" y="350"/>
                  <a:pt x="8" y="333"/>
                  <a:pt x="5" y="316"/>
                </a:cubicBezTo>
                <a:cubicBezTo>
                  <a:pt x="2" y="299"/>
                  <a:pt x="0" y="282"/>
                  <a:pt x="0" y="265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90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9"/>
                  <a:pt x="351" y="14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4"/>
                  <a:pt x="440" y="65"/>
                  <a:pt x="453" y="78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1037880" y="530532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923760" y="5643000"/>
            <a:ext cx="8163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Breaking design into orderly, methodical steps — doesn't by itself require systems thinking.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203120" y="5236920"/>
            <a:ext cx="2160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Systematic Design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"/>
          <p:cNvSpPr txBox="1"/>
          <p:nvPr/>
        </p:nvSpPr>
        <p:spPr>
          <a:xfrm>
            <a:off x="762120" y="2689560"/>
            <a:ext cx="10100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AI engineers often focus on algorithms, data, or hardware in isolation. Yet AI systems rarely operate in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762120" y="2994480"/>
            <a:ext cx="9702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isolation—they exist within dynamic, multi-stakeholder ecosystems. From autonomous vehicles to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762120" y="3299040"/>
            <a:ext cx="10625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healthcare diagnostics, their success depends not only on technical accuracy but also on how they integrate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762120" y="3603960"/>
            <a:ext cx="497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with human, organisational, and societal contexts.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762120" y="4051800"/>
            <a:ext cx="10261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thinking provides a framework for recognising interconnections, feedback loops, and emergent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62120" y="4356360"/>
            <a:ext cx="10169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behaviour. Instead of viewing an AI model as a “black box,” systems thinking situates it within a web of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762120" y="4661280"/>
            <a:ext cx="710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dependencies: hardware, data ﬂows, ethics, regulations, and end-users.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762120" y="-8280"/>
            <a:ext cx="83278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Introduction: Why Systems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762120" y="753480"/>
            <a:ext cx="50817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Thinking for AI?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"/>
          <p:cNvSpPr txBox="1"/>
          <p:nvPr/>
        </p:nvSpPr>
        <p:spPr>
          <a:xfrm>
            <a:off x="762120" y="1963800"/>
            <a:ext cx="448704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Three Tools of Systems Thinkers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766440" y="2566800"/>
            <a:ext cx="5277240" cy="1543320"/>
          </a:xfrm>
          <a:custGeom>
            <a:avLst/>
            <a:gdLst/>
            <a:ahLst/>
            <a:rect l="0" t="0" r="r" b="b"/>
            <a:pathLst>
              <a:path w="14659" h="4287">
                <a:moveTo>
                  <a:pt x="0" y="414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4142"/>
                </a:lnTo>
                <a:cubicBezTo>
                  <a:pt x="14659" y="4151"/>
                  <a:pt x="14658" y="4161"/>
                  <a:pt x="14657" y="4170"/>
                </a:cubicBezTo>
                <a:cubicBezTo>
                  <a:pt x="14655" y="4180"/>
                  <a:pt x="14652" y="4189"/>
                  <a:pt x="14648" y="4197"/>
                </a:cubicBezTo>
                <a:cubicBezTo>
                  <a:pt x="14645" y="4206"/>
                  <a:pt x="14640" y="4215"/>
                  <a:pt x="14635" y="4223"/>
                </a:cubicBezTo>
                <a:cubicBezTo>
                  <a:pt x="14629" y="4231"/>
                  <a:pt x="14623" y="4238"/>
                  <a:pt x="14617" y="4245"/>
                </a:cubicBezTo>
                <a:cubicBezTo>
                  <a:pt x="14610" y="4251"/>
                  <a:pt x="14603" y="4257"/>
                  <a:pt x="14595" y="4263"/>
                </a:cubicBezTo>
                <a:cubicBezTo>
                  <a:pt x="14587" y="4268"/>
                  <a:pt x="14578" y="4273"/>
                  <a:pt x="14569" y="4276"/>
                </a:cubicBezTo>
                <a:cubicBezTo>
                  <a:pt x="14561" y="4280"/>
                  <a:pt x="14552" y="4283"/>
                  <a:pt x="14542" y="4284"/>
                </a:cubicBezTo>
                <a:cubicBezTo>
                  <a:pt x="14533" y="4286"/>
                  <a:pt x="14523" y="4287"/>
                  <a:pt x="14514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8" y="4284"/>
                </a:cubicBezTo>
                <a:cubicBezTo>
                  <a:pt x="108" y="4283"/>
                  <a:pt x="99" y="4280"/>
                  <a:pt x="90" y="4276"/>
                </a:cubicBezTo>
                <a:cubicBezTo>
                  <a:pt x="81" y="4273"/>
                  <a:pt x="73" y="4268"/>
                  <a:pt x="65" y="4263"/>
                </a:cubicBezTo>
                <a:cubicBezTo>
                  <a:pt x="57" y="4257"/>
                  <a:pt x="50" y="4251"/>
                  <a:pt x="43" y="4245"/>
                </a:cubicBezTo>
                <a:cubicBezTo>
                  <a:pt x="36" y="4238"/>
                  <a:pt x="30" y="4231"/>
                  <a:pt x="25" y="4223"/>
                </a:cubicBezTo>
                <a:cubicBezTo>
                  <a:pt x="20" y="4215"/>
                  <a:pt x="15" y="4206"/>
                  <a:pt x="11" y="4197"/>
                </a:cubicBezTo>
                <a:cubicBezTo>
                  <a:pt x="8" y="4189"/>
                  <a:pt x="5" y="4180"/>
                  <a:pt x="3" y="4170"/>
                </a:cubicBezTo>
                <a:cubicBezTo>
                  <a:pt x="1" y="4161"/>
                  <a:pt x="0" y="4151"/>
                  <a:pt x="0" y="4142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766440" y="2566800"/>
            <a:ext cx="5277240" cy="1543320"/>
          </a:xfrm>
          <a:custGeom>
            <a:avLst/>
            <a:gdLst/>
            <a:ahLst/>
            <a:rect l="0" t="0" r="r" b="b"/>
            <a:pathLst>
              <a:path fill="none" w="14659" h="4287">
                <a:moveTo>
                  <a:pt x="0" y="414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4142"/>
                </a:lnTo>
                <a:cubicBezTo>
                  <a:pt x="14659" y="4151"/>
                  <a:pt x="14658" y="4161"/>
                  <a:pt x="14657" y="4170"/>
                </a:cubicBezTo>
                <a:cubicBezTo>
                  <a:pt x="14655" y="4180"/>
                  <a:pt x="14652" y="4189"/>
                  <a:pt x="14648" y="4197"/>
                </a:cubicBezTo>
                <a:cubicBezTo>
                  <a:pt x="14645" y="4206"/>
                  <a:pt x="14640" y="4215"/>
                  <a:pt x="14635" y="4223"/>
                </a:cubicBezTo>
                <a:cubicBezTo>
                  <a:pt x="14629" y="4231"/>
                  <a:pt x="14623" y="4238"/>
                  <a:pt x="14617" y="4245"/>
                </a:cubicBezTo>
                <a:cubicBezTo>
                  <a:pt x="14610" y="4251"/>
                  <a:pt x="14603" y="4257"/>
                  <a:pt x="14595" y="4263"/>
                </a:cubicBezTo>
                <a:cubicBezTo>
                  <a:pt x="14587" y="4268"/>
                  <a:pt x="14578" y="4273"/>
                  <a:pt x="14569" y="4276"/>
                </a:cubicBezTo>
                <a:cubicBezTo>
                  <a:pt x="14561" y="4280"/>
                  <a:pt x="14552" y="4283"/>
                  <a:pt x="14542" y="4284"/>
                </a:cubicBezTo>
                <a:cubicBezTo>
                  <a:pt x="14533" y="4286"/>
                  <a:pt x="14523" y="4287"/>
                  <a:pt x="14514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8" y="4284"/>
                </a:cubicBezTo>
                <a:cubicBezTo>
                  <a:pt x="108" y="4283"/>
                  <a:pt x="99" y="4280"/>
                  <a:pt x="90" y="4276"/>
                </a:cubicBezTo>
                <a:cubicBezTo>
                  <a:pt x="81" y="4273"/>
                  <a:pt x="73" y="4268"/>
                  <a:pt x="65" y="4263"/>
                </a:cubicBezTo>
                <a:cubicBezTo>
                  <a:pt x="57" y="4257"/>
                  <a:pt x="50" y="4251"/>
                  <a:pt x="43" y="4245"/>
                </a:cubicBezTo>
                <a:cubicBezTo>
                  <a:pt x="36" y="4238"/>
                  <a:pt x="30" y="4231"/>
                  <a:pt x="25" y="4223"/>
                </a:cubicBezTo>
                <a:cubicBezTo>
                  <a:pt x="20" y="4215"/>
                  <a:pt x="15" y="4206"/>
                  <a:pt x="11" y="4197"/>
                </a:cubicBezTo>
                <a:cubicBezTo>
                  <a:pt x="8" y="4189"/>
                  <a:pt x="5" y="4180"/>
                  <a:pt x="3" y="4170"/>
                </a:cubicBezTo>
                <a:cubicBezTo>
                  <a:pt x="1" y="4161"/>
                  <a:pt x="0" y="4151"/>
                  <a:pt x="0" y="4142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923760" y="3175920"/>
            <a:ext cx="4634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Not just what a system is made of, but how its parts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923760" y="3452040"/>
            <a:ext cx="3561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ﬂow into each other — a university as a 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4529160" y="3452040"/>
            <a:ext cx="9889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9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network of</a:t>
            </a:r>
            <a:endParaRPr b="0" lang="en-US" sz="14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968040" y="3728520"/>
            <a:ext cx="143604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9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knowledge ﬂow</a:t>
            </a:r>
            <a:endParaRPr b="0" lang="en-US" sz="14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942840" y="278100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8" y="299"/>
                  <a:pt x="525" y="317"/>
                </a:cubicBezTo>
                <a:cubicBezTo>
                  <a:pt x="522" y="334"/>
                  <a:pt x="517" y="350"/>
                  <a:pt x="510" y="366"/>
                </a:cubicBezTo>
                <a:cubicBezTo>
                  <a:pt x="503" y="382"/>
                  <a:pt x="495" y="397"/>
                  <a:pt x="485" y="412"/>
                </a:cubicBezTo>
                <a:cubicBezTo>
                  <a:pt x="476" y="426"/>
                  <a:pt x="465" y="440"/>
                  <a:pt x="453" y="452"/>
                </a:cubicBezTo>
                <a:cubicBezTo>
                  <a:pt x="440" y="464"/>
                  <a:pt x="427" y="476"/>
                  <a:pt x="412" y="486"/>
                </a:cubicBezTo>
                <a:cubicBezTo>
                  <a:pt x="398" y="496"/>
                  <a:pt x="383" y="504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9"/>
                  <a:pt x="282" y="530"/>
                  <a:pt x="264" y="530"/>
                </a:cubicBezTo>
                <a:cubicBezTo>
                  <a:pt x="247" y="530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4"/>
                  <a:pt x="132" y="496"/>
                  <a:pt x="117" y="486"/>
                </a:cubicBezTo>
                <a:cubicBezTo>
                  <a:pt x="103" y="476"/>
                  <a:pt x="90" y="464"/>
                  <a:pt x="77" y="452"/>
                </a:cubicBezTo>
                <a:cubicBezTo>
                  <a:pt x="65" y="440"/>
                  <a:pt x="54" y="426"/>
                  <a:pt x="44" y="412"/>
                </a:cubicBezTo>
                <a:cubicBezTo>
                  <a:pt x="35" y="397"/>
                  <a:pt x="27" y="382"/>
                  <a:pt x="20" y="366"/>
                </a:cubicBezTo>
                <a:cubicBezTo>
                  <a:pt x="13" y="350"/>
                  <a:pt x="8" y="334"/>
                  <a:pt x="5" y="317"/>
                </a:cubicBezTo>
                <a:cubicBezTo>
                  <a:pt x="2" y="299"/>
                  <a:pt x="0" y="282"/>
                  <a:pt x="0" y="265"/>
                </a:cubicBezTo>
                <a:cubicBezTo>
                  <a:pt x="0" y="248"/>
                  <a:pt x="2" y="230"/>
                  <a:pt x="5" y="213"/>
                </a:cubicBezTo>
                <a:cubicBezTo>
                  <a:pt x="8" y="196"/>
                  <a:pt x="13" y="180"/>
                  <a:pt x="20" y="164"/>
                </a:cubicBezTo>
                <a:cubicBezTo>
                  <a:pt x="27" y="148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90" y="66"/>
                  <a:pt x="103" y="55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9"/>
                  <a:pt x="351" y="14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3" y="78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7" y="180"/>
                  <a:pt x="522" y="196"/>
                  <a:pt x="525" y="213"/>
                </a:cubicBezTo>
                <a:cubicBezTo>
                  <a:pt x="528" y="230"/>
                  <a:pt x="530" y="248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037880" y="283824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2313000" y="3728520"/>
            <a:ext cx="3083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, not just departments and people.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203120" y="2769840"/>
            <a:ext cx="813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Things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2071080" y="2769840"/>
            <a:ext cx="4482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5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and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148080" y="2566800"/>
            <a:ext cx="5277240" cy="1543320"/>
          </a:xfrm>
          <a:custGeom>
            <a:avLst/>
            <a:gdLst/>
            <a:ahLst/>
            <a:rect l="0" t="0" r="r" b="b"/>
            <a:pathLst>
              <a:path w="14659" h="4287">
                <a:moveTo>
                  <a:pt x="0" y="414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4142"/>
                </a:lnTo>
                <a:cubicBezTo>
                  <a:pt x="14659" y="4151"/>
                  <a:pt x="14658" y="4161"/>
                  <a:pt x="14656" y="4170"/>
                </a:cubicBezTo>
                <a:cubicBezTo>
                  <a:pt x="14655" y="4180"/>
                  <a:pt x="14652" y="4189"/>
                  <a:pt x="14648" y="4197"/>
                </a:cubicBezTo>
                <a:cubicBezTo>
                  <a:pt x="14645" y="4206"/>
                  <a:pt x="14640" y="4215"/>
                  <a:pt x="14635" y="4223"/>
                </a:cubicBezTo>
                <a:cubicBezTo>
                  <a:pt x="14629" y="4231"/>
                  <a:pt x="14623" y="4238"/>
                  <a:pt x="14617" y="4245"/>
                </a:cubicBezTo>
                <a:cubicBezTo>
                  <a:pt x="14610" y="4251"/>
                  <a:pt x="14603" y="4257"/>
                  <a:pt x="14595" y="4263"/>
                </a:cubicBezTo>
                <a:cubicBezTo>
                  <a:pt x="14587" y="4268"/>
                  <a:pt x="14578" y="4273"/>
                  <a:pt x="14569" y="4276"/>
                </a:cubicBezTo>
                <a:cubicBezTo>
                  <a:pt x="14561" y="4280"/>
                  <a:pt x="14552" y="4283"/>
                  <a:pt x="14542" y="4284"/>
                </a:cubicBezTo>
                <a:cubicBezTo>
                  <a:pt x="14533" y="4286"/>
                  <a:pt x="14523" y="4287"/>
                  <a:pt x="14514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7" y="4284"/>
                </a:cubicBezTo>
                <a:cubicBezTo>
                  <a:pt x="108" y="4283"/>
                  <a:pt x="99" y="4280"/>
                  <a:pt x="90" y="4276"/>
                </a:cubicBezTo>
                <a:cubicBezTo>
                  <a:pt x="81" y="4273"/>
                  <a:pt x="73" y="4268"/>
                  <a:pt x="65" y="4263"/>
                </a:cubicBezTo>
                <a:cubicBezTo>
                  <a:pt x="57" y="4257"/>
                  <a:pt x="50" y="4251"/>
                  <a:pt x="43" y="4245"/>
                </a:cubicBezTo>
                <a:cubicBezTo>
                  <a:pt x="36" y="4238"/>
                  <a:pt x="30" y="4231"/>
                  <a:pt x="25" y="4223"/>
                </a:cubicBezTo>
                <a:cubicBezTo>
                  <a:pt x="20" y="4215"/>
                  <a:pt x="15" y="4206"/>
                  <a:pt x="11" y="4197"/>
                </a:cubicBezTo>
                <a:cubicBezTo>
                  <a:pt x="8" y="4189"/>
                  <a:pt x="5" y="4180"/>
                  <a:pt x="3" y="4170"/>
                </a:cubicBezTo>
                <a:cubicBezTo>
                  <a:pt x="1" y="4161"/>
                  <a:pt x="0" y="4151"/>
                  <a:pt x="0" y="4142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6148080" y="2566800"/>
            <a:ext cx="5277240" cy="1543320"/>
          </a:xfrm>
          <a:custGeom>
            <a:avLst/>
            <a:gdLst/>
            <a:ahLst/>
            <a:rect l="0" t="0" r="r" b="b"/>
            <a:pathLst>
              <a:path fill="none" w="14659" h="4287">
                <a:moveTo>
                  <a:pt x="0" y="414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4142"/>
                </a:lnTo>
                <a:cubicBezTo>
                  <a:pt x="14659" y="4151"/>
                  <a:pt x="14658" y="4161"/>
                  <a:pt x="14656" y="4170"/>
                </a:cubicBezTo>
                <a:cubicBezTo>
                  <a:pt x="14655" y="4180"/>
                  <a:pt x="14652" y="4189"/>
                  <a:pt x="14648" y="4197"/>
                </a:cubicBezTo>
                <a:cubicBezTo>
                  <a:pt x="14645" y="4206"/>
                  <a:pt x="14640" y="4215"/>
                  <a:pt x="14635" y="4223"/>
                </a:cubicBezTo>
                <a:cubicBezTo>
                  <a:pt x="14629" y="4231"/>
                  <a:pt x="14623" y="4238"/>
                  <a:pt x="14617" y="4245"/>
                </a:cubicBezTo>
                <a:cubicBezTo>
                  <a:pt x="14610" y="4251"/>
                  <a:pt x="14603" y="4257"/>
                  <a:pt x="14595" y="4263"/>
                </a:cubicBezTo>
                <a:cubicBezTo>
                  <a:pt x="14587" y="4268"/>
                  <a:pt x="14578" y="4273"/>
                  <a:pt x="14569" y="4276"/>
                </a:cubicBezTo>
                <a:cubicBezTo>
                  <a:pt x="14561" y="4280"/>
                  <a:pt x="14552" y="4283"/>
                  <a:pt x="14542" y="4284"/>
                </a:cubicBezTo>
                <a:cubicBezTo>
                  <a:pt x="14533" y="4286"/>
                  <a:pt x="14523" y="4287"/>
                  <a:pt x="14514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7" y="4284"/>
                </a:cubicBezTo>
                <a:cubicBezTo>
                  <a:pt x="108" y="4283"/>
                  <a:pt x="99" y="4280"/>
                  <a:pt x="90" y="4276"/>
                </a:cubicBezTo>
                <a:cubicBezTo>
                  <a:pt x="81" y="4273"/>
                  <a:pt x="73" y="4268"/>
                  <a:pt x="65" y="4263"/>
                </a:cubicBezTo>
                <a:cubicBezTo>
                  <a:pt x="57" y="4257"/>
                  <a:pt x="50" y="4251"/>
                  <a:pt x="43" y="4245"/>
                </a:cubicBezTo>
                <a:cubicBezTo>
                  <a:pt x="36" y="4238"/>
                  <a:pt x="30" y="4231"/>
                  <a:pt x="25" y="4223"/>
                </a:cubicBezTo>
                <a:cubicBezTo>
                  <a:pt x="20" y="4215"/>
                  <a:pt x="15" y="4206"/>
                  <a:pt x="11" y="4197"/>
                </a:cubicBezTo>
                <a:cubicBezTo>
                  <a:pt x="8" y="4189"/>
                  <a:pt x="5" y="4180"/>
                  <a:pt x="3" y="4170"/>
                </a:cubicBezTo>
                <a:cubicBezTo>
                  <a:pt x="1" y="4161"/>
                  <a:pt x="0" y="4151"/>
                  <a:pt x="0" y="4142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2451960" y="2769840"/>
            <a:ext cx="1458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Connections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6305400" y="3175920"/>
            <a:ext cx="4521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Asking not only how to acquire (talent, knowledge,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6324480" y="278100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8" y="299"/>
                  <a:pt x="525" y="317"/>
                </a:cubicBezTo>
                <a:cubicBezTo>
                  <a:pt x="522" y="334"/>
                  <a:pt x="517" y="350"/>
                  <a:pt x="510" y="366"/>
                </a:cubicBezTo>
                <a:cubicBezTo>
                  <a:pt x="503" y="382"/>
                  <a:pt x="495" y="397"/>
                  <a:pt x="485" y="412"/>
                </a:cubicBezTo>
                <a:cubicBezTo>
                  <a:pt x="476" y="426"/>
                  <a:pt x="465" y="440"/>
                  <a:pt x="453" y="452"/>
                </a:cubicBezTo>
                <a:cubicBezTo>
                  <a:pt x="440" y="464"/>
                  <a:pt x="427" y="476"/>
                  <a:pt x="412" y="486"/>
                </a:cubicBezTo>
                <a:cubicBezTo>
                  <a:pt x="398" y="496"/>
                  <a:pt x="383" y="504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9"/>
                  <a:pt x="283" y="530"/>
                  <a:pt x="265" y="530"/>
                </a:cubicBezTo>
                <a:cubicBezTo>
                  <a:pt x="248" y="530"/>
                  <a:pt x="231" y="529"/>
                  <a:pt x="214" y="525"/>
                </a:cubicBezTo>
                <a:cubicBezTo>
                  <a:pt x="197" y="522"/>
                  <a:pt x="180" y="517"/>
                  <a:pt x="164" y="510"/>
                </a:cubicBezTo>
                <a:cubicBezTo>
                  <a:pt x="147" y="504"/>
                  <a:pt x="132" y="496"/>
                  <a:pt x="117" y="486"/>
                </a:cubicBezTo>
                <a:cubicBezTo>
                  <a:pt x="103" y="476"/>
                  <a:pt x="90" y="464"/>
                  <a:pt x="77" y="452"/>
                </a:cubicBezTo>
                <a:cubicBezTo>
                  <a:pt x="65" y="440"/>
                  <a:pt x="54" y="426"/>
                  <a:pt x="44" y="412"/>
                </a:cubicBezTo>
                <a:cubicBezTo>
                  <a:pt x="35" y="397"/>
                  <a:pt x="27" y="382"/>
                  <a:pt x="20" y="366"/>
                </a:cubicBezTo>
                <a:cubicBezTo>
                  <a:pt x="13" y="350"/>
                  <a:pt x="8" y="334"/>
                  <a:pt x="5" y="317"/>
                </a:cubicBezTo>
                <a:cubicBezTo>
                  <a:pt x="2" y="299"/>
                  <a:pt x="0" y="282"/>
                  <a:pt x="0" y="265"/>
                </a:cubicBezTo>
                <a:cubicBezTo>
                  <a:pt x="0" y="248"/>
                  <a:pt x="2" y="230"/>
                  <a:pt x="5" y="213"/>
                </a:cubicBezTo>
                <a:cubicBezTo>
                  <a:pt x="8" y="196"/>
                  <a:pt x="13" y="180"/>
                  <a:pt x="20" y="164"/>
                </a:cubicBezTo>
                <a:cubicBezTo>
                  <a:pt x="27" y="148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90" y="66"/>
                  <a:pt x="103" y="55"/>
                  <a:pt x="117" y="45"/>
                </a:cubicBezTo>
                <a:cubicBezTo>
                  <a:pt x="132" y="35"/>
                  <a:pt x="147" y="27"/>
                  <a:pt x="164" y="20"/>
                </a:cubicBezTo>
                <a:cubicBezTo>
                  <a:pt x="180" y="14"/>
                  <a:pt x="197" y="9"/>
                  <a:pt x="214" y="5"/>
                </a:cubicBezTo>
                <a:cubicBezTo>
                  <a:pt x="231" y="2"/>
                  <a:pt x="248" y="0"/>
                  <a:pt x="265" y="0"/>
                </a:cubicBezTo>
                <a:cubicBezTo>
                  <a:pt x="283" y="0"/>
                  <a:pt x="300" y="2"/>
                  <a:pt x="317" y="5"/>
                </a:cubicBezTo>
                <a:cubicBezTo>
                  <a:pt x="334" y="9"/>
                  <a:pt x="351" y="14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3" y="78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7" y="180"/>
                  <a:pt x="522" y="196"/>
                  <a:pt x="525" y="213"/>
                </a:cubicBezTo>
                <a:cubicBezTo>
                  <a:pt x="528" y="230"/>
                  <a:pt x="530" y="248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6419520" y="283824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305400" y="3452040"/>
            <a:ext cx="4085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resources) but how it's used, retained, or lost.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766440" y="4348080"/>
            <a:ext cx="10658880" cy="1276560"/>
          </a:xfrm>
          <a:custGeom>
            <a:avLst/>
            <a:gdLst/>
            <a:ahLst/>
            <a:rect l="0" t="0" r="r" b="b"/>
            <a:pathLst>
              <a:path w="29608" h="3546">
                <a:moveTo>
                  <a:pt x="0" y="340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401"/>
                </a:lnTo>
                <a:cubicBezTo>
                  <a:pt x="29608" y="3410"/>
                  <a:pt x="29607" y="3420"/>
                  <a:pt x="29605" y="3429"/>
                </a:cubicBezTo>
                <a:cubicBezTo>
                  <a:pt x="29604" y="3438"/>
                  <a:pt x="29601" y="3447"/>
                  <a:pt x="29597" y="3456"/>
                </a:cubicBezTo>
                <a:cubicBezTo>
                  <a:pt x="29594" y="3465"/>
                  <a:pt x="29589" y="3474"/>
                  <a:pt x="29584" y="3481"/>
                </a:cubicBezTo>
                <a:cubicBezTo>
                  <a:pt x="29578" y="3489"/>
                  <a:pt x="29572" y="3497"/>
                  <a:pt x="29566" y="3504"/>
                </a:cubicBezTo>
                <a:cubicBezTo>
                  <a:pt x="29559" y="3510"/>
                  <a:pt x="29552" y="3516"/>
                  <a:pt x="29544" y="3522"/>
                </a:cubicBezTo>
                <a:cubicBezTo>
                  <a:pt x="29536" y="3527"/>
                  <a:pt x="29527" y="3531"/>
                  <a:pt x="29518" y="3535"/>
                </a:cubicBezTo>
                <a:cubicBezTo>
                  <a:pt x="29510" y="3539"/>
                  <a:pt x="29501" y="3541"/>
                  <a:pt x="29491" y="3543"/>
                </a:cubicBezTo>
                <a:cubicBezTo>
                  <a:pt x="29482" y="3545"/>
                  <a:pt x="29472" y="3546"/>
                  <a:pt x="29463" y="3546"/>
                </a:cubicBezTo>
                <a:lnTo>
                  <a:pt x="146" y="3546"/>
                </a:lnTo>
                <a:cubicBezTo>
                  <a:pt x="136" y="3546"/>
                  <a:pt x="127" y="3545"/>
                  <a:pt x="118" y="3543"/>
                </a:cubicBezTo>
                <a:cubicBezTo>
                  <a:pt x="108" y="3541"/>
                  <a:pt x="99" y="3539"/>
                  <a:pt x="90" y="3535"/>
                </a:cubicBezTo>
                <a:cubicBezTo>
                  <a:pt x="81" y="3531"/>
                  <a:pt x="73" y="3527"/>
                  <a:pt x="65" y="3522"/>
                </a:cubicBezTo>
                <a:cubicBezTo>
                  <a:pt x="57" y="3516"/>
                  <a:pt x="50" y="3510"/>
                  <a:pt x="43" y="3504"/>
                </a:cubicBezTo>
                <a:cubicBezTo>
                  <a:pt x="36" y="3497"/>
                  <a:pt x="30" y="3489"/>
                  <a:pt x="25" y="3481"/>
                </a:cubicBezTo>
                <a:cubicBezTo>
                  <a:pt x="20" y="3474"/>
                  <a:pt x="15" y="3465"/>
                  <a:pt x="11" y="3456"/>
                </a:cubicBezTo>
                <a:cubicBezTo>
                  <a:pt x="8" y="3447"/>
                  <a:pt x="5" y="3438"/>
                  <a:pt x="3" y="3429"/>
                </a:cubicBezTo>
                <a:cubicBezTo>
                  <a:pt x="1" y="3420"/>
                  <a:pt x="0" y="3410"/>
                  <a:pt x="0" y="3401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766440" y="4348080"/>
            <a:ext cx="10658880" cy="1276560"/>
          </a:xfrm>
          <a:custGeom>
            <a:avLst/>
            <a:gdLst/>
            <a:ahLst/>
            <a:rect l="0" t="0" r="r" b="b"/>
            <a:pathLst>
              <a:path fill="none" w="29608" h="3546">
                <a:moveTo>
                  <a:pt x="0" y="340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401"/>
                </a:lnTo>
                <a:cubicBezTo>
                  <a:pt x="29608" y="3410"/>
                  <a:pt x="29607" y="3420"/>
                  <a:pt x="29605" y="3429"/>
                </a:cubicBezTo>
                <a:cubicBezTo>
                  <a:pt x="29604" y="3438"/>
                  <a:pt x="29601" y="3447"/>
                  <a:pt x="29597" y="3456"/>
                </a:cubicBezTo>
                <a:cubicBezTo>
                  <a:pt x="29594" y="3465"/>
                  <a:pt x="29589" y="3474"/>
                  <a:pt x="29584" y="3481"/>
                </a:cubicBezTo>
                <a:cubicBezTo>
                  <a:pt x="29578" y="3489"/>
                  <a:pt x="29572" y="3497"/>
                  <a:pt x="29566" y="3504"/>
                </a:cubicBezTo>
                <a:cubicBezTo>
                  <a:pt x="29559" y="3510"/>
                  <a:pt x="29552" y="3516"/>
                  <a:pt x="29544" y="3522"/>
                </a:cubicBezTo>
                <a:cubicBezTo>
                  <a:pt x="29536" y="3527"/>
                  <a:pt x="29527" y="3531"/>
                  <a:pt x="29518" y="3535"/>
                </a:cubicBezTo>
                <a:cubicBezTo>
                  <a:pt x="29510" y="3539"/>
                  <a:pt x="29501" y="3541"/>
                  <a:pt x="29491" y="3543"/>
                </a:cubicBezTo>
                <a:cubicBezTo>
                  <a:pt x="29482" y="3545"/>
                  <a:pt x="29472" y="3546"/>
                  <a:pt x="29463" y="3546"/>
                </a:cubicBezTo>
                <a:lnTo>
                  <a:pt x="146" y="3546"/>
                </a:lnTo>
                <a:cubicBezTo>
                  <a:pt x="136" y="3546"/>
                  <a:pt x="127" y="3545"/>
                  <a:pt x="118" y="3543"/>
                </a:cubicBezTo>
                <a:cubicBezTo>
                  <a:pt x="108" y="3541"/>
                  <a:pt x="99" y="3539"/>
                  <a:pt x="90" y="3535"/>
                </a:cubicBezTo>
                <a:cubicBezTo>
                  <a:pt x="81" y="3531"/>
                  <a:pt x="73" y="3527"/>
                  <a:pt x="65" y="3522"/>
                </a:cubicBezTo>
                <a:cubicBezTo>
                  <a:pt x="57" y="3516"/>
                  <a:pt x="50" y="3510"/>
                  <a:pt x="43" y="3504"/>
                </a:cubicBezTo>
                <a:cubicBezTo>
                  <a:pt x="36" y="3497"/>
                  <a:pt x="30" y="3489"/>
                  <a:pt x="25" y="3481"/>
                </a:cubicBezTo>
                <a:cubicBezTo>
                  <a:pt x="20" y="3474"/>
                  <a:pt x="15" y="3465"/>
                  <a:pt x="11" y="3456"/>
                </a:cubicBezTo>
                <a:cubicBezTo>
                  <a:pt x="8" y="3447"/>
                  <a:pt x="5" y="3438"/>
                  <a:pt x="3" y="3429"/>
                </a:cubicBezTo>
                <a:cubicBezTo>
                  <a:pt x="1" y="3420"/>
                  <a:pt x="0" y="3410"/>
                  <a:pt x="0" y="3401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584760" y="2769840"/>
            <a:ext cx="2818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Outﬂow, Not Just Inﬂow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923760" y="4957200"/>
            <a:ext cx="10320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Resources and risks accumulate invisibly (burnout, undocumented knowledge) until they cross a threshold — trends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942840" y="456228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8" y="300"/>
                  <a:pt x="525" y="317"/>
                </a:cubicBezTo>
                <a:cubicBezTo>
                  <a:pt x="522" y="334"/>
                  <a:pt x="517" y="351"/>
                  <a:pt x="510" y="367"/>
                </a:cubicBezTo>
                <a:cubicBezTo>
                  <a:pt x="503" y="383"/>
                  <a:pt x="495" y="398"/>
                  <a:pt x="485" y="413"/>
                </a:cubicBezTo>
                <a:cubicBezTo>
                  <a:pt x="476" y="427"/>
                  <a:pt x="465" y="440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9"/>
                  <a:pt x="282" y="530"/>
                  <a:pt x="264" y="530"/>
                </a:cubicBezTo>
                <a:cubicBezTo>
                  <a:pt x="247" y="530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5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0"/>
                  <a:pt x="54" y="427"/>
                  <a:pt x="44" y="413"/>
                </a:cubicBezTo>
                <a:cubicBezTo>
                  <a:pt x="35" y="398"/>
                  <a:pt x="27" y="383"/>
                  <a:pt x="20" y="367"/>
                </a:cubicBezTo>
                <a:cubicBezTo>
                  <a:pt x="13" y="351"/>
                  <a:pt x="8" y="334"/>
                  <a:pt x="5" y="317"/>
                </a:cubicBezTo>
                <a:cubicBezTo>
                  <a:pt x="2" y="300"/>
                  <a:pt x="0" y="282"/>
                  <a:pt x="0" y="265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90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9"/>
                  <a:pt x="351" y="14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4"/>
                  <a:pt x="440" y="65"/>
                  <a:pt x="453" y="78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1037880" y="461952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923760" y="5233320"/>
            <a:ext cx="4240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over time reveal this, a single snapshot doesn't.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1203120" y="4551120"/>
            <a:ext cx="4707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Cost of Inaction, Not Just Cost of Action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"/>
          <p:cNvSpPr txBox="1"/>
          <p:nvPr/>
        </p:nvSpPr>
        <p:spPr>
          <a:xfrm>
            <a:off x="762120" y="1830600"/>
            <a:ext cx="36007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Three Mindsets in Practice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766440" y="2433600"/>
            <a:ext cx="5277240" cy="1819440"/>
          </a:xfrm>
          <a:custGeom>
            <a:avLst/>
            <a:gdLst/>
            <a:ahLst/>
            <a:rect l="0" t="0" r="r" b="b"/>
            <a:pathLst>
              <a:path w="14659" h="5054">
                <a:moveTo>
                  <a:pt x="0" y="490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909"/>
                </a:lnTo>
                <a:cubicBezTo>
                  <a:pt x="14659" y="4918"/>
                  <a:pt x="14658" y="4928"/>
                  <a:pt x="14657" y="4937"/>
                </a:cubicBezTo>
                <a:cubicBezTo>
                  <a:pt x="14655" y="4946"/>
                  <a:pt x="14652" y="4955"/>
                  <a:pt x="14648" y="4964"/>
                </a:cubicBezTo>
                <a:cubicBezTo>
                  <a:pt x="14645" y="4973"/>
                  <a:pt x="14640" y="4982"/>
                  <a:pt x="14635" y="4989"/>
                </a:cubicBezTo>
                <a:cubicBezTo>
                  <a:pt x="14629" y="4997"/>
                  <a:pt x="14623" y="5005"/>
                  <a:pt x="14617" y="5012"/>
                </a:cubicBezTo>
                <a:cubicBezTo>
                  <a:pt x="14610" y="5018"/>
                  <a:pt x="14603" y="5024"/>
                  <a:pt x="14595" y="5030"/>
                </a:cubicBezTo>
                <a:cubicBezTo>
                  <a:pt x="14587" y="5035"/>
                  <a:pt x="14578" y="5039"/>
                  <a:pt x="14569" y="5043"/>
                </a:cubicBezTo>
                <a:cubicBezTo>
                  <a:pt x="14561" y="5047"/>
                  <a:pt x="14552" y="5049"/>
                  <a:pt x="14542" y="5051"/>
                </a:cubicBezTo>
                <a:cubicBezTo>
                  <a:pt x="14533" y="5053"/>
                  <a:pt x="14523" y="5054"/>
                  <a:pt x="14514" y="5054"/>
                </a:cubicBezTo>
                <a:lnTo>
                  <a:pt x="146" y="5054"/>
                </a:lnTo>
                <a:cubicBezTo>
                  <a:pt x="136" y="5054"/>
                  <a:pt x="127" y="5053"/>
                  <a:pt x="118" y="5051"/>
                </a:cubicBezTo>
                <a:cubicBezTo>
                  <a:pt x="108" y="5049"/>
                  <a:pt x="99" y="5047"/>
                  <a:pt x="90" y="5043"/>
                </a:cubicBezTo>
                <a:cubicBezTo>
                  <a:pt x="81" y="5039"/>
                  <a:pt x="73" y="5035"/>
                  <a:pt x="65" y="5030"/>
                </a:cubicBezTo>
                <a:cubicBezTo>
                  <a:pt x="57" y="5024"/>
                  <a:pt x="50" y="5018"/>
                  <a:pt x="43" y="5012"/>
                </a:cubicBezTo>
                <a:cubicBezTo>
                  <a:pt x="36" y="5005"/>
                  <a:pt x="30" y="4997"/>
                  <a:pt x="25" y="4989"/>
                </a:cubicBezTo>
                <a:cubicBezTo>
                  <a:pt x="20" y="4982"/>
                  <a:pt x="15" y="4973"/>
                  <a:pt x="11" y="4964"/>
                </a:cubicBezTo>
                <a:cubicBezTo>
                  <a:pt x="8" y="4955"/>
                  <a:pt x="5" y="4946"/>
                  <a:pt x="3" y="4937"/>
                </a:cubicBezTo>
                <a:cubicBezTo>
                  <a:pt x="1" y="4928"/>
                  <a:pt x="0" y="4918"/>
                  <a:pt x="0" y="4909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766440" y="2433600"/>
            <a:ext cx="5277240" cy="1819440"/>
          </a:xfrm>
          <a:custGeom>
            <a:avLst/>
            <a:gdLst/>
            <a:ahLst/>
            <a:rect l="0" t="0" r="r" b="b"/>
            <a:pathLst>
              <a:path fill="none" w="14659" h="5054">
                <a:moveTo>
                  <a:pt x="0" y="490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909"/>
                </a:lnTo>
                <a:cubicBezTo>
                  <a:pt x="14659" y="4918"/>
                  <a:pt x="14658" y="4928"/>
                  <a:pt x="14657" y="4937"/>
                </a:cubicBezTo>
                <a:cubicBezTo>
                  <a:pt x="14655" y="4946"/>
                  <a:pt x="14652" y="4955"/>
                  <a:pt x="14648" y="4964"/>
                </a:cubicBezTo>
                <a:cubicBezTo>
                  <a:pt x="14645" y="4973"/>
                  <a:pt x="14640" y="4982"/>
                  <a:pt x="14635" y="4989"/>
                </a:cubicBezTo>
                <a:cubicBezTo>
                  <a:pt x="14629" y="4997"/>
                  <a:pt x="14623" y="5005"/>
                  <a:pt x="14617" y="5012"/>
                </a:cubicBezTo>
                <a:cubicBezTo>
                  <a:pt x="14610" y="5018"/>
                  <a:pt x="14603" y="5024"/>
                  <a:pt x="14595" y="5030"/>
                </a:cubicBezTo>
                <a:cubicBezTo>
                  <a:pt x="14587" y="5035"/>
                  <a:pt x="14578" y="5039"/>
                  <a:pt x="14569" y="5043"/>
                </a:cubicBezTo>
                <a:cubicBezTo>
                  <a:pt x="14561" y="5047"/>
                  <a:pt x="14552" y="5049"/>
                  <a:pt x="14542" y="5051"/>
                </a:cubicBezTo>
                <a:cubicBezTo>
                  <a:pt x="14533" y="5053"/>
                  <a:pt x="14523" y="5054"/>
                  <a:pt x="14514" y="5054"/>
                </a:cubicBezTo>
                <a:lnTo>
                  <a:pt x="146" y="5054"/>
                </a:lnTo>
                <a:cubicBezTo>
                  <a:pt x="136" y="5054"/>
                  <a:pt x="127" y="5053"/>
                  <a:pt x="118" y="5051"/>
                </a:cubicBezTo>
                <a:cubicBezTo>
                  <a:pt x="108" y="5049"/>
                  <a:pt x="99" y="5047"/>
                  <a:pt x="90" y="5043"/>
                </a:cubicBezTo>
                <a:cubicBezTo>
                  <a:pt x="81" y="5039"/>
                  <a:pt x="73" y="5035"/>
                  <a:pt x="65" y="5030"/>
                </a:cubicBezTo>
                <a:cubicBezTo>
                  <a:pt x="57" y="5024"/>
                  <a:pt x="50" y="5018"/>
                  <a:pt x="43" y="5012"/>
                </a:cubicBezTo>
                <a:cubicBezTo>
                  <a:pt x="36" y="5005"/>
                  <a:pt x="30" y="4997"/>
                  <a:pt x="25" y="4989"/>
                </a:cubicBezTo>
                <a:cubicBezTo>
                  <a:pt x="20" y="4982"/>
                  <a:pt x="15" y="4973"/>
                  <a:pt x="11" y="4964"/>
                </a:cubicBezTo>
                <a:cubicBezTo>
                  <a:pt x="8" y="4955"/>
                  <a:pt x="5" y="4946"/>
                  <a:pt x="3" y="4937"/>
                </a:cubicBezTo>
                <a:cubicBezTo>
                  <a:pt x="1" y="4928"/>
                  <a:pt x="0" y="4918"/>
                  <a:pt x="0" y="4909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923760" y="3042720"/>
            <a:ext cx="4999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Move between a speciﬁc pain point and the larger whole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923760" y="3309480"/>
            <a:ext cx="4492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it sits in — a single household's food waste vs. the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942840" y="264780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4"/>
                </a:moveTo>
                <a:cubicBezTo>
                  <a:pt x="530" y="282"/>
                  <a:pt x="528" y="299"/>
                  <a:pt x="525" y="317"/>
                </a:cubicBezTo>
                <a:cubicBezTo>
                  <a:pt x="522" y="334"/>
                  <a:pt x="517" y="351"/>
                  <a:pt x="510" y="367"/>
                </a:cubicBezTo>
                <a:cubicBezTo>
                  <a:pt x="503" y="383"/>
                  <a:pt x="495" y="398"/>
                  <a:pt x="485" y="412"/>
                </a:cubicBezTo>
                <a:cubicBezTo>
                  <a:pt x="476" y="427"/>
                  <a:pt x="465" y="440"/>
                  <a:pt x="453" y="453"/>
                </a:cubicBezTo>
                <a:cubicBezTo>
                  <a:pt x="440" y="465"/>
                  <a:pt x="427" y="476"/>
                  <a:pt x="412" y="485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8"/>
                  <a:pt x="282" y="530"/>
                  <a:pt x="264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5"/>
                  <a:pt x="117" y="485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0"/>
                  <a:pt x="54" y="427"/>
                  <a:pt x="44" y="412"/>
                </a:cubicBezTo>
                <a:cubicBezTo>
                  <a:pt x="35" y="398"/>
                  <a:pt x="27" y="383"/>
                  <a:pt x="20" y="367"/>
                </a:cubicBezTo>
                <a:cubicBezTo>
                  <a:pt x="13" y="351"/>
                  <a:pt x="8" y="334"/>
                  <a:pt x="5" y="317"/>
                </a:cubicBezTo>
                <a:cubicBezTo>
                  <a:pt x="2" y="299"/>
                  <a:pt x="0" y="282"/>
                  <a:pt x="0" y="264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4" y="118"/>
                </a:cubicBezTo>
                <a:cubicBezTo>
                  <a:pt x="54" y="103"/>
                  <a:pt x="65" y="90"/>
                  <a:pt x="77" y="77"/>
                </a:cubicBezTo>
                <a:cubicBezTo>
                  <a:pt x="90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4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1037880" y="270504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5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923760" y="3585600"/>
            <a:ext cx="2033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whole food ecosystem.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6148080" y="2433600"/>
            <a:ext cx="5277240" cy="1819440"/>
          </a:xfrm>
          <a:custGeom>
            <a:avLst/>
            <a:gdLst/>
            <a:ahLst/>
            <a:rect l="0" t="0" r="r" b="b"/>
            <a:pathLst>
              <a:path w="14659" h="5054">
                <a:moveTo>
                  <a:pt x="0" y="490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909"/>
                </a:lnTo>
                <a:cubicBezTo>
                  <a:pt x="14659" y="4918"/>
                  <a:pt x="14658" y="4928"/>
                  <a:pt x="14656" y="4937"/>
                </a:cubicBezTo>
                <a:cubicBezTo>
                  <a:pt x="14655" y="4946"/>
                  <a:pt x="14652" y="4955"/>
                  <a:pt x="14648" y="4964"/>
                </a:cubicBezTo>
                <a:cubicBezTo>
                  <a:pt x="14645" y="4973"/>
                  <a:pt x="14640" y="4982"/>
                  <a:pt x="14635" y="4989"/>
                </a:cubicBezTo>
                <a:cubicBezTo>
                  <a:pt x="14629" y="4997"/>
                  <a:pt x="14623" y="5005"/>
                  <a:pt x="14617" y="5012"/>
                </a:cubicBezTo>
                <a:cubicBezTo>
                  <a:pt x="14610" y="5018"/>
                  <a:pt x="14603" y="5024"/>
                  <a:pt x="14595" y="5030"/>
                </a:cubicBezTo>
                <a:cubicBezTo>
                  <a:pt x="14587" y="5035"/>
                  <a:pt x="14578" y="5039"/>
                  <a:pt x="14569" y="5043"/>
                </a:cubicBezTo>
                <a:cubicBezTo>
                  <a:pt x="14561" y="5047"/>
                  <a:pt x="14552" y="5049"/>
                  <a:pt x="14542" y="5051"/>
                </a:cubicBezTo>
                <a:cubicBezTo>
                  <a:pt x="14533" y="5053"/>
                  <a:pt x="14523" y="5054"/>
                  <a:pt x="14514" y="5054"/>
                </a:cubicBezTo>
                <a:lnTo>
                  <a:pt x="146" y="5054"/>
                </a:lnTo>
                <a:cubicBezTo>
                  <a:pt x="136" y="5054"/>
                  <a:pt x="127" y="5053"/>
                  <a:pt x="117" y="5051"/>
                </a:cubicBezTo>
                <a:cubicBezTo>
                  <a:pt x="108" y="5049"/>
                  <a:pt x="99" y="5047"/>
                  <a:pt x="90" y="5043"/>
                </a:cubicBezTo>
                <a:cubicBezTo>
                  <a:pt x="81" y="5039"/>
                  <a:pt x="73" y="5035"/>
                  <a:pt x="65" y="5030"/>
                </a:cubicBezTo>
                <a:cubicBezTo>
                  <a:pt x="57" y="5024"/>
                  <a:pt x="50" y="5018"/>
                  <a:pt x="43" y="5012"/>
                </a:cubicBezTo>
                <a:cubicBezTo>
                  <a:pt x="36" y="5005"/>
                  <a:pt x="30" y="4997"/>
                  <a:pt x="25" y="4989"/>
                </a:cubicBezTo>
                <a:cubicBezTo>
                  <a:pt x="20" y="4982"/>
                  <a:pt x="15" y="4973"/>
                  <a:pt x="11" y="4964"/>
                </a:cubicBezTo>
                <a:cubicBezTo>
                  <a:pt x="8" y="4955"/>
                  <a:pt x="5" y="4946"/>
                  <a:pt x="3" y="4937"/>
                </a:cubicBezTo>
                <a:cubicBezTo>
                  <a:pt x="1" y="4928"/>
                  <a:pt x="0" y="4918"/>
                  <a:pt x="0" y="4909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6148080" y="2433600"/>
            <a:ext cx="5277240" cy="1819440"/>
          </a:xfrm>
          <a:custGeom>
            <a:avLst/>
            <a:gdLst/>
            <a:ahLst/>
            <a:rect l="0" t="0" r="r" b="b"/>
            <a:pathLst>
              <a:path fill="none" w="14659" h="5054">
                <a:moveTo>
                  <a:pt x="0" y="490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909"/>
                </a:lnTo>
                <a:cubicBezTo>
                  <a:pt x="14659" y="4918"/>
                  <a:pt x="14658" y="4928"/>
                  <a:pt x="14656" y="4937"/>
                </a:cubicBezTo>
                <a:cubicBezTo>
                  <a:pt x="14655" y="4946"/>
                  <a:pt x="14652" y="4955"/>
                  <a:pt x="14648" y="4964"/>
                </a:cubicBezTo>
                <a:cubicBezTo>
                  <a:pt x="14645" y="4973"/>
                  <a:pt x="14640" y="4982"/>
                  <a:pt x="14635" y="4989"/>
                </a:cubicBezTo>
                <a:cubicBezTo>
                  <a:pt x="14629" y="4997"/>
                  <a:pt x="14623" y="5005"/>
                  <a:pt x="14617" y="5012"/>
                </a:cubicBezTo>
                <a:cubicBezTo>
                  <a:pt x="14610" y="5018"/>
                  <a:pt x="14603" y="5024"/>
                  <a:pt x="14595" y="5030"/>
                </a:cubicBezTo>
                <a:cubicBezTo>
                  <a:pt x="14587" y="5035"/>
                  <a:pt x="14578" y="5039"/>
                  <a:pt x="14569" y="5043"/>
                </a:cubicBezTo>
                <a:cubicBezTo>
                  <a:pt x="14561" y="5047"/>
                  <a:pt x="14552" y="5049"/>
                  <a:pt x="14542" y="5051"/>
                </a:cubicBezTo>
                <a:cubicBezTo>
                  <a:pt x="14533" y="5053"/>
                  <a:pt x="14523" y="5054"/>
                  <a:pt x="14514" y="5054"/>
                </a:cubicBezTo>
                <a:lnTo>
                  <a:pt x="146" y="5054"/>
                </a:lnTo>
                <a:cubicBezTo>
                  <a:pt x="136" y="5054"/>
                  <a:pt x="127" y="5053"/>
                  <a:pt x="117" y="5051"/>
                </a:cubicBezTo>
                <a:cubicBezTo>
                  <a:pt x="108" y="5049"/>
                  <a:pt x="99" y="5047"/>
                  <a:pt x="90" y="5043"/>
                </a:cubicBezTo>
                <a:cubicBezTo>
                  <a:pt x="81" y="5039"/>
                  <a:pt x="73" y="5035"/>
                  <a:pt x="65" y="5030"/>
                </a:cubicBezTo>
                <a:cubicBezTo>
                  <a:pt x="57" y="5024"/>
                  <a:pt x="50" y="5018"/>
                  <a:pt x="43" y="5012"/>
                </a:cubicBezTo>
                <a:cubicBezTo>
                  <a:pt x="36" y="5005"/>
                  <a:pt x="30" y="4997"/>
                  <a:pt x="25" y="4989"/>
                </a:cubicBezTo>
                <a:cubicBezTo>
                  <a:pt x="20" y="4982"/>
                  <a:pt x="15" y="4973"/>
                  <a:pt x="11" y="4964"/>
                </a:cubicBezTo>
                <a:cubicBezTo>
                  <a:pt x="8" y="4955"/>
                  <a:pt x="5" y="4946"/>
                  <a:pt x="3" y="4937"/>
                </a:cubicBezTo>
                <a:cubicBezTo>
                  <a:pt x="1" y="4928"/>
                  <a:pt x="0" y="4918"/>
                  <a:pt x="0" y="4909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1203120" y="2636280"/>
            <a:ext cx="1980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Zoom In and Out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6305400" y="3042720"/>
            <a:ext cx="4486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View the problem through someone else's eyes, or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305400" y="3309480"/>
            <a:ext cx="4741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borrow an analogy from an unrelated context — food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6305400" y="3585600"/>
            <a:ext cx="4686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waste reframed as "old clothing": discarded, but also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6324480" y="264780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4"/>
                </a:moveTo>
                <a:cubicBezTo>
                  <a:pt x="530" y="282"/>
                  <a:pt x="528" y="299"/>
                  <a:pt x="525" y="317"/>
                </a:cubicBezTo>
                <a:cubicBezTo>
                  <a:pt x="522" y="334"/>
                  <a:pt x="517" y="351"/>
                  <a:pt x="510" y="367"/>
                </a:cubicBezTo>
                <a:cubicBezTo>
                  <a:pt x="503" y="383"/>
                  <a:pt x="495" y="398"/>
                  <a:pt x="485" y="412"/>
                </a:cubicBezTo>
                <a:cubicBezTo>
                  <a:pt x="476" y="427"/>
                  <a:pt x="465" y="440"/>
                  <a:pt x="453" y="453"/>
                </a:cubicBezTo>
                <a:cubicBezTo>
                  <a:pt x="440" y="465"/>
                  <a:pt x="427" y="476"/>
                  <a:pt x="412" y="485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8"/>
                  <a:pt x="283" y="530"/>
                  <a:pt x="265" y="530"/>
                </a:cubicBezTo>
                <a:cubicBezTo>
                  <a:pt x="248" y="530"/>
                  <a:pt x="231" y="528"/>
                  <a:pt x="214" y="525"/>
                </a:cubicBezTo>
                <a:cubicBezTo>
                  <a:pt x="197" y="522"/>
                  <a:pt x="180" y="517"/>
                  <a:pt x="164" y="510"/>
                </a:cubicBezTo>
                <a:cubicBezTo>
                  <a:pt x="147" y="503"/>
                  <a:pt x="132" y="495"/>
                  <a:pt x="117" y="485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0"/>
                  <a:pt x="54" y="427"/>
                  <a:pt x="44" y="412"/>
                </a:cubicBezTo>
                <a:cubicBezTo>
                  <a:pt x="35" y="398"/>
                  <a:pt x="27" y="383"/>
                  <a:pt x="20" y="367"/>
                </a:cubicBezTo>
                <a:cubicBezTo>
                  <a:pt x="13" y="351"/>
                  <a:pt x="8" y="334"/>
                  <a:pt x="5" y="317"/>
                </a:cubicBezTo>
                <a:cubicBezTo>
                  <a:pt x="2" y="299"/>
                  <a:pt x="0" y="282"/>
                  <a:pt x="0" y="264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4" y="118"/>
                </a:cubicBezTo>
                <a:cubicBezTo>
                  <a:pt x="54" y="103"/>
                  <a:pt x="65" y="90"/>
                  <a:pt x="77" y="77"/>
                </a:cubicBezTo>
                <a:cubicBezTo>
                  <a:pt x="90" y="65"/>
                  <a:pt x="103" y="54"/>
                  <a:pt x="117" y="45"/>
                </a:cubicBezTo>
                <a:cubicBezTo>
                  <a:pt x="132" y="35"/>
                  <a:pt x="147" y="27"/>
                  <a:pt x="164" y="20"/>
                </a:cubicBezTo>
                <a:cubicBezTo>
                  <a:pt x="180" y="13"/>
                  <a:pt x="197" y="8"/>
                  <a:pt x="214" y="5"/>
                </a:cubicBezTo>
                <a:cubicBezTo>
                  <a:pt x="231" y="2"/>
                  <a:pt x="248" y="0"/>
                  <a:pt x="265" y="0"/>
                </a:cubicBezTo>
                <a:cubicBezTo>
                  <a:pt x="283" y="0"/>
                  <a:pt x="300" y="2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4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6419520" y="270504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5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6305400" y="3861720"/>
            <a:ext cx="2227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donatable, repurposable.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766440" y="4491000"/>
            <a:ext cx="10658880" cy="1267200"/>
          </a:xfrm>
          <a:custGeom>
            <a:avLst/>
            <a:gdLst/>
            <a:ahLst/>
            <a:rect l="0" t="0" r="r" b="b"/>
            <a:pathLst>
              <a:path w="29608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374"/>
                </a:lnTo>
                <a:cubicBezTo>
                  <a:pt x="29608" y="3384"/>
                  <a:pt x="29607" y="3393"/>
                  <a:pt x="29605" y="3402"/>
                </a:cubicBezTo>
                <a:cubicBezTo>
                  <a:pt x="29604" y="3412"/>
                  <a:pt x="29601" y="3421"/>
                  <a:pt x="29597" y="3430"/>
                </a:cubicBezTo>
                <a:cubicBezTo>
                  <a:pt x="29594" y="3439"/>
                  <a:pt x="29589" y="3447"/>
                  <a:pt x="29584" y="3455"/>
                </a:cubicBezTo>
                <a:cubicBezTo>
                  <a:pt x="29578" y="3463"/>
                  <a:pt x="29572" y="3470"/>
                  <a:pt x="29566" y="3477"/>
                </a:cubicBezTo>
                <a:cubicBezTo>
                  <a:pt x="29559" y="3484"/>
                  <a:pt x="29552" y="3490"/>
                  <a:pt x="29544" y="3495"/>
                </a:cubicBezTo>
                <a:cubicBezTo>
                  <a:pt x="29536" y="3500"/>
                  <a:pt x="29527" y="3505"/>
                  <a:pt x="29518" y="3508"/>
                </a:cubicBezTo>
                <a:cubicBezTo>
                  <a:pt x="29510" y="3512"/>
                  <a:pt x="29501" y="3515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2"/>
                  <a:pt x="90" y="3508"/>
                </a:cubicBezTo>
                <a:cubicBezTo>
                  <a:pt x="81" y="3505"/>
                  <a:pt x="73" y="3500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2"/>
                </a:cubicBezTo>
                <a:cubicBezTo>
                  <a:pt x="1" y="3393"/>
                  <a:pt x="0" y="3384"/>
                  <a:pt x="0" y="3374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766440" y="4491000"/>
            <a:ext cx="10658880" cy="1267200"/>
          </a:xfrm>
          <a:custGeom>
            <a:avLst/>
            <a:gdLst/>
            <a:ahLst/>
            <a:rect l="0" t="0" r="r" b="b"/>
            <a:pathLst>
              <a:path fill="none" w="29608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374"/>
                </a:lnTo>
                <a:cubicBezTo>
                  <a:pt x="29608" y="3384"/>
                  <a:pt x="29607" y="3393"/>
                  <a:pt x="29605" y="3402"/>
                </a:cubicBezTo>
                <a:cubicBezTo>
                  <a:pt x="29604" y="3412"/>
                  <a:pt x="29601" y="3421"/>
                  <a:pt x="29597" y="3430"/>
                </a:cubicBezTo>
                <a:cubicBezTo>
                  <a:pt x="29594" y="3439"/>
                  <a:pt x="29589" y="3447"/>
                  <a:pt x="29584" y="3455"/>
                </a:cubicBezTo>
                <a:cubicBezTo>
                  <a:pt x="29578" y="3463"/>
                  <a:pt x="29572" y="3470"/>
                  <a:pt x="29566" y="3477"/>
                </a:cubicBezTo>
                <a:cubicBezTo>
                  <a:pt x="29559" y="3484"/>
                  <a:pt x="29552" y="3490"/>
                  <a:pt x="29544" y="3495"/>
                </a:cubicBezTo>
                <a:cubicBezTo>
                  <a:pt x="29536" y="3500"/>
                  <a:pt x="29527" y="3505"/>
                  <a:pt x="29518" y="3508"/>
                </a:cubicBezTo>
                <a:cubicBezTo>
                  <a:pt x="29510" y="3512"/>
                  <a:pt x="29501" y="3515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2"/>
                  <a:pt x="90" y="3508"/>
                </a:cubicBezTo>
                <a:cubicBezTo>
                  <a:pt x="81" y="3505"/>
                  <a:pt x="73" y="3500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2"/>
                </a:cubicBezTo>
                <a:cubicBezTo>
                  <a:pt x="1" y="3393"/>
                  <a:pt x="0" y="3384"/>
                  <a:pt x="0" y="3374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6584760" y="2636280"/>
            <a:ext cx="1969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Shift Perspective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923760" y="5090400"/>
            <a:ext cx="10391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Question the assumptions your own background and expertise bring, before they quietly limit the problem you think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942840" y="470520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4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2" y="333"/>
                  <a:pt x="517" y="350"/>
                  <a:pt x="510" y="366"/>
                </a:cubicBezTo>
                <a:cubicBezTo>
                  <a:pt x="503" y="382"/>
                  <a:pt x="495" y="397"/>
                  <a:pt x="485" y="411"/>
                </a:cubicBezTo>
                <a:cubicBezTo>
                  <a:pt x="476" y="427"/>
                  <a:pt x="465" y="440"/>
                  <a:pt x="453" y="453"/>
                </a:cubicBezTo>
                <a:cubicBezTo>
                  <a:pt x="440" y="465"/>
                  <a:pt x="427" y="476"/>
                  <a:pt x="412" y="485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8"/>
                  <a:pt x="282" y="530"/>
                  <a:pt x="264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5"/>
                  <a:pt x="117" y="485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0"/>
                  <a:pt x="54" y="427"/>
                  <a:pt x="44" y="411"/>
                </a:cubicBezTo>
                <a:cubicBezTo>
                  <a:pt x="35" y="397"/>
                  <a:pt x="27" y="382"/>
                  <a:pt x="20" y="366"/>
                </a:cubicBezTo>
                <a:cubicBezTo>
                  <a:pt x="13" y="350"/>
                  <a:pt x="8" y="333"/>
                  <a:pt x="5" y="316"/>
                </a:cubicBezTo>
                <a:cubicBezTo>
                  <a:pt x="2" y="299"/>
                  <a:pt x="0" y="282"/>
                  <a:pt x="0" y="264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4" y="118"/>
                </a:cubicBezTo>
                <a:cubicBezTo>
                  <a:pt x="54" y="103"/>
                  <a:pt x="65" y="90"/>
                  <a:pt x="77" y="77"/>
                </a:cubicBezTo>
                <a:cubicBezTo>
                  <a:pt x="90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4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1037880" y="476244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5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923760" y="5366880"/>
            <a:ext cx="1289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you're solving.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1203120" y="4693680"/>
            <a:ext cx="3272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Be Aware of Your Own Lens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"/>
          <p:cNvSpPr txBox="1"/>
          <p:nvPr/>
        </p:nvSpPr>
        <p:spPr>
          <a:xfrm>
            <a:off x="911160" y="2251440"/>
            <a:ext cx="940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Holism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911160" y="2613240"/>
            <a:ext cx="1591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Reductionism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911160" y="2965680"/>
            <a:ext cx="2171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Interconnectedness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911160" y="3318120"/>
            <a:ext cx="1347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Boundaries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911160" y="3680280"/>
            <a:ext cx="1833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Feedback Loops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911160" y="4032720"/>
            <a:ext cx="1333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Emergence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911160" y="4385160"/>
            <a:ext cx="3230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7.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Hierarchy and Nested Systems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911160" y="4737600"/>
            <a:ext cx="2586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8.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Delays and Nonlinearity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911160" y="5099400"/>
            <a:ext cx="3565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9.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Adaptation and Self-Organisation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762120" y="372600"/>
            <a:ext cx="105220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Foundations of Systems Thinking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"/>
          <p:cNvSpPr txBox="1"/>
          <p:nvPr/>
        </p:nvSpPr>
        <p:spPr>
          <a:xfrm>
            <a:off x="762120" y="1487520"/>
            <a:ext cx="28764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Reductionism (recap)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762120" y="2003760"/>
            <a:ext cx="10409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Reductionism is an approach to understanding systems by breaking them down into their individual parts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762120" y="2308680"/>
            <a:ext cx="1048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analysing each part separately. The assumption is: if you understand all the parts, you understand the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762120" y="2613240"/>
            <a:ext cx="642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whole.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766440" y="3157200"/>
            <a:ext cx="5277240" cy="1591200"/>
          </a:xfrm>
          <a:custGeom>
            <a:avLst/>
            <a:gdLst/>
            <a:ahLst/>
            <a:rect l="0" t="0" r="r" b="b"/>
            <a:pathLst>
              <a:path w="14659" h="4420">
                <a:moveTo>
                  <a:pt x="0" y="4274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2"/>
                </a:cubicBezTo>
                <a:cubicBezTo>
                  <a:pt x="14578" y="15"/>
                  <a:pt x="14587" y="20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8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4274"/>
                </a:lnTo>
                <a:cubicBezTo>
                  <a:pt x="14659" y="4284"/>
                  <a:pt x="14658" y="4293"/>
                  <a:pt x="14657" y="4303"/>
                </a:cubicBezTo>
                <a:cubicBezTo>
                  <a:pt x="14655" y="4312"/>
                  <a:pt x="14652" y="4321"/>
                  <a:pt x="14648" y="4330"/>
                </a:cubicBezTo>
                <a:cubicBezTo>
                  <a:pt x="14645" y="4339"/>
                  <a:pt x="14640" y="4347"/>
                  <a:pt x="14635" y="4355"/>
                </a:cubicBezTo>
                <a:cubicBezTo>
                  <a:pt x="14629" y="4363"/>
                  <a:pt x="14623" y="4371"/>
                  <a:pt x="14617" y="4377"/>
                </a:cubicBezTo>
                <a:cubicBezTo>
                  <a:pt x="14610" y="4384"/>
                  <a:pt x="14603" y="4390"/>
                  <a:pt x="14595" y="4395"/>
                </a:cubicBezTo>
                <a:cubicBezTo>
                  <a:pt x="14587" y="4401"/>
                  <a:pt x="14578" y="4405"/>
                  <a:pt x="14569" y="4409"/>
                </a:cubicBezTo>
                <a:cubicBezTo>
                  <a:pt x="14561" y="4413"/>
                  <a:pt x="14552" y="4415"/>
                  <a:pt x="14542" y="4417"/>
                </a:cubicBezTo>
                <a:cubicBezTo>
                  <a:pt x="14533" y="4419"/>
                  <a:pt x="14523" y="4420"/>
                  <a:pt x="14514" y="4420"/>
                </a:cubicBezTo>
                <a:lnTo>
                  <a:pt x="146" y="4420"/>
                </a:lnTo>
                <a:cubicBezTo>
                  <a:pt x="136" y="4420"/>
                  <a:pt x="127" y="4419"/>
                  <a:pt x="118" y="4417"/>
                </a:cubicBezTo>
                <a:cubicBezTo>
                  <a:pt x="108" y="4415"/>
                  <a:pt x="99" y="4413"/>
                  <a:pt x="90" y="4409"/>
                </a:cubicBezTo>
                <a:cubicBezTo>
                  <a:pt x="81" y="4405"/>
                  <a:pt x="73" y="4401"/>
                  <a:pt x="65" y="4395"/>
                </a:cubicBezTo>
                <a:cubicBezTo>
                  <a:pt x="57" y="4390"/>
                  <a:pt x="50" y="4384"/>
                  <a:pt x="43" y="4377"/>
                </a:cubicBezTo>
                <a:cubicBezTo>
                  <a:pt x="36" y="4371"/>
                  <a:pt x="30" y="4363"/>
                  <a:pt x="25" y="4355"/>
                </a:cubicBezTo>
                <a:cubicBezTo>
                  <a:pt x="20" y="4347"/>
                  <a:pt x="15" y="4339"/>
                  <a:pt x="11" y="4330"/>
                </a:cubicBezTo>
                <a:cubicBezTo>
                  <a:pt x="8" y="4321"/>
                  <a:pt x="5" y="4312"/>
                  <a:pt x="3" y="4303"/>
                </a:cubicBezTo>
                <a:cubicBezTo>
                  <a:pt x="1" y="4293"/>
                  <a:pt x="0" y="4284"/>
                  <a:pt x="0" y="4274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766440" y="3157200"/>
            <a:ext cx="5277240" cy="1591200"/>
          </a:xfrm>
          <a:custGeom>
            <a:avLst/>
            <a:gdLst/>
            <a:ahLst/>
            <a:rect l="0" t="0" r="r" b="b"/>
            <a:pathLst>
              <a:path fill="none" w="14659" h="4420">
                <a:moveTo>
                  <a:pt x="0" y="4274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2"/>
                </a:cubicBezTo>
                <a:cubicBezTo>
                  <a:pt x="14578" y="15"/>
                  <a:pt x="14587" y="20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8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4274"/>
                </a:lnTo>
                <a:cubicBezTo>
                  <a:pt x="14659" y="4284"/>
                  <a:pt x="14658" y="4293"/>
                  <a:pt x="14657" y="4303"/>
                </a:cubicBezTo>
                <a:cubicBezTo>
                  <a:pt x="14655" y="4312"/>
                  <a:pt x="14652" y="4321"/>
                  <a:pt x="14648" y="4330"/>
                </a:cubicBezTo>
                <a:cubicBezTo>
                  <a:pt x="14645" y="4339"/>
                  <a:pt x="14640" y="4347"/>
                  <a:pt x="14635" y="4355"/>
                </a:cubicBezTo>
                <a:cubicBezTo>
                  <a:pt x="14629" y="4363"/>
                  <a:pt x="14623" y="4371"/>
                  <a:pt x="14617" y="4377"/>
                </a:cubicBezTo>
                <a:cubicBezTo>
                  <a:pt x="14610" y="4384"/>
                  <a:pt x="14603" y="4390"/>
                  <a:pt x="14595" y="4395"/>
                </a:cubicBezTo>
                <a:cubicBezTo>
                  <a:pt x="14587" y="4401"/>
                  <a:pt x="14578" y="4405"/>
                  <a:pt x="14569" y="4409"/>
                </a:cubicBezTo>
                <a:cubicBezTo>
                  <a:pt x="14561" y="4413"/>
                  <a:pt x="14552" y="4415"/>
                  <a:pt x="14542" y="4417"/>
                </a:cubicBezTo>
                <a:cubicBezTo>
                  <a:pt x="14533" y="4419"/>
                  <a:pt x="14523" y="4420"/>
                  <a:pt x="14514" y="4420"/>
                </a:cubicBezTo>
                <a:lnTo>
                  <a:pt x="146" y="4420"/>
                </a:lnTo>
                <a:cubicBezTo>
                  <a:pt x="136" y="4420"/>
                  <a:pt x="127" y="4419"/>
                  <a:pt x="118" y="4417"/>
                </a:cubicBezTo>
                <a:cubicBezTo>
                  <a:pt x="108" y="4415"/>
                  <a:pt x="99" y="4413"/>
                  <a:pt x="90" y="4409"/>
                </a:cubicBezTo>
                <a:cubicBezTo>
                  <a:pt x="81" y="4405"/>
                  <a:pt x="73" y="4401"/>
                  <a:pt x="65" y="4395"/>
                </a:cubicBezTo>
                <a:cubicBezTo>
                  <a:pt x="57" y="4390"/>
                  <a:pt x="50" y="4384"/>
                  <a:pt x="43" y="4377"/>
                </a:cubicBezTo>
                <a:cubicBezTo>
                  <a:pt x="36" y="4371"/>
                  <a:pt x="30" y="4363"/>
                  <a:pt x="25" y="4355"/>
                </a:cubicBezTo>
                <a:cubicBezTo>
                  <a:pt x="20" y="4347"/>
                  <a:pt x="15" y="4339"/>
                  <a:pt x="11" y="4330"/>
                </a:cubicBezTo>
                <a:cubicBezTo>
                  <a:pt x="8" y="4321"/>
                  <a:pt x="5" y="4312"/>
                  <a:pt x="3" y="4303"/>
                </a:cubicBezTo>
                <a:cubicBezTo>
                  <a:pt x="1" y="4293"/>
                  <a:pt x="0" y="4284"/>
                  <a:pt x="0" y="4274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1104840" y="38574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1104840" y="418140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0"/>
                  <a:pt x="153" y="109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9" y="143"/>
                  <a:pt x="120" y="148"/>
                  <a:pt x="110" y="152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2"/>
                </a:cubicBezTo>
                <a:cubicBezTo>
                  <a:pt x="40" y="148"/>
                  <a:pt x="31" y="143"/>
                  <a:pt x="24" y="135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1289520" y="3766680"/>
            <a:ext cx="3823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Good for very focused, technical problems.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289520" y="4090320"/>
            <a:ext cx="3906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Works well in controlled environments (e.g.,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961920" y="340992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3" y="292"/>
                </a:lnTo>
                <a:lnTo>
                  <a:pt x="0" y="158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289520" y="4357080"/>
            <a:ext cx="2262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debugging an algorithm).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6148080" y="3157200"/>
            <a:ext cx="5277240" cy="1591200"/>
          </a:xfrm>
          <a:custGeom>
            <a:avLst/>
            <a:gdLst/>
            <a:ahLst/>
            <a:rect l="0" t="0" r="r" b="b"/>
            <a:pathLst>
              <a:path w="14659" h="4420">
                <a:moveTo>
                  <a:pt x="0" y="4274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2"/>
                </a:cubicBezTo>
                <a:cubicBezTo>
                  <a:pt x="14578" y="15"/>
                  <a:pt x="14587" y="20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8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4274"/>
                </a:lnTo>
                <a:cubicBezTo>
                  <a:pt x="14659" y="4284"/>
                  <a:pt x="14658" y="4293"/>
                  <a:pt x="14656" y="4303"/>
                </a:cubicBezTo>
                <a:cubicBezTo>
                  <a:pt x="14655" y="4312"/>
                  <a:pt x="14652" y="4321"/>
                  <a:pt x="14648" y="4330"/>
                </a:cubicBezTo>
                <a:cubicBezTo>
                  <a:pt x="14645" y="4339"/>
                  <a:pt x="14640" y="4347"/>
                  <a:pt x="14635" y="4355"/>
                </a:cubicBezTo>
                <a:cubicBezTo>
                  <a:pt x="14629" y="4363"/>
                  <a:pt x="14623" y="4371"/>
                  <a:pt x="14617" y="4377"/>
                </a:cubicBezTo>
                <a:cubicBezTo>
                  <a:pt x="14610" y="4384"/>
                  <a:pt x="14603" y="4390"/>
                  <a:pt x="14595" y="4395"/>
                </a:cubicBezTo>
                <a:cubicBezTo>
                  <a:pt x="14587" y="4401"/>
                  <a:pt x="14578" y="4405"/>
                  <a:pt x="14569" y="4409"/>
                </a:cubicBezTo>
                <a:cubicBezTo>
                  <a:pt x="14561" y="4413"/>
                  <a:pt x="14552" y="4415"/>
                  <a:pt x="14542" y="4417"/>
                </a:cubicBezTo>
                <a:cubicBezTo>
                  <a:pt x="14533" y="4419"/>
                  <a:pt x="14523" y="4420"/>
                  <a:pt x="14514" y="4420"/>
                </a:cubicBezTo>
                <a:lnTo>
                  <a:pt x="146" y="4420"/>
                </a:lnTo>
                <a:cubicBezTo>
                  <a:pt x="136" y="4420"/>
                  <a:pt x="127" y="4419"/>
                  <a:pt x="117" y="4417"/>
                </a:cubicBezTo>
                <a:cubicBezTo>
                  <a:pt x="108" y="4415"/>
                  <a:pt x="99" y="4413"/>
                  <a:pt x="90" y="4409"/>
                </a:cubicBezTo>
                <a:cubicBezTo>
                  <a:pt x="81" y="4405"/>
                  <a:pt x="73" y="4401"/>
                  <a:pt x="65" y="4395"/>
                </a:cubicBezTo>
                <a:cubicBezTo>
                  <a:pt x="57" y="4390"/>
                  <a:pt x="50" y="4384"/>
                  <a:pt x="43" y="4377"/>
                </a:cubicBezTo>
                <a:cubicBezTo>
                  <a:pt x="36" y="4371"/>
                  <a:pt x="30" y="4363"/>
                  <a:pt x="25" y="4355"/>
                </a:cubicBezTo>
                <a:cubicBezTo>
                  <a:pt x="20" y="4347"/>
                  <a:pt x="15" y="4339"/>
                  <a:pt x="11" y="4330"/>
                </a:cubicBezTo>
                <a:cubicBezTo>
                  <a:pt x="8" y="4321"/>
                  <a:pt x="5" y="4312"/>
                  <a:pt x="3" y="4303"/>
                </a:cubicBezTo>
                <a:cubicBezTo>
                  <a:pt x="1" y="4293"/>
                  <a:pt x="0" y="4284"/>
                  <a:pt x="0" y="4274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6148080" y="3157200"/>
            <a:ext cx="5277240" cy="1591200"/>
          </a:xfrm>
          <a:custGeom>
            <a:avLst/>
            <a:gdLst/>
            <a:ahLst/>
            <a:rect l="0" t="0" r="r" b="b"/>
            <a:pathLst>
              <a:path fill="none" w="14659" h="4420">
                <a:moveTo>
                  <a:pt x="0" y="4274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2"/>
                </a:cubicBezTo>
                <a:cubicBezTo>
                  <a:pt x="14578" y="15"/>
                  <a:pt x="14587" y="20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8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4274"/>
                </a:lnTo>
                <a:cubicBezTo>
                  <a:pt x="14659" y="4284"/>
                  <a:pt x="14658" y="4293"/>
                  <a:pt x="14656" y="4303"/>
                </a:cubicBezTo>
                <a:cubicBezTo>
                  <a:pt x="14655" y="4312"/>
                  <a:pt x="14652" y="4321"/>
                  <a:pt x="14648" y="4330"/>
                </a:cubicBezTo>
                <a:cubicBezTo>
                  <a:pt x="14645" y="4339"/>
                  <a:pt x="14640" y="4347"/>
                  <a:pt x="14635" y="4355"/>
                </a:cubicBezTo>
                <a:cubicBezTo>
                  <a:pt x="14629" y="4363"/>
                  <a:pt x="14623" y="4371"/>
                  <a:pt x="14617" y="4377"/>
                </a:cubicBezTo>
                <a:cubicBezTo>
                  <a:pt x="14610" y="4384"/>
                  <a:pt x="14603" y="4390"/>
                  <a:pt x="14595" y="4395"/>
                </a:cubicBezTo>
                <a:cubicBezTo>
                  <a:pt x="14587" y="4401"/>
                  <a:pt x="14578" y="4405"/>
                  <a:pt x="14569" y="4409"/>
                </a:cubicBezTo>
                <a:cubicBezTo>
                  <a:pt x="14561" y="4413"/>
                  <a:pt x="14552" y="4415"/>
                  <a:pt x="14542" y="4417"/>
                </a:cubicBezTo>
                <a:cubicBezTo>
                  <a:pt x="14533" y="4419"/>
                  <a:pt x="14523" y="4420"/>
                  <a:pt x="14514" y="4420"/>
                </a:cubicBezTo>
                <a:lnTo>
                  <a:pt x="146" y="4420"/>
                </a:lnTo>
                <a:cubicBezTo>
                  <a:pt x="136" y="4420"/>
                  <a:pt x="127" y="4419"/>
                  <a:pt x="117" y="4417"/>
                </a:cubicBezTo>
                <a:cubicBezTo>
                  <a:pt x="108" y="4415"/>
                  <a:pt x="99" y="4413"/>
                  <a:pt x="90" y="4409"/>
                </a:cubicBezTo>
                <a:cubicBezTo>
                  <a:pt x="81" y="4405"/>
                  <a:pt x="73" y="4401"/>
                  <a:pt x="65" y="4395"/>
                </a:cubicBezTo>
                <a:cubicBezTo>
                  <a:pt x="57" y="4390"/>
                  <a:pt x="50" y="4384"/>
                  <a:pt x="43" y="4377"/>
                </a:cubicBezTo>
                <a:cubicBezTo>
                  <a:pt x="36" y="4371"/>
                  <a:pt x="30" y="4363"/>
                  <a:pt x="25" y="4355"/>
                </a:cubicBezTo>
                <a:cubicBezTo>
                  <a:pt x="20" y="4347"/>
                  <a:pt x="15" y="4339"/>
                  <a:pt x="11" y="4330"/>
                </a:cubicBezTo>
                <a:cubicBezTo>
                  <a:pt x="8" y="4321"/>
                  <a:pt x="5" y="4312"/>
                  <a:pt x="3" y="4303"/>
                </a:cubicBezTo>
                <a:cubicBezTo>
                  <a:pt x="1" y="4293"/>
                  <a:pt x="0" y="4284"/>
                  <a:pt x="0" y="4274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6486480" y="38574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203120" y="3360240"/>
            <a:ext cx="1134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Strengths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6486480" y="418140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0"/>
                  <a:pt x="153" y="109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9" y="143"/>
                  <a:pt x="120" y="148"/>
                  <a:pt x="110" y="152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68" y="159"/>
                  <a:pt x="58" y="157"/>
                  <a:pt x="49" y="152"/>
                </a:cubicBezTo>
                <a:cubicBezTo>
                  <a:pt x="39" y="148"/>
                  <a:pt x="30" y="143"/>
                  <a:pt x="23" y="135"/>
                </a:cubicBezTo>
                <a:cubicBezTo>
                  <a:pt x="15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6671160" y="3766680"/>
            <a:ext cx="2318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Misses how parts interact.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6671160" y="4090320"/>
            <a:ext cx="4172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Canʼt explain emergent behaviour (unexpected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6362640" y="3409920"/>
            <a:ext cx="114480" cy="114480"/>
          </a:xfrm>
          <a:custGeom>
            <a:avLst/>
            <a:gdLst/>
            <a:ahLst/>
            <a:rect l="0" t="0" r="r" b="b"/>
            <a:pathLst>
              <a:path fill="none" w="318" h="318">
                <a:moveTo>
                  <a:pt x="318" y="0"/>
                </a:moveTo>
                <a:lnTo>
                  <a:pt x="0" y="318"/>
                </a:lnTo>
                <a:moveTo>
                  <a:pt x="0" y="0"/>
                </a:moveTo>
                <a:lnTo>
                  <a:pt x="318" y="318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6671160" y="4357080"/>
            <a:ext cx="3462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outcomes that arise from interactions).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766440" y="4986000"/>
            <a:ext cx="10658880" cy="1000800"/>
          </a:xfrm>
          <a:custGeom>
            <a:avLst/>
            <a:gdLst/>
            <a:ahLst/>
            <a:rect l="0" t="0" r="r" b="b"/>
            <a:pathLst>
              <a:path w="29608" h="2780">
                <a:moveTo>
                  <a:pt x="0" y="2634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2634"/>
                </a:lnTo>
                <a:cubicBezTo>
                  <a:pt x="29608" y="2644"/>
                  <a:pt x="29607" y="2653"/>
                  <a:pt x="29605" y="2662"/>
                </a:cubicBezTo>
                <a:cubicBezTo>
                  <a:pt x="29604" y="2672"/>
                  <a:pt x="29601" y="2681"/>
                  <a:pt x="29597" y="2690"/>
                </a:cubicBezTo>
                <a:cubicBezTo>
                  <a:pt x="29594" y="2699"/>
                  <a:pt x="29589" y="2707"/>
                  <a:pt x="29584" y="2715"/>
                </a:cubicBezTo>
                <a:cubicBezTo>
                  <a:pt x="29578" y="2723"/>
                  <a:pt x="29572" y="2730"/>
                  <a:pt x="29566" y="2737"/>
                </a:cubicBezTo>
                <a:cubicBezTo>
                  <a:pt x="29559" y="2744"/>
                  <a:pt x="29552" y="2750"/>
                  <a:pt x="29544" y="2755"/>
                </a:cubicBezTo>
                <a:cubicBezTo>
                  <a:pt x="29536" y="2760"/>
                  <a:pt x="29527" y="2765"/>
                  <a:pt x="29518" y="2768"/>
                </a:cubicBezTo>
                <a:cubicBezTo>
                  <a:pt x="29510" y="2772"/>
                  <a:pt x="29501" y="2775"/>
                  <a:pt x="29491" y="2777"/>
                </a:cubicBezTo>
                <a:cubicBezTo>
                  <a:pt x="29482" y="2779"/>
                  <a:pt x="29472" y="2780"/>
                  <a:pt x="29463" y="2780"/>
                </a:cubicBezTo>
                <a:lnTo>
                  <a:pt x="146" y="2780"/>
                </a:lnTo>
                <a:cubicBezTo>
                  <a:pt x="136" y="2780"/>
                  <a:pt x="127" y="2779"/>
                  <a:pt x="118" y="2777"/>
                </a:cubicBezTo>
                <a:cubicBezTo>
                  <a:pt x="108" y="2775"/>
                  <a:pt x="99" y="2772"/>
                  <a:pt x="90" y="2768"/>
                </a:cubicBezTo>
                <a:cubicBezTo>
                  <a:pt x="81" y="2765"/>
                  <a:pt x="73" y="2760"/>
                  <a:pt x="65" y="2755"/>
                </a:cubicBezTo>
                <a:cubicBezTo>
                  <a:pt x="57" y="2750"/>
                  <a:pt x="50" y="2744"/>
                  <a:pt x="43" y="2737"/>
                </a:cubicBezTo>
                <a:cubicBezTo>
                  <a:pt x="36" y="2730"/>
                  <a:pt x="30" y="2723"/>
                  <a:pt x="25" y="2715"/>
                </a:cubicBezTo>
                <a:cubicBezTo>
                  <a:pt x="20" y="2707"/>
                  <a:pt x="15" y="2699"/>
                  <a:pt x="11" y="2690"/>
                </a:cubicBezTo>
                <a:cubicBezTo>
                  <a:pt x="8" y="2681"/>
                  <a:pt x="5" y="2672"/>
                  <a:pt x="3" y="2662"/>
                </a:cubicBezTo>
                <a:cubicBezTo>
                  <a:pt x="1" y="2653"/>
                  <a:pt x="0" y="2644"/>
                  <a:pt x="0" y="2634"/>
                </a:cubicBezTo>
                <a:close/>
              </a:path>
            </a:pathLst>
          </a:custGeom>
          <a:solidFill>
            <a:srgbClr val="ede8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766440" y="4986000"/>
            <a:ext cx="10658880" cy="1000800"/>
          </a:xfrm>
          <a:custGeom>
            <a:avLst/>
            <a:gdLst/>
            <a:ahLst/>
            <a:rect l="0" t="0" r="r" b="b"/>
            <a:pathLst>
              <a:path fill="none" w="29608" h="2780">
                <a:moveTo>
                  <a:pt x="0" y="2634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2634"/>
                </a:lnTo>
                <a:cubicBezTo>
                  <a:pt x="29608" y="2644"/>
                  <a:pt x="29607" y="2653"/>
                  <a:pt x="29605" y="2662"/>
                </a:cubicBezTo>
                <a:cubicBezTo>
                  <a:pt x="29604" y="2672"/>
                  <a:pt x="29601" y="2681"/>
                  <a:pt x="29597" y="2690"/>
                </a:cubicBezTo>
                <a:cubicBezTo>
                  <a:pt x="29594" y="2699"/>
                  <a:pt x="29589" y="2707"/>
                  <a:pt x="29584" y="2715"/>
                </a:cubicBezTo>
                <a:cubicBezTo>
                  <a:pt x="29578" y="2723"/>
                  <a:pt x="29572" y="2730"/>
                  <a:pt x="29566" y="2737"/>
                </a:cubicBezTo>
                <a:cubicBezTo>
                  <a:pt x="29559" y="2744"/>
                  <a:pt x="29552" y="2750"/>
                  <a:pt x="29544" y="2755"/>
                </a:cubicBezTo>
                <a:cubicBezTo>
                  <a:pt x="29536" y="2760"/>
                  <a:pt x="29527" y="2765"/>
                  <a:pt x="29518" y="2768"/>
                </a:cubicBezTo>
                <a:cubicBezTo>
                  <a:pt x="29510" y="2772"/>
                  <a:pt x="29501" y="2775"/>
                  <a:pt x="29491" y="2777"/>
                </a:cubicBezTo>
                <a:cubicBezTo>
                  <a:pt x="29482" y="2779"/>
                  <a:pt x="29472" y="2780"/>
                  <a:pt x="29463" y="2780"/>
                </a:cubicBezTo>
                <a:lnTo>
                  <a:pt x="146" y="2780"/>
                </a:lnTo>
                <a:cubicBezTo>
                  <a:pt x="136" y="2780"/>
                  <a:pt x="127" y="2779"/>
                  <a:pt x="118" y="2777"/>
                </a:cubicBezTo>
                <a:cubicBezTo>
                  <a:pt x="108" y="2775"/>
                  <a:pt x="99" y="2772"/>
                  <a:pt x="90" y="2768"/>
                </a:cubicBezTo>
                <a:cubicBezTo>
                  <a:pt x="81" y="2765"/>
                  <a:pt x="73" y="2760"/>
                  <a:pt x="65" y="2755"/>
                </a:cubicBezTo>
                <a:cubicBezTo>
                  <a:pt x="57" y="2750"/>
                  <a:pt x="50" y="2744"/>
                  <a:pt x="43" y="2737"/>
                </a:cubicBezTo>
                <a:cubicBezTo>
                  <a:pt x="36" y="2730"/>
                  <a:pt x="30" y="2723"/>
                  <a:pt x="25" y="2715"/>
                </a:cubicBezTo>
                <a:cubicBezTo>
                  <a:pt x="20" y="2707"/>
                  <a:pt x="15" y="2699"/>
                  <a:pt x="11" y="2690"/>
                </a:cubicBezTo>
                <a:cubicBezTo>
                  <a:pt x="8" y="2681"/>
                  <a:pt x="5" y="2672"/>
                  <a:pt x="3" y="2662"/>
                </a:cubicBezTo>
                <a:cubicBezTo>
                  <a:pt x="1" y="2653"/>
                  <a:pt x="0" y="2644"/>
                  <a:pt x="0" y="2634"/>
                </a:cubicBezTo>
              </a:path>
            </a:pathLst>
          </a:custGeom>
          <a:ln w="9360">
            <a:solidFill>
              <a:srgbClr val="c9b9f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6584760" y="3360240"/>
            <a:ext cx="1323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Limitations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952200" y="5238720"/>
            <a:ext cx="172080" cy="114480"/>
          </a:xfrm>
          <a:custGeom>
            <a:avLst/>
            <a:gdLst/>
            <a:ahLst/>
            <a:rect l="0" t="0" r="r" b="b"/>
            <a:pathLst>
              <a:path fill="none" w="478" h="318">
                <a:moveTo>
                  <a:pt x="133" y="0"/>
                </a:moveTo>
                <a:lnTo>
                  <a:pt x="478" y="0"/>
                </a:lnTo>
                <a:moveTo>
                  <a:pt x="133" y="158"/>
                </a:moveTo>
                <a:lnTo>
                  <a:pt x="478" y="158"/>
                </a:lnTo>
                <a:moveTo>
                  <a:pt x="133" y="318"/>
                </a:moveTo>
                <a:lnTo>
                  <a:pt x="478" y="318"/>
                </a:lnTo>
                <a:moveTo>
                  <a:pt x="0" y="0"/>
                </a:moveTo>
                <a:lnTo>
                  <a:pt x="1" y="0"/>
                </a:lnTo>
                <a:moveTo>
                  <a:pt x="0" y="158"/>
                </a:moveTo>
                <a:lnTo>
                  <a:pt x="1" y="158"/>
                </a:lnTo>
                <a:moveTo>
                  <a:pt x="0" y="318"/>
                </a:moveTo>
                <a:lnTo>
                  <a:pt x="1" y="318"/>
                </a:lnTo>
              </a:path>
            </a:pathLst>
          </a:custGeom>
          <a:ln cap="rnd" w="18720">
            <a:solidFill>
              <a:srgbClr val="7852ee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923760" y="5595480"/>
            <a:ext cx="6145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Fixing a car by looking at each part (engine, tires, brakes) separately.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1203120" y="5189040"/>
            <a:ext cx="1045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7852ee"/>
                </a:solidFill>
                <a:effectLst/>
                <a:uFillTx/>
                <a:latin typeface="LucidaGrande"/>
                <a:ea typeface="LucidaGrande"/>
              </a:rPr>
              <a:t>Example: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"/>
          <p:cNvSpPr txBox="1"/>
          <p:nvPr/>
        </p:nvSpPr>
        <p:spPr>
          <a:xfrm>
            <a:off x="762120" y="1506600"/>
            <a:ext cx="9511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Holism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762120" y="2022840"/>
            <a:ext cx="10344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Holism is an approach to understanding systems by looking at the whole system and its interactions, not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762120" y="2327760"/>
            <a:ext cx="8905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just the individual parts. The assumption is: the whole is greater than the sum of its parts.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766440" y="2871720"/>
            <a:ext cx="5467680" cy="1590840"/>
          </a:xfrm>
          <a:custGeom>
            <a:avLst/>
            <a:gdLst/>
            <a:ahLst/>
            <a:rect l="0" t="0" r="r" b="b"/>
            <a:pathLst>
              <a:path w="15188" h="4419">
                <a:moveTo>
                  <a:pt x="0" y="4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5043" y="0"/>
                </a:lnTo>
                <a:cubicBezTo>
                  <a:pt x="15053" y="0"/>
                  <a:pt x="15062" y="1"/>
                  <a:pt x="15071" y="2"/>
                </a:cubicBezTo>
                <a:cubicBezTo>
                  <a:pt x="15081" y="4"/>
                  <a:pt x="15090" y="7"/>
                  <a:pt x="15099" y="11"/>
                </a:cubicBezTo>
                <a:cubicBezTo>
                  <a:pt x="15107" y="14"/>
                  <a:pt x="15116" y="19"/>
                  <a:pt x="15124" y="24"/>
                </a:cubicBezTo>
                <a:cubicBezTo>
                  <a:pt x="15132" y="30"/>
                  <a:pt x="15139" y="36"/>
                  <a:pt x="15146" y="42"/>
                </a:cubicBezTo>
                <a:cubicBezTo>
                  <a:pt x="15153" y="49"/>
                  <a:pt x="15159" y="56"/>
                  <a:pt x="15164" y="64"/>
                </a:cubicBezTo>
                <a:cubicBezTo>
                  <a:pt x="15169" y="72"/>
                  <a:pt x="15174" y="81"/>
                  <a:pt x="15177" y="90"/>
                </a:cubicBezTo>
                <a:cubicBezTo>
                  <a:pt x="15181" y="98"/>
                  <a:pt x="15184" y="107"/>
                  <a:pt x="15186" y="117"/>
                </a:cubicBezTo>
                <a:cubicBezTo>
                  <a:pt x="15188" y="126"/>
                  <a:pt x="15188" y="136"/>
                  <a:pt x="15188" y="145"/>
                </a:cubicBezTo>
                <a:lnTo>
                  <a:pt x="15188" y="4274"/>
                </a:lnTo>
                <a:cubicBezTo>
                  <a:pt x="15188" y="4283"/>
                  <a:pt x="15188" y="4293"/>
                  <a:pt x="15186" y="4302"/>
                </a:cubicBezTo>
                <a:cubicBezTo>
                  <a:pt x="15184" y="4311"/>
                  <a:pt x="15181" y="4321"/>
                  <a:pt x="15177" y="4329"/>
                </a:cubicBezTo>
                <a:cubicBezTo>
                  <a:pt x="15174" y="4338"/>
                  <a:pt x="15169" y="4347"/>
                  <a:pt x="15164" y="4355"/>
                </a:cubicBezTo>
                <a:cubicBezTo>
                  <a:pt x="15159" y="4362"/>
                  <a:pt x="15153" y="4370"/>
                  <a:pt x="15146" y="4377"/>
                </a:cubicBezTo>
                <a:cubicBezTo>
                  <a:pt x="15139" y="4383"/>
                  <a:pt x="15132" y="4389"/>
                  <a:pt x="15124" y="4395"/>
                </a:cubicBezTo>
                <a:cubicBezTo>
                  <a:pt x="15116" y="4400"/>
                  <a:pt x="15107" y="4404"/>
                  <a:pt x="15099" y="4408"/>
                </a:cubicBezTo>
                <a:cubicBezTo>
                  <a:pt x="15090" y="4412"/>
                  <a:pt x="15081" y="4415"/>
                  <a:pt x="15071" y="4416"/>
                </a:cubicBezTo>
                <a:cubicBezTo>
                  <a:pt x="15062" y="4418"/>
                  <a:pt x="15053" y="4419"/>
                  <a:pt x="15043" y="4419"/>
                </a:cubicBezTo>
                <a:lnTo>
                  <a:pt x="146" y="4419"/>
                </a:lnTo>
                <a:cubicBezTo>
                  <a:pt x="136" y="4419"/>
                  <a:pt x="127" y="4418"/>
                  <a:pt x="118" y="4416"/>
                </a:cubicBezTo>
                <a:cubicBezTo>
                  <a:pt x="108" y="4415"/>
                  <a:pt x="99" y="4412"/>
                  <a:pt x="90" y="4408"/>
                </a:cubicBezTo>
                <a:cubicBezTo>
                  <a:pt x="81" y="4404"/>
                  <a:pt x="73" y="4400"/>
                  <a:pt x="65" y="4395"/>
                </a:cubicBezTo>
                <a:cubicBezTo>
                  <a:pt x="57" y="4389"/>
                  <a:pt x="50" y="4383"/>
                  <a:pt x="43" y="4377"/>
                </a:cubicBezTo>
                <a:cubicBezTo>
                  <a:pt x="36" y="4370"/>
                  <a:pt x="30" y="4362"/>
                  <a:pt x="25" y="4355"/>
                </a:cubicBezTo>
                <a:cubicBezTo>
                  <a:pt x="20" y="4347"/>
                  <a:pt x="15" y="4338"/>
                  <a:pt x="11" y="4329"/>
                </a:cubicBezTo>
                <a:cubicBezTo>
                  <a:pt x="8" y="4321"/>
                  <a:pt x="5" y="4311"/>
                  <a:pt x="3" y="4302"/>
                </a:cubicBezTo>
                <a:cubicBezTo>
                  <a:pt x="1" y="4293"/>
                  <a:pt x="0" y="4283"/>
                  <a:pt x="0" y="4274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766440" y="2871720"/>
            <a:ext cx="5467680" cy="1590840"/>
          </a:xfrm>
          <a:custGeom>
            <a:avLst/>
            <a:gdLst/>
            <a:ahLst/>
            <a:rect l="0" t="0" r="r" b="b"/>
            <a:pathLst>
              <a:path fill="none" w="15188" h="4419">
                <a:moveTo>
                  <a:pt x="0" y="4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5043" y="0"/>
                </a:lnTo>
                <a:cubicBezTo>
                  <a:pt x="15053" y="0"/>
                  <a:pt x="15062" y="1"/>
                  <a:pt x="15071" y="2"/>
                </a:cubicBezTo>
                <a:cubicBezTo>
                  <a:pt x="15081" y="4"/>
                  <a:pt x="15090" y="7"/>
                  <a:pt x="15099" y="11"/>
                </a:cubicBezTo>
                <a:cubicBezTo>
                  <a:pt x="15107" y="14"/>
                  <a:pt x="15116" y="19"/>
                  <a:pt x="15124" y="24"/>
                </a:cubicBezTo>
                <a:cubicBezTo>
                  <a:pt x="15132" y="30"/>
                  <a:pt x="15139" y="36"/>
                  <a:pt x="15146" y="42"/>
                </a:cubicBezTo>
                <a:cubicBezTo>
                  <a:pt x="15153" y="49"/>
                  <a:pt x="15159" y="56"/>
                  <a:pt x="15164" y="64"/>
                </a:cubicBezTo>
                <a:cubicBezTo>
                  <a:pt x="15169" y="72"/>
                  <a:pt x="15174" y="81"/>
                  <a:pt x="15177" y="90"/>
                </a:cubicBezTo>
                <a:cubicBezTo>
                  <a:pt x="15181" y="98"/>
                  <a:pt x="15184" y="107"/>
                  <a:pt x="15186" y="117"/>
                </a:cubicBezTo>
                <a:cubicBezTo>
                  <a:pt x="15188" y="126"/>
                  <a:pt x="15188" y="136"/>
                  <a:pt x="15188" y="145"/>
                </a:cubicBezTo>
                <a:lnTo>
                  <a:pt x="15188" y="4274"/>
                </a:lnTo>
                <a:cubicBezTo>
                  <a:pt x="15188" y="4283"/>
                  <a:pt x="15188" y="4293"/>
                  <a:pt x="15186" y="4302"/>
                </a:cubicBezTo>
                <a:cubicBezTo>
                  <a:pt x="15184" y="4311"/>
                  <a:pt x="15181" y="4321"/>
                  <a:pt x="15177" y="4329"/>
                </a:cubicBezTo>
                <a:cubicBezTo>
                  <a:pt x="15174" y="4338"/>
                  <a:pt x="15169" y="4347"/>
                  <a:pt x="15164" y="4355"/>
                </a:cubicBezTo>
                <a:cubicBezTo>
                  <a:pt x="15159" y="4362"/>
                  <a:pt x="15153" y="4370"/>
                  <a:pt x="15146" y="4377"/>
                </a:cubicBezTo>
                <a:cubicBezTo>
                  <a:pt x="15139" y="4383"/>
                  <a:pt x="15132" y="4389"/>
                  <a:pt x="15124" y="4395"/>
                </a:cubicBezTo>
                <a:cubicBezTo>
                  <a:pt x="15116" y="4400"/>
                  <a:pt x="15107" y="4404"/>
                  <a:pt x="15099" y="4408"/>
                </a:cubicBezTo>
                <a:cubicBezTo>
                  <a:pt x="15090" y="4412"/>
                  <a:pt x="15081" y="4415"/>
                  <a:pt x="15071" y="4416"/>
                </a:cubicBezTo>
                <a:cubicBezTo>
                  <a:pt x="15062" y="4418"/>
                  <a:pt x="15053" y="4419"/>
                  <a:pt x="15043" y="4419"/>
                </a:cubicBezTo>
                <a:lnTo>
                  <a:pt x="146" y="4419"/>
                </a:lnTo>
                <a:cubicBezTo>
                  <a:pt x="136" y="4419"/>
                  <a:pt x="127" y="4418"/>
                  <a:pt x="118" y="4416"/>
                </a:cubicBezTo>
                <a:cubicBezTo>
                  <a:pt x="108" y="4415"/>
                  <a:pt x="99" y="4412"/>
                  <a:pt x="90" y="4408"/>
                </a:cubicBezTo>
                <a:cubicBezTo>
                  <a:pt x="81" y="4404"/>
                  <a:pt x="73" y="4400"/>
                  <a:pt x="65" y="4395"/>
                </a:cubicBezTo>
                <a:cubicBezTo>
                  <a:pt x="57" y="4389"/>
                  <a:pt x="50" y="4383"/>
                  <a:pt x="43" y="4377"/>
                </a:cubicBezTo>
                <a:cubicBezTo>
                  <a:pt x="36" y="4370"/>
                  <a:pt x="30" y="4362"/>
                  <a:pt x="25" y="4355"/>
                </a:cubicBezTo>
                <a:cubicBezTo>
                  <a:pt x="20" y="4347"/>
                  <a:pt x="15" y="4338"/>
                  <a:pt x="11" y="4329"/>
                </a:cubicBezTo>
                <a:cubicBezTo>
                  <a:pt x="8" y="4321"/>
                  <a:pt x="5" y="4311"/>
                  <a:pt x="3" y="4302"/>
                </a:cubicBezTo>
                <a:cubicBezTo>
                  <a:pt x="1" y="4293"/>
                  <a:pt x="0" y="4283"/>
                  <a:pt x="0" y="4274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1104840" y="35715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1104840" y="3885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6"/>
                  <a:pt x="40" y="11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1289520" y="3480840"/>
            <a:ext cx="4430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Captures interconnectedness and feedback loops.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289520" y="3795120"/>
            <a:ext cx="4527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Explains emergent properties (new behaviours that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961920" y="312408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3" y="292"/>
                </a:lnTo>
                <a:lnTo>
                  <a:pt x="0" y="159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289520" y="4071240"/>
            <a:ext cx="3639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canʼt be predicted from individual parts).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6338880" y="2871720"/>
            <a:ext cx="5086440" cy="1590840"/>
          </a:xfrm>
          <a:custGeom>
            <a:avLst/>
            <a:gdLst/>
            <a:ahLst/>
            <a:rect l="0" t="0" r="r" b="b"/>
            <a:pathLst>
              <a:path w="14129" h="4419">
                <a:moveTo>
                  <a:pt x="0" y="4274"/>
                </a:moveTo>
                <a:lnTo>
                  <a:pt x="0" y="145"/>
                </a:lnTo>
                <a:cubicBezTo>
                  <a:pt x="0" y="136"/>
                  <a:pt x="0" y="126"/>
                  <a:pt x="2" y="117"/>
                </a:cubicBezTo>
                <a:cubicBezTo>
                  <a:pt x="4" y="107"/>
                  <a:pt x="7" y="98"/>
                  <a:pt x="11" y="90"/>
                </a:cubicBezTo>
                <a:cubicBezTo>
                  <a:pt x="14" y="81"/>
                  <a:pt x="19" y="72"/>
                  <a:pt x="24" y="64"/>
                </a:cubicBezTo>
                <a:cubicBezTo>
                  <a:pt x="29" y="56"/>
                  <a:pt x="35" y="49"/>
                  <a:pt x="42" y="42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4"/>
                  <a:pt x="89" y="11"/>
                </a:cubicBezTo>
                <a:cubicBezTo>
                  <a:pt x="98" y="7"/>
                  <a:pt x="107" y="4"/>
                  <a:pt x="117" y="2"/>
                </a:cubicBezTo>
                <a:cubicBezTo>
                  <a:pt x="126" y="1"/>
                  <a:pt x="135" y="0"/>
                  <a:pt x="145" y="0"/>
                </a:cubicBezTo>
                <a:lnTo>
                  <a:pt x="13984" y="0"/>
                </a:lnTo>
                <a:cubicBezTo>
                  <a:pt x="13993" y="0"/>
                  <a:pt x="14003" y="1"/>
                  <a:pt x="14012" y="2"/>
                </a:cubicBezTo>
                <a:cubicBezTo>
                  <a:pt x="14022" y="4"/>
                  <a:pt x="14031" y="7"/>
                  <a:pt x="14039" y="11"/>
                </a:cubicBezTo>
                <a:cubicBezTo>
                  <a:pt x="14048" y="14"/>
                  <a:pt x="14057" y="19"/>
                  <a:pt x="14065" y="24"/>
                </a:cubicBezTo>
                <a:cubicBezTo>
                  <a:pt x="14073" y="30"/>
                  <a:pt x="14080" y="36"/>
                  <a:pt x="14087" y="42"/>
                </a:cubicBezTo>
                <a:cubicBezTo>
                  <a:pt x="14093" y="49"/>
                  <a:pt x="14099" y="56"/>
                  <a:pt x="14105" y="64"/>
                </a:cubicBezTo>
                <a:cubicBezTo>
                  <a:pt x="14110" y="72"/>
                  <a:pt x="14115" y="81"/>
                  <a:pt x="14118" y="90"/>
                </a:cubicBezTo>
                <a:cubicBezTo>
                  <a:pt x="14122" y="98"/>
                  <a:pt x="14125" y="107"/>
                  <a:pt x="14126" y="117"/>
                </a:cubicBezTo>
                <a:cubicBezTo>
                  <a:pt x="14128" y="126"/>
                  <a:pt x="14129" y="136"/>
                  <a:pt x="14129" y="145"/>
                </a:cubicBezTo>
                <a:lnTo>
                  <a:pt x="14129" y="4274"/>
                </a:lnTo>
                <a:cubicBezTo>
                  <a:pt x="14129" y="4283"/>
                  <a:pt x="14128" y="4293"/>
                  <a:pt x="14126" y="4302"/>
                </a:cubicBezTo>
                <a:cubicBezTo>
                  <a:pt x="14125" y="4311"/>
                  <a:pt x="14122" y="4321"/>
                  <a:pt x="14118" y="4329"/>
                </a:cubicBezTo>
                <a:cubicBezTo>
                  <a:pt x="14115" y="4338"/>
                  <a:pt x="14110" y="4347"/>
                  <a:pt x="14105" y="4355"/>
                </a:cubicBezTo>
                <a:cubicBezTo>
                  <a:pt x="14099" y="4362"/>
                  <a:pt x="14093" y="4370"/>
                  <a:pt x="14087" y="4377"/>
                </a:cubicBezTo>
                <a:cubicBezTo>
                  <a:pt x="14080" y="4383"/>
                  <a:pt x="14073" y="4389"/>
                  <a:pt x="14065" y="4395"/>
                </a:cubicBezTo>
                <a:cubicBezTo>
                  <a:pt x="14057" y="4400"/>
                  <a:pt x="14048" y="4404"/>
                  <a:pt x="14039" y="4408"/>
                </a:cubicBezTo>
                <a:cubicBezTo>
                  <a:pt x="14031" y="4412"/>
                  <a:pt x="14022" y="4415"/>
                  <a:pt x="14012" y="4416"/>
                </a:cubicBezTo>
                <a:cubicBezTo>
                  <a:pt x="14003" y="4418"/>
                  <a:pt x="13993" y="4419"/>
                  <a:pt x="13984" y="4419"/>
                </a:cubicBezTo>
                <a:lnTo>
                  <a:pt x="145" y="4419"/>
                </a:lnTo>
                <a:cubicBezTo>
                  <a:pt x="135" y="4419"/>
                  <a:pt x="126" y="4418"/>
                  <a:pt x="117" y="4416"/>
                </a:cubicBezTo>
                <a:cubicBezTo>
                  <a:pt x="107" y="4415"/>
                  <a:pt x="98" y="4412"/>
                  <a:pt x="89" y="4408"/>
                </a:cubicBezTo>
                <a:cubicBezTo>
                  <a:pt x="81" y="4404"/>
                  <a:pt x="72" y="4400"/>
                  <a:pt x="64" y="4395"/>
                </a:cubicBezTo>
                <a:cubicBezTo>
                  <a:pt x="56" y="4389"/>
                  <a:pt x="49" y="4383"/>
                  <a:pt x="42" y="4377"/>
                </a:cubicBezTo>
                <a:cubicBezTo>
                  <a:pt x="35" y="4370"/>
                  <a:pt x="29" y="4362"/>
                  <a:pt x="24" y="4355"/>
                </a:cubicBezTo>
                <a:cubicBezTo>
                  <a:pt x="19" y="4347"/>
                  <a:pt x="14" y="4338"/>
                  <a:pt x="11" y="4329"/>
                </a:cubicBezTo>
                <a:cubicBezTo>
                  <a:pt x="7" y="4321"/>
                  <a:pt x="4" y="4311"/>
                  <a:pt x="2" y="4302"/>
                </a:cubicBezTo>
                <a:cubicBezTo>
                  <a:pt x="0" y="4293"/>
                  <a:pt x="0" y="4283"/>
                  <a:pt x="0" y="4274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6338880" y="2871720"/>
            <a:ext cx="5086440" cy="1590840"/>
          </a:xfrm>
          <a:custGeom>
            <a:avLst/>
            <a:gdLst/>
            <a:ahLst/>
            <a:rect l="0" t="0" r="r" b="b"/>
            <a:pathLst>
              <a:path fill="none" w="14129" h="4419">
                <a:moveTo>
                  <a:pt x="0" y="4274"/>
                </a:moveTo>
                <a:lnTo>
                  <a:pt x="0" y="145"/>
                </a:lnTo>
                <a:cubicBezTo>
                  <a:pt x="0" y="136"/>
                  <a:pt x="0" y="126"/>
                  <a:pt x="2" y="117"/>
                </a:cubicBezTo>
                <a:cubicBezTo>
                  <a:pt x="4" y="107"/>
                  <a:pt x="7" y="98"/>
                  <a:pt x="11" y="90"/>
                </a:cubicBezTo>
                <a:cubicBezTo>
                  <a:pt x="14" y="81"/>
                  <a:pt x="19" y="72"/>
                  <a:pt x="24" y="64"/>
                </a:cubicBezTo>
                <a:cubicBezTo>
                  <a:pt x="29" y="56"/>
                  <a:pt x="35" y="49"/>
                  <a:pt x="42" y="42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4"/>
                  <a:pt x="89" y="11"/>
                </a:cubicBezTo>
                <a:cubicBezTo>
                  <a:pt x="98" y="7"/>
                  <a:pt x="107" y="4"/>
                  <a:pt x="117" y="2"/>
                </a:cubicBezTo>
                <a:cubicBezTo>
                  <a:pt x="126" y="1"/>
                  <a:pt x="135" y="0"/>
                  <a:pt x="145" y="0"/>
                </a:cubicBezTo>
                <a:lnTo>
                  <a:pt x="13984" y="0"/>
                </a:lnTo>
                <a:cubicBezTo>
                  <a:pt x="13993" y="0"/>
                  <a:pt x="14003" y="1"/>
                  <a:pt x="14012" y="2"/>
                </a:cubicBezTo>
                <a:cubicBezTo>
                  <a:pt x="14022" y="4"/>
                  <a:pt x="14031" y="7"/>
                  <a:pt x="14039" y="11"/>
                </a:cubicBezTo>
                <a:cubicBezTo>
                  <a:pt x="14048" y="14"/>
                  <a:pt x="14057" y="19"/>
                  <a:pt x="14065" y="24"/>
                </a:cubicBezTo>
                <a:cubicBezTo>
                  <a:pt x="14073" y="30"/>
                  <a:pt x="14080" y="36"/>
                  <a:pt x="14087" y="42"/>
                </a:cubicBezTo>
                <a:cubicBezTo>
                  <a:pt x="14093" y="49"/>
                  <a:pt x="14099" y="56"/>
                  <a:pt x="14105" y="64"/>
                </a:cubicBezTo>
                <a:cubicBezTo>
                  <a:pt x="14110" y="72"/>
                  <a:pt x="14115" y="81"/>
                  <a:pt x="14118" y="90"/>
                </a:cubicBezTo>
                <a:cubicBezTo>
                  <a:pt x="14122" y="98"/>
                  <a:pt x="14125" y="107"/>
                  <a:pt x="14126" y="117"/>
                </a:cubicBezTo>
                <a:cubicBezTo>
                  <a:pt x="14128" y="126"/>
                  <a:pt x="14129" y="136"/>
                  <a:pt x="14129" y="145"/>
                </a:cubicBezTo>
                <a:lnTo>
                  <a:pt x="14129" y="4274"/>
                </a:lnTo>
                <a:cubicBezTo>
                  <a:pt x="14129" y="4283"/>
                  <a:pt x="14128" y="4293"/>
                  <a:pt x="14126" y="4302"/>
                </a:cubicBezTo>
                <a:cubicBezTo>
                  <a:pt x="14125" y="4311"/>
                  <a:pt x="14122" y="4321"/>
                  <a:pt x="14118" y="4329"/>
                </a:cubicBezTo>
                <a:cubicBezTo>
                  <a:pt x="14115" y="4338"/>
                  <a:pt x="14110" y="4347"/>
                  <a:pt x="14105" y="4355"/>
                </a:cubicBezTo>
                <a:cubicBezTo>
                  <a:pt x="14099" y="4362"/>
                  <a:pt x="14093" y="4370"/>
                  <a:pt x="14087" y="4377"/>
                </a:cubicBezTo>
                <a:cubicBezTo>
                  <a:pt x="14080" y="4383"/>
                  <a:pt x="14073" y="4389"/>
                  <a:pt x="14065" y="4395"/>
                </a:cubicBezTo>
                <a:cubicBezTo>
                  <a:pt x="14057" y="4400"/>
                  <a:pt x="14048" y="4404"/>
                  <a:pt x="14039" y="4408"/>
                </a:cubicBezTo>
                <a:cubicBezTo>
                  <a:pt x="14031" y="4412"/>
                  <a:pt x="14022" y="4415"/>
                  <a:pt x="14012" y="4416"/>
                </a:cubicBezTo>
                <a:cubicBezTo>
                  <a:pt x="14003" y="4418"/>
                  <a:pt x="13993" y="4419"/>
                  <a:pt x="13984" y="4419"/>
                </a:cubicBezTo>
                <a:lnTo>
                  <a:pt x="145" y="4419"/>
                </a:lnTo>
                <a:cubicBezTo>
                  <a:pt x="135" y="4419"/>
                  <a:pt x="126" y="4418"/>
                  <a:pt x="117" y="4416"/>
                </a:cubicBezTo>
                <a:cubicBezTo>
                  <a:pt x="107" y="4415"/>
                  <a:pt x="98" y="4412"/>
                  <a:pt x="89" y="4408"/>
                </a:cubicBezTo>
                <a:cubicBezTo>
                  <a:pt x="81" y="4404"/>
                  <a:pt x="72" y="4400"/>
                  <a:pt x="64" y="4395"/>
                </a:cubicBezTo>
                <a:cubicBezTo>
                  <a:pt x="56" y="4389"/>
                  <a:pt x="49" y="4383"/>
                  <a:pt x="42" y="4377"/>
                </a:cubicBezTo>
                <a:cubicBezTo>
                  <a:pt x="35" y="4370"/>
                  <a:pt x="29" y="4362"/>
                  <a:pt x="24" y="4355"/>
                </a:cubicBezTo>
                <a:cubicBezTo>
                  <a:pt x="19" y="4347"/>
                  <a:pt x="14" y="4338"/>
                  <a:pt x="11" y="4329"/>
                </a:cubicBezTo>
                <a:cubicBezTo>
                  <a:pt x="7" y="4321"/>
                  <a:pt x="4" y="4311"/>
                  <a:pt x="2" y="4302"/>
                </a:cubicBezTo>
                <a:cubicBezTo>
                  <a:pt x="0" y="4293"/>
                  <a:pt x="0" y="4283"/>
                  <a:pt x="0" y="4274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6686280" y="3571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6" y="129"/>
                  <a:pt x="10" y="121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6" y="24"/>
                </a:cubicBezTo>
                <a:cubicBezTo>
                  <a:pt x="143" y="31"/>
                  <a:pt x="149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1203120" y="3074760"/>
            <a:ext cx="1134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Strengths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6686280" y="38858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49" y="121"/>
                  <a:pt x="143" y="130"/>
                  <a:pt x="136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4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cubicBezTo>
                  <a:pt x="90" y="0"/>
                  <a:pt x="100" y="3"/>
                  <a:pt x="110" y="7"/>
                </a:cubicBezTo>
                <a:cubicBezTo>
                  <a:pt x="120" y="11"/>
                  <a:pt x="128" y="16"/>
                  <a:pt x="136" y="24"/>
                </a:cubicBezTo>
                <a:cubicBezTo>
                  <a:pt x="143" y="32"/>
                  <a:pt x="149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6864840" y="3480840"/>
            <a:ext cx="43178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Can be harder to analyse because of complexity.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6553080" y="3124080"/>
            <a:ext cx="114480" cy="114480"/>
          </a:xfrm>
          <a:custGeom>
            <a:avLst/>
            <a:gdLst/>
            <a:ahLst/>
            <a:rect l="0" t="0" r="r" b="b"/>
            <a:pathLst>
              <a:path fill="none" w="318" h="318">
                <a:moveTo>
                  <a:pt x="318" y="0"/>
                </a:moveTo>
                <a:lnTo>
                  <a:pt x="0" y="318"/>
                </a:lnTo>
                <a:moveTo>
                  <a:pt x="0" y="0"/>
                </a:moveTo>
                <a:lnTo>
                  <a:pt x="318" y="318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6864840" y="3795120"/>
            <a:ext cx="4480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Risk of being too broad or vague if not structured.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766440" y="4700520"/>
            <a:ext cx="10658880" cy="1267200"/>
          </a:xfrm>
          <a:custGeom>
            <a:avLst/>
            <a:gdLst/>
            <a:ahLst/>
            <a:rect l="0" t="0" r="r" b="b"/>
            <a:pathLst>
              <a:path w="29608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374"/>
                </a:lnTo>
                <a:cubicBezTo>
                  <a:pt x="29608" y="3384"/>
                  <a:pt x="29607" y="3393"/>
                  <a:pt x="29605" y="3403"/>
                </a:cubicBezTo>
                <a:cubicBezTo>
                  <a:pt x="29604" y="3412"/>
                  <a:pt x="29601" y="3421"/>
                  <a:pt x="29597" y="3430"/>
                </a:cubicBezTo>
                <a:cubicBezTo>
                  <a:pt x="29594" y="3439"/>
                  <a:pt x="29589" y="3447"/>
                  <a:pt x="29584" y="3455"/>
                </a:cubicBezTo>
                <a:cubicBezTo>
                  <a:pt x="29578" y="3463"/>
                  <a:pt x="29572" y="3470"/>
                  <a:pt x="29566" y="3477"/>
                </a:cubicBezTo>
                <a:cubicBezTo>
                  <a:pt x="29559" y="3484"/>
                  <a:pt x="29552" y="3490"/>
                  <a:pt x="29544" y="3495"/>
                </a:cubicBezTo>
                <a:cubicBezTo>
                  <a:pt x="29536" y="3500"/>
                  <a:pt x="29527" y="3505"/>
                  <a:pt x="29518" y="3509"/>
                </a:cubicBezTo>
                <a:cubicBezTo>
                  <a:pt x="29510" y="3512"/>
                  <a:pt x="29501" y="3515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2"/>
                  <a:pt x="90" y="3509"/>
                </a:cubicBezTo>
                <a:cubicBezTo>
                  <a:pt x="81" y="3505"/>
                  <a:pt x="73" y="3500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3"/>
                  <a:pt x="0" y="3384"/>
                  <a:pt x="0" y="3374"/>
                </a:cubicBezTo>
                <a:close/>
              </a:path>
            </a:pathLst>
          </a:custGeom>
          <a:solidFill>
            <a:srgbClr val="ede8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766440" y="4700520"/>
            <a:ext cx="10658880" cy="1267200"/>
          </a:xfrm>
          <a:custGeom>
            <a:avLst/>
            <a:gdLst/>
            <a:ahLst/>
            <a:rect l="0" t="0" r="r" b="b"/>
            <a:pathLst>
              <a:path fill="none" w="29608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374"/>
                </a:lnTo>
                <a:cubicBezTo>
                  <a:pt x="29608" y="3384"/>
                  <a:pt x="29607" y="3393"/>
                  <a:pt x="29605" y="3403"/>
                </a:cubicBezTo>
                <a:cubicBezTo>
                  <a:pt x="29604" y="3412"/>
                  <a:pt x="29601" y="3421"/>
                  <a:pt x="29597" y="3430"/>
                </a:cubicBezTo>
                <a:cubicBezTo>
                  <a:pt x="29594" y="3439"/>
                  <a:pt x="29589" y="3447"/>
                  <a:pt x="29584" y="3455"/>
                </a:cubicBezTo>
                <a:cubicBezTo>
                  <a:pt x="29578" y="3463"/>
                  <a:pt x="29572" y="3470"/>
                  <a:pt x="29566" y="3477"/>
                </a:cubicBezTo>
                <a:cubicBezTo>
                  <a:pt x="29559" y="3484"/>
                  <a:pt x="29552" y="3490"/>
                  <a:pt x="29544" y="3495"/>
                </a:cubicBezTo>
                <a:cubicBezTo>
                  <a:pt x="29536" y="3500"/>
                  <a:pt x="29527" y="3505"/>
                  <a:pt x="29518" y="3509"/>
                </a:cubicBezTo>
                <a:cubicBezTo>
                  <a:pt x="29510" y="3512"/>
                  <a:pt x="29501" y="3515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2"/>
                  <a:pt x="90" y="3509"/>
                </a:cubicBezTo>
                <a:cubicBezTo>
                  <a:pt x="81" y="3505"/>
                  <a:pt x="73" y="3500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3"/>
                  <a:pt x="0" y="3384"/>
                  <a:pt x="0" y="3374"/>
                </a:cubicBezTo>
              </a:path>
            </a:pathLst>
          </a:custGeom>
          <a:ln w="9360">
            <a:solidFill>
              <a:srgbClr val="c9b9f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6778440" y="3074760"/>
            <a:ext cx="1323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Limitations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923760" y="5299920"/>
            <a:ext cx="10238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Understanding that even if each part works perfectly, the car wonʼt function unless the driver, traﬃc rules, and fuel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952200" y="4952880"/>
            <a:ext cx="172080" cy="114480"/>
          </a:xfrm>
          <a:custGeom>
            <a:avLst/>
            <a:gdLst/>
            <a:ahLst/>
            <a:rect l="0" t="0" r="r" b="b"/>
            <a:pathLst>
              <a:path fill="none" w="478" h="318">
                <a:moveTo>
                  <a:pt x="133" y="0"/>
                </a:moveTo>
                <a:lnTo>
                  <a:pt x="478" y="0"/>
                </a:lnTo>
                <a:moveTo>
                  <a:pt x="133" y="160"/>
                </a:moveTo>
                <a:lnTo>
                  <a:pt x="478" y="160"/>
                </a:lnTo>
                <a:moveTo>
                  <a:pt x="133" y="318"/>
                </a:moveTo>
                <a:lnTo>
                  <a:pt x="478" y="318"/>
                </a:lnTo>
                <a:moveTo>
                  <a:pt x="0" y="0"/>
                </a:moveTo>
                <a:lnTo>
                  <a:pt x="1" y="0"/>
                </a:lnTo>
                <a:moveTo>
                  <a:pt x="0" y="160"/>
                </a:moveTo>
                <a:lnTo>
                  <a:pt x="1" y="160"/>
                </a:lnTo>
                <a:moveTo>
                  <a:pt x="0" y="318"/>
                </a:moveTo>
                <a:lnTo>
                  <a:pt x="1" y="318"/>
                </a:lnTo>
              </a:path>
            </a:pathLst>
          </a:custGeom>
          <a:ln cap="rnd" w="18720">
            <a:solidFill>
              <a:srgbClr val="7852ee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923760" y="5576400"/>
            <a:ext cx="2428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supply are also considered.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1203120" y="4903560"/>
            <a:ext cx="1120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7852ee"/>
                </a:solidFill>
                <a:effectLst/>
                <a:uFillTx/>
                <a:latin typeface="LucidaGrande"/>
                <a:ea typeface="LucidaGrande"/>
              </a:rPr>
              <a:t>Example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"/>
          <p:cNvSpPr txBox="1"/>
          <p:nvPr/>
        </p:nvSpPr>
        <p:spPr>
          <a:xfrm>
            <a:off x="762120" y="1811520"/>
            <a:ext cx="334476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Holism vs. Reductionism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762120" y="2327760"/>
            <a:ext cx="10188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Reductionism isolates components for analysis (e.g., testing one part of the fridge). Holism emphasises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762120" y="2632320"/>
            <a:ext cx="359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relationships and the bigger picture.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766440" y="3062160"/>
            <a:ext cx="10658880" cy="1276560"/>
          </a:xfrm>
          <a:custGeom>
            <a:avLst/>
            <a:gdLst/>
            <a:ahLst/>
            <a:rect l="0" t="0" r="r" b="b"/>
            <a:pathLst>
              <a:path w="29608" h="3546">
                <a:moveTo>
                  <a:pt x="0" y="340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401"/>
                </a:lnTo>
                <a:cubicBezTo>
                  <a:pt x="29608" y="3410"/>
                  <a:pt x="29607" y="3420"/>
                  <a:pt x="29605" y="3429"/>
                </a:cubicBezTo>
                <a:cubicBezTo>
                  <a:pt x="29604" y="3439"/>
                  <a:pt x="29601" y="3448"/>
                  <a:pt x="29597" y="3456"/>
                </a:cubicBezTo>
                <a:cubicBezTo>
                  <a:pt x="29594" y="3465"/>
                  <a:pt x="29589" y="3474"/>
                  <a:pt x="29584" y="3482"/>
                </a:cubicBezTo>
                <a:cubicBezTo>
                  <a:pt x="29578" y="3490"/>
                  <a:pt x="29572" y="3497"/>
                  <a:pt x="29566" y="3504"/>
                </a:cubicBezTo>
                <a:cubicBezTo>
                  <a:pt x="29559" y="3510"/>
                  <a:pt x="29552" y="3516"/>
                  <a:pt x="29544" y="3522"/>
                </a:cubicBezTo>
                <a:cubicBezTo>
                  <a:pt x="29536" y="3527"/>
                  <a:pt x="29527" y="3532"/>
                  <a:pt x="29518" y="3535"/>
                </a:cubicBezTo>
                <a:cubicBezTo>
                  <a:pt x="29510" y="3539"/>
                  <a:pt x="29501" y="3542"/>
                  <a:pt x="29491" y="3543"/>
                </a:cubicBezTo>
                <a:cubicBezTo>
                  <a:pt x="29482" y="3545"/>
                  <a:pt x="29472" y="3546"/>
                  <a:pt x="29463" y="3546"/>
                </a:cubicBezTo>
                <a:lnTo>
                  <a:pt x="146" y="3546"/>
                </a:lnTo>
                <a:cubicBezTo>
                  <a:pt x="136" y="3546"/>
                  <a:pt x="127" y="3545"/>
                  <a:pt x="118" y="3543"/>
                </a:cubicBezTo>
                <a:cubicBezTo>
                  <a:pt x="108" y="3542"/>
                  <a:pt x="99" y="3539"/>
                  <a:pt x="90" y="3535"/>
                </a:cubicBezTo>
                <a:cubicBezTo>
                  <a:pt x="81" y="3532"/>
                  <a:pt x="73" y="3527"/>
                  <a:pt x="65" y="3522"/>
                </a:cubicBezTo>
                <a:cubicBezTo>
                  <a:pt x="57" y="3516"/>
                  <a:pt x="50" y="3510"/>
                  <a:pt x="43" y="3504"/>
                </a:cubicBezTo>
                <a:cubicBezTo>
                  <a:pt x="36" y="3497"/>
                  <a:pt x="30" y="3490"/>
                  <a:pt x="25" y="3482"/>
                </a:cubicBezTo>
                <a:cubicBezTo>
                  <a:pt x="20" y="3474"/>
                  <a:pt x="15" y="3465"/>
                  <a:pt x="11" y="3456"/>
                </a:cubicBezTo>
                <a:cubicBezTo>
                  <a:pt x="8" y="3448"/>
                  <a:pt x="5" y="3439"/>
                  <a:pt x="3" y="3429"/>
                </a:cubicBezTo>
                <a:cubicBezTo>
                  <a:pt x="1" y="3420"/>
                  <a:pt x="0" y="3410"/>
                  <a:pt x="0" y="3401"/>
                </a:cubicBez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766440" y="3062160"/>
            <a:ext cx="10658880" cy="1276560"/>
          </a:xfrm>
          <a:custGeom>
            <a:avLst/>
            <a:gdLst/>
            <a:ahLst/>
            <a:rect l="0" t="0" r="r" b="b"/>
            <a:pathLst>
              <a:path fill="none" w="29608" h="3546">
                <a:moveTo>
                  <a:pt x="0" y="340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401"/>
                </a:lnTo>
                <a:cubicBezTo>
                  <a:pt x="29608" y="3410"/>
                  <a:pt x="29607" y="3420"/>
                  <a:pt x="29605" y="3429"/>
                </a:cubicBezTo>
                <a:cubicBezTo>
                  <a:pt x="29604" y="3439"/>
                  <a:pt x="29601" y="3448"/>
                  <a:pt x="29597" y="3456"/>
                </a:cubicBezTo>
                <a:cubicBezTo>
                  <a:pt x="29594" y="3465"/>
                  <a:pt x="29589" y="3474"/>
                  <a:pt x="29584" y="3482"/>
                </a:cubicBezTo>
                <a:cubicBezTo>
                  <a:pt x="29578" y="3490"/>
                  <a:pt x="29572" y="3497"/>
                  <a:pt x="29566" y="3504"/>
                </a:cubicBezTo>
                <a:cubicBezTo>
                  <a:pt x="29559" y="3510"/>
                  <a:pt x="29552" y="3516"/>
                  <a:pt x="29544" y="3522"/>
                </a:cubicBezTo>
                <a:cubicBezTo>
                  <a:pt x="29536" y="3527"/>
                  <a:pt x="29527" y="3532"/>
                  <a:pt x="29518" y="3535"/>
                </a:cubicBezTo>
                <a:cubicBezTo>
                  <a:pt x="29510" y="3539"/>
                  <a:pt x="29501" y="3542"/>
                  <a:pt x="29491" y="3543"/>
                </a:cubicBezTo>
                <a:cubicBezTo>
                  <a:pt x="29482" y="3545"/>
                  <a:pt x="29472" y="3546"/>
                  <a:pt x="29463" y="3546"/>
                </a:cubicBezTo>
                <a:lnTo>
                  <a:pt x="146" y="3546"/>
                </a:lnTo>
                <a:cubicBezTo>
                  <a:pt x="136" y="3546"/>
                  <a:pt x="127" y="3545"/>
                  <a:pt x="118" y="3543"/>
                </a:cubicBezTo>
                <a:cubicBezTo>
                  <a:pt x="108" y="3542"/>
                  <a:pt x="99" y="3539"/>
                  <a:pt x="90" y="3535"/>
                </a:cubicBezTo>
                <a:cubicBezTo>
                  <a:pt x="81" y="3532"/>
                  <a:pt x="73" y="3527"/>
                  <a:pt x="65" y="3522"/>
                </a:cubicBezTo>
                <a:cubicBezTo>
                  <a:pt x="57" y="3516"/>
                  <a:pt x="50" y="3510"/>
                  <a:pt x="43" y="3504"/>
                </a:cubicBezTo>
                <a:cubicBezTo>
                  <a:pt x="36" y="3497"/>
                  <a:pt x="30" y="3490"/>
                  <a:pt x="25" y="3482"/>
                </a:cubicBezTo>
                <a:cubicBezTo>
                  <a:pt x="20" y="3474"/>
                  <a:pt x="15" y="3465"/>
                  <a:pt x="11" y="3456"/>
                </a:cubicBezTo>
                <a:cubicBezTo>
                  <a:pt x="8" y="3448"/>
                  <a:pt x="5" y="3439"/>
                  <a:pt x="3" y="3429"/>
                </a:cubicBezTo>
                <a:cubicBezTo>
                  <a:pt x="1" y="3420"/>
                  <a:pt x="0" y="3410"/>
                  <a:pt x="0" y="3401"/>
                </a:cubicBezTo>
              </a:path>
            </a:pathLst>
          </a:custGeom>
          <a:ln w="9360">
            <a:solidFill>
              <a:srgbClr val="d9d9d9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923760" y="3671280"/>
            <a:ext cx="3390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Reductionism = “focus on the pieces.”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942840" y="3286080"/>
            <a:ext cx="190800" cy="171720"/>
          </a:xfrm>
          <a:custGeom>
            <a:avLst/>
            <a:gdLst/>
            <a:ahLst/>
            <a:rect l="0" t="0" r="r" b="b"/>
            <a:pathLst>
              <a:path fill="none" w="530" h="477">
                <a:moveTo>
                  <a:pt x="26" y="477"/>
                </a:moveTo>
                <a:cubicBezTo>
                  <a:pt x="106" y="477"/>
                  <a:pt x="212" y="450"/>
                  <a:pt x="212" y="265"/>
                </a:cubicBezTo>
                <a:lnTo>
                  <a:pt x="212" y="53"/>
                </a:lnTo>
                <a:cubicBezTo>
                  <a:pt x="212" y="19"/>
                  <a:pt x="192" y="-1"/>
                  <a:pt x="159" y="0"/>
                </a:cubicBezTo>
                <a:lnTo>
                  <a:pt x="53" y="0"/>
                </a:lnTo>
                <a:cubicBezTo>
                  <a:pt x="20" y="0"/>
                  <a:pt x="0" y="19"/>
                  <a:pt x="0" y="52"/>
                </a:cubicBezTo>
                <a:lnTo>
                  <a:pt x="0" y="212"/>
                </a:lnTo>
                <a:cubicBezTo>
                  <a:pt x="0" y="245"/>
                  <a:pt x="20" y="265"/>
                  <a:pt x="53" y="265"/>
                </a:cubicBezTo>
                <a:cubicBezTo>
                  <a:pt x="79" y="265"/>
                  <a:pt x="79" y="265"/>
                  <a:pt x="79" y="292"/>
                </a:cubicBezTo>
                <a:lnTo>
                  <a:pt x="79" y="318"/>
                </a:lnTo>
                <a:cubicBezTo>
                  <a:pt x="79" y="345"/>
                  <a:pt x="53" y="371"/>
                  <a:pt x="26" y="371"/>
                </a:cubicBezTo>
                <a:cubicBezTo>
                  <a:pt x="0" y="371"/>
                  <a:pt x="0" y="371"/>
                  <a:pt x="0" y="398"/>
                </a:cubicBezTo>
                <a:lnTo>
                  <a:pt x="0" y="450"/>
                </a:lnTo>
                <a:cubicBezTo>
                  <a:pt x="0" y="477"/>
                  <a:pt x="0" y="477"/>
                  <a:pt x="26" y="477"/>
                </a:cubicBezTo>
                <a:moveTo>
                  <a:pt x="345" y="477"/>
                </a:moveTo>
                <a:cubicBezTo>
                  <a:pt x="424" y="477"/>
                  <a:pt x="530" y="450"/>
                  <a:pt x="530" y="265"/>
                </a:cubicBezTo>
                <a:lnTo>
                  <a:pt x="530" y="53"/>
                </a:lnTo>
                <a:cubicBezTo>
                  <a:pt x="530" y="19"/>
                  <a:pt x="510" y="-1"/>
                  <a:pt x="477" y="0"/>
                </a:cubicBezTo>
                <a:lnTo>
                  <a:pt x="371" y="0"/>
                </a:lnTo>
                <a:cubicBezTo>
                  <a:pt x="338" y="0"/>
                  <a:pt x="318" y="19"/>
                  <a:pt x="318" y="52"/>
                </a:cubicBezTo>
                <a:lnTo>
                  <a:pt x="318" y="212"/>
                </a:lnTo>
                <a:cubicBezTo>
                  <a:pt x="318" y="245"/>
                  <a:pt x="338" y="265"/>
                  <a:pt x="371" y="265"/>
                </a:cubicBezTo>
                <a:lnTo>
                  <a:pt x="391" y="265"/>
                </a:lnTo>
                <a:cubicBezTo>
                  <a:pt x="391" y="325"/>
                  <a:pt x="398" y="371"/>
                  <a:pt x="318" y="371"/>
                </a:cubicBezTo>
                <a:lnTo>
                  <a:pt x="318" y="450"/>
                </a:lnTo>
                <a:cubicBezTo>
                  <a:pt x="318" y="477"/>
                  <a:pt x="318" y="477"/>
                  <a:pt x="345" y="477"/>
                </a:cubicBezTo>
              </a:path>
            </a:pathLst>
          </a:custGeom>
          <a:ln cap="rnd" w="18720">
            <a:solidFill>
              <a:srgbClr val="a7a7a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923760" y="3947400"/>
            <a:ext cx="5300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Holism = “focus on the connections and the whole picture.”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766440" y="4462200"/>
            <a:ext cx="10658880" cy="1314720"/>
          </a:xfrm>
          <a:custGeom>
            <a:avLst/>
            <a:gdLst/>
            <a:ahLst/>
            <a:rect l="0" t="0" r="r" b="b"/>
            <a:pathLst>
              <a:path w="29608" h="3652">
                <a:moveTo>
                  <a:pt x="0" y="350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507"/>
                </a:lnTo>
                <a:cubicBezTo>
                  <a:pt x="29608" y="3517"/>
                  <a:pt x="29607" y="3526"/>
                  <a:pt x="29605" y="3535"/>
                </a:cubicBezTo>
                <a:cubicBezTo>
                  <a:pt x="29604" y="3545"/>
                  <a:pt x="29601" y="3554"/>
                  <a:pt x="29597" y="3563"/>
                </a:cubicBezTo>
                <a:cubicBezTo>
                  <a:pt x="29594" y="3571"/>
                  <a:pt x="29589" y="3580"/>
                  <a:pt x="29584" y="3588"/>
                </a:cubicBezTo>
                <a:cubicBezTo>
                  <a:pt x="29578" y="3596"/>
                  <a:pt x="29572" y="3603"/>
                  <a:pt x="29566" y="3610"/>
                </a:cubicBezTo>
                <a:cubicBezTo>
                  <a:pt x="29559" y="3617"/>
                  <a:pt x="29552" y="3623"/>
                  <a:pt x="29544" y="3628"/>
                </a:cubicBezTo>
                <a:cubicBezTo>
                  <a:pt x="29536" y="3633"/>
                  <a:pt x="29527" y="3638"/>
                  <a:pt x="29518" y="3641"/>
                </a:cubicBezTo>
                <a:cubicBezTo>
                  <a:pt x="29510" y="3645"/>
                  <a:pt x="29501" y="3648"/>
                  <a:pt x="29491" y="3650"/>
                </a:cubicBezTo>
                <a:cubicBezTo>
                  <a:pt x="29482" y="3652"/>
                  <a:pt x="29472" y="3652"/>
                  <a:pt x="29463" y="3652"/>
                </a:cubicBezTo>
                <a:lnTo>
                  <a:pt x="146" y="3652"/>
                </a:lnTo>
                <a:cubicBezTo>
                  <a:pt x="136" y="3652"/>
                  <a:pt x="127" y="3652"/>
                  <a:pt x="118" y="3650"/>
                </a:cubicBezTo>
                <a:cubicBezTo>
                  <a:pt x="108" y="3648"/>
                  <a:pt x="99" y="3645"/>
                  <a:pt x="90" y="3641"/>
                </a:cubicBezTo>
                <a:cubicBezTo>
                  <a:pt x="81" y="3638"/>
                  <a:pt x="73" y="3633"/>
                  <a:pt x="65" y="3628"/>
                </a:cubicBezTo>
                <a:cubicBezTo>
                  <a:pt x="57" y="3623"/>
                  <a:pt x="50" y="3617"/>
                  <a:pt x="43" y="3610"/>
                </a:cubicBezTo>
                <a:cubicBezTo>
                  <a:pt x="36" y="3603"/>
                  <a:pt x="30" y="3596"/>
                  <a:pt x="25" y="3588"/>
                </a:cubicBezTo>
                <a:cubicBezTo>
                  <a:pt x="20" y="3580"/>
                  <a:pt x="15" y="3571"/>
                  <a:pt x="11" y="3563"/>
                </a:cubicBezTo>
                <a:cubicBezTo>
                  <a:pt x="8" y="3554"/>
                  <a:pt x="5" y="3545"/>
                  <a:pt x="3" y="3535"/>
                </a:cubicBezTo>
                <a:cubicBezTo>
                  <a:pt x="1" y="3526"/>
                  <a:pt x="0" y="3517"/>
                  <a:pt x="0" y="3507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766440" y="4462200"/>
            <a:ext cx="10658880" cy="1314720"/>
          </a:xfrm>
          <a:custGeom>
            <a:avLst/>
            <a:gdLst/>
            <a:ahLst/>
            <a:rect l="0" t="0" r="r" b="b"/>
            <a:pathLst>
              <a:path fill="none" w="29608" h="3652">
                <a:moveTo>
                  <a:pt x="0" y="350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507"/>
                </a:lnTo>
                <a:cubicBezTo>
                  <a:pt x="29608" y="3517"/>
                  <a:pt x="29607" y="3526"/>
                  <a:pt x="29605" y="3535"/>
                </a:cubicBezTo>
                <a:cubicBezTo>
                  <a:pt x="29604" y="3545"/>
                  <a:pt x="29601" y="3554"/>
                  <a:pt x="29597" y="3563"/>
                </a:cubicBezTo>
                <a:cubicBezTo>
                  <a:pt x="29594" y="3571"/>
                  <a:pt x="29589" y="3580"/>
                  <a:pt x="29584" y="3588"/>
                </a:cubicBezTo>
                <a:cubicBezTo>
                  <a:pt x="29578" y="3596"/>
                  <a:pt x="29572" y="3603"/>
                  <a:pt x="29566" y="3610"/>
                </a:cubicBezTo>
                <a:cubicBezTo>
                  <a:pt x="29559" y="3617"/>
                  <a:pt x="29552" y="3623"/>
                  <a:pt x="29544" y="3628"/>
                </a:cubicBezTo>
                <a:cubicBezTo>
                  <a:pt x="29536" y="3633"/>
                  <a:pt x="29527" y="3638"/>
                  <a:pt x="29518" y="3641"/>
                </a:cubicBezTo>
                <a:cubicBezTo>
                  <a:pt x="29510" y="3645"/>
                  <a:pt x="29501" y="3648"/>
                  <a:pt x="29491" y="3650"/>
                </a:cubicBezTo>
                <a:cubicBezTo>
                  <a:pt x="29482" y="3652"/>
                  <a:pt x="29472" y="3652"/>
                  <a:pt x="29463" y="3652"/>
                </a:cubicBezTo>
                <a:lnTo>
                  <a:pt x="146" y="3652"/>
                </a:lnTo>
                <a:cubicBezTo>
                  <a:pt x="136" y="3652"/>
                  <a:pt x="127" y="3652"/>
                  <a:pt x="118" y="3650"/>
                </a:cubicBezTo>
                <a:cubicBezTo>
                  <a:pt x="108" y="3648"/>
                  <a:pt x="99" y="3645"/>
                  <a:pt x="90" y="3641"/>
                </a:cubicBezTo>
                <a:cubicBezTo>
                  <a:pt x="81" y="3638"/>
                  <a:pt x="73" y="3633"/>
                  <a:pt x="65" y="3628"/>
                </a:cubicBezTo>
                <a:cubicBezTo>
                  <a:pt x="57" y="3623"/>
                  <a:pt x="50" y="3617"/>
                  <a:pt x="43" y="3610"/>
                </a:cubicBezTo>
                <a:cubicBezTo>
                  <a:pt x="36" y="3603"/>
                  <a:pt x="30" y="3596"/>
                  <a:pt x="25" y="3588"/>
                </a:cubicBezTo>
                <a:cubicBezTo>
                  <a:pt x="20" y="3580"/>
                  <a:pt x="15" y="3571"/>
                  <a:pt x="11" y="3563"/>
                </a:cubicBezTo>
                <a:cubicBezTo>
                  <a:pt x="8" y="3554"/>
                  <a:pt x="5" y="3545"/>
                  <a:pt x="3" y="3535"/>
                </a:cubicBezTo>
                <a:cubicBezTo>
                  <a:pt x="1" y="3526"/>
                  <a:pt x="0" y="3517"/>
                  <a:pt x="0" y="3507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1104840" y="51526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3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3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1203120" y="3265200"/>
            <a:ext cx="277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a7a7a7"/>
                </a:solidFill>
                <a:effectLst/>
                <a:uFillTx/>
                <a:latin typeface="LucidaGrande"/>
                <a:ea typeface="LucidaGrande"/>
              </a:rPr>
              <a:t>So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1104840" y="54766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1289520" y="5061960"/>
            <a:ext cx="6245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Reductionism to design and improve speciﬁc algorithms/components.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942840" y="467676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4"/>
                </a:moveTo>
                <a:cubicBezTo>
                  <a:pt x="530" y="281"/>
                  <a:pt x="528" y="299"/>
                  <a:pt x="525" y="316"/>
                </a:cubicBezTo>
                <a:cubicBezTo>
                  <a:pt x="522" y="333"/>
                  <a:pt x="517" y="349"/>
                  <a:pt x="510" y="365"/>
                </a:cubicBezTo>
                <a:cubicBezTo>
                  <a:pt x="503" y="381"/>
                  <a:pt x="495" y="397"/>
                  <a:pt x="485" y="411"/>
                </a:cubicBezTo>
                <a:cubicBezTo>
                  <a:pt x="476" y="426"/>
                  <a:pt x="465" y="439"/>
                  <a:pt x="453" y="451"/>
                </a:cubicBezTo>
                <a:cubicBezTo>
                  <a:pt x="440" y="463"/>
                  <a:pt x="427" y="474"/>
                  <a:pt x="412" y="484"/>
                </a:cubicBezTo>
                <a:cubicBezTo>
                  <a:pt x="398" y="494"/>
                  <a:pt x="383" y="503"/>
                  <a:pt x="367" y="510"/>
                </a:cubicBezTo>
                <a:cubicBezTo>
                  <a:pt x="351" y="516"/>
                  <a:pt x="334" y="521"/>
                  <a:pt x="317" y="525"/>
                </a:cubicBezTo>
                <a:cubicBezTo>
                  <a:pt x="300" y="528"/>
                  <a:pt x="282" y="530"/>
                  <a:pt x="264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1"/>
                  <a:pt x="179" y="516"/>
                  <a:pt x="163" y="510"/>
                </a:cubicBezTo>
                <a:cubicBezTo>
                  <a:pt x="147" y="503"/>
                  <a:pt x="132" y="494"/>
                  <a:pt x="117" y="484"/>
                </a:cubicBezTo>
                <a:cubicBezTo>
                  <a:pt x="103" y="474"/>
                  <a:pt x="90" y="463"/>
                  <a:pt x="77" y="451"/>
                </a:cubicBezTo>
                <a:cubicBezTo>
                  <a:pt x="65" y="439"/>
                  <a:pt x="54" y="426"/>
                  <a:pt x="44" y="411"/>
                </a:cubicBezTo>
                <a:cubicBezTo>
                  <a:pt x="35" y="397"/>
                  <a:pt x="27" y="381"/>
                  <a:pt x="20" y="365"/>
                </a:cubicBezTo>
                <a:cubicBezTo>
                  <a:pt x="13" y="349"/>
                  <a:pt x="8" y="333"/>
                  <a:pt x="5" y="316"/>
                </a:cubicBezTo>
                <a:cubicBezTo>
                  <a:pt x="2" y="299"/>
                  <a:pt x="0" y="281"/>
                  <a:pt x="0" y="264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5"/>
                  <a:pt x="13" y="179"/>
                  <a:pt x="20" y="163"/>
                </a:cubicBezTo>
                <a:cubicBezTo>
                  <a:pt x="27" y="147"/>
                  <a:pt x="35" y="132"/>
                  <a:pt x="44" y="117"/>
                </a:cubicBezTo>
                <a:cubicBezTo>
                  <a:pt x="54" y="103"/>
                  <a:pt x="65" y="89"/>
                  <a:pt x="77" y="77"/>
                </a:cubicBezTo>
                <a:cubicBezTo>
                  <a:pt x="90" y="65"/>
                  <a:pt x="103" y="54"/>
                  <a:pt x="117" y="44"/>
                </a:cubicBezTo>
                <a:cubicBezTo>
                  <a:pt x="132" y="34"/>
                  <a:pt x="147" y="26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1"/>
                  <a:pt x="247" y="0"/>
                  <a:pt x="264" y="0"/>
                </a:cubicBezTo>
                <a:cubicBezTo>
                  <a:pt x="282" y="0"/>
                  <a:pt x="300" y="1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6"/>
                  <a:pt x="398" y="34"/>
                  <a:pt x="412" y="44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89"/>
                  <a:pt x="476" y="103"/>
                  <a:pt x="485" y="117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5"/>
                  <a:pt x="525" y="213"/>
                </a:cubicBezTo>
                <a:cubicBezTo>
                  <a:pt x="528" y="230"/>
                  <a:pt x="530" y="247"/>
                  <a:pt x="530" y="264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1037880" y="473364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1289520" y="5385600"/>
            <a:ext cx="6321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Holism to ensure the system works responsibly within a larger context.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1465920" y="4665240"/>
            <a:ext cx="3845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In practice, engineers need both: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"/>
          <p:cNvSpPr txBox="1"/>
          <p:nvPr/>
        </p:nvSpPr>
        <p:spPr>
          <a:xfrm>
            <a:off x="762120" y="1659240"/>
            <a:ext cx="265428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Interconnectedness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762120" y="2175120"/>
            <a:ext cx="7917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Every element in a system is connected; outcomes arise from these connections.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762120" y="3716640"/>
            <a:ext cx="152028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Boundaries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762120" y="4232520"/>
            <a:ext cx="10456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Deﬁning what is “inside” and “outside” the system is essential, but boundaries are subjective and political.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766440" y="2604960"/>
            <a:ext cx="10658880" cy="991080"/>
          </a:xfrm>
          <a:custGeom>
            <a:avLst/>
            <a:gdLst/>
            <a:ahLst/>
            <a:rect l="0" t="0" r="r" b="b"/>
            <a:pathLst>
              <a:path w="29608" h="2753">
                <a:moveTo>
                  <a:pt x="0" y="260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2607"/>
                </a:lnTo>
                <a:cubicBezTo>
                  <a:pt x="29608" y="2617"/>
                  <a:pt x="29607" y="2626"/>
                  <a:pt x="29605" y="2635"/>
                </a:cubicBezTo>
                <a:cubicBezTo>
                  <a:pt x="29604" y="2645"/>
                  <a:pt x="29601" y="2654"/>
                  <a:pt x="29597" y="2663"/>
                </a:cubicBezTo>
                <a:cubicBezTo>
                  <a:pt x="29594" y="2672"/>
                  <a:pt x="29589" y="2680"/>
                  <a:pt x="29584" y="2688"/>
                </a:cubicBezTo>
                <a:cubicBezTo>
                  <a:pt x="29578" y="2696"/>
                  <a:pt x="29572" y="2703"/>
                  <a:pt x="29566" y="2710"/>
                </a:cubicBezTo>
                <a:cubicBezTo>
                  <a:pt x="29559" y="2717"/>
                  <a:pt x="29552" y="2723"/>
                  <a:pt x="29544" y="2728"/>
                </a:cubicBezTo>
                <a:cubicBezTo>
                  <a:pt x="29536" y="2733"/>
                  <a:pt x="29527" y="2738"/>
                  <a:pt x="29518" y="2741"/>
                </a:cubicBezTo>
                <a:cubicBezTo>
                  <a:pt x="29510" y="2745"/>
                  <a:pt x="29501" y="2748"/>
                  <a:pt x="29491" y="2750"/>
                </a:cubicBezTo>
                <a:cubicBezTo>
                  <a:pt x="29482" y="2752"/>
                  <a:pt x="29472" y="2753"/>
                  <a:pt x="29463" y="2753"/>
                </a:cubicBezTo>
                <a:lnTo>
                  <a:pt x="146" y="2753"/>
                </a:lnTo>
                <a:cubicBezTo>
                  <a:pt x="136" y="2753"/>
                  <a:pt x="127" y="2752"/>
                  <a:pt x="118" y="2750"/>
                </a:cubicBezTo>
                <a:cubicBezTo>
                  <a:pt x="108" y="2748"/>
                  <a:pt x="99" y="2745"/>
                  <a:pt x="90" y="2741"/>
                </a:cubicBezTo>
                <a:cubicBezTo>
                  <a:pt x="81" y="2738"/>
                  <a:pt x="73" y="2733"/>
                  <a:pt x="65" y="2728"/>
                </a:cubicBezTo>
                <a:cubicBezTo>
                  <a:pt x="57" y="2723"/>
                  <a:pt x="50" y="2717"/>
                  <a:pt x="43" y="2710"/>
                </a:cubicBezTo>
                <a:cubicBezTo>
                  <a:pt x="36" y="2703"/>
                  <a:pt x="30" y="2696"/>
                  <a:pt x="25" y="2688"/>
                </a:cubicBezTo>
                <a:cubicBezTo>
                  <a:pt x="20" y="2680"/>
                  <a:pt x="15" y="2672"/>
                  <a:pt x="11" y="2663"/>
                </a:cubicBezTo>
                <a:cubicBezTo>
                  <a:pt x="8" y="2654"/>
                  <a:pt x="5" y="2645"/>
                  <a:pt x="3" y="2635"/>
                </a:cubicBezTo>
                <a:cubicBezTo>
                  <a:pt x="1" y="2626"/>
                  <a:pt x="0" y="2617"/>
                  <a:pt x="0" y="2607"/>
                </a:cubicBezTo>
                <a:close/>
              </a:path>
            </a:pathLst>
          </a:custGeom>
          <a:solidFill>
            <a:srgbClr val="ede8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766440" y="2604960"/>
            <a:ext cx="10658880" cy="991080"/>
          </a:xfrm>
          <a:custGeom>
            <a:avLst/>
            <a:gdLst/>
            <a:ahLst/>
            <a:rect l="0" t="0" r="r" b="b"/>
            <a:pathLst>
              <a:path fill="none" w="29608" h="2753">
                <a:moveTo>
                  <a:pt x="0" y="260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2607"/>
                </a:lnTo>
                <a:cubicBezTo>
                  <a:pt x="29608" y="2617"/>
                  <a:pt x="29607" y="2626"/>
                  <a:pt x="29605" y="2635"/>
                </a:cubicBezTo>
                <a:cubicBezTo>
                  <a:pt x="29604" y="2645"/>
                  <a:pt x="29601" y="2654"/>
                  <a:pt x="29597" y="2663"/>
                </a:cubicBezTo>
                <a:cubicBezTo>
                  <a:pt x="29594" y="2672"/>
                  <a:pt x="29589" y="2680"/>
                  <a:pt x="29584" y="2688"/>
                </a:cubicBezTo>
                <a:cubicBezTo>
                  <a:pt x="29578" y="2696"/>
                  <a:pt x="29572" y="2703"/>
                  <a:pt x="29566" y="2710"/>
                </a:cubicBezTo>
                <a:cubicBezTo>
                  <a:pt x="29559" y="2717"/>
                  <a:pt x="29552" y="2723"/>
                  <a:pt x="29544" y="2728"/>
                </a:cubicBezTo>
                <a:cubicBezTo>
                  <a:pt x="29536" y="2733"/>
                  <a:pt x="29527" y="2738"/>
                  <a:pt x="29518" y="2741"/>
                </a:cubicBezTo>
                <a:cubicBezTo>
                  <a:pt x="29510" y="2745"/>
                  <a:pt x="29501" y="2748"/>
                  <a:pt x="29491" y="2750"/>
                </a:cubicBezTo>
                <a:cubicBezTo>
                  <a:pt x="29482" y="2752"/>
                  <a:pt x="29472" y="2753"/>
                  <a:pt x="29463" y="2753"/>
                </a:cubicBezTo>
                <a:lnTo>
                  <a:pt x="146" y="2753"/>
                </a:lnTo>
                <a:cubicBezTo>
                  <a:pt x="136" y="2753"/>
                  <a:pt x="127" y="2752"/>
                  <a:pt x="118" y="2750"/>
                </a:cubicBezTo>
                <a:cubicBezTo>
                  <a:pt x="108" y="2748"/>
                  <a:pt x="99" y="2745"/>
                  <a:pt x="90" y="2741"/>
                </a:cubicBezTo>
                <a:cubicBezTo>
                  <a:pt x="81" y="2738"/>
                  <a:pt x="73" y="2733"/>
                  <a:pt x="65" y="2728"/>
                </a:cubicBezTo>
                <a:cubicBezTo>
                  <a:pt x="57" y="2723"/>
                  <a:pt x="50" y="2717"/>
                  <a:pt x="43" y="2710"/>
                </a:cubicBezTo>
                <a:cubicBezTo>
                  <a:pt x="36" y="2703"/>
                  <a:pt x="30" y="2696"/>
                  <a:pt x="25" y="2688"/>
                </a:cubicBezTo>
                <a:cubicBezTo>
                  <a:pt x="20" y="2680"/>
                  <a:pt x="15" y="2672"/>
                  <a:pt x="11" y="2663"/>
                </a:cubicBezTo>
                <a:cubicBezTo>
                  <a:pt x="8" y="2654"/>
                  <a:pt x="5" y="2645"/>
                  <a:pt x="3" y="2635"/>
                </a:cubicBezTo>
                <a:cubicBezTo>
                  <a:pt x="1" y="2626"/>
                  <a:pt x="0" y="2617"/>
                  <a:pt x="0" y="2607"/>
                </a:cubicBezTo>
              </a:path>
            </a:pathLst>
          </a:custGeom>
          <a:ln w="9360">
            <a:solidFill>
              <a:srgbClr val="c9b9f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952200" y="2857320"/>
            <a:ext cx="172080" cy="114480"/>
          </a:xfrm>
          <a:custGeom>
            <a:avLst/>
            <a:gdLst/>
            <a:ahLst/>
            <a:rect l="0" t="0" r="r" b="b"/>
            <a:pathLst>
              <a:path fill="none" w="478" h="318">
                <a:moveTo>
                  <a:pt x="133" y="0"/>
                </a:moveTo>
                <a:lnTo>
                  <a:pt x="478" y="0"/>
                </a:lnTo>
                <a:moveTo>
                  <a:pt x="133" y="160"/>
                </a:moveTo>
                <a:lnTo>
                  <a:pt x="478" y="160"/>
                </a:lnTo>
                <a:moveTo>
                  <a:pt x="133" y="318"/>
                </a:moveTo>
                <a:lnTo>
                  <a:pt x="478" y="318"/>
                </a:lnTo>
                <a:moveTo>
                  <a:pt x="0" y="0"/>
                </a:moveTo>
                <a:lnTo>
                  <a:pt x="1" y="0"/>
                </a:lnTo>
                <a:moveTo>
                  <a:pt x="0" y="160"/>
                </a:moveTo>
                <a:lnTo>
                  <a:pt x="1" y="160"/>
                </a:lnTo>
                <a:moveTo>
                  <a:pt x="0" y="318"/>
                </a:moveTo>
                <a:lnTo>
                  <a:pt x="1" y="318"/>
                </a:lnTo>
              </a:path>
            </a:pathLst>
          </a:custGeom>
          <a:ln cap="rnd" w="18720">
            <a:solidFill>
              <a:srgbClr val="7852ee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923760" y="3204360"/>
            <a:ext cx="6145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Fixing a car by looking at each part (engine, tires, brakes) separately.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766440" y="4662360"/>
            <a:ext cx="10658880" cy="1267200"/>
          </a:xfrm>
          <a:custGeom>
            <a:avLst/>
            <a:gdLst/>
            <a:ahLst/>
            <a:rect l="0" t="0" r="r" b="b"/>
            <a:pathLst>
              <a:path w="29608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374"/>
                </a:lnTo>
                <a:cubicBezTo>
                  <a:pt x="29608" y="3384"/>
                  <a:pt x="29607" y="3393"/>
                  <a:pt x="29605" y="3403"/>
                </a:cubicBezTo>
                <a:cubicBezTo>
                  <a:pt x="29604" y="3412"/>
                  <a:pt x="29601" y="3421"/>
                  <a:pt x="29597" y="3430"/>
                </a:cubicBezTo>
                <a:cubicBezTo>
                  <a:pt x="29594" y="3439"/>
                  <a:pt x="29589" y="3447"/>
                  <a:pt x="29584" y="3455"/>
                </a:cubicBezTo>
                <a:cubicBezTo>
                  <a:pt x="29578" y="3463"/>
                  <a:pt x="29572" y="3470"/>
                  <a:pt x="29566" y="3477"/>
                </a:cubicBezTo>
                <a:cubicBezTo>
                  <a:pt x="29559" y="3484"/>
                  <a:pt x="29552" y="3490"/>
                  <a:pt x="29544" y="3495"/>
                </a:cubicBezTo>
                <a:cubicBezTo>
                  <a:pt x="29536" y="3501"/>
                  <a:pt x="29527" y="3505"/>
                  <a:pt x="29518" y="3509"/>
                </a:cubicBezTo>
                <a:cubicBezTo>
                  <a:pt x="29510" y="3512"/>
                  <a:pt x="29501" y="3515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2"/>
                  <a:pt x="90" y="3509"/>
                </a:cubicBezTo>
                <a:cubicBezTo>
                  <a:pt x="81" y="3505"/>
                  <a:pt x="73" y="3501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3"/>
                  <a:pt x="0" y="3384"/>
                  <a:pt x="0" y="3374"/>
                </a:cubicBezTo>
                <a:close/>
              </a:path>
            </a:pathLst>
          </a:custGeom>
          <a:solidFill>
            <a:srgbClr val="ede8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766440" y="4662360"/>
            <a:ext cx="10658880" cy="1267200"/>
          </a:xfrm>
          <a:custGeom>
            <a:avLst/>
            <a:gdLst/>
            <a:ahLst/>
            <a:rect l="0" t="0" r="r" b="b"/>
            <a:pathLst>
              <a:path fill="none" w="29608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374"/>
                </a:lnTo>
                <a:cubicBezTo>
                  <a:pt x="29608" y="3384"/>
                  <a:pt x="29607" y="3393"/>
                  <a:pt x="29605" y="3403"/>
                </a:cubicBezTo>
                <a:cubicBezTo>
                  <a:pt x="29604" y="3412"/>
                  <a:pt x="29601" y="3421"/>
                  <a:pt x="29597" y="3430"/>
                </a:cubicBezTo>
                <a:cubicBezTo>
                  <a:pt x="29594" y="3439"/>
                  <a:pt x="29589" y="3447"/>
                  <a:pt x="29584" y="3455"/>
                </a:cubicBezTo>
                <a:cubicBezTo>
                  <a:pt x="29578" y="3463"/>
                  <a:pt x="29572" y="3470"/>
                  <a:pt x="29566" y="3477"/>
                </a:cubicBezTo>
                <a:cubicBezTo>
                  <a:pt x="29559" y="3484"/>
                  <a:pt x="29552" y="3490"/>
                  <a:pt x="29544" y="3495"/>
                </a:cubicBezTo>
                <a:cubicBezTo>
                  <a:pt x="29536" y="3501"/>
                  <a:pt x="29527" y="3505"/>
                  <a:pt x="29518" y="3509"/>
                </a:cubicBezTo>
                <a:cubicBezTo>
                  <a:pt x="29510" y="3512"/>
                  <a:pt x="29501" y="3515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2"/>
                  <a:pt x="90" y="3509"/>
                </a:cubicBezTo>
                <a:cubicBezTo>
                  <a:pt x="81" y="3505"/>
                  <a:pt x="73" y="3501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3"/>
                  <a:pt x="0" y="3384"/>
                  <a:pt x="0" y="3374"/>
                </a:cubicBezTo>
              </a:path>
            </a:pathLst>
          </a:custGeom>
          <a:ln w="9360">
            <a:solidFill>
              <a:srgbClr val="c9b9f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203120" y="2808000"/>
            <a:ext cx="1045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7852ee"/>
                </a:solidFill>
                <a:effectLst/>
                <a:uFillTx/>
                <a:latin typeface="LucidaGrande"/>
                <a:ea typeface="LucidaGrande"/>
              </a:rPr>
              <a:t>Example: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923760" y="5271480"/>
            <a:ext cx="10367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school. Do you deﬁne the boundary as just classrooms and teachers? Or also include parents, neighbourhood, and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952200" y="4914720"/>
            <a:ext cx="172080" cy="114480"/>
          </a:xfrm>
          <a:custGeom>
            <a:avLst/>
            <a:gdLst/>
            <a:ahLst/>
            <a:rect l="0" t="0" r="r" b="b"/>
            <a:pathLst>
              <a:path fill="none" w="478" h="318">
                <a:moveTo>
                  <a:pt x="133" y="0"/>
                </a:moveTo>
                <a:lnTo>
                  <a:pt x="478" y="0"/>
                </a:lnTo>
                <a:moveTo>
                  <a:pt x="133" y="160"/>
                </a:moveTo>
                <a:lnTo>
                  <a:pt x="478" y="160"/>
                </a:lnTo>
                <a:moveTo>
                  <a:pt x="133" y="318"/>
                </a:moveTo>
                <a:lnTo>
                  <a:pt x="478" y="318"/>
                </a:lnTo>
                <a:moveTo>
                  <a:pt x="0" y="0"/>
                </a:moveTo>
                <a:lnTo>
                  <a:pt x="1" y="0"/>
                </a:lnTo>
                <a:moveTo>
                  <a:pt x="0" y="160"/>
                </a:moveTo>
                <a:lnTo>
                  <a:pt x="1" y="160"/>
                </a:lnTo>
                <a:moveTo>
                  <a:pt x="0" y="318"/>
                </a:moveTo>
                <a:lnTo>
                  <a:pt x="1" y="318"/>
                </a:lnTo>
              </a:path>
            </a:pathLst>
          </a:custGeom>
          <a:ln cap="rnd" w="18720">
            <a:solidFill>
              <a:srgbClr val="7852ee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923760" y="5547600"/>
            <a:ext cx="7689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online learning platforms? Where you “draw the line” changes how you see the system.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203120" y="4865400"/>
            <a:ext cx="1045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7852ee"/>
                </a:solidFill>
                <a:effectLst/>
                <a:uFillTx/>
                <a:latin typeface="LucidaGrande"/>
                <a:ea typeface="LucidaGrande"/>
              </a:rPr>
              <a:t>Example: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"/>
          <p:cNvSpPr txBox="1"/>
          <p:nvPr/>
        </p:nvSpPr>
        <p:spPr>
          <a:xfrm>
            <a:off x="762120" y="2364120"/>
            <a:ext cx="21733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Feedback Loops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762120" y="2880000"/>
            <a:ext cx="10635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feedback loop is when an action in a system produces an eﬀect, and that eﬀect goes back into the system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762120" y="3184920"/>
            <a:ext cx="9858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inﬂuences the original action.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are regulated by reinforcing (positive) and balancing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971280" y="40384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762120" y="3489840"/>
            <a:ext cx="2745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(negative) feedback loops.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971280" y="43909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1168200" y="3947040"/>
            <a:ext cx="5925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They show dynamics over time (not just static cause-eﬀect).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971280" y="47433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1168200" y="4299480"/>
            <a:ext cx="5927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They explain why systems donʼt always behave as expected.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1168200" y="4651920"/>
            <a:ext cx="1019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They help us spot leverage points — places where a small change breaks a harmful loop or strengthens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1168200" y="4956480"/>
            <a:ext cx="1171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good one.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3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"/>
          <p:cNvSpPr txBox="1"/>
          <p:nvPr/>
        </p:nvSpPr>
        <p:spPr>
          <a:xfrm>
            <a:off x="762120" y="3021120"/>
            <a:ext cx="48402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Feedback Loops as a Model of Mind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762120" y="3537360"/>
            <a:ext cx="10157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Michio Kaku's theory: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consciousness is the sum total of all feedback loops needed to build a model of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762120" y="3842280"/>
            <a:ext cx="3533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yourself in space, society, and time.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762120" y="4299480"/>
            <a:ext cx="8387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Unit of consciousness: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thermostat — one feedback loop (temperature) = one unit.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"/>
          <p:cNvSpPr/>
          <p:nvPr/>
        </p:nvSpPr>
        <p:spPr>
          <a:xfrm>
            <a:off x="771480" y="3457440"/>
            <a:ext cx="800280" cy="428760"/>
          </a:xfrm>
          <a:custGeom>
            <a:avLst/>
            <a:gdLst/>
            <a:ahLst/>
            <a:rect l="0" t="0" r="r" b="b"/>
            <a:pathLst>
              <a:path w="2223" h="1191">
                <a:moveTo>
                  <a:pt x="0" y="0"/>
                </a:moveTo>
                <a:lnTo>
                  <a:pt x="2223" y="0"/>
                </a:lnTo>
                <a:lnTo>
                  <a:pt x="2223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1571400" y="3457440"/>
            <a:ext cx="1914840" cy="428760"/>
          </a:xfrm>
          <a:custGeom>
            <a:avLst/>
            <a:gdLst/>
            <a:ahLst/>
            <a:rect l="0" t="0" r="r" b="b"/>
            <a:pathLst>
              <a:path w="5319" h="1191">
                <a:moveTo>
                  <a:pt x="0" y="0"/>
                </a:moveTo>
                <a:lnTo>
                  <a:pt x="5319" y="0"/>
                </a:lnTo>
                <a:lnTo>
                  <a:pt x="5319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3485880" y="3457440"/>
            <a:ext cx="3010320" cy="428760"/>
          </a:xfrm>
          <a:custGeom>
            <a:avLst/>
            <a:gdLst/>
            <a:ahLst/>
            <a:rect l="0" t="0" r="r" b="b"/>
            <a:pathLst>
              <a:path w="8362" h="1191">
                <a:moveTo>
                  <a:pt x="0" y="0"/>
                </a:moveTo>
                <a:lnTo>
                  <a:pt x="8362" y="0"/>
                </a:lnTo>
                <a:lnTo>
                  <a:pt x="8362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6495840" y="3457440"/>
            <a:ext cx="4401000" cy="428760"/>
          </a:xfrm>
          <a:custGeom>
            <a:avLst/>
            <a:gdLst/>
            <a:ahLst/>
            <a:rect l="0" t="0" r="r" b="b"/>
            <a:pathLst>
              <a:path w="12225" h="1191">
                <a:moveTo>
                  <a:pt x="0" y="0"/>
                </a:moveTo>
                <a:lnTo>
                  <a:pt x="12225" y="0"/>
                </a:lnTo>
                <a:lnTo>
                  <a:pt x="12225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771480" y="3885840"/>
            <a:ext cx="800280" cy="429120"/>
          </a:xfrm>
          <a:custGeom>
            <a:avLst/>
            <a:gdLst/>
            <a:ahLst/>
            <a:rect l="0" t="0" r="r" b="b"/>
            <a:pathLst>
              <a:path w="2223" h="1192">
                <a:moveTo>
                  <a:pt x="0" y="0"/>
                </a:moveTo>
                <a:lnTo>
                  <a:pt x="2223" y="0"/>
                </a:lnTo>
                <a:lnTo>
                  <a:pt x="2223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1571400" y="3885840"/>
            <a:ext cx="1914840" cy="429120"/>
          </a:xfrm>
          <a:custGeom>
            <a:avLst/>
            <a:gdLst/>
            <a:ahLst/>
            <a:rect l="0" t="0" r="r" b="b"/>
            <a:pathLst>
              <a:path w="5319" h="1192">
                <a:moveTo>
                  <a:pt x="0" y="0"/>
                </a:moveTo>
                <a:lnTo>
                  <a:pt x="5319" y="0"/>
                </a:lnTo>
                <a:lnTo>
                  <a:pt x="5319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3485880" y="3885840"/>
            <a:ext cx="3010320" cy="429120"/>
          </a:xfrm>
          <a:custGeom>
            <a:avLst/>
            <a:gdLst/>
            <a:ahLst/>
            <a:rect l="0" t="0" r="r" b="b"/>
            <a:pathLst>
              <a:path w="8362" h="1192">
                <a:moveTo>
                  <a:pt x="0" y="0"/>
                </a:moveTo>
                <a:lnTo>
                  <a:pt x="8362" y="0"/>
                </a:lnTo>
                <a:lnTo>
                  <a:pt x="8362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6495840" y="3885840"/>
            <a:ext cx="4401000" cy="429120"/>
          </a:xfrm>
          <a:custGeom>
            <a:avLst/>
            <a:gdLst/>
            <a:ahLst/>
            <a:rect l="0" t="0" r="r" b="b"/>
            <a:pathLst>
              <a:path w="12225" h="1192">
                <a:moveTo>
                  <a:pt x="0" y="0"/>
                </a:moveTo>
                <a:lnTo>
                  <a:pt x="12225" y="0"/>
                </a:lnTo>
                <a:lnTo>
                  <a:pt x="12225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771480" y="4314600"/>
            <a:ext cx="800280" cy="429120"/>
          </a:xfrm>
          <a:custGeom>
            <a:avLst/>
            <a:gdLst/>
            <a:ahLst/>
            <a:rect l="0" t="0" r="r" b="b"/>
            <a:pathLst>
              <a:path w="2223" h="1192">
                <a:moveTo>
                  <a:pt x="0" y="0"/>
                </a:moveTo>
                <a:lnTo>
                  <a:pt x="2223" y="0"/>
                </a:lnTo>
                <a:lnTo>
                  <a:pt x="2223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1571400" y="4314600"/>
            <a:ext cx="1914840" cy="429120"/>
          </a:xfrm>
          <a:custGeom>
            <a:avLst/>
            <a:gdLst/>
            <a:ahLst/>
            <a:rect l="0" t="0" r="r" b="b"/>
            <a:pathLst>
              <a:path w="5319" h="1192">
                <a:moveTo>
                  <a:pt x="0" y="0"/>
                </a:moveTo>
                <a:lnTo>
                  <a:pt x="5319" y="0"/>
                </a:lnTo>
                <a:lnTo>
                  <a:pt x="5319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3485880" y="4314600"/>
            <a:ext cx="3010320" cy="429120"/>
          </a:xfrm>
          <a:custGeom>
            <a:avLst/>
            <a:gdLst/>
            <a:ahLst/>
            <a:rect l="0" t="0" r="r" b="b"/>
            <a:pathLst>
              <a:path w="8362" h="1192">
                <a:moveTo>
                  <a:pt x="0" y="0"/>
                </a:moveTo>
                <a:lnTo>
                  <a:pt x="8362" y="0"/>
                </a:lnTo>
                <a:lnTo>
                  <a:pt x="8362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6495840" y="4314600"/>
            <a:ext cx="4401000" cy="429120"/>
          </a:xfrm>
          <a:custGeom>
            <a:avLst/>
            <a:gdLst/>
            <a:ahLst/>
            <a:rect l="0" t="0" r="r" b="b"/>
            <a:pathLst>
              <a:path w="12225" h="1192">
                <a:moveTo>
                  <a:pt x="0" y="0"/>
                </a:moveTo>
                <a:lnTo>
                  <a:pt x="12225" y="0"/>
                </a:lnTo>
                <a:lnTo>
                  <a:pt x="12225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771480" y="4743360"/>
            <a:ext cx="800280" cy="428760"/>
          </a:xfrm>
          <a:custGeom>
            <a:avLst/>
            <a:gdLst/>
            <a:ahLst/>
            <a:rect l="0" t="0" r="r" b="b"/>
            <a:pathLst>
              <a:path w="2223" h="1191">
                <a:moveTo>
                  <a:pt x="0" y="0"/>
                </a:moveTo>
                <a:lnTo>
                  <a:pt x="2223" y="0"/>
                </a:lnTo>
                <a:lnTo>
                  <a:pt x="2223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1571400" y="4743360"/>
            <a:ext cx="1914840" cy="428760"/>
          </a:xfrm>
          <a:custGeom>
            <a:avLst/>
            <a:gdLst/>
            <a:ahLst/>
            <a:rect l="0" t="0" r="r" b="b"/>
            <a:pathLst>
              <a:path w="5319" h="1191">
                <a:moveTo>
                  <a:pt x="0" y="0"/>
                </a:moveTo>
                <a:lnTo>
                  <a:pt x="5319" y="0"/>
                </a:lnTo>
                <a:lnTo>
                  <a:pt x="5319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3485880" y="4743360"/>
            <a:ext cx="3010320" cy="428760"/>
          </a:xfrm>
          <a:custGeom>
            <a:avLst/>
            <a:gdLst/>
            <a:ahLst/>
            <a:rect l="0" t="0" r="r" b="b"/>
            <a:pathLst>
              <a:path w="8362" h="1191">
                <a:moveTo>
                  <a:pt x="0" y="0"/>
                </a:moveTo>
                <a:lnTo>
                  <a:pt x="8362" y="0"/>
                </a:lnTo>
                <a:lnTo>
                  <a:pt x="8362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6495840" y="4743360"/>
            <a:ext cx="4401000" cy="428760"/>
          </a:xfrm>
          <a:custGeom>
            <a:avLst/>
            <a:gdLst/>
            <a:ahLst/>
            <a:rect l="0" t="0" r="r" b="b"/>
            <a:pathLst>
              <a:path w="12225" h="1191">
                <a:moveTo>
                  <a:pt x="0" y="0"/>
                </a:moveTo>
                <a:lnTo>
                  <a:pt x="12225" y="0"/>
                </a:lnTo>
                <a:lnTo>
                  <a:pt x="12225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771480" y="5171760"/>
            <a:ext cx="800280" cy="429120"/>
          </a:xfrm>
          <a:custGeom>
            <a:avLst/>
            <a:gdLst/>
            <a:ahLst/>
            <a:rect l="0" t="0" r="r" b="b"/>
            <a:pathLst>
              <a:path w="2223" h="1192">
                <a:moveTo>
                  <a:pt x="0" y="0"/>
                </a:moveTo>
                <a:lnTo>
                  <a:pt x="2223" y="0"/>
                </a:lnTo>
                <a:lnTo>
                  <a:pt x="2223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1571400" y="5171760"/>
            <a:ext cx="1914840" cy="429120"/>
          </a:xfrm>
          <a:custGeom>
            <a:avLst/>
            <a:gdLst/>
            <a:ahLst/>
            <a:rect l="0" t="0" r="r" b="b"/>
            <a:pathLst>
              <a:path w="5319" h="1192">
                <a:moveTo>
                  <a:pt x="0" y="0"/>
                </a:moveTo>
                <a:lnTo>
                  <a:pt x="5319" y="0"/>
                </a:lnTo>
                <a:lnTo>
                  <a:pt x="5319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3485880" y="5171760"/>
            <a:ext cx="3010320" cy="429120"/>
          </a:xfrm>
          <a:custGeom>
            <a:avLst/>
            <a:gdLst/>
            <a:ahLst/>
            <a:rect l="0" t="0" r="r" b="b"/>
            <a:pathLst>
              <a:path w="8362" h="1192">
                <a:moveTo>
                  <a:pt x="0" y="0"/>
                </a:moveTo>
                <a:lnTo>
                  <a:pt x="8362" y="0"/>
                </a:lnTo>
                <a:lnTo>
                  <a:pt x="8362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6495840" y="5171760"/>
            <a:ext cx="4401000" cy="429120"/>
          </a:xfrm>
          <a:custGeom>
            <a:avLst/>
            <a:gdLst/>
            <a:ahLst/>
            <a:rect l="0" t="0" r="r" b="b"/>
            <a:pathLst>
              <a:path w="12225" h="1192">
                <a:moveTo>
                  <a:pt x="0" y="0"/>
                </a:moveTo>
                <a:lnTo>
                  <a:pt x="12225" y="0"/>
                </a:lnTo>
                <a:lnTo>
                  <a:pt x="12225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761760" y="345744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761760" y="345744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1562040" y="34574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1571400" y="3457440"/>
            <a:ext cx="1914840" cy="9720"/>
          </a:xfrm>
          <a:custGeom>
            <a:avLst/>
            <a:gdLst/>
            <a:ahLst/>
            <a:rect l="0" t="0" r="r" b="b"/>
            <a:pathLst>
              <a:path w="5319" h="27">
                <a:moveTo>
                  <a:pt x="0" y="0"/>
                </a:moveTo>
                <a:lnTo>
                  <a:pt x="5319" y="0"/>
                </a:lnTo>
                <a:lnTo>
                  <a:pt x="53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3476520" y="34574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3485880" y="3457440"/>
            <a:ext cx="3010320" cy="9720"/>
          </a:xfrm>
          <a:custGeom>
            <a:avLst/>
            <a:gdLst/>
            <a:ahLst/>
            <a:rect l="0" t="0" r="r" b="b"/>
            <a:pathLst>
              <a:path w="8362" h="27">
                <a:moveTo>
                  <a:pt x="0" y="0"/>
                </a:moveTo>
                <a:lnTo>
                  <a:pt x="8362" y="0"/>
                </a:lnTo>
                <a:lnTo>
                  <a:pt x="83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6486480" y="34574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6495840" y="3457440"/>
            <a:ext cx="4401000" cy="9720"/>
          </a:xfrm>
          <a:custGeom>
            <a:avLst/>
            <a:gdLst/>
            <a:ahLst/>
            <a:rect l="0" t="0" r="r" b="b"/>
            <a:pathLst>
              <a:path w="12225" h="27">
                <a:moveTo>
                  <a:pt x="0" y="0"/>
                </a:moveTo>
                <a:lnTo>
                  <a:pt x="12225" y="0"/>
                </a:lnTo>
                <a:lnTo>
                  <a:pt x="122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10886760" y="345744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761760" y="3885840"/>
            <a:ext cx="810000" cy="10080"/>
          </a:xfrm>
          <a:custGeom>
            <a:avLst/>
            <a:gdLst/>
            <a:ah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1571400" y="3885840"/>
            <a:ext cx="1914840" cy="10080"/>
          </a:xfrm>
          <a:custGeom>
            <a:avLst/>
            <a:gdLst/>
            <a:ahLst/>
            <a:rect l="0" t="0" r="r" b="b"/>
            <a:pathLst>
              <a:path w="5319" h="28">
                <a:moveTo>
                  <a:pt x="0" y="0"/>
                </a:moveTo>
                <a:lnTo>
                  <a:pt x="5319" y="0"/>
                </a:lnTo>
                <a:lnTo>
                  <a:pt x="53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3485880" y="3885840"/>
            <a:ext cx="3010320" cy="10080"/>
          </a:xfrm>
          <a:custGeom>
            <a:avLst/>
            <a:gdLst/>
            <a:ahLst/>
            <a:rect l="0" t="0" r="r" b="b"/>
            <a:pathLst>
              <a:path w="8362" h="28">
                <a:moveTo>
                  <a:pt x="0" y="0"/>
                </a:moveTo>
                <a:lnTo>
                  <a:pt x="8362" y="0"/>
                </a:lnTo>
                <a:lnTo>
                  <a:pt x="83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6495840" y="3885840"/>
            <a:ext cx="4401000" cy="10080"/>
          </a:xfrm>
          <a:custGeom>
            <a:avLst/>
            <a:gdLst/>
            <a:ahLst/>
            <a:rect l="0" t="0" r="r" b="b"/>
            <a:pathLst>
              <a:path w="12225" h="28">
                <a:moveTo>
                  <a:pt x="0" y="0"/>
                </a:moveTo>
                <a:lnTo>
                  <a:pt x="12225" y="0"/>
                </a:lnTo>
                <a:lnTo>
                  <a:pt x="122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761760" y="389556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1562040" y="38955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3476520" y="38955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6486480" y="38955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10886760" y="389556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761760" y="432432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761760" y="4314600"/>
            <a:ext cx="810000" cy="10080"/>
          </a:xfrm>
          <a:custGeom>
            <a:avLst/>
            <a:gdLst/>
            <a:ah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1562040" y="432432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1571400" y="4314600"/>
            <a:ext cx="1914840" cy="10080"/>
          </a:xfrm>
          <a:custGeom>
            <a:avLst/>
            <a:gdLst/>
            <a:ahLst/>
            <a:rect l="0" t="0" r="r" b="b"/>
            <a:pathLst>
              <a:path w="5319" h="28">
                <a:moveTo>
                  <a:pt x="0" y="0"/>
                </a:moveTo>
                <a:lnTo>
                  <a:pt x="5319" y="0"/>
                </a:lnTo>
                <a:lnTo>
                  <a:pt x="53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3476520" y="432432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3485880" y="4314600"/>
            <a:ext cx="3010320" cy="10080"/>
          </a:xfrm>
          <a:custGeom>
            <a:avLst/>
            <a:gdLst/>
            <a:ahLst/>
            <a:rect l="0" t="0" r="r" b="b"/>
            <a:pathLst>
              <a:path w="8362" h="28">
                <a:moveTo>
                  <a:pt x="0" y="0"/>
                </a:moveTo>
                <a:lnTo>
                  <a:pt x="8362" y="0"/>
                </a:lnTo>
                <a:lnTo>
                  <a:pt x="83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6486480" y="432432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6495840" y="4314600"/>
            <a:ext cx="4401000" cy="10080"/>
          </a:xfrm>
          <a:custGeom>
            <a:avLst/>
            <a:gdLst/>
            <a:ahLst/>
            <a:rect l="0" t="0" r="r" b="b"/>
            <a:pathLst>
              <a:path w="12225" h="28">
                <a:moveTo>
                  <a:pt x="0" y="0"/>
                </a:moveTo>
                <a:lnTo>
                  <a:pt x="12225" y="0"/>
                </a:lnTo>
                <a:lnTo>
                  <a:pt x="122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10886760" y="432432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761760" y="475272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761760" y="474336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1562040" y="47527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1571400" y="4743360"/>
            <a:ext cx="1914840" cy="9720"/>
          </a:xfrm>
          <a:custGeom>
            <a:avLst/>
            <a:gdLst/>
            <a:ahLst/>
            <a:rect l="0" t="0" r="r" b="b"/>
            <a:pathLst>
              <a:path w="5319" h="27">
                <a:moveTo>
                  <a:pt x="0" y="0"/>
                </a:moveTo>
                <a:lnTo>
                  <a:pt x="5319" y="0"/>
                </a:lnTo>
                <a:lnTo>
                  <a:pt x="53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3476520" y="47527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3485880" y="4743360"/>
            <a:ext cx="3010320" cy="9720"/>
          </a:xfrm>
          <a:custGeom>
            <a:avLst/>
            <a:gdLst/>
            <a:ahLst/>
            <a:rect l="0" t="0" r="r" b="b"/>
            <a:pathLst>
              <a:path w="8362" h="27">
                <a:moveTo>
                  <a:pt x="0" y="0"/>
                </a:moveTo>
                <a:lnTo>
                  <a:pt x="8362" y="0"/>
                </a:lnTo>
                <a:lnTo>
                  <a:pt x="83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6486480" y="47527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6495840" y="4743360"/>
            <a:ext cx="4401000" cy="9720"/>
          </a:xfrm>
          <a:custGeom>
            <a:avLst/>
            <a:gdLst/>
            <a:ahLst/>
            <a:rect l="0" t="0" r="r" b="b"/>
            <a:pathLst>
              <a:path w="12225" h="27">
                <a:moveTo>
                  <a:pt x="0" y="0"/>
                </a:moveTo>
                <a:lnTo>
                  <a:pt x="12225" y="0"/>
                </a:lnTo>
                <a:lnTo>
                  <a:pt x="122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10886760" y="475272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761760" y="518148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761760" y="5171760"/>
            <a:ext cx="810000" cy="10080"/>
          </a:xfrm>
          <a:custGeom>
            <a:avLst/>
            <a:gdLst/>
            <a:ah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1562040" y="51814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1571400" y="5171760"/>
            <a:ext cx="1914840" cy="10080"/>
          </a:xfrm>
          <a:custGeom>
            <a:avLst/>
            <a:gdLst/>
            <a:ahLst/>
            <a:rect l="0" t="0" r="r" b="b"/>
            <a:pathLst>
              <a:path w="5319" h="28">
                <a:moveTo>
                  <a:pt x="0" y="0"/>
                </a:moveTo>
                <a:lnTo>
                  <a:pt x="5319" y="0"/>
                </a:lnTo>
                <a:lnTo>
                  <a:pt x="53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3476520" y="51814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3485880" y="5171760"/>
            <a:ext cx="3010320" cy="10080"/>
          </a:xfrm>
          <a:custGeom>
            <a:avLst/>
            <a:gdLst/>
            <a:ahLst/>
            <a:rect l="0" t="0" r="r" b="b"/>
            <a:pathLst>
              <a:path w="8362" h="28">
                <a:moveTo>
                  <a:pt x="0" y="0"/>
                </a:moveTo>
                <a:lnTo>
                  <a:pt x="8362" y="0"/>
                </a:lnTo>
                <a:lnTo>
                  <a:pt x="83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6486480" y="51814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6495840" y="5171760"/>
            <a:ext cx="4401000" cy="10080"/>
          </a:xfrm>
          <a:custGeom>
            <a:avLst/>
            <a:gdLst/>
            <a:ahLst/>
            <a:rect l="0" t="0" r="r" b="b"/>
            <a:pathLst>
              <a:path w="12225" h="28">
                <a:moveTo>
                  <a:pt x="0" y="0"/>
                </a:moveTo>
                <a:lnTo>
                  <a:pt x="12225" y="0"/>
                </a:lnTo>
                <a:lnTo>
                  <a:pt x="122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10886760" y="518148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761760" y="560052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1571400" y="5600520"/>
            <a:ext cx="1914840" cy="9720"/>
          </a:xfrm>
          <a:custGeom>
            <a:avLst/>
            <a:gdLst/>
            <a:ahLst/>
            <a:rect l="0" t="0" r="r" b="b"/>
            <a:pathLst>
              <a:path w="5319" h="27">
                <a:moveTo>
                  <a:pt x="0" y="0"/>
                </a:moveTo>
                <a:lnTo>
                  <a:pt x="5319" y="0"/>
                </a:lnTo>
                <a:lnTo>
                  <a:pt x="53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3485880" y="5600520"/>
            <a:ext cx="3010320" cy="9720"/>
          </a:xfrm>
          <a:custGeom>
            <a:avLst/>
            <a:gdLst/>
            <a:ahLst/>
            <a:rect l="0" t="0" r="r" b="b"/>
            <a:pathLst>
              <a:path w="8362" h="27">
                <a:moveTo>
                  <a:pt x="0" y="0"/>
                </a:moveTo>
                <a:lnTo>
                  <a:pt x="8362" y="0"/>
                </a:lnTo>
                <a:lnTo>
                  <a:pt x="83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6495840" y="5600520"/>
            <a:ext cx="4401000" cy="9720"/>
          </a:xfrm>
          <a:custGeom>
            <a:avLst/>
            <a:gdLst/>
            <a:ahLst/>
            <a:rect l="0" t="0" r="r" b="b"/>
            <a:pathLst>
              <a:path w="12225" h="27">
                <a:moveTo>
                  <a:pt x="0" y="0"/>
                </a:moveTo>
                <a:lnTo>
                  <a:pt x="12225" y="0"/>
                </a:lnTo>
                <a:lnTo>
                  <a:pt x="122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971280" y="240948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60"/>
                </a:cubicBezTo>
                <a:cubicBezTo>
                  <a:pt x="150" y="168"/>
                  <a:pt x="140" y="175"/>
                  <a:pt x="128" y="180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8"/>
                </a:cubicBezTo>
                <a:cubicBezTo>
                  <a:pt x="140" y="12"/>
                  <a:pt x="150" y="19"/>
                  <a:pt x="158" y="28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762120" y="1860840"/>
            <a:ext cx="9649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Evolution added feedback loops back-to-front in the brain — each layer modelling a new domain: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971280" y="2771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1168200" y="2318040"/>
            <a:ext cx="2939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Hindbrain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(reptilian) → space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971280" y="3124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1168200" y="2680200"/>
            <a:ext cx="3862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Limbic system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(mammalian) → society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1168200" y="3032640"/>
            <a:ext cx="5945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Prefrontal cortex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(human) → time, via simulating the future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895320" y="3556440"/>
            <a:ext cx="542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2222280" y="3556440"/>
            <a:ext cx="604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Entity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4347720" y="3556440"/>
            <a:ext cx="1278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Brain region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7773480" y="3556440"/>
            <a:ext cx="1836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Domain modelled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895320" y="3984840"/>
            <a:ext cx="202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0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1695600" y="3984840"/>
            <a:ext cx="58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Plants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3610800" y="3984840"/>
            <a:ext cx="203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6622560" y="3984840"/>
            <a:ext cx="413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Temperature, humidity, gravity, sprouting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895320" y="4413600"/>
            <a:ext cx="202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1695600" y="4413600"/>
            <a:ext cx="165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Reptiles · Robots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3610800" y="4413600"/>
            <a:ext cx="1999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Reptilian (hindbrain)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6622560" y="4413600"/>
            <a:ext cx="566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Space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895320" y="4842360"/>
            <a:ext cx="202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1695600" y="4842360"/>
            <a:ext cx="1585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Social mammals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3610800" y="4842360"/>
            <a:ext cx="2479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Limbic system (midbrain)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6622560" y="4842360"/>
            <a:ext cx="69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Society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895320" y="5270760"/>
            <a:ext cx="202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3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1695600" y="5270760"/>
            <a:ext cx="805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Humans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3610800" y="5270760"/>
            <a:ext cx="2748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Prefrontal cortex (forebrain)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6622560" y="5270760"/>
            <a:ext cx="2895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Time — simulating the future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9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0" name=""/>
          <p:cNvSpPr/>
          <p:nvPr/>
        </p:nvSpPr>
        <p:spPr>
          <a:xfrm>
            <a:off x="766440" y="3081240"/>
            <a:ext cx="10658880" cy="1543320"/>
          </a:xfrm>
          <a:custGeom>
            <a:avLst/>
            <a:gdLst/>
            <a:ahLst/>
            <a:rect l="0" t="0" r="r" b="b"/>
            <a:pathLst>
              <a:path w="29608" h="4287">
                <a:moveTo>
                  <a:pt x="0" y="41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141"/>
                </a:lnTo>
                <a:cubicBezTo>
                  <a:pt x="29608" y="4151"/>
                  <a:pt x="29607" y="4161"/>
                  <a:pt x="29605" y="4170"/>
                </a:cubicBezTo>
                <a:cubicBezTo>
                  <a:pt x="29604" y="4179"/>
                  <a:pt x="29601" y="4188"/>
                  <a:pt x="29597" y="4197"/>
                </a:cubicBezTo>
                <a:cubicBezTo>
                  <a:pt x="29594" y="4206"/>
                  <a:pt x="29589" y="4214"/>
                  <a:pt x="29584" y="4222"/>
                </a:cubicBezTo>
                <a:cubicBezTo>
                  <a:pt x="29578" y="4230"/>
                  <a:pt x="29572" y="4238"/>
                  <a:pt x="29566" y="4244"/>
                </a:cubicBezTo>
                <a:cubicBezTo>
                  <a:pt x="29559" y="4251"/>
                  <a:pt x="29552" y="4257"/>
                  <a:pt x="29544" y="4262"/>
                </a:cubicBezTo>
                <a:cubicBezTo>
                  <a:pt x="29536" y="4268"/>
                  <a:pt x="29527" y="4272"/>
                  <a:pt x="29518" y="4276"/>
                </a:cubicBezTo>
                <a:cubicBezTo>
                  <a:pt x="29510" y="4280"/>
                  <a:pt x="29501" y="4282"/>
                  <a:pt x="29491" y="4284"/>
                </a:cubicBezTo>
                <a:cubicBezTo>
                  <a:pt x="29482" y="4286"/>
                  <a:pt x="29472" y="4287"/>
                  <a:pt x="29463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8" y="4284"/>
                </a:cubicBezTo>
                <a:cubicBezTo>
                  <a:pt x="108" y="4282"/>
                  <a:pt x="99" y="4280"/>
                  <a:pt x="90" y="4276"/>
                </a:cubicBezTo>
                <a:cubicBezTo>
                  <a:pt x="81" y="4272"/>
                  <a:pt x="73" y="4268"/>
                  <a:pt x="65" y="4262"/>
                </a:cubicBezTo>
                <a:cubicBezTo>
                  <a:pt x="57" y="4257"/>
                  <a:pt x="50" y="4251"/>
                  <a:pt x="43" y="4244"/>
                </a:cubicBezTo>
                <a:cubicBezTo>
                  <a:pt x="36" y="4238"/>
                  <a:pt x="30" y="4230"/>
                  <a:pt x="25" y="4222"/>
                </a:cubicBezTo>
                <a:cubicBezTo>
                  <a:pt x="20" y="4214"/>
                  <a:pt x="15" y="4206"/>
                  <a:pt x="11" y="4197"/>
                </a:cubicBezTo>
                <a:cubicBezTo>
                  <a:pt x="8" y="4188"/>
                  <a:pt x="5" y="4179"/>
                  <a:pt x="3" y="4170"/>
                </a:cubicBezTo>
                <a:cubicBezTo>
                  <a:pt x="1" y="4161"/>
                  <a:pt x="0" y="4151"/>
                  <a:pt x="0" y="4141"/>
                </a:cubicBezTo>
                <a:close/>
              </a:path>
            </a:pathLst>
          </a:custGeom>
          <a:solidFill>
            <a:srgbClr val="e6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766440" y="3081240"/>
            <a:ext cx="10658880" cy="1543320"/>
          </a:xfrm>
          <a:custGeom>
            <a:avLst/>
            <a:gdLst/>
            <a:ahLst/>
            <a:rect l="0" t="0" r="r" b="b"/>
            <a:pathLst>
              <a:path fill="none" w="29608" h="4287">
                <a:moveTo>
                  <a:pt x="0" y="41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141"/>
                </a:lnTo>
                <a:cubicBezTo>
                  <a:pt x="29608" y="4151"/>
                  <a:pt x="29607" y="4161"/>
                  <a:pt x="29605" y="4170"/>
                </a:cubicBezTo>
                <a:cubicBezTo>
                  <a:pt x="29604" y="4179"/>
                  <a:pt x="29601" y="4188"/>
                  <a:pt x="29597" y="4197"/>
                </a:cubicBezTo>
                <a:cubicBezTo>
                  <a:pt x="29594" y="4206"/>
                  <a:pt x="29589" y="4214"/>
                  <a:pt x="29584" y="4222"/>
                </a:cubicBezTo>
                <a:cubicBezTo>
                  <a:pt x="29578" y="4230"/>
                  <a:pt x="29572" y="4238"/>
                  <a:pt x="29566" y="4244"/>
                </a:cubicBezTo>
                <a:cubicBezTo>
                  <a:pt x="29559" y="4251"/>
                  <a:pt x="29552" y="4257"/>
                  <a:pt x="29544" y="4262"/>
                </a:cubicBezTo>
                <a:cubicBezTo>
                  <a:pt x="29536" y="4268"/>
                  <a:pt x="29527" y="4272"/>
                  <a:pt x="29518" y="4276"/>
                </a:cubicBezTo>
                <a:cubicBezTo>
                  <a:pt x="29510" y="4280"/>
                  <a:pt x="29501" y="4282"/>
                  <a:pt x="29491" y="4284"/>
                </a:cubicBezTo>
                <a:cubicBezTo>
                  <a:pt x="29482" y="4286"/>
                  <a:pt x="29472" y="4287"/>
                  <a:pt x="29463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8" y="4284"/>
                </a:cubicBezTo>
                <a:cubicBezTo>
                  <a:pt x="108" y="4282"/>
                  <a:pt x="99" y="4280"/>
                  <a:pt x="90" y="4276"/>
                </a:cubicBezTo>
                <a:cubicBezTo>
                  <a:pt x="81" y="4272"/>
                  <a:pt x="73" y="4268"/>
                  <a:pt x="65" y="4262"/>
                </a:cubicBezTo>
                <a:cubicBezTo>
                  <a:pt x="57" y="4257"/>
                  <a:pt x="50" y="4251"/>
                  <a:pt x="43" y="4244"/>
                </a:cubicBezTo>
                <a:cubicBezTo>
                  <a:pt x="36" y="4238"/>
                  <a:pt x="30" y="4230"/>
                  <a:pt x="25" y="4222"/>
                </a:cubicBezTo>
                <a:cubicBezTo>
                  <a:pt x="20" y="4214"/>
                  <a:pt x="15" y="4206"/>
                  <a:pt x="11" y="4197"/>
                </a:cubicBezTo>
                <a:cubicBezTo>
                  <a:pt x="8" y="4188"/>
                  <a:pt x="5" y="4179"/>
                  <a:pt x="3" y="4170"/>
                </a:cubicBezTo>
                <a:cubicBezTo>
                  <a:pt x="1" y="4161"/>
                  <a:pt x="0" y="4151"/>
                  <a:pt x="0" y="4141"/>
                </a:cubicBezTo>
              </a:path>
            </a:pathLst>
          </a:custGeom>
          <a:ln w="9360">
            <a:solidFill>
              <a:srgbClr val="b5d6fc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923760" y="3690360"/>
            <a:ext cx="9879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Robots perceive their surroundings and react, but have no emotions and no sense of social hierarchy. They can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923760" y="3957120"/>
            <a:ext cx="9313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simulate the future only in one narrow direction (e.g. airﬂow over a wing) — humans simulate the future 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10281240" y="3957120"/>
            <a:ext cx="44604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9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 all</a:t>
            </a:r>
            <a:endParaRPr b="0" lang="en-US" sz="14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968040" y="4233240"/>
            <a:ext cx="90864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9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directions</a:t>
            </a:r>
            <a:endParaRPr b="0" lang="en-US" sz="14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942840" y="329544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424" y="0"/>
                </a:moveTo>
                <a:lnTo>
                  <a:pt x="530" y="107"/>
                </a:lnTo>
                <a:moveTo>
                  <a:pt x="145" y="491"/>
                </a:moveTo>
                <a:lnTo>
                  <a:pt x="451" y="186"/>
                </a:lnTo>
                <a:lnTo>
                  <a:pt x="345" y="79"/>
                </a:lnTo>
                <a:lnTo>
                  <a:pt x="40" y="385"/>
                </a:lnTo>
                <a:lnTo>
                  <a:pt x="0" y="530"/>
                </a:lnTo>
                <a:lnTo>
                  <a:pt x="145" y="491"/>
                </a:lnTo>
              </a:path>
            </a:pathLst>
          </a:custGeom>
          <a:ln cap="rnd" w="18720">
            <a:solidFill>
              <a:srgbClr val="086ddd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1802520" y="4233240"/>
            <a:ext cx="182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1203120" y="3284280"/>
            <a:ext cx="3170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086ddd"/>
                </a:solidFill>
                <a:effectLst/>
                <a:uFillTx/>
                <a:latin typeface="LucidaGrande"/>
                <a:ea typeface="LucidaGrande"/>
              </a:rPr>
              <a:t>Why Robots Stay at Level 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7" name=""/>
          <p:cNvSpPr txBox="1"/>
          <p:nvPr/>
        </p:nvSpPr>
        <p:spPr>
          <a:xfrm>
            <a:off x="762120" y="2163960"/>
            <a:ext cx="19699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Positive Loops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762120" y="5156640"/>
            <a:ext cx="6655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This is a reinforcing loop (R) because success breeds more success.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766440" y="2690640"/>
            <a:ext cx="10658880" cy="1314720"/>
          </a:xfrm>
          <a:custGeom>
            <a:avLst/>
            <a:gdLst/>
            <a:ahLst/>
            <a:rect l="0" t="0" r="r" b="b"/>
            <a:pathLst>
              <a:path w="29608" h="3652">
                <a:moveTo>
                  <a:pt x="0" y="350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507"/>
                </a:lnTo>
                <a:cubicBezTo>
                  <a:pt x="29608" y="3516"/>
                  <a:pt x="29607" y="3526"/>
                  <a:pt x="29605" y="3535"/>
                </a:cubicBezTo>
                <a:cubicBezTo>
                  <a:pt x="29604" y="3544"/>
                  <a:pt x="29601" y="3554"/>
                  <a:pt x="29597" y="3562"/>
                </a:cubicBezTo>
                <a:cubicBezTo>
                  <a:pt x="29594" y="3571"/>
                  <a:pt x="29589" y="3580"/>
                  <a:pt x="29584" y="3588"/>
                </a:cubicBezTo>
                <a:cubicBezTo>
                  <a:pt x="29578" y="3595"/>
                  <a:pt x="29572" y="3603"/>
                  <a:pt x="29566" y="3610"/>
                </a:cubicBezTo>
                <a:cubicBezTo>
                  <a:pt x="29559" y="3616"/>
                  <a:pt x="29552" y="3622"/>
                  <a:pt x="29544" y="3628"/>
                </a:cubicBezTo>
                <a:cubicBezTo>
                  <a:pt x="29536" y="3633"/>
                  <a:pt x="29527" y="3637"/>
                  <a:pt x="29518" y="3641"/>
                </a:cubicBezTo>
                <a:cubicBezTo>
                  <a:pt x="29510" y="3645"/>
                  <a:pt x="29501" y="3648"/>
                  <a:pt x="29491" y="3649"/>
                </a:cubicBezTo>
                <a:cubicBezTo>
                  <a:pt x="29482" y="3651"/>
                  <a:pt x="29472" y="3652"/>
                  <a:pt x="29463" y="3652"/>
                </a:cubicBezTo>
                <a:lnTo>
                  <a:pt x="146" y="3652"/>
                </a:lnTo>
                <a:cubicBezTo>
                  <a:pt x="136" y="3652"/>
                  <a:pt x="127" y="3651"/>
                  <a:pt x="118" y="3649"/>
                </a:cubicBezTo>
                <a:cubicBezTo>
                  <a:pt x="108" y="3648"/>
                  <a:pt x="99" y="3645"/>
                  <a:pt x="90" y="3641"/>
                </a:cubicBezTo>
                <a:cubicBezTo>
                  <a:pt x="81" y="3637"/>
                  <a:pt x="73" y="3633"/>
                  <a:pt x="65" y="3628"/>
                </a:cubicBezTo>
                <a:cubicBezTo>
                  <a:pt x="57" y="3622"/>
                  <a:pt x="50" y="3616"/>
                  <a:pt x="43" y="3610"/>
                </a:cubicBezTo>
                <a:cubicBezTo>
                  <a:pt x="36" y="3603"/>
                  <a:pt x="30" y="3595"/>
                  <a:pt x="25" y="3588"/>
                </a:cubicBezTo>
                <a:cubicBezTo>
                  <a:pt x="20" y="3580"/>
                  <a:pt x="15" y="3571"/>
                  <a:pt x="11" y="3562"/>
                </a:cubicBezTo>
                <a:cubicBezTo>
                  <a:pt x="8" y="3554"/>
                  <a:pt x="5" y="3544"/>
                  <a:pt x="3" y="3535"/>
                </a:cubicBezTo>
                <a:cubicBezTo>
                  <a:pt x="1" y="3526"/>
                  <a:pt x="0" y="3516"/>
                  <a:pt x="0" y="3507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766440" y="2690640"/>
            <a:ext cx="10658880" cy="1314720"/>
          </a:xfrm>
          <a:custGeom>
            <a:avLst/>
            <a:gdLst/>
            <a:ahLst/>
            <a:rect l="0" t="0" r="r" b="b"/>
            <a:pathLst>
              <a:path fill="none" w="29608" h="3652">
                <a:moveTo>
                  <a:pt x="0" y="350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507"/>
                </a:lnTo>
                <a:cubicBezTo>
                  <a:pt x="29608" y="3516"/>
                  <a:pt x="29607" y="3526"/>
                  <a:pt x="29605" y="3535"/>
                </a:cubicBezTo>
                <a:cubicBezTo>
                  <a:pt x="29604" y="3544"/>
                  <a:pt x="29601" y="3554"/>
                  <a:pt x="29597" y="3562"/>
                </a:cubicBezTo>
                <a:cubicBezTo>
                  <a:pt x="29594" y="3571"/>
                  <a:pt x="29589" y="3580"/>
                  <a:pt x="29584" y="3588"/>
                </a:cubicBezTo>
                <a:cubicBezTo>
                  <a:pt x="29578" y="3595"/>
                  <a:pt x="29572" y="3603"/>
                  <a:pt x="29566" y="3610"/>
                </a:cubicBezTo>
                <a:cubicBezTo>
                  <a:pt x="29559" y="3616"/>
                  <a:pt x="29552" y="3622"/>
                  <a:pt x="29544" y="3628"/>
                </a:cubicBezTo>
                <a:cubicBezTo>
                  <a:pt x="29536" y="3633"/>
                  <a:pt x="29527" y="3637"/>
                  <a:pt x="29518" y="3641"/>
                </a:cubicBezTo>
                <a:cubicBezTo>
                  <a:pt x="29510" y="3645"/>
                  <a:pt x="29501" y="3648"/>
                  <a:pt x="29491" y="3649"/>
                </a:cubicBezTo>
                <a:cubicBezTo>
                  <a:pt x="29482" y="3651"/>
                  <a:pt x="29472" y="3652"/>
                  <a:pt x="29463" y="3652"/>
                </a:cubicBezTo>
                <a:lnTo>
                  <a:pt x="146" y="3652"/>
                </a:lnTo>
                <a:cubicBezTo>
                  <a:pt x="136" y="3652"/>
                  <a:pt x="127" y="3651"/>
                  <a:pt x="118" y="3649"/>
                </a:cubicBezTo>
                <a:cubicBezTo>
                  <a:pt x="108" y="3648"/>
                  <a:pt x="99" y="3645"/>
                  <a:pt x="90" y="3641"/>
                </a:cubicBezTo>
                <a:cubicBezTo>
                  <a:pt x="81" y="3637"/>
                  <a:pt x="73" y="3633"/>
                  <a:pt x="65" y="3628"/>
                </a:cubicBezTo>
                <a:cubicBezTo>
                  <a:pt x="57" y="3622"/>
                  <a:pt x="50" y="3616"/>
                  <a:pt x="43" y="3610"/>
                </a:cubicBezTo>
                <a:cubicBezTo>
                  <a:pt x="36" y="3603"/>
                  <a:pt x="30" y="3595"/>
                  <a:pt x="25" y="3588"/>
                </a:cubicBezTo>
                <a:cubicBezTo>
                  <a:pt x="20" y="3580"/>
                  <a:pt x="15" y="3571"/>
                  <a:pt x="11" y="3562"/>
                </a:cubicBezTo>
                <a:cubicBezTo>
                  <a:pt x="8" y="3554"/>
                  <a:pt x="5" y="3544"/>
                  <a:pt x="3" y="3535"/>
                </a:cubicBezTo>
                <a:cubicBezTo>
                  <a:pt x="1" y="3526"/>
                  <a:pt x="0" y="3516"/>
                  <a:pt x="0" y="3507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1104840" y="33811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7"/>
                  <a:pt x="40" y="11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1104840" y="37051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1289520" y="3290400"/>
            <a:ext cx="5569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eﬀect makes the original action stronger (snowball eﬀect).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961920" y="294300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3" y="292"/>
                </a:lnTo>
                <a:lnTo>
                  <a:pt x="0" y="160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1289520" y="3614040"/>
            <a:ext cx="4141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It leads to growth, ampliﬁcation, or escalation.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766440" y="4128840"/>
            <a:ext cx="10658880" cy="991080"/>
          </a:xfrm>
          <a:custGeom>
            <a:avLst/>
            <a:gdLst/>
            <a:ahLst/>
            <a:rect l="0" t="0" r="r" b="b"/>
            <a:pathLst>
              <a:path w="29608" h="2753">
                <a:moveTo>
                  <a:pt x="0" y="260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2607"/>
                </a:lnTo>
                <a:cubicBezTo>
                  <a:pt x="29608" y="2617"/>
                  <a:pt x="29607" y="2626"/>
                  <a:pt x="29605" y="2636"/>
                </a:cubicBezTo>
                <a:cubicBezTo>
                  <a:pt x="29604" y="2645"/>
                  <a:pt x="29601" y="2654"/>
                  <a:pt x="29597" y="2663"/>
                </a:cubicBezTo>
                <a:cubicBezTo>
                  <a:pt x="29594" y="2672"/>
                  <a:pt x="29589" y="2680"/>
                  <a:pt x="29584" y="2688"/>
                </a:cubicBezTo>
                <a:cubicBezTo>
                  <a:pt x="29578" y="2696"/>
                  <a:pt x="29572" y="2703"/>
                  <a:pt x="29566" y="2710"/>
                </a:cubicBezTo>
                <a:cubicBezTo>
                  <a:pt x="29559" y="2717"/>
                  <a:pt x="29552" y="2723"/>
                  <a:pt x="29544" y="2728"/>
                </a:cubicBezTo>
                <a:cubicBezTo>
                  <a:pt x="29536" y="2734"/>
                  <a:pt x="29527" y="2738"/>
                  <a:pt x="29518" y="2742"/>
                </a:cubicBezTo>
                <a:cubicBezTo>
                  <a:pt x="29510" y="2745"/>
                  <a:pt x="29501" y="2748"/>
                  <a:pt x="29491" y="2750"/>
                </a:cubicBezTo>
                <a:cubicBezTo>
                  <a:pt x="29482" y="2752"/>
                  <a:pt x="29472" y="2753"/>
                  <a:pt x="29463" y="2753"/>
                </a:cubicBezTo>
                <a:lnTo>
                  <a:pt x="146" y="2753"/>
                </a:lnTo>
                <a:cubicBezTo>
                  <a:pt x="136" y="2753"/>
                  <a:pt x="127" y="2752"/>
                  <a:pt x="118" y="2750"/>
                </a:cubicBezTo>
                <a:cubicBezTo>
                  <a:pt x="108" y="2748"/>
                  <a:pt x="99" y="2745"/>
                  <a:pt x="90" y="2742"/>
                </a:cubicBezTo>
                <a:cubicBezTo>
                  <a:pt x="81" y="2738"/>
                  <a:pt x="73" y="2734"/>
                  <a:pt x="65" y="2728"/>
                </a:cubicBezTo>
                <a:cubicBezTo>
                  <a:pt x="57" y="2723"/>
                  <a:pt x="50" y="2717"/>
                  <a:pt x="43" y="2710"/>
                </a:cubicBezTo>
                <a:cubicBezTo>
                  <a:pt x="36" y="2703"/>
                  <a:pt x="30" y="2696"/>
                  <a:pt x="25" y="2688"/>
                </a:cubicBezTo>
                <a:cubicBezTo>
                  <a:pt x="20" y="2680"/>
                  <a:pt x="15" y="2672"/>
                  <a:pt x="11" y="2663"/>
                </a:cubicBezTo>
                <a:cubicBezTo>
                  <a:pt x="8" y="2654"/>
                  <a:pt x="5" y="2645"/>
                  <a:pt x="3" y="2636"/>
                </a:cubicBezTo>
                <a:cubicBezTo>
                  <a:pt x="1" y="2626"/>
                  <a:pt x="0" y="2617"/>
                  <a:pt x="0" y="2607"/>
                </a:cubicBezTo>
                <a:close/>
              </a:path>
            </a:pathLst>
          </a:custGeom>
          <a:solidFill>
            <a:srgbClr val="ede8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766440" y="4128840"/>
            <a:ext cx="10658880" cy="991080"/>
          </a:xfrm>
          <a:custGeom>
            <a:avLst/>
            <a:gdLst/>
            <a:ahLst/>
            <a:rect l="0" t="0" r="r" b="b"/>
            <a:pathLst>
              <a:path fill="none" w="29608" h="2753">
                <a:moveTo>
                  <a:pt x="0" y="260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2607"/>
                </a:lnTo>
                <a:cubicBezTo>
                  <a:pt x="29608" y="2617"/>
                  <a:pt x="29607" y="2626"/>
                  <a:pt x="29605" y="2636"/>
                </a:cubicBezTo>
                <a:cubicBezTo>
                  <a:pt x="29604" y="2645"/>
                  <a:pt x="29601" y="2654"/>
                  <a:pt x="29597" y="2663"/>
                </a:cubicBezTo>
                <a:cubicBezTo>
                  <a:pt x="29594" y="2672"/>
                  <a:pt x="29589" y="2680"/>
                  <a:pt x="29584" y="2688"/>
                </a:cubicBezTo>
                <a:cubicBezTo>
                  <a:pt x="29578" y="2696"/>
                  <a:pt x="29572" y="2703"/>
                  <a:pt x="29566" y="2710"/>
                </a:cubicBezTo>
                <a:cubicBezTo>
                  <a:pt x="29559" y="2717"/>
                  <a:pt x="29552" y="2723"/>
                  <a:pt x="29544" y="2728"/>
                </a:cubicBezTo>
                <a:cubicBezTo>
                  <a:pt x="29536" y="2734"/>
                  <a:pt x="29527" y="2738"/>
                  <a:pt x="29518" y="2742"/>
                </a:cubicBezTo>
                <a:cubicBezTo>
                  <a:pt x="29510" y="2745"/>
                  <a:pt x="29501" y="2748"/>
                  <a:pt x="29491" y="2750"/>
                </a:cubicBezTo>
                <a:cubicBezTo>
                  <a:pt x="29482" y="2752"/>
                  <a:pt x="29472" y="2753"/>
                  <a:pt x="29463" y="2753"/>
                </a:cubicBezTo>
                <a:lnTo>
                  <a:pt x="146" y="2753"/>
                </a:lnTo>
                <a:cubicBezTo>
                  <a:pt x="136" y="2753"/>
                  <a:pt x="127" y="2752"/>
                  <a:pt x="118" y="2750"/>
                </a:cubicBezTo>
                <a:cubicBezTo>
                  <a:pt x="108" y="2748"/>
                  <a:pt x="99" y="2745"/>
                  <a:pt x="90" y="2742"/>
                </a:cubicBezTo>
                <a:cubicBezTo>
                  <a:pt x="81" y="2738"/>
                  <a:pt x="73" y="2734"/>
                  <a:pt x="65" y="2728"/>
                </a:cubicBezTo>
                <a:cubicBezTo>
                  <a:pt x="57" y="2723"/>
                  <a:pt x="50" y="2717"/>
                  <a:pt x="43" y="2710"/>
                </a:cubicBezTo>
                <a:cubicBezTo>
                  <a:pt x="36" y="2703"/>
                  <a:pt x="30" y="2696"/>
                  <a:pt x="25" y="2688"/>
                </a:cubicBezTo>
                <a:cubicBezTo>
                  <a:pt x="20" y="2680"/>
                  <a:pt x="15" y="2672"/>
                  <a:pt x="11" y="2663"/>
                </a:cubicBezTo>
                <a:cubicBezTo>
                  <a:pt x="8" y="2654"/>
                  <a:pt x="5" y="2645"/>
                  <a:pt x="3" y="2636"/>
                </a:cubicBezTo>
                <a:cubicBezTo>
                  <a:pt x="1" y="2626"/>
                  <a:pt x="0" y="2617"/>
                  <a:pt x="0" y="2607"/>
                </a:cubicBezTo>
              </a:path>
            </a:pathLst>
          </a:custGeom>
          <a:ln w="9360">
            <a:solidFill>
              <a:srgbClr val="c9b9f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1104840" y="48193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1203120" y="2893680"/>
            <a:ext cx="3181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Reinforcing (Positive) Loop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952200" y="4381200"/>
            <a:ext cx="172080" cy="114840"/>
          </a:xfrm>
          <a:custGeom>
            <a:avLst/>
            <a:gdLst/>
            <a:ahLst/>
            <a:rect l="0" t="0" r="r" b="b"/>
            <a:pathLst>
              <a:path fill="none" w="478" h="319">
                <a:moveTo>
                  <a:pt x="133" y="0"/>
                </a:moveTo>
                <a:lnTo>
                  <a:pt x="478" y="0"/>
                </a:lnTo>
                <a:moveTo>
                  <a:pt x="133" y="160"/>
                </a:moveTo>
                <a:lnTo>
                  <a:pt x="478" y="160"/>
                </a:lnTo>
                <a:moveTo>
                  <a:pt x="133" y="319"/>
                </a:moveTo>
                <a:lnTo>
                  <a:pt x="478" y="319"/>
                </a:lnTo>
                <a:moveTo>
                  <a:pt x="0" y="0"/>
                </a:moveTo>
                <a:lnTo>
                  <a:pt x="1" y="0"/>
                </a:lnTo>
                <a:moveTo>
                  <a:pt x="0" y="160"/>
                </a:moveTo>
                <a:lnTo>
                  <a:pt x="1" y="160"/>
                </a:lnTo>
                <a:moveTo>
                  <a:pt x="0" y="319"/>
                </a:moveTo>
                <a:lnTo>
                  <a:pt x="1" y="319"/>
                </a:lnTo>
              </a:path>
            </a:pathLst>
          </a:custGeom>
          <a:ln cap="rnd" w="18720">
            <a:solidFill>
              <a:srgbClr val="7852ee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1289520" y="4728600"/>
            <a:ext cx="9244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Popular song → more people listen → charts go up → even more people discover it → popularity grows.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1203120" y="4331880"/>
            <a:ext cx="3188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7852ee"/>
                </a:solidFill>
                <a:effectLst/>
                <a:uFillTx/>
                <a:latin typeface="LucidaGrande"/>
                <a:ea typeface="LucidaGrande"/>
              </a:rPr>
              <a:t>Example – AI/Smart Fridge: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1" name=""/>
          <p:cNvSpPr txBox="1"/>
          <p:nvPr/>
        </p:nvSpPr>
        <p:spPr>
          <a:xfrm>
            <a:off x="762120" y="2163960"/>
            <a:ext cx="220968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Balancing Loops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762120" y="5156640"/>
            <a:ext cx="7178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This is a balancing loop (B) because the system resists too much change.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766440" y="2690640"/>
            <a:ext cx="10658880" cy="1314720"/>
          </a:xfrm>
          <a:custGeom>
            <a:avLst/>
            <a:gdLst/>
            <a:ahLst/>
            <a:rect l="0" t="0" r="r" b="b"/>
            <a:pathLst>
              <a:path w="29608" h="3652">
                <a:moveTo>
                  <a:pt x="0" y="350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507"/>
                </a:lnTo>
                <a:cubicBezTo>
                  <a:pt x="29608" y="3516"/>
                  <a:pt x="29607" y="3526"/>
                  <a:pt x="29605" y="3535"/>
                </a:cubicBezTo>
                <a:cubicBezTo>
                  <a:pt x="29604" y="3544"/>
                  <a:pt x="29601" y="3554"/>
                  <a:pt x="29597" y="3562"/>
                </a:cubicBezTo>
                <a:cubicBezTo>
                  <a:pt x="29594" y="3571"/>
                  <a:pt x="29589" y="3580"/>
                  <a:pt x="29584" y="3588"/>
                </a:cubicBezTo>
                <a:cubicBezTo>
                  <a:pt x="29578" y="3595"/>
                  <a:pt x="29572" y="3603"/>
                  <a:pt x="29566" y="3610"/>
                </a:cubicBezTo>
                <a:cubicBezTo>
                  <a:pt x="29559" y="3616"/>
                  <a:pt x="29552" y="3622"/>
                  <a:pt x="29544" y="3628"/>
                </a:cubicBezTo>
                <a:cubicBezTo>
                  <a:pt x="29536" y="3633"/>
                  <a:pt x="29527" y="3637"/>
                  <a:pt x="29518" y="3641"/>
                </a:cubicBezTo>
                <a:cubicBezTo>
                  <a:pt x="29510" y="3645"/>
                  <a:pt x="29501" y="3648"/>
                  <a:pt x="29491" y="3649"/>
                </a:cubicBezTo>
                <a:cubicBezTo>
                  <a:pt x="29482" y="3651"/>
                  <a:pt x="29472" y="3652"/>
                  <a:pt x="29463" y="3652"/>
                </a:cubicBezTo>
                <a:lnTo>
                  <a:pt x="146" y="3652"/>
                </a:lnTo>
                <a:cubicBezTo>
                  <a:pt x="136" y="3652"/>
                  <a:pt x="127" y="3651"/>
                  <a:pt x="118" y="3649"/>
                </a:cubicBezTo>
                <a:cubicBezTo>
                  <a:pt x="108" y="3648"/>
                  <a:pt x="99" y="3645"/>
                  <a:pt x="90" y="3641"/>
                </a:cubicBezTo>
                <a:cubicBezTo>
                  <a:pt x="81" y="3637"/>
                  <a:pt x="73" y="3633"/>
                  <a:pt x="65" y="3628"/>
                </a:cubicBezTo>
                <a:cubicBezTo>
                  <a:pt x="57" y="3622"/>
                  <a:pt x="50" y="3616"/>
                  <a:pt x="43" y="3610"/>
                </a:cubicBezTo>
                <a:cubicBezTo>
                  <a:pt x="36" y="3603"/>
                  <a:pt x="30" y="3595"/>
                  <a:pt x="25" y="3588"/>
                </a:cubicBezTo>
                <a:cubicBezTo>
                  <a:pt x="20" y="3580"/>
                  <a:pt x="15" y="3571"/>
                  <a:pt x="11" y="3562"/>
                </a:cubicBezTo>
                <a:cubicBezTo>
                  <a:pt x="8" y="3554"/>
                  <a:pt x="5" y="3544"/>
                  <a:pt x="3" y="3535"/>
                </a:cubicBezTo>
                <a:cubicBezTo>
                  <a:pt x="1" y="3526"/>
                  <a:pt x="0" y="3516"/>
                  <a:pt x="0" y="3507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766440" y="2690640"/>
            <a:ext cx="10658880" cy="1314720"/>
          </a:xfrm>
          <a:custGeom>
            <a:avLst/>
            <a:gdLst/>
            <a:ahLst/>
            <a:rect l="0" t="0" r="r" b="b"/>
            <a:pathLst>
              <a:path fill="none" w="29608" h="3652">
                <a:moveTo>
                  <a:pt x="0" y="350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507"/>
                </a:lnTo>
                <a:cubicBezTo>
                  <a:pt x="29608" y="3516"/>
                  <a:pt x="29607" y="3526"/>
                  <a:pt x="29605" y="3535"/>
                </a:cubicBezTo>
                <a:cubicBezTo>
                  <a:pt x="29604" y="3544"/>
                  <a:pt x="29601" y="3554"/>
                  <a:pt x="29597" y="3562"/>
                </a:cubicBezTo>
                <a:cubicBezTo>
                  <a:pt x="29594" y="3571"/>
                  <a:pt x="29589" y="3580"/>
                  <a:pt x="29584" y="3588"/>
                </a:cubicBezTo>
                <a:cubicBezTo>
                  <a:pt x="29578" y="3595"/>
                  <a:pt x="29572" y="3603"/>
                  <a:pt x="29566" y="3610"/>
                </a:cubicBezTo>
                <a:cubicBezTo>
                  <a:pt x="29559" y="3616"/>
                  <a:pt x="29552" y="3622"/>
                  <a:pt x="29544" y="3628"/>
                </a:cubicBezTo>
                <a:cubicBezTo>
                  <a:pt x="29536" y="3633"/>
                  <a:pt x="29527" y="3637"/>
                  <a:pt x="29518" y="3641"/>
                </a:cubicBezTo>
                <a:cubicBezTo>
                  <a:pt x="29510" y="3645"/>
                  <a:pt x="29501" y="3648"/>
                  <a:pt x="29491" y="3649"/>
                </a:cubicBezTo>
                <a:cubicBezTo>
                  <a:pt x="29482" y="3651"/>
                  <a:pt x="29472" y="3652"/>
                  <a:pt x="29463" y="3652"/>
                </a:cubicBezTo>
                <a:lnTo>
                  <a:pt x="146" y="3652"/>
                </a:lnTo>
                <a:cubicBezTo>
                  <a:pt x="136" y="3652"/>
                  <a:pt x="127" y="3651"/>
                  <a:pt x="118" y="3649"/>
                </a:cubicBezTo>
                <a:cubicBezTo>
                  <a:pt x="108" y="3648"/>
                  <a:pt x="99" y="3645"/>
                  <a:pt x="90" y="3641"/>
                </a:cubicBezTo>
                <a:cubicBezTo>
                  <a:pt x="81" y="3637"/>
                  <a:pt x="73" y="3633"/>
                  <a:pt x="65" y="3628"/>
                </a:cubicBezTo>
                <a:cubicBezTo>
                  <a:pt x="57" y="3622"/>
                  <a:pt x="50" y="3616"/>
                  <a:pt x="43" y="3610"/>
                </a:cubicBezTo>
                <a:cubicBezTo>
                  <a:pt x="36" y="3603"/>
                  <a:pt x="30" y="3595"/>
                  <a:pt x="25" y="3588"/>
                </a:cubicBezTo>
                <a:cubicBezTo>
                  <a:pt x="20" y="3580"/>
                  <a:pt x="15" y="3571"/>
                  <a:pt x="11" y="3562"/>
                </a:cubicBezTo>
                <a:cubicBezTo>
                  <a:pt x="8" y="3554"/>
                  <a:pt x="5" y="3544"/>
                  <a:pt x="3" y="3535"/>
                </a:cubicBezTo>
                <a:cubicBezTo>
                  <a:pt x="1" y="3526"/>
                  <a:pt x="0" y="3516"/>
                  <a:pt x="0" y="3507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1104840" y="33811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7"/>
                  <a:pt x="40" y="11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1104840" y="37051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1289520" y="3290400"/>
            <a:ext cx="5401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eﬀect works against the original action (self-correcting).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981000" y="2943000"/>
            <a:ext cx="114480" cy="114840"/>
          </a:xfrm>
          <a:custGeom>
            <a:avLst/>
            <a:gdLst/>
            <a:ahLst/>
            <a:rect l="0" t="0" r="r" b="b"/>
            <a:pathLst>
              <a:path fill="none" w="318" h="319">
                <a:moveTo>
                  <a:pt x="318" y="0"/>
                </a:moveTo>
                <a:lnTo>
                  <a:pt x="0" y="319"/>
                </a:lnTo>
                <a:moveTo>
                  <a:pt x="0" y="0"/>
                </a:moveTo>
                <a:lnTo>
                  <a:pt x="318" y="319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1289520" y="3614040"/>
            <a:ext cx="3560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It leads to stability, limits, or resistance.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766440" y="4128840"/>
            <a:ext cx="10658880" cy="991080"/>
          </a:xfrm>
          <a:custGeom>
            <a:avLst/>
            <a:gdLst/>
            <a:ahLst/>
            <a:rect l="0" t="0" r="r" b="b"/>
            <a:pathLst>
              <a:path w="29608" h="2753">
                <a:moveTo>
                  <a:pt x="0" y="260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2607"/>
                </a:lnTo>
                <a:cubicBezTo>
                  <a:pt x="29608" y="2617"/>
                  <a:pt x="29607" y="2626"/>
                  <a:pt x="29605" y="2636"/>
                </a:cubicBezTo>
                <a:cubicBezTo>
                  <a:pt x="29604" y="2645"/>
                  <a:pt x="29601" y="2654"/>
                  <a:pt x="29597" y="2663"/>
                </a:cubicBezTo>
                <a:cubicBezTo>
                  <a:pt x="29594" y="2672"/>
                  <a:pt x="29589" y="2680"/>
                  <a:pt x="29584" y="2688"/>
                </a:cubicBezTo>
                <a:cubicBezTo>
                  <a:pt x="29578" y="2696"/>
                  <a:pt x="29572" y="2703"/>
                  <a:pt x="29566" y="2710"/>
                </a:cubicBezTo>
                <a:cubicBezTo>
                  <a:pt x="29559" y="2717"/>
                  <a:pt x="29552" y="2723"/>
                  <a:pt x="29544" y="2728"/>
                </a:cubicBezTo>
                <a:cubicBezTo>
                  <a:pt x="29536" y="2734"/>
                  <a:pt x="29527" y="2738"/>
                  <a:pt x="29518" y="2742"/>
                </a:cubicBezTo>
                <a:cubicBezTo>
                  <a:pt x="29510" y="2745"/>
                  <a:pt x="29501" y="2748"/>
                  <a:pt x="29491" y="2750"/>
                </a:cubicBezTo>
                <a:cubicBezTo>
                  <a:pt x="29482" y="2752"/>
                  <a:pt x="29472" y="2753"/>
                  <a:pt x="29463" y="2753"/>
                </a:cubicBezTo>
                <a:lnTo>
                  <a:pt x="146" y="2753"/>
                </a:lnTo>
                <a:cubicBezTo>
                  <a:pt x="136" y="2753"/>
                  <a:pt x="127" y="2752"/>
                  <a:pt x="118" y="2750"/>
                </a:cubicBezTo>
                <a:cubicBezTo>
                  <a:pt x="108" y="2748"/>
                  <a:pt x="99" y="2745"/>
                  <a:pt x="90" y="2742"/>
                </a:cubicBezTo>
                <a:cubicBezTo>
                  <a:pt x="81" y="2738"/>
                  <a:pt x="73" y="2734"/>
                  <a:pt x="65" y="2728"/>
                </a:cubicBezTo>
                <a:cubicBezTo>
                  <a:pt x="57" y="2723"/>
                  <a:pt x="50" y="2717"/>
                  <a:pt x="43" y="2710"/>
                </a:cubicBezTo>
                <a:cubicBezTo>
                  <a:pt x="36" y="2703"/>
                  <a:pt x="30" y="2696"/>
                  <a:pt x="25" y="2688"/>
                </a:cubicBezTo>
                <a:cubicBezTo>
                  <a:pt x="20" y="2680"/>
                  <a:pt x="15" y="2672"/>
                  <a:pt x="11" y="2663"/>
                </a:cubicBezTo>
                <a:cubicBezTo>
                  <a:pt x="8" y="2654"/>
                  <a:pt x="5" y="2645"/>
                  <a:pt x="3" y="2636"/>
                </a:cubicBezTo>
                <a:cubicBezTo>
                  <a:pt x="1" y="2626"/>
                  <a:pt x="0" y="2617"/>
                  <a:pt x="0" y="2607"/>
                </a:cubicBezTo>
                <a:close/>
              </a:path>
            </a:pathLst>
          </a:custGeom>
          <a:solidFill>
            <a:srgbClr val="ede8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766440" y="4128840"/>
            <a:ext cx="10658880" cy="991080"/>
          </a:xfrm>
          <a:custGeom>
            <a:avLst/>
            <a:gdLst/>
            <a:ahLst/>
            <a:rect l="0" t="0" r="r" b="b"/>
            <a:pathLst>
              <a:path fill="none" w="29608" h="2753">
                <a:moveTo>
                  <a:pt x="0" y="260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2607"/>
                </a:lnTo>
                <a:cubicBezTo>
                  <a:pt x="29608" y="2617"/>
                  <a:pt x="29607" y="2626"/>
                  <a:pt x="29605" y="2636"/>
                </a:cubicBezTo>
                <a:cubicBezTo>
                  <a:pt x="29604" y="2645"/>
                  <a:pt x="29601" y="2654"/>
                  <a:pt x="29597" y="2663"/>
                </a:cubicBezTo>
                <a:cubicBezTo>
                  <a:pt x="29594" y="2672"/>
                  <a:pt x="29589" y="2680"/>
                  <a:pt x="29584" y="2688"/>
                </a:cubicBezTo>
                <a:cubicBezTo>
                  <a:pt x="29578" y="2696"/>
                  <a:pt x="29572" y="2703"/>
                  <a:pt x="29566" y="2710"/>
                </a:cubicBezTo>
                <a:cubicBezTo>
                  <a:pt x="29559" y="2717"/>
                  <a:pt x="29552" y="2723"/>
                  <a:pt x="29544" y="2728"/>
                </a:cubicBezTo>
                <a:cubicBezTo>
                  <a:pt x="29536" y="2734"/>
                  <a:pt x="29527" y="2738"/>
                  <a:pt x="29518" y="2742"/>
                </a:cubicBezTo>
                <a:cubicBezTo>
                  <a:pt x="29510" y="2745"/>
                  <a:pt x="29501" y="2748"/>
                  <a:pt x="29491" y="2750"/>
                </a:cubicBezTo>
                <a:cubicBezTo>
                  <a:pt x="29482" y="2752"/>
                  <a:pt x="29472" y="2753"/>
                  <a:pt x="29463" y="2753"/>
                </a:cubicBezTo>
                <a:lnTo>
                  <a:pt x="146" y="2753"/>
                </a:lnTo>
                <a:cubicBezTo>
                  <a:pt x="136" y="2753"/>
                  <a:pt x="127" y="2752"/>
                  <a:pt x="118" y="2750"/>
                </a:cubicBezTo>
                <a:cubicBezTo>
                  <a:pt x="108" y="2748"/>
                  <a:pt x="99" y="2745"/>
                  <a:pt x="90" y="2742"/>
                </a:cubicBezTo>
                <a:cubicBezTo>
                  <a:pt x="81" y="2738"/>
                  <a:pt x="73" y="2734"/>
                  <a:pt x="65" y="2728"/>
                </a:cubicBezTo>
                <a:cubicBezTo>
                  <a:pt x="57" y="2723"/>
                  <a:pt x="50" y="2717"/>
                  <a:pt x="43" y="2710"/>
                </a:cubicBezTo>
                <a:cubicBezTo>
                  <a:pt x="36" y="2703"/>
                  <a:pt x="30" y="2696"/>
                  <a:pt x="25" y="2688"/>
                </a:cubicBezTo>
                <a:cubicBezTo>
                  <a:pt x="20" y="2680"/>
                  <a:pt x="15" y="2672"/>
                  <a:pt x="11" y="2663"/>
                </a:cubicBezTo>
                <a:cubicBezTo>
                  <a:pt x="8" y="2654"/>
                  <a:pt x="5" y="2645"/>
                  <a:pt x="3" y="2636"/>
                </a:cubicBezTo>
                <a:cubicBezTo>
                  <a:pt x="1" y="2626"/>
                  <a:pt x="0" y="2617"/>
                  <a:pt x="0" y="2607"/>
                </a:cubicBezTo>
              </a:path>
            </a:pathLst>
          </a:custGeom>
          <a:ln w="9360">
            <a:solidFill>
              <a:srgbClr val="c9b9f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1203120" y="2893680"/>
            <a:ext cx="3062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Balancing (Negative) Loop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952200" y="4381200"/>
            <a:ext cx="172080" cy="114840"/>
          </a:xfrm>
          <a:custGeom>
            <a:avLst/>
            <a:gdLst/>
            <a:ahLst/>
            <a:rect l="0" t="0" r="r" b="b"/>
            <a:pathLst>
              <a:path fill="none" w="478" h="319">
                <a:moveTo>
                  <a:pt x="133" y="0"/>
                </a:moveTo>
                <a:lnTo>
                  <a:pt x="478" y="0"/>
                </a:lnTo>
                <a:moveTo>
                  <a:pt x="133" y="160"/>
                </a:moveTo>
                <a:lnTo>
                  <a:pt x="478" y="160"/>
                </a:lnTo>
                <a:moveTo>
                  <a:pt x="133" y="319"/>
                </a:moveTo>
                <a:lnTo>
                  <a:pt x="478" y="319"/>
                </a:lnTo>
                <a:moveTo>
                  <a:pt x="0" y="0"/>
                </a:moveTo>
                <a:lnTo>
                  <a:pt x="1" y="0"/>
                </a:lnTo>
                <a:moveTo>
                  <a:pt x="0" y="160"/>
                </a:moveTo>
                <a:lnTo>
                  <a:pt x="1" y="160"/>
                </a:lnTo>
                <a:moveTo>
                  <a:pt x="0" y="319"/>
                </a:moveTo>
                <a:lnTo>
                  <a:pt x="1" y="319"/>
                </a:lnTo>
              </a:path>
            </a:pathLst>
          </a:custGeom>
          <a:ln cap="rnd" w="18720">
            <a:solidFill>
              <a:srgbClr val="7852ee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923760" y="4728600"/>
            <a:ext cx="10242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Thermostat → room gets cold → heating turns on → room warms → heating switches oﬀ → temperature stabilises.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1203120" y="4331880"/>
            <a:ext cx="3188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7852ee"/>
                </a:solidFill>
                <a:effectLst/>
                <a:uFillTx/>
                <a:latin typeface="LucidaGrande"/>
                <a:ea typeface="LucidaGrande"/>
              </a:rPr>
              <a:t>Example – AI/Smart Fridge: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3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4" name=""/>
          <p:cNvSpPr txBox="1"/>
          <p:nvPr/>
        </p:nvSpPr>
        <p:spPr>
          <a:xfrm>
            <a:off x="762120" y="1992600"/>
            <a:ext cx="25740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Emergence (Recap)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762120" y="2508480"/>
            <a:ext cx="8768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display properties that cannot be predicted by analysing individual components.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762120" y="2935440"/>
            <a:ext cx="413388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Hierarchy and Nested Systems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762120" y="3451680"/>
            <a:ext cx="7704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are organised in hierarchies; subsystems form part of larger systems.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762120" y="3878280"/>
            <a:ext cx="32490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Delays and Nonlinearity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762120" y="4385160"/>
            <a:ext cx="6821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Cause and eﬀect may not be immediate, proportional, or predictable.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762120" y="4811760"/>
            <a:ext cx="46033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Adaptation and Self-Organisation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762120" y="5328000"/>
            <a:ext cx="6169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Many systems adapt and self-organise without central control.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9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0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762120" y="-8280"/>
            <a:ext cx="101354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Systemic design = applying that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762120" y="753480"/>
            <a:ext cx="105818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understanding to design practice.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9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0" name=""/>
          <p:cNvSpPr txBox="1"/>
          <p:nvPr/>
        </p:nvSpPr>
        <p:spPr>
          <a:xfrm>
            <a:off x="762120" y="1879920"/>
            <a:ext cx="9867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thinking tells us how systems behave. Systemic design is what happens when we apply that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762120" y="2184840"/>
            <a:ext cx="5236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understanding to the practice of designing solutions: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766440" y="2728800"/>
            <a:ext cx="5277240" cy="1324440"/>
          </a:xfrm>
          <a:custGeom>
            <a:avLst/>
            <a:gdLst/>
            <a:ahLst/>
            <a:rect l="0" t="0" r="r" b="b"/>
            <a:pathLst>
              <a:path w="14659" h="3679">
                <a:moveTo>
                  <a:pt x="0" y="353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5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7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8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533"/>
                </a:lnTo>
                <a:cubicBezTo>
                  <a:pt x="14659" y="3543"/>
                  <a:pt x="14658" y="3552"/>
                  <a:pt x="14657" y="3561"/>
                </a:cubicBezTo>
                <a:cubicBezTo>
                  <a:pt x="14655" y="3571"/>
                  <a:pt x="14652" y="3580"/>
                  <a:pt x="14648" y="3589"/>
                </a:cubicBezTo>
                <a:cubicBezTo>
                  <a:pt x="14645" y="3598"/>
                  <a:pt x="14640" y="3606"/>
                  <a:pt x="14635" y="3614"/>
                </a:cubicBezTo>
                <a:cubicBezTo>
                  <a:pt x="14629" y="3622"/>
                  <a:pt x="14623" y="3629"/>
                  <a:pt x="14617" y="3636"/>
                </a:cubicBezTo>
                <a:cubicBezTo>
                  <a:pt x="14610" y="3643"/>
                  <a:pt x="14603" y="3649"/>
                  <a:pt x="14595" y="3654"/>
                </a:cubicBezTo>
                <a:cubicBezTo>
                  <a:pt x="14587" y="3659"/>
                  <a:pt x="14578" y="3664"/>
                  <a:pt x="14569" y="3667"/>
                </a:cubicBezTo>
                <a:cubicBezTo>
                  <a:pt x="14561" y="3671"/>
                  <a:pt x="14552" y="3674"/>
                  <a:pt x="14542" y="3676"/>
                </a:cubicBezTo>
                <a:cubicBezTo>
                  <a:pt x="14533" y="3678"/>
                  <a:pt x="14523" y="3679"/>
                  <a:pt x="14514" y="3679"/>
                </a:cubicBezTo>
                <a:lnTo>
                  <a:pt x="146" y="3679"/>
                </a:lnTo>
                <a:cubicBezTo>
                  <a:pt x="136" y="3679"/>
                  <a:pt x="127" y="3678"/>
                  <a:pt x="118" y="3676"/>
                </a:cubicBezTo>
                <a:cubicBezTo>
                  <a:pt x="108" y="3674"/>
                  <a:pt x="99" y="3671"/>
                  <a:pt x="90" y="3667"/>
                </a:cubicBezTo>
                <a:cubicBezTo>
                  <a:pt x="81" y="3664"/>
                  <a:pt x="73" y="3659"/>
                  <a:pt x="65" y="3654"/>
                </a:cubicBezTo>
                <a:cubicBezTo>
                  <a:pt x="57" y="3649"/>
                  <a:pt x="50" y="3643"/>
                  <a:pt x="43" y="3636"/>
                </a:cubicBezTo>
                <a:cubicBezTo>
                  <a:pt x="36" y="3629"/>
                  <a:pt x="30" y="3622"/>
                  <a:pt x="25" y="3614"/>
                </a:cubicBezTo>
                <a:cubicBezTo>
                  <a:pt x="20" y="3606"/>
                  <a:pt x="15" y="3598"/>
                  <a:pt x="11" y="3589"/>
                </a:cubicBezTo>
                <a:cubicBezTo>
                  <a:pt x="8" y="3580"/>
                  <a:pt x="5" y="3571"/>
                  <a:pt x="3" y="3561"/>
                </a:cubicBezTo>
                <a:cubicBezTo>
                  <a:pt x="1" y="3552"/>
                  <a:pt x="0" y="3543"/>
                  <a:pt x="0" y="3533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766440" y="2728800"/>
            <a:ext cx="5277240" cy="1324440"/>
          </a:xfrm>
          <a:custGeom>
            <a:avLst/>
            <a:gdLst/>
            <a:ahLst/>
            <a:rect l="0" t="0" r="r" b="b"/>
            <a:pathLst>
              <a:path fill="none" w="14659" h="3679">
                <a:moveTo>
                  <a:pt x="0" y="353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5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7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8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533"/>
                </a:lnTo>
                <a:cubicBezTo>
                  <a:pt x="14659" y="3543"/>
                  <a:pt x="14658" y="3552"/>
                  <a:pt x="14657" y="3561"/>
                </a:cubicBezTo>
                <a:cubicBezTo>
                  <a:pt x="14655" y="3571"/>
                  <a:pt x="14652" y="3580"/>
                  <a:pt x="14648" y="3589"/>
                </a:cubicBezTo>
                <a:cubicBezTo>
                  <a:pt x="14645" y="3598"/>
                  <a:pt x="14640" y="3606"/>
                  <a:pt x="14635" y="3614"/>
                </a:cubicBezTo>
                <a:cubicBezTo>
                  <a:pt x="14629" y="3622"/>
                  <a:pt x="14623" y="3629"/>
                  <a:pt x="14617" y="3636"/>
                </a:cubicBezTo>
                <a:cubicBezTo>
                  <a:pt x="14610" y="3643"/>
                  <a:pt x="14603" y="3649"/>
                  <a:pt x="14595" y="3654"/>
                </a:cubicBezTo>
                <a:cubicBezTo>
                  <a:pt x="14587" y="3659"/>
                  <a:pt x="14578" y="3664"/>
                  <a:pt x="14569" y="3667"/>
                </a:cubicBezTo>
                <a:cubicBezTo>
                  <a:pt x="14561" y="3671"/>
                  <a:pt x="14552" y="3674"/>
                  <a:pt x="14542" y="3676"/>
                </a:cubicBezTo>
                <a:cubicBezTo>
                  <a:pt x="14533" y="3678"/>
                  <a:pt x="14523" y="3679"/>
                  <a:pt x="14514" y="3679"/>
                </a:cubicBezTo>
                <a:lnTo>
                  <a:pt x="146" y="3679"/>
                </a:lnTo>
                <a:cubicBezTo>
                  <a:pt x="136" y="3679"/>
                  <a:pt x="127" y="3678"/>
                  <a:pt x="118" y="3676"/>
                </a:cubicBezTo>
                <a:cubicBezTo>
                  <a:pt x="108" y="3674"/>
                  <a:pt x="99" y="3671"/>
                  <a:pt x="90" y="3667"/>
                </a:cubicBezTo>
                <a:cubicBezTo>
                  <a:pt x="81" y="3664"/>
                  <a:pt x="73" y="3659"/>
                  <a:pt x="65" y="3654"/>
                </a:cubicBezTo>
                <a:cubicBezTo>
                  <a:pt x="57" y="3649"/>
                  <a:pt x="50" y="3643"/>
                  <a:pt x="43" y="3636"/>
                </a:cubicBezTo>
                <a:cubicBezTo>
                  <a:pt x="36" y="3629"/>
                  <a:pt x="30" y="3622"/>
                  <a:pt x="25" y="3614"/>
                </a:cubicBezTo>
                <a:cubicBezTo>
                  <a:pt x="20" y="3606"/>
                  <a:pt x="15" y="3598"/>
                  <a:pt x="11" y="3589"/>
                </a:cubicBezTo>
                <a:cubicBezTo>
                  <a:pt x="8" y="3580"/>
                  <a:pt x="5" y="3571"/>
                  <a:pt x="3" y="3561"/>
                </a:cubicBezTo>
                <a:cubicBezTo>
                  <a:pt x="1" y="3552"/>
                  <a:pt x="0" y="3543"/>
                  <a:pt x="0" y="3533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762120" y="372600"/>
            <a:ext cx="84312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Systemic Design Principles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923760" y="2932560"/>
            <a:ext cx="376560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Acknowledge Interconnections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923760" y="3395160"/>
            <a:ext cx="4708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Design decisions ripple across the whole system, not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6148080" y="2728800"/>
            <a:ext cx="5277240" cy="1324440"/>
          </a:xfrm>
          <a:custGeom>
            <a:avLst/>
            <a:gdLst/>
            <a:ahLst/>
            <a:rect l="0" t="0" r="r" b="b"/>
            <a:pathLst>
              <a:path w="14659" h="3679">
                <a:moveTo>
                  <a:pt x="0" y="353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5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7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8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533"/>
                </a:lnTo>
                <a:cubicBezTo>
                  <a:pt x="14659" y="3543"/>
                  <a:pt x="14658" y="3552"/>
                  <a:pt x="14656" y="3561"/>
                </a:cubicBezTo>
                <a:cubicBezTo>
                  <a:pt x="14655" y="3571"/>
                  <a:pt x="14652" y="3580"/>
                  <a:pt x="14648" y="3589"/>
                </a:cubicBezTo>
                <a:cubicBezTo>
                  <a:pt x="14645" y="3598"/>
                  <a:pt x="14640" y="3606"/>
                  <a:pt x="14635" y="3614"/>
                </a:cubicBezTo>
                <a:cubicBezTo>
                  <a:pt x="14629" y="3622"/>
                  <a:pt x="14623" y="3629"/>
                  <a:pt x="14617" y="3636"/>
                </a:cubicBezTo>
                <a:cubicBezTo>
                  <a:pt x="14610" y="3643"/>
                  <a:pt x="14603" y="3649"/>
                  <a:pt x="14595" y="3654"/>
                </a:cubicBezTo>
                <a:cubicBezTo>
                  <a:pt x="14587" y="3659"/>
                  <a:pt x="14578" y="3664"/>
                  <a:pt x="14569" y="3667"/>
                </a:cubicBezTo>
                <a:cubicBezTo>
                  <a:pt x="14561" y="3671"/>
                  <a:pt x="14552" y="3674"/>
                  <a:pt x="14542" y="3676"/>
                </a:cubicBezTo>
                <a:cubicBezTo>
                  <a:pt x="14533" y="3678"/>
                  <a:pt x="14523" y="3679"/>
                  <a:pt x="14514" y="3679"/>
                </a:cubicBezTo>
                <a:lnTo>
                  <a:pt x="146" y="3679"/>
                </a:lnTo>
                <a:cubicBezTo>
                  <a:pt x="136" y="3679"/>
                  <a:pt x="127" y="3678"/>
                  <a:pt x="117" y="3676"/>
                </a:cubicBezTo>
                <a:cubicBezTo>
                  <a:pt x="108" y="3674"/>
                  <a:pt x="99" y="3671"/>
                  <a:pt x="90" y="3667"/>
                </a:cubicBezTo>
                <a:cubicBezTo>
                  <a:pt x="81" y="3664"/>
                  <a:pt x="73" y="3659"/>
                  <a:pt x="65" y="3654"/>
                </a:cubicBezTo>
                <a:cubicBezTo>
                  <a:pt x="57" y="3649"/>
                  <a:pt x="50" y="3643"/>
                  <a:pt x="43" y="3636"/>
                </a:cubicBezTo>
                <a:cubicBezTo>
                  <a:pt x="36" y="3629"/>
                  <a:pt x="30" y="3622"/>
                  <a:pt x="25" y="3614"/>
                </a:cubicBezTo>
                <a:cubicBezTo>
                  <a:pt x="20" y="3606"/>
                  <a:pt x="15" y="3598"/>
                  <a:pt x="11" y="3589"/>
                </a:cubicBezTo>
                <a:cubicBezTo>
                  <a:pt x="8" y="3580"/>
                  <a:pt x="5" y="3571"/>
                  <a:pt x="3" y="3561"/>
                </a:cubicBezTo>
                <a:cubicBezTo>
                  <a:pt x="1" y="3552"/>
                  <a:pt x="0" y="3543"/>
                  <a:pt x="0" y="3533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6148080" y="2728800"/>
            <a:ext cx="5277240" cy="1324440"/>
          </a:xfrm>
          <a:custGeom>
            <a:avLst/>
            <a:gdLst/>
            <a:ahLst/>
            <a:rect l="0" t="0" r="r" b="b"/>
            <a:pathLst>
              <a:path fill="none" w="14659" h="3679">
                <a:moveTo>
                  <a:pt x="0" y="353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5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7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8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533"/>
                </a:lnTo>
                <a:cubicBezTo>
                  <a:pt x="14659" y="3543"/>
                  <a:pt x="14658" y="3552"/>
                  <a:pt x="14656" y="3561"/>
                </a:cubicBezTo>
                <a:cubicBezTo>
                  <a:pt x="14655" y="3571"/>
                  <a:pt x="14652" y="3580"/>
                  <a:pt x="14648" y="3589"/>
                </a:cubicBezTo>
                <a:cubicBezTo>
                  <a:pt x="14645" y="3598"/>
                  <a:pt x="14640" y="3606"/>
                  <a:pt x="14635" y="3614"/>
                </a:cubicBezTo>
                <a:cubicBezTo>
                  <a:pt x="14629" y="3622"/>
                  <a:pt x="14623" y="3629"/>
                  <a:pt x="14617" y="3636"/>
                </a:cubicBezTo>
                <a:cubicBezTo>
                  <a:pt x="14610" y="3643"/>
                  <a:pt x="14603" y="3649"/>
                  <a:pt x="14595" y="3654"/>
                </a:cubicBezTo>
                <a:cubicBezTo>
                  <a:pt x="14587" y="3659"/>
                  <a:pt x="14578" y="3664"/>
                  <a:pt x="14569" y="3667"/>
                </a:cubicBezTo>
                <a:cubicBezTo>
                  <a:pt x="14561" y="3671"/>
                  <a:pt x="14552" y="3674"/>
                  <a:pt x="14542" y="3676"/>
                </a:cubicBezTo>
                <a:cubicBezTo>
                  <a:pt x="14533" y="3678"/>
                  <a:pt x="14523" y="3679"/>
                  <a:pt x="14514" y="3679"/>
                </a:cubicBezTo>
                <a:lnTo>
                  <a:pt x="146" y="3679"/>
                </a:lnTo>
                <a:cubicBezTo>
                  <a:pt x="136" y="3679"/>
                  <a:pt x="127" y="3678"/>
                  <a:pt x="117" y="3676"/>
                </a:cubicBezTo>
                <a:cubicBezTo>
                  <a:pt x="108" y="3674"/>
                  <a:pt x="99" y="3671"/>
                  <a:pt x="90" y="3667"/>
                </a:cubicBezTo>
                <a:cubicBezTo>
                  <a:pt x="81" y="3664"/>
                  <a:pt x="73" y="3659"/>
                  <a:pt x="65" y="3654"/>
                </a:cubicBezTo>
                <a:cubicBezTo>
                  <a:pt x="57" y="3649"/>
                  <a:pt x="50" y="3643"/>
                  <a:pt x="43" y="3636"/>
                </a:cubicBezTo>
                <a:cubicBezTo>
                  <a:pt x="36" y="3629"/>
                  <a:pt x="30" y="3622"/>
                  <a:pt x="25" y="3614"/>
                </a:cubicBezTo>
                <a:cubicBezTo>
                  <a:pt x="20" y="3606"/>
                  <a:pt x="15" y="3598"/>
                  <a:pt x="11" y="3589"/>
                </a:cubicBezTo>
                <a:cubicBezTo>
                  <a:pt x="8" y="3580"/>
                  <a:pt x="5" y="3571"/>
                  <a:pt x="3" y="3561"/>
                </a:cubicBezTo>
                <a:cubicBezTo>
                  <a:pt x="1" y="3552"/>
                  <a:pt x="0" y="3543"/>
                  <a:pt x="0" y="3533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923760" y="3671280"/>
            <a:ext cx="3227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just the component you're touching.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6305400" y="2932560"/>
            <a:ext cx="362916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Redeﬁne Waste as a Resource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6305400" y="3395160"/>
            <a:ext cx="5015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What looks like leftover output in one part of the system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766440" y="4290840"/>
            <a:ext cx="5277240" cy="1333800"/>
          </a:xfrm>
          <a:custGeom>
            <a:avLst/>
            <a:gdLst/>
            <a:ahLst/>
            <a:rect l="0" t="0" r="r" b="b"/>
            <a:pathLst>
              <a:path w="14659" h="3705">
                <a:moveTo>
                  <a:pt x="0" y="356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560"/>
                </a:lnTo>
                <a:cubicBezTo>
                  <a:pt x="14659" y="3569"/>
                  <a:pt x="14658" y="3579"/>
                  <a:pt x="14657" y="3588"/>
                </a:cubicBezTo>
                <a:cubicBezTo>
                  <a:pt x="14655" y="3597"/>
                  <a:pt x="14652" y="3606"/>
                  <a:pt x="14648" y="3615"/>
                </a:cubicBezTo>
                <a:cubicBezTo>
                  <a:pt x="14645" y="3624"/>
                  <a:pt x="14640" y="3633"/>
                  <a:pt x="14635" y="3640"/>
                </a:cubicBezTo>
                <a:cubicBezTo>
                  <a:pt x="14629" y="3648"/>
                  <a:pt x="14623" y="3656"/>
                  <a:pt x="14617" y="3663"/>
                </a:cubicBezTo>
                <a:cubicBezTo>
                  <a:pt x="14610" y="3669"/>
                  <a:pt x="14603" y="3675"/>
                  <a:pt x="14595" y="3681"/>
                </a:cubicBezTo>
                <a:cubicBezTo>
                  <a:pt x="14587" y="3686"/>
                  <a:pt x="14578" y="3690"/>
                  <a:pt x="14569" y="3694"/>
                </a:cubicBezTo>
                <a:cubicBezTo>
                  <a:pt x="14561" y="3698"/>
                  <a:pt x="14552" y="3700"/>
                  <a:pt x="14542" y="3702"/>
                </a:cubicBezTo>
                <a:cubicBezTo>
                  <a:pt x="14533" y="3704"/>
                  <a:pt x="14523" y="3705"/>
                  <a:pt x="14514" y="3705"/>
                </a:cubicBezTo>
                <a:lnTo>
                  <a:pt x="146" y="3705"/>
                </a:lnTo>
                <a:cubicBezTo>
                  <a:pt x="136" y="3705"/>
                  <a:pt x="127" y="3704"/>
                  <a:pt x="118" y="3702"/>
                </a:cubicBezTo>
                <a:cubicBezTo>
                  <a:pt x="108" y="3700"/>
                  <a:pt x="99" y="3698"/>
                  <a:pt x="90" y="3694"/>
                </a:cubicBezTo>
                <a:cubicBezTo>
                  <a:pt x="81" y="3690"/>
                  <a:pt x="73" y="3686"/>
                  <a:pt x="65" y="3681"/>
                </a:cubicBezTo>
                <a:cubicBezTo>
                  <a:pt x="57" y="3675"/>
                  <a:pt x="50" y="3669"/>
                  <a:pt x="43" y="3663"/>
                </a:cubicBezTo>
                <a:cubicBezTo>
                  <a:pt x="36" y="3656"/>
                  <a:pt x="30" y="3648"/>
                  <a:pt x="25" y="3640"/>
                </a:cubicBezTo>
                <a:cubicBezTo>
                  <a:pt x="20" y="3633"/>
                  <a:pt x="15" y="3624"/>
                  <a:pt x="11" y="3615"/>
                </a:cubicBezTo>
                <a:cubicBezTo>
                  <a:pt x="8" y="3606"/>
                  <a:pt x="5" y="3597"/>
                  <a:pt x="3" y="3588"/>
                </a:cubicBezTo>
                <a:cubicBezTo>
                  <a:pt x="1" y="3579"/>
                  <a:pt x="0" y="3569"/>
                  <a:pt x="0" y="3560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766440" y="4290840"/>
            <a:ext cx="5277240" cy="1333800"/>
          </a:xfrm>
          <a:custGeom>
            <a:avLst/>
            <a:gdLst/>
            <a:ahLst/>
            <a:rect l="0" t="0" r="r" b="b"/>
            <a:pathLst>
              <a:path fill="none" w="14659" h="3705">
                <a:moveTo>
                  <a:pt x="0" y="356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560"/>
                </a:lnTo>
                <a:cubicBezTo>
                  <a:pt x="14659" y="3569"/>
                  <a:pt x="14658" y="3579"/>
                  <a:pt x="14657" y="3588"/>
                </a:cubicBezTo>
                <a:cubicBezTo>
                  <a:pt x="14655" y="3597"/>
                  <a:pt x="14652" y="3606"/>
                  <a:pt x="14648" y="3615"/>
                </a:cubicBezTo>
                <a:cubicBezTo>
                  <a:pt x="14645" y="3624"/>
                  <a:pt x="14640" y="3633"/>
                  <a:pt x="14635" y="3640"/>
                </a:cubicBezTo>
                <a:cubicBezTo>
                  <a:pt x="14629" y="3648"/>
                  <a:pt x="14623" y="3656"/>
                  <a:pt x="14617" y="3663"/>
                </a:cubicBezTo>
                <a:cubicBezTo>
                  <a:pt x="14610" y="3669"/>
                  <a:pt x="14603" y="3675"/>
                  <a:pt x="14595" y="3681"/>
                </a:cubicBezTo>
                <a:cubicBezTo>
                  <a:pt x="14587" y="3686"/>
                  <a:pt x="14578" y="3690"/>
                  <a:pt x="14569" y="3694"/>
                </a:cubicBezTo>
                <a:cubicBezTo>
                  <a:pt x="14561" y="3698"/>
                  <a:pt x="14552" y="3700"/>
                  <a:pt x="14542" y="3702"/>
                </a:cubicBezTo>
                <a:cubicBezTo>
                  <a:pt x="14533" y="3704"/>
                  <a:pt x="14523" y="3705"/>
                  <a:pt x="14514" y="3705"/>
                </a:cubicBezTo>
                <a:lnTo>
                  <a:pt x="146" y="3705"/>
                </a:lnTo>
                <a:cubicBezTo>
                  <a:pt x="136" y="3705"/>
                  <a:pt x="127" y="3704"/>
                  <a:pt x="118" y="3702"/>
                </a:cubicBezTo>
                <a:cubicBezTo>
                  <a:pt x="108" y="3700"/>
                  <a:pt x="99" y="3698"/>
                  <a:pt x="90" y="3694"/>
                </a:cubicBezTo>
                <a:cubicBezTo>
                  <a:pt x="81" y="3690"/>
                  <a:pt x="73" y="3686"/>
                  <a:pt x="65" y="3681"/>
                </a:cubicBezTo>
                <a:cubicBezTo>
                  <a:pt x="57" y="3675"/>
                  <a:pt x="50" y="3669"/>
                  <a:pt x="43" y="3663"/>
                </a:cubicBezTo>
                <a:cubicBezTo>
                  <a:pt x="36" y="3656"/>
                  <a:pt x="30" y="3648"/>
                  <a:pt x="25" y="3640"/>
                </a:cubicBezTo>
                <a:cubicBezTo>
                  <a:pt x="20" y="3633"/>
                  <a:pt x="15" y="3624"/>
                  <a:pt x="11" y="3615"/>
                </a:cubicBezTo>
                <a:cubicBezTo>
                  <a:pt x="8" y="3606"/>
                  <a:pt x="5" y="3597"/>
                  <a:pt x="3" y="3588"/>
                </a:cubicBezTo>
                <a:cubicBezTo>
                  <a:pt x="1" y="3579"/>
                  <a:pt x="0" y="3569"/>
                  <a:pt x="0" y="3560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6305400" y="3671280"/>
            <a:ext cx="2639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can be input somewhere else.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923760" y="4494600"/>
            <a:ext cx="398088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Design Self-Organising Systems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923760" y="4957200"/>
            <a:ext cx="4469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Build in the capacity for the system to adapt itself,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6148080" y="4290840"/>
            <a:ext cx="5277240" cy="1333800"/>
          </a:xfrm>
          <a:custGeom>
            <a:avLst/>
            <a:gdLst/>
            <a:ahLst/>
            <a:rect l="0" t="0" r="r" b="b"/>
            <a:pathLst>
              <a:path w="14659" h="3705">
                <a:moveTo>
                  <a:pt x="0" y="356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560"/>
                </a:lnTo>
                <a:cubicBezTo>
                  <a:pt x="14659" y="3569"/>
                  <a:pt x="14658" y="3579"/>
                  <a:pt x="14656" y="3588"/>
                </a:cubicBezTo>
                <a:cubicBezTo>
                  <a:pt x="14655" y="3597"/>
                  <a:pt x="14652" y="3606"/>
                  <a:pt x="14648" y="3615"/>
                </a:cubicBezTo>
                <a:cubicBezTo>
                  <a:pt x="14645" y="3624"/>
                  <a:pt x="14640" y="3633"/>
                  <a:pt x="14635" y="3640"/>
                </a:cubicBezTo>
                <a:cubicBezTo>
                  <a:pt x="14629" y="3648"/>
                  <a:pt x="14623" y="3656"/>
                  <a:pt x="14617" y="3663"/>
                </a:cubicBezTo>
                <a:cubicBezTo>
                  <a:pt x="14610" y="3669"/>
                  <a:pt x="14603" y="3675"/>
                  <a:pt x="14595" y="3681"/>
                </a:cubicBezTo>
                <a:cubicBezTo>
                  <a:pt x="14587" y="3686"/>
                  <a:pt x="14578" y="3690"/>
                  <a:pt x="14569" y="3694"/>
                </a:cubicBezTo>
                <a:cubicBezTo>
                  <a:pt x="14561" y="3698"/>
                  <a:pt x="14552" y="3700"/>
                  <a:pt x="14542" y="3702"/>
                </a:cubicBezTo>
                <a:cubicBezTo>
                  <a:pt x="14533" y="3704"/>
                  <a:pt x="14523" y="3705"/>
                  <a:pt x="14514" y="3705"/>
                </a:cubicBezTo>
                <a:lnTo>
                  <a:pt x="146" y="3705"/>
                </a:lnTo>
                <a:cubicBezTo>
                  <a:pt x="136" y="3705"/>
                  <a:pt x="127" y="3704"/>
                  <a:pt x="117" y="3702"/>
                </a:cubicBezTo>
                <a:cubicBezTo>
                  <a:pt x="108" y="3700"/>
                  <a:pt x="99" y="3698"/>
                  <a:pt x="90" y="3694"/>
                </a:cubicBezTo>
                <a:cubicBezTo>
                  <a:pt x="81" y="3690"/>
                  <a:pt x="73" y="3686"/>
                  <a:pt x="65" y="3681"/>
                </a:cubicBezTo>
                <a:cubicBezTo>
                  <a:pt x="57" y="3675"/>
                  <a:pt x="50" y="3669"/>
                  <a:pt x="43" y="3663"/>
                </a:cubicBezTo>
                <a:cubicBezTo>
                  <a:pt x="36" y="3656"/>
                  <a:pt x="30" y="3648"/>
                  <a:pt x="25" y="3640"/>
                </a:cubicBezTo>
                <a:cubicBezTo>
                  <a:pt x="20" y="3633"/>
                  <a:pt x="15" y="3624"/>
                  <a:pt x="11" y="3615"/>
                </a:cubicBezTo>
                <a:cubicBezTo>
                  <a:pt x="8" y="3606"/>
                  <a:pt x="5" y="3597"/>
                  <a:pt x="3" y="3588"/>
                </a:cubicBezTo>
                <a:cubicBezTo>
                  <a:pt x="1" y="3579"/>
                  <a:pt x="0" y="3569"/>
                  <a:pt x="0" y="3560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6148080" y="4290840"/>
            <a:ext cx="5277240" cy="1333800"/>
          </a:xfrm>
          <a:custGeom>
            <a:avLst/>
            <a:gdLst/>
            <a:ahLst/>
            <a:rect l="0" t="0" r="r" b="b"/>
            <a:pathLst>
              <a:path fill="none" w="14659" h="3705">
                <a:moveTo>
                  <a:pt x="0" y="356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560"/>
                </a:lnTo>
                <a:cubicBezTo>
                  <a:pt x="14659" y="3569"/>
                  <a:pt x="14658" y="3579"/>
                  <a:pt x="14656" y="3588"/>
                </a:cubicBezTo>
                <a:cubicBezTo>
                  <a:pt x="14655" y="3597"/>
                  <a:pt x="14652" y="3606"/>
                  <a:pt x="14648" y="3615"/>
                </a:cubicBezTo>
                <a:cubicBezTo>
                  <a:pt x="14645" y="3624"/>
                  <a:pt x="14640" y="3633"/>
                  <a:pt x="14635" y="3640"/>
                </a:cubicBezTo>
                <a:cubicBezTo>
                  <a:pt x="14629" y="3648"/>
                  <a:pt x="14623" y="3656"/>
                  <a:pt x="14617" y="3663"/>
                </a:cubicBezTo>
                <a:cubicBezTo>
                  <a:pt x="14610" y="3669"/>
                  <a:pt x="14603" y="3675"/>
                  <a:pt x="14595" y="3681"/>
                </a:cubicBezTo>
                <a:cubicBezTo>
                  <a:pt x="14587" y="3686"/>
                  <a:pt x="14578" y="3690"/>
                  <a:pt x="14569" y="3694"/>
                </a:cubicBezTo>
                <a:cubicBezTo>
                  <a:pt x="14561" y="3698"/>
                  <a:pt x="14552" y="3700"/>
                  <a:pt x="14542" y="3702"/>
                </a:cubicBezTo>
                <a:cubicBezTo>
                  <a:pt x="14533" y="3704"/>
                  <a:pt x="14523" y="3705"/>
                  <a:pt x="14514" y="3705"/>
                </a:cubicBezTo>
                <a:lnTo>
                  <a:pt x="146" y="3705"/>
                </a:lnTo>
                <a:cubicBezTo>
                  <a:pt x="136" y="3705"/>
                  <a:pt x="127" y="3704"/>
                  <a:pt x="117" y="3702"/>
                </a:cubicBezTo>
                <a:cubicBezTo>
                  <a:pt x="108" y="3700"/>
                  <a:pt x="99" y="3698"/>
                  <a:pt x="90" y="3694"/>
                </a:cubicBezTo>
                <a:cubicBezTo>
                  <a:pt x="81" y="3690"/>
                  <a:pt x="73" y="3686"/>
                  <a:pt x="65" y="3681"/>
                </a:cubicBezTo>
                <a:cubicBezTo>
                  <a:pt x="57" y="3675"/>
                  <a:pt x="50" y="3669"/>
                  <a:pt x="43" y="3663"/>
                </a:cubicBezTo>
                <a:cubicBezTo>
                  <a:pt x="36" y="3656"/>
                  <a:pt x="30" y="3648"/>
                  <a:pt x="25" y="3640"/>
                </a:cubicBezTo>
                <a:cubicBezTo>
                  <a:pt x="20" y="3633"/>
                  <a:pt x="15" y="3624"/>
                  <a:pt x="11" y="3615"/>
                </a:cubicBezTo>
                <a:cubicBezTo>
                  <a:pt x="8" y="3606"/>
                  <a:pt x="5" y="3597"/>
                  <a:pt x="3" y="3588"/>
                </a:cubicBezTo>
                <a:cubicBezTo>
                  <a:pt x="1" y="3579"/>
                  <a:pt x="0" y="3569"/>
                  <a:pt x="0" y="3560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923760" y="5233320"/>
            <a:ext cx="4236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rather than controlling every outcome centrally.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6305400" y="4494600"/>
            <a:ext cx="303120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Use Feedback as a Guide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6305400" y="4957200"/>
            <a:ext cx="4649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Treat feedback loops as the mechanism for adaptive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6305400" y="5233320"/>
            <a:ext cx="42750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improvement, not just as something to observe.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1" name=""/>
          <p:cNvSpPr/>
          <p:nvPr/>
        </p:nvSpPr>
        <p:spPr>
          <a:xfrm>
            <a:off x="761760" y="2943000"/>
            <a:ext cx="47880" cy="609840"/>
          </a:xfrm>
          <a:custGeom>
            <a:avLst/>
            <a:gdLst/>
            <a:ahLst/>
            <a:rect l="0" t="0" r="r" b="b"/>
            <a:pathLst>
              <a:path w="133" h="1694">
                <a:moveTo>
                  <a:pt x="0" y="0"/>
                </a:moveTo>
                <a:lnTo>
                  <a:pt x="133" y="0"/>
                </a:lnTo>
                <a:lnTo>
                  <a:pt x="133" y="1694"/>
                </a:lnTo>
                <a:lnTo>
                  <a:pt x="0" y="169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762120" y="2459160"/>
            <a:ext cx="316116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Case Example: Suzanne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1012680" y="2975400"/>
            <a:ext cx="9813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59636e"/>
                </a:solidFill>
                <a:effectLst/>
                <a:uFillTx/>
                <a:latin typeface="LucidaGrande"/>
                <a:ea typeface="LucidaGrande"/>
              </a:rPr>
              <a:t>Suzanne </a:t>
            </a:r>
            <a:r>
              <a:rPr b="0" lang="en-US" sz="1600" strike="noStrike" u="none">
                <a:solidFill>
                  <a:srgbClr val="59636e"/>
                </a:solidFill>
                <a:effectLst/>
                <a:uFillTx/>
                <a:latin typeface="LucidaGrande"/>
                <a:ea typeface="LucidaGrande"/>
              </a:rPr>
              <a:t>is a senior manager in a large Regional Health Organization. The high rate of obesity is an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971280" y="38289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8"/>
                </a:cubicBezTo>
                <a:cubicBezTo>
                  <a:pt x="140" y="12"/>
                  <a:pt x="150" y="19"/>
                  <a:pt x="158" y="28"/>
                </a:cubicBezTo>
                <a:cubicBezTo>
                  <a:pt x="167" y="37"/>
                  <a:pt x="175" y="47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1012680" y="3280320"/>
            <a:ext cx="6557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59636e"/>
                </a:solidFill>
                <a:effectLst/>
                <a:uFillTx/>
                <a:latin typeface="LucidaGrande"/>
                <a:ea typeface="LucidaGrande"/>
              </a:rPr>
              <a:t>issue in her community, and she has been mandated to address it.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971280" y="41907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1168200" y="3737520"/>
            <a:ext cx="7352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Her ﬁrst instinct: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develop a program to get more people physically active.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1168200" y="4099320"/>
            <a:ext cx="6626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question: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what is realistic to expect from this approach alone?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762120" y="4556520"/>
            <a:ext cx="679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thinkers argue that treating a single program as an isolated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7624800" y="4556520"/>
            <a:ext cx="4111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part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7975080" y="4556520"/>
            <a:ext cx="2863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, without regard to the larger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811080" y="4861440"/>
            <a:ext cx="5961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whole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1341360" y="4861440"/>
            <a:ext cx="8534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it operates within, tends to ignore other factors that inﬂuence its potential for impact.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2" name=""/>
          <p:cNvSpPr/>
          <p:nvPr/>
        </p:nvSpPr>
        <p:spPr>
          <a:xfrm>
            <a:off x="571320" y="761760"/>
            <a:ext cx="11049480" cy="5410440"/>
          </a:xfrm>
          <a:custGeom>
            <a:avLst/>
            <a:gdLst/>
            <a:ahLst/>
            <a:rect l="0" t="0" r="r" b="b"/>
            <a:pathLst>
              <a:path w="30693" h="15029">
                <a:moveTo>
                  <a:pt x="0" y="0"/>
                </a:moveTo>
                <a:lnTo>
                  <a:pt x="30693" y="0"/>
                </a:lnTo>
                <a:lnTo>
                  <a:pt x="30693" y="15029"/>
                </a:lnTo>
                <a:lnTo>
                  <a:pt x="0" y="150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3" name="" descr=""/>
          <p:cNvPicPr/>
          <p:nvPr/>
        </p:nvPicPr>
        <p:blipFill>
          <a:blip r:embed="rId2"/>
          <a:stretch/>
        </p:blipFill>
        <p:spPr>
          <a:xfrm>
            <a:off x="5753160" y="2962440"/>
            <a:ext cx="685440" cy="68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4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2" name=""/>
          <p:cNvSpPr txBox="1"/>
          <p:nvPr/>
        </p:nvSpPr>
        <p:spPr>
          <a:xfrm>
            <a:off x="762120" y="2487960"/>
            <a:ext cx="307224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Outcomes for Suzanne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971280" y="355248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60"/>
                </a:cubicBezTo>
                <a:cubicBezTo>
                  <a:pt x="150" y="168"/>
                  <a:pt x="140" y="175"/>
                  <a:pt x="128" y="180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9"/>
                </a:cubicBezTo>
                <a:cubicBezTo>
                  <a:pt x="12" y="47"/>
                  <a:pt x="19" y="37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8"/>
                </a:cubicBezTo>
                <a:cubicBezTo>
                  <a:pt x="140" y="12"/>
                  <a:pt x="150" y="19"/>
                  <a:pt x="158" y="28"/>
                </a:cubicBezTo>
                <a:cubicBezTo>
                  <a:pt x="167" y="37"/>
                  <a:pt x="175" y="47"/>
                  <a:pt x="179" y="59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762120" y="3003840"/>
            <a:ext cx="4117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Using a systems approach helps Suzanne: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971280" y="390492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5"/>
                  <a:pt x="128" y="180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80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8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1168200" y="3461040"/>
            <a:ext cx="8116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Focus on the broader issue of obesity in her community, not just a single program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971280" y="4267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3"/>
                </a:cubicBezTo>
                <a:cubicBezTo>
                  <a:pt x="0" y="81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1168200" y="3813480"/>
            <a:ext cx="722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Better understand which external factors inﬂuence the program's success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971280" y="46195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7" y="28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8"/>
                </a:cubicBezTo>
                <a:cubicBezTo>
                  <a:pt x="167" y="37"/>
                  <a:pt x="175" y="47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1168200" y="4175640"/>
            <a:ext cx="699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Set more reasonable expectations of what the program can accomplish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1168200" y="4528080"/>
            <a:ext cx="3538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Identify what needs to change both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4762800" y="4528080"/>
            <a:ext cx="6195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within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5316120" y="4528080"/>
            <a:ext cx="49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and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5860080" y="4528080"/>
            <a:ext cx="7513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outside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6541200" y="4528080"/>
            <a:ext cx="4421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the program to maximize her organization's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1168200" y="4832640"/>
            <a:ext cx="1270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eﬀectiveness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5" name=""/>
          <p:cNvSpPr txBox="1"/>
          <p:nvPr/>
        </p:nvSpPr>
        <p:spPr>
          <a:xfrm>
            <a:off x="762120" y="2251440"/>
            <a:ext cx="10423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thinking reframes problems — AI or otherwise — as the product of interacting parts, not isolated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971280" y="31050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762120" y="2556360"/>
            <a:ext cx="726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causes.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971280" y="346680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1168200" y="3013560"/>
            <a:ext cx="820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Holism and reductionism are complementary, not opposed — engineers need both.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1168200" y="3375360"/>
            <a:ext cx="971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Feedback loops, boundaries, and emergence explain why systems don't behave the way their parts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971280" y="41241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1168200" y="3680280"/>
            <a:ext cx="2093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alone would suggest.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1168200" y="4032720"/>
            <a:ext cx="9483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Zooming in/out, shifting perspective, and tracking leverage points turn these foundations into 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1168200" y="4337280"/>
            <a:ext cx="9820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practical toolkit — as the Suzanne case shows, a single program can't ﬁx a problem that's systemic.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762120" y="4794480"/>
            <a:ext cx="10060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Many now believe a systems approach holds the most promise for addressing complex problems — in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762120" y="5099400"/>
            <a:ext cx="2532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health, in AI, and beyond.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286293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762120" y="372600"/>
            <a:ext cx="34804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Conclusion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LibreOffice/25.2.5.2$MacOSX_AARCH64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