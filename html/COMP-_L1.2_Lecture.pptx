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"/>
          <p:cNvSpPr txBox="1"/>
          <p:nvPr/>
        </p:nvSpPr>
        <p:spPr>
          <a:xfrm>
            <a:off x="762120" y="5183640"/>
            <a:ext cx="1905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0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3349440"/>
            <a:ext cx="678816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Theory of Design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4483800"/>
            <a:ext cx="446184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Philosophy of Design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"/>
          <p:cNvSpPr txBox="1"/>
          <p:nvPr/>
        </p:nvSpPr>
        <p:spPr>
          <a:xfrm>
            <a:off x="4095720" y="1565640"/>
            <a:ext cx="444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By the end of this lecture, you will be able to: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244760" y="2022840"/>
            <a:ext cx="6461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Deﬁne philosophy of design and distinguish its questions from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502160" y="2327760"/>
            <a:ext cx="3511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everyday design practice questions.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244760" y="2689560"/>
            <a:ext cx="6867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why the (conscious or unconscious) philosophies designers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502160" y="2994480"/>
            <a:ext cx="2508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hold shape their practice.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244760" y="3346920"/>
            <a:ext cx="7148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Identify the key research questions in philosophy of design across the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502160" y="3651480"/>
            <a:ext cx="552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nature, epistemology, theory, and application of design.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244760" y="4003920"/>
            <a:ext cx="7094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why rational and critical reﬂection—not empirical observation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502160" y="4308840"/>
            <a:ext cx="4385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alone—is needed to answer these questions.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244760" y="4670640"/>
            <a:ext cx="6777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Evaluate the relevance of philosophy of design to design research,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02160" y="4975560"/>
            <a:ext cx="4358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professional practice, and design education.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46920" y="381960"/>
            <a:ext cx="2772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Intended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58800" y="1296360"/>
            <a:ext cx="2748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Learning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55040" y="2210760"/>
            <a:ext cx="31568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Outcomes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"/>
          <p:cNvSpPr/>
          <p:nvPr/>
        </p:nvSpPr>
        <p:spPr>
          <a:xfrm>
            <a:off x="4448160" y="1761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8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8"/>
                  <a:pt x="51" y="239"/>
                  <a:pt x="38" y="226"/>
                </a:cubicBezTo>
                <a:cubicBezTo>
                  <a:pt x="26" y="214"/>
                  <a:pt x="16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448160" y="22953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2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4705200" y="1610280"/>
            <a:ext cx="36338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Design Shapes Our Lives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4448160" y="28288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3"/>
                </a:cubicBezTo>
                <a:cubicBezTo>
                  <a:pt x="248" y="200"/>
                  <a:pt x="239" y="214"/>
                  <a:pt x="226" y="226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6"/>
                </a:cubicBezTo>
                <a:cubicBezTo>
                  <a:pt x="26" y="214"/>
                  <a:pt x="16" y="200"/>
                  <a:pt x="10" y="183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705200" y="2143800"/>
            <a:ext cx="44146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What is Philosophy of Design?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4448160" y="33620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7"/>
                  <a:pt x="26" y="52"/>
                  <a:pt x="38" y="40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40"/>
                </a:cubicBezTo>
                <a:cubicBezTo>
                  <a:pt x="239" y="52"/>
                  <a:pt x="248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705200" y="2676960"/>
            <a:ext cx="35326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Key Research Questions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4448160" y="38955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705200" y="3210480"/>
            <a:ext cx="19270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Methodology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4448160" y="44290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3"/>
                </a:cubicBezTo>
                <a:cubicBezTo>
                  <a:pt x="248" y="199"/>
                  <a:pt x="239" y="213"/>
                  <a:pt x="226" y="225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5"/>
                </a:cubicBezTo>
                <a:cubicBezTo>
                  <a:pt x="26" y="213"/>
                  <a:pt x="16" y="199"/>
                  <a:pt x="10" y="183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705200" y="3744000"/>
            <a:ext cx="211320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Why It Matters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4448160" y="49622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705200" y="4277160"/>
            <a:ext cx="37958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Design as Shaping Reality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705200" y="4810680"/>
            <a:ext cx="16412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847440" y="381960"/>
            <a:ext cx="23716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Agenda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"/>
          <p:cNvSpPr txBox="1"/>
          <p:nvPr/>
        </p:nvSpPr>
        <p:spPr>
          <a:xfrm>
            <a:off x="762120" y="2680200"/>
            <a:ext cx="10410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shapes our lives as much as science and technology do—through countless artefacts we use daily.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62120" y="2984760"/>
            <a:ext cx="7144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But design cannot be understood through science and technology alone.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762120" y="4061160"/>
            <a:ext cx="10126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is a young ﬁeld combining philosophy and design research. Most philosophers of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762120" y="4366080"/>
            <a:ext cx="9983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are "half amateurs"—they come from mixed backgrounds (philosophy, design practice, design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762120" y="4670640"/>
            <a:ext cx="5186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research). This cross-disciplinary nature is essential.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766440" y="3414600"/>
            <a:ext cx="10658880" cy="495720"/>
          </a:xfrm>
          <a:custGeom>
            <a:avLst/>
            <a:gdLst/>
            <a:ahLst/>
            <a:rect l="0" t="0" r="r" b="b"/>
            <a:pathLst>
              <a:path w="29608" h="1377">
                <a:moveTo>
                  <a:pt x="0" y="123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231"/>
                </a:lnTo>
                <a:cubicBezTo>
                  <a:pt x="29608" y="1241"/>
                  <a:pt x="29607" y="1250"/>
                  <a:pt x="29605" y="1260"/>
                </a:cubicBezTo>
                <a:cubicBezTo>
                  <a:pt x="29604" y="1269"/>
                  <a:pt x="29601" y="1278"/>
                  <a:pt x="29597" y="1287"/>
                </a:cubicBezTo>
                <a:cubicBezTo>
                  <a:pt x="29594" y="1296"/>
                  <a:pt x="29589" y="1304"/>
                  <a:pt x="29584" y="1312"/>
                </a:cubicBezTo>
                <a:cubicBezTo>
                  <a:pt x="29578" y="1320"/>
                  <a:pt x="29572" y="1327"/>
                  <a:pt x="29566" y="1334"/>
                </a:cubicBezTo>
                <a:cubicBezTo>
                  <a:pt x="29559" y="1341"/>
                  <a:pt x="29552" y="1347"/>
                  <a:pt x="29544" y="1352"/>
                </a:cubicBezTo>
                <a:cubicBezTo>
                  <a:pt x="29536" y="1357"/>
                  <a:pt x="29527" y="1362"/>
                  <a:pt x="29518" y="1366"/>
                </a:cubicBezTo>
                <a:cubicBezTo>
                  <a:pt x="29510" y="1369"/>
                  <a:pt x="29501" y="1372"/>
                  <a:pt x="29491" y="1374"/>
                </a:cubicBezTo>
                <a:cubicBezTo>
                  <a:pt x="29482" y="1376"/>
                  <a:pt x="29472" y="1377"/>
                  <a:pt x="29463" y="1377"/>
                </a:cubicBezTo>
                <a:lnTo>
                  <a:pt x="146" y="1377"/>
                </a:lnTo>
                <a:cubicBezTo>
                  <a:pt x="136" y="1377"/>
                  <a:pt x="127" y="1376"/>
                  <a:pt x="118" y="1374"/>
                </a:cubicBezTo>
                <a:cubicBezTo>
                  <a:pt x="108" y="1372"/>
                  <a:pt x="99" y="1369"/>
                  <a:pt x="90" y="1366"/>
                </a:cubicBezTo>
                <a:cubicBezTo>
                  <a:pt x="81" y="1362"/>
                  <a:pt x="73" y="1357"/>
                  <a:pt x="65" y="1352"/>
                </a:cubicBezTo>
                <a:cubicBezTo>
                  <a:pt x="57" y="1347"/>
                  <a:pt x="50" y="1341"/>
                  <a:pt x="43" y="1334"/>
                </a:cubicBezTo>
                <a:cubicBezTo>
                  <a:pt x="36" y="1327"/>
                  <a:pt x="30" y="1320"/>
                  <a:pt x="25" y="1312"/>
                </a:cubicBezTo>
                <a:cubicBezTo>
                  <a:pt x="20" y="1304"/>
                  <a:pt x="15" y="1296"/>
                  <a:pt x="11" y="1287"/>
                </a:cubicBezTo>
                <a:cubicBezTo>
                  <a:pt x="8" y="1278"/>
                  <a:pt x="5" y="1269"/>
                  <a:pt x="3" y="1260"/>
                </a:cubicBezTo>
                <a:cubicBezTo>
                  <a:pt x="1" y="1250"/>
                  <a:pt x="0" y="1241"/>
                  <a:pt x="0" y="1231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66440" y="3414600"/>
            <a:ext cx="10658880" cy="495720"/>
          </a:xfrm>
          <a:custGeom>
            <a:avLst/>
            <a:gdLst/>
            <a:ahLst/>
            <a:rect l="0" t="0" r="r" b="b"/>
            <a:pathLst>
              <a:path fill="none" w="29608" h="1377">
                <a:moveTo>
                  <a:pt x="0" y="123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231"/>
                </a:lnTo>
                <a:cubicBezTo>
                  <a:pt x="29608" y="1241"/>
                  <a:pt x="29607" y="1250"/>
                  <a:pt x="29605" y="1260"/>
                </a:cubicBezTo>
                <a:cubicBezTo>
                  <a:pt x="29604" y="1269"/>
                  <a:pt x="29601" y="1278"/>
                  <a:pt x="29597" y="1287"/>
                </a:cubicBezTo>
                <a:cubicBezTo>
                  <a:pt x="29594" y="1296"/>
                  <a:pt x="29589" y="1304"/>
                  <a:pt x="29584" y="1312"/>
                </a:cubicBezTo>
                <a:cubicBezTo>
                  <a:pt x="29578" y="1320"/>
                  <a:pt x="29572" y="1327"/>
                  <a:pt x="29566" y="1334"/>
                </a:cubicBezTo>
                <a:cubicBezTo>
                  <a:pt x="29559" y="1341"/>
                  <a:pt x="29552" y="1347"/>
                  <a:pt x="29544" y="1352"/>
                </a:cubicBezTo>
                <a:cubicBezTo>
                  <a:pt x="29536" y="1357"/>
                  <a:pt x="29527" y="1362"/>
                  <a:pt x="29518" y="1366"/>
                </a:cubicBezTo>
                <a:cubicBezTo>
                  <a:pt x="29510" y="1369"/>
                  <a:pt x="29501" y="1372"/>
                  <a:pt x="29491" y="1374"/>
                </a:cubicBezTo>
                <a:cubicBezTo>
                  <a:pt x="29482" y="1376"/>
                  <a:pt x="29472" y="1377"/>
                  <a:pt x="29463" y="1377"/>
                </a:cubicBezTo>
                <a:lnTo>
                  <a:pt x="146" y="1377"/>
                </a:lnTo>
                <a:cubicBezTo>
                  <a:pt x="136" y="1377"/>
                  <a:pt x="127" y="1376"/>
                  <a:pt x="118" y="1374"/>
                </a:cubicBezTo>
                <a:cubicBezTo>
                  <a:pt x="108" y="1372"/>
                  <a:pt x="99" y="1369"/>
                  <a:pt x="90" y="1366"/>
                </a:cubicBezTo>
                <a:cubicBezTo>
                  <a:pt x="81" y="1362"/>
                  <a:pt x="73" y="1357"/>
                  <a:pt x="65" y="1352"/>
                </a:cubicBezTo>
                <a:cubicBezTo>
                  <a:pt x="57" y="1347"/>
                  <a:pt x="50" y="1341"/>
                  <a:pt x="43" y="1334"/>
                </a:cubicBezTo>
                <a:cubicBezTo>
                  <a:pt x="36" y="1327"/>
                  <a:pt x="30" y="1320"/>
                  <a:pt x="25" y="1312"/>
                </a:cubicBezTo>
                <a:cubicBezTo>
                  <a:pt x="20" y="1304"/>
                  <a:pt x="15" y="1296"/>
                  <a:pt x="11" y="1287"/>
                </a:cubicBezTo>
                <a:cubicBezTo>
                  <a:pt x="8" y="1278"/>
                  <a:pt x="5" y="1269"/>
                  <a:pt x="3" y="1260"/>
                </a:cubicBezTo>
                <a:cubicBezTo>
                  <a:pt x="1" y="1250"/>
                  <a:pt x="0" y="1241"/>
                  <a:pt x="0" y="1231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762120" y="372600"/>
            <a:ext cx="7797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Shapes Our Lives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923760" y="3519000"/>
            <a:ext cx="5228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Understanding design requires serious philosophical work.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766440" y="2690640"/>
            <a:ext cx="5277240" cy="2210040"/>
          </a:xfrm>
          <a:custGeom>
            <a:avLst/>
            <a:gdLst/>
            <a:ahLst/>
            <a:rect l="0" t="0" r="r" b="b"/>
            <a:pathLst>
              <a:path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7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8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766440" y="2690640"/>
            <a:ext cx="5277240" cy="2210040"/>
          </a:xfrm>
          <a:custGeom>
            <a:avLst/>
            <a:gdLst/>
            <a:ahLst/>
            <a:rect l="0" t="0" r="r" b="b"/>
            <a:pathLst>
              <a:path fill="none"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7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8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762120" y="372600"/>
            <a:ext cx="94888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What is Philosophy of Design?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923760" y="2894400"/>
            <a:ext cx="12049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Deﬁnition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923760" y="3357000"/>
            <a:ext cx="4965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= the pursuit of insights about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923760" y="3633120"/>
            <a:ext cx="3446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through philosophical means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923760" y="3957120"/>
            <a:ext cx="4567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 addresses fundamental, abstract questions about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923760" y="4233240"/>
            <a:ext cx="465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design—more general than everyday design practice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6148080" y="2690640"/>
            <a:ext cx="5277240" cy="2210040"/>
          </a:xfrm>
          <a:custGeom>
            <a:avLst/>
            <a:gdLst/>
            <a:ahLst/>
            <a:rect l="0" t="0" r="r" b="b"/>
            <a:pathLst>
              <a:path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6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7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f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6148080" y="2690640"/>
            <a:ext cx="5277240" cy="2210040"/>
          </a:xfrm>
          <a:custGeom>
            <a:avLst/>
            <a:gdLst/>
            <a:ahLst/>
            <a:rect l="0" t="0" r="r" b="b"/>
            <a:pathLst>
              <a:path fill="none"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6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7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</a:path>
            </a:pathLst>
          </a:custGeom>
          <a:ln w="9360">
            <a:solidFill>
              <a:srgbClr val="ffd9b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923760" y="4509360"/>
            <a:ext cx="922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questions.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305400" y="2894400"/>
            <a:ext cx="171288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Core Principle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305400" y="3357000"/>
            <a:ext cx="492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Our philosophies (conscious or unconscious) shape our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305400" y="3633120"/>
            <a:ext cx="4876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actions. Design philosophy's impact on practice can be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305400" y="3899880"/>
            <a:ext cx="3041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devastating 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if poorly understood.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305400" y="4233240"/>
            <a:ext cx="4670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Improving design requires improving the philosophy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6305400" y="4509360"/>
            <a:ext cx="2448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underlying design thinking.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" descr=""/>
          <p:cNvPicPr/>
          <p:nvPr/>
        </p:nvPicPr>
        <p:blipFill>
          <a:blip r:embed="rId2"/>
          <a:stretch/>
        </p:blipFill>
        <p:spPr>
          <a:xfrm>
            <a:off x="762120" y="2800440"/>
            <a:ext cx="7467120" cy="116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"/>
          <p:cNvSpPr txBox="1"/>
          <p:nvPr/>
        </p:nvSpPr>
        <p:spPr>
          <a:xfrm>
            <a:off x="762120" y="4223160"/>
            <a:ext cx="6318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Five clusters of questions structure the ﬁeld—from what design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143120" y="4223160"/>
            <a:ext cx="2026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256520" y="4223160"/>
            <a:ext cx="1603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, to how we can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8911440" y="4223160"/>
            <a:ext cx="5414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know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9388800" y="4223160"/>
            <a:ext cx="1589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about designed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762120" y="4518360"/>
            <a:ext cx="734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things, to what design theory should look like, and what use any of this is.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762120" y="-8280"/>
            <a:ext cx="83714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Key Research Questions in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62120" y="753480"/>
            <a:ext cx="66841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Philosophy of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"/>
          <p:cNvSpPr/>
          <p:nvPr/>
        </p:nvSpPr>
        <p:spPr>
          <a:xfrm>
            <a:off x="971280" y="3476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62120" y="2868840"/>
            <a:ext cx="230976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Nature of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971280" y="3828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168200" y="3385080"/>
            <a:ext cx="7798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distinguishes design from other intellectual endeavors (science, art, etc.)?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97128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168200" y="3737520"/>
            <a:ext cx="5198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are "design" and "artefact" conceptually related?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71280" y="4543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1168200" y="4099320"/>
            <a:ext cx="8064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 it necessary, suﬃcient, or both, that something was designed to be an artefact?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168200" y="4451760"/>
            <a:ext cx="7635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there be artefacts without design? Can there be design without artefacts?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847440" y="2327400"/>
            <a:ext cx="810000" cy="765000"/>
          </a:xfrm>
          <a:custGeom>
            <a:avLst/>
            <a:gdLst/>
            <a:ahLst/>
            <a:rect l="0" t="0" r="r" b="b"/>
            <a:pathLst>
              <a:path w="2250" h="2125">
                <a:moveTo>
                  <a:pt x="1126" y="0"/>
                </a:moveTo>
                <a:cubicBezTo>
                  <a:pt x="504" y="0"/>
                  <a:pt x="0" y="391"/>
                  <a:pt x="0" y="874"/>
                </a:cubicBezTo>
                <a:cubicBezTo>
                  <a:pt x="0" y="1148"/>
                  <a:pt x="161" y="1392"/>
                  <a:pt x="413" y="1552"/>
                </a:cubicBezTo>
                <a:cubicBezTo>
                  <a:pt x="380" y="1697"/>
                  <a:pt x="304" y="1911"/>
                  <a:pt x="125" y="2125"/>
                </a:cubicBezTo>
                <a:cubicBezTo>
                  <a:pt x="485" y="2065"/>
                  <a:pt x="715" y="1890"/>
                  <a:pt x="857" y="1724"/>
                </a:cubicBezTo>
                <a:cubicBezTo>
                  <a:pt x="943" y="1740"/>
                  <a:pt x="1033" y="1750"/>
                  <a:pt x="1126" y="1750"/>
                </a:cubicBezTo>
                <a:cubicBezTo>
                  <a:pt x="1747" y="1750"/>
                  <a:pt x="2250" y="1359"/>
                  <a:pt x="2250" y="874"/>
                </a:cubicBezTo>
                <a:cubicBezTo>
                  <a:pt x="2250" y="391"/>
                  <a:pt x="1747" y="0"/>
                  <a:pt x="1126" y="0"/>
                </a:cubicBezTo>
                <a:close/>
              </a:path>
            </a:pathLst>
          </a:custGeom>
          <a:solidFill>
            <a:srgbClr val="bddd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207440" y="2597400"/>
            <a:ext cx="90360" cy="90000"/>
          </a:xfrm>
          <a:custGeom>
            <a:avLst/>
            <a:gdLst/>
            <a:ahLst/>
            <a:rect l="0" t="0" r="r" b="b"/>
            <a:pathLst>
              <a:path w="251" h="250">
                <a:moveTo>
                  <a:pt x="251" y="124"/>
                </a:moveTo>
                <a:cubicBezTo>
                  <a:pt x="251" y="142"/>
                  <a:pt x="248" y="158"/>
                  <a:pt x="241" y="173"/>
                </a:cubicBezTo>
                <a:cubicBezTo>
                  <a:pt x="235" y="189"/>
                  <a:pt x="226" y="202"/>
                  <a:pt x="214" y="214"/>
                </a:cubicBezTo>
                <a:cubicBezTo>
                  <a:pt x="202" y="226"/>
                  <a:pt x="189" y="235"/>
                  <a:pt x="174" y="241"/>
                </a:cubicBezTo>
                <a:cubicBezTo>
                  <a:pt x="158" y="247"/>
                  <a:pt x="142" y="250"/>
                  <a:pt x="126" y="250"/>
                </a:cubicBezTo>
                <a:cubicBezTo>
                  <a:pt x="109" y="250"/>
                  <a:pt x="93" y="247"/>
                  <a:pt x="78" y="241"/>
                </a:cubicBezTo>
                <a:cubicBezTo>
                  <a:pt x="63" y="235"/>
                  <a:pt x="49" y="226"/>
                  <a:pt x="37" y="214"/>
                </a:cubicBezTo>
                <a:cubicBezTo>
                  <a:pt x="26" y="202"/>
                  <a:pt x="17" y="189"/>
                  <a:pt x="10" y="173"/>
                </a:cubicBezTo>
                <a:cubicBezTo>
                  <a:pt x="3" y="158"/>
                  <a:pt x="0" y="142"/>
                  <a:pt x="0" y="124"/>
                </a:cubicBezTo>
                <a:cubicBezTo>
                  <a:pt x="0" y="108"/>
                  <a:pt x="3" y="92"/>
                  <a:pt x="10" y="77"/>
                </a:cubicBezTo>
                <a:cubicBezTo>
                  <a:pt x="17" y="61"/>
                  <a:pt x="26" y="48"/>
                  <a:pt x="37" y="36"/>
                </a:cubicBezTo>
                <a:cubicBezTo>
                  <a:pt x="49" y="24"/>
                  <a:pt x="63" y="15"/>
                  <a:pt x="78" y="9"/>
                </a:cubicBezTo>
                <a:cubicBezTo>
                  <a:pt x="93" y="3"/>
                  <a:pt x="109" y="0"/>
                  <a:pt x="126" y="0"/>
                </a:cubicBezTo>
                <a:cubicBezTo>
                  <a:pt x="142" y="0"/>
                  <a:pt x="158" y="3"/>
                  <a:pt x="174" y="9"/>
                </a:cubicBezTo>
                <a:cubicBezTo>
                  <a:pt x="189" y="15"/>
                  <a:pt x="202" y="24"/>
                  <a:pt x="214" y="36"/>
                </a:cubicBezTo>
                <a:cubicBezTo>
                  <a:pt x="226" y="48"/>
                  <a:pt x="235" y="61"/>
                  <a:pt x="241" y="77"/>
                </a:cubicBezTo>
                <a:cubicBezTo>
                  <a:pt x="248" y="92"/>
                  <a:pt x="251" y="108"/>
                  <a:pt x="251" y="12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1387440" y="2597400"/>
            <a:ext cx="90000" cy="90000"/>
          </a:xfrm>
          <a:custGeom>
            <a:avLst/>
            <a:gdLst/>
            <a:ahLst/>
            <a:rect l="0" t="0" r="r" b="b"/>
            <a:pathLst>
              <a:path w="250" h="250">
                <a:moveTo>
                  <a:pt x="250" y="124"/>
                </a:moveTo>
                <a:cubicBezTo>
                  <a:pt x="250" y="142"/>
                  <a:pt x="247" y="158"/>
                  <a:pt x="241" y="173"/>
                </a:cubicBezTo>
                <a:cubicBezTo>
                  <a:pt x="235" y="189"/>
                  <a:pt x="226" y="202"/>
                  <a:pt x="214" y="214"/>
                </a:cubicBezTo>
                <a:cubicBezTo>
                  <a:pt x="202" y="226"/>
                  <a:pt x="189" y="235"/>
                  <a:pt x="173" y="241"/>
                </a:cubicBezTo>
                <a:cubicBezTo>
                  <a:pt x="158" y="247"/>
                  <a:pt x="142" y="250"/>
                  <a:pt x="126" y="250"/>
                </a:cubicBezTo>
                <a:cubicBezTo>
                  <a:pt x="109" y="250"/>
                  <a:pt x="93" y="247"/>
                  <a:pt x="78" y="241"/>
                </a:cubicBezTo>
                <a:cubicBezTo>
                  <a:pt x="62" y="235"/>
                  <a:pt x="49" y="226"/>
                  <a:pt x="37" y="214"/>
                </a:cubicBezTo>
                <a:cubicBezTo>
                  <a:pt x="25" y="202"/>
                  <a:pt x="16" y="189"/>
                  <a:pt x="10" y="173"/>
                </a:cubicBezTo>
                <a:cubicBezTo>
                  <a:pt x="3" y="158"/>
                  <a:pt x="0" y="142"/>
                  <a:pt x="0" y="124"/>
                </a:cubicBezTo>
                <a:cubicBezTo>
                  <a:pt x="0" y="108"/>
                  <a:pt x="3" y="92"/>
                  <a:pt x="10" y="77"/>
                </a:cubicBezTo>
                <a:cubicBezTo>
                  <a:pt x="16" y="61"/>
                  <a:pt x="25" y="48"/>
                  <a:pt x="37" y="36"/>
                </a:cubicBezTo>
                <a:cubicBezTo>
                  <a:pt x="49" y="24"/>
                  <a:pt x="62" y="15"/>
                  <a:pt x="78" y="9"/>
                </a:cubicBezTo>
                <a:cubicBezTo>
                  <a:pt x="93" y="3"/>
                  <a:pt x="109" y="0"/>
                  <a:pt x="126" y="0"/>
                </a:cubicBezTo>
                <a:cubicBezTo>
                  <a:pt x="142" y="0"/>
                  <a:pt x="158" y="3"/>
                  <a:pt x="173" y="9"/>
                </a:cubicBezTo>
                <a:cubicBezTo>
                  <a:pt x="189" y="15"/>
                  <a:pt x="202" y="24"/>
                  <a:pt x="214" y="36"/>
                </a:cubicBezTo>
                <a:cubicBezTo>
                  <a:pt x="226" y="48"/>
                  <a:pt x="235" y="61"/>
                  <a:pt x="241" y="77"/>
                </a:cubicBezTo>
                <a:cubicBezTo>
                  <a:pt x="247" y="92"/>
                  <a:pt x="250" y="108"/>
                  <a:pt x="250" y="12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1027440" y="2597400"/>
            <a:ext cx="90360" cy="90000"/>
          </a:xfrm>
          <a:custGeom>
            <a:avLst/>
            <a:gdLst/>
            <a:ahLst/>
            <a:rect l="0" t="0" r="r" b="b"/>
            <a:pathLst>
              <a:path w="251" h="250">
                <a:moveTo>
                  <a:pt x="251" y="124"/>
                </a:moveTo>
                <a:cubicBezTo>
                  <a:pt x="251" y="142"/>
                  <a:pt x="248" y="158"/>
                  <a:pt x="241" y="173"/>
                </a:cubicBezTo>
                <a:cubicBezTo>
                  <a:pt x="235" y="189"/>
                  <a:pt x="226" y="202"/>
                  <a:pt x="214" y="214"/>
                </a:cubicBezTo>
                <a:cubicBezTo>
                  <a:pt x="203" y="226"/>
                  <a:pt x="189" y="235"/>
                  <a:pt x="174" y="241"/>
                </a:cubicBezTo>
                <a:cubicBezTo>
                  <a:pt x="159" y="247"/>
                  <a:pt x="143" y="250"/>
                  <a:pt x="126" y="250"/>
                </a:cubicBezTo>
                <a:cubicBezTo>
                  <a:pt x="109" y="250"/>
                  <a:pt x="93" y="247"/>
                  <a:pt x="78" y="241"/>
                </a:cubicBezTo>
                <a:cubicBezTo>
                  <a:pt x="63" y="235"/>
                  <a:pt x="49" y="226"/>
                  <a:pt x="38" y="214"/>
                </a:cubicBezTo>
                <a:cubicBezTo>
                  <a:pt x="26" y="202"/>
                  <a:pt x="17" y="189"/>
                  <a:pt x="11" y="173"/>
                </a:cubicBezTo>
                <a:cubicBezTo>
                  <a:pt x="3" y="158"/>
                  <a:pt x="0" y="142"/>
                  <a:pt x="0" y="124"/>
                </a:cubicBezTo>
                <a:cubicBezTo>
                  <a:pt x="0" y="108"/>
                  <a:pt x="3" y="92"/>
                  <a:pt x="11" y="77"/>
                </a:cubicBezTo>
                <a:cubicBezTo>
                  <a:pt x="17" y="61"/>
                  <a:pt x="26" y="48"/>
                  <a:pt x="38" y="36"/>
                </a:cubicBezTo>
                <a:cubicBezTo>
                  <a:pt x="49" y="24"/>
                  <a:pt x="63" y="15"/>
                  <a:pt x="78" y="9"/>
                </a:cubicBezTo>
                <a:cubicBezTo>
                  <a:pt x="93" y="3"/>
                  <a:pt x="109" y="0"/>
                  <a:pt x="126" y="0"/>
                </a:cubicBezTo>
                <a:cubicBezTo>
                  <a:pt x="143" y="0"/>
                  <a:pt x="159" y="3"/>
                  <a:pt x="174" y="9"/>
                </a:cubicBezTo>
                <a:cubicBezTo>
                  <a:pt x="189" y="15"/>
                  <a:pt x="203" y="24"/>
                  <a:pt x="214" y="36"/>
                </a:cubicBezTo>
                <a:cubicBezTo>
                  <a:pt x="226" y="48"/>
                  <a:pt x="235" y="61"/>
                  <a:pt x="241" y="77"/>
                </a:cubicBezTo>
                <a:cubicBezTo>
                  <a:pt x="248" y="92"/>
                  <a:pt x="251" y="108"/>
                  <a:pt x="251" y="124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696680" y="2252520"/>
            <a:ext cx="6165720" cy="955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Turn and Talk</a:t>
            </a:r>
            <a:endParaRPr b="0" lang="en-US" sz="6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762120" y="3927960"/>
            <a:ext cx="8168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there be artefacts without design? Can there be design without artefacts?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762120" y="4680720"/>
            <a:ext cx="1130400" cy="597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0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4:00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994400" y="4975560"/>
            <a:ext cx="792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minutes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"/>
          <p:cNvSpPr/>
          <p:nvPr/>
        </p:nvSpPr>
        <p:spPr>
          <a:xfrm>
            <a:off x="971280" y="3476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762120" y="2868840"/>
            <a:ext cx="32328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Epistemology of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971280" y="3828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168200" y="3385080"/>
            <a:ext cx="7079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do designers talk meaningfully about artefacts that don't yet exist?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97128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168200" y="3737520"/>
            <a:ext cx="831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Are statements of design discourse true, false, or meaningful? What makes them so?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971280" y="4543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168200" y="4099320"/>
            <a:ext cx="7324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designers know or predict properties of artefacts not yet constructed?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168200" y="4451760"/>
            <a:ext cx="6226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ontological and epistemological assumptions enable this?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"/>
          <p:cNvSpPr/>
          <p:nvPr/>
        </p:nvSpPr>
        <p:spPr>
          <a:xfrm>
            <a:off x="971280" y="3504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8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762120" y="2897280"/>
            <a:ext cx="23490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Theory of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971280" y="3857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168200" y="3413520"/>
            <a:ext cx="6781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should universals (properties/concepts) relate to design theory?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168200" y="3765960"/>
            <a:ext cx="10123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Are there nominalist, conceptualist, and realist theories of design (mirroring philosophy of universals)?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971280" y="451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168200" y="4070880"/>
            <a:ext cx="131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(HOMEWORK)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168200" y="4423320"/>
            <a:ext cx="9163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would design theories of each type look like, and what are their strengths/weaknesses?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"/>
          <p:cNvSpPr/>
          <p:nvPr/>
        </p:nvSpPr>
        <p:spPr>
          <a:xfrm>
            <a:off x="971280" y="3476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62120" y="2868840"/>
            <a:ext cx="395208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Relationships to Other Fields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971280" y="3828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168200" y="3385080"/>
            <a:ext cx="600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does philosophy of design relate to general philosophy?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97128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168200" y="3737520"/>
            <a:ext cx="8970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Are central design problems special cases of familiar philosophical problems, or new ones?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971280" y="4543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168200" y="4099320"/>
            <a:ext cx="6782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philosophy of design oﬀer insights to other philosophical ﬁelds?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168200" y="4451760"/>
            <a:ext cx="5806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other ﬁelds of philosophy illuminate design problems?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"/>
          <p:cNvSpPr/>
          <p:nvPr/>
        </p:nvSpPr>
        <p:spPr>
          <a:xfrm>
            <a:off x="971280" y="365724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30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30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762120" y="3049920"/>
            <a:ext cx="293148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Practical Applications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971280" y="40096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9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168200" y="3565800"/>
            <a:ext cx="5017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philosophy of design improve design practice?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971280" y="4362120"/>
            <a:ext cx="66960" cy="67680"/>
          </a:xfrm>
          <a:custGeom>
            <a:avLst/>
            <a:gdLst/>
            <a:ahLst/>
            <a:rect l="0" t="0" r="r" b="b"/>
            <a:pathLst>
              <a:path w="186" h="188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8"/>
                  <a:pt x="93" y="188"/>
                </a:cubicBezTo>
                <a:cubicBezTo>
                  <a:pt x="81" y="188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9"/>
                </a:cubicBezTo>
                <a:cubicBezTo>
                  <a:pt x="12" y="47"/>
                  <a:pt x="19" y="37"/>
                  <a:pt x="27" y="29"/>
                </a:cubicBezTo>
                <a:cubicBezTo>
                  <a:pt x="36" y="20"/>
                  <a:pt x="46" y="13"/>
                  <a:pt x="57" y="8"/>
                </a:cubicBezTo>
                <a:cubicBezTo>
                  <a:pt x="69" y="4"/>
                  <a:pt x="81" y="0"/>
                  <a:pt x="93" y="0"/>
                </a:cubicBezTo>
                <a:cubicBezTo>
                  <a:pt x="105" y="0"/>
                  <a:pt x="117" y="4"/>
                  <a:pt x="128" y="8"/>
                </a:cubicBezTo>
                <a:cubicBezTo>
                  <a:pt x="140" y="13"/>
                  <a:pt x="150" y="20"/>
                  <a:pt x="158" y="29"/>
                </a:cubicBezTo>
                <a:cubicBezTo>
                  <a:pt x="167" y="37"/>
                  <a:pt x="175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68200" y="3918240"/>
            <a:ext cx="8792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it lead to better artefacts, better design methods, better use of computers in design?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168200" y="4270680"/>
            <a:ext cx="5477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use can designers make of philosophical insights?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"/>
          <p:cNvSpPr/>
          <p:nvPr/>
        </p:nvSpPr>
        <p:spPr>
          <a:xfrm>
            <a:off x="971280" y="2876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762120" y="2327760"/>
            <a:ext cx="2622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uses: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1168200" y="2784960"/>
            <a:ext cx="456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Rational and critical reﬂection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(not empirical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971280" y="35431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168200" y="3089520"/>
            <a:ext cx="1817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observation alone)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971280" y="38955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3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168200" y="3451680"/>
            <a:ext cx="4528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Conceptual analysis and argumentative power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971280" y="42480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168200" y="3804120"/>
            <a:ext cx="4201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Methods that transcend empirical research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168200" y="4156560"/>
            <a:ext cx="4343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Cultivation of awareness about fundamental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168200" y="4461120"/>
            <a:ext cx="1249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assumptions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62120" y="-8280"/>
            <a:ext cx="10326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Methodology: How Philosophy of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6938640" y="2414520"/>
            <a:ext cx="4486680" cy="2762640"/>
          </a:xfrm>
          <a:custGeom>
            <a:avLst/>
            <a:gdLst/>
            <a:ahLst/>
            <a:rect l="0" t="0" r="r" b="b"/>
            <a:pathLst>
              <a:path w="12463" h="7674">
                <a:moveTo>
                  <a:pt x="0" y="75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2318" y="0"/>
                </a:lnTo>
                <a:cubicBezTo>
                  <a:pt x="12327" y="0"/>
                  <a:pt x="12337" y="1"/>
                  <a:pt x="12346" y="2"/>
                </a:cubicBezTo>
                <a:cubicBezTo>
                  <a:pt x="12356" y="4"/>
                  <a:pt x="12365" y="7"/>
                  <a:pt x="12373" y="11"/>
                </a:cubicBezTo>
                <a:cubicBezTo>
                  <a:pt x="12382" y="14"/>
                  <a:pt x="12391" y="19"/>
                  <a:pt x="12399" y="24"/>
                </a:cubicBezTo>
                <a:cubicBezTo>
                  <a:pt x="12407" y="30"/>
                  <a:pt x="12414" y="36"/>
                  <a:pt x="12421" y="42"/>
                </a:cubicBezTo>
                <a:cubicBezTo>
                  <a:pt x="12427" y="49"/>
                  <a:pt x="12433" y="56"/>
                  <a:pt x="12439" y="64"/>
                </a:cubicBezTo>
                <a:cubicBezTo>
                  <a:pt x="12444" y="72"/>
                  <a:pt x="12449" y="81"/>
                  <a:pt x="12452" y="90"/>
                </a:cubicBezTo>
                <a:cubicBezTo>
                  <a:pt x="12456" y="98"/>
                  <a:pt x="12459" y="107"/>
                  <a:pt x="12460" y="117"/>
                </a:cubicBezTo>
                <a:cubicBezTo>
                  <a:pt x="12462" y="126"/>
                  <a:pt x="12463" y="136"/>
                  <a:pt x="12463" y="145"/>
                </a:cubicBezTo>
                <a:lnTo>
                  <a:pt x="12463" y="7528"/>
                </a:lnTo>
                <a:cubicBezTo>
                  <a:pt x="12463" y="7538"/>
                  <a:pt x="12462" y="7547"/>
                  <a:pt x="12460" y="7556"/>
                </a:cubicBezTo>
                <a:cubicBezTo>
                  <a:pt x="12459" y="7566"/>
                  <a:pt x="12456" y="7575"/>
                  <a:pt x="12452" y="7584"/>
                </a:cubicBezTo>
                <a:cubicBezTo>
                  <a:pt x="12449" y="7593"/>
                  <a:pt x="12444" y="7601"/>
                  <a:pt x="12439" y="7609"/>
                </a:cubicBezTo>
                <a:cubicBezTo>
                  <a:pt x="12433" y="7617"/>
                  <a:pt x="12427" y="7624"/>
                  <a:pt x="12421" y="7631"/>
                </a:cubicBezTo>
                <a:cubicBezTo>
                  <a:pt x="12414" y="7638"/>
                  <a:pt x="12407" y="7644"/>
                  <a:pt x="12399" y="7649"/>
                </a:cubicBezTo>
                <a:cubicBezTo>
                  <a:pt x="12391" y="7654"/>
                  <a:pt x="12382" y="7659"/>
                  <a:pt x="12373" y="7663"/>
                </a:cubicBezTo>
                <a:cubicBezTo>
                  <a:pt x="12365" y="7666"/>
                  <a:pt x="12356" y="7669"/>
                  <a:pt x="12346" y="7671"/>
                </a:cubicBezTo>
                <a:cubicBezTo>
                  <a:pt x="12337" y="7673"/>
                  <a:pt x="12327" y="7674"/>
                  <a:pt x="12318" y="7674"/>
                </a:cubicBezTo>
                <a:lnTo>
                  <a:pt x="146" y="7674"/>
                </a:lnTo>
                <a:cubicBezTo>
                  <a:pt x="136" y="7674"/>
                  <a:pt x="127" y="7673"/>
                  <a:pt x="118" y="7671"/>
                </a:cubicBezTo>
                <a:cubicBezTo>
                  <a:pt x="108" y="7669"/>
                  <a:pt x="99" y="7666"/>
                  <a:pt x="90" y="7663"/>
                </a:cubicBezTo>
                <a:cubicBezTo>
                  <a:pt x="81" y="7659"/>
                  <a:pt x="73" y="7654"/>
                  <a:pt x="65" y="7649"/>
                </a:cubicBezTo>
                <a:cubicBezTo>
                  <a:pt x="57" y="7644"/>
                  <a:pt x="50" y="7638"/>
                  <a:pt x="43" y="7631"/>
                </a:cubicBezTo>
                <a:cubicBezTo>
                  <a:pt x="36" y="7624"/>
                  <a:pt x="30" y="7617"/>
                  <a:pt x="25" y="7609"/>
                </a:cubicBezTo>
                <a:cubicBezTo>
                  <a:pt x="20" y="7601"/>
                  <a:pt x="15" y="7593"/>
                  <a:pt x="11" y="7584"/>
                </a:cubicBezTo>
                <a:cubicBezTo>
                  <a:pt x="8" y="7575"/>
                  <a:pt x="5" y="7566"/>
                  <a:pt x="3" y="7556"/>
                </a:cubicBezTo>
                <a:cubicBezTo>
                  <a:pt x="1" y="7547"/>
                  <a:pt x="0" y="7538"/>
                  <a:pt x="0" y="7528"/>
                </a:cubicBezTo>
                <a:close/>
              </a:path>
            </a:pathLst>
          </a:custGeom>
          <a:solidFill>
            <a:srgbClr val="ede8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6938640" y="2414520"/>
            <a:ext cx="4486680" cy="2762640"/>
          </a:xfrm>
          <a:custGeom>
            <a:avLst/>
            <a:gdLst/>
            <a:ahLst/>
            <a:rect l="0" t="0" r="r" b="b"/>
            <a:pathLst>
              <a:path fill="none" w="12463" h="7674">
                <a:moveTo>
                  <a:pt x="0" y="75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2318" y="0"/>
                </a:lnTo>
                <a:cubicBezTo>
                  <a:pt x="12327" y="0"/>
                  <a:pt x="12337" y="1"/>
                  <a:pt x="12346" y="2"/>
                </a:cubicBezTo>
                <a:cubicBezTo>
                  <a:pt x="12356" y="4"/>
                  <a:pt x="12365" y="7"/>
                  <a:pt x="12373" y="11"/>
                </a:cubicBezTo>
                <a:cubicBezTo>
                  <a:pt x="12382" y="14"/>
                  <a:pt x="12391" y="19"/>
                  <a:pt x="12399" y="24"/>
                </a:cubicBezTo>
                <a:cubicBezTo>
                  <a:pt x="12407" y="30"/>
                  <a:pt x="12414" y="36"/>
                  <a:pt x="12421" y="42"/>
                </a:cubicBezTo>
                <a:cubicBezTo>
                  <a:pt x="12427" y="49"/>
                  <a:pt x="12433" y="56"/>
                  <a:pt x="12439" y="64"/>
                </a:cubicBezTo>
                <a:cubicBezTo>
                  <a:pt x="12444" y="72"/>
                  <a:pt x="12449" y="81"/>
                  <a:pt x="12452" y="90"/>
                </a:cubicBezTo>
                <a:cubicBezTo>
                  <a:pt x="12456" y="98"/>
                  <a:pt x="12459" y="107"/>
                  <a:pt x="12460" y="117"/>
                </a:cubicBezTo>
                <a:cubicBezTo>
                  <a:pt x="12462" y="126"/>
                  <a:pt x="12463" y="136"/>
                  <a:pt x="12463" y="145"/>
                </a:cubicBezTo>
                <a:lnTo>
                  <a:pt x="12463" y="7528"/>
                </a:lnTo>
                <a:cubicBezTo>
                  <a:pt x="12463" y="7538"/>
                  <a:pt x="12462" y="7547"/>
                  <a:pt x="12460" y="7556"/>
                </a:cubicBezTo>
                <a:cubicBezTo>
                  <a:pt x="12459" y="7566"/>
                  <a:pt x="12456" y="7575"/>
                  <a:pt x="12452" y="7584"/>
                </a:cubicBezTo>
                <a:cubicBezTo>
                  <a:pt x="12449" y="7593"/>
                  <a:pt x="12444" y="7601"/>
                  <a:pt x="12439" y="7609"/>
                </a:cubicBezTo>
                <a:cubicBezTo>
                  <a:pt x="12433" y="7617"/>
                  <a:pt x="12427" y="7624"/>
                  <a:pt x="12421" y="7631"/>
                </a:cubicBezTo>
                <a:cubicBezTo>
                  <a:pt x="12414" y="7638"/>
                  <a:pt x="12407" y="7644"/>
                  <a:pt x="12399" y="7649"/>
                </a:cubicBezTo>
                <a:cubicBezTo>
                  <a:pt x="12391" y="7654"/>
                  <a:pt x="12382" y="7659"/>
                  <a:pt x="12373" y="7663"/>
                </a:cubicBezTo>
                <a:cubicBezTo>
                  <a:pt x="12365" y="7666"/>
                  <a:pt x="12356" y="7669"/>
                  <a:pt x="12346" y="7671"/>
                </a:cubicBezTo>
                <a:cubicBezTo>
                  <a:pt x="12337" y="7673"/>
                  <a:pt x="12327" y="7674"/>
                  <a:pt x="12318" y="7674"/>
                </a:cubicBezTo>
                <a:lnTo>
                  <a:pt x="146" y="7674"/>
                </a:lnTo>
                <a:cubicBezTo>
                  <a:pt x="136" y="7674"/>
                  <a:pt x="127" y="7673"/>
                  <a:pt x="118" y="7671"/>
                </a:cubicBezTo>
                <a:cubicBezTo>
                  <a:pt x="108" y="7669"/>
                  <a:pt x="99" y="7666"/>
                  <a:pt x="90" y="7663"/>
                </a:cubicBezTo>
                <a:cubicBezTo>
                  <a:pt x="81" y="7659"/>
                  <a:pt x="73" y="7654"/>
                  <a:pt x="65" y="7649"/>
                </a:cubicBezTo>
                <a:cubicBezTo>
                  <a:pt x="57" y="7644"/>
                  <a:pt x="50" y="7638"/>
                  <a:pt x="43" y="7631"/>
                </a:cubicBezTo>
                <a:cubicBezTo>
                  <a:pt x="36" y="7624"/>
                  <a:pt x="30" y="7617"/>
                  <a:pt x="25" y="7609"/>
                </a:cubicBezTo>
                <a:cubicBezTo>
                  <a:pt x="20" y="7601"/>
                  <a:pt x="15" y="7593"/>
                  <a:pt x="11" y="7584"/>
                </a:cubicBezTo>
                <a:cubicBezTo>
                  <a:pt x="8" y="7575"/>
                  <a:pt x="5" y="7566"/>
                  <a:pt x="3" y="7556"/>
                </a:cubicBezTo>
                <a:cubicBezTo>
                  <a:pt x="1" y="7547"/>
                  <a:pt x="0" y="7538"/>
                  <a:pt x="0" y="7528"/>
                </a:cubicBezTo>
              </a:path>
            </a:pathLst>
          </a:custGeom>
          <a:ln w="9360">
            <a:solidFill>
              <a:srgbClr val="c9b9f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62120" y="753480"/>
            <a:ext cx="4335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Works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7094160" y="2617920"/>
            <a:ext cx="21290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Why This Matters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7094160" y="3080880"/>
            <a:ext cx="3953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Empirical design research (protocol analysis,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7094160" y="3357000"/>
            <a:ext cx="3457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user studies, etc.) cannot answer these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094160" y="3633120"/>
            <a:ext cx="2099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fundamental questions.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7094160" y="3957120"/>
            <a:ext cx="4159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Protocol analysis won't tell you whether design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7094160" y="4233240"/>
            <a:ext cx="3816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 possible without artefacts—that requires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094160" y="4509360"/>
            <a:ext cx="4219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philosophical reﬂection on the nature of design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7094160" y="4785840"/>
            <a:ext cx="495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itself.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"/>
          <p:cNvSpPr/>
          <p:nvPr/>
        </p:nvSpPr>
        <p:spPr>
          <a:xfrm>
            <a:off x="761760" y="1380960"/>
            <a:ext cx="10668240" cy="5477040"/>
          </a:xfrm>
          <a:custGeom>
            <a:avLst/>
            <a:gdLst/>
            <a:ahLst/>
            <a:rect l="0" t="0" r="r" b="b"/>
            <a:pathLst>
              <a:path w="29634" h="15214">
                <a:moveTo>
                  <a:pt x="0" y="0"/>
                </a:moveTo>
                <a:lnTo>
                  <a:pt x="29634" y="0"/>
                </a:lnTo>
                <a:lnTo>
                  <a:pt x="29634" y="15214"/>
                </a:lnTo>
                <a:lnTo>
                  <a:pt x="0" y="152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6" name="" descr=""/>
          <p:cNvPicPr/>
          <p:nvPr/>
        </p:nvPicPr>
        <p:blipFill>
          <a:blip r:embed="rId2"/>
          <a:stretch/>
        </p:blipFill>
        <p:spPr>
          <a:xfrm>
            <a:off x="5753160" y="468612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762120" y="372600"/>
            <a:ext cx="35420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Motiviation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762120" y="-8280"/>
            <a:ext cx="81918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Why Philosophy of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766440" y="1500120"/>
            <a:ext cx="5277240" cy="2562480"/>
          </a:xfrm>
          <a:custGeom>
            <a:avLst/>
            <a:gdLst/>
            <a:ahLst/>
            <a:rect l="0" t="0" r="r" b="b"/>
            <a:pathLst>
              <a:path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7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8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766440" y="1500120"/>
            <a:ext cx="5277240" cy="2562480"/>
          </a:xfrm>
          <a:custGeom>
            <a:avLst/>
            <a:gdLst/>
            <a:ahLst/>
            <a:rect l="0" t="0" r="r" b="b"/>
            <a:pathLst>
              <a:path fill="none"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7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8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762120" y="753480"/>
            <a:ext cx="2385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Matters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1104840" y="22572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923760" y="1703520"/>
            <a:ext cx="251388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Design Research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289520" y="2166480"/>
            <a:ext cx="4527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Provides theoretical foundations for understanding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1104840" y="284796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0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3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5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8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289520" y="2432880"/>
            <a:ext cx="1276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design is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1104840" y="31716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289520" y="2756880"/>
            <a:ext cx="4557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Clariﬁes assumptions underlying research methods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6148080" y="1500120"/>
            <a:ext cx="5277240" cy="2562480"/>
          </a:xfrm>
          <a:custGeom>
            <a:avLst/>
            <a:gdLst/>
            <a:ahLst/>
            <a:rect l="0" t="0" r="r" b="b"/>
            <a:pathLst>
              <a:path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6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7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6148080" y="1500120"/>
            <a:ext cx="5277240" cy="2562480"/>
          </a:xfrm>
          <a:custGeom>
            <a:avLst/>
            <a:gdLst/>
            <a:ahLst/>
            <a:rect l="0" t="0" r="r" b="b"/>
            <a:pathLst>
              <a:path fill="none"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6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7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89520" y="3080880"/>
            <a:ext cx="4673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Connects design research to philosophical traditions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6486480" y="22572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305400" y="1703520"/>
            <a:ext cx="30283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Professional Practice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6486480" y="25714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40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71160" y="2166480"/>
            <a:ext cx="3928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improve design methods and processes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6486480" y="28954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6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6671160" y="2480760"/>
            <a:ext cx="3736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lead to better artefacts and outcomes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6671160" y="2804400"/>
            <a:ext cx="4474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improve how computers and tools are used in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6486480" y="34858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41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6671160" y="3080880"/>
            <a:ext cx="591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6671160" y="3395160"/>
            <a:ext cx="4669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Raises awareness of implicit assumptions that shape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766440" y="4300200"/>
            <a:ext cx="10658880" cy="2010240"/>
          </a:xfrm>
          <a:custGeom>
            <a:avLst/>
            <a:gdLst/>
            <a:ahLst/>
            <a:rect l="0" t="0" r="r" b="b"/>
            <a:pathLst>
              <a:path w="29608" h="5584">
                <a:moveTo>
                  <a:pt x="0" y="543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5439"/>
                </a:lnTo>
                <a:cubicBezTo>
                  <a:pt x="29608" y="5448"/>
                  <a:pt x="29607" y="5458"/>
                  <a:pt x="29605" y="5467"/>
                </a:cubicBezTo>
                <a:cubicBezTo>
                  <a:pt x="29604" y="5476"/>
                  <a:pt x="29601" y="5485"/>
                  <a:pt x="29597" y="5494"/>
                </a:cubicBezTo>
                <a:cubicBezTo>
                  <a:pt x="29594" y="5503"/>
                  <a:pt x="29589" y="5512"/>
                  <a:pt x="29584" y="5519"/>
                </a:cubicBezTo>
                <a:cubicBezTo>
                  <a:pt x="29578" y="5527"/>
                  <a:pt x="29572" y="5535"/>
                  <a:pt x="29566" y="5542"/>
                </a:cubicBezTo>
                <a:cubicBezTo>
                  <a:pt x="29559" y="5548"/>
                  <a:pt x="29552" y="5554"/>
                  <a:pt x="29544" y="5560"/>
                </a:cubicBezTo>
                <a:cubicBezTo>
                  <a:pt x="29536" y="5565"/>
                  <a:pt x="29527" y="5569"/>
                  <a:pt x="29518" y="5573"/>
                </a:cubicBezTo>
                <a:cubicBezTo>
                  <a:pt x="29510" y="5577"/>
                  <a:pt x="29501" y="5579"/>
                  <a:pt x="29491" y="5581"/>
                </a:cubicBezTo>
                <a:cubicBezTo>
                  <a:pt x="29482" y="5583"/>
                  <a:pt x="29472" y="5584"/>
                  <a:pt x="29463" y="5584"/>
                </a:cubicBezTo>
                <a:lnTo>
                  <a:pt x="146" y="5584"/>
                </a:lnTo>
                <a:cubicBezTo>
                  <a:pt x="136" y="5584"/>
                  <a:pt x="127" y="5583"/>
                  <a:pt x="118" y="5581"/>
                </a:cubicBezTo>
                <a:cubicBezTo>
                  <a:pt x="108" y="5579"/>
                  <a:pt x="99" y="5577"/>
                  <a:pt x="90" y="5573"/>
                </a:cubicBezTo>
                <a:cubicBezTo>
                  <a:pt x="81" y="5569"/>
                  <a:pt x="73" y="5565"/>
                  <a:pt x="65" y="5560"/>
                </a:cubicBezTo>
                <a:cubicBezTo>
                  <a:pt x="57" y="5554"/>
                  <a:pt x="50" y="5548"/>
                  <a:pt x="43" y="5542"/>
                </a:cubicBezTo>
                <a:cubicBezTo>
                  <a:pt x="36" y="5535"/>
                  <a:pt x="30" y="5527"/>
                  <a:pt x="25" y="5519"/>
                </a:cubicBezTo>
                <a:cubicBezTo>
                  <a:pt x="20" y="5512"/>
                  <a:pt x="15" y="5503"/>
                  <a:pt x="11" y="5494"/>
                </a:cubicBezTo>
                <a:cubicBezTo>
                  <a:pt x="8" y="5485"/>
                  <a:pt x="5" y="5476"/>
                  <a:pt x="3" y="5467"/>
                </a:cubicBezTo>
                <a:cubicBezTo>
                  <a:pt x="1" y="5458"/>
                  <a:pt x="0" y="5448"/>
                  <a:pt x="0" y="5439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766440" y="4300200"/>
            <a:ext cx="10658880" cy="2010240"/>
          </a:xfrm>
          <a:custGeom>
            <a:avLst/>
            <a:gdLst/>
            <a:ahLst/>
            <a:rect l="0" t="0" r="r" b="b"/>
            <a:pathLst>
              <a:path fill="none" w="29608" h="5584">
                <a:moveTo>
                  <a:pt x="0" y="543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5439"/>
                </a:lnTo>
                <a:cubicBezTo>
                  <a:pt x="29608" y="5448"/>
                  <a:pt x="29607" y="5458"/>
                  <a:pt x="29605" y="5467"/>
                </a:cubicBezTo>
                <a:cubicBezTo>
                  <a:pt x="29604" y="5476"/>
                  <a:pt x="29601" y="5485"/>
                  <a:pt x="29597" y="5494"/>
                </a:cubicBezTo>
                <a:cubicBezTo>
                  <a:pt x="29594" y="5503"/>
                  <a:pt x="29589" y="5512"/>
                  <a:pt x="29584" y="5519"/>
                </a:cubicBezTo>
                <a:cubicBezTo>
                  <a:pt x="29578" y="5527"/>
                  <a:pt x="29572" y="5535"/>
                  <a:pt x="29566" y="5542"/>
                </a:cubicBezTo>
                <a:cubicBezTo>
                  <a:pt x="29559" y="5548"/>
                  <a:pt x="29552" y="5554"/>
                  <a:pt x="29544" y="5560"/>
                </a:cubicBezTo>
                <a:cubicBezTo>
                  <a:pt x="29536" y="5565"/>
                  <a:pt x="29527" y="5569"/>
                  <a:pt x="29518" y="5573"/>
                </a:cubicBezTo>
                <a:cubicBezTo>
                  <a:pt x="29510" y="5577"/>
                  <a:pt x="29501" y="5579"/>
                  <a:pt x="29491" y="5581"/>
                </a:cubicBezTo>
                <a:cubicBezTo>
                  <a:pt x="29482" y="5583"/>
                  <a:pt x="29472" y="5584"/>
                  <a:pt x="29463" y="5584"/>
                </a:cubicBezTo>
                <a:lnTo>
                  <a:pt x="146" y="5584"/>
                </a:lnTo>
                <a:cubicBezTo>
                  <a:pt x="136" y="5584"/>
                  <a:pt x="127" y="5583"/>
                  <a:pt x="118" y="5581"/>
                </a:cubicBezTo>
                <a:cubicBezTo>
                  <a:pt x="108" y="5579"/>
                  <a:pt x="99" y="5577"/>
                  <a:pt x="90" y="5573"/>
                </a:cubicBezTo>
                <a:cubicBezTo>
                  <a:pt x="81" y="5569"/>
                  <a:pt x="73" y="5565"/>
                  <a:pt x="65" y="5560"/>
                </a:cubicBezTo>
                <a:cubicBezTo>
                  <a:pt x="57" y="5554"/>
                  <a:pt x="50" y="5548"/>
                  <a:pt x="43" y="5542"/>
                </a:cubicBezTo>
                <a:cubicBezTo>
                  <a:pt x="36" y="5535"/>
                  <a:pt x="30" y="5527"/>
                  <a:pt x="25" y="5519"/>
                </a:cubicBezTo>
                <a:cubicBezTo>
                  <a:pt x="20" y="5512"/>
                  <a:pt x="15" y="5503"/>
                  <a:pt x="11" y="5494"/>
                </a:cubicBezTo>
                <a:cubicBezTo>
                  <a:pt x="8" y="5485"/>
                  <a:pt x="5" y="5476"/>
                  <a:pt x="3" y="5467"/>
                </a:cubicBezTo>
                <a:cubicBezTo>
                  <a:pt x="1" y="5458"/>
                  <a:pt x="0" y="5448"/>
                  <a:pt x="0" y="5439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6671160" y="3671280"/>
            <a:ext cx="702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practice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1104840" y="50576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923760" y="4503960"/>
            <a:ext cx="26107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Design Education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1104840" y="53719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1"/>
                  <a:pt x="129" y="17"/>
                  <a:pt x="136" y="24"/>
                </a:cubicBezTo>
                <a:cubicBezTo>
                  <a:pt x="144" y="32"/>
                  <a:pt x="149" y="40"/>
                  <a:pt x="153" y="50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289520" y="4966560"/>
            <a:ext cx="4419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Shapes how designers think about their discipline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104840" y="569592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0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5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289520" y="5280840"/>
            <a:ext cx="483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Cultivates philosophical awareness in future designers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104840" y="601020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79"/>
                </a:moveTo>
                <a:cubicBezTo>
                  <a:pt x="159" y="90"/>
                  <a:pt x="157" y="100"/>
                  <a:pt x="153" y="109"/>
                </a:cubicBezTo>
                <a:cubicBezTo>
                  <a:pt x="149" y="119"/>
                  <a:pt x="144" y="128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8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289520" y="5604840"/>
            <a:ext cx="4405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Connects design to broader intellectual traditions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289520" y="5919120"/>
            <a:ext cx="3494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Improves the quality of design thinking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"/>
          <p:cNvSpPr/>
          <p:nvPr/>
        </p:nvSpPr>
        <p:spPr>
          <a:xfrm>
            <a:off x="971280" y="30002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62120" y="2451600"/>
            <a:ext cx="5223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is not merely technical problem-solving. It is: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971280" y="3352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168200" y="2908800"/>
            <a:ext cx="9614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philosophical endeavor involving fundamental questions about reality, knowledge, and purpose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971280" y="37051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168200" y="3261240"/>
            <a:ext cx="5829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Shaped by implicit philosophies that drive design decisions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971280" y="4066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168200" y="3613680"/>
            <a:ext cx="7546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practice that requires critical reﬂection on its own nature and assumptions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168200" y="3975480"/>
            <a:ext cx="7497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Essential to understanding how artefacts shape human life and environment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766440" y="4404960"/>
            <a:ext cx="10658880" cy="762480"/>
          </a:xfrm>
          <a:custGeom>
            <a:avLst/>
            <a:gdLst/>
            <a:ahLst/>
            <a:rect l="0" t="0" r="r" b="b"/>
            <a:pathLst>
              <a:path w="29608" h="2118">
                <a:moveTo>
                  <a:pt x="0" y="197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73"/>
                </a:lnTo>
                <a:cubicBezTo>
                  <a:pt x="29608" y="1982"/>
                  <a:pt x="29607" y="1992"/>
                  <a:pt x="29605" y="2001"/>
                </a:cubicBezTo>
                <a:cubicBezTo>
                  <a:pt x="29604" y="2010"/>
                  <a:pt x="29601" y="2019"/>
                  <a:pt x="29597" y="2028"/>
                </a:cubicBezTo>
                <a:cubicBezTo>
                  <a:pt x="29594" y="2037"/>
                  <a:pt x="29589" y="2046"/>
                  <a:pt x="29584" y="2053"/>
                </a:cubicBezTo>
                <a:cubicBezTo>
                  <a:pt x="29578" y="2061"/>
                  <a:pt x="29572" y="2069"/>
                  <a:pt x="29566" y="2076"/>
                </a:cubicBezTo>
                <a:cubicBezTo>
                  <a:pt x="29559" y="2082"/>
                  <a:pt x="29552" y="2088"/>
                  <a:pt x="29544" y="2094"/>
                </a:cubicBezTo>
                <a:cubicBezTo>
                  <a:pt x="29536" y="2099"/>
                  <a:pt x="29527" y="2103"/>
                  <a:pt x="29518" y="2107"/>
                </a:cubicBezTo>
                <a:cubicBezTo>
                  <a:pt x="29510" y="2111"/>
                  <a:pt x="29501" y="2113"/>
                  <a:pt x="29491" y="2115"/>
                </a:cubicBezTo>
                <a:cubicBezTo>
                  <a:pt x="29482" y="2117"/>
                  <a:pt x="29472" y="2118"/>
                  <a:pt x="29463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1"/>
                  <a:pt x="90" y="2107"/>
                </a:cubicBezTo>
                <a:cubicBezTo>
                  <a:pt x="81" y="2103"/>
                  <a:pt x="73" y="2099"/>
                  <a:pt x="65" y="2094"/>
                </a:cubicBezTo>
                <a:cubicBezTo>
                  <a:pt x="57" y="2088"/>
                  <a:pt x="50" y="2082"/>
                  <a:pt x="43" y="2076"/>
                </a:cubicBezTo>
                <a:cubicBezTo>
                  <a:pt x="36" y="2069"/>
                  <a:pt x="30" y="2061"/>
                  <a:pt x="25" y="2053"/>
                </a:cubicBezTo>
                <a:cubicBezTo>
                  <a:pt x="20" y="2046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2"/>
                  <a:pt x="0" y="1982"/>
                  <a:pt x="0" y="1973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766440" y="4404960"/>
            <a:ext cx="10658880" cy="762480"/>
          </a:xfrm>
          <a:custGeom>
            <a:avLst/>
            <a:gdLst/>
            <a:ahLst/>
            <a:rect l="0" t="0" r="r" b="b"/>
            <a:pathLst>
              <a:path fill="none" w="29608" h="2118">
                <a:moveTo>
                  <a:pt x="0" y="197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73"/>
                </a:lnTo>
                <a:cubicBezTo>
                  <a:pt x="29608" y="1982"/>
                  <a:pt x="29607" y="1992"/>
                  <a:pt x="29605" y="2001"/>
                </a:cubicBezTo>
                <a:cubicBezTo>
                  <a:pt x="29604" y="2010"/>
                  <a:pt x="29601" y="2019"/>
                  <a:pt x="29597" y="2028"/>
                </a:cubicBezTo>
                <a:cubicBezTo>
                  <a:pt x="29594" y="2037"/>
                  <a:pt x="29589" y="2046"/>
                  <a:pt x="29584" y="2053"/>
                </a:cubicBezTo>
                <a:cubicBezTo>
                  <a:pt x="29578" y="2061"/>
                  <a:pt x="29572" y="2069"/>
                  <a:pt x="29566" y="2076"/>
                </a:cubicBezTo>
                <a:cubicBezTo>
                  <a:pt x="29559" y="2082"/>
                  <a:pt x="29552" y="2088"/>
                  <a:pt x="29544" y="2094"/>
                </a:cubicBezTo>
                <a:cubicBezTo>
                  <a:pt x="29536" y="2099"/>
                  <a:pt x="29527" y="2103"/>
                  <a:pt x="29518" y="2107"/>
                </a:cubicBezTo>
                <a:cubicBezTo>
                  <a:pt x="29510" y="2111"/>
                  <a:pt x="29501" y="2113"/>
                  <a:pt x="29491" y="2115"/>
                </a:cubicBezTo>
                <a:cubicBezTo>
                  <a:pt x="29482" y="2117"/>
                  <a:pt x="29472" y="2118"/>
                  <a:pt x="29463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1"/>
                  <a:pt x="90" y="2107"/>
                </a:cubicBezTo>
                <a:cubicBezTo>
                  <a:pt x="81" y="2103"/>
                  <a:pt x="73" y="2099"/>
                  <a:pt x="65" y="2094"/>
                </a:cubicBezTo>
                <a:cubicBezTo>
                  <a:pt x="57" y="2088"/>
                  <a:pt x="50" y="2082"/>
                  <a:pt x="43" y="2076"/>
                </a:cubicBezTo>
                <a:cubicBezTo>
                  <a:pt x="36" y="2069"/>
                  <a:pt x="30" y="2061"/>
                  <a:pt x="25" y="2053"/>
                </a:cubicBezTo>
                <a:cubicBezTo>
                  <a:pt x="20" y="2046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2"/>
                  <a:pt x="0" y="1982"/>
                  <a:pt x="0" y="1973"/>
                </a:cubicBezTo>
              </a:path>
            </a:pathLst>
          </a:custGeom>
          <a:ln w="9360">
            <a:solidFill>
              <a:srgbClr val="d9d9d9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762120" y="372600"/>
            <a:ext cx="8139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as Shaping Reality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923760" y="4509360"/>
            <a:ext cx="9891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Just as science requires philosophy of science, design requires philosophy of design to be fully understood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923760" y="4776120"/>
            <a:ext cx="1280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practised well.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"/>
          <p:cNvSpPr txBox="1"/>
          <p:nvPr/>
        </p:nvSpPr>
        <p:spPr>
          <a:xfrm>
            <a:off x="762120" y="2765880"/>
            <a:ext cx="9486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is a young, cross-disciplinary ﬁeld pursuing insights about design through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62120" y="3070440"/>
            <a:ext cx="4394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philosophical—not purely empirical—means.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762120" y="3527640"/>
            <a:ext cx="10587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Its questions span the nature of design, the epistemology of talking about artefacts that don't yet exist, the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762120" y="3832560"/>
            <a:ext cx="8709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theory of design universals, design's relationship to other ﬁelds, and its practical payoﬀ.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762120" y="4280400"/>
            <a:ext cx="10352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Because our implicit philosophies already shape how we design, making them explicit is not an academic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762120" y="4584960"/>
            <a:ext cx="6561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luxury: it is how design research, practice, and education improve.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762120" y="372600"/>
            <a:ext cx="3480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69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36" name="" descr=""/>
          <p:cNvPicPr/>
          <p:nvPr/>
        </p:nvPicPr>
        <p:blipFill>
          <a:blip r:embed="rId1"/>
          <a:stretch/>
        </p:blipFill>
        <p:spPr>
          <a:xfrm>
            <a:off x="6324480" y="2695680"/>
            <a:ext cx="5714640" cy="32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"/>
          <p:cNvSpPr txBox="1"/>
          <p:nvPr/>
        </p:nvSpPr>
        <p:spPr>
          <a:xfrm>
            <a:off x="857160" y="2437920"/>
            <a:ext cx="20178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Dr Nawfal Al Hashimy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857160" y="2704680"/>
            <a:ext cx="29660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Lecturer in Cyber Physical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57160" y="3123720"/>
            <a:ext cx="57556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Universtity of Southampton </a:t>
            </a: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| Faculty of Engineering and Physical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857160" y="3390480"/>
            <a:ext cx="7311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Sciences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857160" y="3657240"/>
            <a:ext cx="3427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Cyber Physical Systems Research Group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857160" y="4087440"/>
            <a:ext cx="17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HiraginoSans-W3"/>
                <a:ea typeface="HiraginoSans-W3"/>
              </a:rPr>
              <a:t>☎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035000" y="4076280"/>
            <a:ext cx="20062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+44 (0) 23 8059 6659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857160" y="4495320"/>
            <a:ext cx="1951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@ Nawfal@soton.ac.uk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857160" y="4914360"/>
            <a:ext cx="37569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Highﬁeld Campus, Building 53, Room 4049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857160" y="5181120"/>
            <a:ext cx="36356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Burgess Road, Southampton SO17 1BJ, 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857160" y="634680"/>
            <a:ext cx="41400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Thank you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LibreOffice/25.2.5.2$MacOSX_AARCH64 LibreOffice_project/03d19516eb2e1dd5d4ccd751a0d6f35f35e08022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