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docProps/core.xml" ContentType="application/vnd.openxmlformats-package.core-properties+xml"/>
  <Override PartName="/docProps/app.xml" ContentType="application/vnd.openxmlformats-officedocument.extended-properties+xml"/>
  <Override PartName="/_rels/.rels" ContentType="application/vnd.openxmlformats-package.relationship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_rels/presentation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media/image1.png" ContentType="image/png"/>
  <Override PartName="/ppt/media/image2.png" ContentType="image/png"/>
  <Override PartName="/ppt/media/image3.png" ContentType="image/png"/>
  <Override PartName="/ppt/media/image4.png" ContentType="image/png"/>
  <Override PartName="/ppt/slides/slide1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17.xml" ContentType="application/vnd.openxmlformats-officedocument.presentationml.slide+xml"/>
  <Override PartName="/ppt/slides/slide10.xml" ContentType="application/vnd.openxmlformats-officedocument.presentationml.slide+xml"/>
  <Override PartName="/ppt/slides/slide3.xml" ContentType="application/vnd.openxmlformats-officedocument.presentationml.slide+xml"/>
  <Override PartName="/ppt/slides/slide18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4.xml" ContentType="application/vnd.openxmlformats-officedocument.presentationml.slide+xml"/>
  <Override PartName="/ppt/slides/slide12.xml" ContentType="application/vnd.openxmlformats-officedocument.presentationml.slide+xml"/>
  <Override PartName="/ppt/slides/slide9.xml" ContentType="application/vnd.openxmlformats-officedocument.presentationml.slide+xml"/>
  <Override PartName="/ppt/slides/slide5.xml" ContentType="application/vnd.openxmlformats-officedocument.presentationml.slide+xml"/>
  <Override PartName="/ppt/slides/_rels/slide15.xml.rels" ContentType="application/vnd.openxmlformats-package.relationships+xml"/>
  <Override PartName="/ppt/slides/_rels/slide14.xml.rels" ContentType="application/vnd.openxmlformats-package.relationships+xml"/>
  <Override PartName="/ppt/slides/_rels/slide13.xml.rels" ContentType="application/vnd.openxmlformats-package.relationships+xml"/>
  <Override PartName="/ppt/slides/_rels/slide9.xml.rels" ContentType="application/vnd.openxmlformats-package.relationships+xml"/>
  <Override PartName="/ppt/slides/_rels/slide12.xml.rels" ContentType="application/vnd.openxmlformats-package.relationships+xml"/>
  <Override PartName="/ppt/slides/_rels/slide8.xml.rels" ContentType="application/vnd.openxmlformats-package.relationships+xml"/>
  <Override PartName="/ppt/slides/_rels/slide11.xml.rels" ContentType="application/vnd.openxmlformats-package.relationships+xml"/>
  <Override PartName="/ppt/slides/_rels/slide6.xml.rels" ContentType="application/vnd.openxmlformats-package.relationships+xml"/>
  <Override PartName="/ppt/slides/_rels/slide5.xml.rels" ContentType="application/vnd.openxmlformats-package.relationships+xml"/>
  <Override PartName="/ppt/slides/_rels/slide4.xml.rels" ContentType="application/vnd.openxmlformats-package.relationships+xml"/>
  <Override PartName="/ppt/slides/_rels/slide18.xml.rels" ContentType="application/vnd.openxmlformats-package.relationships+xml"/>
  <Override PartName="/ppt/slides/_rels/slide3.xml.rels" ContentType="application/vnd.openxmlformats-package.relationships+xml"/>
  <Override PartName="/ppt/slides/_rels/slide17.xml.rels" ContentType="application/vnd.openxmlformats-package.relationships+xml"/>
  <Override PartName="/ppt/slides/_rels/slide2.xml.rels" ContentType="application/vnd.openxmlformats-package.relationships+xml"/>
  <Override PartName="/ppt/slides/_rels/slide16.xml.rels" ContentType="application/vnd.openxmlformats-package.relationships+xml"/>
  <Override PartName="/ppt/slides/_rels/slide7.xml.rels" ContentType="application/vnd.openxmlformats-package.relationships+xml"/>
  <Override PartName="/ppt/slides/_rels/slide10.xml.rels" ContentType="application/vnd.openxmlformats-package.relationships+xml"/>
  <Override PartName="/ppt/slides/_rels/slide1.xml.rels" ContentType="application/vnd.openxmlformats-package.relationships+xml"/>
  <Override PartName="/ppt/slides/slide13.xml" ContentType="application/vnd.openxmlformats-officedocument.presentationml.slide+xml"/>
  <Override PartName="/ppt/slides/slide6.xml" ContentType="application/vnd.openxmlformats-officedocument.presentationml.slide+xml"/>
  <Override PartName="/ppt/slides/slide14.xml" ContentType="application/vnd.openxmlformats-officedocument.presentationml.slide+xml"/>
  <Override PartName="/ppt/slides/slide7.xml" ContentType="application/vnd.openxmlformats-officedocument.presentationml.slide+xml"/>
  <Override PartName="/ppt/slides/slide15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officedocument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</p:sldIdLst>
  <p:sldSz cx="12192000" cy="68580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slide" Target="slides/slide18.xml"/><Relationship Id="rId21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master-page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master-page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59200"/>
            <a:ext cx="10972080" cy="108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ubTitle"/>
          </p:nvPr>
        </p:nvSpPr>
        <p:spPr>
          <a:xfrm>
            <a:off x="609480" y="1520280"/>
            <a:ext cx="10972080" cy="3768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609480" y="259200"/>
            <a:ext cx="10972080" cy="108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609480" y="1520280"/>
            <a:ext cx="10972080" cy="3768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3.png"/><Relationship Id="rId3" Type="http://schemas.openxmlformats.org/officeDocument/2006/relationships/slideLayout" Target="../slideLayouts/slideLayout1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7" name="" descr=""/>
          <p:cNvPicPr/>
          <p:nvPr/>
        </p:nvPicPr>
        <p:blipFill>
          <a:blip r:embed="rId1"/>
          <a:stretch/>
        </p:blipFill>
        <p:spPr>
          <a:xfrm>
            <a:off x="10134720" y="5981760"/>
            <a:ext cx="1904760" cy="1065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" name=""/>
          <p:cNvSpPr txBox="1"/>
          <p:nvPr/>
        </p:nvSpPr>
        <p:spPr>
          <a:xfrm>
            <a:off x="762120" y="5183640"/>
            <a:ext cx="1905480" cy="299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000" strike="noStrike" u="none">
                <a:solidFill>
                  <a:srgbClr val="3a3a3a"/>
                </a:solidFill>
                <a:effectLst/>
                <a:uFillTx/>
                <a:latin typeface="LucidaGrande"/>
                <a:ea typeface="LucidaGrande"/>
              </a:rPr>
              <a:t>SEAtS | 080172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"/>
          <p:cNvSpPr txBox="1"/>
          <p:nvPr/>
        </p:nvSpPr>
        <p:spPr>
          <a:xfrm>
            <a:off x="762120" y="3349440"/>
            <a:ext cx="6788160" cy="896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60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Theory of Design</a:t>
            </a:r>
            <a:endParaRPr b="0" lang="en-US" sz="6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"/>
          <p:cNvSpPr txBox="1"/>
          <p:nvPr/>
        </p:nvSpPr>
        <p:spPr>
          <a:xfrm>
            <a:off x="762120" y="4483800"/>
            <a:ext cx="4461840" cy="4788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32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Philosophy of Design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14" name="" descr=""/>
          <p:cNvPicPr/>
          <p:nvPr/>
        </p:nvPicPr>
        <p:blipFill>
          <a:blip r:embed="rId1"/>
          <a:stretch/>
        </p:blipFill>
        <p:spPr>
          <a:xfrm>
            <a:off x="10134720" y="5981760"/>
            <a:ext cx="1904760" cy="1065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" name=""/>
          <p:cNvSpPr txBox="1"/>
          <p:nvPr/>
        </p:nvSpPr>
        <p:spPr>
          <a:xfrm>
            <a:off x="4095720" y="1565640"/>
            <a:ext cx="444888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By the end of this lecture, you will be able to: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" name=""/>
          <p:cNvSpPr txBox="1"/>
          <p:nvPr/>
        </p:nvSpPr>
        <p:spPr>
          <a:xfrm>
            <a:off x="4244760" y="2022840"/>
            <a:ext cx="646128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1. </a:t>
            </a:r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Deﬁne philosophy of design and distinguish its questions from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" name=""/>
          <p:cNvSpPr txBox="1"/>
          <p:nvPr/>
        </p:nvSpPr>
        <p:spPr>
          <a:xfrm>
            <a:off x="4502160" y="2327760"/>
            <a:ext cx="351180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everyday design practice questions.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" name=""/>
          <p:cNvSpPr txBox="1"/>
          <p:nvPr/>
        </p:nvSpPr>
        <p:spPr>
          <a:xfrm>
            <a:off x="4244760" y="2689560"/>
            <a:ext cx="686772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2. </a:t>
            </a:r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Explain why the (conscious or unconscious) philosophies designers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"/>
          <p:cNvSpPr txBox="1"/>
          <p:nvPr/>
        </p:nvSpPr>
        <p:spPr>
          <a:xfrm>
            <a:off x="4502160" y="2994480"/>
            <a:ext cx="250884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hold shape their practice.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"/>
          <p:cNvSpPr txBox="1"/>
          <p:nvPr/>
        </p:nvSpPr>
        <p:spPr>
          <a:xfrm>
            <a:off x="4244760" y="3346920"/>
            <a:ext cx="714852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3. </a:t>
            </a:r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Identify the key research questions in philosophy of design across the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" name=""/>
          <p:cNvSpPr txBox="1"/>
          <p:nvPr/>
        </p:nvSpPr>
        <p:spPr>
          <a:xfrm>
            <a:off x="4502160" y="3651480"/>
            <a:ext cx="552888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nature, epistemology, theory, and application of design.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" name=""/>
          <p:cNvSpPr txBox="1"/>
          <p:nvPr/>
        </p:nvSpPr>
        <p:spPr>
          <a:xfrm>
            <a:off x="4244760" y="4003920"/>
            <a:ext cx="709416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4. </a:t>
            </a:r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Explain why rational and critical reﬂection—not empirical observation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" name=""/>
          <p:cNvSpPr txBox="1"/>
          <p:nvPr/>
        </p:nvSpPr>
        <p:spPr>
          <a:xfrm>
            <a:off x="4502160" y="4308840"/>
            <a:ext cx="438552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alone—is needed to answer these questions.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" name=""/>
          <p:cNvSpPr txBox="1"/>
          <p:nvPr/>
        </p:nvSpPr>
        <p:spPr>
          <a:xfrm>
            <a:off x="4244760" y="4670640"/>
            <a:ext cx="677772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5. </a:t>
            </a:r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Evaluate the relevance of philosophy of design to design research,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" name=""/>
          <p:cNvSpPr/>
          <p:nvPr/>
        </p:nvSpPr>
        <p:spPr>
          <a:xfrm>
            <a:off x="0" y="0"/>
            <a:ext cx="4067280" cy="6191280"/>
          </a:xfrm>
          <a:custGeom>
            <a:avLst/>
            <a:gdLst/>
            <a:ahLst/>
            <a:rect l="0" t="0" r="r" b="b"/>
            <a:pathLst>
              <a:path w="11298" h="17198">
                <a:moveTo>
                  <a:pt x="0" y="0"/>
                </a:moveTo>
                <a:lnTo>
                  <a:pt x="11298" y="0"/>
                </a:lnTo>
                <a:lnTo>
                  <a:pt x="11298" y="17198"/>
                </a:lnTo>
                <a:lnTo>
                  <a:pt x="0" y="17198"/>
                </a:lnTo>
                <a:lnTo>
                  <a:pt x="0" y="0"/>
                </a:lnTo>
                <a:close/>
              </a:path>
            </a:pathLst>
          </a:custGeom>
          <a:solidFill>
            <a:srgbClr val="0a53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6" name=""/>
          <p:cNvSpPr txBox="1"/>
          <p:nvPr/>
        </p:nvSpPr>
        <p:spPr>
          <a:xfrm>
            <a:off x="4502160" y="4975560"/>
            <a:ext cx="435816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professional practice, and design education.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" name=""/>
          <p:cNvSpPr txBox="1"/>
          <p:nvPr/>
        </p:nvSpPr>
        <p:spPr>
          <a:xfrm>
            <a:off x="646920" y="381960"/>
            <a:ext cx="2772720" cy="718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4800" strike="noStrike" u="none">
                <a:solidFill>
                  <a:srgbClr val="ffffff"/>
                </a:solidFill>
                <a:effectLst/>
                <a:uFillTx/>
                <a:latin typeface="LucidaGrande"/>
                <a:ea typeface="LucidaGrande"/>
              </a:rPr>
              <a:t>Intended</a:t>
            </a:r>
            <a:endParaRPr b="0" lang="en-US" sz="4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" name=""/>
          <p:cNvSpPr txBox="1"/>
          <p:nvPr/>
        </p:nvSpPr>
        <p:spPr>
          <a:xfrm>
            <a:off x="658800" y="1296360"/>
            <a:ext cx="2748960" cy="718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4800" strike="noStrike" u="none">
                <a:solidFill>
                  <a:srgbClr val="ffffff"/>
                </a:solidFill>
                <a:effectLst/>
                <a:uFillTx/>
                <a:latin typeface="LucidaGrande"/>
                <a:ea typeface="LucidaGrande"/>
              </a:rPr>
              <a:t>Learning</a:t>
            </a:r>
            <a:endParaRPr b="0" lang="en-US" sz="4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" name=""/>
          <p:cNvSpPr txBox="1"/>
          <p:nvPr/>
        </p:nvSpPr>
        <p:spPr>
          <a:xfrm>
            <a:off x="455040" y="2210760"/>
            <a:ext cx="3156840" cy="718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4800" strike="noStrike" u="none">
                <a:solidFill>
                  <a:srgbClr val="ffffff"/>
                </a:solidFill>
                <a:effectLst/>
                <a:uFillTx/>
                <a:latin typeface="LucidaGrande"/>
                <a:ea typeface="LucidaGrande"/>
              </a:rPr>
              <a:t>Outcomes</a:t>
            </a:r>
            <a:endParaRPr b="0" lang="en-US" sz="4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"/>
          <p:cNvSpPr txBox="1"/>
          <p:nvPr/>
        </p:nvSpPr>
        <p:spPr>
          <a:xfrm>
            <a:off x="1238400" y="6405120"/>
            <a:ext cx="1046520" cy="155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05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SEAtS | 080172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" name=""/>
          <p:cNvSpPr/>
          <p:nvPr/>
        </p:nvSpPr>
        <p:spPr>
          <a:xfrm>
            <a:off x="685440" y="6343560"/>
            <a:ext cx="267120" cy="304920"/>
          </a:xfrm>
          <a:custGeom>
            <a:avLst/>
            <a:gdLst/>
            <a:ahLst/>
            <a:rect l="0" t="0" r="r" b="b"/>
            <a:pathLst>
              <a:path w="742" h="847">
                <a:moveTo>
                  <a:pt x="0" y="476"/>
                </a:moveTo>
                <a:lnTo>
                  <a:pt x="0" y="370"/>
                </a:lnTo>
                <a:cubicBezTo>
                  <a:pt x="0" y="346"/>
                  <a:pt x="3" y="322"/>
                  <a:pt x="8" y="298"/>
                </a:cubicBezTo>
                <a:cubicBezTo>
                  <a:pt x="12" y="274"/>
                  <a:pt x="19" y="251"/>
                  <a:pt x="29" y="228"/>
                </a:cubicBezTo>
                <a:cubicBezTo>
                  <a:pt x="38" y="206"/>
                  <a:pt x="49" y="185"/>
                  <a:pt x="63" y="164"/>
                </a:cubicBezTo>
                <a:cubicBezTo>
                  <a:pt x="76" y="144"/>
                  <a:pt x="92" y="125"/>
                  <a:pt x="109" y="108"/>
                </a:cubicBezTo>
                <a:cubicBezTo>
                  <a:pt x="126" y="91"/>
                  <a:pt x="145" y="76"/>
                  <a:pt x="165" y="62"/>
                </a:cubicBezTo>
                <a:cubicBezTo>
                  <a:pt x="185" y="49"/>
                  <a:pt x="207" y="37"/>
                  <a:pt x="229" y="28"/>
                </a:cubicBezTo>
                <a:cubicBezTo>
                  <a:pt x="252" y="19"/>
                  <a:pt x="275" y="12"/>
                  <a:pt x="299" y="7"/>
                </a:cubicBezTo>
                <a:cubicBezTo>
                  <a:pt x="323" y="2"/>
                  <a:pt x="347" y="0"/>
                  <a:pt x="371" y="0"/>
                </a:cubicBezTo>
                <a:cubicBezTo>
                  <a:pt x="395" y="0"/>
                  <a:pt x="419" y="2"/>
                  <a:pt x="443" y="7"/>
                </a:cubicBezTo>
                <a:cubicBezTo>
                  <a:pt x="467" y="12"/>
                  <a:pt x="490" y="19"/>
                  <a:pt x="513" y="28"/>
                </a:cubicBezTo>
                <a:cubicBezTo>
                  <a:pt x="535" y="37"/>
                  <a:pt x="556" y="49"/>
                  <a:pt x="577" y="62"/>
                </a:cubicBezTo>
                <a:cubicBezTo>
                  <a:pt x="597" y="76"/>
                  <a:pt x="616" y="91"/>
                  <a:pt x="633" y="108"/>
                </a:cubicBezTo>
                <a:cubicBezTo>
                  <a:pt x="650" y="125"/>
                  <a:pt x="665" y="144"/>
                  <a:pt x="679" y="164"/>
                </a:cubicBezTo>
                <a:cubicBezTo>
                  <a:pt x="693" y="185"/>
                  <a:pt x="705" y="206"/>
                  <a:pt x="714" y="228"/>
                </a:cubicBezTo>
                <a:cubicBezTo>
                  <a:pt x="723" y="251"/>
                  <a:pt x="730" y="274"/>
                  <a:pt x="735" y="298"/>
                </a:cubicBezTo>
                <a:cubicBezTo>
                  <a:pt x="740" y="322"/>
                  <a:pt x="742" y="346"/>
                  <a:pt x="742" y="370"/>
                </a:cubicBezTo>
                <a:lnTo>
                  <a:pt x="742" y="476"/>
                </a:lnTo>
                <a:cubicBezTo>
                  <a:pt x="742" y="500"/>
                  <a:pt x="740" y="524"/>
                  <a:pt x="735" y="548"/>
                </a:cubicBezTo>
                <a:cubicBezTo>
                  <a:pt x="730" y="573"/>
                  <a:pt x="723" y="596"/>
                  <a:pt x="714" y="619"/>
                </a:cubicBezTo>
                <a:cubicBezTo>
                  <a:pt x="705" y="641"/>
                  <a:pt x="693" y="663"/>
                  <a:pt x="679" y="683"/>
                </a:cubicBezTo>
                <a:cubicBezTo>
                  <a:pt x="665" y="703"/>
                  <a:pt x="650" y="722"/>
                  <a:pt x="633" y="739"/>
                </a:cubicBezTo>
                <a:cubicBezTo>
                  <a:pt x="616" y="756"/>
                  <a:pt x="597" y="771"/>
                  <a:pt x="577" y="785"/>
                </a:cubicBezTo>
                <a:cubicBezTo>
                  <a:pt x="556" y="798"/>
                  <a:pt x="535" y="810"/>
                  <a:pt x="513" y="819"/>
                </a:cubicBezTo>
                <a:cubicBezTo>
                  <a:pt x="490" y="829"/>
                  <a:pt x="467" y="836"/>
                  <a:pt x="443" y="840"/>
                </a:cubicBezTo>
                <a:cubicBezTo>
                  <a:pt x="419" y="845"/>
                  <a:pt x="395" y="847"/>
                  <a:pt x="371" y="847"/>
                </a:cubicBezTo>
                <a:cubicBezTo>
                  <a:pt x="347" y="847"/>
                  <a:pt x="323" y="845"/>
                  <a:pt x="299" y="840"/>
                </a:cubicBezTo>
                <a:cubicBezTo>
                  <a:pt x="275" y="836"/>
                  <a:pt x="252" y="829"/>
                  <a:pt x="229" y="819"/>
                </a:cubicBezTo>
                <a:cubicBezTo>
                  <a:pt x="207" y="810"/>
                  <a:pt x="185" y="798"/>
                  <a:pt x="165" y="785"/>
                </a:cubicBezTo>
                <a:cubicBezTo>
                  <a:pt x="145" y="771"/>
                  <a:pt x="126" y="756"/>
                  <a:pt x="109" y="739"/>
                </a:cubicBezTo>
                <a:cubicBezTo>
                  <a:pt x="92" y="722"/>
                  <a:pt x="76" y="703"/>
                  <a:pt x="63" y="683"/>
                </a:cubicBezTo>
                <a:cubicBezTo>
                  <a:pt x="49" y="663"/>
                  <a:pt x="38" y="641"/>
                  <a:pt x="29" y="619"/>
                </a:cubicBezTo>
                <a:cubicBezTo>
                  <a:pt x="19" y="596"/>
                  <a:pt x="12" y="573"/>
                  <a:pt x="8" y="548"/>
                </a:cubicBezTo>
                <a:cubicBezTo>
                  <a:pt x="3" y="524"/>
                  <a:pt x="0" y="500"/>
                  <a:pt x="0" y="476"/>
                </a:cubicBezTo>
                <a:close/>
              </a:path>
            </a:pathLst>
          </a:custGeom>
          <a:solidFill>
            <a:srgbClr val="ffffff">
              <a:alpha val="74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" name=""/>
          <p:cNvSpPr txBox="1"/>
          <p:nvPr/>
        </p:nvSpPr>
        <p:spPr>
          <a:xfrm>
            <a:off x="1238400" y="6569280"/>
            <a:ext cx="3390120" cy="12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800" strike="noStrike" u="none">
                <a:solidFill>
                  <a:srgbClr val="a6a6a6"/>
                </a:solidFill>
                <a:effectLst/>
                <a:uFillTx/>
                <a:latin typeface="LucidaGrande"/>
                <a:ea typeface="LucidaGrande"/>
              </a:rPr>
              <a:t>Version: GITREVISION | © 22.09.2026 University of Southampton</a:t>
            </a:r>
            <a:endParaRPr b="0" lang="en-US" sz="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" name=""/>
          <p:cNvSpPr txBox="1"/>
          <p:nvPr/>
        </p:nvSpPr>
        <p:spPr>
          <a:xfrm>
            <a:off x="762120" y="6390720"/>
            <a:ext cx="177480" cy="21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2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0a53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pic>
        <p:nvPicPr>
          <p:cNvPr id="37" name="" descr=""/>
          <p:cNvPicPr/>
          <p:nvPr/>
        </p:nvPicPr>
        <p:blipFill>
          <a:blip r:embed="rId1"/>
          <a:stretch/>
        </p:blipFill>
        <p:spPr>
          <a:xfrm>
            <a:off x="10134720" y="5981760"/>
            <a:ext cx="1904760" cy="1065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8" name=""/>
          <p:cNvSpPr/>
          <p:nvPr/>
        </p:nvSpPr>
        <p:spPr>
          <a:xfrm>
            <a:off x="4448160" y="1761840"/>
            <a:ext cx="95400" cy="95760"/>
          </a:xfrm>
          <a:custGeom>
            <a:avLst/>
            <a:gdLst/>
            <a:ahLst/>
            <a:rect l="0" t="0" r="r" b="b"/>
            <a:pathLst>
              <a:path w="265" h="266">
                <a:moveTo>
                  <a:pt x="265" y="133"/>
                </a:moveTo>
                <a:cubicBezTo>
                  <a:pt x="265" y="150"/>
                  <a:pt x="262" y="167"/>
                  <a:pt x="255" y="183"/>
                </a:cubicBezTo>
                <a:cubicBezTo>
                  <a:pt x="248" y="199"/>
                  <a:pt x="239" y="214"/>
                  <a:pt x="226" y="226"/>
                </a:cubicBezTo>
                <a:cubicBezTo>
                  <a:pt x="214" y="239"/>
                  <a:pt x="200" y="248"/>
                  <a:pt x="182" y="256"/>
                </a:cubicBezTo>
                <a:cubicBezTo>
                  <a:pt x="166" y="263"/>
                  <a:pt x="149" y="266"/>
                  <a:pt x="132" y="266"/>
                </a:cubicBezTo>
                <a:cubicBezTo>
                  <a:pt x="114" y="266"/>
                  <a:pt x="97" y="263"/>
                  <a:pt x="81" y="256"/>
                </a:cubicBezTo>
                <a:cubicBezTo>
                  <a:pt x="65" y="248"/>
                  <a:pt x="51" y="239"/>
                  <a:pt x="38" y="226"/>
                </a:cubicBezTo>
                <a:cubicBezTo>
                  <a:pt x="26" y="214"/>
                  <a:pt x="16" y="199"/>
                  <a:pt x="10" y="183"/>
                </a:cubicBezTo>
                <a:cubicBezTo>
                  <a:pt x="3" y="167"/>
                  <a:pt x="0" y="150"/>
                  <a:pt x="0" y="133"/>
                </a:cubicBezTo>
                <a:cubicBezTo>
                  <a:pt x="0" y="115"/>
                  <a:pt x="3" y="98"/>
                  <a:pt x="10" y="82"/>
                </a:cubicBezTo>
                <a:cubicBezTo>
                  <a:pt x="16" y="66"/>
                  <a:pt x="26" y="51"/>
                  <a:pt x="38" y="39"/>
                </a:cubicBezTo>
                <a:cubicBezTo>
                  <a:pt x="51" y="27"/>
                  <a:pt x="65" y="17"/>
                  <a:pt x="81" y="10"/>
                </a:cubicBezTo>
                <a:cubicBezTo>
                  <a:pt x="97" y="4"/>
                  <a:pt x="114" y="0"/>
                  <a:pt x="132" y="0"/>
                </a:cubicBezTo>
                <a:cubicBezTo>
                  <a:pt x="149" y="0"/>
                  <a:pt x="166" y="4"/>
                  <a:pt x="182" y="10"/>
                </a:cubicBezTo>
                <a:cubicBezTo>
                  <a:pt x="200" y="17"/>
                  <a:pt x="214" y="27"/>
                  <a:pt x="226" y="39"/>
                </a:cubicBezTo>
                <a:cubicBezTo>
                  <a:pt x="239" y="51"/>
                  <a:pt x="248" y="66"/>
                  <a:pt x="255" y="82"/>
                </a:cubicBezTo>
                <a:cubicBezTo>
                  <a:pt x="262" y="98"/>
                  <a:pt x="265" y="115"/>
                  <a:pt x="265" y="133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"/>
          <p:cNvSpPr/>
          <p:nvPr/>
        </p:nvSpPr>
        <p:spPr>
          <a:xfrm>
            <a:off x="4448160" y="2295360"/>
            <a:ext cx="95400" cy="95760"/>
          </a:xfrm>
          <a:custGeom>
            <a:avLst/>
            <a:gdLst/>
            <a:ahLst/>
            <a:rect l="0" t="0" r="r" b="b"/>
            <a:pathLst>
              <a:path w="265" h="266">
                <a:moveTo>
                  <a:pt x="265" y="133"/>
                </a:moveTo>
                <a:cubicBezTo>
                  <a:pt x="265" y="151"/>
                  <a:pt x="262" y="168"/>
                  <a:pt x="255" y="184"/>
                </a:cubicBezTo>
                <a:cubicBezTo>
                  <a:pt x="248" y="200"/>
                  <a:pt x="239" y="214"/>
                  <a:pt x="226" y="227"/>
                </a:cubicBezTo>
                <a:cubicBezTo>
                  <a:pt x="214" y="239"/>
                  <a:pt x="200" y="249"/>
                  <a:pt x="182" y="255"/>
                </a:cubicBezTo>
                <a:cubicBezTo>
                  <a:pt x="166" y="262"/>
                  <a:pt x="149" y="266"/>
                  <a:pt x="132" y="266"/>
                </a:cubicBezTo>
                <a:cubicBezTo>
                  <a:pt x="114" y="266"/>
                  <a:pt x="97" y="262"/>
                  <a:pt x="81" y="255"/>
                </a:cubicBezTo>
                <a:cubicBezTo>
                  <a:pt x="65" y="249"/>
                  <a:pt x="51" y="239"/>
                  <a:pt x="38" y="227"/>
                </a:cubicBezTo>
                <a:cubicBezTo>
                  <a:pt x="26" y="214"/>
                  <a:pt x="16" y="200"/>
                  <a:pt x="10" y="184"/>
                </a:cubicBezTo>
                <a:cubicBezTo>
                  <a:pt x="3" y="168"/>
                  <a:pt x="0" y="151"/>
                  <a:pt x="0" y="133"/>
                </a:cubicBezTo>
                <a:cubicBezTo>
                  <a:pt x="0" y="116"/>
                  <a:pt x="3" y="99"/>
                  <a:pt x="10" y="82"/>
                </a:cubicBezTo>
                <a:cubicBezTo>
                  <a:pt x="16" y="65"/>
                  <a:pt x="26" y="51"/>
                  <a:pt x="38" y="39"/>
                </a:cubicBezTo>
                <a:cubicBezTo>
                  <a:pt x="51" y="26"/>
                  <a:pt x="65" y="17"/>
                  <a:pt x="81" y="10"/>
                </a:cubicBezTo>
                <a:cubicBezTo>
                  <a:pt x="97" y="3"/>
                  <a:pt x="114" y="0"/>
                  <a:pt x="132" y="0"/>
                </a:cubicBezTo>
                <a:cubicBezTo>
                  <a:pt x="149" y="0"/>
                  <a:pt x="166" y="3"/>
                  <a:pt x="182" y="10"/>
                </a:cubicBezTo>
                <a:cubicBezTo>
                  <a:pt x="200" y="17"/>
                  <a:pt x="214" y="26"/>
                  <a:pt x="226" y="39"/>
                </a:cubicBezTo>
                <a:cubicBezTo>
                  <a:pt x="239" y="51"/>
                  <a:pt x="248" y="65"/>
                  <a:pt x="255" y="82"/>
                </a:cubicBezTo>
                <a:cubicBezTo>
                  <a:pt x="262" y="99"/>
                  <a:pt x="265" y="116"/>
                  <a:pt x="265" y="133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" name=""/>
          <p:cNvSpPr txBox="1"/>
          <p:nvPr/>
        </p:nvSpPr>
        <p:spPr>
          <a:xfrm>
            <a:off x="4705200" y="1610280"/>
            <a:ext cx="3633840" cy="3585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400" strike="noStrike" u="none">
                <a:solidFill>
                  <a:srgbClr val="ffffff"/>
                </a:solidFill>
                <a:effectLst/>
                <a:uFillTx/>
                <a:latin typeface="LucidaGrande"/>
                <a:ea typeface="LucidaGrande"/>
              </a:rPr>
              <a:t>Design Shapes Our Lives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" name=""/>
          <p:cNvSpPr/>
          <p:nvPr/>
        </p:nvSpPr>
        <p:spPr>
          <a:xfrm>
            <a:off x="4448160" y="2828880"/>
            <a:ext cx="95400" cy="95400"/>
          </a:xfrm>
          <a:custGeom>
            <a:avLst/>
            <a:gdLst/>
            <a:ahLst/>
            <a:rect l="0" t="0" r="r" b="b"/>
            <a:pathLst>
              <a:path w="265" h="265">
                <a:moveTo>
                  <a:pt x="265" y="132"/>
                </a:moveTo>
                <a:cubicBezTo>
                  <a:pt x="265" y="149"/>
                  <a:pt x="262" y="166"/>
                  <a:pt x="255" y="183"/>
                </a:cubicBezTo>
                <a:cubicBezTo>
                  <a:pt x="248" y="200"/>
                  <a:pt x="239" y="214"/>
                  <a:pt x="226" y="226"/>
                </a:cubicBezTo>
                <a:cubicBezTo>
                  <a:pt x="214" y="239"/>
                  <a:pt x="200" y="248"/>
                  <a:pt x="182" y="255"/>
                </a:cubicBezTo>
                <a:cubicBezTo>
                  <a:pt x="166" y="262"/>
                  <a:pt x="149" y="265"/>
                  <a:pt x="132" y="265"/>
                </a:cubicBezTo>
                <a:cubicBezTo>
                  <a:pt x="114" y="265"/>
                  <a:pt x="97" y="262"/>
                  <a:pt x="81" y="255"/>
                </a:cubicBezTo>
                <a:cubicBezTo>
                  <a:pt x="65" y="248"/>
                  <a:pt x="51" y="239"/>
                  <a:pt x="38" y="226"/>
                </a:cubicBezTo>
                <a:cubicBezTo>
                  <a:pt x="26" y="214"/>
                  <a:pt x="16" y="200"/>
                  <a:pt x="10" y="183"/>
                </a:cubicBezTo>
                <a:cubicBezTo>
                  <a:pt x="3" y="166"/>
                  <a:pt x="0" y="149"/>
                  <a:pt x="0" y="132"/>
                </a:cubicBezTo>
                <a:cubicBezTo>
                  <a:pt x="0" y="114"/>
                  <a:pt x="3" y="97"/>
                  <a:pt x="10" y="81"/>
                </a:cubicBezTo>
                <a:cubicBezTo>
                  <a:pt x="16" y="65"/>
                  <a:pt x="26" y="51"/>
                  <a:pt x="38" y="38"/>
                </a:cubicBezTo>
                <a:cubicBezTo>
                  <a:pt x="51" y="26"/>
                  <a:pt x="65" y="16"/>
                  <a:pt x="81" y="10"/>
                </a:cubicBezTo>
                <a:cubicBezTo>
                  <a:pt x="97" y="3"/>
                  <a:pt x="114" y="0"/>
                  <a:pt x="132" y="0"/>
                </a:cubicBezTo>
                <a:cubicBezTo>
                  <a:pt x="149" y="0"/>
                  <a:pt x="166" y="3"/>
                  <a:pt x="182" y="10"/>
                </a:cubicBezTo>
                <a:cubicBezTo>
                  <a:pt x="200" y="16"/>
                  <a:pt x="214" y="26"/>
                  <a:pt x="226" y="38"/>
                </a:cubicBezTo>
                <a:cubicBezTo>
                  <a:pt x="239" y="51"/>
                  <a:pt x="248" y="65"/>
                  <a:pt x="255" y="81"/>
                </a:cubicBezTo>
                <a:cubicBezTo>
                  <a:pt x="262" y="97"/>
                  <a:pt x="265" y="114"/>
                  <a:pt x="265" y="132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"/>
          <p:cNvSpPr txBox="1"/>
          <p:nvPr/>
        </p:nvSpPr>
        <p:spPr>
          <a:xfrm>
            <a:off x="4705200" y="2143800"/>
            <a:ext cx="4414680" cy="3585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400" strike="noStrike" u="none">
                <a:solidFill>
                  <a:srgbClr val="ffffff"/>
                </a:solidFill>
                <a:effectLst/>
                <a:uFillTx/>
                <a:latin typeface="LucidaGrande"/>
                <a:ea typeface="LucidaGrande"/>
              </a:rPr>
              <a:t>What is Philosophy of Design?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"/>
          <p:cNvSpPr/>
          <p:nvPr/>
        </p:nvSpPr>
        <p:spPr>
          <a:xfrm>
            <a:off x="4448160" y="3362040"/>
            <a:ext cx="95400" cy="95760"/>
          </a:xfrm>
          <a:custGeom>
            <a:avLst/>
            <a:gdLst/>
            <a:ahLst/>
            <a:rect l="0" t="0" r="r" b="b"/>
            <a:pathLst>
              <a:path w="265" h="266">
                <a:moveTo>
                  <a:pt x="265" y="134"/>
                </a:moveTo>
                <a:cubicBezTo>
                  <a:pt x="265" y="151"/>
                  <a:pt x="262" y="168"/>
                  <a:pt x="255" y="184"/>
                </a:cubicBezTo>
                <a:cubicBezTo>
                  <a:pt x="248" y="200"/>
                  <a:pt x="239" y="215"/>
                  <a:pt x="226" y="227"/>
                </a:cubicBezTo>
                <a:cubicBezTo>
                  <a:pt x="214" y="240"/>
                  <a:pt x="200" y="249"/>
                  <a:pt x="182" y="256"/>
                </a:cubicBezTo>
                <a:cubicBezTo>
                  <a:pt x="166" y="263"/>
                  <a:pt x="149" y="266"/>
                  <a:pt x="132" y="266"/>
                </a:cubicBezTo>
                <a:cubicBezTo>
                  <a:pt x="114" y="266"/>
                  <a:pt x="97" y="263"/>
                  <a:pt x="81" y="256"/>
                </a:cubicBezTo>
                <a:cubicBezTo>
                  <a:pt x="65" y="249"/>
                  <a:pt x="51" y="240"/>
                  <a:pt x="38" y="227"/>
                </a:cubicBezTo>
                <a:cubicBezTo>
                  <a:pt x="26" y="215"/>
                  <a:pt x="16" y="200"/>
                  <a:pt x="10" y="184"/>
                </a:cubicBezTo>
                <a:cubicBezTo>
                  <a:pt x="3" y="168"/>
                  <a:pt x="0" y="151"/>
                  <a:pt x="0" y="134"/>
                </a:cubicBezTo>
                <a:cubicBezTo>
                  <a:pt x="0" y="116"/>
                  <a:pt x="3" y="99"/>
                  <a:pt x="10" y="83"/>
                </a:cubicBezTo>
                <a:cubicBezTo>
                  <a:pt x="16" y="67"/>
                  <a:pt x="26" y="52"/>
                  <a:pt x="38" y="40"/>
                </a:cubicBezTo>
                <a:cubicBezTo>
                  <a:pt x="51" y="27"/>
                  <a:pt x="65" y="17"/>
                  <a:pt x="81" y="10"/>
                </a:cubicBezTo>
                <a:cubicBezTo>
                  <a:pt x="97" y="4"/>
                  <a:pt x="114" y="0"/>
                  <a:pt x="132" y="0"/>
                </a:cubicBezTo>
                <a:cubicBezTo>
                  <a:pt x="149" y="0"/>
                  <a:pt x="166" y="4"/>
                  <a:pt x="182" y="10"/>
                </a:cubicBezTo>
                <a:cubicBezTo>
                  <a:pt x="200" y="17"/>
                  <a:pt x="214" y="27"/>
                  <a:pt x="226" y="40"/>
                </a:cubicBezTo>
                <a:cubicBezTo>
                  <a:pt x="239" y="52"/>
                  <a:pt x="248" y="67"/>
                  <a:pt x="255" y="83"/>
                </a:cubicBezTo>
                <a:cubicBezTo>
                  <a:pt x="262" y="99"/>
                  <a:pt x="265" y="116"/>
                  <a:pt x="265" y="134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" name=""/>
          <p:cNvSpPr txBox="1"/>
          <p:nvPr/>
        </p:nvSpPr>
        <p:spPr>
          <a:xfrm>
            <a:off x="4705200" y="2676960"/>
            <a:ext cx="3532680" cy="3585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400" strike="noStrike" u="none">
                <a:solidFill>
                  <a:srgbClr val="ffffff"/>
                </a:solidFill>
                <a:effectLst/>
                <a:uFillTx/>
                <a:latin typeface="LucidaGrande"/>
                <a:ea typeface="LucidaGrande"/>
              </a:rPr>
              <a:t>Key Research Questions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" name=""/>
          <p:cNvSpPr/>
          <p:nvPr/>
        </p:nvSpPr>
        <p:spPr>
          <a:xfrm>
            <a:off x="4448160" y="3895560"/>
            <a:ext cx="95400" cy="95760"/>
          </a:xfrm>
          <a:custGeom>
            <a:avLst/>
            <a:gdLst/>
            <a:ahLst/>
            <a:rect l="0" t="0" r="r" b="b"/>
            <a:pathLst>
              <a:path w="265" h="266">
                <a:moveTo>
                  <a:pt x="265" y="132"/>
                </a:moveTo>
                <a:cubicBezTo>
                  <a:pt x="265" y="151"/>
                  <a:pt x="262" y="168"/>
                  <a:pt x="255" y="184"/>
                </a:cubicBezTo>
                <a:cubicBezTo>
                  <a:pt x="248" y="200"/>
                  <a:pt x="239" y="214"/>
                  <a:pt x="226" y="227"/>
                </a:cubicBezTo>
                <a:cubicBezTo>
                  <a:pt x="214" y="239"/>
                  <a:pt x="200" y="249"/>
                  <a:pt x="182" y="255"/>
                </a:cubicBezTo>
                <a:cubicBezTo>
                  <a:pt x="166" y="262"/>
                  <a:pt x="149" y="266"/>
                  <a:pt x="132" y="266"/>
                </a:cubicBezTo>
                <a:cubicBezTo>
                  <a:pt x="114" y="266"/>
                  <a:pt x="97" y="262"/>
                  <a:pt x="81" y="255"/>
                </a:cubicBezTo>
                <a:cubicBezTo>
                  <a:pt x="65" y="249"/>
                  <a:pt x="51" y="239"/>
                  <a:pt x="38" y="227"/>
                </a:cubicBezTo>
                <a:cubicBezTo>
                  <a:pt x="26" y="214"/>
                  <a:pt x="16" y="200"/>
                  <a:pt x="10" y="184"/>
                </a:cubicBezTo>
                <a:cubicBezTo>
                  <a:pt x="3" y="168"/>
                  <a:pt x="0" y="151"/>
                  <a:pt x="0" y="132"/>
                </a:cubicBezTo>
                <a:cubicBezTo>
                  <a:pt x="0" y="115"/>
                  <a:pt x="3" y="98"/>
                  <a:pt x="10" y="82"/>
                </a:cubicBezTo>
                <a:cubicBezTo>
                  <a:pt x="16" y="65"/>
                  <a:pt x="26" y="51"/>
                  <a:pt x="38" y="39"/>
                </a:cubicBezTo>
                <a:cubicBezTo>
                  <a:pt x="51" y="26"/>
                  <a:pt x="65" y="17"/>
                  <a:pt x="81" y="10"/>
                </a:cubicBezTo>
                <a:cubicBezTo>
                  <a:pt x="97" y="3"/>
                  <a:pt x="114" y="0"/>
                  <a:pt x="132" y="0"/>
                </a:cubicBezTo>
                <a:cubicBezTo>
                  <a:pt x="149" y="0"/>
                  <a:pt x="166" y="3"/>
                  <a:pt x="182" y="10"/>
                </a:cubicBezTo>
                <a:cubicBezTo>
                  <a:pt x="200" y="17"/>
                  <a:pt x="214" y="26"/>
                  <a:pt x="226" y="39"/>
                </a:cubicBezTo>
                <a:cubicBezTo>
                  <a:pt x="239" y="51"/>
                  <a:pt x="248" y="65"/>
                  <a:pt x="255" y="82"/>
                </a:cubicBezTo>
                <a:cubicBezTo>
                  <a:pt x="262" y="98"/>
                  <a:pt x="265" y="115"/>
                  <a:pt x="265" y="132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" name=""/>
          <p:cNvSpPr txBox="1"/>
          <p:nvPr/>
        </p:nvSpPr>
        <p:spPr>
          <a:xfrm>
            <a:off x="4705200" y="3210480"/>
            <a:ext cx="1927080" cy="3585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400" strike="noStrike" u="none">
                <a:solidFill>
                  <a:srgbClr val="ffffff"/>
                </a:solidFill>
                <a:effectLst/>
                <a:uFillTx/>
                <a:latin typeface="LucidaGrande"/>
                <a:ea typeface="LucidaGrande"/>
              </a:rPr>
              <a:t>Methodology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"/>
          <p:cNvSpPr/>
          <p:nvPr/>
        </p:nvSpPr>
        <p:spPr>
          <a:xfrm>
            <a:off x="4448160" y="4429080"/>
            <a:ext cx="95400" cy="95400"/>
          </a:xfrm>
          <a:custGeom>
            <a:avLst/>
            <a:gdLst/>
            <a:ahLst/>
            <a:rect l="0" t="0" r="r" b="b"/>
            <a:pathLst>
              <a:path w="265" h="265">
                <a:moveTo>
                  <a:pt x="265" y="132"/>
                </a:moveTo>
                <a:cubicBezTo>
                  <a:pt x="265" y="149"/>
                  <a:pt x="262" y="166"/>
                  <a:pt x="255" y="183"/>
                </a:cubicBezTo>
                <a:cubicBezTo>
                  <a:pt x="248" y="199"/>
                  <a:pt x="239" y="213"/>
                  <a:pt x="226" y="225"/>
                </a:cubicBezTo>
                <a:cubicBezTo>
                  <a:pt x="214" y="239"/>
                  <a:pt x="200" y="248"/>
                  <a:pt x="182" y="255"/>
                </a:cubicBezTo>
                <a:cubicBezTo>
                  <a:pt x="166" y="262"/>
                  <a:pt x="149" y="265"/>
                  <a:pt x="132" y="265"/>
                </a:cubicBezTo>
                <a:cubicBezTo>
                  <a:pt x="114" y="265"/>
                  <a:pt x="97" y="262"/>
                  <a:pt x="81" y="255"/>
                </a:cubicBezTo>
                <a:cubicBezTo>
                  <a:pt x="65" y="248"/>
                  <a:pt x="51" y="239"/>
                  <a:pt x="38" y="225"/>
                </a:cubicBezTo>
                <a:cubicBezTo>
                  <a:pt x="26" y="213"/>
                  <a:pt x="16" y="199"/>
                  <a:pt x="10" y="183"/>
                </a:cubicBezTo>
                <a:cubicBezTo>
                  <a:pt x="3" y="166"/>
                  <a:pt x="0" y="149"/>
                  <a:pt x="0" y="132"/>
                </a:cubicBezTo>
                <a:cubicBezTo>
                  <a:pt x="0" y="114"/>
                  <a:pt x="3" y="97"/>
                  <a:pt x="10" y="81"/>
                </a:cubicBezTo>
                <a:cubicBezTo>
                  <a:pt x="16" y="65"/>
                  <a:pt x="26" y="51"/>
                  <a:pt x="38" y="38"/>
                </a:cubicBezTo>
                <a:cubicBezTo>
                  <a:pt x="51" y="26"/>
                  <a:pt x="65" y="16"/>
                  <a:pt x="81" y="10"/>
                </a:cubicBezTo>
                <a:cubicBezTo>
                  <a:pt x="97" y="3"/>
                  <a:pt x="114" y="0"/>
                  <a:pt x="132" y="0"/>
                </a:cubicBezTo>
                <a:cubicBezTo>
                  <a:pt x="149" y="0"/>
                  <a:pt x="166" y="3"/>
                  <a:pt x="182" y="10"/>
                </a:cubicBezTo>
                <a:cubicBezTo>
                  <a:pt x="200" y="16"/>
                  <a:pt x="214" y="26"/>
                  <a:pt x="226" y="38"/>
                </a:cubicBezTo>
                <a:cubicBezTo>
                  <a:pt x="239" y="51"/>
                  <a:pt x="248" y="65"/>
                  <a:pt x="255" y="81"/>
                </a:cubicBezTo>
                <a:cubicBezTo>
                  <a:pt x="262" y="97"/>
                  <a:pt x="265" y="114"/>
                  <a:pt x="265" y="132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" name=""/>
          <p:cNvSpPr txBox="1"/>
          <p:nvPr/>
        </p:nvSpPr>
        <p:spPr>
          <a:xfrm>
            <a:off x="4705200" y="3744000"/>
            <a:ext cx="2113200" cy="3585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400" strike="noStrike" u="none">
                <a:solidFill>
                  <a:srgbClr val="ffffff"/>
                </a:solidFill>
                <a:effectLst/>
                <a:uFillTx/>
                <a:latin typeface="LucidaGrande"/>
                <a:ea typeface="LucidaGrande"/>
              </a:rPr>
              <a:t>Why It Matters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" name=""/>
          <p:cNvSpPr/>
          <p:nvPr/>
        </p:nvSpPr>
        <p:spPr>
          <a:xfrm>
            <a:off x="4448160" y="4962240"/>
            <a:ext cx="95400" cy="95760"/>
          </a:xfrm>
          <a:custGeom>
            <a:avLst/>
            <a:gdLst/>
            <a:ahLst/>
            <a:rect l="0" t="0" r="r" b="b"/>
            <a:pathLst>
              <a:path w="265" h="266">
                <a:moveTo>
                  <a:pt x="265" y="134"/>
                </a:moveTo>
                <a:cubicBezTo>
                  <a:pt x="265" y="151"/>
                  <a:pt x="262" y="168"/>
                  <a:pt x="255" y="184"/>
                </a:cubicBezTo>
                <a:cubicBezTo>
                  <a:pt x="248" y="200"/>
                  <a:pt x="239" y="215"/>
                  <a:pt x="226" y="227"/>
                </a:cubicBezTo>
                <a:cubicBezTo>
                  <a:pt x="214" y="240"/>
                  <a:pt x="200" y="249"/>
                  <a:pt x="182" y="256"/>
                </a:cubicBezTo>
                <a:cubicBezTo>
                  <a:pt x="166" y="263"/>
                  <a:pt x="149" y="266"/>
                  <a:pt x="132" y="266"/>
                </a:cubicBezTo>
                <a:cubicBezTo>
                  <a:pt x="114" y="266"/>
                  <a:pt x="97" y="263"/>
                  <a:pt x="81" y="256"/>
                </a:cubicBezTo>
                <a:cubicBezTo>
                  <a:pt x="65" y="249"/>
                  <a:pt x="51" y="240"/>
                  <a:pt x="38" y="227"/>
                </a:cubicBezTo>
                <a:cubicBezTo>
                  <a:pt x="26" y="215"/>
                  <a:pt x="16" y="200"/>
                  <a:pt x="10" y="184"/>
                </a:cubicBezTo>
                <a:cubicBezTo>
                  <a:pt x="3" y="168"/>
                  <a:pt x="0" y="151"/>
                  <a:pt x="0" y="134"/>
                </a:cubicBezTo>
                <a:cubicBezTo>
                  <a:pt x="0" y="116"/>
                  <a:pt x="3" y="99"/>
                  <a:pt x="10" y="83"/>
                </a:cubicBezTo>
                <a:cubicBezTo>
                  <a:pt x="16" y="66"/>
                  <a:pt x="26" y="51"/>
                  <a:pt x="38" y="39"/>
                </a:cubicBezTo>
                <a:cubicBezTo>
                  <a:pt x="51" y="27"/>
                  <a:pt x="65" y="17"/>
                  <a:pt x="81" y="10"/>
                </a:cubicBezTo>
                <a:cubicBezTo>
                  <a:pt x="97" y="4"/>
                  <a:pt x="114" y="0"/>
                  <a:pt x="132" y="0"/>
                </a:cubicBezTo>
                <a:cubicBezTo>
                  <a:pt x="149" y="0"/>
                  <a:pt x="166" y="4"/>
                  <a:pt x="182" y="10"/>
                </a:cubicBezTo>
                <a:cubicBezTo>
                  <a:pt x="200" y="17"/>
                  <a:pt x="214" y="27"/>
                  <a:pt x="226" y="39"/>
                </a:cubicBezTo>
                <a:cubicBezTo>
                  <a:pt x="239" y="51"/>
                  <a:pt x="248" y="66"/>
                  <a:pt x="255" y="83"/>
                </a:cubicBezTo>
                <a:cubicBezTo>
                  <a:pt x="262" y="99"/>
                  <a:pt x="265" y="116"/>
                  <a:pt x="265" y="134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" name=""/>
          <p:cNvSpPr txBox="1"/>
          <p:nvPr/>
        </p:nvSpPr>
        <p:spPr>
          <a:xfrm>
            <a:off x="4705200" y="4277160"/>
            <a:ext cx="3795840" cy="3585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400" strike="noStrike" u="none">
                <a:solidFill>
                  <a:srgbClr val="ffffff"/>
                </a:solidFill>
                <a:effectLst/>
                <a:uFillTx/>
                <a:latin typeface="LucidaGrande"/>
                <a:ea typeface="LucidaGrande"/>
              </a:rPr>
              <a:t>Design as Shaping Reality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" name=""/>
          <p:cNvSpPr/>
          <p:nvPr/>
        </p:nvSpPr>
        <p:spPr>
          <a:xfrm>
            <a:off x="0" y="0"/>
            <a:ext cx="4067280" cy="6191280"/>
          </a:xfrm>
          <a:custGeom>
            <a:avLst/>
            <a:gdLst/>
            <a:ahLst/>
            <a:rect l="0" t="0" r="r" b="b"/>
            <a:pathLst>
              <a:path w="11298" h="17198">
                <a:moveTo>
                  <a:pt x="0" y="0"/>
                </a:moveTo>
                <a:lnTo>
                  <a:pt x="11298" y="0"/>
                </a:lnTo>
                <a:lnTo>
                  <a:pt x="11298" y="17198"/>
                </a:lnTo>
                <a:lnTo>
                  <a:pt x="0" y="1719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" name=""/>
          <p:cNvSpPr txBox="1"/>
          <p:nvPr/>
        </p:nvSpPr>
        <p:spPr>
          <a:xfrm>
            <a:off x="4705200" y="4810680"/>
            <a:ext cx="1641240" cy="3585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400" strike="noStrike" u="none">
                <a:solidFill>
                  <a:srgbClr val="ffffff"/>
                </a:solidFill>
                <a:effectLst/>
                <a:uFillTx/>
                <a:latin typeface="LucidaGrande"/>
                <a:ea typeface="LucidaGrande"/>
              </a:rPr>
              <a:t>Conclusion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" name=""/>
          <p:cNvSpPr txBox="1"/>
          <p:nvPr/>
        </p:nvSpPr>
        <p:spPr>
          <a:xfrm>
            <a:off x="847440" y="381960"/>
            <a:ext cx="2371680" cy="718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48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Agenda</a:t>
            </a:r>
            <a:endParaRPr b="0" lang="en-US" sz="4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" name=""/>
          <p:cNvSpPr txBox="1"/>
          <p:nvPr/>
        </p:nvSpPr>
        <p:spPr>
          <a:xfrm>
            <a:off x="1238400" y="6405120"/>
            <a:ext cx="1046520" cy="155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05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SEAtS | 080172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" name=""/>
          <p:cNvSpPr/>
          <p:nvPr/>
        </p:nvSpPr>
        <p:spPr>
          <a:xfrm>
            <a:off x="685440" y="6343560"/>
            <a:ext cx="267120" cy="304920"/>
          </a:xfrm>
          <a:custGeom>
            <a:avLst/>
            <a:gdLst/>
            <a:ahLst/>
            <a:rect l="0" t="0" r="r" b="b"/>
            <a:pathLst>
              <a:path w="742" h="847">
                <a:moveTo>
                  <a:pt x="0" y="476"/>
                </a:moveTo>
                <a:lnTo>
                  <a:pt x="0" y="370"/>
                </a:lnTo>
                <a:cubicBezTo>
                  <a:pt x="0" y="346"/>
                  <a:pt x="3" y="322"/>
                  <a:pt x="8" y="298"/>
                </a:cubicBezTo>
                <a:cubicBezTo>
                  <a:pt x="12" y="274"/>
                  <a:pt x="19" y="251"/>
                  <a:pt x="29" y="228"/>
                </a:cubicBezTo>
                <a:cubicBezTo>
                  <a:pt x="38" y="206"/>
                  <a:pt x="49" y="185"/>
                  <a:pt x="63" y="164"/>
                </a:cubicBezTo>
                <a:cubicBezTo>
                  <a:pt x="76" y="144"/>
                  <a:pt x="92" y="125"/>
                  <a:pt x="109" y="108"/>
                </a:cubicBezTo>
                <a:cubicBezTo>
                  <a:pt x="126" y="91"/>
                  <a:pt x="145" y="76"/>
                  <a:pt x="165" y="62"/>
                </a:cubicBezTo>
                <a:cubicBezTo>
                  <a:pt x="185" y="49"/>
                  <a:pt x="207" y="37"/>
                  <a:pt x="229" y="28"/>
                </a:cubicBezTo>
                <a:cubicBezTo>
                  <a:pt x="252" y="19"/>
                  <a:pt x="275" y="12"/>
                  <a:pt x="299" y="7"/>
                </a:cubicBezTo>
                <a:cubicBezTo>
                  <a:pt x="323" y="2"/>
                  <a:pt x="347" y="0"/>
                  <a:pt x="371" y="0"/>
                </a:cubicBezTo>
                <a:cubicBezTo>
                  <a:pt x="395" y="0"/>
                  <a:pt x="419" y="2"/>
                  <a:pt x="443" y="7"/>
                </a:cubicBezTo>
                <a:cubicBezTo>
                  <a:pt x="467" y="12"/>
                  <a:pt x="490" y="19"/>
                  <a:pt x="513" y="28"/>
                </a:cubicBezTo>
                <a:cubicBezTo>
                  <a:pt x="535" y="37"/>
                  <a:pt x="556" y="49"/>
                  <a:pt x="577" y="62"/>
                </a:cubicBezTo>
                <a:cubicBezTo>
                  <a:pt x="597" y="76"/>
                  <a:pt x="616" y="91"/>
                  <a:pt x="633" y="108"/>
                </a:cubicBezTo>
                <a:cubicBezTo>
                  <a:pt x="650" y="125"/>
                  <a:pt x="665" y="144"/>
                  <a:pt x="679" y="164"/>
                </a:cubicBezTo>
                <a:cubicBezTo>
                  <a:pt x="693" y="185"/>
                  <a:pt x="705" y="206"/>
                  <a:pt x="714" y="228"/>
                </a:cubicBezTo>
                <a:cubicBezTo>
                  <a:pt x="723" y="251"/>
                  <a:pt x="730" y="274"/>
                  <a:pt x="735" y="298"/>
                </a:cubicBezTo>
                <a:cubicBezTo>
                  <a:pt x="740" y="322"/>
                  <a:pt x="742" y="346"/>
                  <a:pt x="742" y="370"/>
                </a:cubicBezTo>
                <a:lnTo>
                  <a:pt x="742" y="476"/>
                </a:lnTo>
                <a:cubicBezTo>
                  <a:pt x="742" y="500"/>
                  <a:pt x="740" y="524"/>
                  <a:pt x="735" y="548"/>
                </a:cubicBezTo>
                <a:cubicBezTo>
                  <a:pt x="730" y="573"/>
                  <a:pt x="723" y="596"/>
                  <a:pt x="714" y="619"/>
                </a:cubicBezTo>
                <a:cubicBezTo>
                  <a:pt x="705" y="641"/>
                  <a:pt x="693" y="663"/>
                  <a:pt x="679" y="683"/>
                </a:cubicBezTo>
                <a:cubicBezTo>
                  <a:pt x="665" y="703"/>
                  <a:pt x="650" y="722"/>
                  <a:pt x="633" y="739"/>
                </a:cubicBezTo>
                <a:cubicBezTo>
                  <a:pt x="616" y="756"/>
                  <a:pt x="597" y="771"/>
                  <a:pt x="577" y="785"/>
                </a:cubicBezTo>
                <a:cubicBezTo>
                  <a:pt x="556" y="798"/>
                  <a:pt x="535" y="810"/>
                  <a:pt x="513" y="819"/>
                </a:cubicBezTo>
                <a:cubicBezTo>
                  <a:pt x="490" y="829"/>
                  <a:pt x="467" y="836"/>
                  <a:pt x="443" y="840"/>
                </a:cubicBezTo>
                <a:cubicBezTo>
                  <a:pt x="419" y="845"/>
                  <a:pt x="395" y="847"/>
                  <a:pt x="371" y="847"/>
                </a:cubicBezTo>
                <a:cubicBezTo>
                  <a:pt x="347" y="847"/>
                  <a:pt x="323" y="845"/>
                  <a:pt x="299" y="840"/>
                </a:cubicBezTo>
                <a:cubicBezTo>
                  <a:pt x="275" y="836"/>
                  <a:pt x="252" y="829"/>
                  <a:pt x="229" y="819"/>
                </a:cubicBezTo>
                <a:cubicBezTo>
                  <a:pt x="207" y="810"/>
                  <a:pt x="185" y="798"/>
                  <a:pt x="165" y="785"/>
                </a:cubicBezTo>
                <a:cubicBezTo>
                  <a:pt x="145" y="771"/>
                  <a:pt x="126" y="756"/>
                  <a:pt x="109" y="739"/>
                </a:cubicBezTo>
                <a:cubicBezTo>
                  <a:pt x="92" y="722"/>
                  <a:pt x="76" y="703"/>
                  <a:pt x="63" y="683"/>
                </a:cubicBezTo>
                <a:cubicBezTo>
                  <a:pt x="49" y="663"/>
                  <a:pt x="38" y="641"/>
                  <a:pt x="29" y="619"/>
                </a:cubicBezTo>
                <a:cubicBezTo>
                  <a:pt x="19" y="596"/>
                  <a:pt x="12" y="573"/>
                  <a:pt x="8" y="548"/>
                </a:cubicBezTo>
                <a:cubicBezTo>
                  <a:pt x="3" y="524"/>
                  <a:pt x="0" y="500"/>
                  <a:pt x="0" y="476"/>
                </a:cubicBezTo>
                <a:close/>
              </a:path>
            </a:pathLst>
          </a:custGeom>
          <a:solidFill>
            <a:srgbClr val="ffffff">
              <a:alpha val="74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" name=""/>
          <p:cNvSpPr txBox="1"/>
          <p:nvPr/>
        </p:nvSpPr>
        <p:spPr>
          <a:xfrm>
            <a:off x="1238400" y="6569280"/>
            <a:ext cx="3390120" cy="12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800" strike="noStrike" u="none">
                <a:solidFill>
                  <a:srgbClr val="a6a6a6"/>
                </a:solidFill>
                <a:effectLst/>
                <a:uFillTx/>
                <a:latin typeface="LucidaGrande"/>
                <a:ea typeface="LucidaGrande"/>
              </a:rPr>
              <a:t>Version: GITREVISION | © 22.09.2026 University of Southampton</a:t>
            </a:r>
            <a:endParaRPr b="0" lang="en-US" sz="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" name=""/>
          <p:cNvSpPr txBox="1"/>
          <p:nvPr/>
        </p:nvSpPr>
        <p:spPr>
          <a:xfrm>
            <a:off x="762120" y="6390720"/>
            <a:ext cx="177480" cy="21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3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61" name="" descr=""/>
          <p:cNvPicPr/>
          <p:nvPr/>
        </p:nvPicPr>
        <p:blipFill>
          <a:blip r:embed="rId1"/>
          <a:stretch/>
        </p:blipFill>
        <p:spPr>
          <a:xfrm>
            <a:off x="10134720" y="5981760"/>
            <a:ext cx="1904760" cy="1065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2" name=""/>
          <p:cNvSpPr txBox="1"/>
          <p:nvPr/>
        </p:nvSpPr>
        <p:spPr>
          <a:xfrm>
            <a:off x="762120" y="2680200"/>
            <a:ext cx="1041012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Design shapes our lives as much as science and technology do—through countless artefacts we use daily.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3" name=""/>
          <p:cNvSpPr txBox="1"/>
          <p:nvPr/>
        </p:nvSpPr>
        <p:spPr>
          <a:xfrm>
            <a:off x="762120" y="2984760"/>
            <a:ext cx="714492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But design cannot be understood through science and technology alone.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4" name=""/>
          <p:cNvSpPr txBox="1"/>
          <p:nvPr/>
        </p:nvSpPr>
        <p:spPr>
          <a:xfrm>
            <a:off x="762120" y="4061160"/>
            <a:ext cx="1012644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Philosophy of design is a young ﬁeld combining philosophy and design research. Most philosophers of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5" name=""/>
          <p:cNvSpPr txBox="1"/>
          <p:nvPr/>
        </p:nvSpPr>
        <p:spPr>
          <a:xfrm>
            <a:off x="762120" y="4366080"/>
            <a:ext cx="998316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design are "half amateurs"—they come from mixed backgrounds (philosophy, design practice, design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6" name=""/>
          <p:cNvSpPr txBox="1"/>
          <p:nvPr/>
        </p:nvSpPr>
        <p:spPr>
          <a:xfrm>
            <a:off x="762120" y="4670640"/>
            <a:ext cx="518688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research). This cross-disciplinary nature is essential.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7" name=""/>
          <p:cNvSpPr txBox="1"/>
          <p:nvPr/>
        </p:nvSpPr>
        <p:spPr>
          <a:xfrm>
            <a:off x="1238400" y="6405120"/>
            <a:ext cx="1046520" cy="155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05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SEAtS | 080172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8" name=""/>
          <p:cNvSpPr/>
          <p:nvPr/>
        </p:nvSpPr>
        <p:spPr>
          <a:xfrm>
            <a:off x="766440" y="3414600"/>
            <a:ext cx="10658880" cy="495720"/>
          </a:xfrm>
          <a:custGeom>
            <a:avLst/>
            <a:gdLst/>
            <a:ahLst/>
            <a:rect l="0" t="0" r="r" b="b"/>
            <a:pathLst>
              <a:path w="29608" h="1377">
                <a:moveTo>
                  <a:pt x="0" y="1231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8"/>
                  <a:pt x="8" y="98"/>
                  <a:pt x="11" y="90"/>
                </a:cubicBezTo>
                <a:cubicBezTo>
                  <a:pt x="15" y="81"/>
                  <a:pt x="20" y="72"/>
                  <a:pt x="25" y="64"/>
                </a:cubicBezTo>
                <a:cubicBezTo>
                  <a:pt x="30" y="57"/>
                  <a:pt x="36" y="49"/>
                  <a:pt x="43" y="42"/>
                </a:cubicBezTo>
                <a:cubicBezTo>
                  <a:pt x="50" y="36"/>
                  <a:pt x="57" y="30"/>
                  <a:pt x="65" y="24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4"/>
                  <a:pt x="118" y="3"/>
                </a:cubicBezTo>
                <a:cubicBezTo>
                  <a:pt x="127" y="1"/>
                  <a:pt x="136" y="0"/>
                  <a:pt x="146" y="0"/>
                </a:cubicBezTo>
                <a:lnTo>
                  <a:pt x="29463" y="0"/>
                </a:lnTo>
                <a:cubicBezTo>
                  <a:pt x="29472" y="0"/>
                  <a:pt x="29482" y="1"/>
                  <a:pt x="29491" y="3"/>
                </a:cubicBezTo>
                <a:cubicBezTo>
                  <a:pt x="29501" y="4"/>
                  <a:pt x="29510" y="7"/>
                  <a:pt x="29518" y="11"/>
                </a:cubicBezTo>
                <a:cubicBezTo>
                  <a:pt x="29527" y="15"/>
                  <a:pt x="29536" y="19"/>
                  <a:pt x="29544" y="24"/>
                </a:cubicBezTo>
                <a:cubicBezTo>
                  <a:pt x="29552" y="30"/>
                  <a:pt x="29559" y="36"/>
                  <a:pt x="29566" y="42"/>
                </a:cubicBezTo>
                <a:cubicBezTo>
                  <a:pt x="29572" y="49"/>
                  <a:pt x="29578" y="57"/>
                  <a:pt x="29584" y="64"/>
                </a:cubicBezTo>
                <a:cubicBezTo>
                  <a:pt x="29589" y="72"/>
                  <a:pt x="29594" y="81"/>
                  <a:pt x="29597" y="90"/>
                </a:cubicBezTo>
                <a:cubicBezTo>
                  <a:pt x="29601" y="98"/>
                  <a:pt x="29604" y="108"/>
                  <a:pt x="29605" y="117"/>
                </a:cubicBezTo>
                <a:cubicBezTo>
                  <a:pt x="29607" y="126"/>
                  <a:pt x="29608" y="136"/>
                  <a:pt x="29608" y="145"/>
                </a:cubicBezTo>
                <a:lnTo>
                  <a:pt x="29608" y="1231"/>
                </a:lnTo>
                <a:cubicBezTo>
                  <a:pt x="29608" y="1241"/>
                  <a:pt x="29607" y="1250"/>
                  <a:pt x="29605" y="1260"/>
                </a:cubicBezTo>
                <a:cubicBezTo>
                  <a:pt x="29604" y="1269"/>
                  <a:pt x="29601" y="1278"/>
                  <a:pt x="29597" y="1287"/>
                </a:cubicBezTo>
                <a:cubicBezTo>
                  <a:pt x="29594" y="1296"/>
                  <a:pt x="29589" y="1304"/>
                  <a:pt x="29584" y="1312"/>
                </a:cubicBezTo>
                <a:cubicBezTo>
                  <a:pt x="29578" y="1320"/>
                  <a:pt x="29572" y="1327"/>
                  <a:pt x="29566" y="1334"/>
                </a:cubicBezTo>
                <a:cubicBezTo>
                  <a:pt x="29559" y="1341"/>
                  <a:pt x="29552" y="1347"/>
                  <a:pt x="29544" y="1352"/>
                </a:cubicBezTo>
                <a:cubicBezTo>
                  <a:pt x="29536" y="1357"/>
                  <a:pt x="29527" y="1362"/>
                  <a:pt x="29518" y="1366"/>
                </a:cubicBezTo>
                <a:cubicBezTo>
                  <a:pt x="29510" y="1369"/>
                  <a:pt x="29501" y="1372"/>
                  <a:pt x="29491" y="1374"/>
                </a:cubicBezTo>
                <a:cubicBezTo>
                  <a:pt x="29482" y="1376"/>
                  <a:pt x="29472" y="1377"/>
                  <a:pt x="29463" y="1377"/>
                </a:cubicBezTo>
                <a:lnTo>
                  <a:pt x="146" y="1377"/>
                </a:lnTo>
                <a:cubicBezTo>
                  <a:pt x="136" y="1377"/>
                  <a:pt x="127" y="1376"/>
                  <a:pt x="118" y="1374"/>
                </a:cubicBezTo>
                <a:cubicBezTo>
                  <a:pt x="108" y="1372"/>
                  <a:pt x="99" y="1369"/>
                  <a:pt x="90" y="1366"/>
                </a:cubicBezTo>
                <a:cubicBezTo>
                  <a:pt x="81" y="1362"/>
                  <a:pt x="73" y="1357"/>
                  <a:pt x="65" y="1352"/>
                </a:cubicBezTo>
                <a:cubicBezTo>
                  <a:pt x="57" y="1347"/>
                  <a:pt x="50" y="1341"/>
                  <a:pt x="43" y="1334"/>
                </a:cubicBezTo>
                <a:cubicBezTo>
                  <a:pt x="36" y="1327"/>
                  <a:pt x="30" y="1320"/>
                  <a:pt x="25" y="1312"/>
                </a:cubicBezTo>
                <a:cubicBezTo>
                  <a:pt x="20" y="1304"/>
                  <a:pt x="15" y="1296"/>
                  <a:pt x="11" y="1287"/>
                </a:cubicBezTo>
                <a:cubicBezTo>
                  <a:pt x="8" y="1278"/>
                  <a:pt x="5" y="1269"/>
                  <a:pt x="3" y="1260"/>
                </a:cubicBezTo>
                <a:cubicBezTo>
                  <a:pt x="1" y="1250"/>
                  <a:pt x="0" y="1241"/>
                  <a:pt x="0" y="1231"/>
                </a:cubicBezTo>
                <a:close/>
              </a:path>
            </a:pathLst>
          </a:custGeom>
          <a:solidFill>
            <a:srgbClr val="e8fcf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9" name=""/>
          <p:cNvSpPr/>
          <p:nvPr/>
        </p:nvSpPr>
        <p:spPr>
          <a:xfrm>
            <a:off x="766440" y="3414600"/>
            <a:ext cx="10658880" cy="495720"/>
          </a:xfrm>
          <a:custGeom>
            <a:avLst/>
            <a:gdLst/>
            <a:ahLst/>
            <a:rect l="0" t="0" r="r" b="b"/>
            <a:pathLst>
              <a:path fill="none" w="29608" h="1377">
                <a:moveTo>
                  <a:pt x="0" y="1231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8"/>
                  <a:pt x="8" y="98"/>
                  <a:pt x="11" y="90"/>
                </a:cubicBezTo>
                <a:cubicBezTo>
                  <a:pt x="15" y="81"/>
                  <a:pt x="20" y="72"/>
                  <a:pt x="25" y="64"/>
                </a:cubicBezTo>
                <a:cubicBezTo>
                  <a:pt x="30" y="57"/>
                  <a:pt x="36" y="49"/>
                  <a:pt x="43" y="42"/>
                </a:cubicBezTo>
                <a:cubicBezTo>
                  <a:pt x="50" y="36"/>
                  <a:pt x="57" y="30"/>
                  <a:pt x="65" y="24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4"/>
                  <a:pt x="118" y="3"/>
                </a:cubicBezTo>
                <a:cubicBezTo>
                  <a:pt x="127" y="1"/>
                  <a:pt x="136" y="0"/>
                  <a:pt x="146" y="0"/>
                </a:cubicBezTo>
                <a:lnTo>
                  <a:pt x="29463" y="0"/>
                </a:lnTo>
                <a:cubicBezTo>
                  <a:pt x="29472" y="0"/>
                  <a:pt x="29482" y="1"/>
                  <a:pt x="29491" y="3"/>
                </a:cubicBezTo>
                <a:cubicBezTo>
                  <a:pt x="29501" y="4"/>
                  <a:pt x="29510" y="7"/>
                  <a:pt x="29518" y="11"/>
                </a:cubicBezTo>
                <a:cubicBezTo>
                  <a:pt x="29527" y="15"/>
                  <a:pt x="29536" y="19"/>
                  <a:pt x="29544" y="24"/>
                </a:cubicBezTo>
                <a:cubicBezTo>
                  <a:pt x="29552" y="30"/>
                  <a:pt x="29559" y="36"/>
                  <a:pt x="29566" y="42"/>
                </a:cubicBezTo>
                <a:cubicBezTo>
                  <a:pt x="29572" y="49"/>
                  <a:pt x="29578" y="57"/>
                  <a:pt x="29584" y="64"/>
                </a:cubicBezTo>
                <a:cubicBezTo>
                  <a:pt x="29589" y="72"/>
                  <a:pt x="29594" y="81"/>
                  <a:pt x="29597" y="90"/>
                </a:cubicBezTo>
                <a:cubicBezTo>
                  <a:pt x="29601" y="98"/>
                  <a:pt x="29604" y="108"/>
                  <a:pt x="29605" y="117"/>
                </a:cubicBezTo>
                <a:cubicBezTo>
                  <a:pt x="29607" y="126"/>
                  <a:pt x="29608" y="136"/>
                  <a:pt x="29608" y="145"/>
                </a:cubicBezTo>
                <a:lnTo>
                  <a:pt x="29608" y="1231"/>
                </a:lnTo>
                <a:cubicBezTo>
                  <a:pt x="29608" y="1241"/>
                  <a:pt x="29607" y="1250"/>
                  <a:pt x="29605" y="1260"/>
                </a:cubicBezTo>
                <a:cubicBezTo>
                  <a:pt x="29604" y="1269"/>
                  <a:pt x="29601" y="1278"/>
                  <a:pt x="29597" y="1287"/>
                </a:cubicBezTo>
                <a:cubicBezTo>
                  <a:pt x="29594" y="1296"/>
                  <a:pt x="29589" y="1304"/>
                  <a:pt x="29584" y="1312"/>
                </a:cubicBezTo>
                <a:cubicBezTo>
                  <a:pt x="29578" y="1320"/>
                  <a:pt x="29572" y="1327"/>
                  <a:pt x="29566" y="1334"/>
                </a:cubicBezTo>
                <a:cubicBezTo>
                  <a:pt x="29559" y="1341"/>
                  <a:pt x="29552" y="1347"/>
                  <a:pt x="29544" y="1352"/>
                </a:cubicBezTo>
                <a:cubicBezTo>
                  <a:pt x="29536" y="1357"/>
                  <a:pt x="29527" y="1362"/>
                  <a:pt x="29518" y="1366"/>
                </a:cubicBezTo>
                <a:cubicBezTo>
                  <a:pt x="29510" y="1369"/>
                  <a:pt x="29501" y="1372"/>
                  <a:pt x="29491" y="1374"/>
                </a:cubicBezTo>
                <a:cubicBezTo>
                  <a:pt x="29482" y="1376"/>
                  <a:pt x="29472" y="1377"/>
                  <a:pt x="29463" y="1377"/>
                </a:cubicBezTo>
                <a:lnTo>
                  <a:pt x="146" y="1377"/>
                </a:lnTo>
                <a:cubicBezTo>
                  <a:pt x="136" y="1377"/>
                  <a:pt x="127" y="1376"/>
                  <a:pt x="118" y="1374"/>
                </a:cubicBezTo>
                <a:cubicBezTo>
                  <a:pt x="108" y="1372"/>
                  <a:pt x="99" y="1369"/>
                  <a:pt x="90" y="1366"/>
                </a:cubicBezTo>
                <a:cubicBezTo>
                  <a:pt x="81" y="1362"/>
                  <a:pt x="73" y="1357"/>
                  <a:pt x="65" y="1352"/>
                </a:cubicBezTo>
                <a:cubicBezTo>
                  <a:pt x="57" y="1347"/>
                  <a:pt x="50" y="1341"/>
                  <a:pt x="43" y="1334"/>
                </a:cubicBezTo>
                <a:cubicBezTo>
                  <a:pt x="36" y="1327"/>
                  <a:pt x="30" y="1320"/>
                  <a:pt x="25" y="1312"/>
                </a:cubicBezTo>
                <a:cubicBezTo>
                  <a:pt x="20" y="1304"/>
                  <a:pt x="15" y="1296"/>
                  <a:pt x="11" y="1287"/>
                </a:cubicBezTo>
                <a:cubicBezTo>
                  <a:pt x="8" y="1278"/>
                  <a:pt x="5" y="1269"/>
                  <a:pt x="3" y="1260"/>
                </a:cubicBezTo>
                <a:cubicBezTo>
                  <a:pt x="1" y="1250"/>
                  <a:pt x="0" y="1241"/>
                  <a:pt x="0" y="1231"/>
                </a:cubicBezTo>
              </a:path>
            </a:pathLst>
          </a:custGeom>
          <a:ln w="9360">
            <a:solidFill>
              <a:srgbClr val="baf7f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0" name=""/>
          <p:cNvSpPr txBox="1"/>
          <p:nvPr/>
        </p:nvSpPr>
        <p:spPr>
          <a:xfrm>
            <a:off x="762120" y="372600"/>
            <a:ext cx="7797960" cy="718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48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Design Shapes Our Lives</a:t>
            </a:r>
            <a:endParaRPr b="0" lang="en-US" sz="4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1" name=""/>
          <p:cNvSpPr txBox="1"/>
          <p:nvPr/>
        </p:nvSpPr>
        <p:spPr>
          <a:xfrm>
            <a:off x="923760" y="3519000"/>
            <a:ext cx="522828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Understanding design requires serious philosophical work.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2" name=""/>
          <p:cNvSpPr/>
          <p:nvPr/>
        </p:nvSpPr>
        <p:spPr>
          <a:xfrm>
            <a:off x="685440" y="6343560"/>
            <a:ext cx="267120" cy="304920"/>
          </a:xfrm>
          <a:custGeom>
            <a:avLst/>
            <a:gdLst/>
            <a:ahLst/>
            <a:rect l="0" t="0" r="r" b="b"/>
            <a:pathLst>
              <a:path w="742" h="847">
                <a:moveTo>
                  <a:pt x="0" y="476"/>
                </a:moveTo>
                <a:lnTo>
                  <a:pt x="0" y="370"/>
                </a:lnTo>
                <a:cubicBezTo>
                  <a:pt x="0" y="346"/>
                  <a:pt x="3" y="322"/>
                  <a:pt x="8" y="298"/>
                </a:cubicBezTo>
                <a:cubicBezTo>
                  <a:pt x="12" y="274"/>
                  <a:pt x="19" y="251"/>
                  <a:pt x="29" y="228"/>
                </a:cubicBezTo>
                <a:cubicBezTo>
                  <a:pt x="38" y="206"/>
                  <a:pt x="49" y="185"/>
                  <a:pt x="63" y="164"/>
                </a:cubicBezTo>
                <a:cubicBezTo>
                  <a:pt x="76" y="144"/>
                  <a:pt x="92" y="125"/>
                  <a:pt x="109" y="108"/>
                </a:cubicBezTo>
                <a:cubicBezTo>
                  <a:pt x="126" y="91"/>
                  <a:pt x="145" y="76"/>
                  <a:pt x="165" y="62"/>
                </a:cubicBezTo>
                <a:cubicBezTo>
                  <a:pt x="185" y="49"/>
                  <a:pt x="207" y="37"/>
                  <a:pt x="229" y="28"/>
                </a:cubicBezTo>
                <a:cubicBezTo>
                  <a:pt x="252" y="19"/>
                  <a:pt x="275" y="12"/>
                  <a:pt x="299" y="7"/>
                </a:cubicBezTo>
                <a:cubicBezTo>
                  <a:pt x="323" y="2"/>
                  <a:pt x="347" y="0"/>
                  <a:pt x="371" y="0"/>
                </a:cubicBezTo>
                <a:cubicBezTo>
                  <a:pt x="395" y="0"/>
                  <a:pt x="419" y="2"/>
                  <a:pt x="443" y="7"/>
                </a:cubicBezTo>
                <a:cubicBezTo>
                  <a:pt x="467" y="12"/>
                  <a:pt x="490" y="19"/>
                  <a:pt x="513" y="28"/>
                </a:cubicBezTo>
                <a:cubicBezTo>
                  <a:pt x="535" y="37"/>
                  <a:pt x="556" y="49"/>
                  <a:pt x="577" y="62"/>
                </a:cubicBezTo>
                <a:cubicBezTo>
                  <a:pt x="597" y="76"/>
                  <a:pt x="616" y="91"/>
                  <a:pt x="633" y="108"/>
                </a:cubicBezTo>
                <a:cubicBezTo>
                  <a:pt x="650" y="125"/>
                  <a:pt x="665" y="144"/>
                  <a:pt x="679" y="164"/>
                </a:cubicBezTo>
                <a:cubicBezTo>
                  <a:pt x="693" y="185"/>
                  <a:pt x="705" y="206"/>
                  <a:pt x="714" y="228"/>
                </a:cubicBezTo>
                <a:cubicBezTo>
                  <a:pt x="723" y="251"/>
                  <a:pt x="730" y="274"/>
                  <a:pt x="735" y="298"/>
                </a:cubicBezTo>
                <a:cubicBezTo>
                  <a:pt x="740" y="322"/>
                  <a:pt x="742" y="346"/>
                  <a:pt x="742" y="370"/>
                </a:cubicBezTo>
                <a:lnTo>
                  <a:pt x="742" y="476"/>
                </a:lnTo>
                <a:cubicBezTo>
                  <a:pt x="742" y="500"/>
                  <a:pt x="740" y="524"/>
                  <a:pt x="735" y="548"/>
                </a:cubicBezTo>
                <a:cubicBezTo>
                  <a:pt x="730" y="573"/>
                  <a:pt x="723" y="596"/>
                  <a:pt x="714" y="619"/>
                </a:cubicBezTo>
                <a:cubicBezTo>
                  <a:pt x="705" y="641"/>
                  <a:pt x="693" y="663"/>
                  <a:pt x="679" y="683"/>
                </a:cubicBezTo>
                <a:cubicBezTo>
                  <a:pt x="665" y="703"/>
                  <a:pt x="650" y="722"/>
                  <a:pt x="633" y="739"/>
                </a:cubicBezTo>
                <a:cubicBezTo>
                  <a:pt x="616" y="756"/>
                  <a:pt x="597" y="771"/>
                  <a:pt x="577" y="785"/>
                </a:cubicBezTo>
                <a:cubicBezTo>
                  <a:pt x="556" y="798"/>
                  <a:pt x="535" y="810"/>
                  <a:pt x="513" y="819"/>
                </a:cubicBezTo>
                <a:cubicBezTo>
                  <a:pt x="490" y="829"/>
                  <a:pt x="467" y="836"/>
                  <a:pt x="443" y="840"/>
                </a:cubicBezTo>
                <a:cubicBezTo>
                  <a:pt x="419" y="845"/>
                  <a:pt x="395" y="847"/>
                  <a:pt x="371" y="847"/>
                </a:cubicBezTo>
                <a:cubicBezTo>
                  <a:pt x="347" y="847"/>
                  <a:pt x="323" y="845"/>
                  <a:pt x="299" y="840"/>
                </a:cubicBezTo>
                <a:cubicBezTo>
                  <a:pt x="275" y="836"/>
                  <a:pt x="252" y="829"/>
                  <a:pt x="229" y="819"/>
                </a:cubicBezTo>
                <a:cubicBezTo>
                  <a:pt x="207" y="810"/>
                  <a:pt x="185" y="798"/>
                  <a:pt x="165" y="785"/>
                </a:cubicBezTo>
                <a:cubicBezTo>
                  <a:pt x="145" y="771"/>
                  <a:pt x="126" y="756"/>
                  <a:pt x="109" y="739"/>
                </a:cubicBezTo>
                <a:cubicBezTo>
                  <a:pt x="92" y="722"/>
                  <a:pt x="76" y="703"/>
                  <a:pt x="63" y="683"/>
                </a:cubicBezTo>
                <a:cubicBezTo>
                  <a:pt x="49" y="663"/>
                  <a:pt x="38" y="641"/>
                  <a:pt x="29" y="619"/>
                </a:cubicBezTo>
                <a:cubicBezTo>
                  <a:pt x="19" y="596"/>
                  <a:pt x="12" y="573"/>
                  <a:pt x="8" y="548"/>
                </a:cubicBezTo>
                <a:cubicBezTo>
                  <a:pt x="3" y="524"/>
                  <a:pt x="0" y="500"/>
                  <a:pt x="0" y="476"/>
                </a:cubicBezTo>
                <a:close/>
              </a:path>
            </a:pathLst>
          </a:custGeom>
          <a:solidFill>
            <a:srgbClr val="ffffff">
              <a:alpha val="74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3" name=""/>
          <p:cNvSpPr txBox="1"/>
          <p:nvPr/>
        </p:nvSpPr>
        <p:spPr>
          <a:xfrm>
            <a:off x="1238400" y="6569280"/>
            <a:ext cx="3390120" cy="12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800" strike="noStrike" u="none">
                <a:solidFill>
                  <a:srgbClr val="a6a6a6"/>
                </a:solidFill>
                <a:effectLst/>
                <a:uFillTx/>
                <a:latin typeface="LucidaGrande"/>
                <a:ea typeface="LucidaGrande"/>
              </a:rPr>
              <a:t>Version: GITREVISION | © 22.09.2026 University of Southampton</a:t>
            </a:r>
            <a:endParaRPr b="0" lang="en-US" sz="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4" name=""/>
          <p:cNvSpPr txBox="1"/>
          <p:nvPr/>
        </p:nvSpPr>
        <p:spPr>
          <a:xfrm>
            <a:off x="762120" y="6390720"/>
            <a:ext cx="177480" cy="21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4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78" name="" descr=""/>
          <p:cNvPicPr/>
          <p:nvPr/>
        </p:nvPicPr>
        <p:blipFill>
          <a:blip r:embed="rId1"/>
          <a:stretch/>
        </p:blipFill>
        <p:spPr>
          <a:xfrm>
            <a:off x="10134720" y="5981760"/>
            <a:ext cx="1904760" cy="1065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9" name=""/>
          <p:cNvSpPr txBox="1"/>
          <p:nvPr/>
        </p:nvSpPr>
        <p:spPr>
          <a:xfrm>
            <a:off x="1238400" y="6405120"/>
            <a:ext cx="1046520" cy="155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05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SEAtS | 080172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0" name=""/>
          <p:cNvSpPr/>
          <p:nvPr/>
        </p:nvSpPr>
        <p:spPr>
          <a:xfrm>
            <a:off x="766440" y="2690640"/>
            <a:ext cx="5277240" cy="2210040"/>
          </a:xfrm>
          <a:custGeom>
            <a:avLst/>
            <a:gdLst/>
            <a:ahLst/>
            <a:rect l="0" t="0" r="r" b="b"/>
            <a:pathLst>
              <a:path w="14659" h="6139">
                <a:moveTo>
                  <a:pt x="0" y="5994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8"/>
                  <a:pt x="8" y="99"/>
                  <a:pt x="11" y="90"/>
                </a:cubicBezTo>
                <a:cubicBezTo>
                  <a:pt x="15" y="81"/>
                  <a:pt x="20" y="73"/>
                  <a:pt x="25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50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5"/>
                  <a:pt x="118" y="3"/>
                </a:cubicBezTo>
                <a:cubicBezTo>
                  <a:pt x="127" y="1"/>
                  <a:pt x="136" y="0"/>
                  <a:pt x="146" y="0"/>
                </a:cubicBezTo>
                <a:lnTo>
                  <a:pt x="14514" y="0"/>
                </a:lnTo>
                <a:cubicBezTo>
                  <a:pt x="14523" y="0"/>
                  <a:pt x="14533" y="1"/>
                  <a:pt x="14542" y="3"/>
                </a:cubicBezTo>
                <a:cubicBezTo>
                  <a:pt x="14552" y="5"/>
                  <a:pt x="14561" y="7"/>
                  <a:pt x="14569" y="11"/>
                </a:cubicBezTo>
                <a:cubicBezTo>
                  <a:pt x="14578" y="15"/>
                  <a:pt x="14587" y="19"/>
                  <a:pt x="14595" y="25"/>
                </a:cubicBezTo>
                <a:cubicBezTo>
                  <a:pt x="14603" y="30"/>
                  <a:pt x="14610" y="36"/>
                  <a:pt x="14617" y="43"/>
                </a:cubicBezTo>
                <a:cubicBezTo>
                  <a:pt x="14623" y="49"/>
                  <a:pt x="14629" y="57"/>
                  <a:pt x="14635" y="65"/>
                </a:cubicBezTo>
                <a:cubicBezTo>
                  <a:pt x="14640" y="73"/>
                  <a:pt x="14645" y="81"/>
                  <a:pt x="14648" y="90"/>
                </a:cubicBezTo>
                <a:cubicBezTo>
                  <a:pt x="14652" y="99"/>
                  <a:pt x="14655" y="108"/>
                  <a:pt x="14657" y="117"/>
                </a:cubicBezTo>
                <a:cubicBezTo>
                  <a:pt x="14658" y="126"/>
                  <a:pt x="14659" y="136"/>
                  <a:pt x="14659" y="145"/>
                </a:cubicBezTo>
                <a:lnTo>
                  <a:pt x="14659" y="5994"/>
                </a:lnTo>
                <a:cubicBezTo>
                  <a:pt x="14659" y="6003"/>
                  <a:pt x="14658" y="6013"/>
                  <a:pt x="14657" y="6022"/>
                </a:cubicBezTo>
                <a:cubicBezTo>
                  <a:pt x="14655" y="6032"/>
                  <a:pt x="14652" y="6041"/>
                  <a:pt x="14648" y="6049"/>
                </a:cubicBezTo>
                <a:cubicBezTo>
                  <a:pt x="14645" y="6058"/>
                  <a:pt x="14640" y="6067"/>
                  <a:pt x="14635" y="6075"/>
                </a:cubicBezTo>
                <a:cubicBezTo>
                  <a:pt x="14629" y="6083"/>
                  <a:pt x="14623" y="6090"/>
                  <a:pt x="14617" y="6097"/>
                </a:cubicBezTo>
                <a:cubicBezTo>
                  <a:pt x="14610" y="6103"/>
                  <a:pt x="14603" y="6109"/>
                  <a:pt x="14595" y="6115"/>
                </a:cubicBezTo>
                <a:cubicBezTo>
                  <a:pt x="14587" y="6120"/>
                  <a:pt x="14578" y="6125"/>
                  <a:pt x="14569" y="6128"/>
                </a:cubicBezTo>
                <a:cubicBezTo>
                  <a:pt x="14561" y="6132"/>
                  <a:pt x="14552" y="6135"/>
                  <a:pt x="14542" y="6137"/>
                </a:cubicBezTo>
                <a:cubicBezTo>
                  <a:pt x="14533" y="6138"/>
                  <a:pt x="14523" y="6139"/>
                  <a:pt x="14514" y="6139"/>
                </a:cubicBezTo>
                <a:lnTo>
                  <a:pt x="146" y="6139"/>
                </a:lnTo>
                <a:cubicBezTo>
                  <a:pt x="136" y="6139"/>
                  <a:pt x="127" y="6138"/>
                  <a:pt x="118" y="6137"/>
                </a:cubicBezTo>
                <a:cubicBezTo>
                  <a:pt x="108" y="6135"/>
                  <a:pt x="99" y="6132"/>
                  <a:pt x="90" y="6128"/>
                </a:cubicBezTo>
                <a:cubicBezTo>
                  <a:pt x="81" y="6125"/>
                  <a:pt x="73" y="6120"/>
                  <a:pt x="65" y="6115"/>
                </a:cubicBezTo>
                <a:cubicBezTo>
                  <a:pt x="57" y="6109"/>
                  <a:pt x="50" y="6103"/>
                  <a:pt x="43" y="6097"/>
                </a:cubicBezTo>
                <a:cubicBezTo>
                  <a:pt x="36" y="6090"/>
                  <a:pt x="30" y="6083"/>
                  <a:pt x="25" y="6075"/>
                </a:cubicBezTo>
                <a:cubicBezTo>
                  <a:pt x="20" y="6067"/>
                  <a:pt x="15" y="6058"/>
                  <a:pt x="11" y="6049"/>
                </a:cubicBezTo>
                <a:cubicBezTo>
                  <a:pt x="8" y="6041"/>
                  <a:pt x="5" y="6032"/>
                  <a:pt x="3" y="6022"/>
                </a:cubicBezTo>
                <a:cubicBezTo>
                  <a:pt x="1" y="6013"/>
                  <a:pt x="0" y="6003"/>
                  <a:pt x="0" y="5994"/>
                </a:cubicBezTo>
                <a:close/>
              </a:path>
            </a:pathLst>
          </a:custGeom>
          <a:solidFill>
            <a:srgbClr val="e9f2f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1" name=""/>
          <p:cNvSpPr/>
          <p:nvPr/>
        </p:nvSpPr>
        <p:spPr>
          <a:xfrm>
            <a:off x="766440" y="2690640"/>
            <a:ext cx="5277240" cy="2210040"/>
          </a:xfrm>
          <a:custGeom>
            <a:avLst/>
            <a:gdLst/>
            <a:ahLst/>
            <a:rect l="0" t="0" r="r" b="b"/>
            <a:pathLst>
              <a:path fill="none" w="14659" h="6139">
                <a:moveTo>
                  <a:pt x="0" y="5994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8"/>
                  <a:pt x="8" y="99"/>
                  <a:pt x="11" y="90"/>
                </a:cubicBezTo>
                <a:cubicBezTo>
                  <a:pt x="15" y="81"/>
                  <a:pt x="20" y="73"/>
                  <a:pt x="25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50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5"/>
                  <a:pt x="118" y="3"/>
                </a:cubicBezTo>
                <a:cubicBezTo>
                  <a:pt x="127" y="1"/>
                  <a:pt x="136" y="0"/>
                  <a:pt x="146" y="0"/>
                </a:cubicBezTo>
                <a:lnTo>
                  <a:pt x="14514" y="0"/>
                </a:lnTo>
                <a:cubicBezTo>
                  <a:pt x="14523" y="0"/>
                  <a:pt x="14533" y="1"/>
                  <a:pt x="14542" y="3"/>
                </a:cubicBezTo>
                <a:cubicBezTo>
                  <a:pt x="14552" y="5"/>
                  <a:pt x="14561" y="7"/>
                  <a:pt x="14569" y="11"/>
                </a:cubicBezTo>
                <a:cubicBezTo>
                  <a:pt x="14578" y="15"/>
                  <a:pt x="14587" y="19"/>
                  <a:pt x="14595" y="25"/>
                </a:cubicBezTo>
                <a:cubicBezTo>
                  <a:pt x="14603" y="30"/>
                  <a:pt x="14610" y="36"/>
                  <a:pt x="14617" y="43"/>
                </a:cubicBezTo>
                <a:cubicBezTo>
                  <a:pt x="14623" y="49"/>
                  <a:pt x="14629" y="57"/>
                  <a:pt x="14635" y="65"/>
                </a:cubicBezTo>
                <a:cubicBezTo>
                  <a:pt x="14640" y="73"/>
                  <a:pt x="14645" y="81"/>
                  <a:pt x="14648" y="90"/>
                </a:cubicBezTo>
                <a:cubicBezTo>
                  <a:pt x="14652" y="99"/>
                  <a:pt x="14655" y="108"/>
                  <a:pt x="14657" y="117"/>
                </a:cubicBezTo>
                <a:cubicBezTo>
                  <a:pt x="14658" y="126"/>
                  <a:pt x="14659" y="136"/>
                  <a:pt x="14659" y="145"/>
                </a:cubicBezTo>
                <a:lnTo>
                  <a:pt x="14659" y="5994"/>
                </a:lnTo>
                <a:cubicBezTo>
                  <a:pt x="14659" y="6003"/>
                  <a:pt x="14658" y="6013"/>
                  <a:pt x="14657" y="6022"/>
                </a:cubicBezTo>
                <a:cubicBezTo>
                  <a:pt x="14655" y="6032"/>
                  <a:pt x="14652" y="6041"/>
                  <a:pt x="14648" y="6049"/>
                </a:cubicBezTo>
                <a:cubicBezTo>
                  <a:pt x="14645" y="6058"/>
                  <a:pt x="14640" y="6067"/>
                  <a:pt x="14635" y="6075"/>
                </a:cubicBezTo>
                <a:cubicBezTo>
                  <a:pt x="14629" y="6083"/>
                  <a:pt x="14623" y="6090"/>
                  <a:pt x="14617" y="6097"/>
                </a:cubicBezTo>
                <a:cubicBezTo>
                  <a:pt x="14610" y="6103"/>
                  <a:pt x="14603" y="6109"/>
                  <a:pt x="14595" y="6115"/>
                </a:cubicBezTo>
                <a:cubicBezTo>
                  <a:pt x="14587" y="6120"/>
                  <a:pt x="14578" y="6125"/>
                  <a:pt x="14569" y="6128"/>
                </a:cubicBezTo>
                <a:cubicBezTo>
                  <a:pt x="14561" y="6132"/>
                  <a:pt x="14552" y="6135"/>
                  <a:pt x="14542" y="6137"/>
                </a:cubicBezTo>
                <a:cubicBezTo>
                  <a:pt x="14533" y="6138"/>
                  <a:pt x="14523" y="6139"/>
                  <a:pt x="14514" y="6139"/>
                </a:cubicBezTo>
                <a:lnTo>
                  <a:pt x="146" y="6139"/>
                </a:lnTo>
                <a:cubicBezTo>
                  <a:pt x="136" y="6139"/>
                  <a:pt x="127" y="6138"/>
                  <a:pt x="118" y="6137"/>
                </a:cubicBezTo>
                <a:cubicBezTo>
                  <a:pt x="108" y="6135"/>
                  <a:pt x="99" y="6132"/>
                  <a:pt x="90" y="6128"/>
                </a:cubicBezTo>
                <a:cubicBezTo>
                  <a:pt x="81" y="6125"/>
                  <a:pt x="73" y="6120"/>
                  <a:pt x="65" y="6115"/>
                </a:cubicBezTo>
                <a:cubicBezTo>
                  <a:pt x="57" y="6109"/>
                  <a:pt x="50" y="6103"/>
                  <a:pt x="43" y="6097"/>
                </a:cubicBezTo>
                <a:cubicBezTo>
                  <a:pt x="36" y="6090"/>
                  <a:pt x="30" y="6083"/>
                  <a:pt x="25" y="6075"/>
                </a:cubicBezTo>
                <a:cubicBezTo>
                  <a:pt x="20" y="6067"/>
                  <a:pt x="15" y="6058"/>
                  <a:pt x="11" y="6049"/>
                </a:cubicBezTo>
                <a:cubicBezTo>
                  <a:pt x="8" y="6041"/>
                  <a:pt x="5" y="6032"/>
                  <a:pt x="3" y="6022"/>
                </a:cubicBezTo>
                <a:cubicBezTo>
                  <a:pt x="1" y="6013"/>
                  <a:pt x="0" y="6003"/>
                  <a:pt x="0" y="5994"/>
                </a:cubicBezTo>
              </a:path>
            </a:pathLst>
          </a:custGeom>
          <a:ln w="9360">
            <a:solidFill>
              <a:srgbClr val="bcd8f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2" name=""/>
          <p:cNvSpPr txBox="1"/>
          <p:nvPr/>
        </p:nvSpPr>
        <p:spPr>
          <a:xfrm>
            <a:off x="762120" y="372600"/>
            <a:ext cx="9488880" cy="718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48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What is Philosophy of Design?</a:t>
            </a:r>
            <a:endParaRPr b="0" lang="en-US" sz="4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3" name=""/>
          <p:cNvSpPr txBox="1"/>
          <p:nvPr/>
        </p:nvSpPr>
        <p:spPr>
          <a:xfrm>
            <a:off x="923760" y="2894400"/>
            <a:ext cx="1204920" cy="2808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87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Deﬁnition</a:t>
            </a:r>
            <a:endParaRPr b="0" lang="en-US" sz="187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4" name=""/>
          <p:cNvSpPr txBox="1"/>
          <p:nvPr/>
        </p:nvSpPr>
        <p:spPr>
          <a:xfrm>
            <a:off x="923760" y="3357000"/>
            <a:ext cx="496512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Philosophy of design = the pursuit of insights about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5" name=""/>
          <p:cNvSpPr txBox="1"/>
          <p:nvPr/>
        </p:nvSpPr>
        <p:spPr>
          <a:xfrm>
            <a:off x="923760" y="3633120"/>
            <a:ext cx="344628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design through philosophical means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6" name=""/>
          <p:cNvSpPr txBox="1"/>
          <p:nvPr/>
        </p:nvSpPr>
        <p:spPr>
          <a:xfrm>
            <a:off x="923760" y="3957120"/>
            <a:ext cx="456732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It addresses fundamental, abstract questions about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7" name=""/>
          <p:cNvSpPr txBox="1"/>
          <p:nvPr/>
        </p:nvSpPr>
        <p:spPr>
          <a:xfrm>
            <a:off x="923760" y="4233240"/>
            <a:ext cx="465228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design—more general than everyday design practice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8" name=""/>
          <p:cNvSpPr/>
          <p:nvPr/>
        </p:nvSpPr>
        <p:spPr>
          <a:xfrm>
            <a:off x="6148080" y="2690640"/>
            <a:ext cx="5277240" cy="2210040"/>
          </a:xfrm>
          <a:custGeom>
            <a:avLst/>
            <a:gdLst/>
            <a:ahLst/>
            <a:rect l="0" t="0" r="r" b="b"/>
            <a:pathLst>
              <a:path w="14659" h="6139">
                <a:moveTo>
                  <a:pt x="0" y="5994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8"/>
                  <a:pt x="8" y="99"/>
                  <a:pt x="11" y="90"/>
                </a:cubicBezTo>
                <a:cubicBezTo>
                  <a:pt x="15" y="81"/>
                  <a:pt x="20" y="73"/>
                  <a:pt x="25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50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5"/>
                  <a:pt x="117" y="3"/>
                </a:cubicBezTo>
                <a:cubicBezTo>
                  <a:pt x="127" y="1"/>
                  <a:pt x="136" y="0"/>
                  <a:pt x="146" y="0"/>
                </a:cubicBezTo>
                <a:lnTo>
                  <a:pt x="14514" y="0"/>
                </a:lnTo>
                <a:cubicBezTo>
                  <a:pt x="14523" y="0"/>
                  <a:pt x="14533" y="1"/>
                  <a:pt x="14542" y="3"/>
                </a:cubicBezTo>
                <a:cubicBezTo>
                  <a:pt x="14552" y="5"/>
                  <a:pt x="14561" y="7"/>
                  <a:pt x="14569" y="11"/>
                </a:cubicBezTo>
                <a:cubicBezTo>
                  <a:pt x="14578" y="15"/>
                  <a:pt x="14587" y="19"/>
                  <a:pt x="14595" y="25"/>
                </a:cubicBezTo>
                <a:cubicBezTo>
                  <a:pt x="14603" y="30"/>
                  <a:pt x="14610" y="36"/>
                  <a:pt x="14617" y="43"/>
                </a:cubicBezTo>
                <a:cubicBezTo>
                  <a:pt x="14623" y="49"/>
                  <a:pt x="14629" y="57"/>
                  <a:pt x="14635" y="65"/>
                </a:cubicBezTo>
                <a:cubicBezTo>
                  <a:pt x="14640" y="73"/>
                  <a:pt x="14645" y="81"/>
                  <a:pt x="14648" y="90"/>
                </a:cubicBezTo>
                <a:cubicBezTo>
                  <a:pt x="14652" y="99"/>
                  <a:pt x="14655" y="108"/>
                  <a:pt x="14656" y="117"/>
                </a:cubicBezTo>
                <a:cubicBezTo>
                  <a:pt x="14658" y="126"/>
                  <a:pt x="14659" y="136"/>
                  <a:pt x="14659" y="145"/>
                </a:cubicBezTo>
                <a:lnTo>
                  <a:pt x="14659" y="5994"/>
                </a:lnTo>
                <a:cubicBezTo>
                  <a:pt x="14659" y="6003"/>
                  <a:pt x="14658" y="6013"/>
                  <a:pt x="14656" y="6022"/>
                </a:cubicBezTo>
                <a:cubicBezTo>
                  <a:pt x="14655" y="6032"/>
                  <a:pt x="14652" y="6041"/>
                  <a:pt x="14648" y="6049"/>
                </a:cubicBezTo>
                <a:cubicBezTo>
                  <a:pt x="14645" y="6058"/>
                  <a:pt x="14640" y="6067"/>
                  <a:pt x="14635" y="6075"/>
                </a:cubicBezTo>
                <a:cubicBezTo>
                  <a:pt x="14629" y="6083"/>
                  <a:pt x="14623" y="6090"/>
                  <a:pt x="14617" y="6097"/>
                </a:cubicBezTo>
                <a:cubicBezTo>
                  <a:pt x="14610" y="6103"/>
                  <a:pt x="14603" y="6109"/>
                  <a:pt x="14595" y="6115"/>
                </a:cubicBezTo>
                <a:cubicBezTo>
                  <a:pt x="14587" y="6120"/>
                  <a:pt x="14578" y="6125"/>
                  <a:pt x="14569" y="6128"/>
                </a:cubicBezTo>
                <a:cubicBezTo>
                  <a:pt x="14561" y="6132"/>
                  <a:pt x="14552" y="6135"/>
                  <a:pt x="14542" y="6137"/>
                </a:cubicBezTo>
                <a:cubicBezTo>
                  <a:pt x="14533" y="6138"/>
                  <a:pt x="14523" y="6139"/>
                  <a:pt x="14514" y="6139"/>
                </a:cubicBezTo>
                <a:lnTo>
                  <a:pt x="146" y="6139"/>
                </a:lnTo>
                <a:cubicBezTo>
                  <a:pt x="136" y="6139"/>
                  <a:pt x="127" y="6138"/>
                  <a:pt x="117" y="6137"/>
                </a:cubicBezTo>
                <a:cubicBezTo>
                  <a:pt x="108" y="6135"/>
                  <a:pt x="99" y="6132"/>
                  <a:pt x="90" y="6128"/>
                </a:cubicBezTo>
                <a:cubicBezTo>
                  <a:pt x="81" y="6125"/>
                  <a:pt x="73" y="6120"/>
                  <a:pt x="65" y="6115"/>
                </a:cubicBezTo>
                <a:cubicBezTo>
                  <a:pt x="57" y="6109"/>
                  <a:pt x="50" y="6103"/>
                  <a:pt x="43" y="6097"/>
                </a:cubicBezTo>
                <a:cubicBezTo>
                  <a:pt x="36" y="6090"/>
                  <a:pt x="30" y="6083"/>
                  <a:pt x="25" y="6075"/>
                </a:cubicBezTo>
                <a:cubicBezTo>
                  <a:pt x="20" y="6067"/>
                  <a:pt x="15" y="6058"/>
                  <a:pt x="11" y="6049"/>
                </a:cubicBezTo>
                <a:cubicBezTo>
                  <a:pt x="8" y="6041"/>
                  <a:pt x="5" y="6032"/>
                  <a:pt x="3" y="6022"/>
                </a:cubicBezTo>
                <a:cubicBezTo>
                  <a:pt x="1" y="6013"/>
                  <a:pt x="0" y="6003"/>
                  <a:pt x="0" y="5994"/>
                </a:cubicBezTo>
                <a:close/>
              </a:path>
            </a:pathLst>
          </a:custGeom>
          <a:solidFill>
            <a:srgbClr val="fff2e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9" name=""/>
          <p:cNvSpPr/>
          <p:nvPr/>
        </p:nvSpPr>
        <p:spPr>
          <a:xfrm>
            <a:off x="6148080" y="2690640"/>
            <a:ext cx="5277240" cy="2210040"/>
          </a:xfrm>
          <a:custGeom>
            <a:avLst/>
            <a:gdLst/>
            <a:ahLst/>
            <a:rect l="0" t="0" r="r" b="b"/>
            <a:pathLst>
              <a:path fill="none" w="14659" h="6139">
                <a:moveTo>
                  <a:pt x="0" y="5994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8"/>
                  <a:pt x="8" y="99"/>
                  <a:pt x="11" y="90"/>
                </a:cubicBezTo>
                <a:cubicBezTo>
                  <a:pt x="15" y="81"/>
                  <a:pt x="20" y="73"/>
                  <a:pt x="25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50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5"/>
                  <a:pt x="117" y="3"/>
                </a:cubicBezTo>
                <a:cubicBezTo>
                  <a:pt x="127" y="1"/>
                  <a:pt x="136" y="0"/>
                  <a:pt x="146" y="0"/>
                </a:cubicBezTo>
                <a:lnTo>
                  <a:pt x="14514" y="0"/>
                </a:lnTo>
                <a:cubicBezTo>
                  <a:pt x="14523" y="0"/>
                  <a:pt x="14533" y="1"/>
                  <a:pt x="14542" y="3"/>
                </a:cubicBezTo>
                <a:cubicBezTo>
                  <a:pt x="14552" y="5"/>
                  <a:pt x="14561" y="7"/>
                  <a:pt x="14569" y="11"/>
                </a:cubicBezTo>
                <a:cubicBezTo>
                  <a:pt x="14578" y="15"/>
                  <a:pt x="14587" y="19"/>
                  <a:pt x="14595" y="25"/>
                </a:cubicBezTo>
                <a:cubicBezTo>
                  <a:pt x="14603" y="30"/>
                  <a:pt x="14610" y="36"/>
                  <a:pt x="14617" y="43"/>
                </a:cubicBezTo>
                <a:cubicBezTo>
                  <a:pt x="14623" y="49"/>
                  <a:pt x="14629" y="57"/>
                  <a:pt x="14635" y="65"/>
                </a:cubicBezTo>
                <a:cubicBezTo>
                  <a:pt x="14640" y="73"/>
                  <a:pt x="14645" y="81"/>
                  <a:pt x="14648" y="90"/>
                </a:cubicBezTo>
                <a:cubicBezTo>
                  <a:pt x="14652" y="99"/>
                  <a:pt x="14655" y="108"/>
                  <a:pt x="14656" y="117"/>
                </a:cubicBezTo>
                <a:cubicBezTo>
                  <a:pt x="14658" y="126"/>
                  <a:pt x="14659" y="136"/>
                  <a:pt x="14659" y="145"/>
                </a:cubicBezTo>
                <a:lnTo>
                  <a:pt x="14659" y="5994"/>
                </a:lnTo>
                <a:cubicBezTo>
                  <a:pt x="14659" y="6003"/>
                  <a:pt x="14658" y="6013"/>
                  <a:pt x="14656" y="6022"/>
                </a:cubicBezTo>
                <a:cubicBezTo>
                  <a:pt x="14655" y="6032"/>
                  <a:pt x="14652" y="6041"/>
                  <a:pt x="14648" y="6049"/>
                </a:cubicBezTo>
                <a:cubicBezTo>
                  <a:pt x="14645" y="6058"/>
                  <a:pt x="14640" y="6067"/>
                  <a:pt x="14635" y="6075"/>
                </a:cubicBezTo>
                <a:cubicBezTo>
                  <a:pt x="14629" y="6083"/>
                  <a:pt x="14623" y="6090"/>
                  <a:pt x="14617" y="6097"/>
                </a:cubicBezTo>
                <a:cubicBezTo>
                  <a:pt x="14610" y="6103"/>
                  <a:pt x="14603" y="6109"/>
                  <a:pt x="14595" y="6115"/>
                </a:cubicBezTo>
                <a:cubicBezTo>
                  <a:pt x="14587" y="6120"/>
                  <a:pt x="14578" y="6125"/>
                  <a:pt x="14569" y="6128"/>
                </a:cubicBezTo>
                <a:cubicBezTo>
                  <a:pt x="14561" y="6132"/>
                  <a:pt x="14552" y="6135"/>
                  <a:pt x="14542" y="6137"/>
                </a:cubicBezTo>
                <a:cubicBezTo>
                  <a:pt x="14533" y="6138"/>
                  <a:pt x="14523" y="6139"/>
                  <a:pt x="14514" y="6139"/>
                </a:cubicBezTo>
                <a:lnTo>
                  <a:pt x="146" y="6139"/>
                </a:lnTo>
                <a:cubicBezTo>
                  <a:pt x="136" y="6139"/>
                  <a:pt x="127" y="6138"/>
                  <a:pt x="117" y="6137"/>
                </a:cubicBezTo>
                <a:cubicBezTo>
                  <a:pt x="108" y="6135"/>
                  <a:pt x="99" y="6132"/>
                  <a:pt x="90" y="6128"/>
                </a:cubicBezTo>
                <a:cubicBezTo>
                  <a:pt x="81" y="6125"/>
                  <a:pt x="73" y="6120"/>
                  <a:pt x="65" y="6115"/>
                </a:cubicBezTo>
                <a:cubicBezTo>
                  <a:pt x="57" y="6109"/>
                  <a:pt x="50" y="6103"/>
                  <a:pt x="43" y="6097"/>
                </a:cubicBezTo>
                <a:cubicBezTo>
                  <a:pt x="36" y="6090"/>
                  <a:pt x="30" y="6083"/>
                  <a:pt x="25" y="6075"/>
                </a:cubicBezTo>
                <a:cubicBezTo>
                  <a:pt x="20" y="6067"/>
                  <a:pt x="15" y="6058"/>
                  <a:pt x="11" y="6049"/>
                </a:cubicBezTo>
                <a:cubicBezTo>
                  <a:pt x="8" y="6041"/>
                  <a:pt x="5" y="6032"/>
                  <a:pt x="3" y="6022"/>
                </a:cubicBezTo>
                <a:cubicBezTo>
                  <a:pt x="1" y="6013"/>
                  <a:pt x="0" y="6003"/>
                  <a:pt x="0" y="5994"/>
                </a:cubicBezTo>
              </a:path>
            </a:pathLst>
          </a:custGeom>
          <a:ln w="9360">
            <a:solidFill>
              <a:srgbClr val="ffd9b3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0" name=""/>
          <p:cNvSpPr txBox="1"/>
          <p:nvPr/>
        </p:nvSpPr>
        <p:spPr>
          <a:xfrm>
            <a:off x="923760" y="4509360"/>
            <a:ext cx="92268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questions.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1" name=""/>
          <p:cNvSpPr txBox="1"/>
          <p:nvPr/>
        </p:nvSpPr>
        <p:spPr>
          <a:xfrm>
            <a:off x="6305400" y="2894400"/>
            <a:ext cx="1712880" cy="2808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87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Core Principle</a:t>
            </a:r>
            <a:endParaRPr b="0" lang="en-US" sz="187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2" name=""/>
          <p:cNvSpPr txBox="1"/>
          <p:nvPr/>
        </p:nvSpPr>
        <p:spPr>
          <a:xfrm>
            <a:off x="6305400" y="3357000"/>
            <a:ext cx="492228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Our philosophies (conscious or unconscious) shape our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3" name=""/>
          <p:cNvSpPr txBox="1"/>
          <p:nvPr/>
        </p:nvSpPr>
        <p:spPr>
          <a:xfrm>
            <a:off x="6305400" y="3633120"/>
            <a:ext cx="487692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actions. Design philosophy's impact on practice can be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4" name=""/>
          <p:cNvSpPr txBox="1"/>
          <p:nvPr/>
        </p:nvSpPr>
        <p:spPr>
          <a:xfrm>
            <a:off x="6305400" y="3899880"/>
            <a:ext cx="304164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devastating </a:t>
            </a:r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if poorly understood.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5" name=""/>
          <p:cNvSpPr txBox="1"/>
          <p:nvPr/>
        </p:nvSpPr>
        <p:spPr>
          <a:xfrm>
            <a:off x="6305400" y="4233240"/>
            <a:ext cx="467064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Improving design requires improving the philosophy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6" name=""/>
          <p:cNvSpPr txBox="1"/>
          <p:nvPr/>
        </p:nvSpPr>
        <p:spPr>
          <a:xfrm>
            <a:off x="6305400" y="4509360"/>
            <a:ext cx="244800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underlying design thinking.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7" name=""/>
          <p:cNvSpPr/>
          <p:nvPr/>
        </p:nvSpPr>
        <p:spPr>
          <a:xfrm>
            <a:off x="685440" y="6343560"/>
            <a:ext cx="267120" cy="304920"/>
          </a:xfrm>
          <a:custGeom>
            <a:avLst/>
            <a:gdLst/>
            <a:ahLst/>
            <a:rect l="0" t="0" r="r" b="b"/>
            <a:pathLst>
              <a:path w="742" h="847">
                <a:moveTo>
                  <a:pt x="0" y="476"/>
                </a:moveTo>
                <a:lnTo>
                  <a:pt x="0" y="370"/>
                </a:lnTo>
                <a:cubicBezTo>
                  <a:pt x="0" y="346"/>
                  <a:pt x="3" y="322"/>
                  <a:pt x="8" y="298"/>
                </a:cubicBezTo>
                <a:cubicBezTo>
                  <a:pt x="12" y="274"/>
                  <a:pt x="19" y="251"/>
                  <a:pt x="29" y="228"/>
                </a:cubicBezTo>
                <a:cubicBezTo>
                  <a:pt x="38" y="206"/>
                  <a:pt x="49" y="185"/>
                  <a:pt x="63" y="164"/>
                </a:cubicBezTo>
                <a:cubicBezTo>
                  <a:pt x="76" y="144"/>
                  <a:pt x="92" y="125"/>
                  <a:pt x="109" y="108"/>
                </a:cubicBezTo>
                <a:cubicBezTo>
                  <a:pt x="126" y="91"/>
                  <a:pt x="145" y="76"/>
                  <a:pt x="165" y="62"/>
                </a:cubicBezTo>
                <a:cubicBezTo>
                  <a:pt x="185" y="49"/>
                  <a:pt x="207" y="37"/>
                  <a:pt x="229" y="28"/>
                </a:cubicBezTo>
                <a:cubicBezTo>
                  <a:pt x="252" y="19"/>
                  <a:pt x="275" y="12"/>
                  <a:pt x="299" y="7"/>
                </a:cubicBezTo>
                <a:cubicBezTo>
                  <a:pt x="323" y="2"/>
                  <a:pt x="347" y="0"/>
                  <a:pt x="371" y="0"/>
                </a:cubicBezTo>
                <a:cubicBezTo>
                  <a:pt x="395" y="0"/>
                  <a:pt x="419" y="2"/>
                  <a:pt x="443" y="7"/>
                </a:cubicBezTo>
                <a:cubicBezTo>
                  <a:pt x="467" y="12"/>
                  <a:pt x="490" y="19"/>
                  <a:pt x="513" y="28"/>
                </a:cubicBezTo>
                <a:cubicBezTo>
                  <a:pt x="535" y="37"/>
                  <a:pt x="556" y="49"/>
                  <a:pt x="577" y="62"/>
                </a:cubicBezTo>
                <a:cubicBezTo>
                  <a:pt x="597" y="76"/>
                  <a:pt x="616" y="91"/>
                  <a:pt x="633" y="108"/>
                </a:cubicBezTo>
                <a:cubicBezTo>
                  <a:pt x="650" y="125"/>
                  <a:pt x="665" y="144"/>
                  <a:pt x="679" y="164"/>
                </a:cubicBezTo>
                <a:cubicBezTo>
                  <a:pt x="693" y="185"/>
                  <a:pt x="705" y="206"/>
                  <a:pt x="714" y="228"/>
                </a:cubicBezTo>
                <a:cubicBezTo>
                  <a:pt x="723" y="251"/>
                  <a:pt x="730" y="274"/>
                  <a:pt x="735" y="298"/>
                </a:cubicBezTo>
                <a:cubicBezTo>
                  <a:pt x="740" y="322"/>
                  <a:pt x="742" y="346"/>
                  <a:pt x="742" y="370"/>
                </a:cubicBezTo>
                <a:lnTo>
                  <a:pt x="742" y="476"/>
                </a:lnTo>
                <a:cubicBezTo>
                  <a:pt x="742" y="500"/>
                  <a:pt x="740" y="524"/>
                  <a:pt x="735" y="548"/>
                </a:cubicBezTo>
                <a:cubicBezTo>
                  <a:pt x="730" y="573"/>
                  <a:pt x="723" y="596"/>
                  <a:pt x="714" y="619"/>
                </a:cubicBezTo>
                <a:cubicBezTo>
                  <a:pt x="705" y="641"/>
                  <a:pt x="693" y="663"/>
                  <a:pt x="679" y="683"/>
                </a:cubicBezTo>
                <a:cubicBezTo>
                  <a:pt x="665" y="703"/>
                  <a:pt x="650" y="722"/>
                  <a:pt x="633" y="739"/>
                </a:cubicBezTo>
                <a:cubicBezTo>
                  <a:pt x="616" y="756"/>
                  <a:pt x="597" y="771"/>
                  <a:pt x="577" y="785"/>
                </a:cubicBezTo>
                <a:cubicBezTo>
                  <a:pt x="556" y="798"/>
                  <a:pt x="535" y="810"/>
                  <a:pt x="513" y="819"/>
                </a:cubicBezTo>
                <a:cubicBezTo>
                  <a:pt x="490" y="829"/>
                  <a:pt x="467" y="836"/>
                  <a:pt x="443" y="840"/>
                </a:cubicBezTo>
                <a:cubicBezTo>
                  <a:pt x="419" y="845"/>
                  <a:pt x="395" y="847"/>
                  <a:pt x="371" y="847"/>
                </a:cubicBezTo>
                <a:cubicBezTo>
                  <a:pt x="347" y="847"/>
                  <a:pt x="323" y="845"/>
                  <a:pt x="299" y="840"/>
                </a:cubicBezTo>
                <a:cubicBezTo>
                  <a:pt x="275" y="836"/>
                  <a:pt x="252" y="829"/>
                  <a:pt x="229" y="819"/>
                </a:cubicBezTo>
                <a:cubicBezTo>
                  <a:pt x="207" y="810"/>
                  <a:pt x="185" y="798"/>
                  <a:pt x="165" y="785"/>
                </a:cubicBezTo>
                <a:cubicBezTo>
                  <a:pt x="145" y="771"/>
                  <a:pt x="126" y="756"/>
                  <a:pt x="109" y="739"/>
                </a:cubicBezTo>
                <a:cubicBezTo>
                  <a:pt x="92" y="722"/>
                  <a:pt x="76" y="703"/>
                  <a:pt x="63" y="683"/>
                </a:cubicBezTo>
                <a:cubicBezTo>
                  <a:pt x="49" y="663"/>
                  <a:pt x="38" y="641"/>
                  <a:pt x="29" y="619"/>
                </a:cubicBezTo>
                <a:cubicBezTo>
                  <a:pt x="19" y="596"/>
                  <a:pt x="12" y="573"/>
                  <a:pt x="8" y="548"/>
                </a:cubicBezTo>
                <a:cubicBezTo>
                  <a:pt x="3" y="524"/>
                  <a:pt x="0" y="500"/>
                  <a:pt x="0" y="476"/>
                </a:cubicBezTo>
                <a:close/>
              </a:path>
            </a:pathLst>
          </a:custGeom>
          <a:solidFill>
            <a:srgbClr val="ffffff">
              <a:alpha val="74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8" name=""/>
          <p:cNvSpPr txBox="1"/>
          <p:nvPr/>
        </p:nvSpPr>
        <p:spPr>
          <a:xfrm>
            <a:off x="1238400" y="6569280"/>
            <a:ext cx="3390120" cy="12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800" strike="noStrike" u="none">
                <a:solidFill>
                  <a:srgbClr val="a6a6a6"/>
                </a:solidFill>
                <a:effectLst/>
                <a:uFillTx/>
                <a:latin typeface="LucidaGrande"/>
                <a:ea typeface="LucidaGrande"/>
              </a:rPr>
              <a:t>Version: GITREVISION | © 22.09.2026 University of Southampton</a:t>
            </a:r>
            <a:endParaRPr b="0" lang="en-US" sz="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9" name=""/>
          <p:cNvSpPr txBox="1"/>
          <p:nvPr/>
        </p:nvSpPr>
        <p:spPr>
          <a:xfrm>
            <a:off x="762120" y="6390720"/>
            <a:ext cx="177480" cy="21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5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103" name="" descr=""/>
          <p:cNvPicPr/>
          <p:nvPr/>
        </p:nvPicPr>
        <p:blipFill>
          <a:blip r:embed="rId1"/>
          <a:stretch/>
        </p:blipFill>
        <p:spPr>
          <a:xfrm>
            <a:off x="10134720" y="5981760"/>
            <a:ext cx="1904760" cy="10656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04" name="" descr=""/>
          <p:cNvPicPr/>
          <p:nvPr/>
        </p:nvPicPr>
        <p:blipFill>
          <a:blip r:embed="rId2"/>
          <a:stretch/>
        </p:blipFill>
        <p:spPr>
          <a:xfrm>
            <a:off x="762120" y="2800440"/>
            <a:ext cx="7467120" cy="1161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5" name=""/>
          <p:cNvSpPr txBox="1"/>
          <p:nvPr/>
        </p:nvSpPr>
        <p:spPr>
          <a:xfrm>
            <a:off x="762120" y="4223160"/>
            <a:ext cx="631800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Five clusters of questions structure the ﬁeld—from what design 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6" name=""/>
          <p:cNvSpPr txBox="1"/>
          <p:nvPr/>
        </p:nvSpPr>
        <p:spPr>
          <a:xfrm>
            <a:off x="7143120" y="4223160"/>
            <a:ext cx="202680" cy="245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5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is</a:t>
            </a:r>
            <a:endParaRPr b="0" lang="en-US" sz="16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7" name=""/>
          <p:cNvSpPr txBox="1"/>
          <p:nvPr/>
        </p:nvSpPr>
        <p:spPr>
          <a:xfrm>
            <a:off x="7256520" y="4223160"/>
            <a:ext cx="160308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, to how we can 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8" name=""/>
          <p:cNvSpPr txBox="1"/>
          <p:nvPr/>
        </p:nvSpPr>
        <p:spPr>
          <a:xfrm>
            <a:off x="8911440" y="4223160"/>
            <a:ext cx="541440" cy="245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5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know</a:t>
            </a:r>
            <a:endParaRPr b="0" lang="en-US" sz="16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9" name=""/>
          <p:cNvSpPr txBox="1"/>
          <p:nvPr/>
        </p:nvSpPr>
        <p:spPr>
          <a:xfrm>
            <a:off x="9388800" y="4223160"/>
            <a:ext cx="158976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 about designed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0" name=""/>
          <p:cNvSpPr txBox="1"/>
          <p:nvPr/>
        </p:nvSpPr>
        <p:spPr>
          <a:xfrm>
            <a:off x="762120" y="4518360"/>
            <a:ext cx="734472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things, to what design theory should look like, and what use any of this is.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1" name=""/>
          <p:cNvSpPr txBox="1"/>
          <p:nvPr/>
        </p:nvSpPr>
        <p:spPr>
          <a:xfrm>
            <a:off x="1238400" y="6405120"/>
            <a:ext cx="1046520" cy="155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05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SEAtS | 080172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2" name=""/>
          <p:cNvSpPr txBox="1"/>
          <p:nvPr/>
        </p:nvSpPr>
        <p:spPr>
          <a:xfrm>
            <a:off x="762120" y="-8280"/>
            <a:ext cx="8371440" cy="718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48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Key Research Questions in</a:t>
            </a:r>
            <a:endParaRPr b="0" lang="en-US" sz="4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3" name=""/>
          <p:cNvSpPr txBox="1"/>
          <p:nvPr/>
        </p:nvSpPr>
        <p:spPr>
          <a:xfrm>
            <a:off x="762120" y="753480"/>
            <a:ext cx="6684120" cy="718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48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Philosophy of Design</a:t>
            </a:r>
            <a:endParaRPr b="0" lang="en-US" sz="4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4" name=""/>
          <p:cNvSpPr/>
          <p:nvPr/>
        </p:nvSpPr>
        <p:spPr>
          <a:xfrm>
            <a:off x="685440" y="6343560"/>
            <a:ext cx="267120" cy="304920"/>
          </a:xfrm>
          <a:custGeom>
            <a:avLst/>
            <a:gdLst/>
            <a:ahLst/>
            <a:rect l="0" t="0" r="r" b="b"/>
            <a:pathLst>
              <a:path w="742" h="847">
                <a:moveTo>
                  <a:pt x="0" y="476"/>
                </a:moveTo>
                <a:lnTo>
                  <a:pt x="0" y="370"/>
                </a:lnTo>
                <a:cubicBezTo>
                  <a:pt x="0" y="346"/>
                  <a:pt x="3" y="322"/>
                  <a:pt x="8" y="298"/>
                </a:cubicBezTo>
                <a:cubicBezTo>
                  <a:pt x="12" y="274"/>
                  <a:pt x="19" y="251"/>
                  <a:pt x="29" y="228"/>
                </a:cubicBezTo>
                <a:cubicBezTo>
                  <a:pt x="38" y="206"/>
                  <a:pt x="49" y="185"/>
                  <a:pt x="63" y="164"/>
                </a:cubicBezTo>
                <a:cubicBezTo>
                  <a:pt x="76" y="144"/>
                  <a:pt x="92" y="125"/>
                  <a:pt x="109" y="108"/>
                </a:cubicBezTo>
                <a:cubicBezTo>
                  <a:pt x="126" y="91"/>
                  <a:pt x="145" y="76"/>
                  <a:pt x="165" y="62"/>
                </a:cubicBezTo>
                <a:cubicBezTo>
                  <a:pt x="185" y="49"/>
                  <a:pt x="207" y="37"/>
                  <a:pt x="229" y="28"/>
                </a:cubicBezTo>
                <a:cubicBezTo>
                  <a:pt x="252" y="19"/>
                  <a:pt x="275" y="12"/>
                  <a:pt x="299" y="7"/>
                </a:cubicBezTo>
                <a:cubicBezTo>
                  <a:pt x="323" y="2"/>
                  <a:pt x="347" y="0"/>
                  <a:pt x="371" y="0"/>
                </a:cubicBezTo>
                <a:cubicBezTo>
                  <a:pt x="395" y="0"/>
                  <a:pt x="419" y="2"/>
                  <a:pt x="443" y="7"/>
                </a:cubicBezTo>
                <a:cubicBezTo>
                  <a:pt x="467" y="12"/>
                  <a:pt x="490" y="19"/>
                  <a:pt x="513" y="28"/>
                </a:cubicBezTo>
                <a:cubicBezTo>
                  <a:pt x="535" y="37"/>
                  <a:pt x="556" y="49"/>
                  <a:pt x="577" y="62"/>
                </a:cubicBezTo>
                <a:cubicBezTo>
                  <a:pt x="597" y="76"/>
                  <a:pt x="616" y="91"/>
                  <a:pt x="633" y="108"/>
                </a:cubicBezTo>
                <a:cubicBezTo>
                  <a:pt x="650" y="125"/>
                  <a:pt x="665" y="144"/>
                  <a:pt x="679" y="164"/>
                </a:cubicBezTo>
                <a:cubicBezTo>
                  <a:pt x="693" y="185"/>
                  <a:pt x="705" y="206"/>
                  <a:pt x="714" y="228"/>
                </a:cubicBezTo>
                <a:cubicBezTo>
                  <a:pt x="723" y="251"/>
                  <a:pt x="730" y="274"/>
                  <a:pt x="735" y="298"/>
                </a:cubicBezTo>
                <a:cubicBezTo>
                  <a:pt x="740" y="322"/>
                  <a:pt x="742" y="346"/>
                  <a:pt x="742" y="370"/>
                </a:cubicBezTo>
                <a:lnTo>
                  <a:pt x="742" y="476"/>
                </a:lnTo>
                <a:cubicBezTo>
                  <a:pt x="742" y="500"/>
                  <a:pt x="740" y="524"/>
                  <a:pt x="735" y="548"/>
                </a:cubicBezTo>
                <a:cubicBezTo>
                  <a:pt x="730" y="573"/>
                  <a:pt x="723" y="596"/>
                  <a:pt x="714" y="619"/>
                </a:cubicBezTo>
                <a:cubicBezTo>
                  <a:pt x="705" y="641"/>
                  <a:pt x="693" y="663"/>
                  <a:pt x="679" y="683"/>
                </a:cubicBezTo>
                <a:cubicBezTo>
                  <a:pt x="665" y="703"/>
                  <a:pt x="650" y="722"/>
                  <a:pt x="633" y="739"/>
                </a:cubicBezTo>
                <a:cubicBezTo>
                  <a:pt x="616" y="756"/>
                  <a:pt x="597" y="771"/>
                  <a:pt x="577" y="785"/>
                </a:cubicBezTo>
                <a:cubicBezTo>
                  <a:pt x="556" y="798"/>
                  <a:pt x="535" y="810"/>
                  <a:pt x="513" y="819"/>
                </a:cubicBezTo>
                <a:cubicBezTo>
                  <a:pt x="490" y="829"/>
                  <a:pt x="467" y="836"/>
                  <a:pt x="443" y="840"/>
                </a:cubicBezTo>
                <a:cubicBezTo>
                  <a:pt x="419" y="845"/>
                  <a:pt x="395" y="847"/>
                  <a:pt x="371" y="847"/>
                </a:cubicBezTo>
                <a:cubicBezTo>
                  <a:pt x="347" y="847"/>
                  <a:pt x="323" y="845"/>
                  <a:pt x="299" y="840"/>
                </a:cubicBezTo>
                <a:cubicBezTo>
                  <a:pt x="275" y="836"/>
                  <a:pt x="252" y="829"/>
                  <a:pt x="229" y="819"/>
                </a:cubicBezTo>
                <a:cubicBezTo>
                  <a:pt x="207" y="810"/>
                  <a:pt x="185" y="798"/>
                  <a:pt x="165" y="785"/>
                </a:cubicBezTo>
                <a:cubicBezTo>
                  <a:pt x="145" y="771"/>
                  <a:pt x="126" y="756"/>
                  <a:pt x="109" y="739"/>
                </a:cubicBezTo>
                <a:cubicBezTo>
                  <a:pt x="92" y="722"/>
                  <a:pt x="76" y="703"/>
                  <a:pt x="63" y="683"/>
                </a:cubicBezTo>
                <a:cubicBezTo>
                  <a:pt x="49" y="663"/>
                  <a:pt x="38" y="641"/>
                  <a:pt x="29" y="619"/>
                </a:cubicBezTo>
                <a:cubicBezTo>
                  <a:pt x="19" y="596"/>
                  <a:pt x="12" y="573"/>
                  <a:pt x="8" y="548"/>
                </a:cubicBezTo>
                <a:cubicBezTo>
                  <a:pt x="3" y="524"/>
                  <a:pt x="0" y="500"/>
                  <a:pt x="0" y="476"/>
                </a:cubicBezTo>
                <a:close/>
              </a:path>
            </a:pathLst>
          </a:custGeom>
          <a:solidFill>
            <a:srgbClr val="ffffff">
              <a:alpha val="74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5" name=""/>
          <p:cNvSpPr txBox="1"/>
          <p:nvPr/>
        </p:nvSpPr>
        <p:spPr>
          <a:xfrm>
            <a:off x="1238400" y="6569280"/>
            <a:ext cx="3390120" cy="12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800" strike="noStrike" u="none">
                <a:solidFill>
                  <a:srgbClr val="a6a6a6"/>
                </a:solidFill>
                <a:effectLst/>
                <a:uFillTx/>
                <a:latin typeface="LucidaGrande"/>
                <a:ea typeface="LucidaGrande"/>
              </a:rPr>
              <a:t>Version: GITREVISION | © 22.09.2026 University of Southampton</a:t>
            </a:r>
            <a:endParaRPr b="0" lang="en-US" sz="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6" name=""/>
          <p:cNvSpPr txBox="1"/>
          <p:nvPr/>
        </p:nvSpPr>
        <p:spPr>
          <a:xfrm>
            <a:off x="762120" y="6390720"/>
            <a:ext cx="177480" cy="21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6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120" name="" descr=""/>
          <p:cNvPicPr/>
          <p:nvPr/>
        </p:nvPicPr>
        <p:blipFill>
          <a:blip r:embed="rId1"/>
          <a:stretch/>
        </p:blipFill>
        <p:spPr>
          <a:xfrm>
            <a:off x="10134720" y="5981760"/>
            <a:ext cx="1904760" cy="1065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1" name=""/>
          <p:cNvSpPr/>
          <p:nvPr/>
        </p:nvSpPr>
        <p:spPr>
          <a:xfrm>
            <a:off x="971280" y="3476520"/>
            <a:ext cx="66960" cy="66960"/>
          </a:xfrm>
          <a:custGeom>
            <a:avLst/>
            <a:gdLst/>
            <a:ahLst/>
            <a:rect l="0" t="0" r="r" b="b"/>
            <a:pathLst>
              <a:path w="186" h="186">
                <a:moveTo>
                  <a:pt x="186" y="93"/>
                </a:moveTo>
                <a:cubicBezTo>
                  <a:pt x="186" y="106"/>
                  <a:pt x="184" y="117"/>
                  <a:pt x="179" y="129"/>
                </a:cubicBezTo>
                <a:cubicBezTo>
                  <a:pt x="175" y="140"/>
                  <a:pt x="167" y="150"/>
                  <a:pt x="158" y="159"/>
                </a:cubicBezTo>
                <a:cubicBezTo>
                  <a:pt x="150" y="168"/>
                  <a:pt x="140" y="174"/>
                  <a:pt x="128" y="179"/>
                </a:cubicBezTo>
                <a:cubicBezTo>
                  <a:pt x="117" y="184"/>
                  <a:pt x="105" y="186"/>
                  <a:pt x="93" y="186"/>
                </a:cubicBezTo>
                <a:cubicBezTo>
                  <a:pt x="81" y="186"/>
                  <a:pt x="69" y="184"/>
                  <a:pt x="57" y="179"/>
                </a:cubicBezTo>
                <a:cubicBezTo>
                  <a:pt x="46" y="174"/>
                  <a:pt x="36" y="168"/>
                  <a:pt x="27" y="159"/>
                </a:cubicBezTo>
                <a:cubicBezTo>
                  <a:pt x="19" y="150"/>
                  <a:pt x="12" y="140"/>
                  <a:pt x="7" y="129"/>
                </a:cubicBezTo>
                <a:cubicBezTo>
                  <a:pt x="3" y="117"/>
                  <a:pt x="0" y="106"/>
                  <a:pt x="0" y="93"/>
                </a:cubicBezTo>
                <a:cubicBezTo>
                  <a:pt x="0" y="81"/>
                  <a:pt x="3" y="69"/>
                  <a:pt x="7" y="58"/>
                </a:cubicBezTo>
                <a:cubicBezTo>
                  <a:pt x="12" y="46"/>
                  <a:pt x="19" y="36"/>
                  <a:pt x="27" y="27"/>
                </a:cubicBezTo>
                <a:cubicBezTo>
                  <a:pt x="36" y="18"/>
                  <a:pt x="46" y="12"/>
                  <a:pt x="57" y="7"/>
                </a:cubicBezTo>
                <a:cubicBezTo>
                  <a:pt x="69" y="2"/>
                  <a:pt x="81" y="0"/>
                  <a:pt x="93" y="0"/>
                </a:cubicBezTo>
                <a:cubicBezTo>
                  <a:pt x="105" y="0"/>
                  <a:pt x="117" y="2"/>
                  <a:pt x="128" y="7"/>
                </a:cubicBezTo>
                <a:cubicBezTo>
                  <a:pt x="140" y="12"/>
                  <a:pt x="150" y="18"/>
                  <a:pt x="158" y="27"/>
                </a:cubicBezTo>
                <a:cubicBezTo>
                  <a:pt x="167" y="36"/>
                  <a:pt x="175" y="46"/>
                  <a:pt x="179" y="58"/>
                </a:cubicBezTo>
                <a:cubicBezTo>
                  <a:pt x="184" y="69"/>
                  <a:pt x="186" y="81"/>
                  <a:pt x="186" y="93"/>
                </a:cubicBezTo>
                <a:close/>
              </a:path>
            </a:pathLst>
          </a:custGeom>
          <a:solidFill>
            <a:srgbClr val="0a53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22" name=""/>
          <p:cNvSpPr txBox="1"/>
          <p:nvPr/>
        </p:nvSpPr>
        <p:spPr>
          <a:xfrm>
            <a:off x="762120" y="2868840"/>
            <a:ext cx="2309760" cy="30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208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Nature of Design</a:t>
            </a:r>
            <a:endParaRPr b="0" lang="en-US" sz="208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3" name=""/>
          <p:cNvSpPr/>
          <p:nvPr/>
        </p:nvSpPr>
        <p:spPr>
          <a:xfrm>
            <a:off x="971280" y="3828960"/>
            <a:ext cx="66960" cy="66960"/>
          </a:xfrm>
          <a:custGeom>
            <a:avLst/>
            <a:gdLst/>
            <a:ahLst/>
            <a:rect l="0" t="0" r="r" b="b"/>
            <a:pathLst>
              <a:path w="186" h="186">
                <a:moveTo>
                  <a:pt x="186" y="93"/>
                </a:moveTo>
                <a:cubicBezTo>
                  <a:pt x="186" y="106"/>
                  <a:pt x="184" y="117"/>
                  <a:pt x="179" y="129"/>
                </a:cubicBezTo>
                <a:cubicBezTo>
                  <a:pt x="175" y="140"/>
                  <a:pt x="167" y="150"/>
                  <a:pt x="158" y="159"/>
                </a:cubicBezTo>
                <a:cubicBezTo>
                  <a:pt x="150" y="168"/>
                  <a:pt x="140" y="174"/>
                  <a:pt x="128" y="179"/>
                </a:cubicBezTo>
                <a:cubicBezTo>
                  <a:pt x="117" y="184"/>
                  <a:pt x="105" y="186"/>
                  <a:pt x="93" y="186"/>
                </a:cubicBezTo>
                <a:cubicBezTo>
                  <a:pt x="81" y="186"/>
                  <a:pt x="69" y="184"/>
                  <a:pt x="57" y="179"/>
                </a:cubicBezTo>
                <a:cubicBezTo>
                  <a:pt x="46" y="174"/>
                  <a:pt x="36" y="168"/>
                  <a:pt x="27" y="159"/>
                </a:cubicBezTo>
                <a:cubicBezTo>
                  <a:pt x="19" y="150"/>
                  <a:pt x="12" y="140"/>
                  <a:pt x="7" y="129"/>
                </a:cubicBezTo>
                <a:cubicBezTo>
                  <a:pt x="3" y="117"/>
                  <a:pt x="0" y="106"/>
                  <a:pt x="0" y="93"/>
                </a:cubicBezTo>
                <a:cubicBezTo>
                  <a:pt x="0" y="81"/>
                  <a:pt x="3" y="69"/>
                  <a:pt x="7" y="58"/>
                </a:cubicBezTo>
                <a:cubicBezTo>
                  <a:pt x="12" y="47"/>
                  <a:pt x="19" y="37"/>
                  <a:pt x="27" y="28"/>
                </a:cubicBezTo>
                <a:cubicBezTo>
                  <a:pt x="36" y="19"/>
                  <a:pt x="46" y="12"/>
                  <a:pt x="57" y="8"/>
                </a:cubicBezTo>
                <a:cubicBezTo>
                  <a:pt x="69" y="3"/>
                  <a:pt x="81" y="0"/>
                  <a:pt x="93" y="0"/>
                </a:cubicBezTo>
                <a:cubicBezTo>
                  <a:pt x="105" y="0"/>
                  <a:pt x="117" y="3"/>
                  <a:pt x="128" y="8"/>
                </a:cubicBezTo>
                <a:cubicBezTo>
                  <a:pt x="140" y="12"/>
                  <a:pt x="150" y="19"/>
                  <a:pt x="158" y="28"/>
                </a:cubicBezTo>
                <a:cubicBezTo>
                  <a:pt x="167" y="37"/>
                  <a:pt x="175" y="47"/>
                  <a:pt x="179" y="58"/>
                </a:cubicBezTo>
                <a:cubicBezTo>
                  <a:pt x="184" y="69"/>
                  <a:pt x="186" y="81"/>
                  <a:pt x="186" y="93"/>
                </a:cubicBezTo>
                <a:close/>
              </a:path>
            </a:pathLst>
          </a:custGeom>
          <a:solidFill>
            <a:srgbClr val="0a53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24" name=""/>
          <p:cNvSpPr txBox="1"/>
          <p:nvPr/>
        </p:nvSpPr>
        <p:spPr>
          <a:xfrm>
            <a:off x="1168200" y="3385080"/>
            <a:ext cx="779868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What distinguishes design from other intellectual endeavors (science, art, etc.)?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5" name=""/>
          <p:cNvSpPr/>
          <p:nvPr/>
        </p:nvSpPr>
        <p:spPr>
          <a:xfrm>
            <a:off x="971280" y="4190760"/>
            <a:ext cx="66960" cy="66960"/>
          </a:xfrm>
          <a:custGeom>
            <a:avLst/>
            <a:gdLst/>
            <a:ahLst/>
            <a:rect l="0" t="0" r="r" b="b"/>
            <a:pathLst>
              <a:path w="186" h="186">
                <a:moveTo>
                  <a:pt x="186" y="93"/>
                </a:moveTo>
                <a:cubicBezTo>
                  <a:pt x="186" y="105"/>
                  <a:pt x="184" y="118"/>
                  <a:pt x="179" y="129"/>
                </a:cubicBezTo>
                <a:cubicBezTo>
                  <a:pt x="175" y="141"/>
                  <a:pt x="167" y="151"/>
                  <a:pt x="158" y="159"/>
                </a:cubicBezTo>
                <a:cubicBezTo>
                  <a:pt x="150" y="168"/>
                  <a:pt x="140" y="175"/>
                  <a:pt x="128" y="179"/>
                </a:cubicBezTo>
                <a:cubicBezTo>
                  <a:pt x="117" y="184"/>
                  <a:pt x="105" y="186"/>
                  <a:pt x="93" y="186"/>
                </a:cubicBezTo>
                <a:cubicBezTo>
                  <a:pt x="81" y="186"/>
                  <a:pt x="69" y="184"/>
                  <a:pt x="57" y="179"/>
                </a:cubicBezTo>
                <a:cubicBezTo>
                  <a:pt x="46" y="175"/>
                  <a:pt x="36" y="168"/>
                  <a:pt x="27" y="159"/>
                </a:cubicBezTo>
                <a:cubicBezTo>
                  <a:pt x="19" y="151"/>
                  <a:pt x="12" y="141"/>
                  <a:pt x="7" y="129"/>
                </a:cubicBezTo>
                <a:cubicBezTo>
                  <a:pt x="3" y="118"/>
                  <a:pt x="0" y="105"/>
                  <a:pt x="0" y="93"/>
                </a:cubicBezTo>
                <a:cubicBezTo>
                  <a:pt x="0" y="80"/>
                  <a:pt x="3" y="69"/>
                  <a:pt x="7" y="57"/>
                </a:cubicBezTo>
                <a:cubicBezTo>
                  <a:pt x="12" y="46"/>
                  <a:pt x="19" y="36"/>
                  <a:pt x="27" y="27"/>
                </a:cubicBezTo>
                <a:cubicBezTo>
                  <a:pt x="36" y="19"/>
                  <a:pt x="46" y="12"/>
                  <a:pt x="57" y="7"/>
                </a:cubicBezTo>
                <a:cubicBezTo>
                  <a:pt x="69" y="3"/>
                  <a:pt x="81" y="0"/>
                  <a:pt x="93" y="0"/>
                </a:cubicBezTo>
                <a:cubicBezTo>
                  <a:pt x="105" y="0"/>
                  <a:pt x="117" y="3"/>
                  <a:pt x="128" y="7"/>
                </a:cubicBezTo>
                <a:cubicBezTo>
                  <a:pt x="140" y="12"/>
                  <a:pt x="150" y="19"/>
                  <a:pt x="158" y="27"/>
                </a:cubicBezTo>
                <a:cubicBezTo>
                  <a:pt x="167" y="36"/>
                  <a:pt x="175" y="46"/>
                  <a:pt x="179" y="57"/>
                </a:cubicBezTo>
                <a:cubicBezTo>
                  <a:pt x="184" y="69"/>
                  <a:pt x="186" y="80"/>
                  <a:pt x="186" y="93"/>
                </a:cubicBezTo>
                <a:close/>
              </a:path>
            </a:pathLst>
          </a:custGeom>
          <a:solidFill>
            <a:srgbClr val="0a53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26" name=""/>
          <p:cNvSpPr txBox="1"/>
          <p:nvPr/>
        </p:nvSpPr>
        <p:spPr>
          <a:xfrm>
            <a:off x="1168200" y="3737520"/>
            <a:ext cx="519876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How are "design" and "artefact" conceptually related?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7" name=""/>
          <p:cNvSpPr/>
          <p:nvPr/>
        </p:nvSpPr>
        <p:spPr>
          <a:xfrm>
            <a:off x="971280" y="4543200"/>
            <a:ext cx="66960" cy="66960"/>
          </a:xfrm>
          <a:custGeom>
            <a:avLst/>
            <a:gdLst/>
            <a:ahLst/>
            <a:rect l="0" t="0" r="r" b="b"/>
            <a:pathLst>
              <a:path w="186" h="186">
                <a:moveTo>
                  <a:pt x="186" y="94"/>
                </a:moveTo>
                <a:cubicBezTo>
                  <a:pt x="186" y="106"/>
                  <a:pt x="184" y="118"/>
                  <a:pt x="179" y="129"/>
                </a:cubicBezTo>
                <a:cubicBezTo>
                  <a:pt x="175" y="141"/>
                  <a:pt x="167" y="151"/>
                  <a:pt x="158" y="159"/>
                </a:cubicBezTo>
                <a:cubicBezTo>
                  <a:pt x="150" y="168"/>
                  <a:pt x="140" y="175"/>
                  <a:pt x="128" y="179"/>
                </a:cubicBezTo>
                <a:cubicBezTo>
                  <a:pt x="117" y="184"/>
                  <a:pt x="105" y="186"/>
                  <a:pt x="93" y="186"/>
                </a:cubicBezTo>
                <a:cubicBezTo>
                  <a:pt x="81" y="186"/>
                  <a:pt x="69" y="184"/>
                  <a:pt x="57" y="179"/>
                </a:cubicBezTo>
                <a:cubicBezTo>
                  <a:pt x="46" y="175"/>
                  <a:pt x="36" y="168"/>
                  <a:pt x="27" y="159"/>
                </a:cubicBezTo>
                <a:cubicBezTo>
                  <a:pt x="19" y="151"/>
                  <a:pt x="12" y="141"/>
                  <a:pt x="7" y="129"/>
                </a:cubicBezTo>
                <a:cubicBezTo>
                  <a:pt x="3" y="118"/>
                  <a:pt x="0" y="106"/>
                  <a:pt x="0" y="94"/>
                </a:cubicBezTo>
                <a:cubicBezTo>
                  <a:pt x="0" y="81"/>
                  <a:pt x="3" y="70"/>
                  <a:pt x="7" y="58"/>
                </a:cubicBezTo>
                <a:cubicBezTo>
                  <a:pt x="12" y="46"/>
                  <a:pt x="19" y="36"/>
                  <a:pt x="27" y="27"/>
                </a:cubicBezTo>
                <a:cubicBezTo>
                  <a:pt x="36" y="19"/>
                  <a:pt x="46" y="12"/>
                  <a:pt x="57" y="7"/>
                </a:cubicBezTo>
                <a:cubicBezTo>
                  <a:pt x="69" y="2"/>
                  <a:pt x="81" y="0"/>
                  <a:pt x="93" y="0"/>
                </a:cubicBezTo>
                <a:cubicBezTo>
                  <a:pt x="105" y="0"/>
                  <a:pt x="117" y="2"/>
                  <a:pt x="128" y="7"/>
                </a:cubicBezTo>
                <a:cubicBezTo>
                  <a:pt x="140" y="12"/>
                  <a:pt x="150" y="19"/>
                  <a:pt x="158" y="27"/>
                </a:cubicBezTo>
                <a:cubicBezTo>
                  <a:pt x="167" y="36"/>
                  <a:pt x="175" y="46"/>
                  <a:pt x="179" y="58"/>
                </a:cubicBezTo>
                <a:cubicBezTo>
                  <a:pt x="184" y="70"/>
                  <a:pt x="186" y="81"/>
                  <a:pt x="186" y="94"/>
                </a:cubicBezTo>
                <a:close/>
              </a:path>
            </a:pathLst>
          </a:custGeom>
          <a:solidFill>
            <a:srgbClr val="0a53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28" name=""/>
          <p:cNvSpPr txBox="1"/>
          <p:nvPr/>
        </p:nvSpPr>
        <p:spPr>
          <a:xfrm>
            <a:off x="1168200" y="4099320"/>
            <a:ext cx="806400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Is it necessary, suﬃcient, or both, that something was designed to be an artefact?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9" name=""/>
          <p:cNvSpPr txBox="1"/>
          <p:nvPr/>
        </p:nvSpPr>
        <p:spPr>
          <a:xfrm>
            <a:off x="1168200" y="4451760"/>
            <a:ext cx="763524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Can there be artefacts without design? Can there be design without artefacts?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0" name=""/>
          <p:cNvSpPr txBox="1"/>
          <p:nvPr/>
        </p:nvSpPr>
        <p:spPr>
          <a:xfrm>
            <a:off x="1238400" y="6405120"/>
            <a:ext cx="1046520" cy="155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05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SEAtS | 080172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1" name=""/>
          <p:cNvSpPr/>
          <p:nvPr/>
        </p:nvSpPr>
        <p:spPr>
          <a:xfrm>
            <a:off x="685440" y="6343560"/>
            <a:ext cx="267120" cy="304920"/>
          </a:xfrm>
          <a:custGeom>
            <a:avLst/>
            <a:gdLst/>
            <a:ahLst/>
            <a:rect l="0" t="0" r="r" b="b"/>
            <a:pathLst>
              <a:path w="742" h="847">
                <a:moveTo>
                  <a:pt x="0" y="476"/>
                </a:moveTo>
                <a:lnTo>
                  <a:pt x="0" y="370"/>
                </a:lnTo>
                <a:cubicBezTo>
                  <a:pt x="0" y="346"/>
                  <a:pt x="3" y="322"/>
                  <a:pt x="8" y="298"/>
                </a:cubicBezTo>
                <a:cubicBezTo>
                  <a:pt x="12" y="274"/>
                  <a:pt x="19" y="251"/>
                  <a:pt x="29" y="228"/>
                </a:cubicBezTo>
                <a:cubicBezTo>
                  <a:pt x="38" y="206"/>
                  <a:pt x="49" y="185"/>
                  <a:pt x="63" y="164"/>
                </a:cubicBezTo>
                <a:cubicBezTo>
                  <a:pt x="76" y="144"/>
                  <a:pt x="92" y="125"/>
                  <a:pt x="109" y="108"/>
                </a:cubicBezTo>
                <a:cubicBezTo>
                  <a:pt x="126" y="91"/>
                  <a:pt x="145" y="76"/>
                  <a:pt x="165" y="62"/>
                </a:cubicBezTo>
                <a:cubicBezTo>
                  <a:pt x="185" y="49"/>
                  <a:pt x="207" y="37"/>
                  <a:pt x="229" y="28"/>
                </a:cubicBezTo>
                <a:cubicBezTo>
                  <a:pt x="252" y="19"/>
                  <a:pt x="275" y="12"/>
                  <a:pt x="299" y="7"/>
                </a:cubicBezTo>
                <a:cubicBezTo>
                  <a:pt x="323" y="2"/>
                  <a:pt x="347" y="0"/>
                  <a:pt x="371" y="0"/>
                </a:cubicBezTo>
                <a:cubicBezTo>
                  <a:pt x="395" y="0"/>
                  <a:pt x="419" y="2"/>
                  <a:pt x="443" y="7"/>
                </a:cubicBezTo>
                <a:cubicBezTo>
                  <a:pt x="467" y="12"/>
                  <a:pt x="490" y="19"/>
                  <a:pt x="513" y="28"/>
                </a:cubicBezTo>
                <a:cubicBezTo>
                  <a:pt x="535" y="37"/>
                  <a:pt x="556" y="49"/>
                  <a:pt x="577" y="62"/>
                </a:cubicBezTo>
                <a:cubicBezTo>
                  <a:pt x="597" y="76"/>
                  <a:pt x="616" y="91"/>
                  <a:pt x="633" y="108"/>
                </a:cubicBezTo>
                <a:cubicBezTo>
                  <a:pt x="650" y="125"/>
                  <a:pt x="665" y="144"/>
                  <a:pt x="679" y="164"/>
                </a:cubicBezTo>
                <a:cubicBezTo>
                  <a:pt x="693" y="185"/>
                  <a:pt x="705" y="206"/>
                  <a:pt x="714" y="228"/>
                </a:cubicBezTo>
                <a:cubicBezTo>
                  <a:pt x="723" y="251"/>
                  <a:pt x="730" y="274"/>
                  <a:pt x="735" y="298"/>
                </a:cubicBezTo>
                <a:cubicBezTo>
                  <a:pt x="740" y="322"/>
                  <a:pt x="742" y="346"/>
                  <a:pt x="742" y="370"/>
                </a:cubicBezTo>
                <a:lnTo>
                  <a:pt x="742" y="476"/>
                </a:lnTo>
                <a:cubicBezTo>
                  <a:pt x="742" y="500"/>
                  <a:pt x="740" y="524"/>
                  <a:pt x="735" y="548"/>
                </a:cubicBezTo>
                <a:cubicBezTo>
                  <a:pt x="730" y="573"/>
                  <a:pt x="723" y="596"/>
                  <a:pt x="714" y="619"/>
                </a:cubicBezTo>
                <a:cubicBezTo>
                  <a:pt x="705" y="641"/>
                  <a:pt x="693" y="663"/>
                  <a:pt x="679" y="683"/>
                </a:cubicBezTo>
                <a:cubicBezTo>
                  <a:pt x="665" y="703"/>
                  <a:pt x="650" y="722"/>
                  <a:pt x="633" y="739"/>
                </a:cubicBezTo>
                <a:cubicBezTo>
                  <a:pt x="616" y="756"/>
                  <a:pt x="597" y="771"/>
                  <a:pt x="577" y="785"/>
                </a:cubicBezTo>
                <a:cubicBezTo>
                  <a:pt x="556" y="798"/>
                  <a:pt x="535" y="810"/>
                  <a:pt x="513" y="819"/>
                </a:cubicBezTo>
                <a:cubicBezTo>
                  <a:pt x="490" y="829"/>
                  <a:pt x="467" y="836"/>
                  <a:pt x="443" y="840"/>
                </a:cubicBezTo>
                <a:cubicBezTo>
                  <a:pt x="419" y="845"/>
                  <a:pt x="395" y="847"/>
                  <a:pt x="371" y="847"/>
                </a:cubicBezTo>
                <a:cubicBezTo>
                  <a:pt x="347" y="847"/>
                  <a:pt x="323" y="845"/>
                  <a:pt x="299" y="840"/>
                </a:cubicBezTo>
                <a:cubicBezTo>
                  <a:pt x="275" y="836"/>
                  <a:pt x="252" y="829"/>
                  <a:pt x="229" y="819"/>
                </a:cubicBezTo>
                <a:cubicBezTo>
                  <a:pt x="207" y="810"/>
                  <a:pt x="185" y="798"/>
                  <a:pt x="165" y="785"/>
                </a:cubicBezTo>
                <a:cubicBezTo>
                  <a:pt x="145" y="771"/>
                  <a:pt x="126" y="756"/>
                  <a:pt x="109" y="739"/>
                </a:cubicBezTo>
                <a:cubicBezTo>
                  <a:pt x="92" y="722"/>
                  <a:pt x="76" y="703"/>
                  <a:pt x="63" y="683"/>
                </a:cubicBezTo>
                <a:cubicBezTo>
                  <a:pt x="49" y="663"/>
                  <a:pt x="38" y="641"/>
                  <a:pt x="29" y="619"/>
                </a:cubicBezTo>
                <a:cubicBezTo>
                  <a:pt x="19" y="596"/>
                  <a:pt x="12" y="573"/>
                  <a:pt x="8" y="548"/>
                </a:cubicBezTo>
                <a:cubicBezTo>
                  <a:pt x="3" y="524"/>
                  <a:pt x="0" y="500"/>
                  <a:pt x="0" y="476"/>
                </a:cubicBezTo>
                <a:close/>
              </a:path>
            </a:pathLst>
          </a:custGeom>
          <a:solidFill>
            <a:srgbClr val="ffffff">
              <a:alpha val="74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2" name=""/>
          <p:cNvSpPr txBox="1"/>
          <p:nvPr/>
        </p:nvSpPr>
        <p:spPr>
          <a:xfrm>
            <a:off x="1238400" y="6569280"/>
            <a:ext cx="3390120" cy="12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800" strike="noStrike" u="none">
                <a:solidFill>
                  <a:srgbClr val="a6a6a6"/>
                </a:solidFill>
                <a:effectLst/>
                <a:uFillTx/>
                <a:latin typeface="LucidaGrande"/>
                <a:ea typeface="LucidaGrande"/>
              </a:rPr>
              <a:t>Version: GITREVISION | © 22.09.2026 University of Southampton</a:t>
            </a:r>
            <a:endParaRPr b="0" lang="en-US" sz="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3" name=""/>
          <p:cNvSpPr txBox="1"/>
          <p:nvPr/>
        </p:nvSpPr>
        <p:spPr>
          <a:xfrm>
            <a:off x="762120" y="6390720"/>
            <a:ext cx="177480" cy="21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7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0a53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37" name=""/>
          <p:cNvSpPr txBox="1"/>
          <p:nvPr/>
        </p:nvSpPr>
        <p:spPr>
          <a:xfrm>
            <a:off x="762120" y="3451680"/>
            <a:ext cx="816876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Can there be artefacts without design? Can there be design without artefacts?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8" name=""/>
          <p:cNvSpPr/>
          <p:nvPr/>
        </p:nvSpPr>
        <p:spPr>
          <a:xfrm>
            <a:off x="799920" y="3716280"/>
            <a:ext cx="410040" cy="378000"/>
          </a:xfrm>
          <a:custGeom>
            <a:avLst/>
            <a:gdLst/>
            <a:ahLst/>
            <a:rect l="0" t="0" r="r" b="b"/>
            <a:pathLst>
              <a:path w="1139" h="1050">
                <a:moveTo>
                  <a:pt x="569" y="0"/>
                </a:moveTo>
                <a:cubicBezTo>
                  <a:pt x="255" y="0"/>
                  <a:pt x="0" y="193"/>
                  <a:pt x="0" y="432"/>
                </a:cubicBezTo>
                <a:cubicBezTo>
                  <a:pt x="0" y="567"/>
                  <a:pt x="81" y="687"/>
                  <a:pt x="209" y="767"/>
                </a:cubicBezTo>
                <a:cubicBezTo>
                  <a:pt x="192" y="839"/>
                  <a:pt x="154" y="944"/>
                  <a:pt x="63" y="1050"/>
                </a:cubicBezTo>
                <a:cubicBezTo>
                  <a:pt x="245" y="1021"/>
                  <a:pt x="362" y="934"/>
                  <a:pt x="433" y="852"/>
                </a:cubicBezTo>
                <a:cubicBezTo>
                  <a:pt x="477" y="860"/>
                  <a:pt x="522" y="865"/>
                  <a:pt x="569" y="865"/>
                </a:cubicBezTo>
                <a:cubicBezTo>
                  <a:pt x="884" y="865"/>
                  <a:pt x="1139" y="670"/>
                  <a:pt x="1139" y="432"/>
                </a:cubicBezTo>
                <a:cubicBezTo>
                  <a:pt x="1139" y="193"/>
                  <a:pt x="884" y="0"/>
                  <a:pt x="569" y="0"/>
                </a:cubicBezTo>
                <a:close/>
              </a:path>
            </a:pathLst>
          </a:custGeom>
          <a:solidFill>
            <a:srgbClr val="bdddf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9" name=""/>
          <p:cNvSpPr/>
          <p:nvPr/>
        </p:nvSpPr>
        <p:spPr>
          <a:xfrm>
            <a:off x="982080" y="3849480"/>
            <a:ext cx="45720" cy="45000"/>
          </a:xfrm>
          <a:custGeom>
            <a:avLst/>
            <a:gdLst/>
            <a:ahLst/>
            <a:rect l="0" t="0" r="r" b="b"/>
            <a:pathLst>
              <a:path w="127" h="125">
                <a:moveTo>
                  <a:pt x="127" y="62"/>
                </a:moveTo>
                <a:cubicBezTo>
                  <a:pt x="127" y="71"/>
                  <a:pt x="125" y="79"/>
                  <a:pt x="122" y="86"/>
                </a:cubicBezTo>
                <a:cubicBezTo>
                  <a:pt x="119" y="94"/>
                  <a:pt x="114" y="101"/>
                  <a:pt x="109" y="106"/>
                </a:cubicBezTo>
                <a:cubicBezTo>
                  <a:pt x="102" y="112"/>
                  <a:pt x="95" y="117"/>
                  <a:pt x="87" y="120"/>
                </a:cubicBezTo>
                <a:cubicBezTo>
                  <a:pt x="79" y="123"/>
                  <a:pt x="71" y="125"/>
                  <a:pt x="63" y="125"/>
                </a:cubicBezTo>
                <a:cubicBezTo>
                  <a:pt x="54" y="125"/>
                  <a:pt x="46" y="123"/>
                  <a:pt x="39" y="120"/>
                </a:cubicBezTo>
                <a:cubicBezTo>
                  <a:pt x="31" y="117"/>
                  <a:pt x="24" y="112"/>
                  <a:pt x="18" y="106"/>
                </a:cubicBezTo>
                <a:cubicBezTo>
                  <a:pt x="12" y="101"/>
                  <a:pt x="8" y="94"/>
                  <a:pt x="4" y="86"/>
                </a:cubicBezTo>
                <a:cubicBezTo>
                  <a:pt x="1" y="79"/>
                  <a:pt x="0" y="71"/>
                  <a:pt x="0" y="62"/>
                </a:cubicBezTo>
                <a:cubicBezTo>
                  <a:pt x="0" y="54"/>
                  <a:pt x="1" y="46"/>
                  <a:pt x="4" y="38"/>
                </a:cubicBezTo>
                <a:cubicBezTo>
                  <a:pt x="8" y="31"/>
                  <a:pt x="12" y="24"/>
                  <a:pt x="18" y="18"/>
                </a:cubicBezTo>
                <a:cubicBezTo>
                  <a:pt x="24" y="12"/>
                  <a:pt x="31" y="8"/>
                  <a:pt x="39" y="5"/>
                </a:cubicBezTo>
                <a:cubicBezTo>
                  <a:pt x="46" y="2"/>
                  <a:pt x="54" y="0"/>
                  <a:pt x="63" y="0"/>
                </a:cubicBezTo>
                <a:cubicBezTo>
                  <a:pt x="71" y="0"/>
                  <a:pt x="79" y="2"/>
                  <a:pt x="87" y="5"/>
                </a:cubicBezTo>
                <a:cubicBezTo>
                  <a:pt x="95" y="8"/>
                  <a:pt x="102" y="12"/>
                  <a:pt x="109" y="18"/>
                </a:cubicBezTo>
                <a:cubicBezTo>
                  <a:pt x="114" y="24"/>
                  <a:pt x="119" y="31"/>
                  <a:pt x="122" y="38"/>
                </a:cubicBezTo>
                <a:cubicBezTo>
                  <a:pt x="125" y="46"/>
                  <a:pt x="127" y="54"/>
                  <a:pt x="127" y="62"/>
                </a:cubicBezTo>
                <a:close/>
              </a:path>
            </a:pathLst>
          </a:custGeom>
          <a:solidFill>
            <a:srgbClr val="2a679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40" name=""/>
          <p:cNvSpPr/>
          <p:nvPr/>
        </p:nvSpPr>
        <p:spPr>
          <a:xfrm>
            <a:off x="1072800" y="3849480"/>
            <a:ext cx="46080" cy="45000"/>
          </a:xfrm>
          <a:custGeom>
            <a:avLst/>
            <a:gdLst/>
            <a:ahLst/>
            <a:rect l="0" t="0" r="r" b="b"/>
            <a:pathLst>
              <a:path w="128" h="125">
                <a:moveTo>
                  <a:pt x="128" y="62"/>
                </a:moveTo>
                <a:cubicBezTo>
                  <a:pt x="128" y="71"/>
                  <a:pt x="126" y="79"/>
                  <a:pt x="123" y="86"/>
                </a:cubicBezTo>
                <a:cubicBezTo>
                  <a:pt x="120" y="94"/>
                  <a:pt x="115" y="101"/>
                  <a:pt x="109" y="106"/>
                </a:cubicBezTo>
                <a:cubicBezTo>
                  <a:pt x="102" y="112"/>
                  <a:pt x="96" y="117"/>
                  <a:pt x="88" y="120"/>
                </a:cubicBezTo>
                <a:cubicBezTo>
                  <a:pt x="80" y="123"/>
                  <a:pt x="72" y="125"/>
                  <a:pt x="64" y="125"/>
                </a:cubicBezTo>
                <a:cubicBezTo>
                  <a:pt x="55" y="125"/>
                  <a:pt x="47" y="123"/>
                  <a:pt x="39" y="120"/>
                </a:cubicBezTo>
                <a:cubicBezTo>
                  <a:pt x="32" y="117"/>
                  <a:pt x="25" y="112"/>
                  <a:pt x="19" y="106"/>
                </a:cubicBezTo>
                <a:cubicBezTo>
                  <a:pt x="13" y="101"/>
                  <a:pt x="8" y="94"/>
                  <a:pt x="5" y="86"/>
                </a:cubicBezTo>
                <a:cubicBezTo>
                  <a:pt x="2" y="79"/>
                  <a:pt x="0" y="71"/>
                  <a:pt x="0" y="62"/>
                </a:cubicBezTo>
                <a:cubicBezTo>
                  <a:pt x="0" y="54"/>
                  <a:pt x="2" y="46"/>
                  <a:pt x="5" y="38"/>
                </a:cubicBezTo>
                <a:cubicBezTo>
                  <a:pt x="8" y="31"/>
                  <a:pt x="13" y="24"/>
                  <a:pt x="19" y="18"/>
                </a:cubicBezTo>
                <a:cubicBezTo>
                  <a:pt x="25" y="12"/>
                  <a:pt x="32" y="8"/>
                  <a:pt x="39" y="5"/>
                </a:cubicBezTo>
                <a:cubicBezTo>
                  <a:pt x="47" y="2"/>
                  <a:pt x="55" y="0"/>
                  <a:pt x="64" y="0"/>
                </a:cubicBezTo>
                <a:cubicBezTo>
                  <a:pt x="72" y="0"/>
                  <a:pt x="80" y="2"/>
                  <a:pt x="88" y="5"/>
                </a:cubicBezTo>
                <a:cubicBezTo>
                  <a:pt x="96" y="8"/>
                  <a:pt x="102" y="12"/>
                  <a:pt x="109" y="18"/>
                </a:cubicBezTo>
                <a:cubicBezTo>
                  <a:pt x="115" y="24"/>
                  <a:pt x="120" y="31"/>
                  <a:pt x="123" y="38"/>
                </a:cubicBezTo>
                <a:cubicBezTo>
                  <a:pt x="126" y="46"/>
                  <a:pt x="128" y="54"/>
                  <a:pt x="128" y="62"/>
                </a:cubicBezTo>
                <a:close/>
              </a:path>
            </a:pathLst>
          </a:custGeom>
          <a:solidFill>
            <a:srgbClr val="2a679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41" name=""/>
          <p:cNvSpPr/>
          <p:nvPr/>
        </p:nvSpPr>
        <p:spPr>
          <a:xfrm>
            <a:off x="891000" y="3849480"/>
            <a:ext cx="45720" cy="45000"/>
          </a:xfrm>
          <a:custGeom>
            <a:avLst/>
            <a:gdLst/>
            <a:ahLst/>
            <a:rect l="0" t="0" r="r" b="b"/>
            <a:pathLst>
              <a:path w="127" h="125">
                <a:moveTo>
                  <a:pt x="127" y="62"/>
                </a:moveTo>
                <a:cubicBezTo>
                  <a:pt x="127" y="71"/>
                  <a:pt x="126" y="79"/>
                  <a:pt x="122" y="86"/>
                </a:cubicBezTo>
                <a:cubicBezTo>
                  <a:pt x="119" y="94"/>
                  <a:pt x="115" y="101"/>
                  <a:pt x="109" y="106"/>
                </a:cubicBezTo>
                <a:cubicBezTo>
                  <a:pt x="102" y="112"/>
                  <a:pt x="95" y="117"/>
                  <a:pt x="87" y="120"/>
                </a:cubicBezTo>
                <a:cubicBezTo>
                  <a:pt x="79" y="123"/>
                  <a:pt x="71" y="125"/>
                  <a:pt x="63" y="125"/>
                </a:cubicBezTo>
                <a:cubicBezTo>
                  <a:pt x="55" y="125"/>
                  <a:pt x="47" y="123"/>
                  <a:pt x="39" y="120"/>
                </a:cubicBezTo>
                <a:cubicBezTo>
                  <a:pt x="31" y="117"/>
                  <a:pt x="24" y="112"/>
                  <a:pt x="18" y="106"/>
                </a:cubicBezTo>
                <a:cubicBezTo>
                  <a:pt x="12" y="101"/>
                  <a:pt x="8" y="94"/>
                  <a:pt x="5" y="86"/>
                </a:cubicBezTo>
                <a:cubicBezTo>
                  <a:pt x="1" y="79"/>
                  <a:pt x="0" y="71"/>
                  <a:pt x="0" y="62"/>
                </a:cubicBezTo>
                <a:cubicBezTo>
                  <a:pt x="0" y="54"/>
                  <a:pt x="1" y="46"/>
                  <a:pt x="5" y="38"/>
                </a:cubicBezTo>
                <a:cubicBezTo>
                  <a:pt x="8" y="31"/>
                  <a:pt x="12" y="24"/>
                  <a:pt x="18" y="18"/>
                </a:cubicBezTo>
                <a:cubicBezTo>
                  <a:pt x="24" y="12"/>
                  <a:pt x="31" y="8"/>
                  <a:pt x="39" y="5"/>
                </a:cubicBezTo>
                <a:cubicBezTo>
                  <a:pt x="47" y="2"/>
                  <a:pt x="55" y="0"/>
                  <a:pt x="63" y="0"/>
                </a:cubicBezTo>
                <a:cubicBezTo>
                  <a:pt x="71" y="0"/>
                  <a:pt x="79" y="2"/>
                  <a:pt x="87" y="5"/>
                </a:cubicBezTo>
                <a:cubicBezTo>
                  <a:pt x="95" y="8"/>
                  <a:pt x="102" y="12"/>
                  <a:pt x="109" y="18"/>
                </a:cubicBezTo>
                <a:cubicBezTo>
                  <a:pt x="115" y="24"/>
                  <a:pt x="119" y="31"/>
                  <a:pt x="122" y="38"/>
                </a:cubicBezTo>
                <a:cubicBezTo>
                  <a:pt x="126" y="46"/>
                  <a:pt x="127" y="54"/>
                  <a:pt x="127" y="62"/>
                </a:cubicBezTo>
                <a:close/>
              </a:path>
            </a:pathLst>
          </a:custGeom>
          <a:solidFill>
            <a:srgbClr val="2a679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42" name=""/>
          <p:cNvSpPr txBox="1"/>
          <p:nvPr/>
        </p:nvSpPr>
        <p:spPr>
          <a:xfrm>
            <a:off x="762120" y="3908880"/>
            <a:ext cx="44928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4:00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3" name=""/>
          <p:cNvSpPr txBox="1"/>
          <p:nvPr/>
        </p:nvSpPr>
        <p:spPr>
          <a:xfrm>
            <a:off x="1229040" y="3674160"/>
            <a:ext cx="3089160" cy="4788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3200" strike="noStrike" u="none">
                <a:solidFill>
                  <a:srgbClr val="ffffff"/>
                </a:solidFill>
                <a:effectLst/>
                <a:uFillTx/>
                <a:latin typeface="LucidaGrande"/>
                <a:ea typeface="LucidaGrande"/>
              </a:rPr>
              <a:t> Turn and Talk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147" name="" descr=""/>
          <p:cNvPicPr/>
          <p:nvPr/>
        </p:nvPicPr>
        <p:blipFill>
          <a:blip r:embed="rId1"/>
          <a:stretch/>
        </p:blipFill>
        <p:spPr>
          <a:xfrm>
            <a:off x="10134720" y="5981760"/>
            <a:ext cx="1904760" cy="1065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8" name=""/>
          <p:cNvSpPr/>
          <p:nvPr/>
        </p:nvSpPr>
        <p:spPr>
          <a:xfrm>
            <a:off x="971280" y="3476520"/>
            <a:ext cx="66960" cy="66960"/>
          </a:xfrm>
          <a:custGeom>
            <a:avLst/>
            <a:gdLst/>
            <a:ahLst/>
            <a:rect l="0" t="0" r="r" b="b"/>
            <a:pathLst>
              <a:path w="186" h="186">
                <a:moveTo>
                  <a:pt x="186" y="93"/>
                </a:moveTo>
                <a:cubicBezTo>
                  <a:pt x="186" y="106"/>
                  <a:pt x="184" y="117"/>
                  <a:pt x="179" y="129"/>
                </a:cubicBezTo>
                <a:cubicBezTo>
                  <a:pt x="175" y="140"/>
                  <a:pt x="167" y="150"/>
                  <a:pt x="158" y="159"/>
                </a:cubicBezTo>
                <a:cubicBezTo>
                  <a:pt x="150" y="168"/>
                  <a:pt x="140" y="174"/>
                  <a:pt x="128" y="179"/>
                </a:cubicBezTo>
                <a:cubicBezTo>
                  <a:pt x="117" y="184"/>
                  <a:pt x="105" y="186"/>
                  <a:pt x="93" y="186"/>
                </a:cubicBezTo>
                <a:cubicBezTo>
                  <a:pt x="81" y="186"/>
                  <a:pt x="69" y="184"/>
                  <a:pt x="57" y="179"/>
                </a:cubicBezTo>
                <a:cubicBezTo>
                  <a:pt x="46" y="174"/>
                  <a:pt x="36" y="168"/>
                  <a:pt x="27" y="159"/>
                </a:cubicBezTo>
                <a:cubicBezTo>
                  <a:pt x="19" y="150"/>
                  <a:pt x="12" y="140"/>
                  <a:pt x="7" y="129"/>
                </a:cubicBezTo>
                <a:cubicBezTo>
                  <a:pt x="3" y="117"/>
                  <a:pt x="0" y="106"/>
                  <a:pt x="0" y="93"/>
                </a:cubicBezTo>
                <a:cubicBezTo>
                  <a:pt x="0" y="81"/>
                  <a:pt x="3" y="69"/>
                  <a:pt x="7" y="58"/>
                </a:cubicBezTo>
                <a:cubicBezTo>
                  <a:pt x="12" y="46"/>
                  <a:pt x="19" y="36"/>
                  <a:pt x="27" y="27"/>
                </a:cubicBezTo>
                <a:cubicBezTo>
                  <a:pt x="36" y="18"/>
                  <a:pt x="46" y="12"/>
                  <a:pt x="57" y="7"/>
                </a:cubicBezTo>
                <a:cubicBezTo>
                  <a:pt x="69" y="2"/>
                  <a:pt x="81" y="0"/>
                  <a:pt x="93" y="0"/>
                </a:cubicBezTo>
                <a:cubicBezTo>
                  <a:pt x="105" y="0"/>
                  <a:pt x="117" y="2"/>
                  <a:pt x="128" y="7"/>
                </a:cubicBezTo>
                <a:cubicBezTo>
                  <a:pt x="140" y="12"/>
                  <a:pt x="150" y="18"/>
                  <a:pt x="158" y="27"/>
                </a:cubicBezTo>
                <a:cubicBezTo>
                  <a:pt x="167" y="36"/>
                  <a:pt x="175" y="46"/>
                  <a:pt x="179" y="58"/>
                </a:cubicBezTo>
                <a:cubicBezTo>
                  <a:pt x="184" y="69"/>
                  <a:pt x="186" y="81"/>
                  <a:pt x="186" y="93"/>
                </a:cubicBezTo>
                <a:close/>
              </a:path>
            </a:pathLst>
          </a:custGeom>
          <a:solidFill>
            <a:srgbClr val="0a53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49" name=""/>
          <p:cNvSpPr txBox="1"/>
          <p:nvPr/>
        </p:nvSpPr>
        <p:spPr>
          <a:xfrm>
            <a:off x="762120" y="2868840"/>
            <a:ext cx="3232800" cy="30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208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Epistemology of Design</a:t>
            </a:r>
            <a:endParaRPr b="0" lang="en-US" sz="208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0" name=""/>
          <p:cNvSpPr/>
          <p:nvPr/>
        </p:nvSpPr>
        <p:spPr>
          <a:xfrm>
            <a:off x="971280" y="3828960"/>
            <a:ext cx="66960" cy="66960"/>
          </a:xfrm>
          <a:custGeom>
            <a:avLst/>
            <a:gdLst/>
            <a:ahLst/>
            <a:rect l="0" t="0" r="r" b="b"/>
            <a:pathLst>
              <a:path w="186" h="186">
                <a:moveTo>
                  <a:pt x="186" y="93"/>
                </a:moveTo>
                <a:cubicBezTo>
                  <a:pt x="186" y="106"/>
                  <a:pt x="184" y="117"/>
                  <a:pt x="179" y="129"/>
                </a:cubicBezTo>
                <a:cubicBezTo>
                  <a:pt x="175" y="140"/>
                  <a:pt x="167" y="150"/>
                  <a:pt x="158" y="159"/>
                </a:cubicBezTo>
                <a:cubicBezTo>
                  <a:pt x="150" y="168"/>
                  <a:pt x="140" y="174"/>
                  <a:pt x="128" y="179"/>
                </a:cubicBezTo>
                <a:cubicBezTo>
                  <a:pt x="117" y="184"/>
                  <a:pt x="105" y="186"/>
                  <a:pt x="93" y="186"/>
                </a:cubicBezTo>
                <a:cubicBezTo>
                  <a:pt x="81" y="186"/>
                  <a:pt x="69" y="184"/>
                  <a:pt x="57" y="179"/>
                </a:cubicBezTo>
                <a:cubicBezTo>
                  <a:pt x="46" y="174"/>
                  <a:pt x="36" y="168"/>
                  <a:pt x="27" y="159"/>
                </a:cubicBezTo>
                <a:cubicBezTo>
                  <a:pt x="19" y="150"/>
                  <a:pt x="12" y="140"/>
                  <a:pt x="7" y="129"/>
                </a:cubicBezTo>
                <a:cubicBezTo>
                  <a:pt x="3" y="117"/>
                  <a:pt x="0" y="106"/>
                  <a:pt x="0" y="93"/>
                </a:cubicBezTo>
                <a:cubicBezTo>
                  <a:pt x="0" y="81"/>
                  <a:pt x="3" y="69"/>
                  <a:pt x="7" y="58"/>
                </a:cubicBezTo>
                <a:cubicBezTo>
                  <a:pt x="12" y="47"/>
                  <a:pt x="19" y="37"/>
                  <a:pt x="27" y="28"/>
                </a:cubicBezTo>
                <a:cubicBezTo>
                  <a:pt x="36" y="19"/>
                  <a:pt x="46" y="12"/>
                  <a:pt x="57" y="8"/>
                </a:cubicBezTo>
                <a:cubicBezTo>
                  <a:pt x="69" y="3"/>
                  <a:pt x="81" y="0"/>
                  <a:pt x="93" y="0"/>
                </a:cubicBezTo>
                <a:cubicBezTo>
                  <a:pt x="105" y="0"/>
                  <a:pt x="117" y="3"/>
                  <a:pt x="128" y="8"/>
                </a:cubicBezTo>
                <a:cubicBezTo>
                  <a:pt x="140" y="12"/>
                  <a:pt x="150" y="19"/>
                  <a:pt x="158" y="28"/>
                </a:cubicBezTo>
                <a:cubicBezTo>
                  <a:pt x="167" y="37"/>
                  <a:pt x="175" y="47"/>
                  <a:pt x="179" y="58"/>
                </a:cubicBezTo>
                <a:cubicBezTo>
                  <a:pt x="184" y="69"/>
                  <a:pt x="186" y="81"/>
                  <a:pt x="186" y="93"/>
                </a:cubicBezTo>
                <a:close/>
              </a:path>
            </a:pathLst>
          </a:custGeom>
          <a:solidFill>
            <a:srgbClr val="0a53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51" name=""/>
          <p:cNvSpPr txBox="1"/>
          <p:nvPr/>
        </p:nvSpPr>
        <p:spPr>
          <a:xfrm>
            <a:off x="1168200" y="3385080"/>
            <a:ext cx="707976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How do designers talk meaningfully about artefacts that don't yet exist?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2" name=""/>
          <p:cNvSpPr/>
          <p:nvPr/>
        </p:nvSpPr>
        <p:spPr>
          <a:xfrm>
            <a:off x="971280" y="4190760"/>
            <a:ext cx="66960" cy="66960"/>
          </a:xfrm>
          <a:custGeom>
            <a:avLst/>
            <a:gdLst/>
            <a:ahLst/>
            <a:rect l="0" t="0" r="r" b="b"/>
            <a:pathLst>
              <a:path w="186" h="186">
                <a:moveTo>
                  <a:pt x="186" y="93"/>
                </a:moveTo>
                <a:cubicBezTo>
                  <a:pt x="186" y="105"/>
                  <a:pt x="184" y="118"/>
                  <a:pt x="179" y="129"/>
                </a:cubicBezTo>
                <a:cubicBezTo>
                  <a:pt x="175" y="141"/>
                  <a:pt x="167" y="151"/>
                  <a:pt x="158" y="159"/>
                </a:cubicBezTo>
                <a:cubicBezTo>
                  <a:pt x="150" y="168"/>
                  <a:pt x="140" y="175"/>
                  <a:pt x="128" y="179"/>
                </a:cubicBezTo>
                <a:cubicBezTo>
                  <a:pt x="117" y="184"/>
                  <a:pt x="105" y="186"/>
                  <a:pt x="93" y="186"/>
                </a:cubicBezTo>
                <a:cubicBezTo>
                  <a:pt x="81" y="186"/>
                  <a:pt x="69" y="184"/>
                  <a:pt x="57" y="179"/>
                </a:cubicBezTo>
                <a:cubicBezTo>
                  <a:pt x="46" y="175"/>
                  <a:pt x="36" y="168"/>
                  <a:pt x="27" y="159"/>
                </a:cubicBezTo>
                <a:cubicBezTo>
                  <a:pt x="19" y="151"/>
                  <a:pt x="12" y="141"/>
                  <a:pt x="7" y="129"/>
                </a:cubicBezTo>
                <a:cubicBezTo>
                  <a:pt x="3" y="118"/>
                  <a:pt x="0" y="105"/>
                  <a:pt x="0" y="93"/>
                </a:cubicBezTo>
                <a:cubicBezTo>
                  <a:pt x="0" y="80"/>
                  <a:pt x="3" y="69"/>
                  <a:pt x="7" y="57"/>
                </a:cubicBezTo>
                <a:cubicBezTo>
                  <a:pt x="12" y="46"/>
                  <a:pt x="19" y="36"/>
                  <a:pt x="27" y="27"/>
                </a:cubicBezTo>
                <a:cubicBezTo>
                  <a:pt x="36" y="19"/>
                  <a:pt x="46" y="12"/>
                  <a:pt x="57" y="7"/>
                </a:cubicBezTo>
                <a:cubicBezTo>
                  <a:pt x="69" y="3"/>
                  <a:pt x="81" y="0"/>
                  <a:pt x="93" y="0"/>
                </a:cubicBezTo>
                <a:cubicBezTo>
                  <a:pt x="105" y="0"/>
                  <a:pt x="117" y="3"/>
                  <a:pt x="128" y="7"/>
                </a:cubicBezTo>
                <a:cubicBezTo>
                  <a:pt x="140" y="12"/>
                  <a:pt x="150" y="19"/>
                  <a:pt x="158" y="27"/>
                </a:cubicBezTo>
                <a:cubicBezTo>
                  <a:pt x="167" y="36"/>
                  <a:pt x="175" y="46"/>
                  <a:pt x="179" y="57"/>
                </a:cubicBezTo>
                <a:cubicBezTo>
                  <a:pt x="184" y="69"/>
                  <a:pt x="186" y="80"/>
                  <a:pt x="186" y="93"/>
                </a:cubicBezTo>
                <a:close/>
              </a:path>
            </a:pathLst>
          </a:custGeom>
          <a:solidFill>
            <a:srgbClr val="0a53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53" name=""/>
          <p:cNvSpPr txBox="1"/>
          <p:nvPr/>
        </p:nvSpPr>
        <p:spPr>
          <a:xfrm>
            <a:off x="1168200" y="3737520"/>
            <a:ext cx="831888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Are statements of design discourse true, false, or meaningful? What makes them so?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4" name=""/>
          <p:cNvSpPr/>
          <p:nvPr/>
        </p:nvSpPr>
        <p:spPr>
          <a:xfrm>
            <a:off x="971280" y="4543200"/>
            <a:ext cx="66960" cy="66960"/>
          </a:xfrm>
          <a:custGeom>
            <a:avLst/>
            <a:gdLst/>
            <a:ahLst/>
            <a:rect l="0" t="0" r="r" b="b"/>
            <a:pathLst>
              <a:path w="186" h="186">
                <a:moveTo>
                  <a:pt x="186" y="94"/>
                </a:moveTo>
                <a:cubicBezTo>
                  <a:pt x="186" y="106"/>
                  <a:pt x="184" y="118"/>
                  <a:pt x="179" y="129"/>
                </a:cubicBezTo>
                <a:cubicBezTo>
                  <a:pt x="175" y="141"/>
                  <a:pt x="167" y="151"/>
                  <a:pt x="158" y="159"/>
                </a:cubicBezTo>
                <a:cubicBezTo>
                  <a:pt x="150" y="168"/>
                  <a:pt x="140" y="175"/>
                  <a:pt x="128" y="179"/>
                </a:cubicBezTo>
                <a:cubicBezTo>
                  <a:pt x="117" y="184"/>
                  <a:pt x="105" y="186"/>
                  <a:pt x="93" y="186"/>
                </a:cubicBezTo>
                <a:cubicBezTo>
                  <a:pt x="81" y="186"/>
                  <a:pt x="69" y="184"/>
                  <a:pt x="57" y="179"/>
                </a:cubicBezTo>
                <a:cubicBezTo>
                  <a:pt x="46" y="175"/>
                  <a:pt x="36" y="168"/>
                  <a:pt x="27" y="159"/>
                </a:cubicBezTo>
                <a:cubicBezTo>
                  <a:pt x="19" y="151"/>
                  <a:pt x="12" y="141"/>
                  <a:pt x="7" y="129"/>
                </a:cubicBezTo>
                <a:cubicBezTo>
                  <a:pt x="3" y="118"/>
                  <a:pt x="0" y="106"/>
                  <a:pt x="0" y="94"/>
                </a:cubicBezTo>
                <a:cubicBezTo>
                  <a:pt x="0" y="81"/>
                  <a:pt x="3" y="70"/>
                  <a:pt x="7" y="58"/>
                </a:cubicBezTo>
                <a:cubicBezTo>
                  <a:pt x="12" y="46"/>
                  <a:pt x="19" y="36"/>
                  <a:pt x="27" y="27"/>
                </a:cubicBezTo>
                <a:cubicBezTo>
                  <a:pt x="36" y="19"/>
                  <a:pt x="46" y="12"/>
                  <a:pt x="57" y="7"/>
                </a:cubicBezTo>
                <a:cubicBezTo>
                  <a:pt x="69" y="2"/>
                  <a:pt x="81" y="0"/>
                  <a:pt x="93" y="0"/>
                </a:cubicBezTo>
                <a:cubicBezTo>
                  <a:pt x="105" y="0"/>
                  <a:pt x="117" y="2"/>
                  <a:pt x="128" y="7"/>
                </a:cubicBezTo>
                <a:cubicBezTo>
                  <a:pt x="140" y="12"/>
                  <a:pt x="150" y="19"/>
                  <a:pt x="158" y="27"/>
                </a:cubicBezTo>
                <a:cubicBezTo>
                  <a:pt x="167" y="36"/>
                  <a:pt x="175" y="46"/>
                  <a:pt x="179" y="58"/>
                </a:cubicBezTo>
                <a:cubicBezTo>
                  <a:pt x="184" y="70"/>
                  <a:pt x="186" y="81"/>
                  <a:pt x="186" y="94"/>
                </a:cubicBezTo>
                <a:close/>
              </a:path>
            </a:pathLst>
          </a:custGeom>
          <a:solidFill>
            <a:srgbClr val="0a53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55" name=""/>
          <p:cNvSpPr txBox="1"/>
          <p:nvPr/>
        </p:nvSpPr>
        <p:spPr>
          <a:xfrm>
            <a:off x="1168200" y="4099320"/>
            <a:ext cx="732492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Can designers know or predict properties of artefacts not yet constructed?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6" name=""/>
          <p:cNvSpPr txBox="1"/>
          <p:nvPr/>
        </p:nvSpPr>
        <p:spPr>
          <a:xfrm>
            <a:off x="1168200" y="4451760"/>
            <a:ext cx="622620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What ontological and epistemological assumptions enable this?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7" name=""/>
          <p:cNvSpPr txBox="1"/>
          <p:nvPr/>
        </p:nvSpPr>
        <p:spPr>
          <a:xfrm>
            <a:off x="1238400" y="6405120"/>
            <a:ext cx="1046520" cy="155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05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SEAtS | 080172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8" name=""/>
          <p:cNvSpPr/>
          <p:nvPr/>
        </p:nvSpPr>
        <p:spPr>
          <a:xfrm>
            <a:off x="685440" y="6343560"/>
            <a:ext cx="267120" cy="304920"/>
          </a:xfrm>
          <a:custGeom>
            <a:avLst/>
            <a:gdLst/>
            <a:ahLst/>
            <a:rect l="0" t="0" r="r" b="b"/>
            <a:pathLst>
              <a:path w="742" h="847">
                <a:moveTo>
                  <a:pt x="0" y="476"/>
                </a:moveTo>
                <a:lnTo>
                  <a:pt x="0" y="370"/>
                </a:lnTo>
                <a:cubicBezTo>
                  <a:pt x="0" y="346"/>
                  <a:pt x="3" y="322"/>
                  <a:pt x="8" y="298"/>
                </a:cubicBezTo>
                <a:cubicBezTo>
                  <a:pt x="12" y="274"/>
                  <a:pt x="19" y="251"/>
                  <a:pt x="29" y="228"/>
                </a:cubicBezTo>
                <a:cubicBezTo>
                  <a:pt x="38" y="206"/>
                  <a:pt x="49" y="185"/>
                  <a:pt x="63" y="164"/>
                </a:cubicBezTo>
                <a:cubicBezTo>
                  <a:pt x="76" y="144"/>
                  <a:pt x="92" y="125"/>
                  <a:pt x="109" y="108"/>
                </a:cubicBezTo>
                <a:cubicBezTo>
                  <a:pt x="126" y="91"/>
                  <a:pt x="145" y="76"/>
                  <a:pt x="165" y="62"/>
                </a:cubicBezTo>
                <a:cubicBezTo>
                  <a:pt x="185" y="49"/>
                  <a:pt x="207" y="37"/>
                  <a:pt x="229" y="28"/>
                </a:cubicBezTo>
                <a:cubicBezTo>
                  <a:pt x="252" y="19"/>
                  <a:pt x="275" y="12"/>
                  <a:pt x="299" y="7"/>
                </a:cubicBezTo>
                <a:cubicBezTo>
                  <a:pt x="323" y="2"/>
                  <a:pt x="347" y="0"/>
                  <a:pt x="371" y="0"/>
                </a:cubicBezTo>
                <a:cubicBezTo>
                  <a:pt x="395" y="0"/>
                  <a:pt x="419" y="2"/>
                  <a:pt x="443" y="7"/>
                </a:cubicBezTo>
                <a:cubicBezTo>
                  <a:pt x="467" y="12"/>
                  <a:pt x="490" y="19"/>
                  <a:pt x="513" y="28"/>
                </a:cubicBezTo>
                <a:cubicBezTo>
                  <a:pt x="535" y="37"/>
                  <a:pt x="556" y="49"/>
                  <a:pt x="577" y="62"/>
                </a:cubicBezTo>
                <a:cubicBezTo>
                  <a:pt x="597" y="76"/>
                  <a:pt x="616" y="91"/>
                  <a:pt x="633" y="108"/>
                </a:cubicBezTo>
                <a:cubicBezTo>
                  <a:pt x="650" y="125"/>
                  <a:pt x="665" y="144"/>
                  <a:pt x="679" y="164"/>
                </a:cubicBezTo>
                <a:cubicBezTo>
                  <a:pt x="693" y="185"/>
                  <a:pt x="705" y="206"/>
                  <a:pt x="714" y="228"/>
                </a:cubicBezTo>
                <a:cubicBezTo>
                  <a:pt x="723" y="251"/>
                  <a:pt x="730" y="274"/>
                  <a:pt x="735" y="298"/>
                </a:cubicBezTo>
                <a:cubicBezTo>
                  <a:pt x="740" y="322"/>
                  <a:pt x="742" y="346"/>
                  <a:pt x="742" y="370"/>
                </a:cubicBezTo>
                <a:lnTo>
                  <a:pt x="742" y="476"/>
                </a:lnTo>
                <a:cubicBezTo>
                  <a:pt x="742" y="500"/>
                  <a:pt x="740" y="524"/>
                  <a:pt x="735" y="548"/>
                </a:cubicBezTo>
                <a:cubicBezTo>
                  <a:pt x="730" y="573"/>
                  <a:pt x="723" y="596"/>
                  <a:pt x="714" y="619"/>
                </a:cubicBezTo>
                <a:cubicBezTo>
                  <a:pt x="705" y="641"/>
                  <a:pt x="693" y="663"/>
                  <a:pt x="679" y="683"/>
                </a:cubicBezTo>
                <a:cubicBezTo>
                  <a:pt x="665" y="703"/>
                  <a:pt x="650" y="722"/>
                  <a:pt x="633" y="739"/>
                </a:cubicBezTo>
                <a:cubicBezTo>
                  <a:pt x="616" y="756"/>
                  <a:pt x="597" y="771"/>
                  <a:pt x="577" y="785"/>
                </a:cubicBezTo>
                <a:cubicBezTo>
                  <a:pt x="556" y="798"/>
                  <a:pt x="535" y="810"/>
                  <a:pt x="513" y="819"/>
                </a:cubicBezTo>
                <a:cubicBezTo>
                  <a:pt x="490" y="829"/>
                  <a:pt x="467" y="836"/>
                  <a:pt x="443" y="840"/>
                </a:cubicBezTo>
                <a:cubicBezTo>
                  <a:pt x="419" y="845"/>
                  <a:pt x="395" y="847"/>
                  <a:pt x="371" y="847"/>
                </a:cubicBezTo>
                <a:cubicBezTo>
                  <a:pt x="347" y="847"/>
                  <a:pt x="323" y="845"/>
                  <a:pt x="299" y="840"/>
                </a:cubicBezTo>
                <a:cubicBezTo>
                  <a:pt x="275" y="836"/>
                  <a:pt x="252" y="829"/>
                  <a:pt x="229" y="819"/>
                </a:cubicBezTo>
                <a:cubicBezTo>
                  <a:pt x="207" y="810"/>
                  <a:pt x="185" y="798"/>
                  <a:pt x="165" y="785"/>
                </a:cubicBezTo>
                <a:cubicBezTo>
                  <a:pt x="145" y="771"/>
                  <a:pt x="126" y="756"/>
                  <a:pt x="109" y="739"/>
                </a:cubicBezTo>
                <a:cubicBezTo>
                  <a:pt x="92" y="722"/>
                  <a:pt x="76" y="703"/>
                  <a:pt x="63" y="683"/>
                </a:cubicBezTo>
                <a:cubicBezTo>
                  <a:pt x="49" y="663"/>
                  <a:pt x="38" y="641"/>
                  <a:pt x="29" y="619"/>
                </a:cubicBezTo>
                <a:cubicBezTo>
                  <a:pt x="19" y="596"/>
                  <a:pt x="12" y="573"/>
                  <a:pt x="8" y="548"/>
                </a:cubicBezTo>
                <a:cubicBezTo>
                  <a:pt x="3" y="524"/>
                  <a:pt x="0" y="500"/>
                  <a:pt x="0" y="476"/>
                </a:cubicBezTo>
                <a:close/>
              </a:path>
            </a:pathLst>
          </a:custGeom>
          <a:solidFill>
            <a:srgbClr val="ffffff">
              <a:alpha val="74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9" name=""/>
          <p:cNvSpPr txBox="1"/>
          <p:nvPr/>
        </p:nvSpPr>
        <p:spPr>
          <a:xfrm>
            <a:off x="1238400" y="6569280"/>
            <a:ext cx="3390120" cy="12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800" strike="noStrike" u="none">
                <a:solidFill>
                  <a:srgbClr val="a6a6a6"/>
                </a:solidFill>
                <a:effectLst/>
                <a:uFillTx/>
                <a:latin typeface="LucidaGrande"/>
                <a:ea typeface="LucidaGrande"/>
              </a:rPr>
              <a:t>Version: GITREVISION | © 22.09.2026 University of Southampton</a:t>
            </a:r>
            <a:endParaRPr b="0" lang="en-US" sz="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0" name=""/>
          <p:cNvSpPr txBox="1"/>
          <p:nvPr/>
        </p:nvSpPr>
        <p:spPr>
          <a:xfrm>
            <a:off x="762120" y="6390720"/>
            <a:ext cx="177480" cy="21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9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164" name="" descr=""/>
          <p:cNvPicPr/>
          <p:nvPr/>
        </p:nvPicPr>
        <p:blipFill>
          <a:blip r:embed="rId1"/>
          <a:stretch/>
        </p:blipFill>
        <p:spPr>
          <a:xfrm>
            <a:off x="10134720" y="5981760"/>
            <a:ext cx="1904760" cy="1065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65" name=""/>
          <p:cNvSpPr/>
          <p:nvPr/>
        </p:nvSpPr>
        <p:spPr>
          <a:xfrm>
            <a:off x="971280" y="3504960"/>
            <a:ext cx="66960" cy="66960"/>
          </a:xfrm>
          <a:custGeom>
            <a:avLst/>
            <a:gdLst/>
            <a:ahLst/>
            <a:rect l="0" t="0" r="r" b="b"/>
            <a:pathLst>
              <a:path w="186" h="186">
                <a:moveTo>
                  <a:pt x="186" y="93"/>
                </a:moveTo>
                <a:cubicBezTo>
                  <a:pt x="186" y="105"/>
                  <a:pt x="184" y="117"/>
                  <a:pt x="179" y="128"/>
                </a:cubicBezTo>
                <a:cubicBezTo>
                  <a:pt x="175" y="140"/>
                  <a:pt x="167" y="150"/>
                  <a:pt x="158" y="158"/>
                </a:cubicBezTo>
                <a:cubicBezTo>
                  <a:pt x="150" y="168"/>
                  <a:pt x="140" y="175"/>
                  <a:pt x="128" y="179"/>
                </a:cubicBezTo>
                <a:cubicBezTo>
                  <a:pt x="117" y="184"/>
                  <a:pt x="105" y="186"/>
                  <a:pt x="93" y="186"/>
                </a:cubicBezTo>
                <a:cubicBezTo>
                  <a:pt x="81" y="186"/>
                  <a:pt x="69" y="184"/>
                  <a:pt x="57" y="179"/>
                </a:cubicBezTo>
                <a:cubicBezTo>
                  <a:pt x="46" y="175"/>
                  <a:pt x="36" y="168"/>
                  <a:pt x="27" y="158"/>
                </a:cubicBezTo>
                <a:cubicBezTo>
                  <a:pt x="19" y="150"/>
                  <a:pt x="12" y="140"/>
                  <a:pt x="7" y="128"/>
                </a:cubicBezTo>
                <a:cubicBezTo>
                  <a:pt x="3" y="117"/>
                  <a:pt x="0" y="105"/>
                  <a:pt x="0" y="93"/>
                </a:cubicBezTo>
                <a:cubicBezTo>
                  <a:pt x="0" y="80"/>
                  <a:pt x="3" y="69"/>
                  <a:pt x="7" y="57"/>
                </a:cubicBezTo>
                <a:cubicBezTo>
                  <a:pt x="12" y="46"/>
                  <a:pt x="19" y="36"/>
                  <a:pt x="27" y="27"/>
                </a:cubicBezTo>
                <a:cubicBezTo>
                  <a:pt x="36" y="19"/>
                  <a:pt x="46" y="12"/>
                  <a:pt x="57" y="7"/>
                </a:cubicBezTo>
                <a:cubicBezTo>
                  <a:pt x="69" y="3"/>
                  <a:pt x="81" y="0"/>
                  <a:pt x="93" y="0"/>
                </a:cubicBezTo>
                <a:cubicBezTo>
                  <a:pt x="105" y="0"/>
                  <a:pt x="117" y="3"/>
                  <a:pt x="128" y="7"/>
                </a:cubicBezTo>
                <a:cubicBezTo>
                  <a:pt x="140" y="12"/>
                  <a:pt x="150" y="19"/>
                  <a:pt x="158" y="27"/>
                </a:cubicBezTo>
                <a:cubicBezTo>
                  <a:pt x="167" y="36"/>
                  <a:pt x="175" y="46"/>
                  <a:pt x="179" y="57"/>
                </a:cubicBezTo>
                <a:cubicBezTo>
                  <a:pt x="184" y="69"/>
                  <a:pt x="186" y="80"/>
                  <a:pt x="186" y="93"/>
                </a:cubicBezTo>
                <a:close/>
              </a:path>
            </a:pathLst>
          </a:custGeom>
          <a:solidFill>
            <a:srgbClr val="0a53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66" name=""/>
          <p:cNvSpPr txBox="1"/>
          <p:nvPr/>
        </p:nvSpPr>
        <p:spPr>
          <a:xfrm>
            <a:off x="762120" y="2897280"/>
            <a:ext cx="2349000" cy="30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208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Theory of Design</a:t>
            </a:r>
            <a:endParaRPr b="0" lang="en-US" sz="208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7" name=""/>
          <p:cNvSpPr/>
          <p:nvPr/>
        </p:nvSpPr>
        <p:spPr>
          <a:xfrm>
            <a:off x="971280" y="3857400"/>
            <a:ext cx="66960" cy="66960"/>
          </a:xfrm>
          <a:custGeom>
            <a:avLst/>
            <a:gdLst/>
            <a:ahLst/>
            <a:rect l="0" t="0" r="r" b="b"/>
            <a:pathLst>
              <a:path w="186" h="186">
                <a:moveTo>
                  <a:pt x="186" y="93"/>
                </a:moveTo>
                <a:cubicBezTo>
                  <a:pt x="186" y="105"/>
                  <a:pt x="184" y="118"/>
                  <a:pt x="179" y="129"/>
                </a:cubicBezTo>
                <a:cubicBezTo>
                  <a:pt x="175" y="141"/>
                  <a:pt x="167" y="151"/>
                  <a:pt x="158" y="159"/>
                </a:cubicBezTo>
                <a:cubicBezTo>
                  <a:pt x="150" y="168"/>
                  <a:pt x="140" y="175"/>
                  <a:pt x="128" y="179"/>
                </a:cubicBezTo>
                <a:cubicBezTo>
                  <a:pt x="117" y="184"/>
                  <a:pt x="105" y="186"/>
                  <a:pt x="93" y="186"/>
                </a:cubicBezTo>
                <a:cubicBezTo>
                  <a:pt x="81" y="186"/>
                  <a:pt x="69" y="184"/>
                  <a:pt x="57" y="179"/>
                </a:cubicBezTo>
                <a:cubicBezTo>
                  <a:pt x="46" y="175"/>
                  <a:pt x="36" y="168"/>
                  <a:pt x="27" y="159"/>
                </a:cubicBezTo>
                <a:cubicBezTo>
                  <a:pt x="19" y="151"/>
                  <a:pt x="12" y="141"/>
                  <a:pt x="7" y="129"/>
                </a:cubicBezTo>
                <a:cubicBezTo>
                  <a:pt x="3" y="118"/>
                  <a:pt x="0" y="105"/>
                  <a:pt x="0" y="93"/>
                </a:cubicBezTo>
                <a:cubicBezTo>
                  <a:pt x="0" y="80"/>
                  <a:pt x="3" y="69"/>
                  <a:pt x="7" y="57"/>
                </a:cubicBezTo>
                <a:cubicBezTo>
                  <a:pt x="12" y="46"/>
                  <a:pt x="19" y="36"/>
                  <a:pt x="27" y="27"/>
                </a:cubicBezTo>
                <a:cubicBezTo>
                  <a:pt x="36" y="19"/>
                  <a:pt x="46" y="12"/>
                  <a:pt x="57" y="7"/>
                </a:cubicBezTo>
                <a:cubicBezTo>
                  <a:pt x="69" y="2"/>
                  <a:pt x="81" y="0"/>
                  <a:pt x="93" y="0"/>
                </a:cubicBezTo>
                <a:cubicBezTo>
                  <a:pt x="105" y="0"/>
                  <a:pt x="117" y="2"/>
                  <a:pt x="128" y="7"/>
                </a:cubicBezTo>
                <a:cubicBezTo>
                  <a:pt x="140" y="12"/>
                  <a:pt x="150" y="19"/>
                  <a:pt x="158" y="27"/>
                </a:cubicBezTo>
                <a:cubicBezTo>
                  <a:pt x="167" y="36"/>
                  <a:pt x="175" y="46"/>
                  <a:pt x="179" y="57"/>
                </a:cubicBezTo>
                <a:cubicBezTo>
                  <a:pt x="184" y="69"/>
                  <a:pt x="186" y="80"/>
                  <a:pt x="186" y="93"/>
                </a:cubicBezTo>
                <a:close/>
              </a:path>
            </a:pathLst>
          </a:custGeom>
          <a:solidFill>
            <a:srgbClr val="0a53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68" name=""/>
          <p:cNvSpPr txBox="1"/>
          <p:nvPr/>
        </p:nvSpPr>
        <p:spPr>
          <a:xfrm>
            <a:off x="1168200" y="3413520"/>
            <a:ext cx="678132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How should universals (properties/concepts) relate to design theory?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9" name=""/>
          <p:cNvSpPr txBox="1"/>
          <p:nvPr/>
        </p:nvSpPr>
        <p:spPr>
          <a:xfrm>
            <a:off x="1168200" y="3765960"/>
            <a:ext cx="1012356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Are there nominalist, conceptualist, and realist theories of design (mirroring philosophy of universals)?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0" name=""/>
          <p:cNvSpPr/>
          <p:nvPr/>
        </p:nvSpPr>
        <p:spPr>
          <a:xfrm>
            <a:off x="971280" y="4514760"/>
            <a:ext cx="66960" cy="66960"/>
          </a:xfrm>
          <a:custGeom>
            <a:avLst/>
            <a:gdLst/>
            <a:ahLst/>
            <a:rect l="0" t="0" r="r" b="b"/>
            <a:pathLst>
              <a:path w="186" h="186">
                <a:moveTo>
                  <a:pt x="186" y="92"/>
                </a:moveTo>
                <a:cubicBezTo>
                  <a:pt x="186" y="105"/>
                  <a:pt x="184" y="116"/>
                  <a:pt x="179" y="128"/>
                </a:cubicBezTo>
                <a:cubicBezTo>
                  <a:pt x="175" y="140"/>
                  <a:pt x="167" y="150"/>
                  <a:pt x="158" y="159"/>
                </a:cubicBezTo>
                <a:cubicBezTo>
                  <a:pt x="150" y="168"/>
                  <a:pt x="140" y="174"/>
                  <a:pt x="128" y="179"/>
                </a:cubicBezTo>
                <a:cubicBezTo>
                  <a:pt x="117" y="184"/>
                  <a:pt x="105" y="186"/>
                  <a:pt x="93" y="186"/>
                </a:cubicBezTo>
                <a:cubicBezTo>
                  <a:pt x="81" y="186"/>
                  <a:pt x="69" y="184"/>
                  <a:pt x="57" y="179"/>
                </a:cubicBezTo>
                <a:cubicBezTo>
                  <a:pt x="46" y="174"/>
                  <a:pt x="36" y="168"/>
                  <a:pt x="27" y="159"/>
                </a:cubicBezTo>
                <a:cubicBezTo>
                  <a:pt x="19" y="150"/>
                  <a:pt x="12" y="140"/>
                  <a:pt x="7" y="128"/>
                </a:cubicBezTo>
                <a:cubicBezTo>
                  <a:pt x="3" y="116"/>
                  <a:pt x="0" y="105"/>
                  <a:pt x="0" y="92"/>
                </a:cubicBezTo>
                <a:cubicBezTo>
                  <a:pt x="0" y="80"/>
                  <a:pt x="3" y="68"/>
                  <a:pt x="7" y="57"/>
                </a:cubicBezTo>
                <a:cubicBezTo>
                  <a:pt x="12" y="46"/>
                  <a:pt x="19" y="36"/>
                  <a:pt x="27" y="27"/>
                </a:cubicBezTo>
                <a:cubicBezTo>
                  <a:pt x="36" y="18"/>
                  <a:pt x="46" y="11"/>
                  <a:pt x="57" y="7"/>
                </a:cubicBezTo>
                <a:cubicBezTo>
                  <a:pt x="69" y="2"/>
                  <a:pt x="81" y="0"/>
                  <a:pt x="93" y="0"/>
                </a:cubicBezTo>
                <a:cubicBezTo>
                  <a:pt x="105" y="0"/>
                  <a:pt x="117" y="2"/>
                  <a:pt x="128" y="7"/>
                </a:cubicBezTo>
                <a:cubicBezTo>
                  <a:pt x="140" y="11"/>
                  <a:pt x="150" y="18"/>
                  <a:pt x="158" y="27"/>
                </a:cubicBezTo>
                <a:cubicBezTo>
                  <a:pt x="167" y="36"/>
                  <a:pt x="175" y="46"/>
                  <a:pt x="179" y="57"/>
                </a:cubicBezTo>
                <a:cubicBezTo>
                  <a:pt x="184" y="68"/>
                  <a:pt x="186" y="80"/>
                  <a:pt x="186" y="92"/>
                </a:cubicBezTo>
                <a:close/>
              </a:path>
            </a:pathLst>
          </a:custGeom>
          <a:solidFill>
            <a:srgbClr val="0a53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71" name=""/>
          <p:cNvSpPr txBox="1"/>
          <p:nvPr/>
        </p:nvSpPr>
        <p:spPr>
          <a:xfrm>
            <a:off x="1168200" y="4070880"/>
            <a:ext cx="131472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(HOMEWORK)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2" name=""/>
          <p:cNvSpPr txBox="1"/>
          <p:nvPr/>
        </p:nvSpPr>
        <p:spPr>
          <a:xfrm>
            <a:off x="1168200" y="4423320"/>
            <a:ext cx="916380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What would design theories of each type look like, and what are their strengths/weaknesses?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3" name=""/>
          <p:cNvSpPr txBox="1"/>
          <p:nvPr/>
        </p:nvSpPr>
        <p:spPr>
          <a:xfrm>
            <a:off x="1238400" y="6405120"/>
            <a:ext cx="1046520" cy="155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05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SEAtS | 080172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4" name=""/>
          <p:cNvSpPr/>
          <p:nvPr/>
        </p:nvSpPr>
        <p:spPr>
          <a:xfrm>
            <a:off x="685440" y="6343560"/>
            <a:ext cx="381600" cy="304920"/>
          </a:xfrm>
          <a:custGeom>
            <a:avLst/>
            <a:gdLst/>
            <a:ahLst/>
            <a:rect l="0" t="0" r="r" b="b"/>
            <a:pathLst>
              <a:path w="1060" h="847">
                <a:moveTo>
                  <a:pt x="0" y="423"/>
                </a:moveTo>
                <a:cubicBezTo>
                  <a:pt x="0" y="395"/>
                  <a:pt x="3" y="368"/>
                  <a:pt x="9" y="340"/>
                </a:cubicBezTo>
                <a:cubicBezTo>
                  <a:pt x="14" y="313"/>
                  <a:pt x="22" y="287"/>
                  <a:pt x="33" y="261"/>
                </a:cubicBezTo>
                <a:cubicBezTo>
                  <a:pt x="43" y="235"/>
                  <a:pt x="56" y="211"/>
                  <a:pt x="72" y="188"/>
                </a:cubicBezTo>
                <a:cubicBezTo>
                  <a:pt x="87" y="165"/>
                  <a:pt x="105" y="143"/>
                  <a:pt x="124" y="124"/>
                </a:cubicBezTo>
                <a:cubicBezTo>
                  <a:pt x="144" y="104"/>
                  <a:pt x="166" y="87"/>
                  <a:pt x="189" y="71"/>
                </a:cubicBezTo>
                <a:cubicBezTo>
                  <a:pt x="212" y="56"/>
                  <a:pt x="236" y="43"/>
                  <a:pt x="262" y="32"/>
                </a:cubicBezTo>
                <a:cubicBezTo>
                  <a:pt x="288" y="21"/>
                  <a:pt x="314" y="13"/>
                  <a:pt x="341" y="8"/>
                </a:cubicBezTo>
                <a:cubicBezTo>
                  <a:pt x="369" y="2"/>
                  <a:pt x="396" y="0"/>
                  <a:pt x="424" y="0"/>
                </a:cubicBezTo>
                <a:lnTo>
                  <a:pt x="635" y="0"/>
                </a:lnTo>
                <a:cubicBezTo>
                  <a:pt x="663" y="0"/>
                  <a:pt x="691" y="2"/>
                  <a:pt x="718" y="8"/>
                </a:cubicBezTo>
                <a:cubicBezTo>
                  <a:pt x="746" y="13"/>
                  <a:pt x="773" y="21"/>
                  <a:pt x="799" y="32"/>
                </a:cubicBezTo>
                <a:cubicBezTo>
                  <a:pt x="824" y="43"/>
                  <a:pt x="849" y="56"/>
                  <a:pt x="872" y="71"/>
                </a:cubicBezTo>
                <a:cubicBezTo>
                  <a:pt x="895" y="87"/>
                  <a:pt x="916" y="104"/>
                  <a:pt x="936" y="124"/>
                </a:cubicBezTo>
                <a:cubicBezTo>
                  <a:pt x="955" y="143"/>
                  <a:pt x="973" y="165"/>
                  <a:pt x="988" y="188"/>
                </a:cubicBezTo>
                <a:cubicBezTo>
                  <a:pt x="1004" y="211"/>
                  <a:pt x="1017" y="235"/>
                  <a:pt x="1028" y="261"/>
                </a:cubicBezTo>
                <a:cubicBezTo>
                  <a:pt x="1038" y="287"/>
                  <a:pt x="1046" y="313"/>
                  <a:pt x="1052" y="340"/>
                </a:cubicBezTo>
                <a:cubicBezTo>
                  <a:pt x="1057" y="368"/>
                  <a:pt x="1060" y="395"/>
                  <a:pt x="1060" y="423"/>
                </a:cubicBezTo>
                <a:cubicBezTo>
                  <a:pt x="1060" y="451"/>
                  <a:pt x="1057" y="478"/>
                  <a:pt x="1052" y="506"/>
                </a:cubicBezTo>
                <a:cubicBezTo>
                  <a:pt x="1046" y="533"/>
                  <a:pt x="1038" y="559"/>
                  <a:pt x="1028" y="586"/>
                </a:cubicBezTo>
                <a:cubicBezTo>
                  <a:pt x="1017" y="612"/>
                  <a:pt x="1004" y="636"/>
                  <a:pt x="988" y="659"/>
                </a:cubicBezTo>
                <a:cubicBezTo>
                  <a:pt x="973" y="682"/>
                  <a:pt x="955" y="704"/>
                  <a:pt x="936" y="723"/>
                </a:cubicBezTo>
                <a:cubicBezTo>
                  <a:pt x="916" y="743"/>
                  <a:pt x="895" y="761"/>
                  <a:pt x="872" y="776"/>
                </a:cubicBezTo>
                <a:cubicBezTo>
                  <a:pt x="849" y="792"/>
                  <a:pt x="824" y="805"/>
                  <a:pt x="799" y="815"/>
                </a:cubicBezTo>
                <a:cubicBezTo>
                  <a:pt x="773" y="826"/>
                  <a:pt x="746" y="834"/>
                  <a:pt x="718" y="839"/>
                </a:cubicBezTo>
                <a:cubicBezTo>
                  <a:pt x="691" y="845"/>
                  <a:pt x="663" y="847"/>
                  <a:pt x="635" y="847"/>
                </a:cubicBezTo>
                <a:lnTo>
                  <a:pt x="424" y="847"/>
                </a:lnTo>
                <a:cubicBezTo>
                  <a:pt x="396" y="847"/>
                  <a:pt x="369" y="845"/>
                  <a:pt x="341" y="839"/>
                </a:cubicBezTo>
                <a:cubicBezTo>
                  <a:pt x="314" y="834"/>
                  <a:pt x="288" y="826"/>
                  <a:pt x="262" y="815"/>
                </a:cubicBezTo>
                <a:cubicBezTo>
                  <a:pt x="236" y="805"/>
                  <a:pt x="212" y="792"/>
                  <a:pt x="189" y="776"/>
                </a:cubicBezTo>
                <a:cubicBezTo>
                  <a:pt x="166" y="761"/>
                  <a:pt x="144" y="743"/>
                  <a:pt x="124" y="723"/>
                </a:cubicBezTo>
                <a:cubicBezTo>
                  <a:pt x="105" y="704"/>
                  <a:pt x="87" y="682"/>
                  <a:pt x="72" y="659"/>
                </a:cubicBezTo>
                <a:cubicBezTo>
                  <a:pt x="56" y="636"/>
                  <a:pt x="43" y="612"/>
                  <a:pt x="33" y="586"/>
                </a:cubicBezTo>
                <a:cubicBezTo>
                  <a:pt x="22" y="559"/>
                  <a:pt x="14" y="533"/>
                  <a:pt x="9" y="506"/>
                </a:cubicBezTo>
                <a:cubicBezTo>
                  <a:pt x="3" y="478"/>
                  <a:pt x="0" y="451"/>
                  <a:pt x="0" y="423"/>
                </a:cubicBezTo>
                <a:close/>
              </a:path>
            </a:pathLst>
          </a:custGeom>
          <a:solidFill>
            <a:srgbClr val="ffffff">
              <a:alpha val="74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5" name=""/>
          <p:cNvSpPr txBox="1"/>
          <p:nvPr/>
        </p:nvSpPr>
        <p:spPr>
          <a:xfrm>
            <a:off x="1238400" y="6569280"/>
            <a:ext cx="3390120" cy="12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800" strike="noStrike" u="none">
                <a:solidFill>
                  <a:srgbClr val="a6a6a6"/>
                </a:solidFill>
                <a:effectLst/>
                <a:uFillTx/>
                <a:latin typeface="LucidaGrande"/>
                <a:ea typeface="LucidaGrande"/>
              </a:rPr>
              <a:t>Version: GITREVISION | © 22.09.2026 University of Southampton</a:t>
            </a:r>
            <a:endParaRPr b="0" lang="en-US" sz="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6" name=""/>
          <p:cNvSpPr txBox="1"/>
          <p:nvPr/>
        </p:nvSpPr>
        <p:spPr>
          <a:xfrm>
            <a:off x="762120" y="6390720"/>
            <a:ext cx="226080" cy="21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10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180" name="" descr=""/>
          <p:cNvPicPr/>
          <p:nvPr/>
        </p:nvPicPr>
        <p:blipFill>
          <a:blip r:embed="rId1"/>
          <a:stretch/>
        </p:blipFill>
        <p:spPr>
          <a:xfrm>
            <a:off x="10134720" y="5981760"/>
            <a:ext cx="1904760" cy="1065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81" name=""/>
          <p:cNvSpPr/>
          <p:nvPr/>
        </p:nvSpPr>
        <p:spPr>
          <a:xfrm>
            <a:off x="971280" y="3476520"/>
            <a:ext cx="66960" cy="66960"/>
          </a:xfrm>
          <a:custGeom>
            <a:avLst/>
            <a:gdLst/>
            <a:ahLst/>
            <a:rect l="0" t="0" r="r" b="b"/>
            <a:pathLst>
              <a:path w="186" h="186">
                <a:moveTo>
                  <a:pt x="186" y="93"/>
                </a:moveTo>
                <a:cubicBezTo>
                  <a:pt x="186" y="106"/>
                  <a:pt x="184" y="117"/>
                  <a:pt x="179" y="129"/>
                </a:cubicBezTo>
                <a:cubicBezTo>
                  <a:pt x="175" y="140"/>
                  <a:pt x="167" y="150"/>
                  <a:pt x="158" y="159"/>
                </a:cubicBezTo>
                <a:cubicBezTo>
                  <a:pt x="150" y="168"/>
                  <a:pt x="140" y="174"/>
                  <a:pt x="128" y="179"/>
                </a:cubicBezTo>
                <a:cubicBezTo>
                  <a:pt x="117" y="184"/>
                  <a:pt x="105" y="186"/>
                  <a:pt x="93" y="186"/>
                </a:cubicBezTo>
                <a:cubicBezTo>
                  <a:pt x="81" y="186"/>
                  <a:pt x="69" y="184"/>
                  <a:pt x="57" y="179"/>
                </a:cubicBezTo>
                <a:cubicBezTo>
                  <a:pt x="46" y="174"/>
                  <a:pt x="36" y="168"/>
                  <a:pt x="27" y="159"/>
                </a:cubicBezTo>
                <a:cubicBezTo>
                  <a:pt x="19" y="150"/>
                  <a:pt x="12" y="140"/>
                  <a:pt x="7" y="129"/>
                </a:cubicBezTo>
                <a:cubicBezTo>
                  <a:pt x="3" y="117"/>
                  <a:pt x="0" y="106"/>
                  <a:pt x="0" y="93"/>
                </a:cubicBezTo>
                <a:cubicBezTo>
                  <a:pt x="0" y="81"/>
                  <a:pt x="3" y="69"/>
                  <a:pt x="7" y="58"/>
                </a:cubicBezTo>
                <a:cubicBezTo>
                  <a:pt x="12" y="46"/>
                  <a:pt x="19" y="36"/>
                  <a:pt x="27" y="27"/>
                </a:cubicBezTo>
                <a:cubicBezTo>
                  <a:pt x="36" y="18"/>
                  <a:pt x="46" y="12"/>
                  <a:pt x="57" y="7"/>
                </a:cubicBezTo>
                <a:cubicBezTo>
                  <a:pt x="69" y="2"/>
                  <a:pt x="81" y="0"/>
                  <a:pt x="93" y="0"/>
                </a:cubicBezTo>
                <a:cubicBezTo>
                  <a:pt x="105" y="0"/>
                  <a:pt x="117" y="2"/>
                  <a:pt x="128" y="7"/>
                </a:cubicBezTo>
                <a:cubicBezTo>
                  <a:pt x="140" y="12"/>
                  <a:pt x="150" y="18"/>
                  <a:pt x="158" y="27"/>
                </a:cubicBezTo>
                <a:cubicBezTo>
                  <a:pt x="167" y="36"/>
                  <a:pt x="175" y="46"/>
                  <a:pt x="179" y="58"/>
                </a:cubicBezTo>
                <a:cubicBezTo>
                  <a:pt x="184" y="69"/>
                  <a:pt x="186" y="81"/>
                  <a:pt x="186" y="93"/>
                </a:cubicBezTo>
                <a:close/>
              </a:path>
            </a:pathLst>
          </a:custGeom>
          <a:solidFill>
            <a:srgbClr val="0a53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82" name=""/>
          <p:cNvSpPr txBox="1"/>
          <p:nvPr/>
        </p:nvSpPr>
        <p:spPr>
          <a:xfrm>
            <a:off x="762120" y="2868840"/>
            <a:ext cx="3952080" cy="30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208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Relationships to Other Fields</a:t>
            </a:r>
            <a:endParaRPr b="0" lang="en-US" sz="208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3" name=""/>
          <p:cNvSpPr/>
          <p:nvPr/>
        </p:nvSpPr>
        <p:spPr>
          <a:xfrm>
            <a:off x="971280" y="3828960"/>
            <a:ext cx="66960" cy="66960"/>
          </a:xfrm>
          <a:custGeom>
            <a:avLst/>
            <a:gdLst/>
            <a:ahLst/>
            <a:rect l="0" t="0" r="r" b="b"/>
            <a:pathLst>
              <a:path w="186" h="186">
                <a:moveTo>
                  <a:pt x="186" y="93"/>
                </a:moveTo>
                <a:cubicBezTo>
                  <a:pt x="186" y="106"/>
                  <a:pt x="184" y="117"/>
                  <a:pt x="179" y="129"/>
                </a:cubicBezTo>
                <a:cubicBezTo>
                  <a:pt x="175" y="140"/>
                  <a:pt x="167" y="150"/>
                  <a:pt x="158" y="159"/>
                </a:cubicBezTo>
                <a:cubicBezTo>
                  <a:pt x="150" y="168"/>
                  <a:pt x="140" y="174"/>
                  <a:pt x="128" y="179"/>
                </a:cubicBezTo>
                <a:cubicBezTo>
                  <a:pt x="117" y="184"/>
                  <a:pt x="105" y="186"/>
                  <a:pt x="93" y="186"/>
                </a:cubicBezTo>
                <a:cubicBezTo>
                  <a:pt x="81" y="186"/>
                  <a:pt x="69" y="184"/>
                  <a:pt x="57" y="179"/>
                </a:cubicBezTo>
                <a:cubicBezTo>
                  <a:pt x="46" y="174"/>
                  <a:pt x="36" y="168"/>
                  <a:pt x="27" y="159"/>
                </a:cubicBezTo>
                <a:cubicBezTo>
                  <a:pt x="19" y="150"/>
                  <a:pt x="12" y="140"/>
                  <a:pt x="7" y="129"/>
                </a:cubicBezTo>
                <a:cubicBezTo>
                  <a:pt x="3" y="117"/>
                  <a:pt x="0" y="106"/>
                  <a:pt x="0" y="93"/>
                </a:cubicBezTo>
                <a:cubicBezTo>
                  <a:pt x="0" y="81"/>
                  <a:pt x="3" y="69"/>
                  <a:pt x="7" y="58"/>
                </a:cubicBezTo>
                <a:cubicBezTo>
                  <a:pt x="12" y="47"/>
                  <a:pt x="19" y="37"/>
                  <a:pt x="27" y="28"/>
                </a:cubicBezTo>
                <a:cubicBezTo>
                  <a:pt x="36" y="19"/>
                  <a:pt x="46" y="12"/>
                  <a:pt x="57" y="8"/>
                </a:cubicBezTo>
                <a:cubicBezTo>
                  <a:pt x="69" y="3"/>
                  <a:pt x="81" y="0"/>
                  <a:pt x="93" y="0"/>
                </a:cubicBezTo>
                <a:cubicBezTo>
                  <a:pt x="105" y="0"/>
                  <a:pt x="117" y="3"/>
                  <a:pt x="128" y="8"/>
                </a:cubicBezTo>
                <a:cubicBezTo>
                  <a:pt x="140" y="12"/>
                  <a:pt x="150" y="19"/>
                  <a:pt x="158" y="28"/>
                </a:cubicBezTo>
                <a:cubicBezTo>
                  <a:pt x="167" y="37"/>
                  <a:pt x="175" y="47"/>
                  <a:pt x="179" y="58"/>
                </a:cubicBezTo>
                <a:cubicBezTo>
                  <a:pt x="184" y="69"/>
                  <a:pt x="186" y="81"/>
                  <a:pt x="186" y="93"/>
                </a:cubicBezTo>
                <a:close/>
              </a:path>
            </a:pathLst>
          </a:custGeom>
          <a:solidFill>
            <a:srgbClr val="0a53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84" name=""/>
          <p:cNvSpPr txBox="1"/>
          <p:nvPr/>
        </p:nvSpPr>
        <p:spPr>
          <a:xfrm>
            <a:off x="1168200" y="3385080"/>
            <a:ext cx="600228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How does philosophy of design relate to general philosophy?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5" name=""/>
          <p:cNvSpPr/>
          <p:nvPr/>
        </p:nvSpPr>
        <p:spPr>
          <a:xfrm>
            <a:off x="971280" y="4190760"/>
            <a:ext cx="66960" cy="66960"/>
          </a:xfrm>
          <a:custGeom>
            <a:avLst/>
            <a:gdLst/>
            <a:ahLst/>
            <a:rect l="0" t="0" r="r" b="b"/>
            <a:pathLst>
              <a:path w="186" h="186">
                <a:moveTo>
                  <a:pt x="186" y="93"/>
                </a:moveTo>
                <a:cubicBezTo>
                  <a:pt x="186" y="105"/>
                  <a:pt x="184" y="118"/>
                  <a:pt x="179" y="129"/>
                </a:cubicBezTo>
                <a:cubicBezTo>
                  <a:pt x="175" y="141"/>
                  <a:pt x="167" y="151"/>
                  <a:pt x="158" y="159"/>
                </a:cubicBezTo>
                <a:cubicBezTo>
                  <a:pt x="150" y="168"/>
                  <a:pt x="140" y="175"/>
                  <a:pt x="128" y="179"/>
                </a:cubicBezTo>
                <a:cubicBezTo>
                  <a:pt x="117" y="184"/>
                  <a:pt x="105" y="186"/>
                  <a:pt x="93" y="186"/>
                </a:cubicBezTo>
                <a:cubicBezTo>
                  <a:pt x="81" y="186"/>
                  <a:pt x="69" y="184"/>
                  <a:pt x="57" y="179"/>
                </a:cubicBezTo>
                <a:cubicBezTo>
                  <a:pt x="46" y="175"/>
                  <a:pt x="36" y="168"/>
                  <a:pt x="27" y="159"/>
                </a:cubicBezTo>
                <a:cubicBezTo>
                  <a:pt x="19" y="151"/>
                  <a:pt x="12" y="141"/>
                  <a:pt x="7" y="129"/>
                </a:cubicBezTo>
                <a:cubicBezTo>
                  <a:pt x="3" y="118"/>
                  <a:pt x="0" y="105"/>
                  <a:pt x="0" y="93"/>
                </a:cubicBezTo>
                <a:cubicBezTo>
                  <a:pt x="0" y="80"/>
                  <a:pt x="3" y="69"/>
                  <a:pt x="7" y="57"/>
                </a:cubicBezTo>
                <a:cubicBezTo>
                  <a:pt x="12" y="46"/>
                  <a:pt x="19" y="36"/>
                  <a:pt x="27" y="27"/>
                </a:cubicBezTo>
                <a:cubicBezTo>
                  <a:pt x="36" y="19"/>
                  <a:pt x="46" y="12"/>
                  <a:pt x="57" y="7"/>
                </a:cubicBezTo>
                <a:cubicBezTo>
                  <a:pt x="69" y="3"/>
                  <a:pt x="81" y="0"/>
                  <a:pt x="93" y="0"/>
                </a:cubicBezTo>
                <a:cubicBezTo>
                  <a:pt x="105" y="0"/>
                  <a:pt x="117" y="3"/>
                  <a:pt x="128" y="7"/>
                </a:cubicBezTo>
                <a:cubicBezTo>
                  <a:pt x="140" y="12"/>
                  <a:pt x="150" y="19"/>
                  <a:pt x="158" y="27"/>
                </a:cubicBezTo>
                <a:cubicBezTo>
                  <a:pt x="167" y="36"/>
                  <a:pt x="175" y="46"/>
                  <a:pt x="179" y="57"/>
                </a:cubicBezTo>
                <a:cubicBezTo>
                  <a:pt x="184" y="69"/>
                  <a:pt x="186" y="80"/>
                  <a:pt x="186" y="93"/>
                </a:cubicBezTo>
                <a:close/>
              </a:path>
            </a:pathLst>
          </a:custGeom>
          <a:solidFill>
            <a:srgbClr val="0a53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86" name=""/>
          <p:cNvSpPr txBox="1"/>
          <p:nvPr/>
        </p:nvSpPr>
        <p:spPr>
          <a:xfrm>
            <a:off x="1168200" y="3737520"/>
            <a:ext cx="897084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Are central design problems special cases of familiar philosophical problems, or new ones?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7" name=""/>
          <p:cNvSpPr/>
          <p:nvPr/>
        </p:nvSpPr>
        <p:spPr>
          <a:xfrm>
            <a:off x="971280" y="4543200"/>
            <a:ext cx="66960" cy="66960"/>
          </a:xfrm>
          <a:custGeom>
            <a:avLst/>
            <a:gdLst/>
            <a:ahLst/>
            <a:rect l="0" t="0" r="r" b="b"/>
            <a:pathLst>
              <a:path w="186" h="186">
                <a:moveTo>
                  <a:pt x="186" y="94"/>
                </a:moveTo>
                <a:cubicBezTo>
                  <a:pt x="186" y="106"/>
                  <a:pt x="184" y="118"/>
                  <a:pt x="179" y="129"/>
                </a:cubicBezTo>
                <a:cubicBezTo>
                  <a:pt x="175" y="141"/>
                  <a:pt x="167" y="151"/>
                  <a:pt x="158" y="159"/>
                </a:cubicBezTo>
                <a:cubicBezTo>
                  <a:pt x="150" y="168"/>
                  <a:pt x="140" y="175"/>
                  <a:pt x="128" y="179"/>
                </a:cubicBezTo>
                <a:cubicBezTo>
                  <a:pt x="117" y="184"/>
                  <a:pt x="105" y="186"/>
                  <a:pt x="93" y="186"/>
                </a:cubicBezTo>
                <a:cubicBezTo>
                  <a:pt x="81" y="186"/>
                  <a:pt x="69" y="184"/>
                  <a:pt x="57" y="179"/>
                </a:cubicBezTo>
                <a:cubicBezTo>
                  <a:pt x="46" y="175"/>
                  <a:pt x="36" y="168"/>
                  <a:pt x="27" y="159"/>
                </a:cubicBezTo>
                <a:cubicBezTo>
                  <a:pt x="19" y="151"/>
                  <a:pt x="12" y="141"/>
                  <a:pt x="7" y="129"/>
                </a:cubicBezTo>
                <a:cubicBezTo>
                  <a:pt x="3" y="118"/>
                  <a:pt x="0" y="106"/>
                  <a:pt x="0" y="94"/>
                </a:cubicBezTo>
                <a:cubicBezTo>
                  <a:pt x="0" y="81"/>
                  <a:pt x="3" y="70"/>
                  <a:pt x="7" y="58"/>
                </a:cubicBezTo>
                <a:cubicBezTo>
                  <a:pt x="12" y="46"/>
                  <a:pt x="19" y="36"/>
                  <a:pt x="27" y="27"/>
                </a:cubicBezTo>
                <a:cubicBezTo>
                  <a:pt x="36" y="19"/>
                  <a:pt x="46" y="12"/>
                  <a:pt x="57" y="7"/>
                </a:cubicBezTo>
                <a:cubicBezTo>
                  <a:pt x="69" y="2"/>
                  <a:pt x="81" y="0"/>
                  <a:pt x="93" y="0"/>
                </a:cubicBezTo>
                <a:cubicBezTo>
                  <a:pt x="105" y="0"/>
                  <a:pt x="117" y="2"/>
                  <a:pt x="128" y="7"/>
                </a:cubicBezTo>
                <a:cubicBezTo>
                  <a:pt x="140" y="12"/>
                  <a:pt x="150" y="19"/>
                  <a:pt x="158" y="27"/>
                </a:cubicBezTo>
                <a:cubicBezTo>
                  <a:pt x="167" y="36"/>
                  <a:pt x="175" y="46"/>
                  <a:pt x="179" y="58"/>
                </a:cubicBezTo>
                <a:cubicBezTo>
                  <a:pt x="184" y="70"/>
                  <a:pt x="186" y="81"/>
                  <a:pt x="186" y="94"/>
                </a:cubicBezTo>
                <a:close/>
              </a:path>
            </a:pathLst>
          </a:custGeom>
          <a:solidFill>
            <a:srgbClr val="0a53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88" name=""/>
          <p:cNvSpPr txBox="1"/>
          <p:nvPr/>
        </p:nvSpPr>
        <p:spPr>
          <a:xfrm>
            <a:off x="1168200" y="4099320"/>
            <a:ext cx="678240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Can philosophy of design oﬀer insights to other philosophical ﬁelds?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9" name=""/>
          <p:cNvSpPr txBox="1"/>
          <p:nvPr/>
        </p:nvSpPr>
        <p:spPr>
          <a:xfrm>
            <a:off x="1168200" y="4451760"/>
            <a:ext cx="580644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Can other ﬁelds of philosophy illuminate design problems?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0" name=""/>
          <p:cNvSpPr txBox="1"/>
          <p:nvPr/>
        </p:nvSpPr>
        <p:spPr>
          <a:xfrm>
            <a:off x="1238400" y="6405120"/>
            <a:ext cx="1046520" cy="155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05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SEAtS | 080172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1" name=""/>
          <p:cNvSpPr/>
          <p:nvPr/>
        </p:nvSpPr>
        <p:spPr>
          <a:xfrm>
            <a:off x="685440" y="6343560"/>
            <a:ext cx="381600" cy="304920"/>
          </a:xfrm>
          <a:custGeom>
            <a:avLst/>
            <a:gdLst/>
            <a:ahLst/>
            <a:rect l="0" t="0" r="r" b="b"/>
            <a:pathLst>
              <a:path w="1060" h="847">
                <a:moveTo>
                  <a:pt x="0" y="423"/>
                </a:moveTo>
                <a:cubicBezTo>
                  <a:pt x="0" y="395"/>
                  <a:pt x="3" y="368"/>
                  <a:pt x="9" y="340"/>
                </a:cubicBezTo>
                <a:cubicBezTo>
                  <a:pt x="14" y="313"/>
                  <a:pt x="22" y="287"/>
                  <a:pt x="33" y="261"/>
                </a:cubicBezTo>
                <a:cubicBezTo>
                  <a:pt x="43" y="235"/>
                  <a:pt x="56" y="211"/>
                  <a:pt x="72" y="188"/>
                </a:cubicBezTo>
                <a:cubicBezTo>
                  <a:pt x="87" y="165"/>
                  <a:pt x="105" y="143"/>
                  <a:pt x="124" y="124"/>
                </a:cubicBezTo>
                <a:cubicBezTo>
                  <a:pt x="144" y="104"/>
                  <a:pt x="166" y="87"/>
                  <a:pt x="189" y="71"/>
                </a:cubicBezTo>
                <a:cubicBezTo>
                  <a:pt x="212" y="56"/>
                  <a:pt x="236" y="43"/>
                  <a:pt x="262" y="32"/>
                </a:cubicBezTo>
                <a:cubicBezTo>
                  <a:pt x="288" y="21"/>
                  <a:pt x="314" y="13"/>
                  <a:pt x="341" y="8"/>
                </a:cubicBezTo>
                <a:cubicBezTo>
                  <a:pt x="369" y="2"/>
                  <a:pt x="396" y="0"/>
                  <a:pt x="424" y="0"/>
                </a:cubicBezTo>
                <a:lnTo>
                  <a:pt x="635" y="0"/>
                </a:lnTo>
                <a:cubicBezTo>
                  <a:pt x="663" y="0"/>
                  <a:pt x="691" y="2"/>
                  <a:pt x="718" y="8"/>
                </a:cubicBezTo>
                <a:cubicBezTo>
                  <a:pt x="746" y="13"/>
                  <a:pt x="773" y="21"/>
                  <a:pt x="799" y="32"/>
                </a:cubicBezTo>
                <a:cubicBezTo>
                  <a:pt x="824" y="43"/>
                  <a:pt x="849" y="56"/>
                  <a:pt x="872" y="71"/>
                </a:cubicBezTo>
                <a:cubicBezTo>
                  <a:pt x="895" y="87"/>
                  <a:pt x="916" y="104"/>
                  <a:pt x="936" y="124"/>
                </a:cubicBezTo>
                <a:cubicBezTo>
                  <a:pt x="955" y="143"/>
                  <a:pt x="973" y="165"/>
                  <a:pt x="988" y="188"/>
                </a:cubicBezTo>
                <a:cubicBezTo>
                  <a:pt x="1004" y="211"/>
                  <a:pt x="1017" y="235"/>
                  <a:pt x="1028" y="261"/>
                </a:cubicBezTo>
                <a:cubicBezTo>
                  <a:pt x="1038" y="287"/>
                  <a:pt x="1046" y="313"/>
                  <a:pt x="1052" y="340"/>
                </a:cubicBezTo>
                <a:cubicBezTo>
                  <a:pt x="1057" y="368"/>
                  <a:pt x="1060" y="395"/>
                  <a:pt x="1060" y="423"/>
                </a:cubicBezTo>
                <a:cubicBezTo>
                  <a:pt x="1060" y="451"/>
                  <a:pt x="1057" y="478"/>
                  <a:pt x="1052" y="506"/>
                </a:cubicBezTo>
                <a:cubicBezTo>
                  <a:pt x="1046" y="533"/>
                  <a:pt x="1038" y="559"/>
                  <a:pt x="1028" y="586"/>
                </a:cubicBezTo>
                <a:cubicBezTo>
                  <a:pt x="1017" y="612"/>
                  <a:pt x="1004" y="636"/>
                  <a:pt x="988" y="659"/>
                </a:cubicBezTo>
                <a:cubicBezTo>
                  <a:pt x="973" y="682"/>
                  <a:pt x="955" y="704"/>
                  <a:pt x="936" y="723"/>
                </a:cubicBezTo>
                <a:cubicBezTo>
                  <a:pt x="916" y="743"/>
                  <a:pt x="895" y="761"/>
                  <a:pt x="872" y="776"/>
                </a:cubicBezTo>
                <a:cubicBezTo>
                  <a:pt x="849" y="792"/>
                  <a:pt x="824" y="805"/>
                  <a:pt x="799" y="815"/>
                </a:cubicBezTo>
                <a:cubicBezTo>
                  <a:pt x="773" y="826"/>
                  <a:pt x="746" y="834"/>
                  <a:pt x="718" y="839"/>
                </a:cubicBezTo>
                <a:cubicBezTo>
                  <a:pt x="691" y="845"/>
                  <a:pt x="663" y="847"/>
                  <a:pt x="635" y="847"/>
                </a:cubicBezTo>
                <a:lnTo>
                  <a:pt x="424" y="847"/>
                </a:lnTo>
                <a:cubicBezTo>
                  <a:pt x="396" y="847"/>
                  <a:pt x="369" y="845"/>
                  <a:pt x="341" y="839"/>
                </a:cubicBezTo>
                <a:cubicBezTo>
                  <a:pt x="314" y="834"/>
                  <a:pt x="288" y="826"/>
                  <a:pt x="262" y="815"/>
                </a:cubicBezTo>
                <a:cubicBezTo>
                  <a:pt x="236" y="805"/>
                  <a:pt x="212" y="792"/>
                  <a:pt x="189" y="776"/>
                </a:cubicBezTo>
                <a:cubicBezTo>
                  <a:pt x="166" y="761"/>
                  <a:pt x="144" y="743"/>
                  <a:pt x="124" y="723"/>
                </a:cubicBezTo>
                <a:cubicBezTo>
                  <a:pt x="105" y="704"/>
                  <a:pt x="87" y="682"/>
                  <a:pt x="72" y="659"/>
                </a:cubicBezTo>
                <a:cubicBezTo>
                  <a:pt x="56" y="636"/>
                  <a:pt x="43" y="612"/>
                  <a:pt x="33" y="586"/>
                </a:cubicBezTo>
                <a:cubicBezTo>
                  <a:pt x="22" y="559"/>
                  <a:pt x="14" y="533"/>
                  <a:pt x="9" y="506"/>
                </a:cubicBezTo>
                <a:cubicBezTo>
                  <a:pt x="3" y="478"/>
                  <a:pt x="0" y="451"/>
                  <a:pt x="0" y="423"/>
                </a:cubicBezTo>
                <a:close/>
              </a:path>
            </a:pathLst>
          </a:custGeom>
          <a:solidFill>
            <a:srgbClr val="ffffff">
              <a:alpha val="74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2" name=""/>
          <p:cNvSpPr txBox="1"/>
          <p:nvPr/>
        </p:nvSpPr>
        <p:spPr>
          <a:xfrm>
            <a:off x="1238400" y="6569280"/>
            <a:ext cx="3390120" cy="12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800" strike="noStrike" u="none">
                <a:solidFill>
                  <a:srgbClr val="a6a6a6"/>
                </a:solidFill>
                <a:effectLst/>
                <a:uFillTx/>
                <a:latin typeface="LucidaGrande"/>
                <a:ea typeface="LucidaGrande"/>
              </a:rPr>
              <a:t>Version: GITREVISION | © 22.09.2026 University of Southampton</a:t>
            </a:r>
            <a:endParaRPr b="0" lang="en-US" sz="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3" name=""/>
          <p:cNvSpPr txBox="1"/>
          <p:nvPr/>
        </p:nvSpPr>
        <p:spPr>
          <a:xfrm>
            <a:off x="762120" y="6390720"/>
            <a:ext cx="226080" cy="21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11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197" name="" descr=""/>
          <p:cNvPicPr/>
          <p:nvPr/>
        </p:nvPicPr>
        <p:blipFill>
          <a:blip r:embed="rId1"/>
          <a:stretch/>
        </p:blipFill>
        <p:spPr>
          <a:xfrm>
            <a:off x="10134720" y="5981760"/>
            <a:ext cx="1904760" cy="1065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98" name=""/>
          <p:cNvSpPr/>
          <p:nvPr/>
        </p:nvSpPr>
        <p:spPr>
          <a:xfrm>
            <a:off x="971280" y="3657240"/>
            <a:ext cx="66960" cy="67320"/>
          </a:xfrm>
          <a:custGeom>
            <a:avLst/>
            <a:gdLst/>
            <a:ahLst/>
            <a:rect l="0" t="0" r="r" b="b"/>
            <a:pathLst>
              <a:path w="186" h="187">
                <a:moveTo>
                  <a:pt x="186" y="93"/>
                </a:moveTo>
                <a:cubicBezTo>
                  <a:pt x="186" y="105"/>
                  <a:pt x="184" y="118"/>
                  <a:pt x="179" y="130"/>
                </a:cubicBezTo>
                <a:cubicBezTo>
                  <a:pt x="175" y="141"/>
                  <a:pt x="167" y="151"/>
                  <a:pt x="158" y="160"/>
                </a:cubicBezTo>
                <a:cubicBezTo>
                  <a:pt x="150" y="168"/>
                  <a:pt x="140" y="175"/>
                  <a:pt x="128" y="180"/>
                </a:cubicBezTo>
                <a:cubicBezTo>
                  <a:pt x="117" y="184"/>
                  <a:pt x="105" y="187"/>
                  <a:pt x="93" y="187"/>
                </a:cubicBezTo>
                <a:cubicBezTo>
                  <a:pt x="81" y="187"/>
                  <a:pt x="69" y="184"/>
                  <a:pt x="57" y="180"/>
                </a:cubicBezTo>
                <a:cubicBezTo>
                  <a:pt x="46" y="175"/>
                  <a:pt x="36" y="168"/>
                  <a:pt x="27" y="160"/>
                </a:cubicBezTo>
                <a:cubicBezTo>
                  <a:pt x="19" y="151"/>
                  <a:pt x="12" y="141"/>
                  <a:pt x="7" y="130"/>
                </a:cubicBezTo>
                <a:cubicBezTo>
                  <a:pt x="3" y="118"/>
                  <a:pt x="0" y="105"/>
                  <a:pt x="0" y="93"/>
                </a:cubicBezTo>
                <a:cubicBezTo>
                  <a:pt x="0" y="81"/>
                  <a:pt x="3" y="69"/>
                  <a:pt x="7" y="58"/>
                </a:cubicBezTo>
                <a:cubicBezTo>
                  <a:pt x="12" y="46"/>
                  <a:pt x="19" y="36"/>
                  <a:pt x="27" y="28"/>
                </a:cubicBezTo>
                <a:cubicBezTo>
                  <a:pt x="36" y="19"/>
                  <a:pt x="46" y="12"/>
                  <a:pt x="57" y="8"/>
                </a:cubicBezTo>
                <a:cubicBezTo>
                  <a:pt x="69" y="3"/>
                  <a:pt x="81" y="0"/>
                  <a:pt x="93" y="0"/>
                </a:cubicBezTo>
                <a:cubicBezTo>
                  <a:pt x="105" y="0"/>
                  <a:pt x="117" y="3"/>
                  <a:pt x="128" y="8"/>
                </a:cubicBezTo>
                <a:cubicBezTo>
                  <a:pt x="140" y="12"/>
                  <a:pt x="150" y="19"/>
                  <a:pt x="158" y="28"/>
                </a:cubicBezTo>
                <a:cubicBezTo>
                  <a:pt x="167" y="36"/>
                  <a:pt x="175" y="46"/>
                  <a:pt x="179" y="58"/>
                </a:cubicBezTo>
                <a:cubicBezTo>
                  <a:pt x="184" y="69"/>
                  <a:pt x="186" y="81"/>
                  <a:pt x="186" y="93"/>
                </a:cubicBezTo>
                <a:close/>
              </a:path>
            </a:pathLst>
          </a:custGeom>
          <a:solidFill>
            <a:srgbClr val="0a53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99" name=""/>
          <p:cNvSpPr txBox="1"/>
          <p:nvPr/>
        </p:nvSpPr>
        <p:spPr>
          <a:xfrm>
            <a:off x="762120" y="3049920"/>
            <a:ext cx="2931480" cy="30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208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Practical Applications</a:t>
            </a:r>
            <a:endParaRPr b="0" lang="en-US" sz="208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0" name=""/>
          <p:cNvSpPr/>
          <p:nvPr/>
        </p:nvSpPr>
        <p:spPr>
          <a:xfrm>
            <a:off x="971280" y="4009680"/>
            <a:ext cx="66960" cy="67320"/>
          </a:xfrm>
          <a:custGeom>
            <a:avLst/>
            <a:gdLst/>
            <a:ahLst/>
            <a:rect l="0" t="0" r="r" b="b"/>
            <a:pathLst>
              <a:path w="186" h="187">
                <a:moveTo>
                  <a:pt x="186" y="94"/>
                </a:moveTo>
                <a:cubicBezTo>
                  <a:pt x="186" y="106"/>
                  <a:pt x="184" y="118"/>
                  <a:pt x="179" y="129"/>
                </a:cubicBezTo>
                <a:cubicBezTo>
                  <a:pt x="175" y="141"/>
                  <a:pt x="167" y="151"/>
                  <a:pt x="158" y="160"/>
                </a:cubicBezTo>
                <a:cubicBezTo>
                  <a:pt x="150" y="168"/>
                  <a:pt x="140" y="175"/>
                  <a:pt x="128" y="180"/>
                </a:cubicBezTo>
                <a:cubicBezTo>
                  <a:pt x="117" y="184"/>
                  <a:pt x="105" y="187"/>
                  <a:pt x="93" y="187"/>
                </a:cubicBezTo>
                <a:cubicBezTo>
                  <a:pt x="81" y="187"/>
                  <a:pt x="69" y="184"/>
                  <a:pt x="57" y="180"/>
                </a:cubicBezTo>
                <a:cubicBezTo>
                  <a:pt x="46" y="175"/>
                  <a:pt x="36" y="168"/>
                  <a:pt x="27" y="160"/>
                </a:cubicBezTo>
                <a:cubicBezTo>
                  <a:pt x="19" y="151"/>
                  <a:pt x="12" y="141"/>
                  <a:pt x="7" y="129"/>
                </a:cubicBezTo>
                <a:cubicBezTo>
                  <a:pt x="3" y="118"/>
                  <a:pt x="0" y="106"/>
                  <a:pt x="0" y="94"/>
                </a:cubicBezTo>
                <a:cubicBezTo>
                  <a:pt x="0" y="82"/>
                  <a:pt x="3" y="70"/>
                  <a:pt x="7" y="59"/>
                </a:cubicBezTo>
                <a:cubicBezTo>
                  <a:pt x="12" y="46"/>
                  <a:pt x="19" y="36"/>
                  <a:pt x="27" y="28"/>
                </a:cubicBezTo>
                <a:cubicBezTo>
                  <a:pt x="36" y="19"/>
                  <a:pt x="46" y="12"/>
                  <a:pt x="57" y="8"/>
                </a:cubicBezTo>
                <a:cubicBezTo>
                  <a:pt x="69" y="3"/>
                  <a:pt x="81" y="0"/>
                  <a:pt x="93" y="0"/>
                </a:cubicBezTo>
                <a:cubicBezTo>
                  <a:pt x="105" y="0"/>
                  <a:pt x="117" y="3"/>
                  <a:pt x="128" y="8"/>
                </a:cubicBezTo>
                <a:cubicBezTo>
                  <a:pt x="140" y="12"/>
                  <a:pt x="150" y="19"/>
                  <a:pt x="158" y="28"/>
                </a:cubicBezTo>
                <a:cubicBezTo>
                  <a:pt x="167" y="36"/>
                  <a:pt x="175" y="46"/>
                  <a:pt x="179" y="59"/>
                </a:cubicBezTo>
                <a:cubicBezTo>
                  <a:pt x="184" y="70"/>
                  <a:pt x="186" y="82"/>
                  <a:pt x="186" y="94"/>
                </a:cubicBezTo>
                <a:close/>
              </a:path>
            </a:pathLst>
          </a:custGeom>
          <a:solidFill>
            <a:srgbClr val="0a53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01" name=""/>
          <p:cNvSpPr txBox="1"/>
          <p:nvPr/>
        </p:nvSpPr>
        <p:spPr>
          <a:xfrm>
            <a:off x="1168200" y="3565800"/>
            <a:ext cx="501732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Can philosophy of design improve design practice?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2" name=""/>
          <p:cNvSpPr/>
          <p:nvPr/>
        </p:nvSpPr>
        <p:spPr>
          <a:xfrm>
            <a:off x="971280" y="4362120"/>
            <a:ext cx="66960" cy="67680"/>
          </a:xfrm>
          <a:custGeom>
            <a:avLst/>
            <a:gdLst/>
            <a:ahLst/>
            <a:rect l="0" t="0" r="r" b="b"/>
            <a:pathLst>
              <a:path w="186" h="188">
                <a:moveTo>
                  <a:pt x="186" y="94"/>
                </a:moveTo>
                <a:cubicBezTo>
                  <a:pt x="186" y="106"/>
                  <a:pt x="184" y="118"/>
                  <a:pt x="179" y="129"/>
                </a:cubicBezTo>
                <a:cubicBezTo>
                  <a:pt x="175" y="141"/>
                  <a:pt x="167" y="151"/>
                  <a:pt x="158" y="160"/>
                </a:cubicBezTo>
                <a:cubicBezTo>
                  <a:pt x="150" y="168"/>
                  <a:pt x="140" y="175"/>
                  <a:pt x="128" y="180"/>
                </a:cubicBezTo>
                <a:cubicBezTo>
                  <a:pt x="117" y="184"/>
                  <a:pt x="105" y="188"/>
                  <a:pt x="93" y="188"/>
                </a:cubicBezTo>
                <a:cubicBezTo>
                  <a:pt x="81" y="188"/>
                  <a:pt x="69" y="184"/>
                  <a:pt x="57" y="180"/>
                </a:cubicBezTo>
                <a:cubicBezTo>
                  <a:pt x="46" y="175"/>
                  <a:pt x="36" y="168"/>
                  <a:pt x="27" y="160"/>
                </a:cubicBezTo>
                <a:cubicBezTo>
                  <a:pt x="19" y="151"/>
                  <a:pt x="12" y="141"/>
                  <a:pt x="7" y="129"/>
                </a:cubicBezTo>
                <a:cubicBezTo>
                  <a:pt x="3" y="118"/>
                  <a:pt x="0" y="106"/>
                  <a:pt x="0" y="94"/>
                </a:cubicBezTo>
                <a:cubicBezTo>
                  <a:pt x="0" y="82"/>
                  <a:pt x="3" y="70"/>
                  <a:pt x="7" y="59"/>
                </a:cubicBezTo>
                <a:cubicBezTo>
                  <a:pt x="12" y="47"/>
                  <a:pt x="19" y="37"/>
                  <a:pt x="27" y="29"/>
                </a:cubicBezTo>
                <a:cubicBezTo>
                  <a:pt x="36" y="20"/>
                  <a:pt x="46" y="13"/>
                  <a:pt x="57" y="8"/>
                </a:cubicBezTo>
                <a:cubicBezTo>
                  <a:pt x="69" y="4"/>
                  <a:pt x="81" y="0"/>
                  <a:pt x="93" y="0"/>
                </a:cubicBezTo>
                <a:cubicBezTo>
                  <a:pt x="105" y="0"/>
                  <a:pt x="117" y="4"/>
                  <a:pt x="128" y="8"/>
                </a:cubicBezTo>
                <a:cubicBezTo>
                  <a:pt x="140" y="13"/>
                  <a:pt x="150" y="20"/>
                  <a:pt x="158" y="29"/>
                </a:cubicBezTo>
                <a:cubicBezTo>
                  <a:pt x="167" y="37"/>
                  <a:pt x="175" y="47"/>
                  <a:pt x="179" y="59"/>
                </a:cubicBezTo>
                <a:cubicBezTo>
                  <a:pt x="184" y="70"/>
                  <a:pt x="186" y="82"/>
                  <a:pt x="186" y="94"/>
                </a:cubicBezTo>
                <a:close/>
              </a:path>
            </a:pathLst>
          </a:custGeom>
          <a:solidFill>
            <a:srgbClr val="0a53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03" name=""/>
          <p:cNvSpPr txBox="1"/>
          <p:nvPr/>
        </p:nvSpPr>
        <p:spPr>
          <a:xfrm>
            <a:off x="1168200" y="3918240"/>
            <a:ext cx="879264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Can it lead to better artefacts, better design methods, better use of computers in design?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4" name=""/>
          <p:cNvSpPr txBox="1"/>
          <p:nvPr/>
        </p:nvSpPr>
        <p:spPr>
          <a:xfrm>
            <a:off x="1168200" y="4270680"/>
            <a:ext cx="547776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What use can designers make of philosophical insights?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5" name=""/>
          <p:cNvSpPr txBox="1"/>
          <p:nvPr/>
        </p:nvSpPr>
        <p:spPr>
          <a:xfrm>
            <a:off x="1238400" y="6405120"/>
            <a:ext cx="1046520" cy="155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05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SEAtS | 080172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6" name=""/>
          <p:cNvSpPr/>
          <p:nvPr/>
        </p:nvSpPr>
        <p:spPr>
          <a:xfrm>
            <a:off x="685440" y="6343560"/>
            <a:ext cx="381600" cy="304920"/>
          </a:xfrm>
          <a:custGeom>
            <a:avLst/>
            <a:gdLst/>
            <a:ahLst/>
            <a:rect l="0" t="0" r="r" b="b"/>
            <a:pathLst>
              <a:path w="1060" h="847">
                <a:moveTo>
                  <a:pt x="0" y="423"/>
                </a:moveTo>
                <a:cubicBezTo>
                  <a:pt x="0" y="395"/>
                  <a:pt x="3" y="368"/>
                  <a:pt x="9" y="340"/>
                </a:cubicBezTo>
                <a:cubicBezTo>
                  <a:pt x="14" y="313"/>
                  <a:pt x="22" y="287"/>
                  <a:pt x="33" y="261"/>
                </a:cubicBezTo>
                <a:cubicBezTo>
                  <a:pt x="43" y="235"/>
                  <a:pt x="56" y="211"/>
                  <a:pt x="72" y="188"/>
                </a:cubicBezTo>
                <a:cubicBezTo>
                  <a:pt x="87" y="165"/>
                  <a:pt x="105" y="143"/>
                  <a:pt x="124" y="124"/>
                </a:cubicBezTo>
                <a:cubicBezTo>
                  <a:pt x="144" y="104"/>
                  <a:pt x="166" y="87"/>
                  <a:pt x="189" y="71"/>
                </a:cubicBezTo>
                <a:cubicBezTo>
                  <a:pt x="212" y="56"/>
                  <a:pt x="236" y="43"/>
                  <a:pt x="262" y="32"/>
                </a:cubicBezTo>
                <a:cubicBezTo>
                  <a:pt x="288" y="21"/>
                  <a:pt x="314" y="13"/>
                  <a:pt x="341" y="8"/>
                </a:cubicBezTo>
                <a:cubicBezTo>
                  <a:pt x="369" y="2"/>
                  <a:pt x="396" y="0"/>
                  <a:pt x="424" y="0"/>
                </a:cubicBezTo>
                <a:lnTo>
                  <a:pt x="635" y="0"/>
                </a:lnTo>
                <a:cubicBezTo>
                  <a:pt x="663" y="0"/>
                  <a:pt x="691" y="2"/>
                  <a:pt x="718" y="8"/>
                </a:cubicBezTo>
                <a:cubicBezTo>
                  <a:pt x="746" y="13"/>
                  <a:pt x="773" y="21"/>
                  <a:pt x="799" y="32"/>
                </a:cubicBezTo>
                <a:cubicBezTo>
                  <a:pt x="824" y="43"/>
                  <a:pt x="849" y="56"/>
                  <a:pt x="872" y="71"/>
                </a:cubicBezTo>
                <a:cubicBezTo>
                  <a:pt x="895" y="87"/>
                  <a:pt x="916" y="104"/>
                  <a:pt x="936" y="124"/>
                </a:cubicBezTo>
                <a:cubicBezTo>
                  <a:pt x="955" y="143"/>
                  <a:pt x="973" y="165"/>
                  <a:pt x="988" y="188"/>
                </a:cubicBezTo>
                <a:cubicBezTo>
                  <a:pt x="1004" y="211"/>
                  <a:pt x="1017" y="235"/>
                  <a:pt x="1028" y="261"/>
                </a:cubicBezTo>
                <a:cubicBezTo>
                  <a:pt x="1038" y="287"/>
                  <a:pt x="1046" y="313"/>
                  <a:pt x="1052" y="340"/>
                </a:cubicBezTo>
                <a:cubicBezTo>
                  <a:pt x="1057" y="368"/>
                  <a:pt x="1060" y="395"/>
                  <a:pt x="1060" y="423"/>
                </a:cubicBezTo>
                <a:cubicBezTo>
                  <a:pt x="1060" y="451"/>
                  <a:pt x="1057" y="478"/>
                  <a:pt x="1052" y="506"/>
                </a:cubicBezTo>
                <a:cubicBezTo>
                  <a:pt x="1046" y="533"/>
                  <a:pt x="1038" y="559"/>
                  <a:pt x="1028" y="586"/>
                </a:cubicBezTo>
                <a:cubicBezTo>
                  <a:pt x="1017" y="612"/>
                  <a:pt x="1004" y="636"/>
                  <a:pt x="988" y="659"/>
                </a:cubicBezTo>
                <a:cubicBezTo>
                  <a:pt x="973" y="682"/>
                  <a:pt x="955" y="704"/>
                  <a:pt x="936" y="723"/>
                </a:cubicBezTo>
                <a:cubicBezTo>
                  <a:pt x="916" y="743"/>
                  <a:pt x="895" y="761"/>
                  <a:pt x="872" y="776"/>
                </a:cubicBezTo>
                <a:cubicBezTo>
                  <a:pt x="849" y="792"/>
                  <a:pt x="824" y="805"/>
                  <a:pt x="799" y="815"/>
                </a:cubicBezTo>
                <a:cubicBezTo>
                  <a:pt x="773" y="826"/>
                  <a:pt x="746" y="834"/>
                  <a:pt x="718" y="839"/>
                </a:cubicBezTo>
                <a:cubicBezTo>
                  <a:pt x="691" y="845"/>
                  <a:pt x="663" y="847"/>
                  <a:pt x="635" y="847"/>
                </a:cubicBezTo>
                <a:lnTo>
                  <a:pt x="424" y="847"/>
                </a:lnTo>
                <a:cubicBezTo>
                  <a:pt x="396" y="847"/>
                  <a:pt x="369" y="845"/>
                  <a:pt x="341" y="839"/>
                </a:cubicBezTo>
                <a:cubicBezTo>
                  <a:pt x="314" y="834"/>
                  <a:pt x="288" y="826"/>
                  <a:pt x="262" y="815"/>
                </a:cubicBezTo>
                <a:cubicBezTo>
                  <a:pt x="236" y="805"/>
                  <a:pt x="212" y="792"/>
                  <a:pt x="189" y="776"/>
                </a:cubicBezTo>
                <a:cubicBezTo>
                  <a:pt x="166" y="761"/>
                  <a:pt x="144" y="743"/>
                  <a:pt x="124" y="723"/>
                </a:cubicBezTo>
                <a:cubicBezTo>
                  <a:pt x="105" y="704"/>
                  <a:pt x="87" y="682"/>
                  <a:pt x="72" y="659"/>
                </a:cubicBezTo>
                <a:cubicBezTo>
                  <a:pt x="56" y="636"/>
                  <a:pt x="43" y="612"/>
                  <a:pt x="33" y="586"/>
                </a:cubicBezTo>
                <a:cubicBezTo>
                  <a:pt x="22" y="559"/>
                  <a:pt x="14" y="533"/>
                  <a:pt x="9" y="506"/>
                </a:cubicBezTo>
                <a:cubicBezTo>
                  <a:pt x="3" y="478"/>
                  <a:pt x="0" y="451"/>
                  <a:pt x="0" y="423"/>
                </a:cubicBezTo>
                <a:close/>
              </a:path>
            </a:pathLst>
          </a:custGeom>
          <a:solidFill>
            <a:srgbClr val="ffffff">
              <a:alpha val="74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7" name=""/>
          <p:cNvSpPr txBox="1"/>
          <p:nvPr/>
        </p:nvSpPr>
        <p:spPr>
          <a:xfrm>
            <a:off x="1238400" y="6569280"/>
            <a:ext cx="3390120" cy="12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800" strike="noStrike" u="none">
                <a:solidFill>
                  <a:srgbClr val="a6a6a6"/>
                </a:solidFill>
                <a:effectLst/>
                <a:uFillTx/>
                <a:latin typeface="LucidaGrande"/>
                <a:ea typeface="LucidaGrande"/>
              </a:rPr>
              <a:t>Version: GITREVISION | © 22.09.2026 University of Southampton</a:t>
            </a:r>
            <a:endParaRPr b="0" lang="en-US" sz="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8" name=""/>
          <p:cNvSpPr txBox="1"/>
          <p:nvPr/>
        </p:nvSpPr>
        <p:spPr>
          <a:xfrm>
            <a:off x="762120" y="6390720"/>
            <a:ext cx="226080" cy="21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12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212" name="" descr=""/>
          <p:cNvPicPr/>
          <p:nvPr/>
        </p:nvPicPr>
        <p:blipFill>
          <a:blip r:embed="rId1"/>
          <a:stretch/>
        </p:blipFill>
        <p:spPr>
          <a:xfrm>
            <a:off x="10134720" y="5981760"/>
            <a:ext cx="1904760" cy="1065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13" name=""/>
          <p:cNvSpPr/>
          <p:nvPr/>
        </p:nvSpPr>
        <p:spPr>
          <a:xfrm>
            <a:off x="971280" y="2876400"/>
            <a:ext cx="66960" cy="66960"/>
          </a:xfrm>
          <a:custGeom>
            <a:avLst/>
            <a:gdLst/>
            <a:ahLst/>
            <a:rect l="0" t="0" r="r" b="b"/>
            <a:pathLst>
              <a:path w="186" h="186">
                <a:moveTo>
                  <a:pt x="186" y="94"/>
                </a:moveTo>
                <a:cubicBezTo>
                  <a:pt x="186" y="106"/>
                  <a:pt x="184" y="118"/>
                  <a:pt x="179" y="129"/>
                </a:cubicBezTo>
                <a:cubicBezTo>
                  <a:pt x="175" y="140"/>
                  <a:pt x="167" y="150"/>
                  <a:pt x="158" y="159"/>
                </a:cubicBezTo>
                <a:cubicBezTo>
                  <a:pt x="150" y="168"/>
                  <a:pt x="140" y="174"/>
                  <a:pt x="128" y="179"/>
                </a:cubicBezTo>
                <a:cubicBezTo>
                  <a:pt x="117" y="184"/>
                  <a:pt x="105" y="186"/>
                  <a:pt x="93" y="186"/>
                </a:cubicBezTo>
                <a:cubicBezTo>
                  <a:pt x="81" y="186"/>
                  <a:pt x="69" y="184"/>
                  <a:pt x="57" y="179"/>
                </a:cubicBezTo>
                <a:cubicBezTo>
                  <a:pt x="46" y="174"/>
                  <a:pt x="36" y="168"/>
                  <a:pt x="27" y="159"/>
                </a:cubicBezTo>
                <a:cubicBezTo>
                  <a:pt x="19" y="150"/>
                  <a:pt x="12" y="140"/>
                  <a:pt x="7" y="129"/>
                </a:cubicBezTo>
                <a:cubicBezTo>
                  <a:pt x="3" y="118"/>
                  <a:pt x="0" y="106"/>
                  <a:pt x="0" y="94"/>
                </a:cubicBezTo>
                <a:cubicBezTo>
                  <a:pt x="0" y="81"/>
                  <a:pt x="3" y="69"/>
                  <a:pt x="7" y="57"/>
                </a:cubicBezTo>
                <a:cubicBezTo>
                  <a:pt x="12" y="46"/>
                  <a:pt x="19" y="36"/>
                  <a:pt x="27" y="27"/>
                </a:cubicBezTo>
                <a:cubicBezTo>
                  <a:pt x="36" y="18"/>
                  <a:pt x="46" y="12"/>
                  <a:pt x="57" y="7"/>
                </a:cubicBezTo>
                <a:cubicBezTo>
                  <a:pt x="69" y="2"/>
                  <a:pt x="81" y="0"/>
                  <a:pt x="93" y="0"/>
                </a:cubicBezTo>
                <a:cubicBezTo>
                  <a:pt x="105" y="0"/>
                  <a:pt x="117" y="2"/>
                  <a:pt x="128" y="7"/>
                </a:cubicBezTo>
                <a:cubicBezTo>
                  <a:pt x="140" y="12"/>
                  <a:pt x="150" y="18"/>
                  <a:pt x="158" y="27"/>
                </a:cubicBezTo>
                <a:cubicBezTo>
                  <a:pt x="167" y="36"/>
                  <a:pt x="175" y="46"/>
                  <a:pt x="179" y="57"/>
                </a:cubicBezTo>
                <a:cubicBezTo>
                  <a:pt x="184" y="69"/>
                  <a:pt x="186" y="81"/>
                  <a:pt x="186" y="94"/>
                </a:cubicBezTo>
                <a:close/>
              </a:path>
            </a:pathLst>
          </a:custGeom>
          <a:solidFill>
            <a:srgbClr val="0a53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14" name=""/>
          <p:cNvSpPr txBox="1"/>
          <p:nvPr/>
        </p:nvSpPr>
        <p:spPr>
          <a:xfrm>
            <a:off x="762120" y="2327760"/>
            <a:ext cx="262296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Philosophy of design uses: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5" name=""/>
          <p:cNvSpPr txBox="1"/>
          <p:nvPr/>
        </p:nvSpPr>
        <p:spPr>
          <a:xfrm>
            <a:off x="1168200" y="2784960"/>
            <a:ext cx="456228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Rational and critical reﬂection </a:t>
            </a:r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(not empirical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6" name=""/>
          <p:cNvSpPr/>
          <p:nvPr/>
        </p:nvSpPr>
        <p:spPr>
          <a:xfrm>
            <a:off x="971280" y="3543120"/>
            <a:ext cx="66960" cy="66960"/>
          </a:xfrm>
          <a:custGeom>
            <a:avLst/>
            <a:gdLst/>
            <a:ahLst/>
            <a:rect l="0" t="0" r="r" b="b"/>
            <a:pathLst>
              <a:path w="186" h="186">
                <a:moveTo>
                  <a:pt x="186" y="94"/>
                </a:moveTo>
                <a:cubicBezTo>
                  <a:pt x="186" y="106"/>
                  <a:pt x="184" y="118"/>
                  <a:pt x="179" y="129"/>
                </a:cubicBezTo>
                <a:cubicBezTo>
                  <a:pt x="175" y="140"/>
                  <a:pt x="167" y="150"/>
                  <a:pt x="158" y="159"/>
                </a:cubicBezTo>
                <a:cubicBezTo>
                  <a:pt x="150" y="168"/>
                  <a:pt x="140" y="174"/>
                  <a:pt x="128" y="179"/>
                </a:cubicBezTo>
                <a:cubicBezTo>
                  <a:pt x="117" y="184"/>
                  <a:pt x="105" y="186"/>
                  <a:pt x="93" y="186"/>
                </a:cubicBezTo>
                <a:cubicBezTo>
                  <a:pt x="81" y="186"/>
                  <a:pt x="69" y="184"/>
                  <a:pt x="57" y="179"/>
                </a:cubicBezTo>
                <a:cubicBezTo>
                  <a:pt x="46" y="174"/>
                  <a:pt x="36" y="168"/>
                  <a:pt x="27" y="159"/>
                </a:cubicBezTo>
                <a:cubicBezTo>
                  <a:pt x="19" y="150"/>
                  <a:pt x="12" y="140"/>
                  <a:pt x="7" y="129"/>
                </a:cubicBezTo>
                <a:cubicBezTo>
                  <a:pt x="3" y="118"/>
                  <a:pt x="0" y="106"/>
                  <a:pt x="0" y="94"/>
                </a:cubicBezTo>
                <a:cubicBezTo>
                  <a:pt x="0" y="81"/>
                  <a:pt x="3" y="70"/>
                  <a:pt x="7" y="58"/>
                </a:cubicBezTo>
                <a:cubicBezTo>
                  <a:pt x="12" y="46"/>
                  <a:pt x="19" y="36"/>
                  <a:pt x="27" y="27"/>
                </a:cubicBezTo>
                <a:cubicBezTo>
                  <a:pt x="36" y="18"/>
                  <a:pt x="46" y="12"/>
                  <a:pt x="57" y="7"/>
                </a:cubicBezTo>
                <a:cubicBezTo>
                  <a:pt x="69" y="2"/>
                  <a:pt x="81" y="0"/>
                  <a:pt x="93" y="0"/>
                </a:cubicBezTo>
                <a:cubicBezTo>
                  <a:pt x="105" y="0"/>
                  <a:pt x="117" y="2"/>
                  <a:pt x="128" y="7"/>
                </a:cubicBezTo>
                <a:cubicBezTo>
                  <a:pt x="140" y="12"/>
                  <a:pt x="150" y="18"/>
                  <a:pt x="158" y="27"/>
                </a:cubicBezTo>
                <a:cubicBezTo>
                  <a:pt x="167" y="36"/>
                  <a:pt x="175" y="46"/>
                  <a:pt x="179" y="58"/>
                </a:cubicBezTo>
                <a:cubicBezTo>
                  <a:pt x="184" y="70"/>
                  <a:pt x="186" y="81"/>
                  <a:pt x="186" y="94"/>
                </a:cubicBezTo>
                <a:close/>
              </a:path>
            </a:pathLst>
          </a:custGeom>
          <a:solidFill>
            <a:srgbClr val="0a53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17" name=""/>
          <p:cNvSpPr txBox="1"/>
          <p:nvPr/>
        </p:nvSpPr>
        <p:spPr>
          <a:xfrm>
            <a:off x="1168200" y="3089520"/>
            <a:ext cx="181728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observation alone)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8" name=""/>
          <p:cNvSpPr/>
          <p:nvPr/>
        </p:nvSpPr>
        <p:spPr>
          <a:xfrm>
            <a:off x="971280" y="3895560"/>
            <a:ext cx="66960" cy="66960"/>
          </a:xfrm>
          <a:custGeom>
            <a:avLst/>
            <a:gdLst/>
            <a:ahLst/>
            <a:rect l="0" t="0" r="r" b="b"/>
            <a:pathLst>
              <a:path w="186" h="186">
                <a:moveTo>
                  <a:pt x="186" y="94"/>
                </a:moveTo>
                <a:cubicBezTo>
                  <a:pt x="186" y="106"/>
                  <a:pt x="184" y="118"/>
                  <a:pt x="179" y="129"/>
                </a:cubicBezTo>
                <a:cubicBezTo>
                  <a:pt x="175" y="140"/>
                  <a:pt x="167" y="150"/>
                  <a:pt x="158" y="159"/>
                </a:cubicBezTo>
                <a:cubicBezTo>
                  <a:pt x="150" y="168"/>
                  <a:pt x="140" y="174"/>
                  <a:pt x="128" y="179"/>
                </a:cubicBezTo>
                <a:cubicBezTo>
                  <a:pt x="117" y="184"/>
                  <a:pt x="105" y="186"/>
                  <a:pt x="93" y="186"/>
                </a:cubicBezTo>
                <a:cubicBezTo>
                  <a:pt x="81" y="186"/>
                  <a:pt x="69" y="184"/>
                  <a:pt x="57" y="179"/>
                </a:cubicBezTo>
                <a:cubicBezTo>
                  <a:pt x="46" y="174"/>
                  <a:pt x="36" y="168"/>
                  <a:pt x="27" y="159"/>
                </a:cubicBezTo>
                <a:cubicBezTo>
                  <a:pt x="19" y="150"/>
                  <a:pt x="12" y="140"/>
                  <a:pt x="7" y="129"/>
                </a:cubicBezTo>
                <a:cubicBezTo>
                  <a:pt x="3" y="118"/>
                  <a:pt x="0" y="106"/>
                  <a:pt x="0" y="94"/>
                </a:cubicBezTo>
                <a:cubicBezTo>
                  <a:pt x="0" y="81"/>
                  <a:pt x="3" y="69"/>
                  <a:pt x="7" y="58"/>
                </a:cubicBezTo>
                <a:cubicBezTo>
                  <a:pt x="12" y="47"/>
                  <a:pt x="19" y="37"/>
                  <a:pt x="27" y="28"/>
                </a:cubicBezTo>
                <a:cubicBezTo>
                  <a:pt x="36" y="19"/>
                  <a:pt x="46" y="13"/>
                  <a:pt x="57" y="8"/>
                </a:cubicBezTo>
                <a:cubicBezTo>
                  <a:pt x="69" y="3"/>
                  <a:pt x="81" y="0"/>
                  <a:pt x="93" y="0"/>
                </a:cubicBezTo>
                <a:cubicBezTo>
                  <a:pt x="105" y="0"/>
                  <a:pt x="117" y="3"/>
                  <a:pt x="128" y="8"/>
                </a:cubicBezTo>
                <a:cubicBezTo>
                  <a:pt x="140" y="13"/>
                  <a:pt x="150" y="19"/>
                  <a:pt x="158" y="28"/>
                </a:cubicBezTo>
                <a:cubicBezTo>
                  <a:pt x="167" y="37"/>
                  <a:pt x="175" y="47"/>
                  <a:pt x="179" y="58"/>
                </a:cubicBezTo>
                <a:cubicBezTo>
                  <a:pt x="184" y="69"/>
                  <a:pt x="186" y="81"/>
                  <a:pt x="186" y="94"/>
                </a:cubicBezTo>
                <a:close/>
              </a:path>
            </a:pathLst>
          </a:custGeom>
          <a:solidFill>
            <a:srgbClr val="0a53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19" name=""/>
          <p:cNvSpPr txBox="1"/>
          <p:nvPr/>
        </p:nvSpPr>
        <p:spPr>
          <a:xfrm>
            <a:off x="1168200" y="3451680"/>
            <a:ext cx="452808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Conceptual analysis and argumentative power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0" name=""/>
          <p:cNvSpPr/>
          <p:nvPr/>
        </p:nvSpPr>
        <p:spPr>
          <a:xfrm>
            <a:off x="971280" y="4248000"/>
            <a:ext cx="66960" cy="66960"/>
          </a:xfrm>
          <a:custGeom>
            <a:avLst/>
            <a:gdLst/>
            <a:ahLst/>
            <a:rect l="0" t="0" r="r" b="b"/>
            <a:pathLst>
              <a:path w="186" h="186">
                <a:moveTo>
                  <a:pt x="186" y="93"/>
                </a:moveTo>
                <a:cubicBezTo>
                  <a:pt x="186" y="105"/>
                  <a:pt x="184" y="117"/>
                  <a:pt x="179" y="128"/>
                </a:cubicBezTo>
                <a:cubicBezTo>
                  <a:pt x="175" y="140"/>
                  <a:pt x="167" y="150"/>
                  <a:pt x="158" y="159"/>
                </a:cubicBezTo>
                <a:cubicBezTo>
                  <a:pt x="150" y="168"/>
                  <a:pt x="140" y="174"/>
                  <a:pt x="128" y="179"/>
                </a:cubicBezTo>
                <a:cubicBezTo>
                  <a:pt x="117" y="184"/>
                  <a:pt x="105" y="186"/>
                  <a:pt x="93" y="186"/>
                </a:cubicBezTo>
                <a:cubicBezTo>
                  <a:pt x="81" y="186"/>
                  <a:pt x="69" y="184"/>
                  <a:pt x="57" y="179"/>
                </a:cubicBezTo>
                <a:cubicBezTo>
                  <a:pt x="46" y="174"/>
                  <a:pt x="36" y="168"/>
                  <a:pt x="27" y="159"/>
                </a:cubicBezTo>
                <a:cubicBezTo>
                  <a:pt x="19" y="150"/>
                  <a:pt x="12" y="140"/>
                  <a:pt x="7" y="128"/>
                </a:cubicBezTo>
                <a:cubicBezTo>
                  <a:pt x="3" y="117"/>
                  <a:pt x="0" y="105"/>
                  <a:pt x="0" y="93"/>
                </a:cubicBezTo>
                <a:cubicBezTo>
                  <a:pt x="0" y="80"/>
                  <a:pt x="3" y="68"/>
                  <a:pt x="7" y="57"/>
                </a:cubicBezTo>
                <a:cubicBezTo>
                  <a:pt x="12" y="46"/>
                  <a:pt x="19" y="36"/>
                  <a:pt x="27" y="27"/>
                </a:cubicBezTo>
                <a:cubicBezTo>
                  <a:pt x="36" y="18"/>
                  <a:pt x="46" y="12"/>
                  <a:pt x="57" y="7"/>
                </a:cubicBezTo>
                <a:cubicBezTo>
                  <a:pt x="69" y="2"/>
                  <a:pt x="81" y="0"/>
                  <a:pt x="93" y="0"/>
                </a:cubicBezTo>
                <a:cubicBezTo>
                  <a:pt x="105" y="0"/>
                  <a:pt x="117" y="2"/>
                  <a:pt x="128" y="7"/>
                </a:cubicBezTo>
                <a:cubicBezTo>
                  <a:pt x="140" y="12"/>
                  <a:pt x="150" y="18"/>
                  <a:pt x="158" y="27"/>
                </a:cubicBezTo>
                <a:cubicBezTo>
                  <a:pt x="167" y="36"/>
                  <a:pt x="175" y="46"/>
                  <a:pt x="179" y="57"/>
                </a:cubicBezTo>
                <a:cubicBezTo>
                  <a:pt x="184" y="68"/>
                  <a:pt x="186" y="80"/>
                  <a:pt x="186" y="93"/>
                </a:cubicBezTo>
                <a:close/>
              </a:path>
            </a:pathLst>
          </a:custGeom>
          <a:solidFill>
            <a:srgbClr val="0a53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21" name=""/>
          <p:cNvSpPr txBox="1"/>
          <p:nvPr/>
        </p:nvSpPr>
        <p:spPr>
          <a:xfrm>
            <a:off x="1168200" y="3804120"/>
            <a:ext cx="420192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Methods that transcend empirical research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2" name=""/>
          <p:cNvSpPr txBox="1"/>
          <p:nvPr/>
        </p:nvSpPr>
        <p:spPr>
          <a:xfrm>
            <a:off x="1168200" y="4156560"/>
            <a:ext cx="434376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Cultivation of awareness about fundamental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3" name=""/>
          <p:cNvSpPr txBox="1"/>
          <p:nvPr/>
        </p:nvSpPr>
        <p:spPr>
          <a:xfrm>
            <a:off x="1168200" y="4461120"/>
            <a:ext cx="124992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assumptions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4" name=""/>
          <p:cNvSpPr txBox="1"/>
          <p:nvPr/>
        </p:nvSpPr>
        <p:spPr>
          <a:xfrm>
            <a:off x="1238400" y="6405120"/>
            <a:ext cx="1046520" cy="155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05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SEAtS | 080172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5" name=""/>
          <p:cNvSpPr txBox="1"/>
          <p:nvPr/>
        </p:nvSpPr>
        <p:spPr>
          <a:xfrm>
            <a:off x="762120" y="-8280"/>
            <a:ext cx="10326240" cy="718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48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Methodology: How Philosophy of</a:t>
            </a:r>
            <a:endParaRPr b="0" lang="en-US" sz="4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6" name=""/>
          <p:cNvSpPr/>
          <p:nvPr/>
        </p:nvSpPr>
        <p:spPr>
          <a:xfrm>
            <a:off x="6938640" y="2414520"/>
            <a:ext cx="4486680" cy="2762640"/>
          </a:xfrm>
          <a:custGeom>
            <a:avLst/>
            <a:gdLst/>
            <a:ahLst/>
            <a:rect l="0" t="0" r="r" b="b"/>
            <a:pathLst>
              <a:path w="12463" h="7674">
                <a:moveTo>
                  <a:pt x="0" y="7528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7"/>
                  <a:pt x="8" y="98"/>
                  <a:pt x="11" y="90"/>
                </a:cubicBezTo>
                <a:cubicBezTo>
                  <a:pt x="15" y="81"/>
                  <a:pt x="20" y="72"/>
                  <a:pt x="25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50" y="36"/>
                  <a:pt x="57" y="30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8" y="2"/>
                </a:cubicBezTo>
                <a:cubicBezTo>
                  <a:pt x="127" y="1"/>
                  <a:pt x="136" y="0"/>
                  <a:pt x="146" y="0"/>
                </a:cubicBezTo>
                <a:lnTo>
                  <a:pt x="12318" y="0"/>
                </a:lnTo>
                <a:cubicBezTo>
                  <a:pt x="12327" y="0"/>
                  <a:pt x="12337" y="1"/>
                  <a:pt x="12346" y="2"/>
                </a:cubicBezTo>
                <a:cubicBezTo>
                  <a:pt x="12356" y="4"/>
                  <a:pt x="12365" y="7"/>
                  <a:pt x="12373" y="11"/>
                </a:cubicBezTo>
                <a:cubicBezTo>
                  <a:pt x="12382" y="14"/>
                  <a:pt x="12391" y="19"/>
                  <a:pt x="12399" y="24"/>
                </a:cubicBezTo>
                <a:cubicBezTo>
                  <a:pt x="12407" y="30"/>
                  <a:pt x="12414" y="36"/>
                  <a:pt x="12421" y="42"/>
                </a:cubicBezTo>
                <a:cubicBezTo>
                  <a:pt x="12427" y="49"/>
                  <a:pt x="12433" y="56"/>
                  <a:pt x="12439" y="64"/>
                </a:cubicBezTo>
                <a:cubicBezTo>
                  <a:pt x="12444" y="72"/>
                  <a:pt x="12449" y="81"/>
                  <a:pt x="12452" y="90"/>
                </a:cubicBezTo>
                <a:cubicBezTo>
                  <a:pt x="12456" y="98"/>
                  <a:pt x="12459" y="107"/>
                  <a:pt x="12460" y="117"/>
                </a:cubicBezTo>
                <a:cubicBezTo>
                  <a:pt x="12462" y="126"/>
                  <a:pt x="12463" y="136"/>
                  <a:pt x="12463" y="145"/>
                </a:cubicBezTo>
                <a:lnTo>
                  <a:pt x="12463" y="7528"/>
                </a:lnTo>
                <a:cubicBezTo>
                  <a:pt x="12463" y="7538"/>
                  <a:pt x="12462" y="7547"/>
                  <a:pt x="12460" y="7556"/>
                </a:cubicBezTo>
                <a:cubicBezTo>
                  <a:pt x="12459" y="7566"/>
                  <a:pt x="12456" y="7575"/>
                  <a:pt x="12452" y="7584"/>
                </a:cubicBezTo>
                <a:cubicBezTo>
                  <a:pt x="12449" y="7593"/>
                  <a:pt x="12444" y="7601"/>
                  <a:pt x="12439" y="7609"/>
                </a:cubicBezTo>
                <a:cubicBezTo>
                  <a:pt x="12433" y="7617"/>
                  <a:pt x="12427" y="7624"/>
                  <a:pt x="12421" y="7631"/>
                </a:cubicBezTo>
                <a:cubicBezTo>
                  <a:pt x="12414" y="7638"/>
                  <a:pt x="12407" y="7644"/>
                  <a:pt x="12399" y="7649"/>
                </a:cubicBezTo>
                <a:cubicBezTo>
                  <a:pt x="12391" y="7654"/>
                  <a:pt x="12382" y="7659"/>
                  <a:pt x="12373" y="7663"/>
                </a:cubicBezTo>
                <a:cubicBezTo>
                  <a:pt x="12365" y="7666"/>
                  <a:pt x="12356" y="7669"/>
                  <a:pt x="12346" y="7671"/>
                </a:cubicBezTo>
                <a:cubicBezTo>
                  <a:pt x="12337" y="7673"/>
                  <a:pt x="12327" y="7674"/>
                  <a:pt x="12318" y="7674"/>
                </a:cubicBezTo>
                <a:lnTo>
                  <a:pt x="146" y="7674"/>
                </a:lnTo>
                <a:cubicBezTo>
                  <a:pt x="136" y="7674"/>
                  <a:pt x="127" y="7673"/>
                  <a:pt x="118" y="7671"/>
                </a:cubicBezTo>
                <a:cubicBezTo>
                  <a:pt x="108" y="7669"/>
                  <a:pt x="99" y="7666"/>
                  <a:pt x="90" y="7663"/>
                </a:cubicBezTo>
                <a:cubicBezTo>
                  <a:pt x="81" y="7659"/>
                  <a:pt x="73" y="7654"/>
                  <a:pt x="65" y="7649"/>
                </a:cubicBezTo>
                <a:cubicBezTo>
                  <a:pt x="57" y="7644"/>
                  <a:pt x="50" y="7638"/>
                  <a:pt x="43" y="7631"/>
                </a:cubicBezTo>
                <a:cubicBezTo>
                  <a:pt x="36" y="7624"/>
                  <a:pt x="30" y="7617"/>
                  <a:pt x="25" y="7609"/>
                </a:cubicBezTo>
                <a:cubicBezTo>
                  <a:pt x="20" y="7601"/>
                  <a:pt x="15" y="7593"/>
                  <a:pt x="11" y="7584"/>
                </a:cubicBezTo>
                <a:cubicBezTo>
                  <a:pt x="8" y="7575"/>
                  <a:pt x="5" y="7566"/>
                  <a:pt x="3" y="7556"/>
                </a:cubicBezTo>
                <a:cubicBezTo>
                  <a:pt x="1" y="7547"/>
                  <a:pt x="0" y="7538"/>
                  <a:pt x="0" y="7528"/>
                </a:cubicBezTo>
                <a:close/>
              </a:path>
            </a:pathLst>
          </a:custGeom>
          <a:solidFill>
            <a:srgbClr val="ede8f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7" name=""/>
          <p:cNvSpPr/>
          <p:nvPr/>
        </p:nvSpPr>
        <p:spPr>
          <a:xfrm>
            <a:off x="6938640" y="2414520"/>
            <a:ext cx="4486680" cy="2762640"/>
          </a:xfrm>
          <a:custGeom>
            <a:avLst/>
            <a:gdLst/>
            <a:ahLst/>
            <a:rect l="0" t="0" r="r" b="b"/>
            <a:pathLst>
              <a:path fill="none" w="12463" h="7674">
                <a:moveTo>
                  <a:pt x="0" y="7528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7"/>
                  <a:pt x="8" y="98"/>
                  <a:pt x="11" y="90"/>
                </a:cubicBezTo>
                <a:cubicBezTo>
                  <a:pt x="15" y="81"/>
                  <a:pt x="20" y="72"/>
                  <a:pt x="25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50" y="36"/>
                  <a:pt x="57" y="30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8" y="2"/>
                </a:cubicBezTo>
                <a:cubicBezTo>
                  <a:pt x="127" y="1"/>
                  <a:pt x="136" y="0"/>
                  <a:pt x="146" y="0"/>
                </a:cubicBezTo>
                <a:lnTo>
                  <a:pt x="12318" y="0"/>
                </a:lnTo>
                <a:cubicBezTo>
                  <a:pt x="12327" y="0"/>
                  <a:pt x="12337" y="1"/>
                  <a:pt x="12346" y="2"/>
                </a:cubicBezTo>
                <a:cubicBezTo>
                  <a:pt x="12356" y="4"/>
                  <a:pt x="12365" y="7"/>
                  <a:pt x="12373" y="11"/>
                </a:cubicBezTo>
                <a:cubicBezTo>
                  <a:pt x="12382" y="14"/>
                  <a:pt x="12391" y="19"/>
                  <a:pt x="12399" y="24"/>
                </a:cubicBezTo>
                <a:cubicBezTo>
                  <a:pt x="12407" y="30"/>
                  <a:pt x="12414" y="36"/>
                  <a:pt x="12421" y="42"/>
                </a:cubicBezTo>
                <a:cubicBezTo>
                  <a:pt x="12427" y="49"/>
                  <a:pt x="12433" y="56"/>
                  <a:pt x="12439" y="64"/>
                </a:cubicBezTo>
                <a:cubicBezTo>
                  <a:pt x="12444" y="72"/>
                  <a:pt x="12449" y="81"/>
                  <a:pt x="12452" y="90"/>
                </a:cubicBezTo>
                <a:cubicBezTo>
                  <a:pt x="12456" y="98"/>
                  <a:pt x="12459" y="107"/>
                  <a:pt x="12460" y="117"/>
                </a:cubicBezTo>
                <a:cubicBezTo>
                  <a:pt x="12462" y="126"/>
                  <a:pt x="12463" y="136"/>
                  <a:pt x="12463" y="145"/>
                </a:cubicBezTo>
                <a:lnTo>
                  <a:pt x="12463" y="7528"/>
                </a:lnTo>
                <a:cubicBezTo>
                  <a:pt x="12463" y="7538"/>
                  <a:pt x="12462" y="7547"/>
                  <a:pt x="12460" y="7556"/>
                </a:cubicBezTo>
                <a:cubicBezTo>
                  <a:pt x="12459" y="7566"/>
                  <a:pt x="12456" y="7575"/>
                  <a:pt x="12452" y="7584"/>
                </a:cubicBezTo>
                <a:cubicBezTo>
                  <a:pt x="12449" y="7593"/>
                  <a:pt x="12444" y="7601"/>
                  <a:pt x="12439" y="7609"/>
                </a:cubicBezTo>
                <a:cubicBezTo>
                  <a:pt x="12433" y="7617"/>
                  <a:pt x="12427" y="7624"/>
                  <a:pt x="12421" y="7631"/>
                </a:cubicBezTo>
                <a:cubicBezTo>
                  <a:pt x="12414" y="7638"/>
                  <a:pt x="12407" y="7644"/>
                  <a:pt x="12399" y="7649"/>
                </a:cubicBezTo>
                <a:cubicBezTo>
                  <a:pt x="12391" y="7654"/>
                  <a:pt x="12382" y="7659"/>
                  <a:pt x="12373" y="7663"/>
                </a:cubicBezTo>
                <a:cubicBezTo>
                  <a:pt x="12365" y="7666"/>
                  <a:pt x="12356" y="7669"/>
                  <a:pt x="12346" y="7671"/>
                </a:cubicBezTo>
                <a:cubicBezTo>
                  <a:pt x="12337" y="7673"/>
                  <a:pt x="12327" y="7674"/>
                  <a:pt x="12318" y="7674"/>
                </a:cubicBezTo>
                <a:lnTo>
                  <a:pt x="146" y="7674"/>
                </a:lnTo>
                <a:cubicBezTo>
                  <a:pt x="136" y="7674"/>
                  <a:pt x="127" y="7673"/>
                  <a:pt x="118" y="7671"/>
                </a:cubicBezTo>
                <a:cubicBezTo>
                  <a:pt x="108" y="7669"/>
                  <a:pt x="99" y="7666"/>
                  <a:pt x="90" y="7663"/>
                </a:cubicBezTo>
                <a:cubicBezTo>
                  <a:pt x="81" y="7659"/>
                  <a:pt x="73" y="7654"/>
                  <a:pt x="65" y="7649"/>
                </a:cubicBezTo>
                <a:cubicBezTo>
                  <a:pt x="57" y="7644"/>
                  <a:pt x="50" y="7638"/>
                  <a:pt x="43" y="7631"/>
                </a:cubicBezTo>
                <a:cubicBezTo>
                  <a:pt x="36" y="7624"/>
                  <a:pt x="30" y="7617"/>
                  <a:pt x="25" y="7609"/>
                </a:cubicBezTo>
                <a:cubicBezTo>
                  <a:pt x="20" y="7601"/>
                  <a:pt x="15" y="7593"/>
                  <a:pt x="11" y="7584"/>
                </a:cubicBezTo>
                <a:cubicBezTo>
                  <a:pt x="8" y="7575"/>
                  <a:pt x="5" y="7566"/>
                  <a:pt x="3" y="7556"/>
                </a:cubicBezTo>
                <a:cubicBezTo>
                  <a:pt x="1" y="7547"/>
                  <a:pt x="0" y="7538"/>
                  <a:pt x="0" y="7528"/>
                </a:cubicBezTo>
              </a:path>
            </a:pathLst>
          </a:custGeom>
          <a:ln w="9360">
            <a:solidFill>
              <a:srgbClr val="c9b9f8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8" name=""/>
          <p:cNvSpPr txBox="1"/>
          <p:nvPr/>
        </p:nvSpPr>
        <p:spPr>
          <a:xfrm>
            <a:off x="762120" y="753480"/>
            <a:ext cx="4335480" cy="718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48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Design Works</a:t>
            </a:r>
            <a:endParaRPr b="0" lang="en-US" sz="4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9" name=""/>
          <p:cNvSpPr txBox="1"/>
          <p:nvPr/>
        </p:nvSpPr>
        <p:spPr>
          <a:xfrm>
            <a:off x="7094160" y="2617920"/>
            <a:ext cx="2129040" cy="2808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87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Why This Matters</a:t>
            </a:r>
            <a:endParaRPr b="0" lang="en-US" sz="187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0" name=""/>
          <p:cNvSpPr txBox="1"/>
          <p:nvPr/>
        </p:nvSpPr>
        <p:spPr>
          <a:xfrm>
            <a:off x="7094160" y="3080880"/>
            <a:ext cx="395316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Empirical design research (protocol analysis,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1" name=""/>
          <p:cNvSpPr txBox="1"/>
          <p:nvPr/>
        </p:nvSpPr>
        <p:spPr>
          <a:xfrm>
            <a:off x="7094160" y="3357000"/>
            <a:ext cx="345744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user studies, etc.) cannot answer these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2" name=""/>
          <p:cNvSpPr txBox="1"/>
          <p:nvPr/>
        </p:nvSpPr>
        <p:spPr>
          <a:xfrm>
            <a:off x="7094160" y="3633120"/>
            <a:ext cx="209916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fundamental questions.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3" name=""/>
          <p:cNvSpPr txBox="1"/>
          <p:nvPr/>
        </p:nvSpPr>
        <p:spPr>
          <a:xfrm>
            <a:off x="7094160" y="3957120"/>
            <a:ext cx="415908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Protocol analysis won't tell you whether design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4" name=""/>
          <p:cNvSpPr txBox="1"/>
          <p:nvPr/>
        </p:nvSpPr>
        <p:spPr>
          <a:xfrm>
            <a:off x="7094160" y="4233240"/>
            <a:ext cx="381672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is possible without artefacts—that requires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5" name=""/>
          <p:cNvSpPr txBox="1"/>
          <p:nvPr/>
        </p:nvSpPr>
        <p:spPr>
          <a:xfrm>
            <a:off x="7094160" y="4509360"/>
            <a:ext cx="421992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philosophical reﬂection on the nature of design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6" name=""/>
          <p:cNvSpPr txBox="1"/>
          <p:nvPr/>
        </p:nvSpPr>
        <p:spPr>
          <a:xfrm>
            <a:off x="7094160" y="4785840"/>
            <a:ext cx="49500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itself.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7" name=""/>
          <p:cNvSpPr/>
          <p:nvPr/>
        </p:nvSpPr>
        <p:spPr>
          <a:xfrm>
            <a:off x="685440" y="6343560"/>
            <a:ext cx="381600" cy="304920"/>
          </a:xfrm>
          <a:custGeom>
            <a:avLst/>
            <a:gdLst/>
            <a:ahLst/>
            <a:rect l="0" t="0" r="r" b="b"/>
            <a:pathLst>
              <a:path w="1060" h="847">
                <a:moveTo>
                  <a:pt x="0" y="423"/>
                </a:moveTo>
                <a:cubicBezTo>
                  <a:pt x="0" y="395"/>
                  <a:pt x="3" y="368"/>
                  <a:pt x="9" y="340"/>
                </a:cubicBezTo>
                <a:cubicBezTo>
                  <a:pt x="14" y="313"/>
                  <a:pt x="22" y="287"/>
                  <a:pt x="33" y="261"/>
                </a:cubicBezTo>
                <a:cubicBezTo>
                  <a:pt x="43" y="235"/>
                  <a:pt x="56" y="211"/>
                  <a:pt x="72" y="188"/>
                </a:cubicBezTo>
                <a:cubicBezTo>
                  <a:pt x="87" y="165"/>
                  <a:pt x="105" y="143"/>
                  <a:pt x="124" y="124"/>
                </a:cubicBezTo>
                <a:cubicBezTo>
                  <a:pt x="144" y="104"/>
                  <a:pt x="166" y="87"/>
                  <a:pt x="189" y="71"/>
                </a:cubicBezTo>
                <a:cubicBezTo>
                  <a:pt x="212" y="56"/>
                  <a:pt x="236" y="43"/>
                  <a:pt x="262" y="32"/>
                </a:cubicBezTo>
                <a:cubicBezTo>
                  <a:pt x="288" y="21"/>
                  <a:pt x="314" y="13"/>
                  <a:pt x="341" y="8"/>
                </a:cubicBezTo>
                <a:cubicBezTo>
                  <a:pt x="369" y="2"/>
                  <a:pt x="396" y="0"/>
                  <a:pt x="424" y="0"/>
                </a:cubicBezTo>
                <a:lnTo>
                  <a:pt x="635" y="0"/>
                </a:lnTo>
                <a:cubicBezTo>
                  <a:pt x="663" y="0"/>
                  <a:pt x="691" y="2"/>
                  <a:pt x="718" y="8"/>
                </a:cubicBezTo>
                <a:cubicBezTo>
                  <a:pt x="746" y="13"/>
                  <a:pt x="773" y="21"/>
                  <a:pt x="799" y="32"/>
                </a:cubicBezTo>
                <a:cubicBezTo>
                  <a:pt x="824" y="43"/>
                  <a:pt x="849" y="56"/>
                  <a:pt x="872" y="71"/>
                </a:cubicBezTo>
                <a:cubicBezTo>
                  <a:pt x="895" y="87"/>
                  <a:pt x="916" y="104"/>
                  <a:pt x="936" y="124"/>
                </a:cubicBezTo>
                <a:cubicBezTo>
                  <a:pt x="955" y="143"/>
                  <a:pt x="973" y="165"/>
                  <a:pt x="988" y="188"/>
                </a:cubicBezTo>
                <a:cubicBezTo>
                  <a:pt x="1004" y="211"/>
                  <a:pt x="1017" y="235"/>
                  <a:pt x="1028" y="261"/>
                </a:cubicBezTo>
                <a:cubicBezTo>
                  <a:pt x="1038" y="287"/>
                  <a:pt x="1046" y="313"/>
                  <a:pt x="1052" y="340"/>
                </a:cubicBezTo>
                <a:cubicBezTo>
                  <a:pt x="1057" y="368"/>
                  <a:pt x="1060" y="395"/>
                  <a:pt x="1060" y="423"/>
                </a:cubicBezTo>
                <a:cubicBezTo>
                  <a:pt x="1060" y="451"/>
                  <a:pt x="1057" y="478"/>
                  <a:pt x="1052" y="506"/>
                </a:cubicBezTo>
                <a:cubicBezTo>
                  <a:pt x="1046" y="533"/>
                  <a:pt x="1038" y="559"/>
                  <a:pt x="1028" y="586"/>
                </a:cubicBezTo>
                <a:cubicBezTo>
                  <a:pt x="1017" y="612"/>
                  <a:pt x="1004" y="636"/>
                  <a:pt x="988" y="659"/>
                </a:cubicBezTo>
                <a:cubicBezTo>
                  <a:pt x="973" y="682"/>
                  <a:pt x="955" y="704"/>
                  <a:pt x="936" y="723"/>
                </a:cubicBezTo>
                <a:cubicBezTo>
                  <a:pt x="916" y="743"/>
                  <a:pt x="895" y="761"/>
                  <a:pt x="872" y="776"/>
                </a:cubicBezTo>
                <a:cubicBezTo>
                  <a:pt x="849" y="792"/>
                  <a:pt x="824" y="805"/>
                  <a:pt x="799" y="815"/>
                </a:cubicBezTo>
                <a:cubicBezTo>
                  <a:pt x="773" y="826"/>
                  <a:pt x="746" y="834"/>
                  <a:pt x="718" y="839"/>
                </a:cubicBezTo>
                <a:cubicBezTo>
                  <a:pt x="691" y="845"/>
                  <a:pt x="663" y="847"/>
                  <a:pt x="635" y="847"/>
                </a:cubicBezTo>
                <a:lnTo>
                  <a:pt x="424" y="847"/>
                </a:lnTo>
                <a:cubicBezTo>
                  <a:pt x="396" y="847"/>
                  <a:pt x="369" y="845"/>
                  <a:pt x="341" y="839"/>
                </a:cubicBezTo>
                <a:cubicBezTo>
                  <a:pt x="314" y="834"/>
                  <a:pt x="288" y="826"/>
                  <a:pt x="262" y="815"/>
                </a:cubicBezTo>
                <a:cubicBezTo>
                  <a:pt x="236" y="805"/>
                  <a:pt x="212" y="792"/>
                  <a:pt x="189" y="776"/>
                </a:cubicBezTo>
                <a:cubicBezTo>
                  <a:pt x="166" y="761"/>
                  <a:pt x="144" y="743"/>
                  <a:pt x="124" y="723"/>
                </a:cubicBezTo>
                <a:cubicBezTo>
                  <a:pt x="105" y="704"/>
                  <a:pt x="87" y="682"/>
                  <a:pt x="72" y="659"/>
                </a:cubicBezTo>
                <a:cubicBezTo>
                  <a:pt x="56" y="636"/>
                  <a:pt x="43" y="612"/>
                  <a:pt x="33" y="586"/>
                </a:cubicBezTo>
                <a:cubicBezTo>
                  <a:pt x="22" y="559"/>
                  <a:pt x="14" y="533"/>
                  <a:pt x="9" y="506"/>
                </a:cubicBezTo>
                <a:cubicBezTo>
                  <a:pt x="3" y="478"/>
                  <a:pt x="0" y="451"/>
                  <a:pt x="0" y="423"/>
                </a:cubicBezTo>
                <a:close/>
              </a:path>
            </a:pathLst>
          </a:custGeom>
          <a:solidFill>
            <a:srgbClr val="ffffff">
              <a:alpha val="74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8" name=""/>
          <p:cNvSpPr txBox="1"/>
          <p:nvPr/>
        </p:nvSpPr>
        <p:spPr>
          <a:xfrm>
            <a:off x="1238400" y="6569280"/>
            <a:ext cx="3390120" cy="12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800" strike="noStrike" u="none">
                <a:solidFill>
                  <a:srgbClr val="a6a6a6"/>
                </a:solidFill>
                <a:effectLst/>
                <a:uFillTx/>
                <a:latin typeface="LucidaGrande"/>
                <a:ea typeface="LucidaGrande"/>
              </a:rPr>
              <a:t>Version: GITREVISION | © 22.09.2026 University of Southampton</a:t>
            </a:r>
            <a:endParaRPr b="0" lang="en-US" sz="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9" name=""/>
          <p:cNvSpPr txBox="1"/>
          <p:nvPr/>
        </p:nvSpPr>
        <p:spPr>
          <a:xfrm>
            <a:off x="762120" y="6390720"/>
            <a:ext cx="226080" cy="21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13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243" name="" descr=""/>
          <p:cNvPicPr/>
          <p:nvPr/>
        </p:nvPicPr>
        <p:blipFill>
          <a:blip r:embed="rId1"/>
          <a:stretch/>
        </p:blipFill>
        <p:spPr>
          <a:xfrm>
            <a:off x="10134720" y="5981760"/>
            <a:ext cx="1904760" cy="1065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44" name=""/>
          <p:cNvSpPr/>
          <p:nvPr/>
        </p:nvSpPr>
        <p:spPr>
          <a:xfrm>
            <a:off x="761760" y="1380960"/>
            <a:ext cx="10668240" cy="5477040"/>
          </a:xfrm>
          <a:custGeom>
            <a:avLst/>
            <a:gdLst/>
            <a:ahLst/>
            <a:rect l="0" t="0" r="r" b="b"/>
            <a:pathLst>
              <a:path w="29634" h="15214">
                <a:moveTo>
                  <a:pt x="0" y="0"/>
                </a:moveTo>
                <a:lnTo>
                  <a:pt x="29634" y="0"/>
                </a:lnTo>
                <a:lnTo>
                  <a:pt x="29634" y="15214"/>
                </a:lnTo>
                <a:lnTo>
                  <a:pt x="0" y="15214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245" name="" descr=""/>
          <p:cNvPicPr/>
          <p:nvPr/>
        </p:nvPicPr>
        <p:blipFill>
          <a:blip r:embed="rId2"/>
          <a:stretch/>
        </p:blipFill>
        <p:spPr>
          <a:xfrm>
            <a:off x="5753160" y="4686120"/>
            <a:ext cx="685440" cy="685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46" name=""/>
          <p:cNvSpPr txBox="1"/>
          <p:nvPr/>
        </p:nvSpPr>
        <p:spPr>
          <a:xfrm>
            <a:off x="1238400" y="6405120"/>
            <a:ext cx="1046520" cy="155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05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SEAtS | 080172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7" name=""/>
          <p:cNvSpPr txBox="1"/>
          <p:nvPr/>
        </p:nvSpPr>
        <p:spPr>
          <a:xfrm>
            <a:off x="762120" y="372600"/>
            <a:ext cx="3542040" cy="718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48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Motiviation</a:t>
            </a:r>
            <a:endParaRPr b="0" lang="en-US" sz="4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8" name=""/>
          <p:cNvSpPr/>
          <p:nvPr/>
        </p:nvSpPr>
        <p:spPr>
          <a:xfrm>
            <a:off x="685440" y="6343560"/>
            <a:ext cx="381600" cy="304920"/>
          </a:xfrm>
          <a:custGeom>
            <a:avLst/>
            <a:gdLst/>
            <a:ahLst/>
            <a:rect l="0" t="0" r="r" b="b"/>
            <a:pathLst>
              <a:path w="1060" h="847">
                <a:moveTo>
                  <a:pt x="0" y="423"/>
                </a:moveTo>
                <a:cubicBezTo>
                  <a:pt x="0" y="395"/>
                  <a:pt x="3" y="368"/>
                  <a:pt x="9" y="340"/>
                </a:cubicBezTo>
                <a:cubicBezTo>
                  <a:pt x="14" y="313"/>
                  <a:pt x="22" y="287"/>
                  <a:pt x="33" y="261"/>
                </a:cubicBezTo>
                <a:cubicBezTo>
                  <a:pt x="43" y="235"/>
                  <a:pt x="56" y="211"/>
                  <a:pt x="72" y="188"/>
                </a:cubicBezTo>
                <a:cubicBezTo>
                  <a:pt x="87" y="165"/>
                  <a:pt x="105" y="143"/>
                  <a:pt x="124" y="124"/>
                </a:cubicBezTo>
                <a:cubicBezTo>
                  <a:pt x="144" y="104"/>
                  <a:pt x="166" y="87"/>
                  <a:pt x="189" y="71"/>
                </a:cubicBezTo>
                <a:cubicBezTo>
                  <a:pt x="212" y="56"/>
                  <a:pt x="236" y="43"/>
                  <a:pt x="262" y="32"/>
                </a:cubicBezTo>
                <a:cubicBezTo>
                  <a:pt x="288" y="21"/>
                  <a:pt x="314" y="13"/>
                  <a:pt x="341" y="8"/>
                </a:cubicBezTo>
                <a:cubicBezTo>
                  <a:pt x="369" y="2"/>
                  <a:pt x="396" y="0"/>
                  <a:pt x="424" y="0"/>
                </a:cubicBezTo>
                <a:lnTo>
                  <a:pt x="635" y="0"/>
                </a:lnTo>
                <a:cubicBezTo>
                  <a:pt x="663" y="0"/>
                  <a:pt x="691" y="2"/>
                  <a:pt x="718" y="8"/>
                </a:cubicBezTo>
                <a:cubicBezTo>
                  <a:pt x="746" y="13"/>
                  <a:pt x="773" y="21"/>
                  <a:pt x="799" y="32"/>
                </a:cubicBezTo>
                <a:cubicBezTo>
                  <a:pt x="824" y="43"/>
                  <a:pt x="849" y="56"/>
                  <a:pt x="872" y="71"/>
                </a:cubicBezTo>
                <a:cubicBezTo>
                  <a:pt x="895" y="87"/>
                  <a:pt x="916" y="104"/>
                  <a:pt x="936" y="124"/>
                </a:cubicBezTo>
                <a:cubicBezTo>
                  <a:pt x="955" y="143"/>
                  <a:pt x="973" y="165"/>
                  <a:pt x="988" y="188"/>
                </a:cubicBezTo>
                <a:cubicBezTo>
                  <a:pt x="1004" y="211"/>
                  <a:pt x="1017" y="235"/>
                  <a:pt x="1028" y="261"/>
                </a:cubicBezTo>
                <a:cubicBezTo>
                  <a:pt x="1038" y="287"/>
                  <a:pt x="1046" y="313"/>
                  <a:pt x="1052" y="340"/>
                </a:cubicBezTo>
                <a:cubicBezTo>
                  <a:pt x="1057" y="368"/>
                  <a:pt x="1060" y="395"/>
                  <a:pt x="1060" y="423"/>
                </a:cubicBezTo>
                <a:cubicBezTo>
                  <a:pt x="1060" y="451"/>
                  <a:pt x="1057" y="478"/>
                  <a:pt x="1052" y="506"/>
                </a:cubicBezTo>
                <a:cubicBezTo>
                  <a:pt x="1046" y="533"/>
                  <a:pt x="1038" y="559"/>
                  <a:pt x="1028" y="586"/>
                </a:cubicBezTo>
                <a:cubicBezTo>
                  <a:pt x="1017" y="612"/>
                  <a:pt x="1004" y="636"/>
                  <a:pt x="988" y="659"/>
                </a:cubicBezTo>
                <a:cubicBezTo>
                  <a:pt x="973" y="682"/>
                  <a:pt x="955" y="704"/>
                  <a:pt x="936" y="723"/>
                </a:cubicBezTo>
                <a:cubicBezTo>
                  <a:pt x="916" y="743"/>
                  <a:pt x="895" y="761"/>
                  <a:pt x="872" y="776"/>
                </a:cubicBezTo>
                <a:cubicBezTo>
                  <a:pt x="849" y="792"/>
                  <a:pt x="824" y="805"/>
                  <a:pt x="799" y="815"/>
                </a:cubicBezTo>
                <a:cubicBezTo>
                  <a:pt x="773" y="826"/>
                  <a:pt x="746" y="834"/>
                  <a:pt x="718" y="839"/>
                </a:cubicBezTo>
                <a:cubicBezTo>
                  <a:pt x="691" y="845"/>
                  <a:pt x="663" y="847"/>
                  <a:pt x="635" y="847"/>
                </a:cubicBezTo>
                <a:lnTo>
                  <a:pt x="424" y="847"/>
                </a:lnTo>
                <a:cubicBezTo>
                  <a:pt x="396" y="847"/>
                  <a:pt x="369" y="845"/>
                  <a:pt x="341" y="839"/>
                </a:cubicBezTo>
                <a:cubicBezTo>
                  <a:pt x="314" y="834"/>
                  <a:pt x="288" y="826"/>
                  <a:pt x="262" y="815"/>
                </a:cubicBezTo>
                <a:cubicBezTo>
                  <a:pt x="236" y="805"/>
                  <a:pt x="212" y="792"/>
                  <a:pt x="189" y="776"/>
                </a:cubicBezTo>
                <a:cubicBezTo>
                  <a:pt x="166" y="761"/>
                  <a:pt x="144" y="743"/>
                  <a:pt x="124" y="723"/>
                </a:cubicBezTo>
                <a:cubicBezTo>
                  <a:pt x="105" y="704"/>
                  <a:pt x="87" y="682"/>
                  <a:pt x="72" y="659"/>
                </a:cubicBezTo>
                <a:cubicBezTo>
                  <a:pt x="56" y="636"/>
                  <a:pt x="43" y="612"/>
                  <a:pt x="33" y="586"/>
                </a:cubicBezTo>
                <a:cubicBezTo>
                  <a:pt x="22" y="559"/>
                  <a:pt x="14" y="533"/>
                  <a:pt x="9" y="506"/>
                </a:cubicBezTo>
                <a:cubicBezTo>
                  <a:pt x="3" y="478"/>
                  <a:pt x="0" y="451"/>
                  <a:pt x="0" y="423"/>
                </a:cubicBezTo>
                <a:close/>
              </a:path>
            </a:pathLst>
          </a:custGeom>
          <a:solidFill>
            <a:srgbClr val="ffffff">
              <a:alpha val="74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9" name=""/>
          <p:cNvSpPr txBox="1"/>
          <p:nvPr/>
        </p:nvSpPr>
        <p:spPr>
          <a:xfrm>
            <a:off x="1238400" y="6569280"/>
            <a:ext cx="3390120" cy="12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800" strike="noStrike" u="none">
                <a:solidFill>
                  <a:srgbClr val="a6a6a6"/>
                </a:solidFill>
                <a:effectLst/>
                <a:uFillTx/>
                <a:latin typeface="LucidaGrande"/>
                <a:ea typeface="LucidaGrande"/>
              </a:rPr>
              <a:t>Version: GITREVISION | © 22.09.2026 University of Southampton</a:t>
            </a:r>
            <a:endParaRPr b="0" lang="en-US" sz="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0" name=""/>
          <p:cNvSpPr txBox="1"/>
          <p:nvPr/>
        </p:nvSpPr>
        <p:spPr>
          <a:xfrm>
            <a:off x="762120" y="6390720"/>
            <a:ext cx="226080" cy="21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14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254" name="" descr=""/>
          <p:cNvPicPr/>
          <p:nvPr/>
        </p:nvPicPr>
        <p:blipFill>
          <a:blip r:embed="rId1"/>
          <a:stretch/>
        </p:blipFill>
        <p:spPr>
          <a:xfrm>
            <a:off x="10134720" y="5981760"/>
            <a:ext cx="1904760" cy="1065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55" name=""/>
          <p:cNvSpPr txBox="1"/>
          <p:nvPr/>
        </p:nvSpPr>
        <p:spPr>
          <a:xfrm>
            <a:off x="1238400" y="6405120"/>
            <a:ext cx="1046520" cy="155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05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SEAtS | 080172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6" name=""/>
          <p:cNvSpPr txBox="1"/>
          <p:nvPr/>
        </p:nvSpPr>
        <p:spPr>
          <a:xfrm>
            <a:off x="762120" y="-8280"/>
            <a:ext cx="8191800" cy="718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48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Why Philosophy of Design</a:t>
            </a:r>
            <a:endParaRPr b="0" lang="en-US" sz="4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7" name=""/>
          <p:cNvSpPr/>
          <p:nvPr/>
        </p:nvSpPr>
        <p:spPr>
          <a:xfrm>
            <a:off x="766440" y="1500120"/>
            <a:ext cx="5277240" cy="2562480"/>
          </a:xfrm>
          <a:custGeom>
            <a:avLst/>
            <a:gdLst/>
            <a:ahLst/>
            <a:rect l="0" t="0" r="r" b="b"/>
            <a:pathLst>
              <a:path w="14659" h="7118">
                <a:moveTo>
                  <a:pt x="0" y="6972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7"/>
                  <a:pt x="8" y="98"/>
                  <a:pt x="11" y="90"/>
                </a:cubicBezTo>
                <a:cubicBezTo>
                  <a:pt x="15" y="81"/>
                  <a:pt x="20" y="72"/>
                  <a:pt x="25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50" y="36"/>
                  <a:pt x="57" y="30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8" y="2"/>
                </a:cubicBezTo>
                <a:cubicBezTo>
                  <a:pt x="127" y="1"/>
                  <a:pt x="136" y="0"/>
                  <a:pt x="146" y="0"/>
                </a:cubicBezTo>
                <a:lnTo>
                  <a:pt x="14514" y="0"/>
                </a:lnTo>
                <a:cubicBezTo>
                  <a:pt x="14523" y="0"/>
                  <a:pt x="14533" y="1"/>
                  <a:pt x="14542" y="2"/>
                </a:cubicBezTo>
                <a:cubicBezTo>
                  <a:pt x="14552" y="4"/>
                  <a:pt x="14561" y="7"/>
                  <a:pt x="14569" y="11"/>
                </a:cubicBezTo>
                <a:cubicBezTo>
                  <a:pt x="14578" y="14"/>
                  <a:pt x="14587" y="19"/>
                  <a:pt x="14595" y="24"/>
                </a:cubicBezTo>
                <a:cubicBezTo>
                  <a:pt x="14603" y="30"/>
                  <a:pt x="14610" y="36"/>
                  <a:pt x="14617" y="42"/>
                </a:cubicBezTo>
                <a:cubicBezTo>
                  <a:pt x="14623" y="49"/>
                  <a:pt x="14629" y="56"/>
                  <a:pt x="14635" y="64"/>
                </a:cubicBezTo>
                <a:cubicBezTo>
                  <a:pt x="14640" y="72"/>
                  <a:pt x="14645" y="81"/>
                  <a:pt x="14648" y="90"/>
                </a:cubicBezTo>
                <a:cubicBezTo>
                  <a:pt x="14652" y="98"/>
                  <a:pt x="14655" y="107"/>
                  <a:pt x="14657" y="117"/>
                </a:cubicBezTo>
                <a:cubicBezTo>
                  <a:pt x="14658" y="126"/>
                  <a:pt x="14659" y="136"/>
                  <a:pt x="14659" y="145"/>
                </a:cubicBezTo>
                <a:lnTo>
                  <a:pt x="14659" y="6972"/>
                </a:lnTo>
                <a:cubicBezTo>
                  <a:pt x="14659" y="6982"/>
                  <a:pt x="14658" y="6991"/>
                  <a:pt x="14657" y="7001"/>
                </a:cubicBezTo>
                <a:cubicBezTo>
                  <a:pt x="14655" y="7010"/>
                  <a:pt x="14652" y="7019"/>
                  <a:pt x="14648" y="7028"/>
                </a:cubicBezTo>
                <a:cubicBezTo>
                  <a:pt x="14645" y="7037"/>
                  <a:pt x="14640" y="7045"/>
                  <a:pt x="14635" y="7053"/>
                </a:cubicBezTo>
                <a:cubicBezTo>
                  <a:pt x="14629" y="7061"/>
                  <a:pt x="14623" y="7069"/>
                  <a:pt x="14617" y="7075"/>
                </a:cubicBezTo>
                <a:cubicBezTo>
                  <a:pt x="14610" y="7082"/>
                  <a:pt x="14603" y="7088"/>
                  <a:pt x="14595" y="7093"/>
                </a:cubicBezTo>
                <a:cubicBezTo>
                  <a:pt x="14587" y="7099"/>
                  <a:pt x="14578" y="7103"/>
                  <a:pt x="14569" y="7107"/>
                </a:cubicBezTo>
                <a:cubicBezTo>
                  <a:pt x="14561" y="7111"/>
                  <a:pt x="14552" y="7113"/>
                  <a:pt x="14542" y="7115"/>
                </a:cubicBezTo>
                <a:cubicBezTo>
                  <a:pt x="14533" y="7117"/>
                  <a:pt x="14523" y="7118"/>
                  <a:pt x="14514" y="7118"/>
                </a:cubicBezTo>
                <a:lnTo>
                  <a:pt x="146" y="7118"/>
                </a:lnTo>
                <a:cubicBezTo>
                  <a:pt x="136" y="7118"/>
                  <a:pt x="127" y="7117"/>
                  <a:pt x="118" y="7115"/>
                </a:cubicBezTo>
                <a:cubicBezTo>
                  <a:pt x="108" y="7113"/>
                  <a:pt x="99" y="7111"/>
                  <a:pt x="90" y="7107"/>
                </a:cubicBezTo>
                <a:cubicBezTo>
                  <a:pt x="81" y="7103"/>
                  <a:pt x="73" y="7099"/>
                  <a:pt x="65" y="7093"/>
                </a:cubicBezTo>
                <a:cubicBezTo>
                  <a:pt x="57" y="7088"/>
                  <a:pt x="50" y="7082"/>
                  <a:pt x="43" y="7075"/>
                </a:cubicBezTo>
                <a:cubicBezTo>
                  <a:pt x="36" y="7069"/>
                  <a:pt x="30" y="7061"/>
                  <a:pt x="25" y="7053"/>
                </a:cubicBezTo>
                <a:cubicBezTo>
                  <a:pt x="20" y="7045"/>
                  <a:pt x="15" y="7037"/>
                  <a:pt x="11" y="7028"/>
                </a:cubicBezTo>
                <a:cubicBezTo>
                  <a:pt x="8" y="7019"/>
                  <a:pt x="5" y="7010"/>
                  <a:pt x="3" y="7001"/>
                </a:cubicBezTo>
                <a:cubicBezTo>
                  <a:pt x="1" y="6991"/>
                  <a:pt x="0" y="6982"/>
                  <a:pt x="0" y="6972"/>
                </a:cubicBezTo>
                <a:close/>
              </a:path>
            </a:pathLst>
          </a:custGeom>
          <a:solidFill>
            <a:srgbClr val="e8fcf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8" name=""/>
          <p:cNvSpPr/>
          <p:nvPr/>
        </p:nvSpPr>
        <p:spPr>
          <a:xfrm>
            <a:off x="766440" y="1500120"/>
            <a:ext cx="5277240" cy="2562480"/>
          </a:xfrm>
          <a:custGeom>
            <a:avLst/>
            <a:gdLst/>
            <a:ahLst/>
            <a:rect l="0" t="0" r="r" b="b"/>
            <a:pathLst>
              <a:path fill="none" w="14659" h="7118">
                <a:moveTo>
                  <a:pt x="0" y="6972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7"/>
                  <a:pt x="8" y="98"/>
                  <a:pt x="11" y="90"/>
                </a:cubicBezTo>
                <a:cubicBezTo>
                  <a:pt x="15" y="81"/>
                  <a:pt x="20" y="72"/>
                  <a:pt x="25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50" y="36"/>
                  <a:pt x="57" y="30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8" y="2"/>
                </a:cubicBezTo>
                <a:cubicBezTo>
                  <a:pt x="127" y="1"/>
                  <a:pt x="136" y="0"/>
                  <a:pt x="146" y="0"/>
                </a:cubicBezTo>
                <a:lnTo>
                  <a:pt x="14514" y="0"/>
                </a:lnTo>
                <a:cubicBezTo>
                  <a:pt x="14523" y="0"/>
                  <a:pt x="14533" y="1"/>
                  <a:pt x="14542" y="2"/>
                </a:cubicBezTo>
                <a:cubicBezTo>
                  <a:pt x="14552" y="4"/>
                  <a:pt x="14561" y="7"/>
                  <a:pt x="14569" y="11"/>
                </a:cubicBezTo>
                <a:cubicBezTo>
                  <a:pt x="14578" y="14"/>
                  <a:pt x="14587" y="19"/>
                  <a:pt x="14595" y="24"/>
                </a:cubicBezTo>
                <a:cubicBezTo>
                  <a:pt x="14603" y="30"/>
                  <a:pt x="14610" y="36"/>
                  <a:pt x="14617" y="42"/>
                </a:cubicBezTo>
                <a:cubicBezTo>
                  <a:pt x="14623" y="49"/>
                  <a:pt x="14629" y="56"/>
                  <a:pt x="14635" y="64"/>
                </a:cubicBezTo>
                <a:cubicBezTo>
                  <a:pt x="14640" y="72"/>
                  <a:pt x="14645" y="81"/>
                  <a:pt x="14648" y="90"/>
                </a:cubicBezTo>
                <a:cubicBezTo>
                  <a:pt x="14652" y="98"/>
                  <a:pt x="14655" y="107"/>
                  <a:pt x="14657" y="117"/>
                </a:cubicBezTo>
                <a:cubicBezTo>
                  <a:pt x="14658" y="126"/>
                  <a:pt x="14659" y="136"/>
                  <a:pt x="14659" y="145"/>
                </a:cubicBezTo>
                <a:lnTo>
                  <a:pt x="14659" y="6972"/>
                </a:lnTo>
                <a:cubicBezTo>
                  <a:pt x="14659" y="6982"/>
                  <a:pt x="14658" y="6991"/>
                  <a:pt x="14657" y="7001"/>
                </a:cubicBezTo>
                <a:cubicBezTo>
                  <a:pt x="14655" y="7010"/>
                  <a:pt x="14652" y="7019"/>
                  <a:pt x="14648" y="7028"/>
                </a:cubicBezTo>
                <a:cubicBezTo>
                  <a:pt x="14645" y="7037"/>
                  <a:pt x="14640" y="7045"/>
                  <a:pt x="14635" y="7053"/>
                </a:cubicBezTo>
                <a:cubicBezTo>
                  <a:pt x="14629" y="7061"/>
                  <a:pt x="14623" y="7069"/>
                  <a:pt x="14617" y="7075"/>
                </a:cubicBezTo>
                <a:cubicBezTo>
                  <a:pt x="14610" y="7082"/>
                  <a:pt x="14603" y="7088"/>
                  <a:pt x="14595" y="7093"/>
                </a:cubicBezTo>
                <a:cubicBezTo>
                  <a:pt x="14587" y="7099"/>
                  <a:pt x="14578" y="7103"/>
                  <a:pt x="14569" y="7107"/>
                </a:cubicBezTo>
                <a:cubicBezTo>
                  <a:pt x="14561" y="7111"/>
                  <a:pt x="14552" y="7113"/>
                  <a:pt x="14542" y="7115"/>
                </a:cubicBezTo>
                <a:cubicBezTo>
                  <a:pt x="14533" y="7117"/>
                  <a:pt x="14523" y="7118"/>
                  <a:pt x="14514" y="7118"/>
                </a:cubicBezTo>
                <a:lnTo>
                  <a:pt x="146" y="7118"/>
                </a:lnTo>
                <a:cubicBezTo>
                  <a:pt x="136" y="7118"/>
                  <a:pt x="127" y="7117"/>
                  <a:pt x="118" y="7115"/>
                </a:cubicBezTo>
                <a:cubicBezTo>
                  <a:pt x="108" y="7113"/>
                  <a:pt x="99" y="7111"/>
                  <a:pt x="90" y="7107"/>
                </a:cubicBezTo>
                <a:cubicBezTo>
                  <a:pt x="81" y="7103"/>
                  <a:pt x="73" y="7099"/>
                  <a:pt x="65" y="7093"/>
                </a:cubicBezTo>
                <a:cubicBezTo>
                  <a:pt x="57" y="7088"/>
                  <a:pt x="50" y="7082"/>
                  <a:pt x="43" y="7075"/>
                </a:cubicBezTo>
                <a:cubicBezTo>
                  <a:pt x="36" y="7069"/>
                  <a:pt x="30" y="7061"/>
                  <a:pt x="25" y="7053"/>
                </a:cubicBezTo>
                <a:cubicBezTo>
                  <a:pt x="20" y="7045"/>
                  <a:pt x="15" y="7037"/>
                  <a:pt x="11" y="7028"/>
                </a:cubicBezTo>
                <a:cubicBezTo>
                  <a:pt x="8" y="7019"/>
                  <a:pt x="5" y="7010"/>
                  <a:pt x="3" y="7001"/>
                </a:cubicBezTo>
                <a:cubicBezTo>
                  <a:pt x="1" y="6991"/>
                  <a:pt x="0" y="6982"/>
                  <a:pt x="0" y="6972"/>
                </a:cubicBezTo>
              </a:path>
            </a:pathLst>
          </a:custGeom>
          <a:ln w="9360">
            <a:solidFill>
              <a:srgbClr val="baf7f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9" name=""/>
          <p:cNvSpPr txBox="1"/>
          <p:nvPr/>
        </p:nvSpPr>
        <p:spPr>
          <a:xfrm>
            <a:off x="762120" y="753480"/>
            <a:ext cx="2385720" cy="718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48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Matters</a:t>
            </a:r>
            <a:endParaRPr b="0" lang="en-US" sz="4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0" name=""/>
          <p:cNvSpPr/>
          <p:nvPr/>
        </p:nvSpPr>
        <p:spPr>
          <a:xfrm>
            <a:off x="1104840" y="2257200"/>
            <a:ext cx="57240" cy="57600"/>
          </a:xfrm>
          <a:custGeom>
            <a:avLst/>
            <a:gdLst/>
            <a:ahLst/>
            <a:rect l="0" t="0" r="r" b="b"/>
            <a:pathLst>
              <a:path w="159" h="160">
                <a:moveTo>
                  <a:pt x="159" y="79"/>
                </a:moveTo>
                <a:cubicBezTo>
                  <a:pt x="159" y="90"/>
                  <a:pt x="157" y="100"/>
                  <a:pt x="153" y="110"/>
                </a:cubicBezTo>
                <a:cubicBezTo>
                  <a:pt x="149" y="120"/>
                  <a:pt x="144" y="128"/>
                  <a:pt x="136" y="137"/>
                </a:cubicBezTo>
                <a:cubicBezTo>
                  <a:pt x="129" y="144"/>
                  <a:pt x="120" y="150"/>
                  <a:pt x="110" y="154"/>
                </a:cubicBezTo>
                <a:cubicBezTo>
                  <a:pt x="101" y="158"/>
                  <a:pt x="91" y="160"/>
                  <a:pt x="80" y="160"/>
                </a:cubicBezTo>
                <a:cubicBezTo>
                  <a:pt x="70" y="160"/>
                  <a:pt x="59" y="158"/>
                  <a:pt x="50" y="154"/>
                </a:cubicBezTo>
                <a:cubicBezTo>
                  <a:pt x="40" y="150"/>
                  <a:pt x="31" y="144"/>
                  <a:pt x="24" y="137"/>
                </a:cubicBezTo>
                <a:cubicBezTo>
                  <a:pt x="16" y="128"/>
                  <a:pt x="10" y="120"/>
                  <a:pt x="6" y="110"/>
                </a:cubicBezTo>
                <a:cubicBezTo>
                  <a:pt x="2" y="100"/>
                  <a:pt x="0" y="90"/>
                  <a:pt x="0" y="79"/>
                </a:cubicBezTo>
                <a:cubicBezTo>
                  <a:pt x="0" y="69"/>
                  <a:pt x="2" y="59"/>
                  <a:pt x="6" y="49"/>
                </a:cubicBezTo>
                <a:cubicBezTo>
                  <a:pt x="10" y="39"/>
                  <a:pt x="16" y="31"/>
                  <a:pt x="24" y="23"/>
                </a:cubicBezTo>
                <a:cubicBezTo>
                  <a:pt x="31" y="16"/>
                  <a:pt x="40" y="10"/>
                  <a:pt x="50" y="6"/>
                </a:cubicBezTo>
                <a:cubicBezTo>
                  <a:pt x="59" y="2"/>
                  <a:pt x="70" y="0"/>
                  <a:pt x="80" y="0"/>
                </a:cubicBezTo>
                <a:cubicBezTo>
                  <a:pt x="91" y="0"/>
                  <a:pt x="101" y="2"/>
                  <a:pt x="110" y="6"/>
                </a:cubicBezTo>
                <a:cubicBezTo>
                  <a:pt x="120" y="10"/>
                  <a:pt x="129" y="16"/>
                  <a:pt x="136" y="23"/>
                </a:cubicBezTo>
                <a:cubicBezTo>
                  <a:pt x="144" y="31"/>
                  <a:pt x="149" y="39"/>
                  <a:pt x="153" y="49"/>
                </a:cubicBezTo>
                <a:cubicBezTo>
                  <a:pt x="157" y="59"/>
                  <a:pt x="159" y="69"/>
                  <a:pt x="159" y="79"/>
                </a:cubicBezTo>
                <a:close/>
              </a:path>
            </a:pathLst>
          </a:custGeom>
          <a:solidFill>
            <a:srgbClr val="0a53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61" name=""/>
          <p:cNvSpPr txBox="1"/>
          <p:nvPr/>
        </p:nvSpPr>
        <p:spPr>
          <a:xfrm>
            <a:off x="923760" y="1703520"/>
            <a:ext cx="2513880" cy="2808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87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For Design Research</a:t>
            </a:r>
            <a:endParaRPr b="0" lang="en-US" sz="187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2" name=""/>
          <p:cNvSpPr txBox="1"/>
          <p:nvPr/>
        </p:nvSpPr>
        <p:spPr>
          <a:xfrm>
            <a:off x="1289520" y="2166480"/>
            <a:ext cx="452772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Provides theoretical foundations for understanding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3" name=""/>
          <p:cNvSpPr/>
          <p:nvPr/>
        </p:nvSpPr>
        <p:spPr>
          <a:xfrm>
            <a:off x="1104840" y="2847960"/>
            <a:ext cx="57240" cy="57240"/>
          </a:xfrm>
          <a:custGeom>
            <a:avLst/>
            <a:gdLst/>
            <a:ahLst/>
            <a:rect l="0" t="0" r="r" b="b"/>
            <a:pathLst>
              <a:path w="159" h="159">
                <a:moveTo>
                  <a:pt x="159" y="80"/>
                </a:moveTo>
                <a:cubicBezTo>
                  <a:pt x="159" y="90"/>
                  <a:pt x="157" y="101"/>
                  <a:pt x="153" y="110"/>
                </a:cubicBezTo>
                <a:cubicBezTo>
                  <a:pt x="149" y="120"/>
                  <a:pt x="144" y="129"/>
                  <a:pt x="136" y="136"/>
                </a:cubicBezTo>
                <a:cubicBezTo>
                  <a:pt x="129" y="143"/>
                  <a:pt x="120" y="149"/>
                  <a:pt x="110" y="153"/>
                </a:cubicBezTo>
                <a:cubicBezTo>
                  <a:pt x="101" y="157"/>
                  <a:pt x="91" y="159"/>
                  <a:pt x="80" y="159"/>
                </a:cubicBezTo>
                <a:cubicBezTo>
                  <a:pt x="70" y="159"/>
                  <a:pt x="59" y="157"/>
                  <a:pt x="50" y="153"/>
                </a:cubicBezTo>
                <a:cubicBezTo>
                  <a:pt x="40" y="149"/>
                  <a:pt x="31" y="143"/>
                  <a:pt x="24" y="136"/>
                </a:cubicBezTo>
                <a:cubicBezTo>
                  <a:pt x="16" y="129"/>
                  <a:pt x="10" y="120"/>
                  <a:pt x="6" y="110"/>
                </a:cubicBezTo>
                <a:cubicBezTo>
                  <a:pt x="2" y="101"/>
                  <a:pt x="0" y="90"/>
                  <a:pt x="0" y="80"/>
                </a:cubicBezTo>
                <a:cubicBezTo>
                  <a:pt x="0" y="69"/>
                  <a:pt x="2" y="58"/>
                  <a:pt x="6" y="49"/>
                </a:cubicBezTo>
                <a:cubicBezTo>
                  <a:pt x="10" y="39"/>
                  <a:pt x="16" y="30"/>
                  <a:pt x="24" y="23"/>
                </a:cubicBezTo>
                <a:cubicBezTo>
                  <a:pt x="31" y="15"/>
                  <a:pt x="40" y="10"/>
                  <a:pt x="50" y="6"/>
                </a:cubicBezTo>
                <a:cubicBezTo>
                  <a:pt x="59" y="2"/>
                  <a:pt x="70" y="0"/>
                  <a:pt x="80" y="0"/>
                </a:cubicBezTo>
                <a:cubicBezTo>
                  <a:pt x="91" y="0"/>
                  <a:pt x="101" y="2"/>
                  <a:pt x="110" y="6"/>
                </a:cubicBezTo>
                <a:cubicBezTo>
                  <a:pt x="120" y="10"/>
                  <a:pt x="129" y="15"/>
                  <a:pt x="136" y="23"/>
                </a:cubicBezTo>
                <a:cubicBezTo>
                  <a:pt x="144" y="30"/>
                  <a:pt x="149" y="39"/>
                  <a:pt x="153" y="49"/>
                </a:cubicBezTo>
                <a:cubicBezTo>
                  <a:pt x="157" y="58"/>
                  <a:pt x="159" y="69"/>
                  <a:pt x="159" y="80"/>
                </a:cubicBezTo>
                <a:close/>
              </a:path>
            </a:pathLst>
          </a:custGeom>
          <a:solidFill>
            <a:srgbClr val="0a53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64" name=""/>
          <p:cNvSpPr txBox="1"/>
          <p:nvPr/>
        </p:nvSpPr>
        <p:spPr>
          <a:xfrm>
            <a:off x="1289520" y="2432880"/>
            <a:ext cx="127692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what design is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5" name=""/>
          <p:cNvSpPr/>
          <p:nvPr/>
        </p:nvSpPr>
        <p:spPr>
          <a:xfrm>
            <a:off x="1104840" y="3171600"/>
            <a:ext cx="57240" cy="57600"/>
          </a:xfrm>
          <a:custGeom>
            <a:avLst/>
            <a:gdLst/>
            <a:ahLst/>
            <a:rect l="0" t="0" r="r" b="b"/>
            <a:pathLst>
              <a:path w="159" h="160">
                <a:moveTo>
                  <a:pt x="159" y="79"/>
                </a:moveTo>
                <a:cubicBezTo>
                  <a:pt x="159" y="90"/>
                  <a:pt x="157" y="100"/>
                  <a:pt x="153" y="110"/>
                </a:cubicBezTo>
                <a:cubicBezTo>
                  <a:pt x="149" y="121"/>
                  <a:pt x="144" y="129"/>
                  <a:pt x="136" y="137"/>
                </a:cubicBezTo>
                <a:cubicBezTo>
                  <a:pt x="129" y="144"/>
                  <a:pt x="120" y="150"/>
                  <a:pt x="110" y="154"/>
                </a:cubicBezTo>
                <a:cubicBezTo>
                  <a:pt x="101" y="158"/>
                  <a:pt x="91" y="160"/>
                  <a:pt x="80" y="160"/>
                </a:cubicBezTo>
                <a:cubicBezTo>
                  <a:pt x="70" y="160"/>
                  <a:pt x="59" y="158"/>
                  <a:pt x="50" y="154"/>
                </a:cubicBezTo>
                <a:cubicBezTo>
                  <a:pt x="40" y="150"/>
                  <a:pt x="31" y="144"/>
                  <a:pt x="24" y="137"/>
                </a:cubicBezTo>
                <a:cubicBezTo>
                  <a:pt x="16" y="129"/>
                  <a:pt x="10" y="121"/>
                  <a:pt x="6" y="110"/>
                </a:cubicBezTo>
                <a:cubicBezTo>
                  <a:pt x="2" y="100"/>
                  <a:pt x="0" y="90"/>
                  <a:pt x="0" y="79"/>
                </a:cubicBezTo>
                <a:cubicBezTo>
                  <a:pt x="0" y="69"/>
                  <a:pt x="2" y="59"/>
                  <a:pt x="6" y="49"/>
                </a:cubicBezTo>
                <a:cubicBezTo>
                  <a:pt x="10" y="39"/>
                  <a:pt x="16" y="31"/>
                  <a:pt x="24" y="23"/>
                </a:cubicBezTo>
                <a:cubicBezTo>
                  <a:pt x="31" y="16"/>
                  <a:pt x="40" y="10"/>
                  <a:pt x="50" y="6"/>
                </a:cubicBezTo>
                <a:cubicBezTo>
                  <a:pt x="59" y="2"/>
                  <a:pt x="70" y="0"/>
                  <a:pt x="80" y="0"/>
                </a:cubicBezTo>
                <a:cubicBezTo>
                  <a:pt x="91" y="0"/>
                  <a:pt x="101" y="2"/>
                  <a:pt x="110" y="6"/>
                </a:cubicBezTo>
                <a:cubicBezTo>
                  <a:pt x="120" y="10"/>
                  <a:pt x="129" y="16"/>
                  <a:pt x="136" y="23"/>
                </a:cubicBezTo>
                <a:cubicBezTo>
                  <a:pt x="144" y="31"/>
                  <a:pt x="149" y="39"/>
                  <a:pt x="153" y="49"/>
                </a:cubicBezTo>
                <a:cubicBezTo>
                  <a:pt x="157" y="59"/>
                  <a:pt x="159" y="69"/>
                  <a:pt x="159" y="79"/>
                </a:cubicBezTo>
                <a:close/>
              </a:path>
            </a:pathLst>
          </a:custGeom>
          <a:solidFill>
            <a:srgbClr val="0a53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66" name=""/>
          <p:cNvSpPr txBox="1"/>
          <p:nvPr/>
        </p:nvSpPr>
        <p:spPr>
          <a:xfrm>
            <a:off x="1289520" y="2756880"/>
            <a:ext cx="455796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Clariﬁes assumptions underlying research methods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7" name=""/>
          <p:cNvSpPr/>
          <p:nvPr/>
        </p:nvSpPr>
        <p:spPr>
          <a:xfrm>
            <a:off x="6148080" y="1500120"/>
            <a:ext cx="5277240" cy="2562480"/>
          </a:xfrm>
          <a:custGeom>
            <a:avLst/>
            <a:gdLst/>
            <a:ahLst/>
            <a:rect l="0" t="0" r="r" b="b"/>
            <a:pathLst>
              <a:path w="14659" h="7118">
                <a:moveTo>
                  <a:pt x="0" y="6972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7"/>
                  <a:pt x="8" y="98"/>
                  <a:pt x="11" y="90"/>
                </a:cubicBezTo>
                <a:cubicBezTo>
                  <a:pt x="15" y="81"/>
                  <a:pt x="20" y="72"/>
                  <a:pt x="25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50" y="36"/>
                  <a:pt x="57" y="30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7" y="2"/>
                </a:cubicBezTo>
                <a:cubicBezTo>
                  <a:pt x="127" y="1"/>
                  <a:pt x="136" y="0"/>
                  <a:pt x="146" y="0"/>
                </a:cubicBezTo>
                <a:lnTo>
                  <a:pt x="14514" y="0"/>
                </a:lnTo>
                <a:cubicBezTo>
                  <a:pt x="14523" y="0"/>
                  <a:pt x="14533" y="1"/>
                  <a:pt x="14542" y="2"/>
                </a:cubicBezTo>
                <a:cubicBezTo>
                  <a:pt x="14552" y="4"/>
                  <a:pt x="14561" y="7"/>
                  <a:pt x="14569" y="11"/>
                </a:cubicBezTo>
                <a:cubicBezTo>
                  <a:pt x="14578" y="14"/>
                  <a:pt x="14587" y="19"/>
                  <a:pt x="14595" y="24"/>
                </a:cubicBezTo>
                <a:cubicBezTo>
                  <a:pt x="14603" y="30"/>
                  <a:pt x="14610" y="36"/>
                  <a:pt x="14617" y="42"/>
                </a:cubicBezTo>
                <a:cubicBezTo>
                  <a:pt x="14623" y="49"/>
                  <a:pt x="14629" y="56"/>
                  <a:pt x="14635" y="64"/>
                </a:cubicBezTo>
                <a:cubicBezTo>
                  <a:pt x="14640" y="72"/>
                  <a:pt x="14645" y="81"/>
                  <a:pt x="14648" y="90"/>
                </a:cubicBezTo>
                <a:cubicBezTo>
                  <a:pt x="14652" y="98"/>
                  <a:pt x="14655" y="107"/>
                  <a:pt x="14656" y="117"/>
                </a:cubicBezTo>
                <a:cubicBezTo>
                  <a:pt x="14658" y="126"/>
                  <a:pt x="14659" y="136"/>
                  <a:pt x="14659" y="145"/>
                </a:cubicBezTo>
                <a:lnTo>
                  <a:pt x="14659" y="6972"/>
                </a:lnTo>
                <a:cubicBezTo>
                  <a:pt x="14659" y="6982"/>
                  <a:pt x="14658" y="6991"/>
                  <a:pt x="14656" y="7001"/>
                </a:cubicBezTo>
                <a:cubicBezTo>
                  <a:pt x="14655" y="7010"/>
                  <a:pt x="14652" y="7019"/>
                  <a:pt x="14648" y="7028"/>
                </a:cubicBezTo>
                <a:cubicBezTo>
                  <a:pt x="14645" y="7037"/>
                  <a:pt x="14640" y="7045"/>
                  <a:pt x="14635" y="7053"/>
                </a:cubicBezTo>
                <a:cubicBezTo>
                  <a:pt x="14629" y="7061"/>
                  <a:pt x="14623" y="7069"/>
                  <a:pt x="14617" y="7075"/>
                </a:cubicBezTo>
                <a:cubicBezTo>
                  <a:pt x="14610" y="7082"/>
                  <a:pt x="14603" y="7088"/>
                  <a:pt x="14595" y="7093"/>
                </a:cubicBezTo>
                <a:cubicBezTo>
                  <a:pt x="14587" y="7099"/>
                  <a:pt x="14578" y="7103"/>
                  <a:pt x="14569" y="7107"/>
                </a:cubicBezTo>
                <a:cubicBezTo>
                  <a:pt x="14561" y="7111"/>
                  <a:pt x="14552" y="7113"/>
                  <a:pt x="14542" y="7115"/>
                </a:cubicBezTo>
                <a:cubicBezTo>
                  <a:pt x="14533" y="7117"/>
                  <a:pt x="14523" y="7118"/>
                  <a:pt x="14514" y="7118"/>
                </a:cubicBezTo>
                <a:lnTo>
                  <a:pt x="146" y="7118"/>
                </a:lnTo>
                <a:cubicBezTo>
                  <a:pt x="136" y="7118"/>
                  <a:pt x="127" y="7117"/>
                  <a:pt x="117" y="7115"/>
                </a:cubicBezTo>
                <a:cubicBezTo>
                  <a:pt x="108" y="7113"/>
                  <a:pt x="99" y="7111"/>
                  <a:pt x="90" y="7107"/>
                </a:cubicBezTo>
                <a:cubicBezTo>
                  <a:pt x="81" y="7103"/>
                  <a:pt x="73" y="7099"/>
                  <a:pt x="65" y="7093"/>
                </a:cubicBezTo>
                <a:cubicBezTo>
                  <a:pt x="57" y="7088"/>
                  <a:pt x="50" y="7082"/>
                  <a:pt x="43" y="7075"/>
                </a:cubicBezTo>
                <a:cubicBezTo>
                  <a:pt x="36" y="7069"/>
                  <a:pt x="30" y="7061"/>
                  <a:pt x="25" y="7053"/>
                </a:cubicBezTo>
                <a:cubicBezTo>
                  <a:pt x="20" y="7045"/>
                  <a:pt x="15" y="7037"/>
                  <a:pt x="11" y="7028"/>
                </a:cubicBezTo>
                <a:cubicBezTo>
                  <a:pt x="8" y="7019"/>
                  <a:pt x="5" y="7010"/>
                  <a:pt x="3" y="7001"/>
                </a:cubicBezTo>
                <a:cubicBezTo>
                  <a:pt x="1" y="6991"/>
                  <a:pt x="0" y="6982"/>
                  <a:pt x="0" y="6972"/>
                </a:cubicBezTo>
                <a:close/>
              </a:path>
            </a:pathLst>
          </a:custGeom>
          <a:solidFill>
            <a:srgbClr val="e8fcf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8" name=""/>
          <p:cNvSpPr/>
          <p:nvPr/>
        </p:nvSpPr>
        <p:spPr>
          <a:xfrm>
            <a:off x="6148080" y="1500120"/>
            <a:ext cx="5277240" cy="2562480"/>
          </a:xfrm>
          <a:custGeom>
            <a:avLst/>
            <a:gdLst/>
            <a:ahLst/>
            <a:rect l="0" t="0" r="r" b="b"/>
            <a:pathLst>
              <a:path fill="none" w="14659" h="7118">
                <a:moveTo>
                  <a:pt x="0" y="6972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7"/>
                  <a:pt x="8" y="98"/>
                  <a:pt x="11" y="90"/>
                </a:cubicBezTo>
                <a:cubicBezTo>
                  <a:pt x="15" y="81"/>
                  <a:pt x="20" y="72"/>
                  <a:pt x="25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50" y="36"/>
                  <a:pt x="57" y="30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7" y="2"/>
                </a:cubicBezTo>
                <a:cubicBezTo>
                  <a:pt x="127" y="1"/>
                  <a:pt x="136" y="0"/>
                  <a:pt x="146" y="0"/>
                </a:cubicBezTo>
                <a:lnTo>
                  <a:pt x="14514" y="0"/>
                </a:lnTo>
                <a:cubicBezTo>
                  <a:pt x="14523" y="0"/>
                  <a:pt x="14533" y="1"/>
                  <a:pt x="14542" y="2"/>
                </a:cubicBezTo>
                <a:cubicBezTo>
                  <a:pt x="14552" y="4"/>
                  <a:pt x="14561" y="7"/>
                  <a:pt x="14569" y="11"/>
                </a:cubicBezTo>
                <a:cubicBezTo>
                  <a:pt x="14578" y="14"/>
                  <a:pt x="14587" y="19"/>
                  <a:pt x="14595" y="24"/>
                </a:cubicBezTo>
                <a:cubicBezTo>
                  <a:pt x="14603" y="30"/>
                  <a:pt x="14610" y="36"/>
                  <a:pt x="14617" y="42"/>
                </a:cubicBezTo>
                <a:cubicBezTo>
                  <a:pt x="14623" y="49"/>
                  <a:pt x="14629" y="56"/>
                  <a:pt x="14635" y="64"/>
                </a:cubicBezTo>
                <a:cubicBezTo>
                  <a:pt x="14640" y="72"/>
                  <a:pt x="14645" y="81"/>
                  <a:pt x="14648" y="90"/>
                </a:cubicBezTo>
                <a:cubicBezTo>
                  <a:pt x="14652" y="98"/>
                  <a:pt x="14655" y="107"/>
                  <a:pt x="14656" y="117"/>
                </a:cubicBezTo>
                <a:cubicBezTo>
                  <a:pt x="14658" y="126"/>
                  <a:pt x="14659" y="136"/>
                  <a:pt x="14659" y="145"/>
                </a:cubicBezTo>
                <a:lnTo>
                  <a:pt x="14659" y="6972"/>
                </a:lnTo>
                <a:cubicBezTo>
                  <a:pt x="14659" y="6982"/>
                  <a:pt x="14658" y="6991"/>
                  <a:pt x="14656" y="7001"/>
                </a:cubicBezTo>
                <a:cubicBezTo>
                  <a:pt x="14655" y="7010"/>
                  <a:pt x="14652" y="7019"/>
                  <a:pt x="14648" y="7028"/>
                </a:cubicBezTo>
                <a:cubicBezTo>
                  <a:pt x="14645" y="7037"/>
                  <a:pt x="14640" y="7045"/>
                  <a:pt x="14635" y="7053"/>
                </a:cubicBezTo>
                <a:cubicBezTo>
                  <a:pt x="14629" y="7061"/>
                  <a:pt x="14623" y="7069"/>
                  <a:pt x="14617" y="7075"/>
                </a:cubicBezTo>
                <a:cubicBezTo>
                  <a:pt x="14610" y="7082"/>
                  <a:pt x="14603" y="7088"/>
                  <a:pt x="14595" y="7093"/>
                </a:cubicBezTo>
                <a:cubicBezTo>
                  <a:pt x="14587" y="7099"/>
                  <a:pt x="14578" y="7103"/>
                  <a:pt x="14569" y="7107"/>
                </a:cubicBezTo>
                <a:cubicBezTo>
                  <a:pt x="14561" y="7111"/>
                  <a:pt x="14552" y="7113"/>
                  <a:pt x="14542" y="7115"/>
                </a:cubicBezTo>
                <a:cubicBezTo>
                  <a:pt x="14533" y="7117"/>
                  <a:pt x="14523" y="7118"/>
                  <a:pt x="14514" y="7118"/>
                </a:cubicBezTo>
                <a:lnTo>
                  <a:pt x="146" y="7118"/>
                </a:lnTo>
                <a:cubicBezTo>
                  <a:pt x="136" y="7118"/>
                  <a:pt x="127" y="7117"/>
                  <a:pt x="117" y="7115"/>
                </a:cubicBezTo>
                <a:cubicBezTo>
                  <a:pt x="108" y="7113"/>
                  <a:pt x="99" y="7111"/>
                  <a:pt x="90" y="7107"/>
                </a:cubicBezTo>
                <a:cubicBezTo>
                  <a:pt x="81" y="7103"/>
                  <a:pt x="73" y="7099"/>
                  <a:pt x="65" y="7093"/>
                </a:cubicBezTo>
                <a:cubicBezTo>
                  <a:pt x="57" y="7088"/>
                  <a:pt x="50" y="7082"/>
                  <a:pt x="43" y="7075"/>
                </a:cubicBezTo>
                <a:cubicBezTo>
                  <a:pt x="36" y="7069"/>
                  <a:pt x="30" y="7061"/>
                  <a:pt x="25" y="7053"/>
                </a:cubicBezTo>
                <a:cubicBezTo>
                  <a:pt x="20" y="7045"/>
                  <a:pt x="15" y="7037"/>
                  <a:pt x="11" y="7028"/>
                </a:cubicBezTo>
                <a:cubicBezTo>
                  <a:pt x="8" y="7019"/>
                  <a:pt x="5" y="7010"/>
                  <a:pt x="3" y="7001"/>
                </a:cubicBezTo>
                <a:cubicBezTo>
                  <a:pt x="1" y="6991"/>
                  <a:pt x="0" y="6982"/>
                  <a:pt x="0" y="6972"/>
                </a:cubicBezTo>
              </a:path>
            </a:pathLst>
          </a:custGeom>
          <a:ln w="9360">
            <a:solidFill>
              <a:srgbClr val="baf7f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9" name=""/>
          <p:cNvSpPr txBox="1"/>
          <p:nvPr/>
        </p:nvSpPr>
        <p:spPr>
          <a:xfrm>
            <a:off x="1289520" y="3080880"/>
            <a:ext cx="467316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Connects design research to philosophical traditions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0" name=""/>
          <p:cNvSpPr/>
          <p:nvPr/>
        </p:nvSpPr>
        <p:spPr>
          <a:xfrm>
            <a:off x="6486480" y="2257200"/>
            <a:ext cx="57240" cy="57600"/>
          </a:xfrm>
          <a:custGeom>
            <a:avLst/>
            <a:gdLst/>
            <a:ahLst/>
            <a:rect l="0" t="0" r="r" b="b"/>
            <a:pathLst>
              <a:path w="159" h="160">
                <a:moveTo>
                  <a:pt x="159" y="79"/>
                </a:moveTo>
                <a:cubicBezTo>
                  <a:pt x="159" y="90"/>
                  <a:pt x="157" y="100"/>
                  <a:pt x="153" y="110"/>
                </a:cubicBezTo>
                <a:cubicBezTo>
                  <a:pt x="149" y="120"/>
                  <a:pt x="144" y="128"/>
                  <a:pt x="136" y="137"/>
                </a:cubicBezTo>
                <a:cubicBezTo>
                  <a:pt x="129" y="144"/>
                  <a:pt x="120" y="150"/>
                  <a:pt x="110" y="154"/>
                </a:cubicBezTo>
                <a:cubicBezTo>
                  <a:pt x="101" y="158"/>
                  <a:pt x="91" y="160"/>
                  <a:pt x="80" y="160"/>
                </a:cubicBezTo>
                <a:cubicBezTo>
                  <a:pt x="68" y="160"/>
                  <a:pt x="58" y="158"/>
                  <a:pt x="49" y="154"/>
                </a:cubicBezTo>
                <a:cubicBezTo>
                  <a:pt x="39" y="150"/>
                  <a:pt x="30" y="144"/>
                  <a:pt x="23" y="137"/>
                </a:cubicBezTo>
                <a:cubicBezTo>
                  <a:pt x="15" y="128"/>
                  <a:pt x="10" y="120"/>
                  <a:pt x="6" y="110"/>
                </a:cubicBezTo>
                <a:cubicBezTo>
                  <a:pt x="2" y="100"/>
                  <a:pt x="0" y="90"/>
                  <a:pt x="0" y="79"/>
                </a:cubicBezTo>
                <a:cubicBezTo>
                  <a:pt x="0" y="69"/>
                  <a:pt x="2" y="59"/>
                  <a:pt x="6" y="49"/>
                </a:cubicBezTo>
                <a:cubicBezTo>
                  <a:pt x="10" y="39"/>
                  <a:pt x="15" y="31"/>
                  <a:pt x="23" y="23"/>
                </a:cubicBezTo>
                <a:cubicBezTo>
                  <a:pt x="30" y="16"/>
                  <a:pt x="39" y="10"/>
                  <a:pt x="49" y="6"/>
                </a:cubicBezTo>
                <a:cubicBezTo>
                  <a:pt x="58" y="2"/>
                  <a:pt x="68" y="0"/>
                  <a:pt x="80" y="0"/>
                </a:cubicBezTo>
                <a:cubicBezTo>
                  <a:pt x="91" y="0"/>
                  <a:pt x="101" y="2"/>
                  <a:pt x="110" y="6"/>
                </a:cubicBezTo>
                <a:cubicBezTo>
                  <a:pt x="120" y="10"/>
                  <a:pt x="129" y="16"/>
                  <a:pt x="136" y="23"/>
                </a:cubicBezTo>
                <a:cubicBezTo>
                  <a:pt x="144" y="31"/>
                  <a:pt x="149" y="39"/>
                  <a:pt x="153" y="49"/>
                </a:cubicBezTo>
                <a:cubicBezTo>
                  <a:pt x="157" y="59"/>
                  <a:pt x="159" y="69"/>
                  <a:pt x="159" y="79"/>
                </a:cubicBezTo>
                <a:close/>
              </a:path>
            </a:pathLst>
          </a:custGeom>
          <a:solidFill>
            <a:srgbClr val="0a53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71" name=""/>
          <p:cNvSpPr txBox="1"/>
          <p:nvPr/>
        </p:nvSpPr>
        <p:spPr>
          <a:xfrm>
            <a:off x="6305400" y="1703520"/>
            <a:ext cx="3028320" cy="2808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87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For Professional Practice</a:t>
            </a:r>
            <a:endParaRPr b="0" lang="en-US" sz="187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2" name=""/>
          <p:cNvSpPr/>
          <p:nvPr/>
        </p:nvSpPr>
        <p:spPr>
          <a:xfrm>
            <a:off x="6486480" y="2571480"/>
            <a:ext cx="57240" cy="57600"/>
          </a:xfrm>
          <a:custGeom>
            <a:avLst/>
            <a:gdLst/>
            <a:ahLst/>
            <a:rect l="0" t="0" r="r" b="b"/>
            <a:pathLst>
              <a:path w="159" h="160">
                <a:moveTo>
                  <a:pt x="159" y="81"/>
                </a:moveTo>
                <a:cubicBezTo>
                  <a:pt x="159" y="91"/>
                  <a:pt x="157" y="101"/>
                  <a:pt x="153" y="111"/>
                </a:cubicBezTo>
                <a:cubicBezTo>
                  <a:pt x="149" y="121"/>
                  <a:pt x="144" y="129"/>
                  <a:pt x="136" y="137"/>
                </a:cubicBezTo>
                <a:cubicBezTo>
                  <a:pt x="129" y="144"/>
                  <a:pt x="120" y="150"/>
                  <a:pt x="110" y="154"/>
                </a:cubicBezTo>
                <a:cubicBezTo>
                  <a:pt x="101" y="158"/>
                  <a:pt x="91" y="160"/>
                  <a:pt x="80" y="160"/>
                </a:cubicBezTo>
                <a:cubicBezTo>
                  <a:pt x="68" y="160"/>
                  <a:pt x="58" y="158"/>
                  <a:pt x="49" y="154"/>
                </a:cubicBezTo>
                <a:cubicBezTo>
                  <a:pt x="39" y="150"/>
                  <a:pt x="30" y="144"/>
                  <a:pt x="23" y="137"/>
                </a:cubicBezTo>
                <a:cubicBezTo>
                  <a:pt x="15" y="129"/>
                  <a:pt x="10" y="121"/>
                  <a:pt x="6" y="111"/>
                </a:cubicBezTo>
                <a:cubicBezTo>
                  <a:pt x="2" y="101"/>
                  <a:pt x="0" y="91"/>
                  <a:pt x="0" y="81"/>
                </a:cubicBezTo>
                <a:cubicBezTo>
                  <a:pt x="0" y="70"/>
                  <a:pt x="2" y="60"/>
                  <a:pt x="6" y="50"/>
                </a:cubicBezTo>
                <a:cubicBezTo>
                  <a:pt x="10" y="40"/>
                  <a:pt x="15" y="31"/>
                  <a:pt x="23" y="23"/>
                </a:cubicBezTo>
                <a:cubicBezTo>
                  <a:pt x="30" y="16"/>
                  <a:pt x="39" y="10"/>
                  <a:pt x="49" y="6"/>
                </a:cubicBezTo>
                <a:cubicBezTo>
                  <a:pt x="58" y="2"/>
                  <a:pt x="68" y="0"/>
                  <a:pt x="80" y="0"/>
                </a:cubicBezTo>
                <a:cubicBezTo>
                  <a:pt x="91" y="0"/>
                  <a:pt x="101" y="2"/>
                  <a:pt x="110" y="6"/>
                </a:cubicBezTo>
                <a:cubicBezTo>
                  <a:pt x="120" y="10"/>
                  <a:pt x="129" y="16"/>
                  <a:pt x="136" y="23"/>
                </a:cubicBezTo>
                <a:cubicBezTo>
                  <a:pt x="144" y="31"/>
                  <a:pt x="149" y="40"/>
                  <a:pt x="153" y="50"/>
                </a:cubicBezTo>
                <a:cubicBezTo>
                  <a:pt x="157" y="60"/>
                  <a:pt x="159" y="70"/>
                  <a:pt x="159" y="81"/>
                </a:cubicBezTo>
                <a:close/>
              </a:path>
            </a:pathLst>
          </a:custGeom>
          <a:solidFill>
            <a:srgbClr val="0a53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73" name=""/>
          <p:cNvSpPr txBox="1"/>
          <p:nvPr/>
        </p:nvSpPr>
        <p:spPr>
          <a:xfrm>
            <a:off x="6671160" y="2166480"/>
            <a:ext cx="392832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Can improve design methods and processes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4" name=""/>
          <p:cNvSpPr/>
          <p:nvPr/>
        </p:nvSpPr>
        <p:spPr>
          <a:xfrm>
            <a:off x="6486480" y="2895480"/>
            <a:ext cx="57240" cy="57600"/>
          </a:xfrm>
          <a:custGeom>
            <a:avLst/>
            <a:gdLst/>
            <a:ahLst/>
            <a:rect l="0" t="0" r="r" b="b"/>
            <a:pathLst>
              <a:path w="159" h="160">
                <a:moveTo>
                  <a:pt x="159" y="79"/>
                </a:moveTo>
                <a:cubicBezTo>
                  <a:pt x="159" y="90"/>
                  <a:pt x="157" y="101"/>
                  <a:pt x="153" y="111"/>
                </a:cubicBezTo>
                <a:cubicBezTo>
                  <a:pt x="149" y="120"/>
                  <a:pt x="144" y="129"/>
                  <a:pt x="136" y="136"/>
                </a:cubicBezTo>
                <a:cubicBezTo>
                  <a:pt x="129" y="144"/>
                  <a:pt x="120" y="150"/>
                  <a:pt x="110" y="154"/>
                </a:cubicBezTo>
                <a:cubicBezTo>
                  <a:pt x="101" y="158"/>
                  <a:pt x="91" y="160"/>
                  <a:pt x="80" y="160"/>
                </a:cubicBezTo>
                <a:cubicBezTo>
                  <a:pt x="68" y="160"/>
                  <a:pt x="58" y="158"/>
                  <a:pt x="49" y="154"/>
                </a:cubicBezTo>
                <a:cubicBezTo>
                  <a:pt x="39" y="150"/>
                  <a:pt x="30" y="144"/>
                  <a:pt x="23" y="136"/>
                </a:cubicBezTo>
                <a:cubicBezTo>
                  <a:pt x="15" y="129"/>
                  <a:pt x="10" y="120"/>
                  <a:pt x="6" y="111"/>
                </a:cubicBezTo>
                <a:cubicBezTo>
                  <a:pt x="2" y="101"/>
                  <a:pt x="0" y="90"/>
                  <a:pt x="0" y="79"/>
                </a:cubicBezTo>
                <a:cubicBezTo>
                  <a:pt x="0" y="69"/>
                  <a:pt x="2" y="59"/>
                  <a:pt x="6" y="49"/>
                </a:cubicBezTo>
                <a:cubicBezTo>
                  <a:pt x="10" y="39"/>
                  <a:pt x="15" y="31"/>
                  <a:pt x="23" y="23"/>
                </a:cubicBezTo>
                <a:cubicBezTo>
                  <a:pt x="30" y="16"/>
                  <a:pt x="39" y="10"/>
                  <a:pt x="49" y="6"/>
                </a:cubicBezTo>
                <a:cubicBezTo>
                  <a:pt x="58" y="2"/>
                  <a:pt x="68" y="0"/>
                  <a:pt x="80" y="0"/>
                </a:cubicBezTo>
                <a:cubicBezTo>
                  <a:pt x="91" y="0"/>
                  <a:pt x="101" y="2"/>
                  <a:pt x="110" y="6"/>
                </a:cubicBezTo>
                <a:cubicBezTo>
                  <a:pt x="120" y="10"/>
                  <a:pt x="129" y="16"/>
                  <a:pt x="136" y="23"/>
                </a:cubicBezTo>
                <a:cubicBezTo>
                  <a:pt x="144" y="31"/>
                  <a:pt x="149" y="39"/>
                  <a:pt x="153" y="49"/>
                </a:cubicBezTo>
                <a:cubicBezTo>
                  <a:pt x="157" y="59"/>
                  <a:pt x="159" y="69"/>
                  <a:pt x="159" y="79"/>
                </a:cubicBezTo>
                <a:close/>
              </a:path>
            </a:pathLst>
          </a:custGeom>
          <a:solidFill>
            <a:srgbClr val="0a53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75" name=""/>
          <p:cNvSpPr txBox="1"/>
          <p:nvPr/>
        </p:nvSpPr>
        <p:spPr>
          <a:xfrm>
            <a:off x="6671160" y="2480760"/>
            <a:ext cx="373644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Can lead to better artefacts and outcomes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6" name=""/>
          <p:cNvSpPr txBox="1"/>
          <p:nvPr/>
        </p:nvSpPr>
        <p:spPr>
          <a:xfrm>
            <a:off x="6671160" y="2804400"/>
            <a:ext cx="447408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Can improve how computers and tools are used in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7" name=""/>
          <p:cNvSpPr/>
          <p:nvPr/>
        </p:nvSpPr>
        <p:spPr>
          <a:xfrm>
            <a:off x="6486480" y="3485880"/>
            <a:ext cx="57240" cy="57600"/>
          </a:xfrm>
          <a:custGeom>
            <a:avLst/>
            <a:gdLst/>
            <a:ahLst/>
            <a:rect l="0" t="0" r="r" b="b"/>
            <a:pathLst>
              <a:path w="159" h="160">
                <a:moveTo>
                  <a:pt x="159" y="81"/>
                </a:moveTo>
                <a:cubicBezTo>
                  <a:pt x="159" y="91"/>
                  <a:pt x="157" y="101"/>
                  <a:pt x="153" y="111"/>
                </a:cubicBezTo>
                <a:cubicBezTo>
                  <a:pt x="149" y="121"/>
                  <a:pt x="144" y="129"/>
                  <a:pt x="136" y="137"/>
                </a:cubicBezTo>
                <a:cubicBezTo>
                  <a:pt x="129" y="144"/>
                  <a:pt x="120" y="150"/>
                  <a:pt x="110" y="154"/>
                </a:cubicBezTo>
                <a:cubicBezTo>
                  <a:pt x="101" y="158"/>
                  <a:pt x="91" y="160"/>
                  <a:pt x="80" y="160"/>
                </a:cubicBezTo>
                <a:cubicBezTo>
                  <a:pt x="68" y="160"/>
                  <a:pt x="58" y="158"/>
                  <a:pt x="49" y="154"/>
                </a:cubicBezTo>
                <a:cubicBezTo>
                  <a:pt x="39" y="150"/>
                  <a:pt x="30" y="144"/>
                  <a:pt x="23" y="137"/>
                </a:cubicBezTo>
                <a:cubicBezTo>
                  <a:pt x="15" y="129"/>
                  <a:pt x="10" y="121"/>
                  <a:pt x="6" y="111"/>
                </a:cubicBezTo>
                <a:cubicBezTo>
                  <a:pt x="2" y="101"/>
                  <a:pt x="0" y="91"/>
                  <a:pt x="0" y="81"/>
                </a:cubicBezTo>
                <a:cubicBezTo>
                  <a:pt x="0" y="70"/>
                  <a:pt x="2" y="60"/>
                  <a:pt x="6" y="50"/>
                </a:cubicBezTo>
                <a:cubicBezTo>
                  <a:pt x="10" y="41"/>
                  <a:pt x="15" y="31"/>
                  <a:pt x="23" y="23"/>
                </a:cubicBezTo>
                <a:cubicBezTo>
                  <a:pt x="30" y="16"/>
                  <a:pt x="39" y="10"/>
                  <a:pt x="49" y="6"/>
                </a:cubicBezTo>
                <a:cubicBezTo>
                  <a:pt x="58" y="2"/>
                  <a:pt x="68" y="0"/>
                  <a:pt x="80" y="0"/>
                </a:cubicBezTo>
                <a:cubicBezTo>
                  <a:pt x="91" y="0"/>
                  <a:pt x="101" y="2"/>
                  <a:pt x="110" y="6"/>
                </a:cubicBezTo>
                <a:cubicBezTo>
                  <a:pt x="120" y="10"/>
                  <a:pt x="129" y="16"/>
                  <a:pt x="136" y="23"/>
                </a:cubicBezTo>
                <a:cubicBezTo>
                  <a:pt x="144" y="31"/>
                  <a:pt x="149" y="41"/>
                  <a:pt x="153" y="50"/>
                </a:cubicBezTo>
                <a:cubicBezTo>
                  <a:pt x="157" y="60"/>
                  <a:pt x="159" y="70"/>
                  <a:pt x="159" y="81"/>
                </a:cubicBezTo>
                <a:close/>
              </a:path>
            </a:pathLst>
          </a:custGeom>
          <a:solidFill>
            <a:srgbClr val="0a53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78" name=""/>
          <p:cNvSpPr txBox="1"/>
          <p:nvPr/>
        </p:nvSpPr>
        <p:spPr>
          <a:xfrm>
            <a:off x="6671160" y="3080880"/>
            <a:ext cx="59148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design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9" name=""/>
          <p:cNvSpPr txBox="1"/>
          <p:nvPr/>
        </p:nvSpPr>
        <p:spPr>
          <a:xfrm>
            <a:off x="6671160" y="3395160"/>
            <a:ext cx="466920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Raises awareness of implicit assumptions that shape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0" name=""/>
          <p:cNvSpPr/>
          <p:nvPr/>
        </p:nvSpPr>
        <p:spPr>
          <a:xfrm>
            <a:off x="766440" y="4300200"/>
            <a:ext cx="10658880" cy="2010240"/>
          </a:xfrm>
          <a:custGeom>
            <a:avLst/>
            <a:gdLst/>
            <a:ahLst/>
            <a:rect l="0" t="0" r="r" b="b"/>
            <a:pathLst>
              <a:path w="29608" h="5584">
                <a:moveTo>
                  <a:pt x="0" y="5439"/>
                </a:moveTo>
                <a:lnTo>
                  <a:pt x="0" y="146"/>
                </a:lnTo>
                <a:cubicBezTo>
                  <a:pt x="0" y="136"/>
                  <a:pt x="1" y="127"/>
                  <a:pt x="3" y="118"/>
                </a:cubicBezTo>
                <a:cubicBezTo>
                  <a:pt x="5" y="108"/>
                  <a:pt x="8" y="99"/>
                  <a:pt x="11" y="90"/>
                </a:cubicBezTo>
                <a:cubicBezTo>
                  <a:pt x="15" y="81"/>
                  <a:pt x="20" y="73"/>
                  <a:pt x="25" y="65"/>
                </a:cubicBezTo>
                <a:cubicBezTo>
                  <a:pt x="30" y="57"/>
                  <a:pt x="36" y="50"/>
                  <a:pt x="43" y="43"/>
                </a:cubicBezTo>
                <a:cubicBezTo>
                  <a:pt x="50" y="36"/>
                  <a:pt x="57" y="30"/>
                  <a:pt x="65" y="25"/>
                </a:cubicBezTo>
                <a:cubicBezTo>
                  <a:pt x="73" y="20"/>
                  <a:pt x="81" y="15"/>
                  <a:pt x="90" y="12"/>
                </a:cubicBezTo>
                <a:cubicBezTo>
                  <a:pt x="99" y="8"/>
                  <a:pt x="108" y="5"/>
                  <a:pt x="118" y="3"/>
                </a:cubicBezTo>
                <a:cubicBezTo>
                  <a:pt x="127" y="1"/>
                  <a:pt x="136" y="0"/>
                  <a:pt x="146" y="0"/>
                </a:cubicBezTo>
                <a:lnTo>
                  <a:pt x="29463" y="0"/>
                </a:lnTo>
                <a:cubicBezTo>
                  <a:pt x="29472" y="0"/>
                  <a:pt x="29482" y="1"/>
                  <a:pt x="29491" y="3"/>
                </a:cubicBezTo>
                <a:cubicBezTo>
                  <a:pt x="29501" y="5"/>
                  <a:pt x="29510" y="8"/>
                  <a:pt x="29518" y="12"/>
                </a:cubicBezTo>
                <a:cubicBezTo>
                  <a:pt x="29527" y="15"/>
                  <a:pt x="29536" y="20"/>
                  <a:pt x="29544" y="25"/>
                </a:cubicBezTo>
                <a:cubicBezTo>
                  <a:pt x="29552" y="30"/>
                  <a:pt x="29559" y="36"/>
                  <a:pt x="29566" y="43"/>
                </a:cubicBezTo>
                <a:cubicBezTo>
                  <a:pt x="29572" y="50"/>
                  <a:pt x="29578" y="57"/>
                  <a:pt x="29584" y="65"/>
                </a:cubicBezTo>
                <a:cubicBezTo>
                  <a:pt x="29589" y="73"/>
                  <a:pt x="29594" y="81"/>
                  <a:pt x="29597" y="90"/>
                </a:cubicBezTo>
                <a:cubicBezTo>
                  <a:pt x="29601" y="99"/>
                  <a:pt x="29604" y="108"/>
                  <a:pt x="29605" y="118"/>
                </a:cubicBezTo>
                <a:cubicBezTo>
                  <a:pt x="29607" y="127"/>
                  <a:pt x="29608" y="136"/>
                  <a:pt x="29608" y="146"/>
                </a:cubicBezTo>
                <a:lnTo>
                  <a:pt x="29608" y="5439"/>
                </a:lnTo>
                <a:cubicBezTo>
                  <a:pt x="29608" y="5448"/>
                  <a:pt x="29607" y="5458"/>
                  <a:pt x="29605" y="5467"/>
                </a:cubicBezTo>
                <a:cubicBezTo>
                  <a:pt x="29604" y="5476"/>
                  <a:pt x="29601" y="5485"/>
                  <a:pt x="29597" y="5494"/>
                </a:cubicBezTo>
                <a:cubicBezTo>
                  <a:pt x="29594" y="5503"/>
                  <a:pt x="29589" y="5512"/>
                  <a:pt x="29584" y="5519"/>
                </a:cubicBezTo>
                <a:cubicBezTo>
                  <a:pt x="29578" y="5527"/>
                  <a:pt x="29572" y="5535"/>
                  <a:pt x="29566" y="5542"/>
                </a:cubicBezTo>
                <a:cubicBezTo>
                  <a:pt x="29559" y="5548"/>
                  <a:pt x="29552" y="5554"/>
                  <a:pt x="29544" y="5560"/>
                </a:cubicBezTo>
                <a:cubicBezTo>
                  <a:pt x="29536" y="5565"/>
                  <a:pt x="29527" y="5569"/>
                  <a:pt x="29518" y="5573"/>
                </a:cubicBezTo>
                <a:cubicBezTo>
                  <a:pt x="29510" y="5577"/>
                  <a:pt x="29501" y="5579"/>
                  <a:pt x="29491" y="5581"/>
                </a:cubicBezTo>
                <a:cubicBezTo>
                  <a:pt x="29482" y="5583"/>
                  <a:pt x="29472" y="5584"/>
                  <a:pt x="29463" y="5584"/>
                </a:cubicBezTo>
                <a:lnTo>
                  <a:pt x="146" y="5584"/>
                </a:lnTo>
                <a:cubicBezTo>
                  <a:pt x="136" y="5584"/>
                  <a:pt x="127" y="5583"/>
                  <a:pt x="118" y="5581"/>
                </a:cubicBezTo>
                <a:cubicBezTo>
                  <a:pt x="108" y="5579"/>
                  <a:pt x="99" y="5577"/>
                  <a:pt x="90" y="5573"/>
                </a:cubicBezTo>
                <a:cubicBezTo>
                  <a:pt x="81" y="5569"/>
                  <a:pt x="73" y="5565"/>
                  <a:pt x="65" y="5560"/>
                </a:cubicBezTo>
                <a:cubicBezTo>
                  <a:pt x="57" y="5554"/>
                  <a:pt x="50" y="5548"/>
                  <a:pt x="43" y="5542"/>
                </a:cubicBezTo>
                <a:cubicBezTo>
                  <a:pt x="36" y="5535"/>
                  <a:pt x="30" y="5527"/>
                  <a:pt x="25" y="5519"/>
                </a:cubicBezTo>
                <a:cubicBezTo>
                  <a:pt x="20" y="5512"/>
                  <a:pt x="15" y="5503"/>
                  <a:pt x="11" y="5494"/>
                </a:cubicBezTo>
                <a:cubicBezTo>
                  <a:pt x="8" y="5485"/>
                  <a:pt x="5" y="5476"/>
                  <a:pt x="3" y="5467"/>
                </a:cubicBezTo>
                <a:cubicBezTo>
                  <a:pt x="1" y="5458"/>
                  <a:pt x="0" y="5448"/>
                  <a:pt x="0" y="5439"/>
                </a:cubicBezTo>
                <a:close/>
              </a:path>
            </a:pathLst>
          </a:custGeom>
          <a:solidFill>
            <a:srgbClr val="e8fcf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1" name=""/>
          <p:cNvSpPr/>
          <p:nvPr/>
        </p:nvSpPr>
        <p:spPr>
          <a:xfrm>
            <a:off x="766440" y="4300200"/>
            <a:ext cx="10658880" cy="2010240"/>
          </a:xfrm>
          <a:custGeom>
            <a:avLst/>
            <a:gdLst/>
            <a:ahLst/>
            <a:rect l="0" t="0" r="r" b="b"/>
            <a:pathLst>
              <a:path fill="none" w="29608" h="5584">
                <a:moveTo>
                  <a:pt x="0" y="5439"/>
                </a:moveTo>
                <a:lnTo>
                  <a:pt x="0" y="146"/>
                </a:lnTo>
                <a:cubicBezTo>
                  <a:pt x="0" y="136"/>
                  <a:pt x="1" y="127"/>
                  <a:pt x="3" y="118"/>
                </a:cubicBezTo>
                <a:cubicBezTo>
                  <a:pt x="5" y="108"/>
                  <a:pt x="8" y="99"/>
                  <a:pt x="11" y="90"/>
                </a:cubicBezTo>
                <a:cubicBezTo>
                  <a:pt x="15" y="81"/>
                  <a:pt x="20" y="73"/>
                  <a:pt x="25" y="65"/>
                </a:cubicBezTo>
                <a:cubicBezTo>
                  <a:pt x="30" y="57"/>
                  <a:pt x="36" y="50"/>
                  <a:pt x="43" y="43"/>
                </a:cubicBezTo>
                <a:cubicBezTo>
                  <a:pt x="50" y="36"/>
                  <a:pt x="57" y="30"/>
                  <a:pt x="65" y="25"/>
                </a:cubicBezTo>
                <a:cubicBezTo>
                  <a:pt x="73" y="20"/>
                  <a:pt x="81" y="15"/>
                  <a:pt x="90" y="12"/>
                </a:cubicBezTo>
                <a:cubicBezTo>
                  <a:pt x="99" y="8"/>
                  <a:pt x="108" y="5"/>
                  <a:pt x="118" y="3"/>
                </a:cubicBezTo>
                <a:cubicBezTo>
                  <a:pt x="127" y="1"/>
                  <a:pt x="136" y="0"/>
                  <a:pt x="146" y="0"/>
                </a:cubicBezTo>
                <a:lnTo>
                  <a:pt x="29463" y="0"/>
                </a:lnTo>
                <a:cubicBezTo>
                  <a:pt x="29472" y="0"/>
                  <a:pt x="29482" y="1"/>
                  <a:pt x="29491" y="3"/>
                </a:cubicBezTo>
                <a:cubicBezTo>
                  <a:pt x="29501" y="5"/>
                  <a:pt x="29510" y="8"/>
                  <a:pt x="29518" y="12"/>
                </a:cubicBezTo>
                <a:cubicBezTo>
                  <a:pt x="29527" y="15"/>
                  <a:pt x="29536" y="20"/>
                  <a:pt x="29544" y="25"/>
                </a:cubicBezTo>
                <a:cubicBezTo>
                  <a:pt x="29552" y="30"/>
                  <a:pt x="29559" y="36"/>
                  <a:pt x="29566" y="43"/>
                </a:cubicBezTo>
                <a:cubicBezTo>
                  <a:pt x="29572" y="50"/>
                  <a:pt x="29578" y="57"/>
                  <a:pt x="29584" y="65"/>
                </a:cubicBezTo>
                <a:cubicBezTo>
                  <a:pt x="29589" y="73"/>
                  <a:pt x="29594" y="81"/>
                  <a:pt x="29597" y="90"/>
                </a:cubicBezTo>
                <a:cubicBezTo>
                  <a:pt x="29601" y="99"/>
                  <a:pt x="29604" y="108"/>
                  <a:pt x="29605" y="118"/>
                </a:cubicBezTo>
                <a:cubicBezTo>
                  <a:pt x="29607" y="127"/>
                  <a:pt x="29608" y="136"/>
                  <a:pt x="29608" y="146"/>
                </a:cubicBezTo>
                <a:lnTo>
                  <a:pt x="29608" y="5439"/>
                </a:lnTo>
                <a:cubicBezTo>
                  <a:pt x="29608" y="5448"/>
                  <a:pt x="29607" y="5458"/>
                  <a:pt x="29605" y="5467"/>
                </a:cubicBezTo>
                <a:cubicBezTo>
                  <a:pt x="29604" y="5476"/>
                  <a:pt x="29601" y="5485"/>
                  <a:pt x="29597" y="5494"/>
                </a:cubicBezTo>
                <a:cubicBezTo>
                  <a:pt x="29594" y="5503"/>
                  <a:pt x="29589" y="5512"/>
                  <a:pt x="29584" y="5519"/>
                </a:cubicBezTo>
                <a:cubicBezTo>
                  <a:pt x="29578" y="5527"/>
                  <a:pt x="29572" y="5535"/>
                  <a:pt x="29566" y="5542"/>
                </a:cubicBezTo>
                <a:cubicBezTo>
                  <a:pt x="29559" y="5548"/>
                  <a:pt x="29552" y="5554"/>
                  <a:pt x="29544" y="5560"/>
                </a:cubicBezTo>
                <a:cubicBezTo>
                  <a:pt x="29536" y="5565"/>
                  <a:pt x="29527" y="5569"/>
                  <a:pt x="29518" y="5573"/>
                </a:cubicBezTo>
                <a:cubicBezTo>
                  <a:pt x="29510" y="5577"/>
                  <a:pt x="29501" y="5579"/>
                  <a:pt x="29491" y="5581"/>
                </a:cubicBezTo>
                <a:cubicBezTo>
                  <a:pt x="29482" y="5583"/>
                  <a:pt x="29472" y="5584"/>
                  <a:pt x="29463" y="5584"/>
                </a:cubicBezTo>
                <a:lnTo>
                  <a:pt x="146" y="5584"/>
                </a:lnTo>
                <a:cubicBezTo>
                  <a:pt x="136" y="5584"/>
                  <a:pt x="127" y="5583"/>
                  <a:pt x="118" y="5581"/>
                </a:cubicBezTo>
                <a:cubicBezTo>
                  <a:pt x="108" y="5579"/>
                  <a:pt x="99" y="5577"/>
                  <a:pt x="90" y="5573"/>
                </a:cubicBezTo>
                <a:cubicBezTo>
                  <a:pt x="81" y="5569"/>
                  <a:pt x="73" y="5565"/>
                  <a:pt x="65" y="5560"/>
                </a:cubicBezTo>
                <a:cubicBezTo>
                  <a:pt x="57" y="5554"/>
                  <a:pt x="50" y="5548"/>
                  <a:pt x="43" y="5542"/>
                </a:cubicBezTo>
                <a:cubicBezTo>
                  <a:pt x="36" y="5535"/>
                  <a:pt x="30" y="5527"/>
                  <a:pt x="25" y="5519"/>
                </a:cubicBezTo>
                <a:cubicBezTo>
                  <a:pt x="20" y="5512"/>
                  <a:pt x="15" y="5503"/>
                  <a:pt x="11" y="5494"/>
                </a:cubicBezTo>
                <a:cubicBezTo>
                  <a:pt x="8" y="5485"/>
                  <a:pt x="5" y="5476"/>
                  <a:pt x="3" y="5467"/>
                </a:cubicBezTo>
                <a:cubicBezTo>
                  <a:pt x="1" y="5458"/>
                  <a:pt x="0" y="5448"/>
                  <a:pt x="0" y="5439"/>
                </a:cubicBezTo>
              </a:path>
            </a:pathLst>
          </a:custGeom>
          <a:ln w="9360">
            <a:solidFill>
              <a:srgbClr val="baf7f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2" name=""/>
          <p:cNvSpPr txBox="1"/>
          <p:nvPr/>
        </p:nvSpPr>
        <p:spPr>
          <a:xfrm>
            <a:off x="6671160" y="3671280"/>
            <a:ext cx="70200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practice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3" name=""/>
          <p:cNvSpPr/>
          <p:nvPr/>
        </p:nvSpPr>
        <p:spPr>
          <a:xfrm>
            <a:off x="1104840" y="5057640"/>
            <a:ext cx="57240" cy="57600"/>
          </a:xfrm>
          <a:custGeom>
            <a:avLst/>
            <a:gdLst/>
            <a:ahLst/>
            <a:rect l="0" t="0" r="r" b="b"/>
            <a:pathLst>
              <a:path w="159" h="160">
                <a:moveTo>
                  <a:pt x="159" y="79"/>
                </a:moveTo>
                <a:cubicBezTo>
                  <a:pt x="159" y="90"/>
                  <a:pt x="157" y="101"/>
                  <a:pt x="153" y="111"/>
                </a:cubicBezTo>
                <a:cubicBezTo>
                  <a:pt x="149" y="120"/>
                  <a:pt x="144" y="129"/>
                  <a:pt x="136" y="136"/>
                </a:cubicBezTo>
                <a:cubicBezTo>
                  <a:pt x="129" y="144"/>
                  <a:pt x="120" y="150"/>
                  <a:pt x="110" y="154"/>
                </a:cubicBezTo>
                <a:cubicBezTo>
                  <a:pt x="101" y="158"/>
                  <a:pt x="91" y="160"/>
                  <a:pt x="80" y="160"/>
                </a:cubicBezTo>
                <a:cubicBezTo>
                  <a:pt x="70" y="160"/>
                  <a:pt x="59" y="158"/>
                  <a:pt x="50" y="154"/>
                </a:cubicBezTo>
                <a:cubicBezTo>
                  <a:pt x="40" y="150"/>
                  <a:pt x="31" y="144"/>
                  <a:pt x="24" y="136"/>
                </a:cubicBezTo>
                <a:cubicBezTo>
                  <a:pt x="16" y="129"/>
                  <a:pt x="10" y="120"/>
                  <a:pt x="6" y="111"/>
                </a:cubicBezTo>
                <a:cubicBezTo>
                  <a:pt x="2" y="101"/>
                  <a:pt x="0" y="90"/>
                  <a:pt x="0" y="79"/>
                </a:cubicBezTo>
                <a:cubicBezTo>
                  <a:pt x="0" y="69"/>
                  <a:pt x="2" y="59"/>
                  <a:pt x="6" y="49"/>
                </a:cubicBezTo>
                <a:cubicBezTo>
                  <a:pt x="10" y="39"/>
                  <a:pt x="16" y="31"/>
                  <a:pt x="24" y="23"/>
                </a:cubicBezTo>
                <a:cubicBezTo>
                  <a:pt x="31" y="16"/>
                  <a:pt x="40" y="10"/>
                  <a:pt x="50" y="6"/>
                </a:cubicBezTo>
                <a:cubicBezTo>
                  <a:pt x="59" y="2"/>
                  <a:pt x="70" y="0"/>
                  <a:pt x="80" y="0"/>
                </a:cubicBezTo>
                <a:cubicBezTo>
                  <a:pt x="91" y="0"/>
                  <a:pt x="101" y="2"/>
                  <a:pt x="110" y="6"/>
                </a:cubicBezTo>
                <a:cubicBezTo>
                  <a:pt x="120" y="10"/>
                  <a:pt x="129" y="16"/>
                  <a:pt x="136" y="23"/>
                </a:cubicBezTo>
                <a:cubicBezTo>
                  <a:pt x="144" y="31"/>
                  <a:pt x="149" y="39"/>
                  <a:pt x="153" y="49"/>
                </a:cubicBezTo>
                <a:cubicBezTo>
                  <a:pt x="157" y="59"/>
                  <a:pt x="159" y="69"/>
                  <a:pt x="159" y="79"/>
                </a:cubicBezTo>
                <a:close/>
              </a:path>
            </a:pathLst>
          </a:custGeom>
          <a:solidFill>
            <a:srgbClr val="0a53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84" name=""/>
          <p:cNvSpPr txBox="1"/>
          <p:nvPr/>
        </p:nvSpPr>
        <p:spPr>
          <a:xfrm>
            <a:off x="923760" y="4503960"/>
            <a:ext cx="2610720" cy="2808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87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For Design Education</a:t>
            </a:r>
            <a:endParaRPr b="0" lang="en-US" sz="187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5" name=""/>
          <p:cNvSpPr/>
          <p:nvPr/>
        </p:nvSpPr>
        <p:spPr>
          <a:xfrm>
            <a:off x="1104840" y="5371920"/>
            <a:ext cx="57240" cy="57600"/>
          </a:xfrm>
          <a:custGeom>
            <a:avLst/>
            <a:gdLst/>
            <a:ahLst/>
            <a:rect l="0" t="0" r="r" b="b"/>
            <a:pathLst>
              <a:path w="159" h="160">
                <a:moveTo>
                  <a:pt x="159" y="80"/>
                </a:moveTo>
                <a:cubicBezTo>
                  <a:pt x="159" y="91"/>
                  <a:pt x="157" y="101"/>
                  <a:pt x="153" y="111"/>
                </a:cubicBezTo>
                <a:cubicBezTo>
                  <a:pt x="149" y="120"/>
                  <a:pt x="144" y="129"/>
                  <a:pt x="136" y="137"/>
                </a:cubicBezTo>
                <a:cubicBezTo>
                  <a:pt x="129" y="144"/>
                  <a:pt x="120" y="150"/>
                  <a:pt x="110" y="154"/>
                </a:cubicBezTo>
                <a:cubicBezTo>
                  <a:pt x="101" y="158"/>
                  <a:pt x="91" y="160"/>
                  <a:pt x="80" y="160"/>
                </a:cubicBezTo>
                <a:cubicBezTo>
                  <a:pt x="70" y="160"/>
                  <a:pt x="59" y="158"/>
                  <a:pt x="50" y="154"/>
                </a:cubicBezTo>
                <a:cubicBezTo>
                  <a:pt x="40" y="150"/>
                  <a:pt x="31" y="144"/>
                  <a:pt x="24" y="137"/>
                </a:cubicBezTo>
                <a:cubicBezTo>
                  <a:pt x="16" y="129"/>
                  <a:pt x="10" y="120"/>
                  <a:pt x="6" y="111"/>
                </a:cubicBezTo>
                <a:cubicBezTo>
                  <a:pt x="2" y="101"/>
                  <a:pt x="0" y="91"/>
                  <a:pt x="0" y="80"/>
                </a:cubicBezTo>
                <a:cubicBezTo>
                  <a:pt x="0" y="70"/>
                  <a:pt x="2" y="60"/>
                  <a:pt x="6" y="50"/>
                </a:cubicBezTo>
                <a:cubicBezTo>
                  <a:pt x="10" y="40"/>
                  <a:pt x="16" y="32"/>
                  <a:pt x="24" y="24"/>
                </a:cubicBezTo>
                <a:cubicBezTo>
                  <a:pt x="31" y="17"/>
                  <a:pt x="40" y="11"/>
                  <a:pt x="50" y="6"/>
                </a:cubicBezTo>
                <a:cubicBezTo>
                  <a:pt x="59" y="2"/>
                  <a:pt x="70" y="0"/>
                  <a:pt x="80" y="0"/>
                </a:cubicBezTo>
                <a:cubicBezTo>
                  <a:pt x="91" y="0"/>
                  <a:pt x="101" y="2"/>
                  <a:pt x="110" y="6"/>
                </a:cubicBezTo>
                <a:cubicBezTo>
                  <a:pt x="120" y="11"/>
                  <a:pt x="129" y="17"/>
                  <a:pt x="136" y="24"/>
                </a:cubicBezTo>
                <a:cubicBezTo>
                  <a:pt x="144" y="32"/>
                  <a:pt x="149" y="40"/>
                  <a:pt x="153" y="50"/>
                </a:cubicBezTo>
                <a:cubicBezTo>
                  <a:pt x="157" y="60"/>
                  <a:pt x="159" y="70"/>
                  <a:pt x="159" y="80"/>
                </a:cubicBezTo>
                <a:close/>
              </a:path>
            </a:pathLst>
          </a:custGeom>
          <a:solidFill>
            <a:srgbClr val="0a53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86" name=""/>
          <p:cNvSpPr txBox="1"/>
          <p:nvPr/>
        </p:nvSpPr>
        <p:spPr>
          <a:xfrm>
            <a:off x="1289520" y="4966560"/>
            <a:ext cx="441936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Shapes how designers think about their discipline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7" name=""/>
          <p:cNvSpPr/>
          <p:nvPr/>
        </p:nvSpPr>
        <p:spPr>
          <a:xfrm>
            <a:off x="1104840" y="5695920"/>
            <a:ext cx="57240" cy="57240"/>
          </a:xfrm>
          <a:custGeom>
            <a:avLst/>
            <a:gdLst/>
            <a:ahLst/>
            <a:rect l="0" t="0" r="r" b="b"/>
            <a:pathLst>
              <a:path w="159" h="159">
                <a:moveTo>
                  <a:pt x="159" y="80"/>
                </a:moveTo>
                <a:cubicBezTo>
                  <a:pt x="159" y="90"/>
                  <a:pt x="157" y="101"/>
                  <a:pt x="153" y="110"/>
                </a:cubicBezTo>
                <a:cubicBezTo>
                  <a:pt x="149" y="120"/>
                  <a:pt x="144" y="129"/>
                  <a:pt x="136" y="136"/>
                </a:cubicBezTo>
                <a:cubicBezTo>
                  <a:pt x="129" y="144"/>
                  <a:pt x="120" y="149"/>
                  <a:pt x="110" y="153"/>
                </a:cubicBezTo>
                <a:cubicBezTo>
                  <a:pt x="101" y="157"/>
                  <a:pt x="91" y="159"/>
                  <a:pt x="80" y="159"/>
                </a:cubicBezTo>
                <a:cubicBezTo>
                  <a:pt x="70" y="159"/>
                  <a:pt x="59" y="157"/>
                  <a:pt x="50" y="153"/>
                </a:cubicBezTo>
                <a:cubicBezTo>
                  <a:pt x="40" y="149"/>
                  <a:pt x="31" y="144"/>
                  <a:pt x="24" y="136"/>
                </a:cubicBezTo>
                <a:cubicBezTo>
                  <a:pt x="16" y="129"/>
                  <a:pt x="10" y="120"/>
                  <a:pt x="6" y="110"/>
                </a:cubicBezTo>
                <a:cubicBezTo>
                  <a:pt x="2" y="101"/>
                  <a:pt x="0" y="90"/>
                  <a:pt x="0" y="80"/>
                </a:cubicBezTo>
                <a:cubicBezTo>
                  <a:pt x="0" y="69"/>
                  <a:pt x="2" y="59"/>
                  <a:pt x="6" y="49"/>
                </a:cubicBezTo>
                <a:cubicBezTo>
                  <a:pt x="10" y="39"/>
                  <a:pt x="16" y="30"/>
                  <a:pt x="24" y="23"/>
                </a:cubicBezTo>
                <a:cubicBezTo>
                  <a:pt x="31" y="15"/>
                  <a:pt x="40" y="10"/>
                  <a:pt x="50" y="6"/>
                </a:cubicBezTo>
                <a:cubicBezTo>
                  <a:pt x="59" y="2"/>
                  <a:pt x="70" y="0"/>
                  <a:pt x="80" y="0"/>
                </a:cubicBezTo>
                <a:cubicBezTo>
                  <a:pt x="91" y="0"/>
                  <a:pt x="101" y="2"/>
                  <a:pt x="110" y="6"/>
                </a:cubicBezTo>
                <a:cubicBezTo>
                  <a:pt x="120" y="10"/>
                  <a:pt x="129" y="15"/>
                  <a:pt x="136" y="23"/>
                </a:cubicBezTo>
                <a:cubicBezTo>
                  <a:pt x="144" y="30"/>
                  <a:pt x="149" y="39"/>
                  <a:pt x="153" y="49"/>
                </a:cubicBezTo>
                <a:cubicBezTo>
                  <a:pt x="157" y="59"/>
                  <a:pt x="159" y="69"/>
                  <a:pt x="159" y="80"/>
                </a:cubicBezTo>
                <a:close/>
              </a:path>
            </a:pathLst>
          </a:custGeom>
          <a:solidFill>
            <a:srgbClr val="0a53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88" name=""/>
          <p:cNvSpPr txBox="1"/>
          <p:nvPr/>
        </p:nvSpPr>
        <p:spPr>
          <a:xfrm>
            <a:off x="1289520" y="5280840"/>
            <a:ext cx="483228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Cultivates philosophical awareness in future designers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9" name=""/>
          <p:cNvSpPr/>
          <p:nvPr/>
        </p:nvSpPr>
        <p:spPr>
          <a:xfrm>
            <a:off x="1104840" y="6010200"/>
            <a:ext cx="57240" cy="57240"/>
          </a:xfrm>
          <a:custGeom>
            <a:avLst/>
            <a:gdLst/>
            <a:ahLst/>
            <a:rect l="0" t="0" r="r" b="b"/>
            <a:pathLst>
              <a:path w="159" h="159">
                <a:moveTo>
                  <a:pt x="159" y="79"/>
                </a:moveTo>
                <a:cubicBezTo>
                  <a:pt x="159" y="90"/>
                  <a:pt x="157" y="100"/>
                  <a:pt x="153" y="109"/>
                </a:cubicBezTo>
                <a:cubicBezTo>
                  <a:pt x="149" y="119"/>
                  <a:pt x="144" y="128"/>
                  <a:pt x="136" y="136"/>
                </a:cubicBezTo>
                <a:cubicBezTo>
                  <a:pt x="129" y="144"/>
                  <a:pt x="120" y="149"/>
                  <a:pt x="110" y="153"/>
                </a:cubicBezTo>
                <a:cubicBezTo>
                  <a:pt x="101" y="157"/>
                  <a:pt x="91" y="159"/>
                  <a:pt x="80" y="159"/>
                </a:cubicBezTo>
                <a:cubicBezTo>
                  <a:pt x="70" y="159"/>
                  <a:pt x="59" y="157"/>
                  <a:pt x="50" y="153"/>
                </a:cubicBezTo>
                <a:cubicBezTo>
                  <a:pt x="40" y="149"/>
                  <a:pt x="31" y="144"/>
                  <a:pt x="24" y="136"/>
                </a:cubicBezTo>
                <a:cubicBezTo>
                  <a:pt x="16" y="128"/>
                  <a:pt x="10" y="119"/>
                  <a:pt x="6" y="109"/>
                </a:cubicBezTo>
                <a:cubicBezTo>
                  <a:pt x="2" y="100"/>
                  <a:pt x="0" y="90"/>
                  <a:pt x="0" y="79"/>
                </a:cubicBezTo>
                <a:cubicBezTo>
                  <a:pt x="0" y="69"/>
                  <a:pt x="2" y="58"/>
                  <a:pt x="6" y="49"/>
                </a:cubicBezTo>
                <a:cubicBezTo>
                  <a:pt x="10" y="39"/>
                  <a:pt x="16" y="30"/>
                  <a:pt x="24" y="23"/>
                </a:cubicBezTo>
                <a:cubicBezTo>
                  <a:pt x="31" y="16"/>
                  <a:pt x="40" y="10"/>
                  <a:pt x="50" y="6"/>
                </a:cubicBezTo>
                <a:cubicBezTo>
                  <a:pt x="59" y="2"/>
                  <a:pt x="70" y="0"/>
                  <a:pt x="80" y="0"/>
                </a:cubicBezTo>
                <a:cubicBezTo>
                  <a:pt x="91" y="0"/>
                  <a:pt x="101" y="2"/>
                  <a:pt x="110" y="6"/>
                </a:cubicBezTo>
                <a:cubicBezTo>
                  <a:pt x="120" y="10"/>
                  <a:pt x="129" y="16"/>
                  <a:pt x="136" y="23"/>
                </a:cubicBezTo>
                <a:cubicBezTo>
                  <a:pt x="144" y="30"/>
                  <a:pt x="149" y="39"/>
                  <a:pt x="153" y="49"/>
                </a:cubicBezTo>
                <a:cubicBezTo>
                  <a:pt x="157" y="58"/>
                  <a:pt x="159" y="69"/>
                  <a:pt x="159" y="79"/>
                </a:cubicBezTo>
                <a:close/>
              </a:path>
            </a:pathLst>
          </a:custGeom>
          <a:solidFill>
            <a:srgbClr val="0a53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90" name=""/>
          <p:cNvSpPr txBox="1"/>
          <p:nvPr/>
        </p:nvSpPr>
        <p:spPr>
          <a:xfrm>
            <a:off x="1289520" y="5604840"/>
            <a:ext cx="440568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Connects design to broader intellectual traditions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1" name=""/>
          <p:cNvSpPr txBox="1"/>
          <p:nvPr/>
        </p:nvSpPr>
        <p:spPr>
          <a:xfrm>
            <a:off x="1289520" y="5919120"/>
            <a:ext cx="349416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Improves the quality of design thinking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2" name=""/>
          <p:cNvSpPr/>
          <p:nvPr/>
        </p:nvSpPr>
        <p:spPr>
          <a:xfrm>
            <a:off x="685440" y="6343560"/>
            <a:ext cx="381600" cy="304920"/>
          </a:xfrm>
          <a:custGeom>
            <a:avLst/>
            <a:gdLst/>
            <a:ahLst/>
            <a:rect l="0" t="0" r="r" b="b"/>
            <a:pathLst>
              <a:path w="1060" h="847">
                <a:moveTo>
                  <a:pt x="0" y="423"/>
                </a:moveTo>
                <a:cubicBezTo>
                  <a:pt x="0" y="395"/>
                  <a:pt x="3" y="368"/>
                  <a:pt x="9" y="340"/>
                </a:cubicBezTo>
                <a:cubicBezTo>
                  <a:pt x="14" y="313"/>
                  <a:pt x="22" y="287"/>
                  <a:pt x="33" y="261"/>
                </a:cubicBezTo>
                <a:cubicBezTo>
                  <a:pt x="43" y="235"/>
                  <a:pt x="56" y="211"/>
                  <a:pt x="72" y="188"/>
                </a:cubicBezTo>
                <a:cubicBezTo>
                  <a:pt x="87" y="165"/>
                  <a:pt x="105" y="143"/>
                  <a:pt x="124" y="124"/>
                </a:cubicBezTo>
                <a:cubicBezTo>
                  <a:pt x="144" y="104"/>
                  <a:pt x="166" y="87"/>
                  <a:pt x="189" y="71"/>
                </a:cubicBezTo>
                <a:cubicBezTo>
                  <a:pt x="212" y="56"/>
                  <a:pt x="236" y="43"/>
                  <a:pt x="262" y="32"/>
                </a:cubicBezTo>
                <a:cubicBezTo>
                  <a:pt x="288" y="21"/>
                  <a:pt x="314" y="13"/>
                  <a:pt x="341" y="8"/>
                </a:cubicBezTo>
                <a:cubicBezTo>
                  <a:pt x="369" y="2"/>
                  <a:pt x="396" y="0"/>
                  <a:pt x="424" y="0"/>
                </a:cubicBezTo>
                <a:lnTo>
                  <a:pt x="635" y="0"/>
                </a:lnTo>
                <a:cubicBezTo>
                  <a:pt x="663" y="0"/>
                  <a:pt x="691" y="2"/>
                  <a:pt x="718" y="8"/>
                </a:cubicBezTo>
                <a:cubicBezTo>
                  <a:pt x="746" y="13"/>
                  <a:pt x="773" y="21"/>
                  <a:pt x="799" y="32"/>
                </a:cubicBezTo>
                <a:cubicBezTo>
                  <a:pt x="824" y="43"/>
                  <a:pt x="849" y="56"/>
                  <a:pt x="872" y="71"/>
                </a:cubicBezTo>
                <a:cubicBezTo>
                  <a:pt x="895" y="87"/>
                  <a:pt x="916" y="104"/>
                  <a:pt x="936" y="124"/>
                </a:cubicBezTo>
                <a:cubicBezTo>
                  <a:pt x="955" y="143"/>
                  <a:pt x="973" y="165"/>
                  <a:pt x="988" y="188"/>
                </a:cubicBezTo>
                <a:cubicBezTo>
                  <a:pt x="1004" y="211"/>
                  <a:pt x="1017" y="235"/>
                  <a:pt x="1028" y="261"/>
                </a:cubicBezTo>
                <a:cubicBezTo>
                  <a:pt x="1038" y="287"/>
                  <a:pt x="1046" y="313"/>
                  <a:pt x="1052" y="340"/>
                </a:cubicBezTo>
                <a:cubicBezTo>
                  <a:pt x="1057" y="368"/>
                  <a:pt x="1060" y="395"/>
                  <a:pt x="1060" y="423"/>
                </a:cubicBezTo>
                <a:cubicBezTo>
                  <a:pt x="1060" y="451"/>
                  <a:pt x="1057" y="478"/>
                  <a:pt x="1052" y="506"/>
                </a:cubicBezTo>
                <a:cubicBezTo>
                  <a:pt x="1046" y="533"/>
                  <a:pt x="1038" y="559"/>
                  <a:pt x="1028" y="586"/>
                </a:cubicBezTo>
                <a:cubicBezTo>
                  <a:pt x="1017" y="612"/>
                  <a:pt x="1004" y="636"/>
                  <a:pt x="988" y="659"/>
                </a:cubicBezTo>
                <a:cubicBezTo>
                  <a:pt x="973" y="682"/>
                  <a:pt x="955" y="704"/>
                  <a:pt x="936" y="723"/>
                </a:cubicBezTo>
                <a:cubicBezTo>
                  <a:pt x="916" y="743"/>
                  <a:pt x="895" y="761"/>
                  <a:pt x="872" y="776"/>
                </a:cubicBezTo>
                <a:cubicBezTo>
                  <a:pt x="849" y="792"/>
                  <a:pt x="824" y="805"/>
                  <a:pt x="799" y="815"/>
                </a:cubicBezTo>
                <a:cubicBezTo>
                  <a:pt x="773" y="826"/>
                  <a:pt x="746" y="834"/>
                  <a:pt x="718" y="839"/>
                </a:cubicBezTo>
                <a:cubicBezTo>
                  <a:pt x="691" y="845"/>
                  <a:pt x="663" y="847"/>
                  <a:pt x="635" y="847"/>
                </a:cubicBezTo>
                <a:lnTo>
                  <a:pt x="424" y="847"/>
                </a:lnTo>
                <a:cubicBezTo>
                  <a:pt x="396" y="847"/>
                  <a:pt x="369" y="845"/>
                  <a:pt x="341" y="839"/>
                </a:cubicBezTo>
                <a:cubicBezTo>
                  <a:pt x="314" y="834"/>
                  <a:pt x="288" y="826"/>
                  <a:pt x="262" y="815"/>
                </a:cubicBezTo>
                <a:cubicBezTo>
                  <a:pt x="236" y="805"/>
                  <a:pt x="212" y="792"/>
                  <a:pt x="189" y="776"/>
                </a:cubicBezTo>
                <a:cubicBezTo>
                  <a:pt x="166" y="761"/>
                  <a:pt x="144" y="743"/>
                  <a:pt x="124" y="723"/>
                </a:cubicBezTo>
                <a:cubicBezTo>
                  <a:pt x="105" y="704"/>
                  <a:pt x="87" y="682"/>
                  <a:pt x="72" y="659"/>
                </a:cubicBezTo>
                <a:cubicBezTo>
                  <a:pt x="56" y="636"/>
                  <a:pt x="43" y="612"/>
                  <a:pt x="33" y="586"/>
                </a:cubicBezTo>
                <a:cubicBezTo>
                  <a:pt x="22" y="559"/>
                  <a:pt x="14" y="533"/>
                  <a:pt x="9" y="506"/>
                </a:cubicBezTo>
                <a:cubicBezTo>
                  <a:pt x="3" y="478"/>
                  <a:pt x="0" y="451"/>
                  <a:pt x="0" y="423"/>
                </a:cubicBezTo>
                <a:close/>
              </a:path>
            </a:pathLst>
          </a:custGeom>
          <a:solidFill>
            <a:srgbClr val="ffffff">
              <a:alpha val="74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3" name=""/>
          <p:cNvSpPr txBox="1"/>
          <p:nvPr/>
        </p:nvSpPr>
        <p:spPr>
          <a:xfrm>
            <a:off x="1238400" y="6569280"/>
            <a:ext cx="3390120" cy="12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800" strike="noStrike" u="none">
                <a:solidFill>
                  <a:srgbClr val="a6a6a6"/>
                </a:solidFill>
                <a:effectLst/>
                <a:uFillTx/>
                <a:latin typeface="LucidaGrande"/>
                <a:ea typeface="LucidaGrande"/>
              </a:rPr>
              <a:t>Version: GITREVISION | © 22.09.2026 University of Southampton</a:t>
            </a:r>
            <a:endParaRPr b="0" lang="en-US" sz="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4" name=""/>
          <p:cNvSpPr txBox="1"/>
          <p:nvPr/>
        </p:nvSpPr>
        <p:spPr>
          <a:xfrm>
            <a:off x="762120" y="6390720"/>
            <a:ext cx="226080" cy="21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15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298" name="" descr=""/>
          <p:cNvPicPr/>
          <p:nvPr/>
        </p:nvPicPr>
        <p:blipFill>
          <a:blip r:embed="rId1"/>
          <a:stretch/>
        </p:blipFill>
        <p:spPr>
          <a:xfrm>
            <a:off x="10134720" y="5981760"/>
            <a:ext cx="1904760" cy="1065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99" name=""/>
          <p:cNvSpPr/>
          <p:nvPr/>
        </p:nvSpPr>
        <p:spPr>
          <a:xfrm>
            <a:off x="971280" y="3000240"/>
            <a:ext cx="66960" cy="66960"/>
          </a:xfrm>
          <a:custGeom>
            <a:avLst/>
            <a:gdLst/>
            <a:ahLst/>
            <a:rect l="0" t="0" r="r" b="b"/>
            <a:pathLst>
              <a:path w="186" h="186">
                <a:moveTo>
                  <a:pt x="186" y="93"/>
                </a:moveTo>
                <a:cubicBezTo>
                  <a:pt x="186" y="106"/>
                  <a:pt x="184" y="118"/>
                  <a:pt x="179" y="129"/>
                </a:cubicBezTo>
                <a:cubicBezTo>
                  <a:pt x="175" y="140"/>
                  <a:pt x="167" y="150"/>
                  <a:pt x="158" y="159"/>
                </a:cubicBezTo>
                <a:cubicBezTo>
                  <a:pt x="150" y="168"/>
                  <a:pt x="140" y="174"/>
                  <a:pt x="128" y="179"/>
                </a:cubicBezTo>
                <a:cubicBezTo>
                  <a:pt x="117" y="184"/>
                  <a:pt x="105" y="186"/>
                  <a:pt x="93" y="186"/>
                </a:cubicBezTo>
                <a:cubicBezTo>
                  <a:pt x="81" y="186"/>
                  <a:pt x="69" y="184"/>
                  <a:pt x="57" y="179"/>
                </a:cubicBezTo>
                <a:cubicBezTo>
                  <a:pt x="46" y="174"/>
                  <a:pt x="36" y="168"/>
                  <a:pt x="27" y="159"/>
                </a:cubicBezTo>
                <a:cubicBezTo>
                  <a:pt x="19" y="150"/>
                  <a:pt x="12" y="140"/>
                  <a:pt x="7" y="129"/>
                </a:cubicBezTo>
                <a:cubicBezTo>
                  <a:pt x="3" y="118"/>
                  <a:pt x="0" y="106"/>
                  <a:pt x="0" y="93"/>
                </a:cubicBezTo>
                <a:cubicBezTo>
                  <a:pt x="0" y="80"/>
                  <a:pt x="3" y="68"/>
                  <a:pt x="7" y="57"/>
                </a:cubicBezTo>
                <a:cubicBezTo>
                  <a:pt x="12" y="46"/>
                  <a:pt x="19" y="36"/>
                  <a:pt x="27" y="27"/>
                </a:cubicBezTo>
                <a:cubicBezTo>
                  <a:pt x="36" y="18"/>
                  <a:pt x="46" y="12"/>
                  <a:pt x="57" y="7"/>
                </a:cubicBezTo>
                <a:cubicBezTo>
                  <a:pt x="69" y="2"/>
                  <a:pt x="81" y="0"/>
                  <a:pt x="93" y="0"/>
                </a:cubicBezTo>
                <a:cubicBezTo>
                  <a:pt x="105" y="0"/>
                  <a:pt x="117" y="2"/>
                  <a:pt x="128" y="7"/>
                </a:cubicBezTo>
                <a:cubicBezTo>
                  <a:pt x="140" y="12"/>
                  <a:pt x="150" y="18"/>
                  <a:pt x="158" y="27"/>
                </a:cubicBezTo>
                <a:cubicBezTo>
                  <a:pt x="167" y="36"/>
                  <a:pt x="175" y="46"/>
                  <a:pt x="179" y="57"/>
                </a:cubicBezTo>
                <a:cubicBezTo>
                  <a:pt x="184" y="68"/>
                  <a:pt x="186" y="80"/>
                  <a:pt x="186" y="93"/>
                </a:cubicBezTo>
                <a:close/>
              </a:path>
            </a:pathLst>
          </a:custGeom>
          <a:solidFill>
            <a:srgbClr val="0a53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00" name=""/>
          <p:cNvSpPr txBox="1"/>
          <p:nvPr/>
        </p:nvSpPr>
        <p:spPr>
          <a:xfrm>
            <a:off x="762120" y="2451600"/>
            <a:ext cx="522324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Design is not merely technical problem-solving. It is: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1" name=""/>
          <p:cNvSpPr/>
          <p:nvPr/>
        </p:nvSpPr>
        <p:spPr>
          <a:xfrm>
            <a:off x="971280" y="3352680"/>
            <a:ext cx="66960" cy="66960"/>
          </a:xfrm>
          <a:custGeom>
            <a:avLst/>
            <a:gdLst/>
            <a:ahLst/>
            <a:rect l="0" t="0" r="r" b="b"/>
            <a:pathLst>
              <a:path w="186" h="186">
                <a:moveTo>
                  <a:pt x="186" y="93"/>
                </a:moveTo>
                <a:cubicBezTo>
                  <a:pt x="186" y="106"/>
                  <a:pt x="184" y="118"/>
                  <a:pt x="179" y="129"/>
                </a:cubicBezTo>
                <a:cubicBezTo>
                  <a:pt x="175" y="140"/>
                  <a:pt x="167" y="150"/>
                  <a:pt x="158" y="159"/>
                </a:cubicBezTo>
                <a:cubicBezTo>
                  <a:pt x="150" y="168"/>
                  <a:pt x="140" y="174"/>
                  <a:pt x="128" y="179"/>
                </a:cubicBezTo>
                <a:cubicBezTo>
                  <a:pt x="117" y="184"/>
                  <a:pt x="105" y="186"/>
                  <a:pt x="93" y="186"/>
                </a:cubicBezTo>
                <a:cubicBezTo>
                  <a:pt x="81" y="186"/>
                  <a:pt x="69" y="184"/>
                  <a:pt x="57" y="179"/>
                </a:cubicBezTo>
                <a:cubicBezTo>
                  <a:pt x="46" y="174"/>
                  <a:pt x="36" y="168"/>
                  <a:pt x="27" y="159"/>
                </a:cubicBezTo>
                <a:cubicBezTo>
                  <a:pt x="19" y="150"/>
                  <a:pt x="12" y="140"/>
                  <a:pt x="7" y="129"/>
                </a:cubicBezTo>
                <a:cubicBezTo>
                  <a:pt x="3" y="118"/>
                  <a:pt x="0" y="106"/>
                  <a:pt x="0" y="93"/>
                </a:cubicBezTo>
                <a:cubicBezTo>
                  <a:pt x="0" y="81"/>
                  <a:pt x="3" y="69"/>
                  <a:pt x="7" y="58"/>
                </a:cubicBezTo>
                <a:cubicBezTo>
                  <a:pt x="12" y="47"/>
                  <a:pt x="19" y="37"/>
                  <a:pt x="27" y="27"/>
                </a:cubicBezTo>
                <a:cubicBezTo>
                  <a:pt x="36" y="18"/>
                  <a:pt x="46" y="12"/>
                  <a:pt x="57" y="7"/>
                </a:cubicBezTo>
                <a:cubicBezTo>
                  <a:pt x="69" y="2"/>
                  <a:pt x="81" y="0"/>
                  <a:pt x="93" y="0"/>
                </a:cubicBezTo>
                <a:cubicBezTo>
                  <a:pt x="105" y="0"/>
                  <a:pt x="117" y="2"/>
                  <a:pt x="128" y="7"/>
                </a:cubicBezTo>
                <a:cubicBezTo>
                  <a:pt x="140" y="12"/>
                  <a:pt x="150" y="18"/>
                  <a:pt x="158" y="27"/>
                </a:cubicBezTo>
                <a:cubicBezTo>
                  <a:pt x="167" y="37"/>
                  <a:pt x="175" y="47"/>
                  <a:pt x="179" y="58"/>
                </a:cubicBezTo>
                <a:cubicBezTo>
                  <a:pt x="184" y="69"/>
                  <a:pt x="186" y="81"/>
                  <a:pt x="186" y="93"/>
                </a:cubicBezTo>
                <a:close/>
              </a:path>
            </a:pathLst>
          </a:custGeom>
          <a:solidFill>
            <a:srgbClr val="0a53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02" name=""/>
          <p:cNvSpPr txBox="1"/>
          <p:nvPr/>
        </p:nvSpPr>
        <p:spPr>
          <a:xfrm>
            <a:off x="1168200" y="2908800"/>
            <a:ext cx="961416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A philosophical endeavor involving fundamental questions about reality, knowledge, and purpose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3" name=""/>
          <p:cNvSpPr/>
          <p:nvPr/>
        </p:nvSpPr>
        <p:spPr>
          <a:xfrm>
            <a:off x="971280" y="3705120"/>
            <a:ext cx="66960" cy="66960"/>
          </a:xfrm>
          <a:custGeom>
            <a:avLst/>
            <a:gdLst/>
            <a:ahLst/>
            <a:rect l="0" t="0" r="r" b="b"/>
            <a:pathLst>
              <a:path w="186" h="186">
                <a:moveTo>
                  <a:pt x="186" y="92"/>
                </a:moveTo>
                <a:cubicBezTo>
                  <a:pt x="186" y="105"/>
                  <a:pt x="184" y="116"/>
                  <a:pt x="179" y="128"/>
                </a:cubicBezTo>
                <a:cubicBezTo>
                  <a:pt x="175" y="139"/>
                  <a:pt x="167" y="149"/>
                  <a:pt x="158" y="158"/>
                </a:cubicBezTo>
                <a:cubicBezTo>
                  <a:pt x="150" y="168"/>
                  <a:pt x="140" y="174"/>
                  <a:pt x="128" y="179"/>
                </a:cubicBezTo>
                <a:cubicBezTo>
                  <a:pt x="117" y="184"/>
                  <a:pt x="105" y="186"/>
                  <a:pt x="93" y="186"/>
                </a:cubicBezTo>
                <a:cubicBezTo>
                  <a:pt x="81" y="186"/>
                  <a:pt x="69" y="184"/>
                  <a:pt x="57" y="179"/>
                </a:cubicBezTo>
                <a:cubicBezTo>
                  <a:pt x="46" y="174"/>
                  <a:pt x="36" y="168"/>
                  <a:pt x="27" y="158"/>
                </a:cubicBezTo>
                <a:cubicBezTo>
                  <a:pt x="19" y="149"/>
                  <a:pt x="12" y="139"/>
                  <a:pt x="7" y="128"/>
                </a:cubicBezTo>
                <a:cubicBezTo>
                  <a:pt x="3" y="116"/>
                  <a:pt x="0" y="105"/>
                  <a:pt x="0" y="92"/>
                </a:cubicBezTo>
                <a:cubicBezTo>
                  <a:pt x="0" y="80"/>
                  <a:pt x="3" y="68"/>
                  <a:pt x="7" y="57"/>
                </a:cubicBezTo>
                <a:cubicBezTo>
                  <a:pt x="12" y="46"/>
                  <a:pt x="19" y="36"/>
                  <a:pt x="27" y="27"/>
                </a:cubicBezTo>
                <a:cubicBezTo>
                  <a:pt x="36" y="18"/>
                  <a:pt x="46" y="12"/>
                  <a:pt x="57" y="7"/>
                </a:cubicBezTo>
                <a:cubicBezTo>
                  <a:pt x="69" y="2"/>
                  <a:pt x="81" y="0"/>
                  <a:pt x="93" y="0"/>
                </a:cubicBezTo>
                <a:cubicBezTo>
                  <a:pt x="105" y="0"/>
                  <a:pt x="117" y="2"/>
                  <a:pt x="128" y="7"/>
                </a:cubicBezTo>
                <a:cubicBezTo>
                  <a:pt x="140" y="12"/>
                  <a:pt x="150" y="18"/>
                  <a:pt x="158" y="27"/>
                </a:cubicBezTo>
                <a:cubicBezTo>
                  <a:pt x="167" y="36"/>
                  <a:pt x="175" y="46"/>
                  <a:pt x="179" y="57"/>
                </a:cubicBezTo>
                <a:cubicBezTo>
                  <a:pt x="184" y="68"/>
                  <a:pt x="186" y="80"/>
                  <a:pt x="186" y="92"/>
                </a:cubicBezTo>
                <a:close/>
              </a:path>
            </a:pathLst>
          </a:custGeom>
          <a:solidFill>
            <a:srgbClr val="0a53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04" name=""/>
          <p:cNvSpPr txBox="1"/>
          <p:nvPr/>
        </p:nvSpPr>
        <p:spPr>
          <a:xfrm>
            <a:off x="1168200" y="3261240"/>
            <a:ext cx="582948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Shaped by implicit philosophies that drive design decisions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5" name=""/>
          <p:cNvSpPr/>
          <p:nvPr/>
        </p:nvSpPr>
        <p:spPr>
          <a:xfrm>
            <a:off x="971280" y="4066920"/>
            <a:ext cx="66960" cy="66960"/>
          </a:xfrm>
          <a:custGeom>
            <a:avLst/>
            <a:gdLst/>
            <a:ahLst/>
            <a:rect l="0" t="0" r="r" b="b"/>
            <a:pathLst>
              <a:path w="186" h="186">
                <a:moveTo>
                  <a:pt x="186" y="94"/>
                </a:moveTo>
                <a:cubicBezTo>
                  <a:pt x="186" y="106"/>
                  <a:pt x="184" y="118"/>
                  <a:pt x="179" y="129"/>
                </a:cubicBezTo>
                <a:cubicBezTo>
                  <a:pt x="175" y="141"/>
                  <a:pt x="167" y="151"/>
                  <a:pt x="158" y="159"/>
                </a:cubicBezTo>
                <a:cubicBezTo>
                  <a:pt x="150" y="168"/>
                  <a:pt x="140" y="175"/>
                  <a:pt x="128" y="179"/>
                </a:cubicBezTo>
                <a:cubicBezTo>
                  <a:pt x="117" y="184"/>
                  <a:pt x="105" y="186"/>
                  <a:pt x="93" y="186"/>
                </a:cubicBezTo>
                <a:cubicBezTo>
                  <a:pt x="81" y="186"/>
                  <a:pt x="69" y="184"/>
                  <a:pt x="57" y="179"/>
                </a:cubicBezTo>
                <a:cubicBezTo>
                  <a:pt x="46" y="175"/>
                  <a:pt x="36" y="168"/>
                  <a:pt x="27" y="159"/>
                </a:cubicBezTo>
                <a:cubicBezTo>
                  <a:pt x="19" y="151"/>
                  <a:pt x="12" y="141"/>
                  <a:pt x="7" y="129"/>
                </a:cubicBezTo>
                <a:cubicBezTo>
                  <a:pt x="3" y="118"/>
                  <a:pt x="0" y="106"/>
                  <a:pt x="0" y="94"/>
                </a:cubicBezTo>
                <a:cubicBezTo>
                  <a:pt x="0" y="82"/>
                  <a:pt x="3" y="69"/>
                  <a:pt x="7" y="57"/>
                </a:cubicBezTo>
                <a:cubicBezTo>
                  <a:pt x="12" y="46"/>
                  <a:pt x="19" y="36"/>
                  <a:pt x="27" y="27"/>
                </a:cubicBezTo>
                <a:cubicBezTo>
                  <a:pt x="36" y="19"/>
                  <a:pt x="46" y="12"/>
                  <a:pt x="57" y="7"/>
                </a:cubicBezTo>
                <a:cubicBezTo>
                  <a:pt x="69" y="3"/>
                  <a:pt x="81" y="0"/>
                  <a:pt x="93" y="0"/>
                </a:cubicBezTo>
                <a:cubicBezTo>
                  <a:pt x="105" y="0"/>
                  <a:pt x="117" y="3"/>
                  <a:pt x="128" y="7"/>
                </a:cubicBezTo>
                <a:cubicBezTo>
                  <a:pt x="140" y="12"/>
                  <a:pt x="150" y="19"/>
                  <a:pt x="158" y="27"/>
                </a:cubicBezTo>
                <a:cubicBezTo>
                  <a:pt x="167" y="36"/>
                  <a:pt x="175" y="46"/>
                  <a:pt x="179" y="57"/>
                </a:cubicBezTo>
                <a:cubicBezTo>
                  <a:pt x="184" y="69"/>
                  <a:pt x="186" y="82"/>
                  <a:pt x="186" y="94"/>
                </a:cubicBezTo>
                <a:close/>
              </a:path>
            </a:pathLst>
          </a:custGeom>
          <a:solidFill>
            <a:srgbClr val="0a538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06" name=""/>
          <p:cNvSpPr txBox="1"/>
          <p:nvPr/>
        </p:nvSpPr>
        <p:spPr>
          <a:xfrm>
            <a:off x="1168200" y="3613680"/>
            <a:ext cx="754668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A practice that requires critical reﬂection on its own nature and assumptions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7" name=""/>
          <p:cNvSpPr txBox="1"/>
          <p:nvPr/>
        </p:nvSpPr>
        <p:spPr>
          <a:xfrm>
            <a:off x="1168200" y="3975480"/>
            <a:ext cx="749736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Essential to understanding how artefacts shape human life and environment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8" name=""/>
          <p:cNvSpPr txBox="1"/>
          <p:nvPr/>
        </p:nvSpPr>
        <p:spPr>
          <a:xfrm>
            <a:off x="1238400" y="6405120"/>
            <a:ext cx="1046520" cy="155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05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SEAtS | 080172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9" name=""/>
          <p:cNvSpPr/>
          <p:nvPr/>
        </p:nvSpPr>
        <p:spPr>
          <a:xfrm>
            <a:off x="766440" y="4404960"/>
            <a:ext cx="10658880" cy="762480"/>
          </a:xfrm>
          <a:custGeom>
            <a:avLst/>
            <a:gdLst/>
            <a:ahLst/>
            <a:rect l="0" t="0" r="r" b="b"/>
            <a:pathLst>
              <a:path w="29608" h="2118">
                <a:moveTo>
                  <a:pt x="0" y="1973"/>
                </a:moveTo>
                <a:lnTo>
                  <a:pt x="0" y="146"/>
                </a:lnTo>
                <a:cubicBezTo>
                  <a:pt x="0" y="136"/>
                  <a:pt x="1" y="127"/>
                  <a:pt x="3" y="118"/>
                </a:cubicBezTo>
                <a:cubicBezTo>
                  <a:pt x="5" y="108"/>
                  <a:pt x="8" y="99"/>
                  <a:pt x="11" y="90"/>
                </a:cubicBezTo>
                <a:cubicBezTo>
                  <a:pt x="15" y="81"/>
                  <a:pt x="20" y="73"/>
                  <a:pt x="25" y="65"/>
                </a:cubicBezTo>
                <a:cubicBezTo>
                  <a:pt x="30" y="57"/>
                  <a:pt x="36" y="50"/>
                  <a:pt x="43" y="43"/>
                </a:cubicBezTo>
                <a:cubicBezTo>
                  <a:pt x="50" y="36"/>
                  <a:pt x="57" y="30"/>
                  <a:pt x="65" y="25"/>
                </a:cubicBezTo>
                <a:cubicBezTo>
                  <a:pt x="73" y="20"/>
                  <a:pt x="81" y="15"/>
                  <a:pt x="90" y="12"/>
                </a:cubicBezTo>
                <a:cubicBezTo>
                  <a:pt x="99" y="8"/>
                  <a:pt x="108" y="5"/>
                  <a:pt x="118" y="3"/>
                </a:cubicBezTo>
                <a:cubicBezTo>
                  <a:pt x="127" y="1"/>
                  <a:pt x="136" y="0"/>
                  <a:pt x="146" y="0"/>
                </a:cubicBezTo>
                <a:lnTo>
                  <a:pt x="29463" y="0"/>
                </a:lnTo>
                <a:cubicBezTo>
                  <a:pt x="29472" y="0"/>
                  <a:pt x="29482" y="1"/>
                  <a:pt x="29491" y="3"/>
                </a:cubicBezTo>
                <a:cubicBezTo>
                  <a:pt x="29501" y="5"/>
                  <a:pt x="29510" y="8"/>
                  <a:pt x="29518" y="12"/>
                </a:cubicBezTo>
                <a:cubicBezTo>
                  <a:pt x="29527" y="15"/>
                  <a:pt x="29536" y="20"/>
                  <a:pt x="29544" y="25"/>
                </a:cubicBezTo>
                <a:cubicBezTo>
                  <a:pt x="29552" y="30"/>
                  <a:pt x="29559" y="36"/>
                  <a:pt x="29566" y="43"/>
                </a:cubicBezTo>
                <a:cubicBezTo>
                  <a:pt x="29572" y="50"/>
                  <a:pt x="29578" y="57"/>
                  <a:pt x="29584" y="65"/>
                </a:cubicBezTo>
                <a:cubicBezTo>
                  <a:pt x="29589" y="73"/>
                  <a:pt x="29594" y="81"/>
                  <a:pt x="29597" y="90"/>
                </a:cubicBezTo>
                <a:cubicBezTo>
                  <a:pt x="29601" y="99"/>
                  <a:pt x="29604" y="108"/>
                  <a:pt x="29605" y="118"/>
                </a:cubicBezTo>
                <a:cubicBezTo>
                  <a:pt x="29607" y="127"/>
                  <a:pt x="29608" y="136"/>
                  <a:pt x="29608" y="146"/>
                </a:cubicBezTo>
                <a:lnTo>
                  <a:pt x="29608" y="1973"/>
                </a:lnTo>
                <a:cubicBezTo>
                  <a:pt x="29608" y="1982"/>
                  <a:pt x="29607" y="1992"/>
                  <a:pt x="29605" y="2001"/>
                </a:cubicBezTo>
                <a:cubicBezTo>
                  <a:pt x="29604" y="2010"/>
                  <a:pt x="29601" y="2019"/>
                  <a:pt x="29597" y="2028"/>
                </a:cubicBezTo>
                <a:cubicBezTo>
                  <a:pt x="29594" y="2037"/>
                  <a:pt x="29589" y="2046"/>
                  <a:pt x="29584" y="2053"/>
                </a:cubicBezTo>
                <a:cubicBezTo>
                  <a:pt x="29578" y="2061"/>
                  <a:pt x="29572" y="2069"/>
                  <a:pt x="29566" y="2076"/>
                </a:cubicBezTo>
                <a:cubicBezTo>
                  <a:pt x="29559" y="2082"/>
                  <a:pt x="29552" y="2088"/>
                  <a:pt x="29544" y="2094"/>
                </a:cubicBezTo>
                <a:cubicBezTo>
                  <a:pt x="29536" y="2099"/>
                  <a:pt x="29527" y="2103"/>
                  <a:pt x="29518" y="2107"/>
                </a:cubicBezTo>
                <a:cubicBezTo>
                  <a:pt x="29510" y="2111"/>
                  <a:pt x="29501" y="2113"/>
                  <a:pt x="29491" y="2115"/>
                </a:cubicBezTo>
                <a:cubicBezTo>
                  <a:pt x="29482" y="2117"/>
                  <a:pt x="29472" y="2118"/>
                  <a:pt x="29463" y="2118"/>
                </a:cubicBezTo>
                <a:lnTo>
                  <a:pt x="146" y="2118"/>
                </a:lnTo>
                <a:cubicBezTo>
                  <a:pt x="136" y="2118"/>
                  <a:pt x="127" y="2117"/>
                  <a:pt x="118" y="2115"/>
                </a:cubicBezTo>
                <a:cubicBezTo>
                  <a:pt x="108" y="2113"/>
                  <a:pt x="99" y="2111"/>
                  <a:pt x="90" y="2107"/>
                </a:cubicBezTo>
                <a:cubicBezTo>
                  <a:pt x="81" y="2103"/>
                  <a:pt x="73" y="2099"/>
                  <a:pt x="65" y="2094"/>
                </a:cubicBezTo>
                <a:cubicBezTo>
                  <a:pt x="57" y="2088"/>
                  <a:pt x="50" y="2082"/>
                  <a:pt x="43" y="2076"/>
                </a:cubicBezTo>
                <a:cubicBezTo>
                  <a:pt x="36" y="2069"/>
                  <a:pt x="30" y="2061"/>
                  <a:pt x="25" y="2053"/>
                </a:cubicBezTo>
                <a:cubicBezTo>
                  <a:pt x="20" y="2046"/>
                  <a:pt x="15" y="2037"/>
                  <a:pt x="11" y="2028"/>
                </a:cubicBezTo>
                <a:cubicBezTo>
                  <a:pt x="8" y="2019"/>
                  <a:pt x="5" y="2010"/>
                  <a:pt x="3" y="2001"/>
                </a:cubicBezTo>
                <a:cubicBezTo>
                  <a:pt x="1" y="1992"/>
                  <a:pt x="0" y="1982"/>
                  <a:pt x="0" y="1973"/>
                </a:cubicBezTo>
                <a:close/>
              </a:path>
            </a:pathLst>
          </a:custGeom>
          <a:solidFill>
            <a:srgbClr val="f2f2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0" name=""/>
          <p:cNvSpPr/>
          <p:nvPr/>
        </p:nvSpPr>
        <p:spPr>
          <a:xfrm>
            <a:off x="766440" y="4404960"/>
            <a:ext cx="10658880" cy="762480"/>
          </a:xfrm>
          <a:custGeom>
            <a:avLst/>
            <a:gdLst/>
            <a:ahLst/>
            <a:rect l="0" t="0" r="r" b="b"/>
            <a:pathLst>
              <a:path fill="none" w="29608" h="2118">
                <a:moveTo>
                  <a:pt x="0" y="1973"/>
                </a:moveTo>
                <a:lnTo>
                  <a:pt x="0" y="146"/>
                </a:lnTo>
                <a:cubicBezTo>
                  <a:pt x="0" y="136"/>
                  <a:pt x="1" y="127"/>
                  <a:pt x="3" y="118"/>
                </a:cubicBezTo>
                <a:cubicBezTo>
                  <a:pt x="5" y="108"/>
                  <a:pt x="8" y="99"/>
                  <a:pt x="11" y="90"/>
                </a:cubicBezTo>
                <a:cubicBezTo>
                  <a:pt x="15" y="81"/>
                  <a:pt x="20" y="73"/>
                  <a:pt x="25" y="65"/>
                </a:cubicBezTo>
                <a:cubicBezTo>
                  <a:pt x="30" y="57"/>
                  <a:pt x="36" y="50"/>
                  <a:pt x="43" y="43"/>
                </a:cubicBezTo>
                <a:cubicBezTo>
                  <a:pt x="50" y="36"/>
                  <a:pt x="57" y="30"/>
                  <a:pt x="65" y="25"/>
                </a:cubicBezTo>
                <a:cubicBezTo>
                  <a:pt x="73" y="20"/>
                  <a:pt x="81" y="15"/>
                  <a:pt x="90" y="12"/>
                </a:cubicBezTo>
                <a:cubicBezTo>
                  <a:pt x="99" y="8"/>
                  <a:pt x="108" y="5"/>
                  <a:pt x="118" y="3"/>
                </a:cubicBezTo>
                <a:cubicBezTo>
                  <a:pt x="127" y="1"/>
                  <a:pt x="136" y="0"/>
                  <a:pt x="146" y="0"/>
                </a:cubicBezTo>
                <a:lnTo>
                  <a:pt x="29463" y="0"/>
                </a:lnTo>
                <a:cubicBezTo>
                  <a:pt x="29472" y="0"/>
                  <a:pt x="29482" y="1"/>
                  <a:pt x="29491" y="3"/>
                </a:cubicBezTo>
                <a:cubicBezTo>
                  <a:pt x="29501" y="5"/>
                  <a:pt x="29510" y="8"/>
                  <a:pt x="29518" y="12"/>
                </a:cubicBezTo>
                <a:cubicBezTo>
                  <a:pt x="29527" y="15"/>
                  <a:pt x="29536" y="20"/>
                  <a:pt x="29544" y="25"/>
                </a:cubicBezTo>
                <a:cubicBezTo>
                  <a:pt x="29552" y="30"/>
                  <a:pt x="29559" y="36"/>
                  <a:pt x="29566" y="43"/>
                </a:cubicBezTo>
                <a:cubicBezTo>
                  <a:pt x="29572" y="50"/>
                  <a:pt x="29578" y="57"/>
                  <a:pt x="29584" y="65"/>
                </a:cubicBezTo>
                <a:cubicBezTo>
                  <a:pt x="29589" y="73"/>
                  <a:pt x="29594" y="81"/>
                  <a:pt x="29597" y="90"/>
                </a:cubicBezTo>
                <a:cubicBezTo>
                  <a:pt x="29601" y="99"/>
                  <a:pt x="29604" y="108"/>
                  <a:pt x="29605" y="118"/>
                </a:cubicBezTo>
                <a:cubicBezTo>
                  <a:pt x="29607" y="127"/>
                  <a:pt x="29608" y="136"/>
                  <a:pt x="29608" y="146"/>
                </a:cubicBezTo>
                <a:lnTo>
                  <a:pt x="29608" y="1973"/>
                </a:lnTo>
                <a:cubicBezTo>
                  <a:pt x="29608" y="1982"/>
                  <a:pt x="29607" y="1992"/>
                  <a:pt x="29605" y="2001"/>
                </a:cubicBezTo>
                <a:cubicBezTo>
                  <a:pt x="29604" y="2010"/>
                  <a:pt x="29601" y="2019"/>
                  <a:pt x="29597" y="2028"/>
                </a:cubicBezTo>
                <a:cubicBezTo>
                  <a:pt x="29594" y="2037"/>
                  <a:pt x="29589" y="2046"/>
                  <a:pt x="29584" y="2053"/>
                </a:cubicBezTo>
                <a:cubicBezTo>
                  <a:pt x="29578" y="2061"/>
                  <a:pt x="29572" y="2069"/>
                  <a:pt x="29566" y="2076"/>
                </a:cubicBezTo>
                <a:cubicBezTo>
                  <a:pt x="29559" y="2082"/>
                  <a:pt x="29552" y="2088"/>
                  <a:pt x="29544" y="2094"/>
                </a:cubicBezTo>
                <a:cubicBezTo>
                  <a:pt x="29536" y="2099"/>
                  <a:pt x="29527" y="2103"/>
                  <a:pt x="29518" y="2107"/>
                </a:cubicBezTo>
                <a:cubicBezTo>
                  <a:pt x="29510" y="2111"/>
                  <a:pt x="29501" y="2113"/>
                  <a:pt x="29491" y="2115"/>
                </a:cubicBezTo>
                <a:cubicBezTo>
                  <a:pt x="29482" y="2117"/>
                  <a:pt x="29472" y="2118"/>
                  <a:pt x="29463" y="2118"/>
                </a:cubicBezTo>
                <a:lnTo>
                  <a:pt x="146" y="2118"/>
                </a:lnTo>
                <a:cubicBezTo>
                  <a:pt x="136" y="2118"/>
                  <a:pt x="127" y="2117"/>
                  <a:pt x="118" y="2115"/>
                </a:cubicBezTo>
                <a:cubicBezTo>
                  <a:pt x="108" y="2113"/>
                  <a:pt x="99" y="2111"/>
                  <a:pt x="90" y="2107"/>
                </a:cubicBezTo>
                <a:cubicBezTo>
                  <a:pt x="81" y="2103"/>
                  <a:pt x="73" y="2099"/>
                  <a:pt x="65" y="2094"/>
                </a:cubicBezTo>
                <a:cubicBezTo>
                  <a:pt x="57" y="2088"/>
                  <a:pt x="50" y="2082"/>
                  <a:pt x="43" y="2076"/>
                </a:cubicBezTo>
                <a:cubicBezTo>
                  <a:pt x="36" y="2069"/>
                  <a:pt x="30" y="2061"/>
                  <a:pt x="25" y="2053"/>
                </a:cubicBezTo>
                <a:cubicBezTo>
                  <a:pt x="20" y="2046"/>
                  <a:pt x="15" y="2037"/>
                  <a:pt x="11" y="2028"/>
                </a:cubicBezTo>
                <a:cubicBezTo>
                  <a:pt x="8" y="2019"/>
                  <a:pt x="5" y="2010"/>
                  <a:pt x="3" y="2001"/>
                </a:cubicBezTo>
                <a:cubicBezTo>
                  <a:pt x="1" y="1992"/>
                  <a:pt x="0" y="1982"/>
                  <a:pt x="0" y="1973"/>
                </a:cubicBezTo>
              </a:path>
            </a:pathLst>
          </a:custGeom>
          <a:ln w="9360">
            <a:solidFill>
              <a:srgbClr val="d9d9d9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1" name=""/>
          <p:cNvSpPr txBox="1"/>
          <p:nvPr/>
        </p:nvSpPr>
        <p:spPr>
          <a:xfrm>
            <a:off x="762120" y="372600"/>
            <a:ext cx="8139240" cy="718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48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Design as Shaping Reality</a:t>
            </a:r>
            <a:endParaRPr b="0" lang="en-US" sz="4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2" name=""/>
          <p:cNvSpPr txBox="1"/>
          <p:nvPr/>
        </p:nvSpPr>
        <p:spPr>
          <a:xfrm>
            <a:off x="923760" y="4509360"/>
            <a:ext cx="989100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Just as science requires philosophy of science, design requires philosophy of design to be fully understood and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3" name=""/>
          <p:cNvSpPr txBox="1"/>
          <p:nvPr/>
        </p:nvSpPr>
        <p:spPr>
          <a:xfrm>
            <a:off x="923760" y="4776120"/>
            <a:ext cx="1280880" cy="215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4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practised well.</a:t>
            </a:r>
            <a:endParaRPr b="0" lang="en-US" sz="14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4" name=""/>
          <p:cNvSpPr/>
          <p:nvPr/>
        </p:nvSpPr>
        <p:spPr>
          <a:xfrm>
            <a:off x="685440" y="6343560"/>
            <a:ext cx="381600" cy="304920"/>
          </a:xfrm>
          <a:custGeom>
            <a:avLst/>
            <a:gdLst/>
            <a:ahLst/>
            <a:rect l="0" t="0" r="r" b="b"/>
            <a:pathLst>
              <a:path w="1060" h="847">
                <a:moveTo>
                  <a:pt x="0" y="423"/>
                </a:moveTo>
                <a:cubicBezTo>
                  <a:pt x="0" y="395"/>
                  <a:pt x="3" y="368"/>
                  <a:pt x="9" y="340"/>
                </a:cubicBezTo>
                <a:cubicBezTo>
                  <a:pt x="14" y="313"/>
                  <a:pt x="22" y="287"/>
                  <a:pt x="33" y="261"/>
                </a:cubicBezTo>
                <a:cubicBezTo>
                  <a:pt x="43" y="235"/>
                  <a:pt x="56" y="211"/>
                  <a:pt x="72" y="188"/>
                </a:cubicBezTo>
                <a:cubicBezTo>
                  <a:pt x="87" y="165"/>
                  <a:pt x="105" y="143"/>
                  <a:pt x="124" y="124"/>
                </a:cubicBezTo>
                <a:cubicBezTo>
                  <a:pt x="144" y="104"/>
                  <a:pt x="166" y="87"/>
                  <a:pt x="189" y="71"/>
                </a:cubicBezTo>
                <a:cubicBezTo>
                  <a:pt x="212" y="56"/>
                  <a:pt x="236" y="43"/>
                  <a:pt x="262" y="32"/>
                </a:cubicBezTo>
                <a:cubicBezTo>
                  <a:pt x="288" y="21"/>
                  <a:pt x="314" y="13"/>
                  <a:pt x="341" y="8"/>
                </a:cubicBezTo>
                <a:cubicBezTo>
                  <a:pt x="369" y="2"/>
                  <a:pt x="396" y="0"/>
                  <a:pt x="424" y="0"/>
                </a:cubicBezTo>
                <a:lnTo>
                  <a:pt x="635" y="0"/>
                </a:lnTo>
                <a:cubicBezTo>
                  <a:pt x="663" y="0"/>
                  <a:pt x="691" y="2"/>
                  <a:pt x="718" y="8"/>
                </a:cubicBezTo>
                <a:cubicBezTo>
                  <a:pt x="746" y="13"/>
                  <a:pt x="773" y="21"/>
                  <a:pt x="799" y="32"/>
                </a:cubicBezTo>
                <a:cubicBezTo>
                  <a:pt x="824" y="43"/>
                  <a:pt x="849" y="56"/>
                  <a:pt x="872" y="71"/>
                </a:cubicBezTo>
                <a:cubicBezTo>
                  <a:pt x="895" y="87"/>
                  <a:pt x="916" y="104"/>
                  <a:pt x="936" y="124"/>
                </a:cubicBezTo>
                <a:cubicBezTo>
                  <a:pt x="955" y="143"/>
                  <a:pt x="973" y="165"/>
                  <a:pt x="988" y="188"/>
                </a:cubicBezTo>
                <a:cubicBezTo>
                  <a:pt x="1004" y="211"/>
                  <a:pt x="1017" y="235"/>
                  <a:pt x="1028" y="261"/>
                </a:cubicBezTo>
                <a:cubicBezTo>
                  <a:pt x="1038" y="287"/>
                  <a:pt x="1046" y="313"/>
                  <a:pt x="1052" y="340"/>
                </a:cubicBezTo>
                <a:cubicBezTo>
                  <a:pt x="1057" y="368"/>
                  <a:pt x="1060" y="395"/>
                  <a:pt x="1060" y="423"/>
                </a:cubicBezTo>
                <a:cubicBezTo>
                  <a:pt x="1060" y="451"/>
                  <a:pt x="1057" y="478"/>
                  <a:pt x="1052" y="506"/>
                </a:cubicBezTo>
                <a:cubicBezTo>
                  <a:pt x="1046" y="533"/>
                  <a:pt x="1038" y="559"/>
                  <a:pt x="1028" y="586"/>
                </a:cubicBezTo>
                <a:cubicBezTo>
                  <a:pt x="1017" y="612"/>
                  <a:pt x="1004" y="636"/>
                  <a:pt x="988" y="659"/>
                </a:cubicBezTo>
                <a:cubicBezTo>
                  <a:pt x="973" y="682"/>
                  <a:pt x="955" y="704"/>
                  <a:pt x="936" y="723"/>
                </a:cubicBezTo>
                <a:cubicBezTo>
                  <a:pt x="916" y="743"/>
                  <a:pt x="895" y="761"/>
                  <a:pt x="872" y="776"/>
                </a:cubicBezTo>
                <a:cubicBezTo>
                  <a:pt x="849" y="792"/>
                  <a:pt x="824" y="805"/>
                  <a:pt x="799" y="815"/>
                </a:cubicBezTo>
                <a:cubicBezTo>
                  <a:pt x="773" y="826"/>
                  <a:pt x="746" y="834"/>
                  <a:pt x="718" y="839"/>
                </a:cubicBezTo>
                <a:cubicBezTo>
                  <a:pt x="691" y="845"/>
                  <a:pt x="663" y="847"/>
                  <a:pt x="635" y="847"/>
                </a:cubicBezTo>
                <a:lnTo>
                  <a:pt x="424" y="847"/>
                </a:lnTo>
                <a:cubicBezTo>
                  <a:pt x="396" y="847"/>
                  <a:pt x="369" y="845"/>
                  <a:pt x="341" y="839"/>
                </a:cubicBezTo>
                <a:cubicBezTo>
                  <a:pt x="314" y="834"/>
                  <a:pt x="288" y="826"/>
                  <a:pt x="262" y="815"/>
                </a:cubicBezTo>
                <a:cubicBezTo>
                  <a:pt x="236" y="805"/>
                  <a:pt x="212" y="792"/>
                  <a:pt x="189" y="776"/>
                </a:cubicBezTo>
                <a:cubicBezTo>
                  <a:pt x="166" y="761"/>
                  <a:pt x="144" y="743"/>
                  <a:pt x="124" y="723"/>
                </a:cubicBezTo>
                <a:cubicBezTo>
                  <a:pt x="105" y="704"/>
                  <a:pt x="87" y="682"/>
                  <a:pt x="72" y="659"/>
                </a:cubicBezTo>
                <a:cubicBezTo>
                  <a:pt x="56" y="636"/>
                  <a:pt x="43" y="612"/>
                  <a:pt x="33" y="586"/>
                </a:cubicBezTo>
                <a:cubicBezTo>
                  <a:pt x="22" y="559"/>
                  <a:pt x="14" y="533"/>
                  <a:pt x="9" y="506"/>
                </a:cubicBezTo>
                <a:cubicBezTo>
                  <a:pt x="3" y="478"/>
                  <a:pt x="0" y="451"/>
                  <a:pt x="0" y="423"/>
                </a:cubicBezTo>
                <a:close/>
              </a:path>
            </a:pathLst>
          </a:custGeom>
          <a:solidFill>
            <a:srgbClr val="ffffff">
              <a:alpha val="74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5" name=""/>
          <p:cNvSpPr txBox="1"/>
          <p:nvPr/>
        </p:nvSpPr>
        <p:spPr>
          <a:xfrm>
            <a:off x="1238400" y="6569280"/>
            <a:ext cx="3390120" cy="12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800" strike="noStrike" u="none">
                <a:solidFill>
                  <a:srgbClr val="a6a6a6"/>
                </a:solidFill>
                <a:effectLst/>
                <a:uFillTx/>
                <a:latin typeface="LucidaGrande"/>
                <a:ea typeface="LucidaGrande"/>
              </a:rPr>
              <a:t>Version: GITREVISION | © 22.09.2026 University of Southampton</a:t>
            </a:r>
            <a:endParaRPr b="0" lang="en-US" sz="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6" name=""/>
          <p:cNvSpPr txBox="1"/>
          <p:nvPr/>
        </p:nvSpPr>
        <p:spPr>
          <a:xfrm>
            <a:off x="762120" y="6390720"/>
            <a:ext cx="226080" cy="21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16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320" name="" descr=""/>
          <p:cNvPicPr/>
          <p:nvPr/>
        </p:nvPicPr>
        <p:blipFill>
          <a:blip r:embed="rId1"/>
          <a:stretch/>
        </p:blipFill>
        <p:spPr>
          <a:xfrm>
            <a:off x="10134720" y="5981760"/>
            <a:ext cx="1904760" cy="1065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21" name=""/>
          <p:cNvSpPr txBox="1"/>
          <p:nvPr/>
        </p:nvSpPr>
        <p:spPr>
          <a:xfrm>
            <a:off x="762120" y="2765880"/>
            <a:ext cx="948600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Philosophy of design is a young, cross-disciplinary ﬁeld pursuing insights about design through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2" name=""/>
          <p:cNvSpPr txBox="1"/>
          <p:nvPr/>
        </p:nvSpPr>
        <p:spPr>
          <a:xfrm>
            <a:off x="762120" y="3070440"/>
            <a:ext cx="439488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philosophical—not purely empirical—means.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3" name=""/>
          <p:cNvSpPr txBox="1"/>
          <p:nvPr/>
        </p:nvSpPr>
        <p:spPr>
          <a:xfrm>
            <a:off x="762120" y="3527640"/>
            <a:ext cx="1058796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Its questions span the nature of design, the epistemology of talking about artefacts that don't yet exist, the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4" name=""/>
          <p:cNvSpPr txBox="1"/>
          <p:nvPr/>
        </p:nvSpPr>
        <p:spPr>
          <a:xfrm>
            <a:off x="762120" y="3832560"/>
            <a:ext cx="870912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theory of design universals, design's relationship to other ﬁelds, and its practical payoﬀ.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5" name=""/>
          <p:cNvSpPr txBox="1"/>
          <p:nvPr/>
        </p:nvSpPr>
        <p:spPr>
          <a:xfrm>
            <a:off x="762120" y="4280400"/>
            <a:ext cx="1035288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Because our implicit philosophies already shape how we design, making them explicit is not an academic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6" name=""/>
          <p:cNvSpPr txBox="1"/>
          <p:nvPr/>
        </p:nvSpPr>
        <p:spPr>
          <a:xfrm>
            <a:off x="762120" y="4584960"/>
            <a:ext cx="6561720" cy="239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600" strike="noStrike" u="none">
                <a:solidFill>
                  <a:srgbClr val="1f2328"/>
                </a:solidFill>
                <a:effectLst/>
                <a:uFillTx/>
                <a:latin typeface="LucidaGrande"/>
                <a:ea typeface="LucidaGrande"/>
              </a:rPr>
              <a:t>luxury: it is how design research, practice, and education improve.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7" name=""/>
          <p:cNvSpPr txBox="1"/>
          <p:nvPr/>
        </p:nvSpPr>
        <p:spPr>
          <a:xfrm>
            <a:off x="1238400" y="6405120"/>
            <a:ext cx="1046520" cy="155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05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SEAtS | 080172</a:t>
            </a:r>
            <a:endParaRPr b="0" lang="en-US" sz="10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8" name=""/>
          <p:cNvSpPr txBox="1"/>
          <p:nvPr/>
        </p:nvSpPr>
        <p:spPr>
          <a:xfrm>
            <a:off x="762120" y="372600"/>
            <a:ext cx="3480480" cy="7182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48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Conclusion</a:t>
            </a:r>
            <a:endParaRPr b="0" lang="en-US" sz="4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9" name=""/>
          <p:cNvSpPr/>
          <p:nvPr/>
        </p:nvSpPr>
        <p:spPr>
          <a:xfrm>
            <a:off x="685440" y="6343560"/>
            <a:ext cx="381600" cy="304920"/>
          </a:xfrm>
          <a:custGeom>
            <a:avLst/>
            <a:gdLst/>
            <a:ahLst/>
            <a:rect l="0" t="0" r="r" b="b"/>
            <a:pathLst>
              <a:path w="1060" h="847">
                <a:moveTo>
                  <a:pt x="0" y="423"/>
                </a:moveTo>
                <a:cubicBezTo>
                  <a:pt x="0" y="395"/>
                  <a:pt x="3" y="368"/>
                  <a:pt x="9" y="340"/>
                </a:cubicBezTo>
                <a:cubicBezTo>
                  <a:pt x="14" y="313"/>
                  <a:pt x="22" y="287"/>
                  <a:pt x="33" y="261"/>
                </a:cubicBezTo>
                <a:cubicBezTo>
                  <a:pt x="43" y="235"/>
                  <a:pt x="56" y="211"/>
                  <a:pt x="72" y="188"/>
                </a:cubicBezTo>
                <a:cubicBezTo>
                  <a:pt x="87" y="165"/>
                  <a:pt x="105" y="143"/>
                  <a:pt x="124" y="124"/>
                </a:cubicBezTo>
                <a:cubicBezTo>
                  <a:pt x="144" y="104"/>
                  <a:pt x="166" y="87"/>
                  <a:pt x="189" y="71"/>
                </a:cubicBezTo>
                <a:cubicBezTo>
                  <a:pt x="212" y="56"/>
                  <a:pt x="236" y="43"/>
                  <a:pt x="262" y="32"/>
                </a:cubicBezTo>
                <a:cubicBezTo>
                  <a:pt x="288" y="21"/>
                  <a:pt x="314" y="13"/>
                  <a:pt x="341" y="8"/>
                </a:cubicBezTo>
                <a:cubicBezTo>
                  <a:pt x="369" y="2"/>
                  <a:pt x="396" y="0"/>
                  <a:pt x="424" y="0"/>
                </a:cubicBezTo>
                <a:lnTo>
                  <a:pt x="635" y="0"/>
                </a:lnTo>
                <a:cubicBezTo>
                  <a:pt x="663" y="0"/>
                  <a:pt x="691" y="2"/>
                  <a:pt x="718" y="8"/>
                </a:cubicBezTo>
                <a:cubicBezTo>
                  <a:pt x="746" y="13"/>
                  <a:pt x="773" y="21"/>
                  <a:pt x="799" y="32"/>
                </a:cubicBezTo>
                <a:cubicBezTo>
                  <a:pt x="824" y="43"/>
                  <a:pt x="849" y="56"/>
                  <a:pt x="872" y="71"/>
                </a:cubicBezTo>
                <a:cubicBezTo>
                  <a:pt x="895" y="87"/>
                  <a:pt x="916" y="104"/>
                  <a:pt x="936" y="124"/>
                </a:cubicBezTo>
                <a:cubicBezTo>
                  <a:pt x="955" y="143"/>
                  <a:pt x="973" y="165"/>
                  <a:pt x="988" y="188"/>
                </a:cubicBezTo>
                <a:cubicBezTo>
                  <a:pt x="1004" y="211"/>
                  <a:pt x="1017" y="235"/>
                  <a:pt x="1028" y="261"/>
                </a:cubicBezTo>
                <a:cubicBezTo>
                  <a:pt x="1038" y="287"/>
                  <a:pt x="1046" y="313"/>
                  <a:pt x="1052" y="340"/>
                </a:cubicBezTo>
                <a:cubicBezTo>
                  <a:pt x="1057" y="368"/>
                  <a:pt x="1060" y="395"/>
                  <a:pt x="1060" y="423"/>
                </a:cubicBezTo>
                <a:cubicBezTo>
                  <a:pt x="1060" y="451"/>
                  <a:pt x="1057" y="478"/>
                  <a:pt x="1052" y="506"/>
                </a:cubicBezTo>
                <a:cubicBezTo>
                  <a:pt x="1046" y="533"/>
                  <a:pt x="1038" y="559"/>
                  <a:pt x="1028" y="586"/>
                </a:cubicBezTo>
                <a:cubicBezTo>
                  <a:pt x="1017" y="612"/>
                  <a:pt x="1004" y="636"/>
                  <a:pt x="988" y="659"/>
                </a:cubicBezTo>
                <a:cubicBezTo>
                  <a:pt x="973" y="682"/>
                  <a:pt x="955" y="704"/>
                  <a:pt x="936" y="723"/>
                </a:cubicBezTo>
                <a:cubicBezTo>
                  <a:pt x="916" y="743"/>
                  <a:pt x="895" y="761"/>
                  <a:pt x="872" y="776"/>
                </a:cubicBezTo>
                <a:cubicBezTo>
                  <a:pt x="849" y="792"/>
                  <a:pt x="824" y="805"/>
                  <a:pt x="799" y="815"/>
                </a:cubicBezTo>
                <a:cubicBezTo>
                  <a:pt x="773" y="826"/>
                  <a:pt x="746" y="834"/>
                  <a:pt x="718" y="839"/>
                </a:cubicBezTo>
                <a:cubicBezTo>
                  <a:pt x="691" y="845"/>
                  <a:pt x="663" y="847"/>
                  <a:pt x="635" y="847"/>
                </a:cubicBezTo>
                <a:lnTo>
                  <a:pt x="424" y="847"/>
                </a:lnTo>
                <a:cubicBezTo>
                  <a:pt x="396" y="847"/>
                  <a:pt x="369" y="845"/>
                  <a:pt x="341" y="839"/>
                </a:cubicBezTo>
                <a:cubicBezTo>
                  <a:pt x="314" y="834"/>
                  <a:pt x="288" y="826"/>
                  <a:pt x="262" y="815"/>
                </a:cubicBezTo>
                <a:cubicBezTo>
                  <a:pt x="236" y="805"/>
                  <a:pt x="212" y="792"/>
                  <a:pt x="189" y="776"/>
                </a:cubicBezTo>
                <a:cubicBezTo>
                  <a:pt x="166" y="761"/>
                  <a:pt x="144" y="743"/>
                  <a:pt x="124" y="723"/>
                </a:cubicBezTo>
                <a:cubicBezTo>
                  <a:pt x="105" y="704"/>
                  <a:pt x="87" y="682"/>
                  <a:pt x="72" y="659"/>
                </a:cubicBezTo>
                <a:cubicBezTo>
                  <a:pt x="56" y="636"/>
                  <a:pt x="43" y="612"/>
                  <a:pt x="33" y="586"/>
                </a:cubicBezTo>
                <a:cubicBezTo>
                  <a:pt x="22" y="559"/>
                  <a:pt x="14" y="533"/>
                  <a:pt x="9" y="506"/>
                </a:cubicBezTo>
                <a:cubicBezTo>
                  <a:pt x="3" y="478"/>
                  <a:pt x="0" y="451"/>
                  <a:pt x="0" y="423"/>
                </a:cubicBezTo>
                <a:close/>
              </a:path>
            </a:pathLst>
          </a:custGeom>
          <a:solidFill>
            <a:srgbClr val="ffffff">
              <a:alpha val="74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0" name=""/>
          <p:cNvSpPr txBox="1"/>
          <p:nvPr/>
        </p:nvSpPr>
        <p:spPr>
          <a:xfrm>
            <a:off x="1238400" y="6569280"/>
            <a:ext cx="3390120" cy="12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800" strike="noStrike" u="none">
                <a:solidFill>
                  <a:srgbClr val="a6a6a6"/>
                </a:solidFill>
                <a:effectLst/>
                <a:uFillTx/>
                <a:latin typeface="LucidaGrande"/>
                <a:ea typeface="LucidaGrande"/>
              </a:rPr>
              <a:t>Version: GITREVISION | © 22.09.2026 University of Southampton</a:t>
            </a:r>
            <a:endParaRPr b="0" lang="en-US" sz="8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1" name=""/>
          <p:cNvSpPr txBox="1"/>
          <p:nvPr/>
        </p:nvSpPr>
        <p:spPr>
          <a:xfrm>
            <a:off x="762120" y="6390720"/>
            <a:ext cx="226080" cy="21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00" strike="noStrike" u="none">
                <a:solidFill>
                  <a:srgbClr val="0a5387"/>
                </a:solidFill>
                <a:effectLst/>
                <a:uFillTx/>
                <a:latin typeface="LucidaGrande"/>
                <a:ea typeface="LucidaGrande"/>
              </a:rPr>
              <a:t>17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0069b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pic>
        <p:nvPicPr>
          <p:cNvPr id="335" name="" descr=""/>
          <p:cNvPicPr/>
          <p:nvPr/>
        </p:nvPicPr>
        <p:blipFill>
          <a:blip r:embed="rId1"/>
          <a:stretch/>
        </p:blipFill>
        <p:spPr>
          <a:xfrm>
            <a:off x="6324480" y="2695680"/>
            <a:ext cx="5714640" cy="3209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36" name=""/>
          <p:cNvSpPr txBox="1"/>
          <p:nvPr/>
        </p:nvSpPr>
        <p:spPr>
          <a:xfrm>
            <a:off x="857160" y="2437920"/>
            <a:ext cx="2017800" cy="21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400" strike="noStrike" u="none">
                <a:solidFill>
                  <a:srgbClr val="ffffff"/>
                </a:solidFill>
                <a:effectLst/>
                <a:uFillTx/>
                <a:latin typeface="LucidaGrande"/>
                <a:ea typeface="LucidaGrande"/>
              </a:rPr>
              <a:t>Dr Nawfal Al Hashimy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7" name=""/>
          <p:cNvSpPr txBox="1"/>
          <p:nvPr/>
        </p:nvSpPr>
        <p:spPr>
          <a:xfrm>
            <a:off x="857160" y="2704680"/>
            <a:ext cx="2966040" cy="21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00" strike="noStrike" u="none">
                <a:solidFill>
                  <a:srgbClr val="ffffff"/>
                </a:solidFill>
                <a:effectLst/>
                <a:uFillTx/>
                <a:latin typeface="LucidaGrande"/>
                <a:ea typeface="LucidaGrande"/>
              </a:rPr>
              <a:t>Lecturer in Cyber Physical Security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8" name=""/>
          <p:cNvSpPr txBox="1"/>
          <p:nvPr/>
        </p:nvSpPr>
        <p:spPr>
          <a:xfrm>
            <a:off x="857160" y="3123720"/>
            <a:ext cx="5755680" cy="21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1400" strike="noStrike" u="none">
                <a:solidFill>
                  <a:srgbClr val="ffffff"/>
                </a:solidFill>
                <a:effectLst/>
                <a:uFillTx/>
                <a:latin typeface="LucidaGrande"/>
                <a:ea typeface="LucidaGrande"/>
              </a:rPr>
              <a:t>Universtity of Southampton </a:t>
            </a:r>
            <a:r>
              <a:rPr b="0" lang="en-US" sz="1400" strike="noStrike" u="none">
                <a:solidFill>
                  <a:srgbClr val="ffffff"/>
                </a:solidFill>
                <a:effectLst/>
                <a:uFillTx/>
                <a:latin typeface="LucidaGrande"/>
                <a:ea typeface="LucidaGrande"/>
              </a:rPr>
              <a:t>| Faculty of Engineering and Physical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9" name=""/>
          <p:cNvSpPr txBox="1"/>
          <p:nvPr/>
        </p:nvSpPr>
        <p:spPr>
          <a:xfrm>
            <a:off x="857160" y="3390480"/>
            <a:ext cx="731160" cy="21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00" strike="noStrike" u="none">
                <a:solidFill>
                  <a:srgbClr val="ffffff"/>
                </a:solidFill>
                <a:effectLst/>
                <a:uFillTx/>
                <a:latin typeface="LucidaGrande"/>
                <a:ea typeface="LucidaGrande"/>
              </a:rPr>
              <a:t>Sciences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0" name=""/>
          <p:cNvSpPr txBox="1"/>
          <p:nvPr/>
        </p:nvSpPr>
        <p:spPr>
          <a:xfrm>
            <a:off x="857160" y="3657240"/>
            <a:ext cx="3427200" cy="21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00" strike="noStrike" u="none">
                <a:solidFill>
                  <a:srgbClr val="ffffff"/>
                </a:solidFill>
                <a:effectLst/>
                <a:uFillTx/>
                <a:latin typeface="LucidaGrande"/>
                <a:ea typeface="LucidaGrande"/>
              </a:rPr>
              <a:t>Cyber Physical Systems Research Group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1" name=""/>
          <p:cNvSpPr txBox="1"/>
          <p:nvPr/>
        </p:nvSpPr>
        <p:spPr>
          <a:xfrm>
            <a:off x="857160" y="4087440"/>
            <a:ext cx="17892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00" strike="noStrike" u="none">
                <a:solidFill>
                  <a:srgbClr val="ffffff"/>
                </a:solidFill>
                <a:effectLst/>
                <a:uFillTx/>
                <a:latin typeface="HiraginoSans-W3"/>
                <a:ea typeface="HiraginoSans-W3"/>
              </a:rPr>
              <a:t>☎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2" name=""/>
          <p:cNvSpPr txBox="1"/>
          <p:nvPr/>
        </p:nvSpPr>
        <p:spPr>
          <a:xfrm>
            <a:off x="1035000" y="4076280"/>
            <a:ext cx="2006280" cy="21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00" strike="noStrike" u="none">
                <a:solidFill>
                  <a:srgbClr val="ffffff"/>
                </a:solidFill>
                <a:effectLst/>
                <a:uFillTx/>
                <a:latin typeface="LucidaGrande"/>
                <a:ea typeface="LucidaGrande"/>
              </a:rPr>
              <a:t> +44 (0) 23 8059 6659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3" name=""/>
          <p:cNvSpPr txBox="1"/>
          <p:nvPr/>
        </p:nvSpPr>
        <p:spPr>
          <a:xfrm>
            <a:off x="857160" y="4495320"/>
            <a:ext cx="1951200" cy="21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00" strike="noStrike" u="none">
                <a:solidFill>
                  <a:srgbClr val="ffffff"/>
                </a:solidFill>
                <a:effectLst/>
                <a:uFillTx/>
                <a:latin typeface="LucidaGrande"/>
                <a:ea typeface="LucidaGrande"/>
              </a:rPr>
              <a:t>@ Nawfal@soton.ac.uk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4" name=""/>
          <p:cNvSpPr txBox="1"/>
          <p:nvPr/>
        </p:nvSpPr>
        <p:spPr>
          <a:xfrm>
            <a:off x="857160" y="4914360"/>
            <a:ext cx="3756960" cy="21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00" strike="noStrike" u="none">
                <a:solidFill>
                  <a:srgbClr val="ffffff"/>
                </a:solidFill>
                <a:effectLst/>
                <a:uFillTx/>
                <a:latin typeface="LucidaGrande"/>
                <a:ea typeface="LucidaGrande"/>
              </a:rPr>
              <a:t>Highﬁeld Campus, Building 53, Room 4049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5" name=""/>
          <p:cNvSpPr txBox="1"/>
          <p:nvPr/>
        </p:nvSpPr>
        <p:spPr>
          <a:xfrm>
            <a:off x="857160" y="5181120"/>
            <a:ext cx="3635640" cy="210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400" strike="noStrike" u="none">
                <a:solidFill>
                  <a:srgbClr val="ffffff"/>
                </a:solidFill>
                <a:effectLst/>
                <a:uFillTx/>
                <a:latin typeface="LucidaGrande"/>
                <a:ea typeface="LucidaGrande"/>
              </a:rPr>
              <a:t>Burgess Road, Southampton SO17 1BJ, UK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6" name=""/>
          <p:cNvSpPr txBox="1"/>
          <p:nvPr/>
        </p:nvSpPr>
        <p:spPr>
          <a:xfrm>
            <a:off x="857160" y="634680"/>
            <a:ext cx="4140000" cy="896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6000" strike="noStrike" u="none">
                <a:solidFill>
                  <a:srgbClr val="ffffff"/>
                </a:solidFill>
                <a:effectLst/>
                <a:uFillTx/>
                <a:latin typeface="LucidaGrande"/>
                <a:ea typeface="LucidaGrande"/>
              </a:rPr>
              <a:t>Thank you</a:t>
            </a:r>
            <a:endParaRPr b="0" lang="en-US" sz="6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LibreOffice/25.2.5.2$MacOSX_AARCH64 LibreOffice_project/03d19516eb2e1dd5d4ccd751a0d6f35f35e08022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en-US</dc:language>
  <cp:lastModifiedBy/>
  <cp:revision>0</cp:revision>
  <dc:subject/>
  <dc:title/>
</cp:coreProperties>
</file>