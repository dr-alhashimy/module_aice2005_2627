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8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762120" y="5183640"/>
            <a:ext cx="1905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62120" y="2454120"/>
            <a:ext cx="869940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 Architecture &amp;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3349440"/>
            <a:ext cx="624132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Design Patterns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62120" y="4483800"/>
            <a:ext cx="926496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Building resilient multi-component systems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4095720" y="1870560"/>
            <a:ext cx="4448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By the end of this lecture, you will be able to: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244760" y="2327760"/>
            <a:ext cx="6139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Explain the role of system architecture in structuring multi-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502160" y="2632320"/>
            <a:ext cx="213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component solutions.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244760" y="2994480"/>
            <a:ext cx="6474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Compare decomposition strategies and assess their trade-oﬀs.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244760" y="3346920"/>
            <a:ext cx="7131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Recognise key software, hardware, and cross-domain design patterns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502160" y="3651480"/>
            <a:ext cx="2442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when to apply them.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244760" y="4003920"/>
            <a:ext cx="652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Integrate stakeholder analysis to inform architectural decisions.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244760" y="4366080"/>
            <a:ext cx="7006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Evaluate architecture choices using optimisation principles and real-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502160" y="4670640"/>
            <a:ext cx="1770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world constraints.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46920" y="381960"/>
            <a:ext cx="2772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Intended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658800" y="1296360"/>
            <a:ext cx="2748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Learning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455040" y="2210760"/>
            <a:ext cx="3156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Outcomes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"/>
          <p:cNvSpPr/>
          <p:nvPr/>
        </p:nvSpPr>
        <p:spPr>
          <a:xfrm>
            <a:off x="4448160" y="12286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7"/>
                  <a:pt x="255" y="184"/>
                </a:cubicBezTo>
                <a:cubicBezTo>
                  <a:pt x="248" y="200"/>
                  <a:pt x="239" y="214"/>
                  <a:pt x="226" y="226"/>
                </a:cubicBezTo>
                <a:cubicBezTo>
                  <a:pt x="214" y="239"/>
                  <a:pt x="200" y="248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7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4448160" y="1761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8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4705200" y="1076760"/>
            <a:ext cx="37177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Why Architecture Matters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4448160" y="22953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705200" y="1610280"/>
            <a:ext cx="33775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Systems Thinking Lens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4448160" y="28288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3"/>
                </a:cubicBezTo>
                <a:cubicBezTo>
                  <a:pt x="248" y="200"/>
                  <a:pt x="239" y="214"/>
                  <a:pt x="226" y="226"/>
                </a:cubicBezTo>
                <a:cubicBezTo>
                  <a:pt x="214" y="239"/>
                  <a:pt x="200" y="248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200"/>
                  <a:pt x="10" y="183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705200" y="2143800"/>
            <a:ext cx="409320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Architectural Views &amp;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4448160" y="33620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40"/>
                  <a:pt x="38" y="227"/>
                </a:cubicBezTo>
                <a:cubicBezTo>
                  <a:pt x="26" y="215"/>
                  <a:pt x="16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6" y="67"/>
                  <a:pt x="26" y="52"/>
                  <a:pt x="38" y="40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0"/>
                </a:cubicBezTo>
                <a:cubicBezTo>
                  <a:pt x="200" y="17"/>
                  <a:pt x="214" y="27"/>
                  <a:pt x="226" y="40"/>
                </a:cubicBezTo>
                <a:cubicBezTo>
                  <a:pt x="239" y="52"/>
                  <a:pt x="248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705200" y="2676960"/>
            <a:ext cx="45590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Decomposition &amp; Coordination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4448160" y="38955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705200" y="3210480"/>
            <a:ext cx="348408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Design Pattern Toolbox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4448160" y="4429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3"/>
                </a:cubicBezTo>
                <a:cubicBezTo>
                  <a:pt x="248" y="199"/>
                  <a:pt x="239" y="213"/>
                  <a:pt x="226" y="225"/>
                </a:cubicBezTo>
                <a:cubicBezTo>
                  <a:pt x="214" y="239"/>
                  <a:pt x="200" y="248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8"/>
                  <a:pt x="51" y="239"/>
                  <a:pt x="38" y="225"/>
                </a:cubicBezTo>
                <a:cubicBezTo>
                  <a:pt x="26" y="213"/>
                  <a:pt x="16" y="199"/>
                  <a:pt x="10" y="183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705200" y="3744000"/>
            <a:ext cx="43459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Stakeholders &amp; Requirements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4448160" y="49622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40"/>
                  <a:pt x="38" y="227"/>
                </a:cubicBezTo>
                <a:cubicBezTo>
                  <a:pt x="26" y="215"/>
                  <a:pt x="16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705200" y="4277160"/>
            <a:ext cx="38930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Optimisation &amp; Trade-oﬀs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4448160" y="54957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4705200" y="4810680"/>
            <a:ext cx="53924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Case Study: Smart Home IoT Control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705200" y="5344200"/>
            <a:ext cx="13755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Summary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847440" y="381960"/>
            <a:ext cx="2371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Agenda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"/>
          <p:cNvSpPr txBox="1"/>
          <p:nvPr/>
        </p:nvSpPr>
        <p:spPr>
          <a:xfrm>
            <a:off x="762120" y="2470680"/>
            <a:ext cx="10252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 architecture deﬁnes how components collaborate, how responsibilities are separated, and how 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62120" y="2775240"/>
            <a:ext cx="10617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solution adapts to change. Without a coherent architecture, teams encounter integration surprises, runaway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62120" y="3080160"/>
            <a:ext cx="3117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complexity, and brittle designs.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766440" y="3509640"/>
            <a:ext cx="10658880" cy="1638720"/>
          </a:xfrm>
          <a:custGeom>
            <a:avLst/>
            <a:gdLst/>
            <a:ahLst/>
            <a:rect l="0" t="0" r="r" b="b"/>
            <a:pathLst>
              <a:path w="29608" h="4552">
                <a:moveTo>
                  <a:pt x="0" y="4407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407"/>
                </a:lnTo>
                <a:cubicBezTo>
                  <a:pt x="29608" y="4416"/>
                  <a:pt x="29607" y="4426"/>
                  <a:pt x="29605" y="4435"/>
                </a:cubicBezTo>
                <a:cubicBezTo>
                  <a:pt x="29604" y="4444"/>
                  <a:pt x="29601" y="4454"/>
                  <a:pt x="29597" y="4462"/>
                </a:cubicBezTo>
                <a:cubicBezTo>
                  <a:pt x="29594" y="4471"/>
                  <a:pt x="29589" y="4480"/>
                  <a:pt x="29584" y="4488"/>
                </a:cubicBezTo>
                <a:cubicBezTo>
                  <a:pt x="29578" y="4495"/>
                  <a:pt x="29572" y="4503"/>
                  <a:pt x="29566" y="4510"/>
                </a:cubicBezTo>
                <a:cubicBezTo>
                  <a:pt x="29559" y="4516"/>
                  <a:pt x="29552" y="4522"/>
                  <a:pt x="29544" y="4528"/>
                </a:cubicBezTo>
                <a:cubicBezTo>
                  <a:pt x="29536" y="4533"/>
                  <a:pt x="29527" y="4537"/>
                  <a:pt x="29518" y="4541"/>
                </a:cubicBezTo>
                <a:cubicBezTo>
                  <a:pt x="29510" y="4545"/>
                  <a:pt x="29501" y="4548"/>
                  <a:pt x="29491" y="4549"/>
                </a:cubicBezTo>
                <a:cubicBezTo>
                  <a:pt x="29482" y="4551"/>
                  <a:pt x="29472" y="4552"/>
                  <a:pt x="29463" y="4552"/>
                </a:cubicBezTo>
                <a:lnTo>
                  <a:pt x="146" y="4552"/>
                </a:lnTo>
                <a:cubicBezTo>
                  <a:pt x="136" y="4552"/>
                  <a:pt x="127" y="4551"/>
                  <a:pt x="118" y="4549"/>
                </a:cubicBezTo>
                <a:cubicBezTo>
                  <a:pt x="108" y="4548"/>
                  <a:pt x="99" y="4545"/>
                  <a:pt x="90" y="4541"/>
                </a:cubicBezTo>
                <a:cubicBezTo>
                  <a:pt x="81" y="4537"/>
                  <a:pt x="73" y="4533"/>
                  <a:pt x="65" y="4528"/>
                </a:cubicBezTo>
                <a:cubicBezTo>
                  <a:pt x="57" y="4522"/>
                  <a:pt x="50" y="4516"/>
                  <a:pt x="43" y="4510"/>
                </a:cubicBezTo>
                <a:cubicBezTo>
                  <a:pt x="36" y="4503"/>
                  <a:pt x="30" y="4495"/>
                  <a:pt x="25" y="4488"/>
                </a:cubicBezTo>
                <a:cubicBezTo>
                  <a:pt x="20" y="4480"/>
                  <a:pt x="15" y="4471"/>
                  <a:pt x="11" y="4462"/>
                </a:cubicBezTo>
                <a:cubicBezTo>
                  <a:pt x="8" y="4454"/>
                  <a:pt x="5" y="4444"/>
                  <a:pt x="3" y="4435"/>
                </a:cubicBezTo>
                <a:cubicBezTo>
                  <a:pt x="1" y="4426"/>
                  <a:pt x="0" y="4416"/>
                  <a:pt x="0" y="4407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766440" y="3509640"/>
            <a:ext cx="10658880" cy="1638720"/>
          </a:xfrm>
          <a:custGeom>
            <a:avLst/>
            <a:gdLst/>
            <a:ahLst/>
            <a:rect l="0" t="0" r="r" b="b"/>
            <a:pathLst>
              <a:path fill="none" w="29608" h="4552">
                <a:moveTo>
                  <a:pt x="0" y="4407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407"/>
                </a:lnTo>
                <a:cubicBezTo>
                  <a:pt x="29608" y="4416"/>
                  <a:pt x="29607" y="4426"/>
                  <a:pt x="29605" y="4435"/>
                </a:cubicBezTo>
                <a:cubicBezTo>
                  <a:pt x="29604" y="4444"/>
                  <a:pt x="29601" y="4454"/>
                  <a:pt x="29597" y="4462"/>
                </a:cubicBezTo>
                <a:cubicBezTo>
                  <a:pt x="29594" y="4471"/>
                  <a:pt x="29589" y="4480"/>
                  <a:pt x="29584" y="4488"/>
                </a:cubicBezTo>
                <a:cubicBezTo>
                  <a:pt x="29578" y="4495"/>
                  <a:pt x="29572" y="4503"/>
                  <a:pt x="29566" y="4510"/>
                </a:cubicBezTo>
                <a:cubicBezTo>
                  <a:pt x="29559" y="4516"/>
                  <a:pt x="29552" y="4522"/>
                  <a:pt x="29544" y="4528"/>
                </a:cubicBezTo>
                <a:cubicBezTo>
                  <a:pt x="29536" y="4533"/>
                  <a:pt x="29527" y="4537"/>
                  <a:pt x="29518" y="4541"/>
                </a:cubicBezTo>
                <a:cubicBezTo>
                  <a:pt x="29510" y="4545"/>
                  <a:pt x="29501" y="4548"/>
                  <a:pt x="29491" y="4549"/>
                </a:cubicBezTo>
                <a:cubicBezTo>
                  <a:pt x="29482" y="4551"/>
                  <a:pt x="29472" y="4552"/>
                  <a:pt x="29463" y="4552"/>
                </a:cubicBezTo>
                <a:lnTo>
                  <a:pt x="146" y="4552"/>
                </a:lnTo>
                <a:cubicBezTo>
                  <a:pt x="136" y="4552"/>
                  <a:pt x="127" y="4551"/>
                  <a:pt x="118" y="4549"/>
                </a:cubicBezTo>
                <a:cubicBezTo>
                  <a:pt x="108" y="4548"/>
                  <a:pt x="99" y="4545"/>
                  <a:pt x="90" y="4541"/>
                </a:cubicBezTo>
                <a:cubicBezTo>
                  <a:pt x="81" y="4537"/>
                  <a:pt x="73" y="4533"/>
                  <a:pt x="65" y="4528"/>
                </a:cubicBezTo>
                <a:cubicBezTo>
                  <a:pt x="57" y="4522"/>
                  <a:pt x="50" y="4516"/>
                  <a:pt x="43" y="4510"/>
                </a:cubicBezTo>
                <a:cubicBezTo>
                  <a:pt x="36" y="4503"/>
                  <a:pt x="30" y="4495"/>
                  <a:pt x="25" y="4488"/>
                </a:cubicBezTo>
                <a:cubicBezTo>
                  <a:pt x="20" y="4480"/>
                  <a:pt x="15" y="4471"/>
                  <a:pt x="11" y="4462"/>
                </a:cubicBezTo>
                <a:cubicBezTo>
                  <a:pt x="8" y="4454"/>
                  <a:pt x="5" y="4444"/>
                  <a:pt x="3" y="4435"/>
                </a:cubicBezTo>
                <a:cubicBezTo>
                  <a:pt x="1" y="4426"/>
                  <a:pt x="0" y="4416"/>
                  <a:pt x="0" y="4407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104840" y="4209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62120" y="372600"/>
            <a:ext cx="7953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Why Architecture Matters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104840" y="4524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3"/>
                  <a:pt x="120" y="149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289520" y="4118760"/>
            <a:ext cx="6533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Treating multi-disciplinary systems as monoliths → coupling and rework.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104840" y="4848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289520" y="4433400"/>
            <a:ext cx="6886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Missing coordination plans between hardware, ﬁrmware, and software teams.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942480" y="3733560"/>
            <a:ext cx="191160" cy="171720"/>
          </a:xfrm>
          <a:custGeom>
            <a:avLst/>
            <a:gdLst/>
            <a:ahLst/>
            <a:rect l="0" t="0" r="r" b="b"/>
            <a:pathLst>
              <a:path fill="none" w="531" h="477">
                <a:moveTo>
                  <a:pt x="524" y="398"/>
                </a:moveTo>
                <a:lnTo>
                  <a:pt x="312" y="27"/>
                </a:lnTo>
                <a:cubicBezTo>
                  <a:pt x="308" y="18"/>
                  <a:pt x="301" y="12"/>
                  <a:pt x="293" y="7"/>
                </a:cubicBezTo>
                <a:cubicBezTo>
                  <a:pt x="284" y="2"/>
                  <a:pt x="275" y="0"/>
                  <a:pt x="265" y="0"/>
                </a:cubicBezTo>
                <a:cubicBezTo>
                  <a:pt x="256" y="0"/>
                  <a:pt x="247" y="2"/>
                  <a:pt x="239" y="7"/>
                </a:cubicBezTo>
                <a:cubicBezTo>
                  <a:pt x="230" y="12"/>
                  <a:pt x="224" y="18"/>
                  <a:pt x="219" y="27"/>
                </a:cubicBezTo>
                <a:lnTo>
                  <a:pt x="7" y="398"/>
                </a:lnTo>
                <a:cubicBezTo>
                  <a:pt x="3" y="406"/>
                  <a:pt x="0" y="415"/>
                  <a:pt x="0" y="425"/>
                </a:cubicBezTo>
                <a:cubicBezTo>
                  <a:pt x="0" y="434"/>
                  <a:pt x="3" y="443"/>
                  <a:pt x="8" y="451"/>
                </a:cubicBezTo>
                <a:cubicBezTo>
                  <a:pt x="12" y="459"/>
                  <a:pt x="19" y="466"/>
                  <a:pt x="27" y="471"/>
                </a:cubicBezTo>
                <a:cubicBezTo>
                  <a:pt x="35" y="475"/>
                  <a:pt x="44" y="478"/>
                  <a:pt x="54" y="477"/>
                </a:cubicBezTo>
                <a:lnTo>
                  <a:pt x="478" y="477"/>
                </a:lnTo>
                <a:cubicBezTo>
                  <a:pt x="483" y="477"/>
                  <a:pt x="487" y="477"/>
                  <a:pt x="492" y="476"/>
                </a:cubicBezTo>
                <a:cubicBezTo>
                  <a:pt x="496" y="474"/>
                  <a:pt x="501" y="473"/>
                  <a:pt x="505" y="470"/>
                </a:cubicBezTo>
                <a:cubicBezTo>
                  <a:pt x="509" y="468"/>
                  <a:pt x="512" y="465"/>
                  <a:pt x="516" y="462"/>
                </a:cubicBezTo>
                <a:cubicBezTo>
                  <a:pt x="519" y="459"/>
                  <a:pt x="522" y="455"/>
                  <a:pt x="524" y="451"/>
                </a:cubicBezTo>
                <a:cubicBezTo>
                  <a:pt x="526" y="447"/>
                  <a:pt x="528" y="443"/>
                  <a:pt x="529" y="438"/>
                </a:cubicBezTo>
                <a:cubicBezTo>
                  <a:pt x="530" y="434"/>
                  <a:pt x="531" y="429"/>
                  <a:pt x="531" y="424"/>
                </a:cubicBezTo>
                <a:cubicBezTo>
                  <a:pt x="531" y="420"/>
                  <a:pt x="530" y="415"/>
                  <a:pt x="529" y="411"/>
                </a:cubicBezTo>
                <a:cubicBezTo>
                  <a:pt x="528" y="406"/>
                  <a:pt x="526" y="402"/>
                  <a:pt x="524" y="398"/>
                </a:cubicBezTo>
                <a:moveTo>
                  <a:pt x="265" y="159"/>
                </a:moveTo>
                <a:lnTo>
                  <a:pt x="265" y="265"/>
                </a:lnTo>
                <a:moveTo>
                  <a:pt x="265" y="372"/>
                </a:moveTo>
                <a:lnTo>
                  <a:pt x="266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289520" y="4757040"/>
            <a:ext cx="5925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Deploying without visibility of dependencies or rollback strategies.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203120" y="3712680"/>
            <a:ext cx="2747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Common failure modes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971280" y="25905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762120" y="2041920"/>
            <a:ext cx="8647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thinking anchors architecture decisions in the broader socio-technical context.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971280" y="29430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168200" y="2499120"/>
            <a:ext cx="8027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Map interdependencies between subsystems, interfaces, and supporting services.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168200" y="2851560"/>
            <a:ext cx="996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 reinforcing and balancing feedback loops (e.g., telemetry improving release cadence vs. alert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971280" y="36003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168200" y="3156480"/>
            <a:ext cx="816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fatigue).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168200" y="3508920"/>
            <a:ext cx="9359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Surface multiple perspectives: engineering, operations, end-users, regulators, supply partners.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766440" y="3938400"/>
            <a:ext cx="10658880" cy="1638720"/>
          </a:xfrm>
          <a:custGeom>
            <a:avLst/>
            <a:gdLst/>
            <a:ahLst/>
            <a:rect l="0" t="0" r="r" b="b"/>
            <a:pathLst>
              <a:path w="29608" h="4552">
                <a:moveTo>
                  <a:pt x="0" y="440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406"/>
                </a:lnTo>
                <a:cubicBezTo>
                  <a:pt x="29608" y="4416"/>
                  <a:pt x="29607" y="4425"/>
                  <a:pt x="29605" y="4435"/>
                </a:cubicBezTo>
                <a:cubicBezTo>
                  <a:pt x="29604" y="4444"/>
                  <a:pt x="29601" y="4453"/>
                  <a:pt x="29597" y="4462"/>
                </a:cubicBezTo>
                <a:cubicBezTo>
                  <a:pt x="29594" y="4471"/>
                  <a:pt x="29589" y="4479"/>
                  <a:pt x="29584" y="4487"/>
                </a:cubicBezTo>
                <a:cubicBezTo>
                  <a:pt x="29578" y="4495"/>
                  <a:pt x="29572" y="4502"/>
                  <a:pt x="29566" y="4509"/>
                </a:cubicBezTo>
                <a:cubicBezTo>
                  <a:pt x="29559" y="4516"/>
                  <a:pt x="29552" y="4522"/>
                  <a:pt x="29544" y="4527"/>
                </a:cubicBezTo>
                <a:cubicBezTo>
                  <a:pt x="29536" y="4533"/>
                  <a:pt x="29527" y="4537"/>
                  <a:pt x="29518" y="4541"/>
                </a:cubicBezTo>
                <a:cubicBezTo>
                  <a:pt x="29510" y="4544"/>
                  <a:pt x="29501" y="4547"/>
                  <a:pt x="29491" y="4549"/>
                </a:cubicBezTo>
                <a:cubicBezTo>
                  <a:pt x="29482" y="4551"/>
                  <a:pt x="29472" y="4552"/>
                  <a:pt x="29463" y="4552"/>
                </a:cubicBezTo>
                <a:lnTo>
                  <a:pt x="146" y="4552"/>
                </a:lnTo>
                <a:cubicBezTo>
                  <a:pt x="136" y="4552"/>
                  <a:pt x="127" y="4551"/>
                  <a:pt x="118" y="4549"/>
                </a:cubicBezTo>
                <a:cubicBezTo>
                  <a:pt x="108" y="4547"/>
                  <a:pt x="99" y="4544"/>
                  <a:pt x="90" y="4541"/>
                </a:cubicBezTo>
                <a:cubicBezTo>
                  <a:pt x="81" y="4537"/>
                  <a:pt x="73" y="4533"/>
                  <a:pt x="65" y="4527"/>
                </a:cubicBezTo>
                <a:cubicBezTo>
                  <a:pt x="57" y="4522"/>
                  <a:pt x="50" y="4516"/>
                  <a:pt x="43" y="4509"/>
                </a:cubicBezTo>
                <a:cubicBezTo>
                  <a:pt x="36" y="4502"/>
                  <a:pt x="30" y="4495"/>
                  <a:pt x="25" y="4487"/>
                </a:cubicBezTo>
                <a:cubicBezTo>
                  <a:pt x="20" y="4479"/>
                  <a:pt x="15" y="4471"/>
                  <a:pt x="11" y="4462"/>
                </a:cubicBezTo>
                <a:cubicBezTo>
                  <a:pt x="8" y="4453"/>
                  <a:pt x="5" y="4444"/>
                  <a:pt x="3" y="4435"/>
                </a:cubicBezTo>
                <a:cubicBezTo>
                  <a:pt x="1" y="4425"/>
                  <a:pt x="0" y="4416"/>
                  <a:pt x="0" y="4406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766440" y="3938400"/>
            <a:ext cx="10658880" cy="1638720"/>
          </a:xfrm>
          <a:custGeom>
            <a:avLst/>
            <a:gdLst/>
            <a:ahLst/>
            <a:rect l="0" t="0" r="r" b="b"/>
            <a:pathLst>
              <a:path fill="none" w="29608" h="4552">
                <a:moveTo>
                  <a:pt x="0" y="440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406"/>
                </a:lnTo>
                <a:cubicBezTo>
                  <a:pt x="29608" y="4416"/>
                  <a:pt x="29607" y="4425"/>
                  <a:pt x="29605" y="4435"/>
                </a:cubicBezTo>
                <a:cubicBezTo>
                  <a:pt x="29604" y="4444"/>
                  <a:pt x="29601" y="4453"/>
                  <a:pt x="29597" y="4462"/>
                </a:cubicBezTo>
                <a:cubicBezTo>
                  <a:pt x="29594" y="4471"/>
                  <a:pt x="29589" y="4479"/>
                  <a:pt x="29584" y="4487"/>
                </a:cubicBezTo>
                <a:cubicBezTo>
                  <a:pt x="29578" y="4495"/>
                  <a:pt x="29572" y="4502"/>
                  <a:pt x="29566" y="4509"/>
                </a:cubicBezTo>
                <a:cubicBezTo>
                  <a:pt x="29559" y="4516"/>
                  <a:pt x="29552" y="4522"/>
                  <a:pt x="29544" y="4527"/>
                </a:cubicBezTo>
                <a:cubicBezTo>
                  <a:pt x="29536" y="4533"/>
                  <a:pt x="29527" y="4537"/>
                  <a:pt x="29518" y="4541"/>
                </a:cubicBezTo>
                <a:cubicBezTo>
                  <a:pt x="29510" y="4544"/>
                  <a:pt x="29501" y="4547"/>
                  <a:pt x="29491" y="4549"/>
                </a:cubicBezTo>
                <a:cubicBezTo>
                  <a:pt x="29482" y="4551"/>
                  <a:pt x="29472" y="4552"/>
                  <a:pt x="29463" y="4552"/>
                </a:cubicBezTo>
                <a:lnTo>
                  <a:pt x="146" y="4552"/>
                </a:lnTo>
                <a:cubicBezTo>
                  <a:pt x="136" y="4552"/>
                  <a:pt x="127" y="4551"/>
                  <a:pt x="118" y="4549"/>
                </a:cubicBezTo>
                <a:cubicBezTo>
                  <a:pt x="108" y="4547"/>
                  <a:pt x="99" y="4544"/>
                  <a:pt x="90" y="4541"/>
                </a:cubicBezTo>
                <a:cubicBezTo>
                  <a:pt x="81" y="4537"/>
                  <a:pt x="73" y="4533"/>
                  <a:pt x="65" y="4527"/>
                </a:cubicBezTo>
                <a:cubicBezTo>
                  <a:pt x="57" y="4522"/>
                  <a:pt x="50" y="4516"/>
                  <a:pt x="43" y="4509"/>
                </a:cubicBezTo>
                <a:cubicBezTo>
                  <a:pt x="36" y="4502"/>
                  <a:pt x="30" y="4495"/>
                  <a:pt x="25" y="4487"/>
                </a:cubicBezTo>
                <a:cubicBezTo>
                  <a:pt x="20" y="4479"/>
                  <a:pt x="15" y="4471"/>
                  <a:pt x="11" y="4462"/>
                </a:cubicBezTo>
                <a:cubicBezTo>
                  <a:pt x="8" y="4453"/>
                  <a:pt x="5" y="4444"/>
                  <a:pt x="3" y="4435"/>
                </a:cubicBezTo>
                <a:cubicBezTo>
                  <a:pt x="1" y="4425"/>
                  <a:pt x="0" y="4416"/>
                  <a:pt x="0" y="4406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1104840" y="46386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3"/>
                  <a:pt x="120" y="148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8"/>
                  <a:pt x="31" y="143"/>
                  <a:pt x="24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62120" y="372600"/>
            <a:ext cx="7253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Systems Thinking Lens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1104840" y="4962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289520" y="4547520"/>
            <a:ext cx="2614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Work across disciplines early.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104840" y="52765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289520" y="4871520"/>
            <a:ext cx="7259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Combine top-down (vision, goals) with bottom-up (constraints, local knowledge).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942840" y="415260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7"/>
                </a:cubicBezTo>
                <a:cubicBezTo>
                  <a:pt x="522" y="334"/>
                  <a:pt x="517" y="350"/>
                  <a:pt x="510" y="366"/>
                </a:cubicBezTo>
                <a:cubicBezTo>
                  <a:pt x="503" y="383"/>
                  <a:pt x="495" y="398"/>
                  <a:pt x="485" y="413"/>
                </a:cubicBezTo>
                <a:cubicBezTo>
                  <a:pt x="476" y="427"/>
                  <a:pt x="465" y="441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5" y="398"/>
                  <a:pt x="27" y="383"/>
                  <a:pt x="20" y="366"/>
                </a:cubicBezTo>
                <a:cubicBezTo>
                  <a:pt x="13" y="350"/>
                  <a:pt x="8" y="334"/>
                  <a:pt x="5" y="317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8"/>
                  <a:pt x="2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1037880" y="420984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289520" y="5185800"/>
            <a:ext cx="4424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Act locally while keeping global objectives visible.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203120" y="4141440"/>
            <a:ext cx="2932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Systemic design mindset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766440" y="2547720"/>
            <a:ext cx="10658880" cy="2505600"/>
          </a:xfrm>
          <a:custGeom>
            <a:avLst/>
            <a:gdLst/>
            <a:ahLst/>
            <a:rect l="0" t="0" r="r" b="b"/>
            <a:pathLst>
              <a:path w="29608" h="6960">
                <a:moveTo>
                  <a:pt x="0" y="681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6814"/>
                </a:lnTo>
                <a:cubicBezTo>
                  <a:pt x="29608" y="6824"/>
                  <a:pt x="29607" y="6833"/>
                  <a:pt x="29605" y="6843"/>
                </a:cubicBezTo>
                <a:cubicBezTo>
                  <a:pt x="29604" y="6852"/>
                  <a:pt x="29601" y="6861"/>
                  <a:pt x="29597" y="6870"/>
                </a:cubicBezTo>
                <a:cubicBezTo>
                  <a:pt x="29594" y="6879"/>
                  <a:pt x="29589" y="6887"/>
                  <a:pt x="29584" y="6895"/>
                </a:cubicBezTo>
                <a:cubicBezTo>
                  <a:pt x="29578" y="6903"/>
                  <a:pt x="29572" y="6910"/>
                  <a:pt x="29566" y="6917"/>
                </a:cubicBezTo>
                <a:cubicBezTo>
                  <a:pt x="29559" y="6924"/>
                  <a:pt x="29552" y="6930"/>
                  <a:pt x="29544" y="6935"/>
                </a:cubicBezTo>
                <a:cubicBezTo>
                  <a:pt x="29536" y="6940"/>
                  <a:pt x="29527" y="6945"/>
                  <a:pt x="29518" y="6949"/>
                </a:cubicBezTo>
                <a:cubicBezTo>
                  <a:pt x="29510" y="6952"/>
                  <a:pt x="29501" y="6955"/>
                  <a:pt x="29491" y="6957"/>
                </a:cubicBezTo>
                <a:cubicBezTo>
                  <a:pt x="29482" y="6959"/>
                  <a:pt x="29472" y="6960"/>
                  <a:pt x="29463" y="6960"/>
                </a:cubicBezTo>
                <a:lnTo>
                  <a:pt x="146" y="6960"/>
                </a:lnTo>
                <a:cubicBezTo>
                  <a:pt x="136" y="6960"/>
                  <a:pt x="127" y="6959"/>
                  <a:pt x="118" y="6957"/>
                </a:cubicBezTo>
                <a:cubicBezTo>
                  <a:pt x="108" y="6955"/>
                  <a:pt x="99" y="6952"/>
                  <a:pt x="90" y="6949"/>
                </a:cubicBezTo>
                <a:cubicBezTo>
                  <a:pt x="81" y="6945"/>
                  <a:pt x="73" y="6940"/>
                  <a:pt x="65" y="6935"/>
                </a:cubicBezTo>
                <a:cubicBezTo>
                  <a:pt x="57" y="6930"/>
                  <a:pt x="50" y="6924"/>
                  <a:pt x="43" y="6917"/>
                </a:cubicBezTo>
                <a:cubicBezTo>
                  <a:pt x="36" y="6910"/>
                  <a:pt x="30" y="6903"/>
                  <a:pt x="25" y="6895"/>
                </a:cubicBezTo>
                <a:cubicBezTo>
                  <a:pt x="20" y="6887"/>
                  <a:pt x="15" y="6879"/>
                  <a:pt x="11" y="6870"/>
                </a:cubicBezTo>
                <a:cubicBezTo>
                  <a:pt x="8" y="6861"/>
                  <a:pt x="5" y="6852"/>
                  <a:pt x="3" y="6843"/>
                </a:cubicBezTo>
                <a:cubicBezTo>
                  <a:pt x="1" y="6833"/>
                  <a:pt x="0" y="6824"/>
                  <a:pt x="0" y="681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766440" y="2547720"/>
            <a:ext cx="10658880" cy="2505600"/>
          </a:xfrm>
          <a:custGeom>
            <a:avLst/>
            <a:gdLst/>
            <a:ahLst/>
            <a:rect l="0" t="0" r="r" b="b"/>
            <a:pathLst>
              <a:path fill="none" w="29608" h="6960">
                <a:moveTo>
                  <a:pt x="0" y="681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6814"/>
                </a:lnTo>
                <a:cubicBezTo>
                  <a:pt x="29608" y="6824"/>
                  <a:pt x="29607" y="6833"/>
                  <a:pt x="29605" y="6843"/>
                </a:cubicBezTo>
                <a:cubicBezTo>
                  <a:pt x="29604" y="6852"/>
                  <a:pt x="29601" y="6861"/>
                  <a:pt x="29597" y="6870"/>
                </a:cubicBezTo>
                <a:cubicBezTo>
                  <a:pt x="29594" y="6879"/>
                  <a:pt x="29589" y="6887"/>
                  <a:pt x="29584" y="6895"/>
                </a:cubicBezTo>
                <a:cubicBezTo>
                  <a:pt x="29578" y="6903"/>
                  <a:pt x="29572" y="6910"/>
                  <a:pt x="29566" y="6917"/>
                </a:cubicBezTo>
                <a:cubicBezTo>
                  <a:pt x="29559" y="6924"/>
                  <a:pt x="29552" y="6930"/>
                  <a:pt x="29544" y="6935"/>
                </a:cubicBezTo>
                <a:cubicBezTo>
                  <a:pt x="29536" y="6940"/>
                  <a:pt x="29527" y="6945"/>
                  <a:pt x="29518" y="6949"/>
                </a:cubicBezTo>
                <a:cubicBezTo>
                  <a:pt x="29510" y="6952"/>
                  <a:pt x="29501" y="6955"/>
                  <a:pt x="29491" y="6957"/>
                </a:cubicBezTo>
                <a:cubicBezTo>
                  <a:pt x="29482" y="6959"/>
                  <a:pt x="29472" y="6960"/>
                  <a:pt x="29463" y="6960"/>
                </a:cubicBezTo>
                <a:lnTo>
                  <a:pt x="146" y="6960"/>
                </a:lnTo>
                <a:cubicBezTo>
                  <a:pt x="136" y="6960"/>
                  <a:pt x="127" y="6959"/>
                  <a:pt x="118" y="6957"/>
                </a:cubicBezTo>
                <a:cubicBezTo>
                  <a:pt x="108" y="6955"/>
                  <a:pt x="99" y="6952"/>
                  <a:pt x="90" y="6949"/>
                </a:cubicBezTo>
                <a:cubicBezTo>
                  <a:pt x="81" y="6945"/>
                  <a:pt x="73" y="6940"/>
                  <a:pt x="65" y="6935"/>
                </a:cubicBezTo>
                <a:cubicBezTo>
                  <a:pt x="57" y="6930"/>
                  <a:pt x="50" y="6924"/>
                  <a:pt x="43" y="6917"/>
                </a:cubicBezTo>
                <a:cubicBezTo>
                  <a:pt x="36" y="6910"/>
                  <a:pt x="30" y="6903"/>
                  <a:pt x="25" y="6895"/>
                </a:cubicBezTo>
                <a:cubicBezTo>
                  <a:pt x="20" y="6887"/>
                  <a:pt x="15" y="6879"/>
                  <a:pt x="11" y="6870"/>
                </a:cubicBezTo>
                <a:cubicBezTo>
                  <a:pt x="8" y="6861"/>
                  <a:pt x="5" y="6852"/>
                  <a:pt x="3" y="6843"/>
                </a:cubicBezTo>
                <a:cubicBezTo>
                  <a:pt x="1" y="6833"/>
                  <a:pt x="0" y="6824"/>
                  <a:pt x="0" y="6814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923760" y="2697120"/>
            <a:ext cx="830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graph LR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923760" y="2897280"/>
            <a:ext cx="2800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SA[System Architecture]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923760" y="3097440"/>
            <a:ext cx="2800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SA --&gt; LV[Logical View]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923760" y="3297240"/>
            <a:ext cx="2903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SA --&gt; PV[Physical View]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923760" y="3487680"/>
            <a:ext cx="2903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SA --&gt; PRV[Process View]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923760" y="3687840"/>
            <a:ext cx="3214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SA --&gt; DV[Development View]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923760" y="4087800"/>
            <a:ext cx="76730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LV -- "What functions?" --&gt; LVD[Modules, responsibilities, data flows]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923760" y="4287960"/>
            <a:ext cx="7776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PV -- "Where it runs?" --&gt; PVD[Hardware, networks, deployment topology]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923760" y="4488120"/>
            <a:ext cx="82951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PRV -- "How it executes?" --&gt; PRVD[Runtime concurrency, threads, scheduling]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923760" y="4687920"/>
            <a:ext cx="7984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DV -- "How it evolves?" --&gt; DVD[Codebases, repositories, build pipelines]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62120" y="372600"/>
            <a:ext cx="64800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4+1 View Model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"/>
          <p:cNvSpPr/>
          <p:nvPr/>
        </p:nvSpPr>
        <p:spPr>
          <a:xfrm>
            <a:off x="1962000" y="3295440"/>
            <a:ext cx="1410120" cy="352800"/>
          </a:xfrm>
          <a:custGeom>
            <a:avLst/>
            <a:gdLst/>
            <a:ahLst/>
            <a:rect l="0" t="0" r="r" b="b"/>
            <a:pathLst>
              <a:path w="3917" h="980">
                <a:moveTo>
                  <a:pt x="0" y="0"/>
                </a:moveTo>
                <a:lnTo>
                  <a:pt x="3917" y="0"/>
                </a:lnTo>
                <a:lnTo>
                  <a:pt x="39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3371760" y="3295440"/>
            <a:ext cx="2171880" cy="352800"/>
          </a:xfrm>
          <a:custGeom>
            <a:avLst/>
            <a:gdLst/>
            <a:ahLst/>
            <a:rect l="0" t="0" r="r" b="b"/>
            <a:pathLst>
              <a:path w="6033" h="980">
                <a:moveTo>
                  <a:pt x="0" y="0"/>
                </a:moveTo>
                <a:lnTo>
                  <a:pt x="6033" y="0"/>
                </a:lnTo>
                <a:lnTo>
                  <a:pt x="603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5543280" y="3295440"/>
            <a:ext cx="4686840" cy="352800"/>
          </a:xfrm>
          <a:custGeom>
            <a:avLst/>
            <a:gdLst/>
            <a:ahLst/>
            <a:rect l="0" t="0" r="r" b="b"/>
            <a:pathLst>
              <a:path w="13019" h="980">
                <a:moveTo>
                  <a:pt x="0" y="0"/>
                </a:moveTo>
                <a:lnTo>
                  <a:pt x="13019" y="0"/>
                </a:lnTo>
                <a:lnTo>
                  <a:pt x="1301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962000" y="3647880"/>
            <a:ext cx="1410120" cy="352800"/>
          </a:xfrm>
          <a:custGeom>
            <a:avLst/>
            <a:gdLst/>
            <a:ahLst/>
            <a:rect l="0" t="0" r="r" b="b"/>
            <a:pathLst>
              <a:path w="3917" h="980">
                <a:moveTo>
                  <a:pt x="0" y="0"/>
                </a:moveTo>
                <a:lnTo>
                  <a:pt x="3917" y="0"/>
                </a:lnTo>
                <a:lnTo>
                  <a:pt x="39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3371760" y="3647880"/>
            <a:ext cx="2171880" cy="352800"/>
          </a:xfrm>
          <a:custGeom>
            <a:avLst/>
            <a:gdLst/>
            <a:ahLst/>
            <a:rect l="0" t="0" r="r" b="b"/>
            <a:pathLst>
              <a:path w="6033" h="980">
                <a:moveTo>
                  <a:pt x="0" y="0"/>
                </a:moveTo>
                <a:lnTo>
                  <a:pt x="6033" y="0"/>
                </a:lnTo>
                <a:lnTo>
                  <a:pt x="603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5543280" y="3647880"/>
            <a:ext cx="4686840" cy="352800"/>
          </a:xfrm>
          <a:custGeom>
            <a:avLst/>
            <a:gdLst/>
            <a:ahLst/>
            <a:rect l="0" t="0" r="r" b="b"/>
            <a:pathLst>
              <a:path w="13019" h="980">
                <a:moveTo>
                  <a:pt x="0" y="0"/>
                </a:moveTo>
                <a:lnTo>
                  <a:pt x="13019" y="0"/>
                </a:lnTo>
                <a:lnTo>
                  <a:pt x="1301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962000" y="4000320"/>
            <a:ext cx="1410120" cy="352800"/>
          </a:xfrm>
          <a:custGeom>
            <a:avLst/>
            <a:gdLst/>
            <a:ahLst/>
            <a:rect l="0" t="0" r="r" b="b"/>
            <a:pathLst>
              <a:path w="3917" h="980">
                <a:moveTo>
                  <a:pt x="0" y="0"/>
                </a:moveTo>
                <a:lnTo>
                  <a:pt x="3917" y="0"/>
                </a:lnTo>
                <a:lnTo>
                  <a:pt x="39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3371760" y="4000320"/>
            <a:ext cx="2171880" cy="352800"/>
          </a:xfrm>
          <a:custGeom>
            <a:avLst/>
            <a:gdLst/>
            <a:ahLst/>
            <a:rect l="0" t="0" r="r" b="b"/>
            <a:pathLst>
              <a:path w="6033" h="980">
                <a:moveTo>
                  <a:pt x="0" y="0"/>
                </a:moveTo>
                <a:lnTo>
                  <a:pt x="6033" y="0"/>
                </a:lnTo>
                <a:lnTo>
                  <a:pt x="603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543280" y="4000320"/>
            <a:ext cx="4686840" cy="352800"/>
          </a:xfrm>
          <a:custGeom>
            <a:avLst/>
            <a:gdLst/>
            <a:ahLst/>
            <a:rect l="0" t="0" r="r" b="b"/>
            <a:pathLst>
              <a:path w="13019" h="980">
                <a:moveTo>
                  <a:pt x="0" y="0"/>
                </a:moveTo>
                <a:lnTo>
                  <a:pt x="13019" y="0"/>
                </a:lnTo>
                <a:lnTo>
                  <a:pt x="1301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962000" y="4352760"/>
            <a:ext cx="1410120" cy="352800"/>
          </a:xfrm>
          <a:custGeom>
            <a:avLst/>
            <a:gdLst/>
            <a:ahLst/>
            <a:rect l="0" t="0" r="r" b="b"/>
            <a:pathLst>
              <a:path w="3917" h="980">
                <a:moveTo>
                  <a:pt x="0" y="0"/>
                </a:moveTo>
                <a:lnTo>
                  <a:pt x="3917" y="0"/>
                </a:lnTo>
                <a:lnTo>
                  <a:pt x="39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3371760" y="4352760"/>
            <a:ext cx="2171880" cy="352800"/>
          </a:xfrm>
          <a:custGeom>
            <a:avLst/>
            <a:gdLst/>
            <a:ahLst/>
            <a:rect l="0" t="0" r="r" b="b"/>
            <a:pathLst>
              <a:path w="6033" h="980">
                <a:moveTo>
                  <a:pt x="0" y="0"/>
                </a:moveTo>
                <a:lnTo>
                  <a:pt x="6033" y="0"/>
                </a:lnTo>
                <a:lnTo>
                  <a:pt x="603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5543280" y="4352760"/>
            <a:ext cx="4686840" cy="352800"/>
          </a:xfrm>
          <a:custGeom>
            <a:avLst/>
            <a:gdLst/>
            <a:ahLst/>
            <a:rect l="0" t="0" r="r" b="b"/>
            <a:pathLst>
              <a:path w="13019" h="980">
                <a:moveTo>
                  <a:pt x="0" y="0"/>
                </a:moveTo>
                <a:lnTo>
                  <a:pt x="13019" y="0"/>
                </a:lnTo>
                <a:lnTo>
                  <a:pt x="1301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962000" y="4705200"/>
            <a:ext cx="1410120" cy="352800"/>
          </a:xfrm>
          <a:custGeom>
            <a:avLst/>
            <a:gdLst/>
            <a:ahLst/>
            <a:rect l="0" t="0" r="r" b="b"/>
            <a:pathLst>
              <a:path w="3917" h="980">
                <a:moveTo>
                  <a:pt x="0" y="0"/>
                </a:moveTo>
                <a:lnTo>
                  <a:pt x="3917" y="0"/>
                </a:lnTo>
                <a:lnTo>
                  <a:pt x="39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3371760" y="4705200"/>
            <a:ext cx="2171880" cy="352800"/>
          </a:xfrm>
          <a:custGeom>
            <a:avLst/>
            <a:gdLst/>
            <a:ahLst/>
            <a:rect l="0" t="0" r="r" b="b"/>
            <a:pathLst>
              <a:path w="6033" h="980">
                <a:moveTo>
                  <a:pt x="0" y="0"/>
                </a:moveTo>
                <a:lnTo>
                  <a:pt x="6033" y="0"/>
                </a:lnTo>
                <a:lnTo>
                  <a:pt x="603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543280" y="4705200"/>
            <a:ext cx="4686840" cy="352800"/>
          </a:xfrm>
          <a:custGeom>
            <a:avLst/>
            <a:gdLst/>
            <a:ahLst/>
            <a:rect l="0" t="0" r="r" b="b"/>
            <a:pathLst>
              <a:path w="13019" h="980">
                <a:moveTo>
                  <a:pt x="0" y="0"/>
                </a:moveTo>
                <a:lnTo>
                  <a:pt x="13019" y="0"/>
                </a:lnTo>
                <a:lnTo>
                  <a:pt x="1301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962000" y="5057640"/>
            <a:ext cx="1410120" cy="352800"/>
          </a:xfrm>
          <a:custGeom>
            <a:avLst/>
            <a:gdLst/>
            <a:ahLst/>
            <a:rect l="0" t="0" r="r" b="b"/>
            <a:pathLst>
              <a:path w="3917" h="980">
                <a:moveTo>
                  <a:pt x="0" y="0"/>
                </a:moveTo>
                <a:lnTo>
                  <a:pt x="3917" y="0"/>
                </a:lnTo>
                <a:lnTo>
                  <a:pt x="391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3371760" y="5057640"/>
            <a:ext cx="2171880" cy="352800"/>
          </a:xfrm>
          <a:custGeom>
            <a:avLst/>
            <a:gdLst/>
            <a:ahLst/>
            <a:rect l="0" t="0" r="r" b="b"/>
            <a:pathLst>
              <a:path w="6033" h="980">
                <a:moveTo>
                  <a:pt x="0" y="0"/>
                </a:moveTo>
                <a:lnTo>
                  <a:pt x="6033" y="0"/>
                </a:lnTo>
                <a:lnTo>
                  <a:pt x="603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543280" y="5057640"/>
            <a:ext cx="4686840" cy="352800"/>
          </a:xfrm>
          <a:custGeom>
            <a:avLst/>
            <a:gdLst/>
            <a:ahLst/>
            <a:rect l="0" t="0" r="r" b="b"/>
            <a:pathLst>
              <a:path w="13019" h="980">
                <a:moveTo>
                  <a:pt x="0" y="0"/>
                </a:moveTo>
                <a:lnTo>
                  <a:pt x="13019" y="0"/>
                </a:lnTo>
                <a:lnTo>
                  <a:pt x="13019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952280" y="3295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952280" y="3295440"/>
            <a:ext cx="1419840" cy="10080"/>
          </a:xfrm>
          <a:custGeom>
            <a:avLst/>
            <a:gdLst/>
            <a:ahLst/>
            <a:rect l="0" t="0" r="r" b="b"/>
            <a:pathLst>
              <a:path w="3944" h="28">
                <a:moveTo>
                  <a:pt x="0" y="0"/>
                </a:moveTo>
                <a:lnTo>
                  <a:pt x="3944" y="0"/>
                </a:lnTo>
                <a:lnTo>
                  <a:pt x="39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3362040" y="3295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3371760" y="3295440"/>
            <a:ext cx="2181600" cy="10080"/>
          </a:xfrm>
          <a:custGeom>
            <a:avLst/>
            <a:gdLst/>
            <a:ahLst/>
            <a:rect l="0" t="0" r="r" b="b"/>
            <a:pathLst>
              <a:path w="6060" h="28">
                <a:moveTo>
                  <a:pt x="0" y="0"/>
                </a:moveTo>
                <a:lnTo>
                  <a:pt x="6060" y="0"/>
                </a:lnTo>
                <a:lnTo>
                  <a:pt x="60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543280" y="3295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553000" y="3295440"/>
            <a:ext cx="4686480" cy="10080"/>
          </a:xfrm>
          <a:custGeom>
            <a:avLst/>
            <a:gdLst/>
            <a:ahLst/>
            <a:rect l="0" t="0" r="r" b="b"/>
            <a:pathLst>
              <a:path w="13018" h="28">
                <a:moveTo>
                  <a:pt x="0" y="0"/>
                </a:moveTo>
                <a:lnTo>
                  <a:pt x="13018" y="0"/>
                </a:lnTo>
                <a:lnTo>
                  <a:pt x="130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10229760" y="329544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952280" y="3647880"/>
            <a:ext cx="1419840" cy="9720"/>
          </a:xfrm>
          <a:custGeom>
            <a:avLst/>
            <a:gdLst/>
            <a:ahLst/>
            <a:rect l="0" t="0" r="r" b="b"/>
            <a:pathLst>
              <a:path w="3944" h="27">
                <a:moveTo>
                  <a:pt x="0" y="0"/>
                </a:moveTo>
                <a:lnTo>
                  <a:pt x="3944" y="0"/>
                </a:lnTo>
                <a:lnTo>
                  <a:pt x="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3371760" y="364788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553000" y="3647880"/>
            <a:ext cx="4686480" cy="9720"/>
          </a:xfrm>
          <a:custGeom>
            <a:avLst/>
            <a:gdLst/>
            <a:ahLst/>
            <a:rect l="0" t="0" r="r" b="b"/>
            <a:pathLst>
              <a:path w="13018" h="27">
                <a:moveTo>
                  <a:pt x="0" y="0"/>
                </a:moveTo>
                <a:lnTo>
                  <a:pt x="13018" y="0"/>
                </a:lnTo>
                <a:lnTo>
                  <a:pt x="130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952280" y="36572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3362040" y="36572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543280" y="365724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0229760" y="365724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952280" y="4009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952280" y="4000320"/>
            <a:ext cx="1419840" cy="9720"/>
          </a:xfrm>
          <a:custGeom>
            <a:avLst/>
            <a:gdLst/>
            <a:ahLst/>
            <a:rect l="0" t="0" r="r" b="b"/>
            <a:pathLst>
              <a:path w="3944" h="27">
                <a:moveTo>
                  <a:pt x="0" y="0"/>
                </a:moveTo>
                <a:lnTo>
                  <a:pt x="3944" y="0"/>
                </a:lnTo>
                <a:lnTo>
                  <a:pt x="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3362040" y="4009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3371760" y="400032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543280" y="400968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553000" y="4000320"/>
            <a:ext cx="4686480" cy="9720"/>
          </a:xfrm>
          <a:custGeom>
            <a:avLst/>
            <a:gdLst/>
            <a:ahLst/>
            <a:rect l="0" t="0" r="r" b="b"/>
            <a:pathLst>
              <a:path w="13018" h="27">
                <a:moveTo>
                  <a:pt x="0" y="0"/>
                </a:moveTo>
                <a:lnTo>
                  <a:pt x="13018" y="0"/>
                </a:lnTo>
                <a:lnTo>
                  <a:pt x="130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0229760" y="400968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952280" y="43621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952280" y="4352760"/>
            <a:ext cx="1419840" cy="9720"/>
          </a:xfrm>
          <a:custGeom>
            <a:avLst/>
            <a:gdLst/>
            <a:ahLst/>
            <a:rect l="0" t="0" r="r" b="b"/>
            <a:pathLst>
              <a:path w="3944" h="27">
                <a:moveTo>
                  <a:pt x="0" y="0"/>
                </a:moveTo>
                <a:lnTo>
                  <a:pt x="3944" y="0"/>
                </a:lnTo>
                <a:lnTo>
                  <a:pt x="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3362040" y="43621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3371760" y="435276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543280" y="436212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5553000" y="4352760"/>
            <a:ext cx="4686480" cy="9720"/>
          </a:xfrm>
          <a:custGeom>
            <a:avLst/>
            <a:gdLst/>
            <a:ahLst/>
            <a:rect l="0" t="0" r="r" b="b"/>
            <a:pathLst>
              <a:path w="13018" h="27">
                <a:moveTo>
                  <a:pt x="0" y="0"/>
                </a:moveTo>
                <a:lnTo>
                  <a:pt x="13018" y="0"/>
                </a:lnTo>
                <a:lnTo>
                  <a:pt x="130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10229760" y="436212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952280" y="471456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1952280" y="4705200"/>
            <a:ext cx="1419840" cy="9720"/>
          </a:xfrm>
          <a:custGeom>
            <a:avLst/>
            <a:gdLst/>
            <a:ahLst/>
            <a:rect l="0" t="0" r="r" b="b"/>
            <a:pathLst>
              <a:path w="3944" h="27">
                <a:moveTo>
                  <a:pt x="0" y="0"/>
                </a:moveTo>
                <a:lnTo>
                  <a:pt x="3944" y="0"/>
                </a:lnTo>
                <a:lnTo>
                  <a:pt x="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362040" y="471456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3371760" y="470520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5543280" y="471456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5553000" y="4705200"/>
            <a:ext cx="4686480" cy="9720"/>
          </a:xfrm>
          <a:custGeom>
            <a:avLst/>
            <a:gdLst/>
            <a:ahLst/>
            <a:rect l="0" t="0" r="r" b="b"/>
            <a:pathLst>
              <a:path w="13018" h="27">
                <a:moveTo>
                  <a:pt x="0" y="0"/>
                </a:moveTo>
                <a:lnTo>
                  <a:pt x="13018" y="0"/>
                </a:lnTo>
                <a:lnTo>
                  <a:pt x="130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0229760" y="471456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952280" y="50670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952280" y="5057640"/>
            <a:ext cx="1419840" cy="9720"/>
          </a:xfrm>
          <a:custGeom>
            <a:avLst/>
            <a:gdLst/>
            <a:ahLst/>
            <a:rect l="0" t="0" r="r" b="b"/>
            <a:pathLst>
              <a:path w="3944" h="27">
                <a:moveTo>
                  <a:pt x="0" y="0"/>
                </a:moveTo>
                <a:lnTo>
                  <a:pt x="3944" y="0"/>
                </a:lnTo>
                <a:lnTo>
                  <a:pt x="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3362040" y="50670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371760" y="505764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5543280" y="5067000"/>
            <a:ext cx="10080" cy="352800"/>
          </a:xfrm>
          <a:custGeom>
            <a:avLst/>
            <a:gdLst/>
            <a:ahLst/>
            <a:rect l="0" t="0" r="r" b="b"/>
            <a:pathLst>
              <a:path w="28" h="980">
                <a:moveTo>
                  <a:pt x="0" y="0"/>
                </a:moveTo>
                <a:lnTo>
                  <a:pt x="28" y="0"/>
                </a:lnTo>
                <a:lnTo>
                  <a:pt x="28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5553000" y="5057640"/>
            <a:ext cx="4686480" cy="9720"/>
          </a:xfrm>
          <a:custGeom>
            <a:avLst/>
            <a:gdLst/>
            <a:ahLst/>
            <a:rect l="0" t="0" r="r" b="b"/>
            <a:pathLst>
              <a:path w="13018" h="27">
                <a:moveTo>
                  <a:pt x="0" y="0"/>
                </a:moveTo>
                <a:lnTo>
                  <a:pt x="13018" y="0"/>
                </a:lnTo>
                <a:lnTo>
                  <a:pt x="130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0229760" y="5067000"/>
            <a:ext cx="9720" cy="352800"/>
          </a:xfrm>
          <a:custGeom>
            <a:avLst/>
            <a:gdLst/>
            <a:ahLst/>
            <a:rect l="0" t="0" r="r" b="b"/>
            <a:pathLst>
              <a:path w="27" h="980">
                <a:moveTo>
                  <a:pt x="0" y="0"/>
                </a:moveTo>
                <a:lnTo>
                  <a:pt x="27" y="0"/>
                </a:lnTo>
                <a:lnTo>
                  <a:pt x="27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952280" y="5410080"/>
            <a:ext cx="1419840" cy="9720"/>
          </a:xfrm>
          <a:custGeom>
            <a:avLst/>
            <a:gdLst/>
            <a:ahLst/>
            <a:rect l="0" t="0" r="r" b="b"/>
            <a:pathLst>
              <a:path w="3944" h="27">
                <a:moveTo>
                  <a:pt x="0" y="0"/>
                </a:moveTo>
                <a:lnTo>
                  <a:pt x="3944" y="0"/>
                </a:lnTo>
                <a:lnTo>
                  <a:pt x="39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3371760" y="5410080"/>
            <a:ext cx="2181600" cy="9720"/>
          </a:xfrm>
          <a:custGeom>
            <a:avLst/>
            <a:gdLst/>
            <a:ahLst/>
            <a:rect l="0" t="0" r="r" b="b"/>
            <a:pathLst>
              <a:path w="6060" h="27">
                <a:moveTo>
                  <a:pt x="0" y="0"/>
                </a:moveTo>
                <a:lnTo>
                  <a:pt x="6060" y="0"/>
                </a:lnTo>
                <a:lnTo>
                  <a:pt x="60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553000" y="5410080"/>
            <a:ext cx="4686480" cy="9720"/>
          </a:xfrm>
          <a:custGeom>
            <a:avLst/>
            <a:gdLst/>
            <a:ahLst/>
            <a:rect l="0" t="0" r="r" b="b"/>
            <a:pathLst>
              <a:path w="13018" h="27">
                <a:moveTo>
                  <a:pt x="0" y="0"/>
                </a:moveTo>
                <a:lnTo>
                  <a:pt x="13018" y="0"/>
                </a:lnTo>
                <a:lnTo>
                  <a:pt x="130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62120" y="2203920"/>
            <a:ext cx="10080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Each view is documented with the UML (or UML-like) diagram best suited to the question it answers —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762120" y="2508480"/>
            <a:ext cx="1057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Kruchten's "+1" is the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Scenarios view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a handful of use cases that cut across all four, used to check they're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762120" y="2813400"/>
            <a:ext cx="3476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actually consistent with each other.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477520" y="3386520"/>
            <a:ext cx="377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View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121640" y="3386520"/>
            <a:ext cx="675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Answers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7157880" y="3386520"/>
            <a:ext cx="14623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Typical diagram(s)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2098800" y="3738960"/>
            <a:ext cx="556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Logical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509640" y="3738960"/>
            <a:ext cx="11696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What functions?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5684400" y="3738960"/>
            <a:ext cx="3630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Class diagrams, communication/object diagrams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2098800" y="4091400"/>
            <a:ext cx="6037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Process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3509640" y="4091400"/>
            <a:ext cx="1240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How it executes?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5684400" y="4091400"/>
            <a:ext cx="44092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Sequence diagrams, activity diagrams (concurrency, timing)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2098800" y="4443840"/>
            <a:ext cx="1037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Development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3509640" y="4443840"/>
            <a:ext cx="1128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How it evolves?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5684400" y="4443840"/>
            <a:ext cx="3038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Component diagrams, package diagrams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2098800" y="4796280"/>
            <a:ext cx="639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Physical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3509640" y="4796280"/>
            <a:ext cx="10486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Where it runs?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5684400" y="4796280"/>
            <a:ext cx="16257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Deployment diagrams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2098800" y="5148360"/>
            <a:ext cx="1135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Scenarios (+1)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3509640" y="5148360"/>
            <a:ext cx="1899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Does it all hang together?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684400" y="5148360"/>
            <a:ext cx="13759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Use case diagrams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762120" y="372600"/>
            <a:ext cx="9535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 Diagram Type for Each View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"/>
          <p:cNvSpPr txBox="1"/>
          <p:nvPr/>
        </p:nvSpPr>
        <p:spPr>
          <a:xfrm>
            <a:off x="762120" y="1725840"/>
            <a:ext cx="264348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Architectural Styles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766440" y="2328840"/>
            <a:ext cx="5277240" cy="1590840"/>
          </a:xfrm>
          <a:custGeom>
            <a:avLst/>
            <a:gdLst/>
            <a:ahLst/>
            <a:rect l="0" t="0" r="r" b="b"/>
            <a:pathLst>
              <a:path w="14659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274"/>
                </a:lnTo>
                <a:cubicBezTo>
                  <a:pt x="14659" y="4283"/>
                  <a:pt x="14658" y="4293"/>
                  <a:pt x="14657" y="4302"/>
                </a:cubicBezTo>
                <a:cubicBezTo>
                  <a:pt x="14655" y="4311"/>
                  <a:pt x="14652" y="4320"/>
                  <a:pt x="14648" y="4329"/>
                </a:cubicBezTo>
                <a:cubicBezTo>
                  <a:pt x="14645" y="4338"/>
                  <a:pt x="14640" y="4346"/>
                  <a:pt x="14635" y="4354"/>
                </a:cubicBezTo>
                <a:cubicBezTo>
                  <a:pt x="14629" y="4362"/>
                  <a:pt x="14623" y="4370"/>
                  <a:pt x="14617" y="4376"/>
                </a:cubicBezTo>
                <a:cubicBezTo>
                  <a:pt x="14610" y="4383"/>
                  <a:pt x="14603" y="4389"/>
                  <a:pt x="14595" y="4395"/>
                </a:cubicBezTo>
                <a:cubicBezTo>
                  <a:pt x="14587" y="4400"/>
                  <a:pt x="14578" y="4404"/>
                  <a:pt x="14569" y="4408"/>
                </a:cubicBezTo>
                <a:cubicBezTo>
                  <a:pt x="14561" y="4412"/>
                  <a:pt x="14552" y="4414"/>
                  <a:pt x="14542" y="4416"/>
                </a:cubicBezTo>
                <a:cubicBezTo>
                  <a:pt x="14533" y="4418"/>
                  <a:pt x="14523" y="4419"/>
                  <a:pt x="14514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8" y="4416"/>
                </a:cubicBezTo>
                <a:cubicBezTo>
                  <a:pt x="108" y="4414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6"/>
                </a:cubicBezTo>
                <a:cubicBezTo>
                  <a:pt x="36" y="4370"/>
                  <a:pt x="30" y="4362"/>
                  <a:pt x="25" y="4354"/>
                </a:cubicBezTo>
                <a:cubicBezTo>
                  <a:pt x="20" y="4346"/>
                  <a:pt x="15" y="4338"/>
                  <a:pt x="11" y="4329"/>
                </a:cubicBezTo>
                <a:cubicBezTo>
                  <a:pt x="8" y="4320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766440" y="2328840"/>
            <a:ext cx="5277240" cy="1590840"/>
          </a:xfrm>
          <a:custGeom>
            <a:avLst/>
            <a:gdLst/>
            <a:ahLst/>
            <a:rect l="0" t="0" r="r" b="b"/>
            <a:pathLst>
              <a:path fill="none" w="14659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274"/>
                </a:lnTo>
                <a:cubicBezTo>
                  <a:pt x="14659" y="4283"/>
                  <a:pt x="14658" y="4293"/>
                  <a:pt x="14657" y="4302"/>
                </a:cubicBezTo>
                <a:cubicBezTo>
                  <a:pt x="14655" y="4311"/>
                  <a:pt x="14652" y="4320"/>
                  <a:pt x="14648" y="4329"/>
                </a:cubicBezTo>
                <a:cubicBezTo>
                  <a:pt x="14645" y="4338"/>
                  <a:pt x="14640" y="4346"/>
                  <a:pt x="14635" y="4354"/>
                </a:cubicBezTo>
                <a:cubicBezTo>
                  <a:pt x="14629" y="4362"/>
                  <a:pt x="14623" y="4370"/>
                  <a:pt x="14617" y="4376"/>
                </a:cubicBezTo>
                <a:cubicBezTo>
                  <a:pt x="14610" y="4383"/>
                  <a:pt x="14603" y="4389"/>
                  <a:pt x="14595" y="4395"/>
                </a:cubicBezTo>
                <a:cubicBezTo>
                  <a:pt x="14587" y="4400"/>
                  <a:pt x="14578" y="4404"/>
                  <a:pt x="14569" y="4408"/>
                </a:cubicBezTo>
                <a:cubicBezTo>
                  <a:pt x="14561" y="4412"/>
                  <a:pt x="14552" y="4414"/>
                  <a:pt x="14542" y="4416"/>
                </a:cubicBezTo>
                <a:cubicBezTo>
                  <a:pt x="14533" y="4418"/>
                  <a:pt x="14523" y="4419"/>
                  <a:pt x="14514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8" y="4416"/>
                </a:cubicBezTo>
                <a:cubicBezTo>
                  <a:pt x="108" y="4414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6"/>
                </a:cubicBezTo>
                <a:cubicBezTo>
                  <a:pt x="36" y="4370"/>
                  <a:pt x="30" y="4362"/>
                  <a:pt x="25" y="4354"/>
                </a:cubicBezTo>
                <a:cubicBezTo>
                  <a:pt x="20" y="4346"/>
                  <a:pt x="15" y="4338"/>
                  <a:pt x="11" y="4329"/>
                </a:cubicBezTo>
                <a:cubicBezTo>
                  <a:pt x="8" y="4320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1104840" y="30286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104840" y="3342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289520" y="2937960"/>
            <a:ext cx="3498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Presentation → business → data layers.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289520" y="3252240"/>
            <a:ext cx="4461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web stack with frontend UI, API services,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961920" y="258120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8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289520" y="3528360"/>
            <a:ext cx="948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databases.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6148080" y="2328840"/>
            <a:ext cx="5277240" cy="1590840"/>
          </a:xfrm>
          <a:custGeom>
            <a:avLst/>
            <a:gdLst/>
            <a:ahLst/>
            <a:rect l="0" t="0" r="r" b="b"/>
            <a:pathLst>
              <a:path w="14659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274"/>
                </a:lnTo>
                <a:cubicBezTo>
                  <a:pt x="14659" y="4283"/>
                  <a:pt x="14658" y="4293"/>
                  <a:pt x="14656" y="4302"/>
                </a:cubicBezTo>
                <a:cubicBezTo>
                  <a:pt x="14655" y="4311"/>
                  <a:pt x="14652" y="4320"/>
                  <a:pt x="14648" y="4329"/>
                </a:cubicBezTo>
                <a:cubicBezTo>
                  <a:pt x="14645" y="4338"/>
                  <a:pt x="14640" y="4346"/>
                  <a:pt x="14635" y="4354"/>
                </a:cubicBezTo>
                <a:cubicBezTo>
                  <a:pt x="14629" y="4362"/>
                  <a:pt x="14623" y="4370"/>
                  <a:pt x="14617" y="4376"/>
                </a:cubicBezTo>
                <a:cubicBezTo>
                  <a:pt x="14610" y="4383"/>
                  <a:pt x="14603" y="4389"/>
                  <a:pt x="14595" y="4395"/>
                </a:cubicBezTo>
                <a:cubicBezTo>
                  <a:pt x="14587" y="4400"/>
                  <a:pt x="14578" y="4404"/>
                  <a:pt x="14569" y="4408"/>
                </a:cubicBezTo>
                <a:cubicBezTo>
                  <a:pt x="14561" y="4412"/>
                  <a:pt x="14552" y="4414"/>
                  <a:pt x="14542" y="4416"/>
                </a:cubicBezTo>
                <a:cubicBezTo>
                  <a:pt x="14533" y="4418"/>
                  <a:pt x="14523" y="4419"/>
                  <a:pt x="14514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7" y="4416"/>
                </a:cubicBezTo>
                <a:cubicBezTo>
                  <a:pt x="108" y="4414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6"/>
                </a:cubicBezTo>
                <a:cubicBezTo>
                  <a:pt x="36" y="4370"/>
                  <a:pt x="30" y="4362"/>
                  <a:pt x="25" y="4354"/>
                </a:cubicBezTo>
                <a:cubicBezTo>
                  <a:pt x="20" y="4346"/>
                  <a:pt x="15" y="4338"/>
                  <a:pt x="11" y="4329"/>
                </a:cubicBezTo>
                <a:cubicBezTo>
                  <a:pt x="8" y="4320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6148080" y="2328840"/>
            <a:ext cx="5277240" cy="1590840"/>
          </a:xfrm>
          <a:custGeom>
            <a:avLst/>
            <a:gdLst/>
            <a:ahLst/>
            <a:rect l="0" t="0" r="r" b="b"/>
            <a:pathLst>
              <a:path fill="none" w="14659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274"/>
                </a:lnTo>
                <a:cubicBezTo>
                  <a:pt x="14659" y="4283"/>
                  <a:pt x="14658" y="4293"/>
                  <a:pt x="14656" y="4302"/>
                </a:cubicBezTo>
                <a:cubicBezTo>
                  <a:pt x="14655" y="4311"/>
                  <a:pt x="14652" y="4320"/>
                  <a:pt x="14648" y="4329"/>
                </a:cubicBezTo>
                <a:cubicBezTo>
                  <a:pt x="14645" y="4338"/>
                  <a:pt x="14640" y="4346"/>
                  <a:pt x="14635" y="4354"/>
                </a:cubicBezTo>
                <a:cubicBezTo>
                  <a:pt x="14629" y="4362"/>
                  <a:pt x="14623" y="4370"/>
                  <a:pt x="14617" y="4376"/>
                </a:cubicBezTo>
                <a:cubicBezTo>
                  <a:pt x="14610" y="4383"/>
                  <a:pt x="14603" y="4389"/>
                  <a:pt x="14595" y="4395"/>
                </a:cubicBezTo>
                <a:cubicBezTo>
                  <a:pt x="14587" y="4400"/>
                  <a:pt x="14578" y="4404"/>
                  <a:pt x="14569" y="4408"/>
                </a:cubicBezTo>
                <a:cubicBezTo>
                  <a:pt x="14561" y="4412"/>
                  <a:pt x="14552" y="4414"/>
                  <a:pt x="14542" y="4416"/>
                </a:cubicBezTo>
                <a:cubicBezTo>
                  <a:pt x="14533" y="4418"/>
                  <a:pt x="14523" y="4419"/>
                  <a:pt x="14514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7" y="4416"/>
                </a:cubicBezTo>
                <a:cubicBezTo>
                  <a:pt x="108" y="4414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6"/>
                </a:cubicBezTo>
                <a:cubicBezTo>
                  <a:pt x="36" y="4370"/>
                  <a:pt x="30" y="4362"/>
                  <a:pt x="25" y="4354"/>
                </a:cubicBezTo>
                <a:cubicBezTo>
                  <a:pt x="20" y="4346"/>
                  <a:pt x="15" y="4338"/>
                  <a:pt x="11" y="4329"/>
                </a:cubicBezTo>
                <a:cubicBezTo>
                  <a:pt x="8" y="4320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6486480" y="30286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203120" y="2531520"/>
            <a:ext cx="924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Layered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6486480" y="3342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6671160" y="2937960"/>
            <a:ext cx="3434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Loosely coupled services via contracts.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6671160" y="3252240"/>
            <a:ext cx="3819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payment service, identity service,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6324480" y="25430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8"/>
                  <a:pt x="485" y="412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8"/>
                  <a:pt x="283" y="530"/>
                  <a:pt x="265" y="530"/>
                </a:cubicBezTo>
                <a:cubicBezTo>
                  <a:pt x="248" y="530"/>
                  <a:pt x="231" y="528"/>
                  <a:pt x="214" y="525"/>
                </a:cubicBezTo>
                <a:cubicBezTo>
                  <a:pt x="197" y="522"/>
                  <a:pt x="180" y="517"/>
                  <a:pt x="164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2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300"/>
                  <a:pt x="0" y="283"/>
                  <a:pt x="0" y="265"/>
                </a:cubicBezTo>
                <a:cubicBezTo>
                  <a:pt x="0" y="248"/>
                  <a:pt x="2" y="231"/>
                  <a:pt x="5" y="214"/>
                </a:cubicBezTo>
                <a:cubicBezTo>
                  <a:pt x="8" y="197"/>
                  <a:pt x="13" y="180"/>
                  <a:pt x="20" y="164"/>
                </a:cubicBezTo>
                <a:cubicBezTo>
                  <a:pt x="27" y="148"/>
                  <a:pt x="35" y="133"/>
                  <a:pt x="44" y="118"/>
                </a:cubicBezTo>
                <a:cubicBezTo>
                  <a:pt x="54" y="104"/>
                  <a:pt x="65" y="91"/>
                  <a:pt x="77" y="77"/>
                </a:cubicBezTo>
                <a:cubicBezTo>
                  <a:pt x="90" y="65"/>
                  <a:pt x="103" y="54"/>
                  <a:pt x="117" y="44"/>
                </a:cubicBezTo>
                <a:cubicBezTo>
                  <a:pt x="132" y="35"/>
                  <a:pt x="147" y="27"/>
                  <a:pt x="164" y="20"/>
                </a:cubicBezTo>
                <a:cubicBezTo>
                  <a:pt x="180" y="13"/>
                  <a:pt x="197" y="8"/>
                  <a:pt x="214" y="5"/>
                </a:cubicBezTo>
                <a:cubicBezTo>
                  <a:pt x="231" y="2"/>
                  <a:pt x="248" y="0"/>
                  <a:pt x="265" y="0"/>
                </a:cubicBezTo>
                <a:cubicBezTo>
                  <a:pt x="283" y="0"/>
                  <a:pt x="300" y="2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4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1"/>
                  <a:pt x="476" y="104"/>
                  <a:pt x="485" y="118"/>
                </a:cubicBezTo>
                <a:cubicBezTo>
                  <a:pt x="495" y="133"/>
                  <a:pt x="503" y="148"/>
                  <a:pt x="510" y="164"/>
                </a:cubicBezTo>
                <a:cubicBezTo>
                  <a:pt x="517" y="180"/>
                  <a:pt x="522" y="197"/>
                  <a:pt x="525" y="214"/>
                </a:cubicBezTo>
                <a:cubicBezTo>
                  <a:pt x="528" y="231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6419520" y="260028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5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6671160" y="3528360"/>
            <a:ext cx="1557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inventory service.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766440" y="4157640"/>
            <a:ext cx="5277240" cy="1590840"/>
          </a:xfrm>
          <a:custGeom>
            <a:avLst/>
            <a:gdLst/>
            <a:ahLst/>
            <a:rect l="0" t="0" r="r" b="b"/>
            <a:pathLst>
              <a:path w="14659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274"/>
                </a:lnTo>
                <a:cubicBezTo>
                  <a:pt x="14659" y="4283"/>
                  <a:pt x="14658" y="4293"/>
                  <a:pt x="14657" y="4302"/>
                </a:cubicBezTo>
                <a:cubicBezTo>
                  <a:pt x="14655" y="4311"/>
                  <a:pt x="14652" y="4320"/>
                  <a:pt x="14648" y="4329"/>
                </a:cubicBezTo>
                <a:cubicBezTo>
                  <a:pt x="14645" y="4338"/>
                  <a:pt x="14640" y="4346"/>
                  <a:pt x="14635" y="4354"/>
                </a:cubicBezTo>
                <a:cubicBezTo>
                  <a:pt x="14629" y="4362"/>
                  <a:pt x="14623" y="4370"/>
                  <a:pt x="14617" y="4376"/>
                </a:cubicBezTo>
                <a:cubicBezTo>
                  <a:pt x="14610" y="4383"/>
                  <a:pt x="14603" y="4389"/>
                  <a:pt x="14595" y="4395"/>
                </a:cubicBezTo>
                <a:cubicBezTo>
                  <a:pt x="14587" y="4400"/>
                  <a:pt x="14578" y="4404"/>
                  <a:pt x="14569" y="4408"/>
                </a:cubicBezTo>
                <a:cubicBezTo>
                  <a:pt x="14561" y="4412"/>
                  <a:pt x="14552" y="4414"/>
                  <a:pt x="14542" y="4416"/>
                </a:cubicBezTo>
                <a:cubicBezTo>
                  <a:pt x="14533" y="4418"/>
                  <a:pt x="14523" y="4419"/>
                  <a:pt x="14514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8" y="4416"/>
                </a:cubicBezTo>
                <a:cubicBezTo>
                  <a:pt x="108" y="4414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6"/>
                </a:cubicBezTo>
                <a:cubicBezTo>
                  <a:pt x="36" y="4370"/>
                  <a:pt x="30" y="4362"/>
                  <a:pt x="25" y="4354"/>
                </a:cubicBezTo>
                <a:cubicBezTo>
                  <a:pt x="20" y="4346"/>
                  <a:pt x="15" y="4338"/>
                  <a:pt x="11" y="4329"/>
                </a:cubicBezTo>
                <a:cubicBezTo>
                  <a:pt x="8" y="4320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766440" y="4157640"/>
            <a:ext cx="5277240" cy="1590840"/>
          </a:xfrm>
          <a:custGeom>
            <a:avLst/>
            <a:gdLst/>
            <a:ahLst/>
            <a:rect l="0" t="0" r="r" b="b"/>
            <a:pathLst>
              <a:path fill="none" w="14659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274"/>
                </a:lnTo>
                <a:cubicBezTo>
                  <a:pt x="14659" y="4283"/>
                  <a:pt x="14658" y="4293"/>
                  <a:pt x="14657" y="4302"/>
                </a:cubicBezTo>
                <a:cubicBezTo>
                  <a:pt x="14655" y="4311"/>
                  <a:pt x="14652" y="4320"/>
                  <a:pt x="14648" y="4329"/>
                </a:cubicBezTo>
                <a:cubicBezTo>
                  <a:pt x="14645" y="4338"/>
                  <a:pt x="14640" y="4346"/>
                  <a:pt x="14635" y="4354"/>
                </a:cubicBezTo>
                <a:cubicBezTo>
                  <a:pt x="14629" y="4362"/>
                  <a:pt x="14623" y="4370"/>
                  <a:pt x="14617" y="4376"/>
                </a:cubicBezTo>
                <a:cubicBezTo>
                  <a:pt x="14610" y="4383"/>
                  <a:pt x="14603" y="4389"/>
                  <a:pt x="14595" y="4395"/>
                </a:cubicBezTo>
                <a:cubicBezTo>
                  <a:pt x="14587" y="4400"/>
                  <a:pt x="14578" y="4404"/>
                  <a:pt x="14569" y="4408"/>
                </a:cubicBezTo>
                <a:cubicBezTo>
                  <a:pt x="14561" y="4412"/>
                  <a:pt x="14552" y="4414"/>
                  <a:pt x="14542" y="4416"/>
                </a:cubicBezTo>
                <a:cubicBezTo>
                  <a:pt x="14533" y="4418"/>
                  <a:pt x="14523" y="4419"/>
                  <a:pt x="14514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8" y="4416"/>
                </a:cubicBezTo>
                <a:cubicBezTo>
                  <a:pt x="108" y="4414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6"/>
                </a:cubicBezTo>
                <a:cubicBezTo>
                  <a:pt x="36" y="4370"/>
                  <a:pt x="30" y="4362"/>
                  <a:pt x="25" y="4354"/>
                </a:cubicBezTo>
                <a:cubicBezTo>
                  <a:pt x="20" y="4346"/>
                  <a:pt x="15" y="4338"/>
                  <a:pt x="11" y="4329"/>
                </a:cubicBezTo>
                <a:cubicBezTo>
                  <a:pt x="8" y="4320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104840" y="48574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7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7"/>
                  <a:pt x="136" y="24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6584760" y="2531520"/>
            <a:ext cx="2009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Service-Oriented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104840" y="51717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289520" y="4766760"/>
            <a:ext cx="3660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Publish/subscribe with async processing.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289520" y="5081040"/>
            <a:ext cx="4562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IoT sensors emitting events consumed by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942480" y="438120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7"/>
                </a:moveTo>
                <a:lnTo>
                  <a:pt x="312" y="27"/>
                </a:lnTo>
                <a:cubicBezTo>
                  <a:pt x="308" y="19"/>
                  <a:pt x="301" y="12"/>
                  <a:pt x="293" y="7"/>
                </a:cubicBezTo>
                <a:cubicBezTo>
                  <a:pt x="284" y="2"/>
                  <a:pt x="275" y="0"/>
                  <a:pt x="265" y="0"/>
                </a:cubicBezTo>
                <a:cubicBezTo>
                  <a:pt x="256" y="0"/>
                  <a:pt x="247" y="2"/>
                  <a:pt x="239" y="7"/>
                </a:cubicBezTo>
                <a:cubicBezTo>
                  <a:pt x="230" y="12"/>
                  <a:pt x="224" y="19"/>
                  <a:pt x="219" y="27"/>
                </a:cubicBezTo>
                <a:lnTo>
                  <a:pt x="7" y="397"/>
                </a:lnTo>
                <a:cubicBezTo>
                  <a:pt x="3" y="405"/>
                  <a:pt x="0" y="414"/>
                  <a:pt x="0" y="424"/>
                </a:cubicBezTo>
                <a:cubicBezTo>
                  <a:pt x="0" y="433"/>
                  <a:pt x="3" y="442"/>
                  <a:pt x="8" y="451"/>
                </a:cubicBezTo>
                <a:cubicBezTo>
                  <a:pt x="12" y="460"/>
                  <a:pt x="19" y="466"/>
                  <a:pt x="27" y="471"/>
                </a:cubicBezTo>
                <a:cubicBezTo>
                  <a:pt x="35" y="475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0"/>
                </a:cubicBezTo>
                <a:cubicBezTo>
                  <a:pt x="509" y="468"/>
                  <a:pt x="512" y="465"/>
                  <a:pt x="516" y="462"/>
                </a:cubicBezTo>
                <a:cubicBezTo>
                  <a:pt x="519" y="459"/>
                  <a:pt x="522" y="455"/>
                  <a:pt x="524" y="451"/>
                </a:cubicBezTo>
                <a:cubicBezTo>
                  <a:pt x="526" y="447"/>
                  <a:pt x="528" y="442"/>
                  <a:pt x="529" y="437"/>
                </a:cubicBezTo>
                <a:cubicBezTo>
                  <a:pt x="530" y="433"/>
                  <a:pt x="531" y="428"/>
                  <a:pt x="531" y="424"/>
                </a:cubicBezTo>
                <a:cubicBezTo>
                  <a:pt x="531" y="419"/>
                  <a:pt x="530" y="414"/>
                  <a:pt x="529" y="410"/>
                </a:cubicBezTo>
                <a:cubicBezTo>
                  <a:pt x="528" y="405"/>
                  <a:pt x="526" y="401"/>
                  <a:pt x="524" y="397"/>
                </a:cubicBezTo>
                <a:moveTo>
                  <a:pt x="265" y="159"/>
                </a:moveTo>
                <a:lnTo>
                  <a:pt x="265" y="265"/>
                </a:lnTo>
                <a:moveTo>
                  <a:pt x="265" y="371"/>
                </a:moveTo>
                <a:lnTo>
                  <a:pt x="266" y="371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289520" y="5357160"/>
            <a:ext cx="1594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analytics pipeline.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6148080" y="4157640"/>
            <a:ext cx="5277240" cy="1590840"/>
          </a:xfrm>
          <a:custGeom>
            <a:avLst/>
            <a:gdLst/>
            <a:ahLst/>
            <a:rect l="0" t="0" r="r" b="b"/>
            <a:pathLst>
              <a:path w="14659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274"/>
                </a:lnTo>
                <a:cubicBezTo>
                  <a:pt x="14659" y="4283"/>
                  <a:pt x="14658" y="4293"/>
                  <a:pt x="14656" y="4302"/>
                </a:cubicBezTo>
                <a:cubicBezTo>
                  <a:pt x="14655" y="4311"/>
                  <a:pt x="14652" y="4320"/>
                  <a:pt x="14648" y="4329"/>
                </a:cubicBezTo>
                <a:cubicBezTo>
                  <a:pt x="14645" y="4338"/>
                  <a:pt x="14640" y="4346"/>
                  <a:pt x="14635" y="4354"/>
                </a:cubicBezTo>
                <a:cubicBezTo>
                  <a:pt x="14629" y="4362"/>
                  <a:pt x="14623" y="4370"/>
                  <a:pt x="14617" y="4376"/>
                </a:cubicBezTo>
                <a:cubicBezTo>
                  <a:pt x="14610" y="4383"/>
                  <a:pt x="14603" y="4389"/>
                  <a:pt x="14595" y="4395"/>
                </a:cubicBezTo>
                <a:cubicBezTo>
                  <a:pt x="14587" y="4400"/>
                  <a:pt x="14578" y="4404"/>
                  <a:pt x="14569" y="4408"/>
                </a:cubicBezTo>
                <a:cubicBezTo>
                  <a:pt x="14561" y="4412"/>
                  <a:pt x="14552" y="4414"/>
                  <a:pt x="14542" y="4416"/>
                </a:cubicBezTo>
                <a:cubicBezTo>
                  <a:pt x="14533" y="4418"/>
                  <a:pt x="14523" y="4419"/>
                  <a:pt x="14514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7" y="4416"/>
                </a:cubicBezTo>
                <a:cubicBezTo>
                  <a:pt x="108" y="4414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6"/>
                </a:cubicBezTo>
                <a:cubicBezTo>
                  <a:pt x="36" y="4370"/>
                  <a:pt x="30" y="4362"/>
                  <a:pt x="25" y="4354"/>
                </a:cubicBezTo>
                <a:cubicBezTo>
                  <a:pt x="20" y="4346"/>
                  <a:pt x="15" y="4338"/>
                  <a:pt x="11" y="4329"/>
                </a:cubicBezTo>
                <a:cubicBezTo>
                  <a:pt x="8" y="4320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6148080" y="4157640"/>
            <a:ext cx="5277240" cy="1590840"/>
          </a:xfrm>
          <a:custGeom>
            <a:avLst/>
            <a:gdLst/>
            <a:ahLst/>
            <a:rect l="0" t="0" r="r" b="b"/>
            <a:pathLst>
              <a:path fill="none" w="14659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4274"/>
                </a:lnTo>
                <a:cubicBezTo>
                  <a:pt x="14659" y="4283"/>
                  <a:pt x="14658" y="4293"/>
                  <a:pt x="14656" y="4302"/>
                </a:cubicBezTo>
                <a:cubicBezTo>
                  <a:pt x="14655" y="4311"/>
                  <a:pt x="14652" y="4320"/>
                  <a:pt x="14648" y="4329"/>
                </a:cubicBezTo>
                <a:cubicBezTo>
                  <a:pt x="14645" y="4338"/>
                  <a:pt x="14640" y="4346"/>
                  <a:pt x="14635" y="4354"/>
                </a:cubicBezTo>
                <a:cubicBezTo>
                  <a:pt x="14629" y="4362"/>
                  <a:pt x="14623" y="4370"/>
                  <a:pt x="14617" y="4376"/>
                </a:cubicBezTo>
                <a:cubicBezTo>
                  <a:pt x="14610" y="4383"/>
                  <a:pt x="14603" y="4389"/>
                  <a:pt x="14595" y="4395"/>
                </a:cubicBezTo>
                <a:cubicBezTo>
                  <a:pt x="14587" y="4400"/>
                  <a:pt x="14578" y="4404"/>
                  <a:pt x="14569" y="4408"/>
                </a:cubicBezTo>
                <a:cubicBezTo>
                  <a:pt x="14561" y="4412"/>
                  <a:pt x="14552" y="4414"/>
                  <a:pt x="14542" y="4416"/>
                </a:cubicBezTo>
                <a:cubicBezTo>
                  <a:pt x="14533" y="4418"/>
                  <a:pt x="14523" y="4419"/>
                  <a:pt x="14514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7" y="4416"/>
                </a:cubicBezTo>
                <a:cubicBezTo>
                  <a:pt x="108" y="4414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6"/>
                </a:cubicBezTo>
                <a:cubicBezTo>
                  <a:pt x="36" y="4370"/>
                  <a:pt x="30" y="4362"/>
                  <a:pt x="25" y="4354"/>
                </a:cubicBezTo>
                <a:cubicBezTo>
                  <a:pt x="20" y="4346"/>
                  <a:pt x="15" y="4338"/>
                  <a:pt x="11" y="4329"/>
                </a:cubicBezTo>
                <a:cubicBezTo>
                  <a:pt x="8" y="4320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6486480" y="48574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4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7"/>
                  <a:pt x="136" y="24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203120" y="4360320"/>
            <a:ext cx="1575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Event-Driven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6486480" y="51717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671160" y="4766760"/>
            <a:ext cx="3754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Reusable modules with deﬁned interfaces.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671160" y="5081040"/>
            <a:ext cx="3579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modular robotics joints or PCB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6343560" y="441000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2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671160" y="5357160"/>
            <a:ext cx="1472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daughterboards.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584760" y="4360320"/>
            <a:ext cx="2194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Component-Based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"/>
          <p:cNvSpPr txBox="1"/>
          <p:nvPr/>
        </p:nvSpPr>
        <p:spPr>
          <a:xfrm>
            <a:off x="762120" y="1413360"/>
            <a:ext cx="7957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Breaking a complex system into manageable parts demands a coordination plan.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766440" y="1842840"/>
            <a:ext cx="10658880" cy="1314720"/>
          </a:xfrm>
          <a:custGeom>
            <a:avLst/>
            <a:gdLst/>
            <a:ahLst/>
            <a:rect l="0" t="0" r="r" b="b"/>
            <a:pathLst>
              <a:path w="29608" h="3652">
                <a:moveTo>
                  <a:pt x="0" y="35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507"/>
                </a:lnTo>
                <a:cubicBezTo>
                  <a:pt x="29608" y="3516"/>
                  <a:pt x="29607" y="3526"/>
                  <a:pt x="29605" y="3535"/>
                </a:cubicBezTo>
                <a:cubicBezTo>
                  <a:pt x="29604" y="3545"/>
                  <a:pt x="29601" y="3554"/>
                  <a:pt x="29597" y="3563"/>
                </a:cubicBezTo>
                <a:cubicBezTo>
                  <a:pt x="29594" y="3571"/>
                  <a:pt x="29589" y="3580"/>
                  <a:pt x="29584" y="3588"/>
                </a:cubicBezTo>
                <a:cubicBezTo>
                  <a:pt x="29578" y="3596"/>
                  <a:pt x="29572" y="3603"/>
                  <a:pt x="29566" y="3610"/>
                </a:cubicBezTo>
                <a:cubicBezTo>
                  <a:pt x="29559" y="3617"/>
                  <a:pt x="29552" y="3623"/>
                  <a:pt x="29544" y="3628"/>
                </a:cubicBezTo>
                <a:cubicBezTo>
                  <a:pt x="29536" y="3633"/>
                  <a:pt x="29527" y="3638"/>
                  <a:pt x="29518" y="3641"/>
                </a:cubicBezTo>
                <a:cubicBezTo>
                  <a:pt x="29510" y="3645"/>
                  <a:pt x="29501" y="3648"/>
                  <a:pt x="29491" y="3650"/>
                </a:cubicBezTo>
                <a:cubicBezTo>
                  <a:pt x="29482" y="3652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2"/>
                  <a:pt x="118" y="3650"/>
                </a:cubicBezTo>
                <a:cubicBezTo>
                  <a:pt x="108" y="3648"/>
                  <a:pt x="99" y="3645"/>
                  <a:pt x="90" y="3641"/>
                </a:cubicBezTo>
                <a:cubicBezTo>
                  <a:pt x="81" y="3638"/>
                  <a:pt x="73" y="3633"/>
                  <a:pt x="65" y="3628"/>
                </a:cubicBezTo>
                <a:cubicBezTo>
                  <a:pt x="57" y="3623"/>
                  <a:pt x="50" y="3617"/>
                  <a:pt x="43" y="3610"/>
                </a:cubicBezTo>
                <a:cubicBezTo>
                  <a:pt x="36" y="3603"/>
                  <a:pt x="30" y="3596"/>
                  <a:pt x="25" y="3588"/>
                </a:cubicBezTo>
                <a:cubicBezTo>
                  <a:pt x="20" y="3580"/>
                  <a:pt x="15" y="3571"/>
                  <a:pt x="11" y="3563"/>
                </a:cubicBezTo>
                <a:cubicBezTo>
                  <a:pt x="8" y="3554"/>
                  <a:pt x="5" y="3545"/>
                  <a:pt x="3" y="3535"/>
                </a:cubicBezTo>
                <a:cubicBezTo>
                  <a:pt x="1" y="3526"/>
                  <a:pt x="0" y="3516"/>
                  <a:pt x="0" y="3507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766440" y="1842840"/>
            <a:ext cx="10658880" cy="1314720"/>
          </a:xfrm>
          <a:custGeom>
            <a:avLst/>
            <a:gdLst/>
            <a:ahLst/>
            <a:rect l="0" t="0" r="r" b="b"/>
            <a:pathLst>
              <a:path fill="none" w="29608" h="3652">
                <a:moveTo>
                  <a:pt x="0" y="3507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507"/>
                </a:lnTo>
                <a:cubicBezTo>
                  <a:pt x="29608" y="3516"/>
                  <a:pt x="29607" y="3526"/>
                  <a:pt x="29605" y="3535"/>
                </a:cubicBezTo>
                <a:cubicBezTo>
                  <a:pt x="29604" y="3545"/>
                  <a:pt x="29601" y="3554"/>
                  <a:pt x="29597" y="3563"/>
                </a:cubicBezTo>
                <a:cubicBezTo>
                  <a:pt x="29594" y="3571"/>
                  <a:pt x="29589" y="3580"/>
                  <a:pt x="29584" y="3588"/>
                </a:cubicBezTo>
                <a:cubicBezTo>
                  <a:pt x="29578" y="3596"/>
                  <a:pt x="29572" y="3603"/>
                  <a:pt x="29566" y="3610"/>
                </a:cubicBezTo>
                <a:cubicBezTo>
                  <a:pt x="29559" y="3617"/>
                  <a:pt x="29552" y="3623"/>
                  <a:pt x="29544" y="3628"/>
                </a:cubicBezTo>
                <a:cubicBezTo>
                  <a:pt x="29536" y="3633"/>
                  <a:pt x="29527" y="3638"/>
                  <a:pt x="29518" y="3641"/>
                </a:cubicBezTo>
                <a:cubicBezTo>
                  <a:pt x="29510" y="3645"/>
                  <a:pt x="29501" y="3648"/>
                  <a:pt x="29491" y="3650"/>
                </a:cubicBezTo>
                <a:cubicBezTo>
                  <a:pt x="29482" y="3652"/>
                  <a:pt x="29472" y="3652"/>
                  <a:pt x="29463" y="3652"/>
                </a:cubicBezTo>
                <a:lnTo>
                  <a:pt x="146" y="3652"/>
                </a:lnTo>
                <a:cubicBezTo>
                  <a:pt x="136" y="3652"/>
                  <a:pt x="127" y="3652"/>
                  <a:pt x="118" y="3650"/>
                </a:cubicBezTo>
                <a:cubicBezTo>
                  <a:pt x="108" y="3648"/>
                  <a:pt x="99" y="3645"/>
                  <a:pt x="90" y="3641"/>
                </a:cubicBezTo>
                <a:cubicBezTo>
                  <a:pt x="81" y="3638"/>
                  <a:pt x="73" y="3633"/>
                  <a:pt x="65" y="3628"/>
                </a:cubicBezTo>
                <a:cubicBezTo>
                  <a:pt x="57" y="3623"/>
                  <a:pt x="50" y="3617"/>
                  <a:pt x="43" y="3610"/>
                </a:cubicBezTo>
                <a:cubicBezTo>
                  <a:pt x="36" y="3603"/>
                  <a:pt x="30" y="3596"/>
                  <a:pt x="25" y="3588"/>
                </a:cubicBezTo>
                <a:cubicBezTo>
                  <a:pt x="20" y="3580"/>
                  <a:pt x="15" y="3571"/>
                  <a:pt x="11" y="3563"/>
                </a:cubicBezTo>
                <a:cubicBezTo>
                  <a:pt x="8" y="3554"/>
                  <a:pt x="5" y="3545"/>
                  <a:pt x="3" y="3535"/>
                </a:cubicBezTo>
                <a:cubicBezTo>
                  <a:pt x="1" y="3526"/>
                  <a:pt x="0" y="3516"/>
                  <a:pt x="0" y="3507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104840" y="25430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19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62120" y="372600"/>
            <a:ext cx="10367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Decomposition and Coordination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1104840" y="2857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289520" y="2451960"/>
            <a:ext cx="9097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Split peers at the same abstraction: e.g., mechanical arm segments, microservices, power subsystems.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942840" y="2057040"/>
            <a:ext cx="190800" cy="191160"/>
          </a:xfrm>
          <a:custGeom>
            <a:avLst/>
            <a:gdLst/>
            <a:ahLst/>
            <a:rect l="0" t="0" r="r" b="b"/>
            <a:pathLst>
              <a:path fill="none" w="530" h="531">
                <a:moveTo>
                  <a:pt x="530" y="265"/>
                </a:moveTo>
                <a:cubicBezTo>
                  <a:pt x="530" y="282"/>
                  <a:pt x="528" y="300"/>
                  <a:pt x="525" y="317"/>
                </a:cubicBezTo>
                <a:cubicBezTo>
                  <a:pt x="522" y="334"/>
                  <a:pt x="517" y="350"/>
                  <a:pt x="510" y="366"/>
                </a:cubicBezTo>
                <a:cubicBezTo>
                  <a:pt x="503" y="383"/>
                  <a:pt x="495" y="399"/>
                  <a:pt x="485" y="413"/>
                </a:cubicBezTo>
                <a:cubicBezTo>
                  <a:pt x="476" y="428"/>
                  <a:pt x="465" y="441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1"/>
                </a:cubicBezTo>
                <a:cubicBezTo>
                  <a:pt x="351" y="517"/>
                  <a:pt x="334" y="522"/>
                  <a:pt x="317" y="526"/>
                </a:cubicBezTo>
                <a:cubicBezTo>
                  <a:pt x="300" y="529"/>
                  <a:pt x="282" y="531"/>
                  <a:pt x="264" y="531"/>
                </a:cubicBezTo>
                <a:cubicBezTo>
                  <a:pt x="247" y="531"/>
                  <a:pt x="230" y="529"/>
                  <a:pt x="213" y="526"/>
                </a:cubicBezTo>
                <a:cubicBezTo>
                  <a:pt x="196" y="522"/>
                  <a:pt x="179" y="517"/>
                  <a:pt x="163" y="511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8"/>
                  <a:pt x="44" y="413"/>
                </a:cubicBezTo>
                <a:cubicBezTo>
                  <a:pt x="35" y="399"/>
                  <a:pt x="27" y="383"/>
                  <a:pt x="20" y="366"/>
                </a:cubicBezTo>
                <a:cubicBezTo>
                  <a:pt x="13" y="350"/>
                  <a:pt x="8" y="334"/>
                  <a:pt x="5" y="317"/>
                </a:cubicBezTo>
                <a:cubicBezTo>
                  <a:pt x="2" y="300"/>
                  <a:pt x="0" y="282"/>
                  <a:pt x="0" y="265"/>
                </a:cubicBezTo>
                <a:cubicBezTo>
                  <a:pt x="0" y="248"/>
                  <a:pt x="2" y="231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3"/>
                  <a:pt x="44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3" y="21"/>
                </a:cubicBezTo>
                <a:cubicBezTo>
                  <a:pt x="179" y="14"/>
                  <a:pt x="196" y="9"/>
                  <a:pt x="213" y="6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6"/>
                </a:cubicBezTo>
                <a:cubicBezTo>
                  <a:pt x="334" y="9"/>
                  <a:pt x="351" y="14"/>
                  <a:pt x="367" y="21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4"/>
                  <a:pt x="485" y="118"/>
                </a:cubicBezTo>
                <a:cubicBezTo>
                  <a:pt x="495" y="133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1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037880" y="211428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289520" y="2766240"/>
            <a:ext cx="6635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Trade-oﬀ: easier parallel development, but requires integration standards.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766440" y="3281040"/>
            <a:ext cx="10658880" cy="1315080"/>
          </a:xfrm>
          <a:custGeom>
            <a:avLst/>
            <a:gdLst/>
            <a:ahLst/>
            <a:rect l="0" t="0" r="r" b="b"/>
            <a:pathLst>
              <a:path w="29608" h="3653">
                <a:moveTo>
                  <a:pt x="0" y="3507"/>
                </a:moveTo>
                <a:lnTo>
                  <a:pt x="0" y="147"/>
                </a:ln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3" y="21"/>
                  <a:pt x="81" y="16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6"/>
                  <a:pt x="29536" y="21"/>
                  <a:pt x="29544" y="26"/>
                </a:cubicBezTo>
                <a:cubicBezTo>
                  <a:pt x="29552" y="31"/>
                  <a:pt x="29559" y="37"/>
                  <a:pt x="29566" y="44"/>
                </a:cubicBezTo>
                <a:cubicBezTo>
                  <a:pt x="29572" y="51"/>
                  <a:pt x="29578" y="58"/>
                  <a:pt x="29584" y="66"/>
                </a:cubicBezTo>
                <a:cubicBezTo>
                  <a:pt x="29589" y="74"/>
                  <a:pt x="29594" y="82"/>
                  <a:pt x="29597" y="91"/>
                </a:cubicBezTo>
                <a:cubicBezTo>
                  <a:pt x="29601" y="100"/>
                  <a:pt x="29604" y="109"/>
                  <a:pt x="29605" y="119"/>
                </a:cubicBezTo>
                <a:cubicBezTo>
                  <a:pt x="29607" y="128"/>
                  <a:pt x="29608" y="137"/>
                  <a:pt x="29608" y="147"/>
                </a:cubicBezTo>
                <a:lnTo>
                  <a:pt x="29608" y="3507"/>
                </a:lnTo>
                <a:cubicBezTo>
                  <a:pt x="29608" y="3517"/>
                  <a:pt x="29607" y="3526"/>
                  <a:pt x="29605" y="3536"/>
                </a:cubicBezTo>
                <a:cubicBezTo>
                  <a:pt x="29604" y="3545"/>
                  <a:pt x="29601" y="3554"/>
                  <a:pt x="29597" y="3563"/>
                </a:cubicBezTo>
                <a:cubicBezTo>
                  <a:pt x="29594" y="3572"/>
                  <a:pt x="29589" y="3580"/>
                  <a:pt x="29584" y="3588"/>
                </a:cubicBezTo>
                <a:cubicBezTo>
                  <a:pt x="29578" y="3596"/>
                  <a:pt x="29572" y="3603"/>
                  <a:pt x="29566" y="3610"/>
                </a:cubicBezTo>
                <a:cubicBezTo>
                  <a:pt x="29559" y="3617"/>
                  <a:pt x="29552" y="3623"/>
                  <a:pt x="29544" y="3628"/>
                </a:cubicBezTo>
                <a:cubicBezTo>
                  <a:pt x="29536" y="3633"/>
                  <a:pt x="29527" y="3638"/>
                  <a:pt x="29518" y="3642"/>
                </a:cubicBezTo>
                <a:cubicBezTo>
                  <a:pt x="29510" y="3645"/>
                  <a:pt x="29501" y="3648"/>
                  <a:pt x="29491" y="3650"/>
                </a:cubicBezTo>
                <a:cubicBezTo>
                  <a:pt x="29482" y="3652"/>
                  <a:pt x="29472" y="3653"/>
                  <a:pt x="29463" y="3653"/>
                </a:cubicBezTo>
                <a:lnTo>
                  <a:pt x="146" y="3653"/>
                </a:lnTo>
                <a:cubicBezTo>
                  <a:pt x="136" y="3653"/>
                  <a:pt x="127" y="3652"/>
                  <a:pt x="118" y="3650"/>
                </a:cubicBezTo>
                <a:cubicBezTo>
                  <a:pt x="108" y="3648"/>
                  <a:pt x="99" y="3645"/>
                  <a:pt x="90" y="3642"/>
                </a:cubicBezTo>
                <a:cubicBezTo>
                  <a:pt x="81" y="3638"/>
                  <a:pt x="73" y="3633"/>
                  <a:pt x="65" y="3628"/>
                </a:cubicBezTo>
                <a:cubicBezTo>
                  <a:pt x="57" y="3623"/>
                  <a:pt x="50" y="3617"/>
                  <a:pt x="43" y="3610"/>
                </a:cubicBezTo>
                <a:cubicBezTo>
                  <a:pt x="36" y="3603"/>
                  <a:pt x="30" y="3596"/>
                  <a:pt x="25" y="3588"/>
                </a:cubicBezTo>
                <a:cubicBezTo>
                  <a:pt x="20" y="3580"/>
                  <a:pt x="15" y="3572"/>
                  <a:pt x="11" y="3563"/>
                </a:cubicBezTo>
                <a:cubicBezTo>
                  <a:pt x="8" y="3554"/>
                  <a:pt x="5" y="3545"/>
                  <a:pt x="3" y="3536"/>
                </a:cubicBezTo>
                <a:cubicBezTo>
                  <a:pt x="1" y="3526"/>
                  <a:pt x="0" y="3517"/>
                  <a:pt x="0" y="3507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766440" y="3281040"/>
            <a:ext cx="10658880" cy="1315080"/>
          </a:xfrm>
          <a:custGeom>
            <a:avLst/>
            <a:gdLst/>
            <a:ahLst/>
            <a:rect l="0" t="0" r="r" b="b"/>
            <a:pathLst>
              <a:path fill="none" w="29608" h="3653">
                <a:moveTo>
                  <a:pt x="0" y="3507"/>
                </a:moveTo>
                <a:lnTo>
                  <a:pt x="0" y="147"/>
                </a:ln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3" y="21"/>
                  <a:pt x="81" y="16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6"/>
                  <a:pt x="29536" y="21"/>
                  <a:pt x="29544" y="26"/>
                </a:cubicBezTo>
                <a:cubicBezTo>
                  <a:pt x="29552" y="31"/>
                  <a:pt x="29559" y="37"/>
                  <a:pt x="29566" y="44"/>
                </a:cubicBezTo>
                <a:cubicBezTo>
                  <a:pt x="29572" y="51"/>
                  <a:pt x="29578" y="58"/>
                  <a:pt x="29584" y="66"/>
                </a:cubicBezTo>
                <a:cubicBezTo>
                  <a:pt x="29589" y="74"/>
                  <a:pt x="29594" y="82"/>
                  <a:pt x="29597" y="91"/>
                </a:cubicBezTo>
                <a:cubicBezTo>
                  <a:pt x="29601" y="100"/>
                  <a:pt x="29604" y="109"/>
                  <a:pt x="29605" y="119"/>
                </a:cubicBezTo>
                <a:cubicBezTo>
                  <a:pt x="29607" y="128"/>
                  <a:pt x="29608" y="137"/>
                  <a:pt x="29608" y="147"/>
                </a:cubicBezTo>
                <a:lnTo>
                  <a:pt x="29608" y="3507"/>
                </a:lnTo>
                <a:cubicBezTo>
                  <a:pt x="29608" y="3517"/>
                  <a:pt x="29607" y="3526"/>
                  <a:pt x="29605" y="3536"/>
                </a:cubicBezTo>
                <a:cubicBezTo>
                  <a:pt x="29604" y="3545"/>
                  <a:pt x="29601" y="3554"/>
                  <a:pt x="29597" y="3563"/>
                </a:cubicBezTo>
                <a:cubicBezTo>
                  <a:pt x="29594" y="3572"/>
                  <a:pt x="29589" y="3580"/>
                  <a:pt x="29584" y="3588"/>
                </a:cubicBezTo>
                <a:cubicBezTo>
                  <a:pt x="29578" y="3596"/>
                  <a:pt x="29572" y="3603"/>
                  <a:pt x="29566" y="3610"/>
                </a:cubicBezTo>
                <a:cubicBezTo>
                  <a:pt x="29559" y="3617"/>
                  <a:pt x="29552" y="3623"/>
                  <a:pt x="29544" y="3628"/>
                </a:cubicBezTo>
                <a:cubicBezTo>
                  <a:pt x="29536" y="3633"/>
                  <a:pt x="29527" y="3638"/>
                  <a:pt x="29518" y="3642"/>
                </a:cubicBezTo>
                <a:cubicBezTo>
                  <a:pt x="29510" y="3645"/>
                  <a:pt x="29501" y="3648"/>
                  <a:pt x="29491" y="3650"/>
                </a:cubicBezTo>
                <a:cubicBezTo>
                  <a:pt x="29482" y="3652"/>
                  <a:pt x="29472" y="3653"/>
                  <a:pt x="29463" y="3653"/>
                </a:cubicBezTo>
                <a:lnTo>
                  <a:pt x="146" y="3653"/>
                </a:lnTo>
                <a:cubicBezTo>
                  <a:pt x="136" y="3653"/>
                  <a:pt x="127" y="3652"/>
                  <a:pt x="118" y="3650"/>
                </a:cubicBezTo>
                <a:cubicBezTo>
                  <a:pt x="108" y="3648"/>
                  <a:pt x="99" y="3645"/>
                  <a:pt x="90" y="3642"/>
                </a:cubicBezTo>
                <a:cubicBezTo>
                  <a:pt x="81" y="3638"/>
                  <a:pt x="73" y="3633"/>
                  <a:pt x="65" y="3628"/>
                </a:cubicBezTo>
                <a:cubicBezTo>
                  <a:pt x="57" y="3623"/>
                  <a:pt x="50" y="3617"/>
                  <a:pt x="43" y="3610"/>
                </a:cubicBezTo>
                <a:cubicBezTo>
                  <a:pt x="36" y="3603"/>
                  <a:pt x="30" y="3596"/>
                  <a:pt x="25" y="3588"/>
                </a:cubicBezTo>
                <a:cubicBezTo>
                  <a:pt x="20" y="3580"/>
                  <a:pt x="15" y="3572"/>
                  <a:pt x="11" y="3563"/>
                </a:cubicBezTo>
                <a:cubicBezTo>
                  <a:pt x="8" y="3554"/>
                  <a:pt x="5" y="3545"/>
                  <a:pt x="3" y="3536"/>
                </a:cubicBezTo>
                <a:cubicBezTo>
                  <a:pt x="1" y="3526"/>
                  <a:pt x="0" y="3517"/>
                  <a:pt x="0" y="3507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104840" y="3981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203120" y="2045880"/>
            <a:ext cx="3050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Horizontal decomposition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104840" y="42955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289520" y="3890160"/>
            <a:ext cx="7140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Separate abstraction layers: system-level goals vs. component implementations.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961920" y="353376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8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289520" y="4204800"/>
            <a:ext cx="6558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Enables focused optimisation at each level while preserving overall intent.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766440" y="4719600"/>
            <a:ext cx="10658880" cy="1590840"/>
          </a:xfrm>
          <a:custGeom>
            <a:avLst/>
            <a:gdLst/>
            <a:ahLst/>
            <a:rect l="0" t="0" r="r" b="b"/>
            <a:pathLst>
              <a:path w="29608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274"/>
                </a:lnTo>
                <a:cubicBezTo>
                  <a:pt x="29608" y="4283"/>
                  <a:pt x="29607" y="4293"/>
                  <a:pt x="29605" y="4302"/>
                </a:cubicBezTo>
                <a:cubicBezTo>
                  <a:pt x="29604" y="4311"/>
                  <a:pt x="29601" y="4320"/>
                  <a:pt x="29597" y="4329"/>
                </a:cubicBezTo>
                <a:cubicBezTo>
                  <a:pt x="29594" y="4338"/>
                  <a:pt x="29589" y="4347"/>
                  <a:pt x="29584" y="4354"/>
                </a:cubicBezTo>
                <a:cubicBezTo>
                  <a:pt x="29578" y="4362"/>
                  <a:pt x="29572" y="4370"/>
                  <a:pt x="29566" y="4377"/>
                </a:cubicBezTo>
                <a:cubicBezTo>
                  <a:pt x="29559" y="4383"/>
                  <a:pt x="29552" y="4389"/>
                  <a:pt x="29544" y="4395"/>
                </a:cubicBezTo>
                <a:cubicBezTo>
                  <a:pt x="29536" y="4400"/>
                  <a:pt x="29527" y="4404"/>
                  <a:pt x="29518" y="4408"/>
                </a:cubicBezTo>
                <a:cubicBezTo>
                  <a:pt x="29510" y="4412"/>
                  <a:pt x="29501" y="4414"/>
                  <a:pt x="29491" y="4416"/>
                </a:cubicBezTo>
                <a:cubicBezTo>
                  <a:pt x="29482" y="4418"/>
                  <a:pt x="29472" y="4419"/>
                  <a:pt x="29463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8" y="4416"/>
                </a:cubicBezTo>
                <a:cubicBezTo>
                  <a:pt x="108" y="4414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7"/>
                </a:cubicBezTo>
                <a:cubicBezTo>
                  <a:pt x="36" y="4370"/>
                  <a:pt x="30" y="4362"/>
                  <a:pt x="25" y="4354"/>
                </a:cubicBezTo>
                <a:cubicBezTo>
                  <a:pt x="20" y="4347"/>
                  <a:pt x="15" y="4338"/>
                  <a:pt x="11" y="4329"/>
                </a:cubicBezTo>
                <a:cubicBezTo>
                  <a:pt x="8" y="4320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766440" y="4719600"/>
            <a:ext cx="10658880" cy="1590840"/>
          </a:xfrm>
          <a:custGeom>
            <a:avLst/>
            <a:gdLst/>
            <a:ahLst/>
            <a:rect l="0" t="0" r="r" b="b"/>
            <a:pathLst>
              <a:path fill="none" w="29608" h="4419">
                <a:moveTo>
                  <a:pt x="0" y="4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274"/>
                </a:lnTo>
                <a:cubicBezTo>
                  <a:pt x="29608" y="4283"/>
                  <a:pt x="29607" y="4293"/>
                  <a:pt x="29605" y="4302"/>
                </a:cubicBezTo>
                <a:cubicBezTo>
                  <a:pt x="29604" y="4311"/>
                  <a:pt x="29601" y="4320"/>
                  <a:pt x="29597" y="4329"/>
                </a:cubicBezTo>
                <a:cubicBezTo>
                  <a:pt x="29594" y="4338"/>
                  <a:pt x="29589" y="4347"/>
                  <a:pt x="29584" y="4354"/>
                </a:cubicBezTo>
                <a:cubicBezTo>
                  <a:pt x="29578" y="4362"/>
                  <a:pt x="29572" y="4370"/>
                  <a:pt x="29566" y="4377"/>
                </a:cubicBezTo>
                <a:cubicBezTo>
                  <a:pt x="29559" y="4383"/>
                  <a:pt x="29552" y="4389"/>
                  <a:pt x="29544" y="4395"/>
                </a:cubicBezTo>
                <a:cubicBezTo>
                  <a:pt x="29536" y="4400"/>
                  <a:pt x="29527" y="4404"/>
                  <a:pt x="29518" y="4408"/>
                </a:cubicBezTo>
                <a:cubicBezTo>
                  <a:pt x="29510" y="4412"/>
                  <a:pt x="29501" y="4414"/>
                  <a:pt x="29491" y="4416"/>
                </a:cubicBezTo>
                <a:cubicBezTo>
                  <a:pt x="29482" y="4418"/>
                  <a:pt x="29472" y="4419"/>
                  <a:pt x="29463" y="4419"/>
                </a:cubicBezTo>
                <a:lnTo>
                  <a:pt x="146" y="4419"/>
                </a:lnTo>
                <a:cubicBezTo>
                  <a:pt x="136" y="4419"/>
                  <a:pt x="127" y="4418"/>
                  <a:pt x="118" y="4416"/>
                </a:cubicBezTo>
                <a:cubicBezTo>
                  <a:pt x="108" y="4414"/>
                  <a:pt x="99" y="4412"/>
                  <a:pt x="90" y="4408"/>
                </a:cubicBezTo>
                <a:cubicBezTo>
                  <a:pt x="81" y="4404"/>
                  <a:pt x="73" y="4400"/>
                  <a:pt x="65" y="4395"/>
                </a:cubicBezTo>
                <a:cubicBezTo>
                  <a:pt x="57" y="4389"/>
                  <a:pt x="50" y="4383"/>
                  <a:pt x="43" y="4377"/>
                </a:cubicBezTo>
                <a:cubicBezTo>
                  <a:pt x="36" y="4370"/>
                  <a:pt x="30" y="4362"/>
                  <a:pt x="25" y="4354"/>
                </a:cubicBezTo>
                <a:cubicBezTo>
                  <a:pt x="20" y="4347"/>
                  <a:pt x="15" y="4338"/>
                  <a:pt x="11" y="4329"/>
                </a:cubicBezTo>
                <a:cubicBezTo>
                  <a:pt x="8" y="4320"/>
                  <a:pt x="5" y="4311"/>
                  <a:pt x="3" y="4302"/>
                </a:cubicBezTo>
                <a:cubicBezTo>
                  <a:pt x="1" y="4293"/>
                  <a:pt x="0" y="4283"/>
                  <a:pt x="0" y="4274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104840" y="54194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203120" y="3484080"/>
            <a:ext cx="2710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Vertical decomposition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289520" y="5328720"/>
            <a:ext cx="9670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Use surrogate/meta models to communicate constraints (weight, latency, tolerances) between teams without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1104840" y="60102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289520" y="5604840"/>
            <a:ext cx="1670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over-coordination.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942480" y="494316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8"/>
                </a:moveTo>
                <a:lnTo>
                  <a:pt x="312" y="27"/>
                </a:lnTo>
                <a:cubicBezTo>
                  <a:pt x="308" y="19"/>
                  <a:pt x="301" y="12"/>
                  <a:pt x="293" y="7"/>
                </a:cubicBezTo>
                <a:cubicBezTo>
                  <a:pt x="284" y="2"/>
                  <a:pt x="275" y="0"/>
                  <a:pt x="265" y="0"/>
                </a:cubicBezTo>
                <a:cubicBezTo>
                  <a:pt x="256" y="0"/>
                  <a:pt x="247" y="2"/>
                  <a:pt x="239" y="7"/>
                </a:cubicBezTo>
                <a:cubicBezTo>
                  <a:pt x="230" y="12"/>
                  <a:pt x="224" y="19"/>
                  <a:pt x="219" y="27"/>
                </a:cubicBezTo>
                <a:lnTo>
                  <a:pt x="7" y="398"/>
                </a:lnTo>
                <a:cubicBezTo>
                  <a:pt x="3" y="406"/>
                  <a:pt x="0" y="415"/>
                  <a:pt x="0" y="425"/>
                </a:cubicBezTo>
                <a:cubicBezTo>
                  <a:pt x="0" y="434"/>
                  <a:pt x="3" y="443"/>
                  <a:pt x="8" y="451"/>
                </a:cubicBezTo>
                <a:cubicBezTo>
                  <a:pt x="12" y="460"/>
                  <a:pt x="19" y="466"/>
                  <a:pt x="27" y="471"/>
                </a:cubicBezTo>
                <a:cubicBezTo>
                  <a:pt x="35" y="475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1"/>
                </a:cubicBezTo>
                <a:cubicBezTo>
                  <a:pt x="509" y="468"/>
                  <a:pt x="512" y="465"/>
                  <a:pt x="516" y="462"/>
                </a:cubicBezTo>
                <a:cubicBezTo>
                  <a:pt x="519" y="459"/>
                  <a:pt x="522" y="455"/>
                  <a:pt x="524" y="451"/>
                </a:cubicBezTo>
                <a:cubicBezTo>
                  <a:pt x="526" y="447"/>
                  <a:pt x="528" y="443"/>
                  <a:pt x="529" y="438"/>
                </a:cubicBezTo>
                <a:cubicBezTo>
                  <a:pt x="530" y="434"/>
                  <a:pt x="531" y="429"/>
                  <a:pt x="531" y="425"/>
                </a:cubicBezTo>
                <a:cubicBezTo>
                  <a:pt x="531" y="420"/>
                  <a:pt x="530" y="415"/>
                  <a:pt x="529" y="411"/>
                </a:cubicBezTo>
                <a:cubicBezTo>
                  <a:pt x="528" y="407"/>
                  <a:pt x="526" y="402"/>
                  <a:pt x="524" y="398"/>
                </a:cubicBezTo>
                <a:moveTo>
                  <a:pt x="265" y="159"/>
                </a:moveTo>
                <a:lnTo>
                  <a:pt x="265" y="265"/>
                </a:lnTo>
                <a:moveTo>
                  <a:pt x="265" y="372"/>
                </a:moveTo>
                <a:lnTo>
                  <a:pt x="266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289520" y="5919120"/>
            <a:ext cx="8404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Balance autonomy with shared metrics to prevent local optima from harming global outcomes.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203120" y="4922280"/>
            <a:ext cx="2644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Informed coordination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"/>
          <p:cNvSpPr txBox="1"/>
          <p:nvPr/>
        </p:nvSpPr>
        <p:spPr>
          <a:xfrm>
            <a:off x="762120" y="2659320"/>
            <a:ext cx="24066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Software Patterns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766440" y="3186000"/>
            <a:ext cx="10658880" cy="1857600"/>
          </a:xfrm>
          <a:custGeom>
            <a:avLst/>
            <a:gdLst/>
            <a:ahLst/>
            <a:rect l="0" t="0" r="r" b="b"/>
            <a:pathLst>
              <a:path w="29608" h="5160">
                <a:moveTo>
                  <a:pt x="0" y="501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5015"/>
                </a:lnTo>
                <a:cubicBezTo>
                  <a:pt x="29608" y="5024"/>
                  <a:pt x="29607" y="5034"/>
                  <a:pt x="29605" y="5043"/>
                </a:cubicBezTo>
                <a:cubicBezTo>
                  <a:pt x="29604" y="5052"/>
                  <a:pt x="29601" y="5062"/>
                  <a:pt x="29597" y="5070"/>
                </a:cubicBezTo>
                <a:cubicBezTo>
                  <a:pt x="29594" y="5079"/>
                  <a:pt x="29589" y="5088"/>
                  <a:pt x="29584" y="5096"/>
                </a:cubicBezTo>
                <a:cubicBezTo>
                  <a:pt x="29578" y="5103"/>
                  <a:pt x="29572" y="5111"/>
                  <a:pt x="29566" y="5118"/>
                </a:cubicBezTo>
                <a:cubicBezTo>
                  <a:pt x="29559" y="5124"/>
                  <a:pt x="29552" y="5130"/>
                  <a:pt x="29544" y="5136"/>
                </a:cubicBezTo>
                <a:cubicBezTo>
                  <a:pt x="29536" y="5141"/>
                  <a:pt x="29527" y="5145"/>
                  <a:pt x="29518" y="5149"/>
                </a:cubicBezTo>
                <a:cubicBezTo>
                  <a:pt x="29510" y="5153"/>
                  <a:pt x="29501" y="5156"/>
                  <a:pt x="29491" y="5157"/>
                </a:cubicBezTo>
                <a:cubicBezTo>
                  <a:pt x="29482" y="5159"/>
                  <a:pt x="29472" y="5160"/>
                  <a:pt x="29463" y="5160"/>
                </a:cubicBezTo>
                <a:lnTo>
                  <a:pt x="146" y="5160"/>
                </a:lnTo>
                <a:cubicBezTo>
                  <a:pt x="136" y="5160"/>
                  <a:pt x="127" y="5159"/>
                  <a:pt x="118" y="5157"/>
                </a:cubicBezTo>
                <a:cubicBezTo>
                  <a:pt x="108" y="5156"/>
                  <a:pt x="99" y="5153"/>
                  <a:pt x="90" y="5149"/>
                </a:cubicBezTo>
                <a:cubicBezTo>
                  <a:pt x="81" y="5145"/>
                  <a:pt x="73" y="5141"/>
                  <a:pt x="65" y="5136"/>
                </a:cubicBezTo>
                <a:cubicBezTo>
                  <a:pt x="57" y="5130"/>
                  <a:pt x="50" y="5124"/>
                  <a:pt x="43" y="5118"/>
                </a:cubicBezTo>
                <a:cubicBezTo>
                  <a:pt x="36" y="5111"/>
                  <a:pt x="30" y="5103"/>
                  <a:pt x="25" y="5096"/>
                </a:cubicBezTo>
                <a:cubicBezTo>
                  <a:pt x="20" y="5088"/>
                  <a:pt x="15" y="5079"/>
                  <a:pt x="11" y="5070"/>
                </a:cubicBezTo>
                <a:cubicBezTo>
                  <a:pt x="8" y="5062"/>
                  <a:pt x="5" y="5052"/>
                  <a:pt x="3" y="5043"/>
                </a:cubicBezTo>
                <a:cubicBezTo>
                  <a:pt x="1" y="5034"/>
                  <a:pt x="0" y="5024"/>
                  <a:pt x="0" y="5015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766440" y="3186000"/>
            <a:ext cx="10658880" cy="1857600"/>
          </a:xfrm>
          <a:custGeom>
            <a:avLst/>
            <a:gdLst/>
            <a:ahLst/>
            <a:rect l="0" t="0" r="r" b="b"/>
            <a:pathLst>
              <a:path fill="none" w="29608" h="5160">
                <a:moveTo>
                  <a:pt x="0" y="501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5015"/>
                </a:lnTo>
                <a:cubicBezTo>
                  <a:pt x="29608" y="5024"/>
                  <a:pt x="29607" y="5034"/>
                  <a:pt x="29605" y="5043"/>
                </a:cubicBezTo>
                <a:cubicBezTo>
                  <a:pt x="29604" y="5052"/>
                  <a:pt x="29601" y="5062"/>
                  <a:pt x="29597" y="5070"/>
                </a:cubicBezTo>
                <a:cubicBezTo>
                  <a:pt x="29594" y="5079"/>
                  <a:pt x="29589" y="5088"/>
                  <a:pt x="29584" y="5096"/>
                </a:cubicBezTo>
                <a:cubicBezTo>
                  <a:pt x="29578" y="5103"/>
                  <a:pt x="29572" y="5111"/>
                  <a:pt x="29566" y="5118"/>
                </a:cubicBezTo>
                <a:cubicBezTo>
                  <a:pt x="29559" y="5124"/>
                  <a:pt x="29552" y="5130"/>
                  <a:pt x="29544" y="5136"/>
                </a:cubicBezTo>
                <a:cubicBezTo>
                  <a:pt x="29536" y="5141"/>
                  <a:pt x="29527" y="5145"/>
                  <a:pt x="29518" y="5149"/>
                </a:cubicBezTo>
                <a:cubicBezTo>
                  <a:pt x="29510" y="5153"/>
                  <a:pt x="29501" y="5156"/>
                  <a:pt x="29491" y="5157"/>
                </a:cubicBezTo>
                <a:cubicBezTo>
                  <a:pt x="29482" y="5159"/>
                  <a:pt x="29472" y="5160"/>
                  <a:pt x="29463" y="5160"/>
                </a:cubicBezTo>
                <a:lnTo>
                  <a:pt x="146" y="5160"/>
                </a:lnTo>
                <a:cubicBezTo>
                  <a:pt x="136" y="5160"/>
                  <a:pt x="127" y="5159"/>
                  <a:pt x="118" y="5157"/>
                </a:cubicBezTo>
                <a:cubicBezTo>
                  <a:pt x="108" y="5156"/>
                  <a:pt x="99" y="5153"/>
                  <a:pt x="90" y="5149"/>
                </a:cubicBezTo>
                <a:cubicBezTo>
                  <a:pt x="81" y="5145"/>
                  <a:pt x="73" y="5141"/>
                  <a:pt x="65" y="5136"/>
                </a:cubicBezTo>
                <a:cubicBezTo>
                  <a:pt x="57" y="5130"/>
                  <a:pt x="50" y="5124"/>
                  <a:pt x="43" y="5118"/>
                </a:cubicBezTo>
                <a:cubicBezTo>
                  <a:pt x="36" y="5111"/>
                  <a:pt x="30" y="5103"/>
                  <a:pt x="25" y="5096"/>
                </a:cubicBezTo>
                <a:cubicBezTo>
                  <a:pt x="20" y="5088"/>
                  <a:pt x="15" y="5079"/>
                  <a:pt x="11" y="5070"/>
                </a:cubicBezTo>
                <a:cubicBezTo>
                  <a:pt x="8" y="5062"/>
                  <a:pt x="5" y="5052"/>
                  <a:pt x="3" y="5043"/>
                </a:cubicBezTo>
                <a:cubicBezTo>
                  <a:pt x="1" y="5034"/>
                  <a:pt x="0" y="5024"/>
                  <a:pt x="0" y="5015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1104840" y="38764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762120" y="372600"/>
            <a:ext cx="74005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Design Pattern Toolbox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1476360" y="4152600"/>
            <a:ext cx="57240" cy="57600"/>
          </a:xfrm>
          <a:custGeom>
            <a:avLst/>
            <a:gdLst/>
            <a:ahLst/>
            <a:rect l="0" t="0" r="r" b="b"/>
            <a:pathLst>
              <a:path fill="none"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3" y="31"/>
                  <a:pt x="149" y="40"/>
                  <a:pt x="153" y="49"/>
                </a:cubicBezTo>
                <a:cubicBezTo>
                  <a:pt x="157" y="59"/>
                  <a:pt x="159" y="69"/>
                  <a:pt x="159" y="81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289520" y="3785400"/>
            <a:ext cx="4871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Factory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centralise object creation when variants exist.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104840" y="44766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19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1655280" y="4061880"/>
            <a:ext cx="6783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UI widget factory choosing native controls for macOS vs. Windows.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1476360" y="4752720"/>
            <a:ext cx="57240" cy="57600"/>
          </a:xfrm>
          <a:custGeom>
            <a:avLst/>
            <a:gdLst/>
            <a:ahLst/>
            <a:rect l="0" t="0" r="r" b="b"/>
            <a:pathLst>
              <a:path fill="none"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3" y="128"/>
                  <a:pt x="136" y="136"/>
                </a:cubicBezTo>
                <a:cubicBezTo>
                  <a:pt x="129" y="143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3"/>
                  <a:pt x="23" y="136"/>
                </a:cubicBezTo>
                <a:cubicBezTo>
                  <a:pt x="15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289520" y="4385520"/>
            <a:ext cx="6750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Singleton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single instance for shared resources (e.g., conﬁguration service).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961920" y="343836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655280" y="4662000"/>
            <a:ext cx="7250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global telemetry collector wiring every subsystem to the same exporter.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203120" y="3389040"/>
            <a:ext cx="1207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Creational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"/>
          <p:cNvSpPr txBox="1"/>
          <p:nvPr/>
        </p:nvSpPr>
        <p:spPr>
          <a:xfrm>
            <a:off x="762120" y="2602080"/>
            <a:ext cx="24066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Software Patterns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766440" y="3128760"/>
            <a:ext cx="10658880" cy="1857600"/>
          </a:xfrm>
          <a:custGeom>
            <a:avLst/>
            <a:gdLst/>
            <a:ahLst/>
            <a:rect l="0" t="0" r="r" b="b"/>
            <a:pathLst>
              <a:path w="29608" h="5160">
                <a:moveTo>
                  <a:pt x="0" y="501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5015"/>
                </a:lnTo>
                <a:cubicBezTo>
                  <a:pt x="29608" y="5024"/>
                  <a:pt x="29607" y="5034"/>
                  <a:pt x="29605" y="5043"/>
                </a:cubicBezTo>
                <a:cubicBezTo>
                  <a:pt x="29604" y="5053"/>
                  <a:pt x="29601" y="5062"/>
                  <a:pt x="29597" y="5071"/>
                </a:cubicBezTo>
                <a:cubicBezTo>
                  <a:pt x="29594" y="5079"/>
                  <a:pt x="29589" y="5088"/>
                  <a:pt x="29584" y="5096"/>
                </a:cubicBezTo>
                <a:cubicBezTo>
                  <a:pt x="29578" y="5104"/>
                  <a:pt x="29572" y="5111"/>
                  <a:pt x="29566" y="5118"/>
                </a:cubicBezTo>
                <a:cubicBezTo>
                  <a:pt x="29559" y="5125"/>
                  <a:pt x="29552" y="5131"/>
                  <a:pt x="29544" y="5136"/>
                </a:cubicBezTo>
                <a:cubicBezTo>
                  <a:pt x="29536" y="5141"/>
                  <a:pt x="29527" y="5146"/>
                  <a:pt x="29518" y="5149"/>
                </a:cubicBezTo>
                <a:cubicBezTo>
                  <a:pt x="29510" y="5153"/>
                  <a:pt x="29501" y="5156"/>
                  <a:pt x="29491" y="5158"/>
                </a:cubicBezTo>
                <a:cubicBezTo>
                  <a:pt x="29482" y="5160"/>
                  <a:pt x="29472" y="5160"/>
                  <a:pt x="29463" y="5160"/>
                </a:cubicBezTo>
                <a:lnTo>
                  <a:pt x="146" y="5160"/>
                </a:lnTo>
                <a:cubicBezTo>
                  <a:pt x="136" y="5160"/>
                  <a:pt x="127" y="5160"/>
                  <a:pt x="118" y="5158"/>
                </a:cubicBezTo>
                <a:cubicBezTo>
                  <a:pt x="108" y="5156"/>
                  <a:pt x="99" y="5153"/>
                  <a:pt x="90" y="5149"/>
                </a:cubicBezTo>
                <a:cubicBezTo>
                  <a:pt x="81" y="5146"/>
                  <a:pt x="73" y="5141"/>
                  <a:pt x="65" y="5136"/>
                </a:cubicBezTo>
                <a:cubicBezTo>
                  <a:pt x="57" y="5131"/>
                  <a:pt x="50" y="5125"/>
                  <a:pt x="43" y="5118"/>
                </a:cubicBezTo>
                <a:cubicBezTo>
                  <a:pt x="36" y="5111"/>
                  <a:pt x="30" y="5104"/>
                  <a:pt x="25" y="5096"/>
                </a:cubicBezTo>
                <a:cubicBezTo>
                  <a:pt x="20" y="5088"/>
                  <a:pt x="15" y="5079"/>
                  <a:pt x="11" y="5071"/>
                </a:cubicBezTo>
                <a:cubicBezTo>
                  <a:pt x="8" y="5062"/>
                  <a:pt x="5" y="5053"/>
                  <a:pt x="3" y="5043"/>
                </a:cubicBezTo>
                <a:cubicBezTo>
                  <a:pt x="1" y="5034"/>
                  <a:pt x="0" y="5024"/>
                  <a:pt x="0" y="5015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766440" y="3128760"/>
            <a:ext cx="10658880" cy="1857600"/>
          </a:xfrm>
          <a:custGeom>
            <a:avLst/>
            <a:gdLst/>
            <a:ahLst/>
            <a:rect l="0" t="0" r="r" b="b"/>
            <a:pathLst>
              <a:path fill="none" w="29608" h="5160">
                <a:moveTo>
                  <a:pt x="0" y="501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5015"/>
                </a:lnTo>
                <a:cubicBezTo>
                  <a:pt x="29608" y="5024"/>
                  <a:pt x="29607" y="5034"/>
                  <a:pt x="29605" y="5043"/>
                </a:cubicBezTo>
                <a:cubicBezTo>
                  <a:pt x="29604" y="5053"/>
                  <a:pt x="29601" y="5062"/>
                  <a:pt x="29597" y="5071"/>
                </a:cubicBezTo>
                <a:cubicBezTo>
                  <a:pt x="29594" y="5079"/>
                  <a:pt x="29589" y="5088"/>
                  <a:pt x="29584" y="5096"/>
                </a:cubicBezTo>
                <a:cubicBezTo>
                  <a:pt x="29578" y="5104"/>
                  <a:pt x="29572" y="5111"/>
                  <a:pt x="29566" y="5118"/>
                </a:cubicBezTo>
                <a:cubicBezTo>
                  <a:pt x="29559" y="5125"/>
                  <a:pt x="29552" y="5131"/>
                  <a:pt x="29544" y="5136"/>
                </a:cubicBezTo>
                <a:cubicBezTo>
                  <a:pt x="29536" y="5141"/>
                  <a:pt x="29527" y="5146"/>
                  <a:pt x="29518" y="5149"/>
                </a:cubicBezTo>
                <a:cubicBezTo>
                  <a:pt x="29510" y="5153"/>
                  <a:pt x="29501" y="5156"/>
                  <a:pt x="29491" y="5158"/>
                </a:cubicBezTo>
                <a:cubicBezTo>
                  <a:pt x="29482" y="5160"/>
                  <a:pt x="29472" y="5160"/>
                  <a:pt x="29463" y="5160"/>
                </a:cubicBezTo>
                <a:lnTo>
                  <a:pt x="146" y="5160"/>
                </a:lnTo>
                <a:cubicBezTo>
                  <a:pt x="136" y="5160"/>
                  <a:pt x="127" y="5160"/>
                  <a:pt x="118" y="5158"/>
                </a:cubicBezTo>
                <a:cubicBezTo>
                  <a:pt x="108" y="5156"/>
                  <a:pt x="99" y="5153"/>
                  <a:pt x="90" y="5149"/>
                </a:cubicBezTo>
                <a:cubicBezTo>
                  <a:pt x="81" y="5146"/>
                  <a:pt x="73" y="5141"/>
                  <a:pt x="65" y="5136"/>
                </a:cubicBezTo>
                <a:cubicBezTo>
                  <a:pt x="57" y="5131"/>
                  <a:pt x="50" y="5125"/>
                  <a:pt x="43" y="5118"/>
                </a:cubicBezTo>
                <a:cubicBezTo>
                  <a:pt x="36" y="5111"/>
                  <a:pt x="30" y="5104"/>
                  <a:pt x="25" y="5096"/>
                </a:cubicBezTo>
                <a:cubicBezTo>
                  <a:pt x="20" y="5088"/>
                  <a:pt x="15" y="5079"/>
                  <a:pt x="11" y="5071"/>
                </a:cubicBezTo>
                <a:cubicBezTo>
                  <a:pt x="8" y="5062"/>
                  <a:pt x="5" y="5053"/>
                  <a:pt x="3" y="5043"/>
                </a:cubicBezTo>
                <a:cubicBezTo>
                  <a:pt x="1" y="5034"/>
                  <a:pt x="0" y="5024"/>
                  <a:pt x="0" y="5015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104840" y="3819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476360" y="4095720"/>
            <a:ext cx="57240" cy="57240"/>
          </a:xfrm>
          <a:custGeom>
            <a:avLst/>
            <a:gdLst/>
            <a:ahLst/>
            <a:rect l="0" t="0" r="r" b="b"/>
            <a:pathLst>
              <a:path fill="none"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3" y="30"/>
                  <a:pt x="149" y="39"/>
                  <a:pt x="153" y="49"/>
                </a:cubicBezTo>
                <a:cubicBezTo>
                  <a:pt x="157" y="58"/>
                  <a:pt x="159" y="68"/>
                  <a:pt x="159" y="80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1289520" y="3728520"/>
            <a:ext cx="6476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Adapter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bridge incompatible interfaces (e.g., legacy API to new service).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104840" y="4419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1655280" y="4004640"/>
            <a:ext cx="7097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adapter translating CAN bus packets into the cloud telemetry schema.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1476360" y="4695480"/>
            <a:ext cx="57240" cy="57600"/>
          </a:xfrm>
          <a:custGeom>
            <a:avLst/>
            <a:gdLst/>
            <a:ahLst/>
            <a:rect l="0" t="0" r="r" b="b"/>
            <a:pathLst>
              <a:path fill="none"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3"/>
                  <a:pt x="120" y="149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49"/>
                  <a:pt x="30" y="143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1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3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289520" y="4328640"/>
            <a:ext cx="7478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Composite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treat individual and grouped components uniformly (e.g., scene graph).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942840" y="3342960"/>
            <a:ext cx="190800" cy="191160"/>
          </a:xfrm>
          <a:custGeom>
            <a:avLst/>
            <a:gdLst/>
            <a:ahLst/>
            <a:rect l="0" t="0" r="r" b="b"/>
            <a:pathLst>
              <a:path fill="none" w="530" h="531">
                <a:moveTo>
                  <a:pt x="530" y="265"/>
                </a:moveTo>
                <a:cubicBezTo>
                  <a:pt x="530" y="282"/>
                  <a:pt x="528" y="300"/>
                  <a:pt x="525" y="317"/>
                </a:cubicBezTo>
                <a:cubicBezTo>
                  <a:pt x="522" y="334"/>
                  <a:pt x="517" y="350"/>
                  <a:pt x="510" y="366"/>
                </a:cubicBezTo>
                <a:cubicBezTo>
                  <a:pt x="503" y="382"/>
                  <a:pt x="495" y="398"/>
                  <a:pt x="485" y="412"/>
                </a:cubicBezTo>
                <a:cubicBezTo>
                  <a:pt x="476" y="426"/>
                  <a:pt x="465" y="440"/>
                  <a:pt x="453" y="452"/>
                </a:cubicBezTo>
                <a:cubicBezTo>
                  <a:pt x="440" y="464"/>
                  <a:pt x="427" y="475"/>
                  <a:pt x="412" y="485"/>
                </a:cubicBezTo>
                <a:cubicBezTo>
                  <a:pt x="398" y="495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1"/>
                  <a:pt x="264" y="531"/>
                </a:cubicBezTo>
                <a:cubicBezTo>
                  <a:pt x="247" y="531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5"/>
                  <a:pt x="117" y="485"/>
                </a:cubicBezTo>
                <a:cubicBezTo>
                  <a:pt x="103" y="475"/>
                  <a:pt x="90" y="464"/>
                  <a:pt x="77" y="452"/>
                </a:cubicBezTo>
                <a:cubicBezTo>
                  <a:pt x="65" y="440"/>
                  <a:pt x="54" y="426"/>
                  <a:pt x="44" y="412"/>
                </a:cubicBezTo>
                <a:cubicBezTo>
                  <a:pt x="35" y="398"/>
                  <a:pt x="27" y="382"/>
                  <a:pt x="20" y="366"/>
                </a:cubicBezTo>
                <a:cubicBezTo>
                  <a:pt x="13" y="350"/>
                  <a:pt x="8" y="334"/>
                  <a:pt x="5" y="317"/>
                </a:cubicBezTo>
                <a:cubicBezTo>
                  <a:pt x="2" y="300"/>
                  <a:pt x="0" y="282"/>
                  <a:pt x="0" y="265"/>
                </a:cubicBezTo>
                <a:cubicBezTo>
                  <a:pt x="0" y="248"/>
                  <a:pt x="2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3" y="21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1" y="14"/>
                  <a:pt x="367" y="21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4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0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1037880" y="340020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655280" y="4604760"/>
            <a:ext cx="8422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robot subsystem tree where joints and limb assemblies expose the same commands.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203120" y="3331800"/>
            <a:ext cx="1155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Structural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"/>
          <p:cNvSpPr txBox="1"/>
          <p:nvPr/>
        </p:nvSpPr>
        <p:spPr>
          <a:xfrm>
            <a:off x="762120" y="2602080"/>
            <a:ext cx="24066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Software Patterns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766440" y="3128760"/>
            <a:ext cx="10658880" cy="1857600"/>
          </a:xfrm>
          <a:custGeom>
            <a:avLst/>
            <a:gdLst/>
            <a:ahLst/>
            <a:rect l="0" t="0" r="r" b="b"/>
            <a:pathLst>
              <a:path w="29608" h="5160">
                <a:moveTo>
                  <a:pt x="0" y="501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5015"/>
                </a:lnTo>
                <a:cubicBezTo>
                  <a:pt x="29608" y="5024"/>
                  <a:pt x="29607" y="5034"/>
                  <a:pt x="29605" y="5043"/>
                </a:cubicBezTo>
                <a:cubicBezTo>
                  <a:pt x="29604" y="5053"/>
                  <a:pt x="29601" y="5062"/>
                  <a:pt x="29597" y="5071"/>
                </a:cubicBezTo>
                <a:cubicBezTo>
                  <a:pt x="29594" y="5079"/>
                  <a:pt x="29589" y="5088"/>
                  <a:pt x="29584" y="5096"/>
                </a:cubicBezTo>
                <a:cubicBezTo>
                  <a:pt x="29578" y="5104"/>
                  <a:pt x="29572" y="5111"/>
                  <a:pt x="29566" y="5118"/>
                </a:cubicBezTo>
                <a:cubicBezTo>
                  <a:pt x="29559" y="5125"/>
                  <a:pt x="29552" y="5131"/>
                  <a:pt x="29544" y="5136"/>
                </a:cubicBezTo>
                <a:cubicBezTo>
                  <a:pt x="29536" y="5141"/>
                  <a:pt x="29527" y="5146"/>
                  <a:pt x="29518" y="5149"/>
                </a:cubicBezTo>
                <a:cubicBezTo>
                  <a:pt x="29510" y="5153"/>
                  <a:pt x="29501" y="5156"/>
                  <a:pt x="29491" y="5158"/>
                </a:cubicBezTo>
                <a:cubicBezTo>
                  <a:pt x="29482" y="5160"/>
                  <a:pt x="29472" y="5160"/>
                  <a:pt x="29463" y="5160"/>
                </a:cubicBezTo>
                <a:lnTo>
                  <a:pt x="146" y="5160"/>
                </a:lnTo>
                <a:cubicBezTo>
                  <a:pt x="136" y="5160"/>
                  <a:pt x="127" y="5160"/>
                  <a:pt x="118" y="5158"/>
                </a:cubicBezTo>
                <a:cubicBezTo>
                  <a:pt x="108" y="5156"/>
                  <a:pt x="99" y="5153"/>
                  <a:pt x="90" y="5149"/>
                </a:cubicBezTo>
                <a:cubicBezTo>
                  <a:pt x="81" y="5146"/>
                  <a:pt x="73" y="5141"/>
                  <a:pt x="65" y="5136"/>
                </a:cubicBezTo>
                <a:cubicBezTo>
                  <a:pt x="57" y="5131"/>
                  <a:pt x="50" y="5125"/>
                  <a:pt x="43" y="5118"/>
                </a:cubicBezTo>
                <a:cubicBezTo>
                  <a:pt x="36" y="5111"/>
                  <a:pt x="30" y="5104"/>
                  <a:pt x="25" y="5096"/>
                </a:cubicBezTo>
                <a:cubicBezTo>
                  <a:pt x="20" y="5088"/>
                  <a:pt x="15" y="5079"/>
                  <a:pt x="11" y="5071"/>
                </a:cubicBezTo>
                <a:cubicBezTo>
                  <a:pt x="8" y="5062"/>
                  <a:pt x="5" y="5053"/>
                  <a:pt x="3" y="5043"/>
                </a:cubicBezTo>
                <a:cubicBezTo>
                  <a:pt x="1" y="5034"/>
                  <a:pt x="0" y="5024"/>
                  <a:pt x="0" y="5015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766440" y="3128760"/>
            <a:ext cx="10658880" cy="1857600"/>
          </a:xfrm>
          <a:custGeom>
            <a:avLst/>
            <a:gdLst/>
            <a:ahLst/>
            <a:rect l="0" t="0" r="r" b="b"/>
            <a:pathLst>
              <a:path fill="none" w="29608" h="5160">
                <a:moveTo>
                  <a:pt x="0" y="501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5015"/>
                </a:lnTo>
                <a:cubicBezTo>
                  <a:pt x="29608" y="5024"/>
                  <a:pt x="29607" y="5034"/>
                  <a:pt x="29605" y="5043"/>
                </a:cubicBezTo>
                <a:cubicBezTo>
                  <a:pt x="29604" y="5053"/>
                  <a:pt x="29601" y="5062"/>
                  <a:pt x="29597" y="5071"/>
                </a:cubicBezTo>
                <a:cubicBezTo>
                  <a:pt x="29594" y="5079"/>
                  <a:pt x="29589" y="5088"/>
                  <a:pt x="29584" y="5096"/>
                </a:cubicBezTo>
                <a:cubicBezTo>
                  <a:pt x="29578" y="5104"/>
                  <a:pt x="29572" y="5111"/>
                  <a:pt x="29566" y="5118"/>
                </a:cubicBezTo>
                <a:cubicBezTo>
                  <a:pt x="29559" y="5125"/>
                  <a:pt x="29552" y="5131"/>
                  <a:pt x="29544" y="5136"/>
                </a:cubicBezTo>
                <a:cubicBezTo>
                  <a:pt x="29536" y="5141"/>
                  <a:pt x="29527" y="5146"/>
                  <a:pt x="29518" y="5149"/>
                </a:cubicBezTo>
                <a:cubicBezTo>
                  <a:pt x="29510" y="5153"/>
                  <a:pt x="29501" y="5156"/>
                  <a:pt x="29491" y="5158"/>
                </a:cubicBezTo>
                <a:cubicBezTo>
                  <a:pt x="29482" y="5160"/>
                  <a:pt x="29472" y="5160"/>
                  <a:pt x="29463" y="5160"/>
                </a:cubicBezTo>
                <a:lnTo>
                  <a:pt x="146" y="5160"/>
                </a:lnTo>
                <a:cubicBezTo>
                  <a:pt x="136" y="5160"/>
                  <a:pt x="127" y="5160"/>
                  <a:pt x="118" y="5158"/>
                </a:cubicBezTo>
                <a:cubicBezTo>
                  <a:pt x="108" y="5156"/>
                  <a:pt x="99" y="5153"/>
                  <a:pt x="90" y="5149"/>
                </a:cubicBezTo>
                <a:cubicBezTo>
                  <a:pt x="81" y="5146"/>
                  <a:pt x="73" y="5141"/>
                  <a:pt x="65" y="5136"/>
                </a:cubicBezTo>
                <a:cubicBezTo>
                  <a:pt x="57" y="5131"/>
                  <a:pt x="50" y="5125"/>
                  <a:pt x="43" y="5118"/>
                </a:cubicBezTo>
                <a:cubicBezTo>
                  <a:pt x="36" y="5111"/>
                  <a:pt x="30" y="5104"/>
                  <a:pt x="25" y="5096"/>
                </a:cubicBezTo>
                <a:cubicBezTo>
                  <a:pt x="20" y="5088"/>
                  <a:pt x="15" y="5079"/>
                  <a:pt x="11" y="5071"/>
                </a:cubicBezTo>
                <a:cubicBezTo>
                  <a:pt x="8" y="5062"/>
                  <a:pt x="5" y="5053"/>
                  <a:pt x="3" y="5043"/>
                </a:cubicBezTo>
                <a:cubicBezTo>
                  <a:pt x="1" y="5034"/>
                  <a:pt x="0" y="5024"/>
                  <a:pt x="0" y="5015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1104840" y="3819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1476360" y="4095720"/>
            <a:ext cx="57240" cy="57240"/>
          </a:xfrm>
          <a:custGeom>
            <a:avLst/>
            <a:gdLst/>
            <a:ahLst/>
            <a:rect l="0" t="0" r="r" b="b"/>
            <a:pathLst>
              <a:path fill="none"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3" y="30"/>
                  <a:pt x="149" y="39"/>
                  <a:pt x="153" y="49"/>
                </a:cubicBezTo>
                <a:cubicBezTo>
                  <a:pt x="157" y="58"/>
                  <a:pt x="159" y="68"/>
                  <a:pt x="159" y="80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1289520" y="3728520"/>
            <a:ext cx="6612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Observer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notify subscribers about state changes (telemetry, UI bindings).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1104840" y="4419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655280" y="4004640"/>
            <a:ext cx="8206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dashboard widgets auto-refreshing when the process historian publishes updates.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1476360" y="4695480"/>
            <a:ext cx="57240" cy="57600"/>
          </a:xfrm>
          <a:custGeom>
            <a:avLst/>
            <a:gdLst/>
            <a:ahLst/>
            <a:rect l="0" t="0" r="r" b="b"/>
            <a:pathLst>
              <a:path fill="none"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3"/>
                  <a:pt x="120" y="149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49"/>
                  <a:pt x="30" y="143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1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3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289520" y="4328640"/>
            <a:ext cx="6767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Strategy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swap algorithms without altering caller (e.g., control loop modes).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942480" y="335232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8"/>
                </a:moveTo>
                <a:lnTo>
                  <a:pt x="312" y="27"/>
                </a:lnTo>
                <a:cubicBezTo>
                  <a:pt x="308" y="19"/>
                  <a:pt x="301" y="12"/>
                  <a:pt x="293" y="8"/>
                </a:cubicBezTo>
                <a:cubicBezTo>
                  <a:pt x="284" y="3"/>
                  <a:pt x="275" y="0"/>
                  <a:pt x="265" y="0"/>
                </a:cubicBezTo>
                <a:cubicBezTo>
                  <a:pt x="256" y="0"/>
                  <a:pt x="247" y="3"/>
                  <a:pt x="239" y="8"/>
                </a:cubicBezTo>
                <a:cubicBezTo>
                  <a:pt x="230" y="12"/>
                  <a:pt x="224" y="19"/>
                  <a:pt x="219" y="27"/>
                </a:cubicBezTo>
                <a:lnTo>
                  <a:pt x="7" y="398"/>
                </a:lnTo>
                <a:cubicBezTo>
                  <a:pt x="3" y="406"/>
                  <a:pt x="0" y="415"/>
                  <a:pt x="0" y="424"/>
                </a:cubicBezTo>
                <a:cubicBezTo>
                  <a:pt x="0" y="434"/>
                  <a:pt x="3" y="443"/>
                  <a:pt x="8" y="452"/>
                </a:cubicBezTo>
                <a:cubicBezTo>
                  <a:pt x="12" y="460"/>
                  <a:pt x="19" y="466"/>
                  <a:pt x="27" y="471"/>
                </a:cubicBezTo>
                <a:cubicBezTo>
                  <a:pt x="35" y="476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1"/>
                </a:cubicBezTo>
                <a:cubicBezTo>
                  <a:pt x="509" y="469"/>
                  <a:pt x="512" y="466"/>
                  <a:pt x="516" y="463"/>
                </a:cubicBezTo>
                <a:cubicBezTo>
                  <a:pt x="519" y="459"/>
                  <a:pt x="522" y="456"/>
                  <a:pt x="524" y="452"/>
                </a:cubicBezTo>
                <a:cubicBezTo>
                  <a:pt x="526" y="448"/>
                  <a:pt x="528" y="442"/>
                  <a:pt x="529" y="438"/>
                </a:cubicBezTo>
                <a:cubicBezTo>
                  <a:pt x="530" y="433"/>
                  <a:pt x="531" y="429"/>
                  <a:pt x="531" y="424"/>
                </a:cubicBezTo>
                <a:cubicBezTo>
                  <a:pt x="531" y="420"/>
                  <a:pt x="530" y="415"/>
                  <a:pt x="529" y="410"/>
                </a:cubicBezTo>
                <a:cubicBezTo>
                  <a:pt x="528" y="406"/>
                  <a:pt x="526" y="402"/>
                  <a:pt x="524" y="398"/>
                </a:cubicBezTo>
                <a:moveTo>
                  <a:pt x="265" y="160"/>
                </a:moveTo>
                <a:lnTo>
                  <a:pt x="265" y="265"/>
                </a:lnTo>
                <a:moveTo>
                  <a:pt x="265" y="371"/>
                </a:moveTo>
                <a:lnTo>
                  <a:pt x="266" y="371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1655280" y="4604760"/>
            <a:ext cx="8054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autonomous vehicle selecting between eco, sport, or safety-ﬁrst driving proﬁles.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1203120" y="3331800"/>
            <a:ext cx="1382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Behavioural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"/>
          <p:cNvSpPr txBox="1"/>
          <p:nvPr/>
        </p:nvSpPr>
        <p:spPr>
          <a:xfrm>
            <a:off x="762120" y="2554560"/>
            <a:ext cx="42714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Hardware / Embedded Patterns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766440" y="3081240"/>
            <a:ext cx="10658880" cy="1953000"/>
          </a:xfrm>
          <a:custGeom>
            <a:avLst/>
            <a:gdLst/>
            <a:ahLst/>
            <a:rect l="0" t="0" r="r" b="b"/>
            <a:pathLst>
              <a:path w="29608" h="5425">
                <a:moveTo>
                  <a:pt x="0" y="52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5279"/>
                </a:lnTo>
                <a:cubicBezTo>
                  <a:pt x="29608" y="5289"/>
                  <a:pt x="29607" y="5298"/>
                  <a:pt x="29605" y="5308"/>
                </a:cubicBezTo>
                <a:cubicBezTo>
                  <a:pt x="29604" y="5317"/>
                  <a:pt x="29601" y="5326"/>
                  <a:pt x="29597" y="5335"/>
                </a:cubicBezTo>
                <a:cubicBezTo>
                  <a:pt x="29594" y="5344"/>
                  <a:pt x="29589" y="5352"/>
                  <a:pt x="29584" y="5360"/>
                </a:cubicBezTo>
                <a:cubicBezTo>
                  <a:pt x="29578" y="5368"/>
                  <a:pt x="29572" y="5375"/>
                  <a:pt x="29566" y="5382"/>
                </a:cubicBezTo>
                <a:cubicBezTo>
                  <a:pt x="29559" y="5389"/>
                  <a:pt x="29552" y="5395"/>
                  <a:pt x="29544" y="5400"/>
                </a:cubicBezTo>
                <a:cubicBezTo>
                  <a:pt x="29536" y="5406"/>
                  <a:pt x="29527" y="5410"/>
                  <a:pt x="29518" y="5414"/>
                </a:cubicBezTo>
                <a:cubicBezTo>
                  <a:pt x="29510" y="5417"/>
                  <a:pt x="29501" y="5420"/>
                  <a:pt x="29491" y="5422"/>
                </a:cubicBezTo>
                <a:cubicBezTo>
                  <a:pt x="29482" y="5424"/>
                  <a:pt x="29472" y="5425"/>
                  <a:pt x="29463" y="5425"/>
                </a:cubicBezTo>
                <a:lnTo>
                  <a:pt x="146" y="5425"/>
                </a:lnTo>
                <a:cubicBezTo>
                  <a:pt x="136" y="5425"/>
                  <a:pt x="127" y="5424"/>
                  <a:pt x="118" y="5422"/>
                </a:cubicBezTo>
                <a:cubicBezTo>
                  <a:pt x="108" y="5420"/>
                  <a:pt x="99" y="5417"/>
                  <a:pt x="90" y="5414"/>
                </a:cubicBezTo>
                <a:cubicBezTo>
                  <a:pt x="81" y="5410"/>
                  <a:pt x="73" y="5406"/>
                  <a:pt x="65" y="5400"/>
                </a:cubicBezTo>
                <a:cubicBezTo>
                  <a:pt x="57" y="5395"/>
                  <a:pt x="50" y="5389"/>
                  <a:pt x="43" y="5382"/>
                </a:cubicBezTo>
                <a:cubicBezTo>
                  <a:pt x="36" y="5375"/>
                  <a:pt x="30" y="5368"/>
                  <a:pt x="25" y="5360"/>
                </a:cubicBezTo>
                <a:cubicBezTo>
                  <a:pt x="20" y="5352"/>
                  <a:pt x="15" y="5344"/>
                  <a:pt x="11" y="5335"/>
                </a:cubicBezTo>
                <a:cubicBezTo>
                  <a:pt x="8" y="5326"/>
                  <a:pt x="5" y="5317"/>
                  <a:pt x="3" y="5308"/>
                </a:cubicBezTo>
                <a:cubicBezTo>
                  <a:pt x="1" y="5298"/>
                  <a:pt x="0" y="5289"/>
                  <a:pt x="0" y="5279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766440" y="3081240"/>
            <a:ext cx="10658880" cy="1953000"/>
          </a:xfrm>
          <a:custGeom>
            <a:avLst/>
            <a:gdLst/>
            <a:ahLst/>
            <a:rect l="0" t="0" r="r" b="b"/>
            <a:pathLst>
              <a:path fill="none" w="29608" h="5425">
                <a:moveTo>
                  <a:pt x="0" y="52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5279"/>
                </a:lnTo>
                <a:cubicBezTo>
                  <a:pt x="29608" y="5289"/>
                  <a:pt x="29607" y="5298"/>
                  <a:pt x="29605" y="5308"/>
                </a:cubicBezTo>
                <a:cubicBezTo>
                  <a:pt x="29604" y="5317"/>
                  <a:pt x="29601" y="5326"/>
                  <a:pt x="29597" y="5335"/>
                </a:cubicBezTo>
                <a:cubicBezTo>
                  <a:pt x="29594" y="5344"/>
                  <a:pt x="29589" y="5352"/>
                  <a:pt x="29584" y="5360"/>
                </a:cubicBezTo>
                <a:cubicBezTo>
                  <a:pt x="29578" y="5368"/>
                  <a:pt x="29572" y="5375"/>
                  <a:pt x="29566" y="5382"/>
                </a:cubicBezTo>
                <a:cubicBezTo>
                  <a:pt x="29559" y="5389"/>
                  <a:pt x="29552" y="5395"/>
                  <a:pt x="29544" y="5400"/>
                </a:cubicBezTo>
                <a:cubicBezTo>
                  <a:pt x="29536" y="5406"/>
                  <a:pt x="29527" y="5410"/>
                  <a:pt x="29518" y="5414"/>
                </a:cubicBezTo>
                <a:cubicBezTo>
                  <a:pt x="29510" y="5417"/>
                  <a:pt x="29501" y="5420"/>
                  <a:pt x="29491" y="5422"/>
                </a:cubicBezTo>
                <a:cubicBezTo>
                  <a:pt x="29482" y="5424"/>
                  <a:pt x="29472" y="5425"/>
                  <a:pt x="29463" y="5425"/>
                </a:cubicBezTo>
                <a:lnTo>
                  <a:pt x="146" y="5425"/>
                </a:lnTo>
                <a:cubicBezTo>
                  <a:pt x="136" y="5425"/>
                  <a:pt x="127" y="5424"/>
                  <a:pt x="118" y="5422"/>
                </a:cubicBezTo>
                <a:cubicBezTo>
                  <a:pt x="108" y="5420"/>
                  <a:pt x="99" y="5417"/>
                  <a:pt x="90" y="5414"/>
                </a:cubicBezTo>
                <a:cubicBezTo>
                  <a:pt x="81" y="5410"/>
                  <a:pt x="73" y="5406"/>
                  <a:pt x="65" y="5400"/>
                </a:cubicBezTo>
                <a:cubicBezTo>
                  <a:pt x="57" y="5395"/>
                  <a:pt x="50" y="5389"/>
                  <a:pt x="43" y="5382"/>
                </a:cubicBezTo>
                <a:cubicBezTo>
                  <a:pt x="36" y="5375"/>
                  <a:pt x="30" y="5368"/>
                  <a:pt x="25" y="5360"/>
                </a:cubicBezTo>
                <a:cubicBezTo>
                  <a:pt x="20" y="5352"/>
                  <a:pt x="15" y="5344"/>
                  <a:pt x="11" y="5335"/>
                </a:cubicBezTo>
                <a:cubicBezTo>
                  <a:pt x="8" y="5326"/>
                  <a:pt x="5" y="5317"/>
                  <a:pt x="3" y="5308"/>
                </a:cubicBezTo>
                <a:cubicBezTo>
                  <a:pt x="1" y="5298"/>
                  <a:pt x="0" y="5289"/>
                  <a:pt x="0" y="5279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1104840" y="3276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1476360" y="3552480"/>
            <a:ext cx="57240" cy="57600"/>
          </a:xfrm>
          <a:custGeom>
            <a:avLst/>
            <a:gdLst/>
            <a:ahLst/>
            <a:rect l="0" t="0" r="r" b="b"/>
            <a:pathLst>
              <a:path fill="none"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3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30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7"/>
                  <a:pt x="39" y="12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2"/>
                  <a:pt x="129" y="17"/>
                  <a:pt x="136" y="25"/>
                </a:cubicBezTo>
                <a:cubicBezTo>
                  <a:pt x="143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1289520" y="3185640"/>
            <a:ext cx="6832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Bus Controller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manage shared communication channels across peripherals.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1104840" y="386712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655280" y="3461760"/>
            <a:ext cx="6293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I2C master arbitrating sensor access on an embedded board.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1476360" y="4143240"/>
            <a:ext cx="57240" cy="57600"/>
          </a:xfrm>
          <a:custGeom>
            <a:avLst/>
            <a:gdLst/>
            <a:ahLst/>
            <a:rect l="0" t="0" r="r" b="b"/>
            <a:pathLst>
              <a:path fill="none"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289520" y="3776040"/>
            <a:ext cx="5634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Pipeline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staged signal processing (sensor → ﬁlter → actuator).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1104840" y="44668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3"/>
                  <a:pt x="120" y="149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655280" y="4052160"/>
            <a:ext cx="6858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radar front-end → DSP ﬁlter → actuator control for adaptive cruise.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1476360" y="4733640"/>
            <a:ext cx="57240" cy="57600"/>
          </a:xfrm>
          <a:custGeom>
            <a:avLst/>
            <a:gdLst/>
            <a:ahLst/>
            <a:rect l="0" t="0" r="r" b="b"/>
            <a:pathLst>
              <a:path fill="none"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3" y="31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289520" y="4376160"/>
            <a:ext cx="8046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Redundancy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duplicate components for failover (dual power supplies, redundant sensors).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1655280" y="4642920"/>
            <a:ext cx="7215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dual inertial measurement units with voting logic for aviation guidance.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"/>
          <p:cNvSpPr txBox="1"/>
          <p:nvPr/>
        </p:nvSpPr>
        <p:spPr>
          <a:xfrm>
            <a:off x="762120" y="2097360"/>
            <a:ext cx="31698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Cross-domain Patterns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766440" y="2690640"/>
            <a:ext cx="5277240" cy="2696040"/>
          </a:xfrm>
          <a:custGeom>
            <a:avLst/>
            <a:gdLst/>
            <a:ahLst/>
            <a:rect l="0" t="0" r="r" b="b"/>
            <a:pathLst>
              <a:path w="14659" h="7489">
                <a:moveTo>
                  <a:pt x="0" y="734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7343"/>
                </a:lnTo>
                <a:cubicBezTo>
                  <a:pt x="14659" y="7353"/>
                  <a:pt x="14658" y="7362"/>
                  <a:pt x="14657" y="7372"/>
                </a:cubicBezTo>
                <a:cubicBezTo>
                  <a:pt x="14655" y="7381"/>
                  <a:pt x="14652" y="7390"/>
                  <a:pt x="14648" y="7399"/>
                </a:cubicBezTo>
                <a:cubicBezTo>
                  <a:pt x="14645" y="7408"/>
                  <a:pt x="14640" y="7416"/>
                  <a:pt x="14635" y="7424"/>
                </a:cubicBezTo>
                <a:cubicBezTo>
                  <a:pt x="14629" y="7432"/>
                  <a:pt x="14623" y="7439"/>
                  <a:pt x="14617" y="7446"/>
                </a:cubicBezTo>
                <a:cubicBezTo>
                  <a:pt x="14610" y="7453"/>
                  <a:pt x="14603" y="7459"/>
                  <a:pt x="14595" y="7464"/>
                </a:cubicBezTo>
                <a:cubicBezTo>
                  <a:pt x="14587" y="7469"/>
                  <a:pt x="14578" y="7474"/>
                  <a:pt x="14569" y="7478"/>
                </a:cubicBezTo>
                <a:cubicBezTo>
                  <a:pt x="14561" y="7481"/>
                  <a:pt x="14552" y="7484"/>
                  <a:pt x="14542" y="7486"/>
                </a:cubicBezTo>
                <a:cubicBezTo>
                  <a:pt x="14533" y="7488"/>
                  <a:pt x="14523" y="7489"/>
                  <a:pt x="14514" y="7489"/>
                </a:cubicBezTo>
                <a:lnTo>
                  <a:pt x="146" y="7489"/>
                </a:lnTo>
                <a:cubicBezTo>
                  <a:pt x="136" y="7489"/>
                  <a:pt x="127" y="7488"/>
                  <a:pt x="118" y="7486"/>
                </a:cubicBezTo>
                <a:cubicBezTo>
                  <a:pt x="108" y="7484"/>
                  <a:pt x="99" y="7481"/>
                  <a:pt x="90" y="7478"/>
                </a:cubicBezTo>
                <a:cubicBezTo>
                  <a:pt x="81" y="7474"/>
                  <a:pt x="73" y="7469"/>
                  <a:pt x="65" y="7464"/>
                </a:cubicBezTo>
                <a:cubicBezTo>
                  <a:pt x="57" y="7459"/>
                  <a:pt x="50" y="7453"/>
                  <a:pt x="43" y="7446"/>
                </a:cubicBezTo>
                <a:cubicBezTo>
                  <a:pt x="36" y="7439"/>
                  <a:pt x="30" y="7432"/>
                  <a:pt x="25" y="7424"/>
                </a:cubicBezTo>
                <a:cubicBezTo>
                  <a:pt x="20" y="7416"/>
                  <a:pt x="15" y="7408"/>
                  <a:pt x="11" y="7399"/>
                </a:cubicBezTo>
                <a:cubicBezTo>
                  <a:pt x="8" y="7390"/>
                  <a:pt x="5" y="7381"/>
                  <a:pt x="3" y="7372"/>
                </a:cubicBezTo>
                <a:cubicBezTo>
                  <a:pt x="1" y="7362"/>
                  <a:pt x="0" y="7353"/>
                  <a:pt x="0" y="7343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766440" y="2690640"/>
            <a:ext cx="5277240" cy="2696040"/>
          </a:xfrm>
          <a:custGeom>
            <a:avLst/>
            <a:gdLst/>
            <a:ahLst/>
            <a:rect l="0" t="0" r="r" b="b"/>
            <a:pathLst>
              <a:path fill="none" w="14659" h="7489">
                <a:moveTo>
                  <a:pt x="0" y="734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7343"/>
                </a:lnTo>
                <a:cubicBezTo>
                  <a:pt x="14659" y="7353"/>
                  <a:pt x="14658" y="7362"/>
                  <a:pt x="14657" y="7372"/>
                </a:cubicBezTo>
                <a:cubicBezTo>
                  <a:pt x="14655" y="7381"/>
                  <a:pt x="14652" y="7390"/>
                  <a:pt x="14648" y="7399"/>
                </a:cubicBezTo>
                <a:cubicBezTo>
                  <a:pt x="14645" y="7408"/>
                  <a:pt x="14640" y="7416"/>
                  <a:pt x="14635" y="7424"/>
                </a:cubicBezTo>
                <a:cubicBezTo>
                  <a:pt x="14629" y="7432"/>
                  <a:pt x="14623" y="7439"/>
                  <a:pt x="14617" y="7446"/>
                </a:cubicBezTo>
                <a:cubicBezTo>
                  <a:pt x="14610" y="7453"/>
                  <a:pt x="14603" y="7459"/>
                  <a:pt x="14595" y="7464"/>
                </a:cubicBezTo>
                <a:cubicBezTo>
                  <a:pt x="14587" y="7469"/>
                  <a:pt x="14578" y="7474"/>
                  <a:pt x="14569" y="7478"/>
                </a:cubicBezTo>
                <a:cubicBezTo>
                  <a:pt x="14561" y="7481"/>
                  <a:pt x="14552" y="7484"/>
                  <a:pt x="14542" y="7486"/>
                </a:cubicBezTo>
                <a:cubicBezTo>
                  <a:pt x="14533" y="7488"/>
                  <a:pt x="14523" y="7489"/>
                  <a:pt x="14514" y="7489"/>
                </a:cubicBezTo>
                <a:lnTo>
                  <a:pt x="146" y="7489"/>
                </a:lnTo>
                <a:cubicBezTo>
                  <a:pt x="136" y="7489"/>
                  <a:pt x="127" y="7488"/>
                  <a:pt x="118" y="7486"/>
                </a:cubicBezTo>
                <a:cubicBezTo>
                  <a:pt x="108" y="7484"/>
                  <a:pt x="99" y="7481"/>
                  <a:pt x="90" y="7478"/>
                </a:cubicBezTo>
                <a:cubicBezTo>
                  <a:pt x="81" y="7474"/>
                  <a:pt x="73" y="7469"/>
                  <a:pt x="65" y="7464"/>
                </a:cubicBezTo>
                <a:cubicBezTo>
                  <a:pt x="57" y="7459"/>
                  <a:pt x="50" y="7453"/>
                  <a:pt x="43" y="7446"/>
                </a:cubicBezTo>
                <a:cubicBezTo>
                  <a:pt x="36" y="7439"/>
                  <a:pt x="30" y="7432"/>
                  <a:pt x="25" y="7424"/>
                </a:cubicBezTo>
                <a:cubicBezTo>
                  <a:pt x="20" y="7416"/>
                  <a:pt x="15" y="7408"/>
                  <a:pt x="11" y="7399"/>
                </a:cubicBezTo>
                <a:cubicBezTo>
                  <a:pt x="8" y="7390"/>
                  <a:pt x="5" y="7381"/>
                  <a:pt x="3" y="7372"/>
                </a:cubicBezTo>
                <a:cubicBezTo>
                  <a:pt x="1" y="7362"/>
                  <a:pt x="0" y="7353"/>
                  <a:pt x="0" y="7343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1104840" y="339084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289520" y="3299760"/>
            <a:ext cx="4158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Separates interaction (view), state (model), and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104840" y="39909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1289520" y="3575880"/>
            <a:ext cx="2215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coordination (controller).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1476360" y="4257360"/>
            <a:ext cx="57240" cy="57600"/>
          </a:xfrm>
          <a:custGeom>
            <a:avLst/>
            <a:gdLst/>
            <a:ahLst/>
            <a:rect l="0" t="0" r="r" b="b"/>
            <a:pathLst>
              <a:path fill="none" w="159" h="160">
                <a:moveTo>
                  <a:pt x="159" y="80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3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289520" y="3899880"/>
            <a:ext cx="4195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Works for embedded HMIs or web applications.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1655280" y="4166640"/>
            <a:ext cx="4266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factory touchscreen HMI (view) driving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942840" y="29048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6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2" y="335"/>
                  <a:pt x="517" y="351"/>
                  <a:pt x="510" y="367"/>
                </a:cubicBezTo>
                <a:cubicBezTo>
                  <a:pt x="503" y="383"/>
                  <a:pt x="495" y="398"/>
                  <a:pt x="485" y="413"/>
                </a:cubicBezTo>
                <a:cubicBezTo>
                  <a:pt x="476" y="427"/>
                  <a:pt x="465" y="441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5"/>
                  <a:pt x="5" y="317"/>
                </a:cubicBezTo>
                <a:cubicBezTo>
                  <a:pt x="2" y="300"/>
                  <a:pt x="0" y="283"/>
                  <a:pt x="0" y="266"/>
                </a:cubicBezTo>
                <a:cubicBezTo>
                  <a:pt x="0" y="249"/>
                  <a:pt x="2" y="231"/>
                  <a:pt x="5" y="214"/>
                </a:cubicBezTo>
                <a:cubicBezTo>
                  <a:pt x="8" y="197"/>
                  <a:pt x="13" y="181"/>
                  <a:pt x="20" y="165"/>
                </a:cubicBezTo>
                <a:cubicBezTo>
                  <a:pt x="27" y="149"/>
                  <a:pt x="35" y="133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3"/>
                  <a:pt x="503" y="149"/>
                  <a:pt x="510" y="165"/>
                </a:cubicBezTo>
                <a:cubicBezTo>
                  <a:pt x="517" y="181"/>
                  <a:pt x="522" y="197"/>
                  <a:pt x="525" y="214"/>
                </a:cubicBezTo>
                <a:cubicBezTo>
                  <a:pt x="528" y="231"/>
                  <a:pt x="530" y="249"/>
                  <a:pt x="530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1037880" y="2962080"/>
            <a:ext cx="360" cy="76320"/>
          </a:xfrm>
          <a:custGeom>
            <a:avLst/>
            <a:gdLst/>
            <a:ahLst/>
            <a:rect l="0" t="0" r="r" b="b"/>
            <a:pathLst>
              <a:path fill="none" w="1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1655280" y="4442760"/>
            <a:ext cx="3468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PLC state (model) via a controller layer.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6148080" y="2690640"/>
            <a:ext cx="5277240" cy="2696040"/>
          </a:xfrm>
          <a:custGeom>
            <a:avLst/>
            <a:gdLst/>
            <a:ahLst/>
            <a:rect l="0" t="0" r="r" b="b"/>
            <a:pathLst>
              <a:path w="14659" h="7489">
                <a:moveTo>
                  <a:pt x="0" y="734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7343"/>
                </a:lnTo>
                <a:cubicBezTo>
                  <a:pt x="14659" y="7353"/>
                  <a:pt x="14658" y="7362"/>
                  <a:pt x="14656" y="7372"/>
                </a:cubicBezTo>
                <a:cubicBezTo>
                  <a:pt x="14655" y="7381"/>
                  <a:pt x="14652" y="7390"/>
                  <a:pt x="14648" y="7399"/>
                </a:cubicBezTo>
                <a:cubicBezTo>
                  <a:pt x="14645" y="7408"/>
                  <a:pt x="14640" y="7416"/>
                  <a:pt x="14635" y="7424"/>
                </a:cubicBezTo>
                <a:cubicBezTo>
                  <a:pt x="14629" y="7432"/>
                  <a:pt x="14623" y="7439"/>
                  <a:pt x="14617" y="7446"/>
                </a:cubicBezTo>
                <a:cubicBezTo>
                  <a:pt x="14610" y="7453"/>
                  <a:pt x="14603" y="7459"/>
                  <a:pt x="14595" y="7464"/>
                </a:cubicBezTo>
                <a:cubicBezTo>
                  <a:pt x="14587" y="7469"/>
                  <a:pt x="14578" y="7474"/>
                  <a:pt x="14569" y="7478"/>
                </a:cubicBezTo>
                <a:cubicBezTo>
                  <a:pt x="14561" y="7481"/>
                  <a:pt x="14552" y="7484"/>
                  <a:pt x="14542" y="7486"/>
                </a:cubicBezTo>
                <a:cubicBezTo>
                  <a:pt x="14533" y="7488"/>
                  <a:pt x="14523" y="7489"/>
                  <a:pt x="14514" y="7489"/>
                </a:cubicBezTo>
                <a:lnTo>
                  <a:pt x="146" y="7489"/>
                </a:lnTo>
                <a:cubicBezTo>
                  <a:pt x="136" y="7489"/>
                  <a:pt x="127" y="7488"/>
                  <a:pt x="117" y="7486"/>
                </a:cubicBezTo>
                <a:cubicBezTo>
                  <a:pt x="108" y="7484"/>
                  <a:pt x="99" y="7481"/>
                  <a:pt x="90" y="7478"/>
                </a:cubicBezTo>
                <a:cubicBezTo>
                  <a:pt x="81" y="7474"/>
                  <a:pt x="73" y="7469"/>
                  <a:pt x="65" y="7464"/>
                </a:cubicBezTo>
                <a:cubicBezTo>
                  <a:pt x="57" y="7459"/>
                  <a:pt x="50" y="7453"/>
                  <a:pt x="43" y="7446"/>
                </a:cubicBezTo>
                <a:cubicBezTo>
                  <a:pt x="36" y="7439"/>
                  <a:pt x="30" y="7432"/>
                  <a:pt x="25" y="7424"/>
                </a:cubicBezTo>
                <a:cubicBezTo>
                  <a:pt x="20" y="7416"/>
                  <a:pt x="15" y="7408"/>
                  <a:pt x="11" y="7399"/>
                </a:cubicBezTo>
                <a:cubicBezTo>
                  <a:pt x="8" y="7390"/>
                  <a:pt x="5" y="7381"/>
                  <a:pt x="3" y="7372"/>
                </a:cubicBezTo>
                <a:cubicBezTo>
                  <a:pt x="1" y="7362"/>
                  <a:pt x="0" y="7353"/>
                  <a:pt x="0" y="7343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6148080" y="2690640"/>
            <a:ext cx="5277240" cy="2696040"/>
          </a:xfrm>
          <a:custGeom>
            <a:avLst/>
            <a:gdLst/>
            <a:ahLst/>
            <a:rect l="0" t="0" r="r" b="b"/>
            <a:pathLst>
              <a:path fill="none" w="14659" h="7489">
                <a:moveTo>
                  <a:pt x="0" y="734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7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49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7343"/>
                </a:lnTo>
                <a:cubicBezTo>
                  <a:pt x="14659" y="7353"/>
                  <a:pt x="14658" y="7362"/>
                  <a:pt x="14656" y="7372"/>
                </a:cubicBezTo>
                <a:cubicBezTo>
                  <a:pt x="14655" y="7381"/>
                  <a:pt x="14652" y="7390"/>
                  <a:pt x="14648" y="7399"/>
                </a:cubicBezTo>
                <a:cubicBezTo>
                  <a:pt x="14645" y="7408"/>
                  <a:pt x="14640" y="7416"/>
                  <a:pt x="14635" y="7424"/>
                </a:cubicBezTo>
                <a:cubicBezTo>
                  <a:pt x="14629" y="7432"/>
                  <a:pt x="14623" y="7439"/>
                  <a:pt x="14617" y="7446"/>
                </a:cubicBezTo>
                <a:cubicBezTo>
                  <a:pt x="14610" y="7453"/>
                  <a:pt x="14603" y="7459"/>
                  <a:pt x="14595" y="7464"/>
                </a:cubicBezTo>
                <a:cubicBezTo>
                  <a:pt x="14587" y="7469"/>
                  <a:pt x="14578" y="7474"/>
                  <a:pt x="14569" y="7478"/>
                </a:cubicBezTo>
                <a:cubicBezTo>
                  <a:pt x="14561" y="7481"/>
                  <a:pt x="14552" y="7484"/>
                  <a:pt x="14542" y="7486"/>
                </a:cubicBezTo>
                <a:cubicBezTo>
                  <a:pt x="14533" y="7488"/>
                  <a:pt x="14523" y="7489"/>
                  <a:pt x="14514" y="7489"/>
                </a:cubicBezTo>
                <a:lnTo>
                  <a:pt x="146" y="7489"/>
                </a:lnTo>
                <a:cubicBezTo>
                  <a:pt x="136" y="7489"/>
                  <a:pt x="127" y="7488"/>
                  <a:pt x="117" y="7486"/>
                </a:cubicBezTo>
                <a:cubicBezTo>
                  <a:pt x="108" y="7484"/>
                  <a:pt x="99" y="7481"/>
                  <a:pt x="90" y="7478"/>
                </a:cubicBezTo>
                <a:cubicBezTo>
                  <a:pt x="81" y="7474"/>
                  <a:pt x="73" y="7469"/>
                  <a:pt x="65" y="7464"/>
                </a:cubicBezTo>
                <a:cubicBezTo>
                  <a:pt x="57" y="7459"/>
                  <a:pt x="50" y="7453"/>
                  <a:pt x="43" y="7446"/>
                </a:cubicBezTo>
                <a:cubicBezTo>
                  <a:pt x="36" y="7439"/>
                  <a:pt x="30" y="7432"/>
                  <a:pt x="25" y="7424"/>
                </a:cubicBezTo>
                <a:cubicBezTo>
                  <a:pt x="20" y="7416"/>
                  <a:pt x="15" y="7408"/>
                  <a:pt x="11" y="7399"/>
                </a:cubicBezTo>
                <a:cubicBezTo>
                  <a:pt x="8" y="7390"/>
                  <a:pt x="5" y="7381"/>
                  <a:pt x="3" y="7372"/>
                </a:cubicBezTo>
                <a:cubicBezTo>
                  <a:pt x="1" y="7362"/>
                  <a:pt x="0" y="7353"/>
                  <a:pt x="0" y="7343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6486480" y="339084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5"/>
                </a:cubicBezTo>
                <a:cubicBezTo>
                  <a:pt x="15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1203120" y="2893680"/>
            <a:ext cx="2759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Model-View-Controller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6671160" y="3299760"/>
            <a:ext cx="3499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Decouple producers and consumers via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6486480" y="39909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3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6671160" y="3575880"/>
            <a:ext cx="1263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topics/events.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6671160" y="3899880"/>
            <a:ext cx="4339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Fits both software events and hardware interrupt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6857640" y="4533840"/>
            <a:ext cx="57600" cy="57240"/>
          </a:xfrm>
          <a:custGeom>
            <a:avLst/>
            <a:gdLst/>
            <a:ahLst/>
            <a:rect l="0" t="0" r="r" b="b"/>
            <a:pathLst>
              <a:path fill="none"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19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19"/>
                  <a:pt x="7" y="109"/>
                </a:cubicBezTo>
                <a:cubicBezTo>
                  <a:pt x="3" y="100"/>
                  <a:pt x="0" y="90"/>
                  <a:pt x="0" y="79"/>
                </a:cubicBezTo>
                <a:cubicBezTo>
                  <a:pt x="0" y="69"/>
                  <a:pt x="3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3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6671160" y="4166640"/>
            <a:ext cx="919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signalling.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7036920" y="4442760"/>
            <a:ext cx="3890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Example: robotics middleware broadcasting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7036920" y="4718880"/>
            <a:ext cx="4181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joint telemetry to both UI dashboards and fault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6324120" y="291420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9"/>
                </a:moveTo>
                <a:lnTo>
                  <a:pt x="312" y="27"/>
                </a:lnTo>
                <a:cubicBezTo>
                  <a:pt x="307" y="19"/>
                  <a:pt x="301" y="12"/>
                  <a:pt x="293" y="8"/>
                </a:cubicBezTo>
                <a:cubicBezTo>
                  <a:pt x="285" y="3"/>
                  <a:pt x="276" y="0"/>
                  <a:pt x="266" y="0"/>
                </a:cubicBezTo>
                <a:cubicBezTo>
                  <a:pt x="257" y="0"/>
                  <a:pt x="248" y="3"/>
                  <a:pt x="240" y="8"/>
                </a:cubicBezTo>
                <a:cubicBezTo>
                  <a:pt x="231" y="12"/>
                  <a:pt x="225" y="19"/>
                  <a:pt x="220" y="27"/>
                </a:cubicBezTo>
                <a:lnTo>
                  <a:pt x="7" y="399"/>
                </a:lnTo>
                <a:cubicBezTo>
                  <a:pt x="3" y="407"/>
                  <a:pt x="0" y="416"/>
                  <a:pt x="0" y="425"/>
                </a:cubicBezTo>
                <a:cubicBezTo>
                  <a:pt x="0" y="435"/>
                  <a:pt x="3" y="444"/>
                  <a:pt x="8" y="452"/>
                </a:cubicBezTo>
                <a:cubicBezTo>
                  <a:pt x="12" y="460"/>
                  <a:pt x="19" y="466"/>
                  <a:pt x="27" y="471"/>
                </a:cubicBezTo>
                <a:cubicBezTo>
                  <a:pt x="35" y="476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1"/>
                </a:cubicBezTo>
                <a:cubicBezTo>
                  <a:pt x="509" y="469"/>
                  <a:pt x="512" y="466"/>
                  <a:pt x="515" y="462"/>
                </a:cubicBezTo>
                <a:cubicBezTo>
                  <a:pt x="519" y="459"/>
                  <a:pt x="522" y="456"/>
                  <a:pt x="524" y="452"/>
                </a:cubicBezTo>
                <a:cubicBezTo>
                  <a:pt x="526" y="447"/>
                  <a:pt x="528" y="443"/>
                  <a:pt x="529" y="439"/>
                </a:cubicBezTo>
                <a:cubicBezTo>
                  <a:pt x="530" y="434"/>
                  <a:pt x="531" y="430"/>
                  <a:pt x="531" y="425"/>
                </a:cubicBezTo>
                <a:cubicBezTo>
                  <a:pt x="531" y="420"/>
                  <a:pt x="530" y="416"/>
                  <a:pt x="529" y="411"/>
                </a:cubicBezTo>
                <a:cubicBezTo>
                  <a:pt x="528" y="407"/>
                  <a:pt x="526" y="403"/>
                  <a:pt x="524" y="399"/>
                </a:cubicBezTo>
                <a:moveTo>
                  <a:pt x="266" y="159"/>
                </a:moveTo>
                <a:lnTo>
                  <a:pt x="266" y="266"/>
                </a:lnTo>
                <a:moveTo>
                  <a:pt x="266" y="372"/>
                </a:moveTo>
                <a:lnTo>
                  <a:pt x="267" y="372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7036920" y="4995360"/>
            <a:ext cx="888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detectors.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6584760" y="2893680"/>
            <a:ext cx="2505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Publisher-Subscriber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"/>
          <p:cNvSpPr txBox="1"/>
          <p:nvPr/>
        </p:nvSpPr>
        <p:spPr>
          <a:xfrm>
            <a:off x="762120" y="1899000"/>
            <a:ext cx="771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Eﬀective architecture aligns with stakeholder needs beyond pure functionality.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766440" y="2328840"/>
            <a:ext cx="10658880" cy="1629000"/>
          </a:xfrm>
          <a:custGeom>
            <a:avLst/>
            <a:gdLst/>
            <a:ahLst/>
            <a:rect l="0" t="0" r="r" b="b"/>
            <a:pathLst>
              <a:path w="29608" h="4525">
                <a:moveTo>
                  <a:pt x="0" y="43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379"/>
                </a:lnTo>
                <a:cubicBezTo>
                  <a:pt x="29608" y="4389"/>
                  <a:pt x="29607" y="4398"/>
                  <a:pt x="29605" y="4408"/>
                </a:cubicBezTo>
                <a:cubicBezTo>
                  <a:pt x="29604" y="4417"/>
                  <a:pt x="29601" y="4426"/>
                  <a:pt x="29597" y="4435"/>
                </a:cubicBezTo>
                <a:cubicBezTo>
                  <a:pt x="29594" y="4444"/>
                  <a:pt x="29589" y="4452"/>
                  <a:pt x="29584" y="4460"/>
                </a:cubicBezTo>
                <a:cubicBezTo>
                  <a:pt x="29578" y="4468"/>
                  <a:pt x="29572" y="4476"/>
                  <a:pt x="29566" y="4482"/>
                </a:cubicBezTo>
                <a:cubicBezTo>
                  <a:pt x="29559" y="4489"/>
                  <a:pt x="29552" y="4495"/>
                  <a:pt x="29544" y="4500"/>
                </a:cubicBezTo>
                <a:cubicBezTo>
                  <a:pt x="29536" y="4506"/>
                  <a:pt x="29527" y="4510"/>
                  <a:pt x="29518" y="4514"/>
                </a:cubicBezTo>
                <a:cubicBezTo>
                  <a:pt x="29510" y="4518"/>
                  <a:pt x="29501" y="4520"/>
                  <a:pt x="29491" y="4522"/>
                </a:cubicBezTo>
                <a:cubicBezTo>
                  <a:pt x="29482" y="4524"/>
                  <a:pt x="29472" y="4525"/>
                  <a:pt x="29463" y="4525"/>
                </a:cubicBezTo>
                <a:lnTo>
                  <a:pt x="146" y="4525"/>
                </a:lnTo>
                <a:cubicBezTo>
                  <a:pt x="136" y="4525"/>
                  <a:pt x="127" y="4524"/>
                  <a:pt x="118" y="4522"/>
                </a:cubicBezTo>
                <a:cubicBezTo>
                  <a:pt x="108" y="4520"/>
                  <a:pt x="99" y="4518"/>
                  <a:pt x="90" y="4514"/>
                </a:cubicBezTo>
                <a:cubicBezTo>
                  <a:pt x="81" y="4510"/>
                  <a:pt x="73" y="4506"/>
                  <a:pt x="65" y="4500"/>
                </a:cubicBezTo>
                <a:cubicBezTo>
                  <a:pt x="57" y="4495"/>
                  <a:pt x="50" y="4489"/>
                  <a:pt x="43" y="4482"/>
                </a:cubicBezTo>
                <a:cubicBezTo>
                  <a:pt x="36" y="4476"/>
                  <a:pt x="30" y="4468"/>
                  <a:pt x="25" y="4460"/>
                </a:cubicBezTo>
                <a:cubicBezTo>
                  <a:pt x="20" y="4452"/>
                  <a:pt x="15" y="4444"/>
                  <a:pt x="11" y="4435"/>
                </a:cubicBezTo>
                <a:cubicBezTo>
                  <a:pt x="8" y="4426"/>
                  <a:pt x="5" y="4417"/>
                  <a:pt x="3" y="4408"/>
                </a:cubicBezTo>
                <a:cubicBezTo>
                  <a:pt x="1" y="4398"/>
                  <a:pt x="0" y="4389"/>
                  <a:pt x="0" y="4379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766440" y="2328840"/>
            <a:ext cx="10658880" cy="1629000"/>
          </a:xfrm>
          <a:custGeom>
            <a:avLst/>
            <a:gdLst/>
            <a:ahLst/>
            <a:rect l="0" t="0" r="r" b="b"/>
            <a:pathLst>
              <a:path fill="none" w="29608" h="4525">
                <a:moveTo>
                  <a:pt x="0" y="437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379"/>
                </a:lnTo>
                <a:cubicBezTo>
                  <a:pt x="29608" y="4389"/>
                  <a:pt x="29607" y="4398"/>
                  <a:pt x="29605" y="4408"/>
                </a:cubicBezTo>
                <a:cubicBezTo>
                  <a:pt x="29604" y="4417"/>
                  <a:pt x="29601" y="4426"/>
                  <a:pt x="29597" y="4435"/>
                </a:cubicBezTo>
                <a:cubicBezTo>
                  <a:pt x="29594" y="4444"/>
                  <a:pt x="29589" y="4452"/>
                  <a:pt x="29584" y="4460"/>
                </a:cubicBezTo>
                <a:cubicBezTo>
                  <a:pt x="29578" y="4468"/>
                  <a:pt x="29572" y="4476"/>
                  <a:pt x="29566" y="4482"/>
                </a:cubicBezTo>
                <a:cubicBezTo>
                  <a:pt x="29559" y="4489"/>
                  <a:pt x="29552" y="4495"/>
                  <a:pt x="29544" y="4500"/>
                </a:cubicBezTo>
                <a:cubicBezTo>
                  <a:pt x="29536" y="4506"/>
                  <a:pt x="29527" y="4510"/>
                  <a:pt x="29518" y="4514"/>
                </a:cubicBezTo>
                <a:cubicBezTo>
                  <a:pt x="29510" y="4518"/>
                  <a:pt x="29501" y="4520"/>
                  <a:pt x="29491" y="4522"/>
                </a:cubicBezTo>
                <a:cubicBezTo>
                  <a:pt x="29482" y="4524"/>
                  <a:pt x="29472" y="4525"/>
                  <a:pt x="29463" y="4525"/>
                </a:cubicBezTo>
                <a:lnTo>
                  <a:pt x="146" y="4525"/>
                </a:lnTo>
                <a:cubicBezTo>
                  <a:pt x="136" y="4525"/>
                  <a:pt x="127" y="4524"/>
                  <a:pt x="118" y="4522"/>
                </a:cubicBezTo>
                <a:cubicBezTo>
                  <a:pt x="108" y="4520"/>
                  <a:pt x="99" y="4518"/>
                  <a:pt x="90" y="4514"/>
                </a:cubicBezTo>
                <a:cubicBezTo>
                  <a:pt x="81" y="4510"/>
                  <a:pt x="73" y="4506"/>
                  <a:pt x="65" y="4500"/>
                </a:cubicBezTo>
                <a:cubicBezTo>
                  <a:pt x="57" y="4495"/>
                  <a:pt x="50" y="4489"/>
                  <a:pt x="43" y="4482"/>
                </a:cubicBezTo>
                <a:cubicBezTo>
                  <a:pt x="36" y="4476"/>
                  <a:pt x="30" y="4468"/>
                  <a:pt x="25" y="4460"/>
                </a:cubicBezTo>
                <a:cubicBezTo>
                  <a:pt x="20" y="4452"/>
                  <a:pt x="15" y="4444"/>
                  <a:pt x="11" y="4435"/>
                </a:cubicBezTo>
                <a:cubicBezTo>
                  <a:pt x="8" y="4426"/>
                  <a:pt x="5" y="4417"/>
                  <a:pt x="3" y="4408"/>
                </a:cubicBezTo>
                <a:cubicBezTo>
                  <a:pt x="1" y="4398"/>
                  <a:pt x="0" y="4389"/>
                  <a:pt x="0" y="4379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1104840" y="30286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762120" y="372600"/>
            <a:ext cx="9987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Stakeholders and Requirements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1104840" y="3342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1289520" y="2937960"/>
            <a:ext cx="5882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 early: operators, maintainers, users, regulators, suppliers.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1104840" y="3666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7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1289520" y="3252240"/>
            <a:ext cx="4590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Map inﬂuence vs. interest to prioritise engagement.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942840" y="25430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8"/>
                  <a:pt x="485" y="412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2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300"/>
                  <a:pt x="0" y="283"/>
                  <a:pt x="0" y="265"/>
                </a:cubicBezTo>
                <a:cubicBezTo>
                  <a:pt x="0" y="248"/>
                  <a:pt x="2" y="231"/>
                  <a:pt x="5" y="214"/>
                </a:cubicBezTo>
                <a:cubicBezTo>
                  <a:pt x="8" y="197"/>
                  <a:pt x="13" y="180"/>
                  <a:pt x="20" y="164"/>
                </a:cubicBezTo>
                <a:cubicBezTo>
                  <a:pt x="27" y="148"/>
                  <a:pt x="35" y="133"/>
                  <a:pt x="44" y="118"/>
                </a:cubicBezTo>
                <a:cubicBezTo>
                  <a:pt x="54" y="104"/>
                  <a:pt x="65" y="91"/>
                  <a:pt x="77" y="77"/>
                </a:cubicBezTo>
                <a:cubicBezTo>
                  <a:pt x="90" y="65"/>
                  <a:pt x="103" y="54"/>
                  <a:pt x="117" y="44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4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1"/>
                  <a:pt x="476" y="104"/>
                  <a:pt x="485" y="118"/>
                </a:cubicBezTo>
                <a:cubicBezTo>
                  <a:pt x="495" y="133"/>
                  <a:pt x="503" y="148"/>
                  <a:pt x="510" y="164"/>
                </a:cubicBezTo>
                <a:cubicBezTo>
                  <a:pt x="517" y="180"/>
                  <a:pt x="522" y="197"/>
                  <a:pt x="525" y="214"/>
                </a:cubicBezTo>
                <a:cubicBezTo>
                  <a:pt x="528" y="231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1037880" y="260028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5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1289520" y="3575880"/>
            <a:ext cx="7492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Elicit both functional and non-functional needs (safety, maintainability, auditability).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766440" y="4081320"/>
            <a:ext cx="10658880" cy="1638720"/>
          </a:xfrm>
          <a:custGeom>
            <a:avLst/>
            <a:gdLst/>
            <a:ahLst/>
            <a:rect l="0" t="0" r="r" b="b"/>
            <a:pathLst>
              <a:path w="29608" h="4552">
                <a:moveTo>
                  <a:pt x="0" y="4406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4"/>
                </a:cubicBezTo>
                <a:cubicBezTo>
                  <a:pt x="29572" y="50"/>
                  <a:pt x="29578" y="58"/>
                  <a:pt x="29584" y="66"/>
                </a:cubicBezTo>
                <a:cubicBezTo>
                  <a:pt x="29589" y="74"/>
                  <a:pt x="29594" y="82"/>
                  <a:pt x="29597" y="91"/>
                </a:cubicBezTo>
                <a:cubicBezTo>
                  <a:pt x="29601" y="100"/>
                  <a:pt x="29604" y="109"/>
                  <a:pt x="29605" y="118"/>
                </a:cubicBezTo>
                <a:cubicBezTo>
                  <a:pt x="29607" y="127"/>
                  <a:pt x="29608" y="137"/>
                  <a:pt x="29608" y="146"/>
                </a:cubicBezTo>
                <a:lnTo>
                  <a:pt x="29608" y="4406"/>
                </a:lnTo>
                <a:cubicBezTo>
                  <a:pt x="29608" y="4416"/>
                  <a:pt x="29607" y="4425"/>
                  <a:pt x="29605" y="4435"/>
                </a:cubicBezTo>
                <a:cubicBezTo>
                  <a:pt x="29604" y="4444"/>
                  <a:pt x="29601" y="4453"/>
                  <a:pt x="29597" y="4462"/>
                </a:cubicBezTo>
                <a:cubicBezTo>
                  <a:pt x="29594" y="4471"/>
                  <a:pt x="29589" y="4479"/>
                  <a:pt x="29584" y="4487"/>
                </a:cubicBezTo>
                <a:cubicBezTo>
                  <a:pt x="29578" y="4495"/>
                  <a:pt x="29572" y="4502"/>
                  <a:pt x="29566" y="4509"/>
                </a:cubicBezTo>
                <a:cubicBezTo>
                  <a:pt x="29559" y="4516"/>
                  <a:pt x="29552" y="4522"/>
                  <a:pt x="29544" y="4527"/>
                </a:cubicBezTo>
                <a:cubicBezTo>
                  <a:pt x="29536" y="4533"/>
                  <a:pt x="29527" y="4537"/>
                  <a:pt x="29518" y="4541"/>
                </a:cubicBezTo>
                <a:cubicBezTo>
                  <a:pt x="29510" y="4544"/>
                  <a:pt x="29501" y="4547"/>
                  <a:pt x="29491" y="4549"/>
                </a:cubicBezTo>
                <a:cubicBezTo>
                  <a:pt x="29482" y="4551"/>
                  <a:pt x="29472" y="4552"/>
                  <a:pt x="29463" y="4552"/>
                </a:cubicBezTo>
                <a:lnTo>
                  <a:pt x="146" y="4552"/>
                </a:lnTo>
                <a:cubicBezTo>
                  <a:pt x="136" y="4552"/>
                  <a:pt x="127" y="4551"/>
                  <a:pt x="118" y="4549"/>
                </a:cubicBezTo>
                <a:cubicBezTo>
                  <a:pt x="108" y="4547"/>
                  <a:pt x="99" y="4544"/>
                  <a:pt x="90" y="4541"/>
                </a:cubicBezTo>
                <a:cubicBezTo>
                  <a:pt x="81" y="4537"/>
                  <a:pt x="73" y="4533"/>
                  <a:pt x="65" y="4527"/>
                </a:cubicBezTo>
                <a:cubicBezTo>
                  <a:pt x="57" y="4522"/>
                  <a:pt x="50" y="4516"/>
                  <a:pt x="43" y="4509"/>
                </a:cubicBezTo>
                <a:cubicBezTo>
                  <a:pt x="36" y="4502"/>
                  <a:pt x="30" y="4495"/>
                  <a:pt x="25" y="4487"/>
                </a:cubicBezTo>
                <a:cubicBezTo>
                  <a:pt x="20" y="4479"/>
                  <a:pt x="15" y="4471"/>
                  <a:pt x="11" y="4462"/>
                </a:cubicBezTo>
                <a:cubicBezTo>
                  <a:pt x="8" y="4453"/>
                  <a:pt x="5" y="4444"/>
                  <a:pt x="3" y="4435"/>
                </a:cubicBezTo>
                <a:cubicBezTo>
                  <a:pt x="1" y="4425"/>
                  <a:pt x="0" y="4416"/>
                  <a:pt x="0" y="4406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766440" y="4081320"/>
            <a:ext cx="10658880" cy="1638720"/>
          </a:xfrm>
          <a:custGeom>
            <a:avLst/>
            <a:gdLst/>
            <a:ahLst/>
            <a:rect l="0" t="0" r="r" b="b"/>
            <a:pathLst>
              <a:path fill="none" w="29608" h="4552">
                <a:moveTo>
                  <a:pt x="0" y="4406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0"/>
                  <a:pt x="43" y="44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4"/>
                </a:cubicBezTo>
                <a:cubicBezTo>
                  <a:pt x="29572" y="50"/>
                  <a:pt x="29578" y="58"/>
                  <a:pt x="29584" y="66"/>
                </a:cubicBezTo>
                <a:cubicBezTo>
                  <a:pt x="29589" y="74"/>
                  <a:pt x="29594" y="82"/>
                  <a:pt x="29597" y="91"/>
                </a:cubicBezTo>
                <a:cubicBezTo>
                  <a:pt x="29601" y="100"/>
                  <a:pt x="29604" y="109"/>
                  <a:pt x="29605" y="118"/>
                </a:cubicBezTo>
                <a:cubicBezTo>
                  <a:pt x="29607" y="127"/>
                  <a:pt x="29608" y="137"/>
                  <a:pt x="29608" y="146"/>
                </a:cubicBezTo>
                <a:lnTo>
                  <a:pt x="29608" y="4406"/>
                </a:lnTo>
                <a:cubicBezTo>
                  <a:pt x="29608" y="4416"/>
                  <a:pt x="29607" y="4425"/>
                  <a:pt x="29605" y="4435"/>
                </a:cubicBezTo>
                <a:cubicBezTo>
                  <a:pt x="29604" y="4444"/>
                  <a:pt x="29601" y="4453"/>
                  <a:pt x="29597" y="4462"/>
                </a:cubicBezTo>
                <a:cubicBezTo>
                  <a:pt x="29594" y="4471"/>
                  <a:pt x="29589" y="4479"/>
                  <a:pt x="29584" y="4487"/>
                </a:cubicBezTo>
                <a:cubicBezTo>
                  <a:pt x="29578" y="4495"/>
                  <a:pt x="29572" y="4502"/>
                  <a:pt x="29566" y="4509"/>
                </a:cubicBezTo>
                <a:cubicBezTo>
                  <a:pt x="29559" y="4516"/>
                  <a:pt x="29552" y="4522"/>
                  <a:pt x="29544" y="4527"/>
                </a:cubicBezTo>
                <a:cubicBezTo>
                  <a:pt x="29536" y="4533"/>
                  <a:pt x="29527" y="4537"/>
                  <a:pt x="29518" y="4541"/>
                </a:cubicBezTo>
                <a:cubicBezTo>
                  <a:pt x="29510" y="4544"/>
                  <a:pt x="29501" y="4547"/>
                  <a:pt x="29491" y="4549"/>
                </a:cubicBezTo>
                <a:cubicBezTo>
                  <a:pt x="29482" y="4551"/>
                  <a:pt x="29472" y="4552"/>
                  <a:pt x="29463" y="4552"/>
                </a:cubicBezTo>
                <a:lnTo>
                  <a:pt x="146" y="4552"/>
                </a:lnTo>
                <a:cubicBezTo>
                  <a:pt x="136" y="4552"/>
                  <a:pt x="127" y="4551"/>
                  <a:pt x="118" y="4549"/>
                </a:cubicBezTo>
                <a:cubicBezTo>
                  <a:pt x="108" y="4547"/>
                  <a:pt x="99" y="4544"/>
                  <a:pt x="90" y="4541"/>
                </a:cubicBezTo>
                <a:cubicBezTo>
                  <a:pt x="81" y="4537"/>
                  <a:pt x="73" y="4533"/>
                  <a:pt x="65" y="4527"/>
                </a:cubicBezTo>
                <a:cubicBezTo>
                  <a:pt x="57" y="4522"/>
                  <a:pt x="50" y="4516"/>
                  <a:pt x="43" y="4509"/>
                </a:cubicBezTo>
                <a:cubicBezTo>
                  <a:pt x="36" y="4502"/>
                  <a:pt x="30" y="4495"/>
                  <a:pt x="25" y="4487"/>
                </a:cubicBezTo>
                <a:cubicBezTo>
                  <a:pt x="20" y="4479"/>
                  <a:pt x="15" y="4471"/>
                  <a:pt x="11" y="4462"/>
                </a:cubicBezTo>
                <a:cubicBezTo>
                  <a:pt x="8" y="4453"/>
                  <a:pt x="5" y="4444"/>
                  <a:pt x="3" y="4435"/>
                </a:cubicBezTo>
                <a:cubicBezTo>
                  <a:pt x="1" y="4425"/>
                  <a:pt x="0" y="4416"/>
                  <a:pt x="0" y="4406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1104840" y="478152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1203120" y="2531520"/>
            <a:ext cx="2514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Stakeholder checklist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1104840" y="51051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1289520" y="4690440"/>
            <a:ext cx="4961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Boundary scoping: whatʼs inside vs. outside the system.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1104840" y="54194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1289520" y="5014440"/>
            <a:ext cx="5632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Visual mapping: causal loops, journey maps, stakeholder grids.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961920" y="433368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60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1289520" y="5328720"/>
            <a:ext cx="4304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Ethnography: observe real usage and workﬂows.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1203120" y="4284360"/>
            <a:ext cx="2614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Systemic inquiry tools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"/>
          <p:cNvSpPr/>
          <p:nvPr/>
        </p:nvSpPr>
        <p:spPr>
          <a:xfrm>
            <a:off x="766440" y="1842840"/>
            <a:ext cx="10658880" cy="2705400"/>
          </a:xfrm>
          <a:custGeom>
            <a:avLst/>
            <a:gdLst/>
            <a:ahLst/>
            <a:rect l="0" t="0" r="r" b="b"/>
            <a:pathLst>
              <a:path w="29608" h="7515">
                <a:moveTo>
                  <a:pt x="0" y="737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7370"/>
                </a:lnTo>
                <a:cubicBezTo>
                  <a:pt x="29608" y="7379"/>
                  <a:pt x="29607" y="7389"/>
                  <a:pt x="29605" y="7398"/>
                </a:cubicBezTo>
                <a:cubicBezTo>
                  <a:pt x="29604" y="7408"/>
                  <a:pt x="29601" y="7417"/>
                  <a:pt x="29597" y="7426"/>
                </a:cubicBezTo>
                <a:cubicBezTo>
                  <a:pt x="29594" y="7434"/>
                  <a:pt x="29589" y="7443"/>
                  <a:pt x="29584" y="7451"/>
                </a:cubicBezTo>
                <a:cubicBezTo>
                  <a:pt x="29578" y="7459"/>
                  <a:pt x="29572" y="7466"/>
                  <a:pt x="29566" y="7473"/>
                </a:cubicBezTo>
                <a:cubicBezTo>
                  <a:pt x="29559" y="7479"/>
                  <a:pt x="29552" y="7486"/>
                  <a:pt x="29544" y="7491"/>
                </a:cubicBezTo>
                <a:cubicBezTo>
                  <a:pt x="29536" y="7496"/>
                  <a:pt x="29527" y="7501"/>
                  <a:pt x="29518" y="7504"/>
                </a:cubicBezTo>
                <a:cubicBezTo>
                  <a:pt x="29510" y="7508"/>
                  <a:pt x="29501" y="7511"/>
                  <a:pt x="29491" y="7513"/>
                </a:cubicBezTo>
                <a:cubicBezTo>
                  <a:pt x="29482" y="7514"/>
                  <a:pt x="29472" y="7515"/>
                  <a:pt x="29463" y="7515"/>
                </a:cubicBezTo>
                <a:lnTo>
                  <a:pt x="146" y="7515"/>
                </a:lnTo>
                <a:cubicBezTo>
                  <a:pt x="136" y="7515"/>
                  <a:pt x="127" y="7514"/>
                  <a:pt x="118" y="7513"/>
                </a:cubicBezTo>
                <a:cubicBezTo>
                  <a:pt x="108" y="7511"/>
                  <a:pt x="99" y="7508"/>
                  <a:pt x="90" y="7504"/>
                </a:cubicBezTo>
                <a:cubicBezTo>
                  <a:pt x="81" y="7501"/>
                  <a:pt x="73" y="7496"/>
                  <a:pt x="65" y="7491"/>
                </a:cubicBezTo>
                <a:cubicBezTo>
                  <a:pt x="57" y="7486"/>
                  <a:pt x="50" y="7479"/>
                  <a:pt x="43" y="7473"/>
                </a:cubicBezTo>
                <a:cubicBezTo>
                  <a:pt x="36" y="7466"/>
                  <a:pt x="30" y="7459"/>
                  <a:pt x="25" y="7451"/>
                </a:cubicBezTo>
                <a:cubicBezTo>
                  <a:pt x="20" y="7443"/>
                  <a:pt x="15" y="7434"/>
                  <a:pt x="11" y="7426"/>
                </a:cubicBezTo>
                <a:cubicBezTo>
                  <a:pt x="8" y="7417"/>
                  <a:pt x="5" y="7408"/>
                  <a:pt x="3" y="7398"/>
                </a:cubicBezTo>
                <a:cubicBezTo>
                  <a:pt x="1" y="7389"/>
                  <a:pt x="0" y="7379"/>
                  <a:pt x="0" y="737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766440" y="1842840"/>
            <a:ext cx="10658880" cy="2705400"/>
          </a:xfrm>
          <a:custGeom>
            <a:avLst/>
            <a:gdLst/>
            <a:ahLst/>
            <a:rect l="0" t="0" r="r" b="b"/>
            <a:pathLst>
              <a:path fill="none" w="29608" h="7515">
                <a:moveTo>
                  <a:pt x="0" y="7370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7370"/>
                </a:lnTo>
                <a:cubicBezTo>
                  <a:pt x="29608" y="7379"/>
                  <a:pt x="29607" y="7389"/>
                  <a:pt x="29605" y="7398"/>
                </a:cubicBezTo>
                <a:cubicBezTo>
                  <a:pt x="29604" y="7408"/>
                  <a:pt x="29601" y="7417"/>
                  <a:pt x="29597" y="7426"/>
                </a:cubicBezTo>
                <a:cubicBezTo>
                  <a:pt x="29594" y="7434"/>
                  <a:pt x="29589" y="7443"/>
                  <a:pt x="29584" y="7451"/>
                </a:cubicBezTo>
                <a:cubicBezTo>
                  <a:pt x="29578" y="7459"/>
                  <a:pt x="29572" y="7466"/>
                  <a:pt x="29566" y="7473"/>
                </a:cubicBezTo>
                <a:cubicBezTo>
                  <a:pt x="29559" y="7479"/>
                  <a:pt x="29552" y="7486"/>
                  <a:pt x="29544" y="7491"/>
                </a:cubicBezTo>
                <a:cubicBezTo>
                  <a:pt x="29536" y="7496"/>
                  <a:pt x="29527" y="7501"/>
                  <a:pt x="29518" y="7504"/>
                </a:cubicBezTo>
                <a:cubicBezTo>
                  <a:pt x="29510" y="7508"/>
                  <a:pt x="29501" y="7511"/>
                  <a:pt x="29491" y="7513"/>
                </a:cubicBezTo>
                <a:cubicBezTo>
                  <a:pt x="29482" y="7514"/>
                  <a:pt x="29472" y="7515"/>
                  <a:pt x="29463" y="7515"/>
                </a:cubicBezTo>
                <a:lnTo>
                  <a:pt x="146" y="7515"/>
                </a:lnTo>
                <a:cubicBezTo>
                  <a:pt x="136" y="7515"/>
                  <a:pt x="127" y="7514"/>
                  <a:pt x="118" y="7513"/>
                </a:cubicBezTo>
                <a:cubicBezTo>
                  <a:pt x="108" y="7511"/>
                  <a:pt x="99" y="7508"/>
                  <a:pt x="90" y="7504"/>
                </a:cubicBezTo>
                <a:cubicBezTo>
                  <a:pt x="81" y="7501"/>
                  <a:pt x="73" y="7496"/>
                  <a:pt x="65" y="7491"/>
                </a:cubicBezTo>
                <a:cubicBezTo>
                  <a:pt x="57" y="7486"/>
                  <a:pt x="50" y="7479"/>
                  <a:pt x="43" y="7473"/>
                </a:cubicBezTo>
                <a:cubicBezTo>
                  <a:pt x="36" y="7466"/>
                  <a:pt x="30" y="7459"/>
                  <a:pt x="25" y="7451"/>
                </a:cubicBezTo>
                <a:cubicBezTo>
                  <a:pt x="20" y="7443"/>
                  <a:pt x="15" y="7434"/>
                  <a:pt x="11" y="7426"/>
                </a:cubicBezTo>
                <a:cubicBezTo>
                  <a:pt x="8" y="7417"/>
                  <a:pt x="5" y="7408"/>
                  <a:pt x="3" y="7398"/>
                </a:cubicBezTo>
                <a:cubicBezTo>
                  <a:pt x="1" y="7389"/>
                  <a:pt x="0" y="7379"/>
                  <a:pt x="0" y="7370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762120" y="1413360"/>
            <a:ext cx="5891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Architecture is a balancing act across competing objectives.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923760" y="1992240"/>
            <a:ext cx="830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graph TD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923760" y="2192400"/>
            <a:ext cx="1763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M[Modularity]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923760" y="2392560"/>
            <a:ext cx="1866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P[Performance]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923760" y="2592360"/>
            <a:ext cx="1141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C[Cost]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923760" y="2782800"/>
            <a:ext cx="43552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S((Standardisation&lt;br/&gt;vs Innovation))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923760" y="3183120"/>
            <a:ext cx="4458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M &lt;--&gt;|Modularity vs&lt;br/&gt;Performance| P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923760" y="3382920"/>
            <a:ext cx="3733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M &lt;--&gt;|Modularity vs&lt;br/&gt;Cost| C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923760" y="3583080"/>
            <a:ext cx="3836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P &lt;--&gt;|Performance vs&lt;br/&gt;Cost| C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923760" y="3783240"/>
            <a:ext cx="1141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M --- S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923760" y="3983040"/>
            <a:ext cx="1141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P --- S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923760" y="4173480"/>
            <a:ext cx="1141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C --- S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766440" y="4709880"/>
            <a:ext cx="10658880" cy="1638720"/>
          </a:xfrm>
          <a:custGeom>
            <a:avLst/>
            <a:gdLst/>
            <a:ahLst/>
            <a:rect l="0" t="0" r="r" b="b"/>
            <a:pathLst>
              <a:path w="29608" h="4552">
                <a:moveTo>
                  <a:pt x="0" y="440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406"/>
                </a:lnTo>
                <a:cubicBezTo>
                  <a:pt x="29608" y="4416"/>
                  <a:pt x="29607" y="4425"/>
                  <a:pt x="29605" y="4435"/>
                </a:cubicBezTo>
                <a:cubicBezTo>
                  <a:pt x="29604" y="4444"/>
                  <a:pt x="29601" y="4453"/>
                  <a:pt x="29597" y="4462"/>
                </a:cubicBezTo>
                <a:cubicBezTo>
                  <a:pt x="29594" y="4471"/>
                  <a:pt x="29589" y="4479"/>
                  <a:pt x="29584" y="4487"/>
                </a:cubicBezTo>
                <a:cubicBezTo>
                  <a:pt x="29578" y="4495"/>
                  <a:pt x="29572" y="4503"/>
                  <a:pt x="29566" y="4509"/>
                </a:cubicBezTo>
                <a:cubicBezTo>
                  <a:pt x="29559" y="4516"/>
                  <a:pt x="29552" y="4522"/>
                  <a:pt x="29544" y="4527"/>
                </a:cubicBezTo>
                <a:cubicBezTo>
                  <a:pt x="29536" y="4533"/>
                  <a:pt x="29527" y="4537"/>
                  <a:pt x="29518" y="4541"/>
                </a:cubicBezTo>
                <a:cubicBezTo>
                  <a:pt x="29510" y="4545"/>
                  <a:pt x="29501" y="4547"/>
                  <a:pt x="29491" y="4549"/>
                </a:cubicBezTo>
                <a:cubicBezTo>
                  <a:pt x="29482" y="4551"/>
                  <a:pt x="29472" y="4552"/>
                  <a:pt x="29463" y="4552"/>
                </a:cubicBezTo>
                <a:lnTo>
                  <a:pt x="146" y="4552"/>
                </a:lnTo>
                <a:cubicBezTo>
                  <a:pt x="136" y="4552"/>
                  <a:pt x="127" y="4551"/>
                  <a:pt x="118" y="4549"/>
                </a:cubicBezTo>
                <a:cubicBezTo>
                  <a:pt x="108" y="4547"/>
                  <a:pt x="99" y="4545"/>
                  <a:pt x="90" y="4541"/>
                </a:cubicBezTo>
                <a:cubicBezTo>
                  <a:pt x="81" y="4537"/>
                  <a:pt x="73" y="4533"/>
                  <a:pt x="65" y="4527"/>
                </a:cubicBezTo>
                <a:cubicBezTo>
                  <a:pt x="57" y="4522"/>
                  <a:pt x="50" y="4516"/>
                  <a:pt x="43" y="4509"/>
                </a:cubicBezTo>
                <a:cubicBezTo>
                  <a:pt x="36" y="4503"/>
                  <a:pt x="30" y="4495"/>
                  <a:pt x="25" y="4487"/>
                </a:cubicBezTo>
                <a:cubicBezTo>
                  <a:pt x="20" y="4479"/>
                  <a:pt x="15" y="4471"/>
                  <a:pt x="11" y="4462"/>
                </a:cubicBezTo>
                <a:cubicBezTo>
                  <a:pt x="8" y="4453"/>
                  <a:pt x="5" y="4444"/>
                  <a:pt x="3" y="4435"/>
                </a:cubicBezTo>
                <a:cubicBezTo>
                  <a:pt x="1" y="4425"/>
                  <a:pt x="0" y="4416"/>
                  <a:pt x="0" y="4406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766440" y="4709880"/>
            <a:ext cx="10658880" cy="1638720"/>
          </a:xfrm>
          <a:custGeom>
            <a:avLst/>
            <a:gdLst/>
            <a:ahLst/>
            <a:rect l="0" t="0" r="r" b="b"/>
            <a:pathLst>
              <a:path fill="none" w="29608" h="4552">
                <a:moveTo>
                  <a:pt x="0" y="440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406"/>
                </a:lnTo>
                <a:cubicBezTo>
                  <a:pt x="29608" y="4416"/>
                  <a:pt x="29607" y="4425"/>
                  <a:pt x="29605" y="4435"/>
                </a:cubicBezTo>
                <a:cubicBezTo>
                  <a:pt x="29604" y="4444"/>
                  <a:pt x="29601" y="4453"/>
                  <a:pt x="29597" y="4462"/>
                </a:cubicBezTo>
                <a:cubicBezTo>
                  <a:pt x="29594" y="4471"/>
                  <a:pt x="29589" y="4479"/>
                  <a:pt x="29584" y="4487"/>
                </a:cubicBezTo>
                <a:cubicBezTo>
                  <a:pt x="29578" y="4495"/>
                  <a:pt x="29572" y="4503"/>
                  <a:pt x="29566" y="4509"/>
                </a:cubicBezTo>
                <a:cubicBezTo>
                  <a:pt x="29559" y="4516"/>
                  <a:pt x="29552" y="4522"/>
                  <a:pt x="29544" y="4527"/>
                </a:cubicBezTo>
                <a:cubicBezTo>
                  <a:pt x="29536" y="4533"/>
                  <a:pt x="29527" y="4537"/>
                  <a:pt x="29518" y="4541"/>
                </a:cubicBezTo>
                <a:cubicBezTo>
                  <a:pt x="29510" y="4545"/>
                  <a:pt x="29501" y="4547"/>
                  <a:pt x="29491" y="4549"/>
                </a:cubicBezTo>
                <a:cubicBezTo>
                  <a:pt x="29482" y="4551"/>
                  <a:pt x="29472" y="4552"/>
                  <a:pt x="29463" y="4552"/>
                </a:cubicBezTo>
                <a:lnTo>
                  <a:pt x="146" y="4552"/>
                </a:lnTo>
                <a:cubicBezTo>
                  <a:pt x="136" y="4552"/>
                  <a:pt x="127" y="4551"/>
                  <a:pt x="118" y="4549"/>
                </a:cubicBezTo>
                <a:cubicBezTo>
                  <a:pt x="108" y="4547"/>
                  <a:pt x="99" y="4545"/>
                  <a:pt x="90" y="4541"/>
                </a:cubicBezTo>
                <a:cubicBezTo>
                  <a:pt x="81" y="4537"/>
                  <a:pt x="73" y="4533"/>
                  <a:pt x="65" y="4527"/>
                </a:cubicBezTo>
                <a:cubicBezTo>
                  <a:pt x="57" y="4522"/>
                  <a:pt x="50" y="4516"/>
                  <a:pt x="43" y="4509"/>
                </a:cubicBezTo>
                <a:cubicBezTo>
                  <a:pt x="36" y="4503"/>
                  <a:pt x="30" y="4495"/>
                  <a:pt x="25" y="4487"/>
                </a:cubicBezTo>
                <a:cubicBezTo>
                  <a:pt x="20" y="4479"/>
                  <a:pt x="15" y="4471"/>
                  <a:pt x="11" y="4462"/>
                </a:cubicBezTo>
                <a:cubicBezTo>
                  <a:pt x="8" y="4453"/>
                  <a:pt x="5" y="4444"/>
                  <a:pt x="3" y="4435"/>
                </a:cubicBezTo>
                <a:cubicBezTo>
                  <a:pt x="1" y="4425"/>
                  <a:pt x="0" y="4416"/>
                  <a:pt x="0" y="4406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1104840" y="54100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762120" y="372600"/>
            <a:ext cx="8333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Optimisation &amp; Trade-oﬀs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1104840" y="5724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1289520" y="5319000"/>
            <a:ext cx="5722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Use meta-modelling to evaluate candidate architectures quickly.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1104840" y="60483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1289520" y="5633280"/>
            <a:ext cx="5917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Apply constraint handling to enforce weight, latency, cost ceilings.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942480" y="4933800"/>
            <a:ext cx="191160" cy="171720"/>
          </a:xfrm>
          <a:custGeom>
            <a:avLst/>
            <a:gdLst/>
            <a:ahLst/>
            <a:rect l="0" t="0" r="r" b="b"/>
            <a:pathLst>
              <a:path fill="none" w="531" h="477">
                <a:moveTo>
                  <a:pt x="524" y="398"/>
                </a:moveTo>
                <a:lnTo>
                  <a:pt x="312" y="26"/>
                </a:lnTo>
                <a:cubicBezTo>
                  <a:pt x="308" y="18"/>
                  <a:pt x="301" y="12"/>
                  <a:pt x="293" y="7"/>
                </a:cubicBezTo>
                <a:cubicBezTo>
                  <a:pt x="284" y="2"/>
                  <a:pt x="275" y="0"/>
                  <a:pt x="265" y="0"/>
                </a:cubicBezTo>
                <a:cubicBezTo>
                  <a:pt x="256" y="0"/>
                  <a:pt x="247" y="2"/>
                  <a:pt x="239" y="7"/>
                </a:cubicBezTo>
                <a:cubicBezTo>
                  <a:pt x="230" y="12"/>
                  <a:pt x="224" y="18"/>
                  <a:pt x="219" y="26"/>
                </a:cubicBezTo>
                <a:lnTo>
                  <a:pt x="7" y="398"/>
                </a:lnTo>
                <a:cubicBezTo>
                  <a:pt x="3" y="406"/>
                  <a:pt x="0" y="415"/>
                  <a:pt x="0" y="424"/>
                </a:cubicBezTo>
                <a:cubicBezTo>
                  <a:pt x="0" y="434"/>
                  <a:pt x="3" y="443"/>
                  <a:pt x="8" y="451"/>
                </a:cubicBezTo>
                <a:cubicBezTo>
                  <a:pt x="12" y="459"/>
                  <a:pt x="19" y="466"/>
                  <a:pt x="27" y="470"/>
                </a:cubicBezTo>
                <a:cubicBezTo>
                  <a:pt x="35" y="475"/>
                  <a:pt x="44" y="477"/>
                  <a:pt x="54" y="477"/>
                </a:cubicBezTo>
                <a:lnTo>
                  <a:pt x="478" y="477"/>
                </a:lnTo>
                <a:cubicBezTo>
                  <a:pt x="483" y="477"/>
                  <a:pt x="487" y="477"/>
                  <a:pt x="492" y="475"/>
                </a:cubicBezTo>
                <a:cubicBezTo>
                  <a:pt x="496" y="474"/>
                  <a:pt x="501" y="472"/>
                  <a:pt x="505" y="470"/>
                </a:cubicBezTo>
                <a:cubicBezTo>
                  <a:pt x="509" y="468"/>
                  <a:pt x="512" y="465"/>
                  <a:pt x="516" y="462"/>
                </a:cubicBezTo>
                <a:cubicBezTo>
                  <a:pt x="519" y="458"/>
                  <a:pt x="522" y="455"/>
                  <a:pt x="524" y="451"/>
                </a:cubicBezTo>
                <a:cubicBezTo>
                  <a:pt x="526" y="447"/>
                  <a:pt x="528" y="442"/>
                  <a:pt x="529" y="438"/>
                </a:cubicBezTo>
                <a:cubicBezTo>
                  <a:pt x="530" y="433"/>
                  <a:pt x="531" y="429"/>
                  <a:pt x="531" y="424"/>
                </a:cubicBezTo>
                <a:cubicBezTo>
                  <a:pt x="531" y="420"/>
                  <a:pt x="530" y="415"/>
                  <a:pt x="529" y="411"/>
                </a:cubicBezTo>
                <a:cubicBezTo>
                  <a:pt x="528" y="406"/>
                  <a:pt x="526" y="402"/>
                  <a:pt x="524" y="398"/>
                </a:cubicBezTo>
                <a:moveTo>
                  <a:pt x="265" y="159"/>
                </a:moveTo>
                <a:lnTo>
                  <a:pt x="265" y="264"/>
                </a:lnTo>
                <a:moveTo>
                  <a:pt x="265" y="371"/>
                </a:moveTo>
                <a:lnTo>
                  <a:pt x="266" y="371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1289520" y="5957280"/>
            <a:ext cx="4335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Iterate with real telemetry to reﬁne assumptions.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1203120" y="4912920"/>
            <a:ext cx="2372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Optimisation tactics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762120" y="-8280"/>
            <a:ext cx="8851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Case Study: Smart Home IoT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766440" y="2100240"/>
            <a:ext cx="10658880" cy="1638360"/>
          </a:xfrm>
          <a:custGeom>
            <a:avLst/>
            <a:gdLst/>
            <a:ahLst/>
            <a:rect l="0" t="0" r="r" b="b"/>
            <a:pathLst>
              <a:path w="29608" h="4551">
                <a:moveTo>
                  <a:pt x="0" y="440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406"/>
                </a:lnTo>
                <a:cubicBezTo>
                  <a:pt x="29608" y="4415"/>
                  <a:pt x="29607" y="4425"/>
                  <a:pt x="29605" y="4434"/>
                </a:cubicBezTo>
                <a:cubicBezTo>
                  <a:pt x="29604" y="4444"/>
                  <a:pt x="29601" y="4453"/>
                  <a:pt x="29597" y="4462"/>
                </a:cubicBezTo>
                <a:cubicBezTo>
                  <a:pt x="29594" y="4470"/>
                  <a:pt x="29589" y="4479"/>
                  <a:pt x="29584" y="4487"/>
                </a:cubicBezTo>
                <a:cubicBezTo>
                  <a:pt x="29578" y="4495"/>
                  <a:pt x="29572" y="4502"/>
                  <a:pt x="29566" y="4509"/>
                </a:cubicBezTo>
                <a:cubicBezTo>
                  <a:pt x="29559" y="4516"/>
                  <a:pt x="29552" y="4522"/>
                  <a:pt x="29544" y="4527"/>
                </a:cubicBezTo>
                <a:cubicBezTo>
                  <a:pt x="29536" y="4532"/>
                  <a:pt x="29527" y="4537"/>
                  <a:pt x="29518" y="4540"/>
                </a:cubicBezTo>
                <a:cubicBezTo>
                  <a:pt x="29510" y="4544"/>
                  <a:pt x="29501" y="4547"/>
                  <a:pt x="29491" y="4549"/>
                </a:cubicBezTo>
                <a:cubicBezTo>
                  <a:pt x="29482" y="4550"/>
                  <a:pt x="29472" y="4551"/>
                  <a:pt x="29463" y="4551"/>
                </a:cubicBezTo>
                <a:lnTo>
                  <a:pt x="146" y="4551"/>
                </a:lnTo>
                <a:cubicBezTo>
                  <a:pt x="136" y="4551"/>
                  <a:pt x="127" y="4550"/>
                  <a:pt x="118" y="4549"/>
                </a:cubicBezTo>
                <a:cubicBezTo>
                  <a:pt x="108" y="4547"/>
                  <a:pt x="99" y="4544"/>
                  <a:pt x="90" y="4540"/>
                </a:cubicBezTo>
                <a:cubicBezTo>
                  <a:pt x="81" y="4537"/>
                  <a:pt x="73" y="4532"/>
                  <a:pt x="65" y="4527"/>
                </a:cubicBezTo>
                <a:cubicBezTo>
                  <a:pt x="57" y="4522"/>
                  <a:pt x="50" y="4516"/>
                  <a:pt x="43" y="4509"/>
                </a:cubicBezTo>
                <a:cubicBezTo>
                  <a:pt x="36" y="4502"/>
                  <a:pt x="30" y="4495"/>
                  <a:pt x="25" y="4487"/>
                </a:cubicBezTo>
                <a:cubicBezTo>
                  <a:pt x="20" y="4479"/>
                  <a:pt x="15" y="4470"/>
                  <a:pt x="11" y="4462"/>
                </a:cubicBezTo>
                <a:cubicBezTo>
                  <a:pt x="8" y="4453"/>
                  <a:pt x="5" y="4444"/>
                  <a:pt x="3" y="4434"/>
                </a:cubicBezTo>
                <a:cubicBezTo>
                  <a:pt x="1" y="4425"/>
                  <a:pt x="0" y="4415"/>
                  <a:pt x="0" y="4406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766440" y="2100240"/>
            <a:ext cx="10658880" cy="1638360"/>
          </a:xfrm>
          <a:custGeom>
            <a:avLst/>
            <a:gdLst/>
            <a:ahLst/>
            <a:rect l="0" t="0" r="r" b="b"/>
            <a:pathLst>
              <a:path fill="none" w="29608" h="4551">
                <a:moveTo>
                  <a:pt x="0" y="440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406"/>
                </a:lnTo>
                <a:cubicBezTo>
                  <a:pt x="29608" y="4415"/>
                  <a:pt x="29607" y="4425"/>
                  <a:pt x="29605" y="4434"/>
                </a:cubicBezTo>
                <a:cubicBezTo>
                  <a:pt x="29604" y="4444"/>
                  <a:pt x="29601" y="4453"/>
                  <a:pt x="29597" y="4462"/>
                </a:cubicBezTo>
                <a:cubicBezTo>
                  <a:pt x="29594" y="4470"/>
                  <a:pt x="29589" y="4479"/>
                  <a:pt x="29584" y="4487"/>
                </a:cubicBezTo>
                <a:cubicBezTo>
                  <a:pt x="29578" y="4495"/>
                  <a:pt x="29572" y="4502"/>
                  <a:pt x="29566" y="4509"/>
                </a:cubicBezTo>
                <a:cubicBezTo>
                  <a:pt x="29559" y="4516"/>
                  <a:pt x="29552" y="4522"/>
                  <a:pt x="29544" y="4527"/>
                </a:cubicBezTo>
                <a:cubicBezTo>
                  <a:pt x="29536" y="4532"/>
                  <a:pt x="29527" y="4537"/>
                  <a:pt x="29518" y="4540"/>
                </a:cubicBezTo>
                <a:cubicBezTo>
                  <a:pt x="29510" y="4544"/>
                  <a:pt x="29501" y="4547"/>
                  <a:pt x="29491" y="4549"/>
                </a:cubicBezTo>
                <a:cubicBezTo>
                  <a:pt x="29482" y="4550"/>
                  <a:pt x="29472" y="4551"/>
                  <a:pt x="29463" y="4551"/>
                </a:cubicBezTo>
                <a:lnTo>
                  <a:pt x="146" y="4551"/>
                </a:lnTo>
                <a:cubicBezTo>
                  <a:pt x="136" y="4551"/>
                  <a:pt x="127" y="4550"/>
                  <a:pt x="118" y="4549"/>
                </a:cubicBezTo>
                <a:cubicBezTo>
                  <a:pt x="108" y="4547"/>
                  <a:pt x="99" y="4544"/>
                  <a:pt x="90" y="4540"/>
                </a:cubicBezTo>
                <a:cubicBezTo>
                  <a:pt x="81" y="4537"/>
                  <a:pt x="73" y="4532"/>
                  <a:pt x="65" y="4527"/>
                </a:cubicBezTo>
                <a:cubicBezTo>
                  <a:pt x="57" y="4522"/>
                  <a:pt x="50" y="4516"/>
                  <a:pt x="43" y="4509"/>
                </a:cubicBezTo>
                <a:cubicBezTo>
                  <a:pt x="36" y="4502"/>
                  <a:pt x="30" y="4495"/>
                  <a:pt x="25" y="4487"/>
                </a:cubicBezTo>
                <a:cubicBezTo>
                  <a:pt x="20" y="4479"/>
                  <a:pt x="15" y="4470"/>
                  <a:pt x="11" y="4462"/>
                </a:cubicBezTo>
                <a:cubicBezTo>
                  <a:pt x="8" y="4453"/>
                  <a:pt x="5" y="4444"/>
                  <a:pt x="3" y="4434"/>
                </a:cubicBezTo>
                <a:cubicBezTo>
                  <a:pt x="1" y="4425"/>
                  <a:pt x="0" y="4415"/>
                  <a:pt x="0" y="4406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1104840" y="28000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762120" y="753480"/>
            <a:ext cx="23364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Control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1104840" y="3114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1289520" y="2709360"/>
            <a:ext cx="8238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Split the solution into user control apps, cloud orchestration, and in-home hub plus devices.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1104840" y="34383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1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1289520" y="3023640"/>
            <a:ext cx="8209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Use lightweight messaging (MQTT/WebSocket) for near-real-time commands and telemetry.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961920" y="235260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289520" y="3347280"/>
            <a:ext cx="9057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Oﬀer local fallbacks and role-based access so safety-critical devices stay controllable during outages.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766440" y="3976560"/>
            <a:ext cx="10658880" cy="1629000"/>
          </a:xfrm>
          <a:custGeom>
            <a:avLst/>
            <a:gdLst/>
            <a:ahLst/>
            <a:rect l="0" t="0" r="r" b="b"/>
            <a:pathLst>
              <a:path w="29608" h="4525">
                <a:moveTo>
                  <a:pt x="0" y="438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380"/>
                </a:lnTo>
                <a:cubicBezTo>
                  <a:pt x="29608" y="4389"/>
                  <a:pt x="29607" y="4399"/>
                  <a:pt x="29605" y="4408"/>
                </a:cubicBezTo>
                <a:cubicBezTo>
                  <a:pt x="29604" y="4417"/>
                  <a:pt x="29601" y="4427"/>
                  <a:pt x="29597" y="4435"/>
                </a:cubicBezTo>
                <a:cubicBezTo>
                  <a:pt x="29594" y="4444"/>
                  <a:pt x="29589" y="4453"/>
                  <a:pt x="29584" y="4461"/>
                </a:cubicBezTo>
                <a:cubicBezTo>
                  <a:pt x="29578" y="4468"/>
                  <a:pt x="29572" y="4476"/>
                  <a:pt x="29566" y="4483"/>
                </a:cubicBezTo>
                <a:cubicBezTo>
                  <a:pt x="29559" y="4489"/>
                  <a:pt x="29552" y="4495"/>
                  <a:pt x="29544" y="4501"/>
                </a:cubicBezTo>
                <a:cubicBezTo>
                  <a:pt x="29536" y="4506"/>
                  <a:pt x="29527" y="4510"/>
                  <a:pt x="29518" y="4514"/>
                </a:cubicBezTo>
                <a:cubicBezTo>
                  <a:pt x="29510" y="4518"/>
                  <a:pt x="29501" y="4521"/>
                  <a:pt x="29491" y="4522"/>
                </a:cubicBezTo>
                <a:cubicBezTo>
                  <a:pt x="29482" y="4524"/>
                  <a:pt x="29472" y="4525"/>
                  <a:pt x="29463" y="4525"/>
                </a:cubicBezTo>
                <a:lnTo>
                  <a:pt x="146" y="4525"/>
                </a:lnTo>
                <a:cubicBezTo>
                  <a:pt x="136" y="4525"/>
                  <a:pt x="127" y="4524"/>
                  <a:pt x="118" y="4522"/>
                </a:cubicBezTo>
                <a:cubicBezTo>
                  <a:pt x="108" y="4521"/>
                  <a:pt x="99" y="4518"/>
                  <a:pt x="90" y="4514"/>
                </a:cubicBezTo>
                <a:cubicBezTo>
                  <a:pt x="81" y="4510"/>
                  <a:pt x="73" y="4506"/>
                  <a:pt x="65" y="4501"/>
                </a:cubicBezTo>
                <a:cubicBezTo>
                  <a:pt x="57" y="4495"/>
                  <a:pt x="50" y="4489"/>
                  <a:pt x="43" y="4483"/>
                </a:cubicBezTo>
                <a:cubicBezTo>
                  <a:pt x="36" y="4476"/>
                  <a:pt x="30" y="4468"/>
                  <a:pt x="25" y="4461"/>
                </a:cubicBezTo>
                <a:cubicBezTo>
                  <a:pt x="20" y="4453"/>
                  <a:pt x="15" y="4444"/>
                  <a:pt x="11" y="4435"/>
                </a:cubicBezTo>
                <a:cubicBezTo>
                  <a:pt x="8" y="4427"/>
                  <a:pt x="5" y="4417"/>
                  <a:pt x="3" y="4408"/>
                </a:cubicBezTo>
                <a:cubicBezTo>
                  <a:pt x="1" y="4399"/>
                  <a:pt x="0" y="4389"/>
                  <a:pt x="0" y="4380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766440" y="3976560"/>
            <a:ext cx="10658880" cy="1629000"/>
          </a:xfrm>
          <a:custGeom>
            <a:avLst/>
            <a:gdLst/>
            <a:ahLst/>
            <a:rect l="0" t="0" r="r" b="b"/>
            <a:pathLst>
              <a:path fill="none" w="29608" h="4525">
                <a:moveTo>
                  <a:pt x="0" y="438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380"/>
                </a:lnTo>
                <a:cubicBezTo>
                  <a:pt x="29608" y="4389"/>
                  <a:pt x="29607" y="4399"/>
                  <a:pt x="29605" y="4408"/>
                </a:cubicBezTo>
                <a:cubicBezTo>
                  <a:pt x="29604" y="4417"/>
                  <a:pt x="29601" y="4427"/>
                  <a:pt x="29597" y="4435"/>
                </a:cubicBezTo>
                <a:cubicBezTo>
                  <a:pt x="29594" y="4444"/>
                  <a:pt x="29589" y="4453"/>
                  <a:pt x="29584" y="4461"/>
                </a:cubicBezTo>
                <a:cubicBezTo>
                  <a:pt x="29578" y="4468"/>
                  <a:pt x="29572" y="4476"/>
                  <a:pt x="29566" y="4483"/>
                </a:cubicBezTo>
                <a:cubicBezTo>
                  <a:pt x="29559" y="4489"/>
                  <a:pt x="29552" y="4495"/>
                  <a:pt x="29544" y="4501"/>
                </a:cubicBezTo>
                <a:cubicBezTo>
                  <a:pt x="29536" y="4506"/>
                  <a:pt x="29527" y="4510"/>
                  <a:pt x="29518" y="4514"/>
                </a:cubicBezTo>
                <a:cubicBezTo>
                  <a:pt x="29510" y="4518"/>
                  <a:pt x="29501" y="4521"/>
                  <a:pt x="29491" y="4522"/>
                </a:cubicBezTo>
                <a:cubicBezTo>
                  <a:pt x="29482" y="4524"/>
                  <a:pt x="29472" y="4525"/>
                  <a:pt x="29463" y="4525"/>
                </a:cubicBezTo>
                <a:lnTo>
                  <a:pt x="146" y="4525"/>
                </a:lnTo>
                <a:cubicBezTo>
                  <a:pt x="136" y="4525"/>
                  <a:pt x="127" y="4524"/>
                  <a:pt x="118" y="4522"/>
                </a:cubicBezTo>
                <a:cubicBezTo>
                  <a:pt x="108" y="4521"/>
                  <a:pt x="99" y="4518"/>
                  <a:pt x="90" y="4514"/>
                </a:cubicBezTo>
                <a:cubicBezTo>
                  <a:pt x="81" y="4510"/>
                  <a:pt x="73" y="4506"/>
                  <a:pt x="65" y="4501"/>
                </a:cubicBezTo>
                <a:cubicBezTo>
                  <a:pt x="57" y="4495"/>
                  <a:pt x="50" y="4489"/>
                  <a:pt x="43" y="4483"/>
                </a:cubicBezTo>
                <a:cubicBezTo>
                  <a:pt x="36" y="4476"/>
                  <a:pt x="30" y="4468"/>
                  <a:pt x="25" y="4461"/>
                </a:cubicBezTo>
                <a:cubicBezTo>
                  <a:pt x="20" y="4453"/>
                  <a:pt x="15" y="4444"/>
                  <a:pt x="11" y="4435"/>
                </a:cubicBezTo>
                <a:cubicBezTo>
                  <a:pt x="8" y="4427"/>
                  <a:pt x="5" y="4417"/>
                  <a:pt x="3" y="4408"/>
                </a:cubicBezTo>
                <a:cubicBezTo>
                  <a:pt x="1" y="4399"/>
                  <a:pt x="0" y="4389"/>
                  <a:pt x="0" y="4380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1104840" y="46670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1203120" y="2302920"/>
            <a:ext cx="1447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Architecture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1104840" y="499104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1289520" y="4575960"/>
            <a:ext cx="6939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Achieved sub-second command latency for 90% of lighting and HVAC actions.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1104840" y="5305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1289520" y="4899960"/>
            <a:ext cx="6202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Cut support tickets by 35% through proactive device health telemetry.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942480" y="4200120"/>
            <a:ext cx="191160" cy="172080"/>
          </a:xfrm>
          <a:custGeom>
            <a:avLst/>
            <a:gdLst/>
            <a:ahLst/>
            <a:rect l="0" t="0" r="r" b="b"/>
            <a:pathLst>
              <a:path fill="none" w="531" h="478">
                <a:moveTo>
                  <a:pt x="524" y="397"/>
                </a:moveTo>
                <a:lnTo>
                  <a:pt x="312" y="27"/>
                </a:lnTo>
                <a:cubicBezTo>
                  <a:pt x="308" y="19"/>
                  <a:pt x="301" y="12"/>
                  <a:pt x="293" y="7"/>
                </a:cubicBezTo>
                <a:cubicBezTo>
                  <a:pt x="284" y="3"/>
                  <a:pt x="275" y="0"/>
                  <a:pt x="265" y="0"/>
                </a:cubicBezTo>
                <a:cubicBezTo>
                  <a:pt x="256" y="0"/>
                  <a:pt x="247" y="3"/>
                  <a:pt x="239" y="7"/>
                </a:cubicBezTo>
                <a:cubicBezTo>
                  <a:pt x="230" y="12"/>
                  <a:pt x="224" y="19"/>
                  <a:pt x="219" y="27"/>
                </a:cubicBezTo>
                <a:lnTo>
                  <a:pt x="7" y="397"/>
                </a:lnTo>
                <a:cubicBezTo>
                  <a:pt x="3" y="406"/>
                  <a:pt x="0" y="415"/>
                  <a:pt x="0" y="424"/>
                </a:cubicBezTo>
                <a:cubicBezTo>
                  <a:pt x="0" y="434"/>
                  <a:pt x="3" y="442"/>
                  <a:pt x="8" y="451"/>
                </a:cubicBezTo>
                <a:cubicBezTo>
                  <a:pt x="12" y="459"/>
                  <a:pt x="19" y="465"/>
                  <a:pt x="27" y="470"/>
                </a:cubicBezTo>
                <a:cubicBezTo>
                  <a:pt x="35" y="476"/>
                  <a:pt x="44" y="478"/>
                  <a:pt x="54" y="478"/>
                </a:cubicBezTo>
                <a:lnTo>
                  <a:pt x="478" y="478"/>
                </a:lnTo>
                <a:cubicBezTo>
                  <a:pt x="483" y="478"/>
                  <a:pt x="487" y="477"/>
                  <a:pt x="492" y="476"/>
                </a:cubicBezTo>
                <a:cubicBezTo>
                  <a:pt x="496" y="475"/>
                  <a:pt x="501" y="473"/>
                  <a:pt x="505" y="470"/>
                </a:cubicBezTo>
                <a:cubicBezTo>
                  <a:pt x="509" y="467"/>
                  <a:pt x="512" y="465"/>
                  <a:pt x="516" y="461"/>
                </a:cubicBezTo>
                <a:cubicBezTo>
                  <a:pt x="519" y="458"/>
                  <a:pt x="522" y="454"/>
                  <a:pt x="524" y="450"/>
                </a:cubicBezTo>
                <a:cubicBezTo>
                  <a:pt x="526" y="446"/>
                  <a:pt x="528" y="442"/>
                  <a:pt x="529" y="438"/>
                </a:cubicBezTo>
                <a:cubicBezTo>
                  <a:pt x="530" y="433"/>
                  <a:pt x="531" y="429"/>
                  <a:pt x="531" y="424"/>
                </a:cubicBezTo>
                <a:cubicBezTo>
                  <a:pt x="531" y="419"/>
                  <a:pt x="530" y="415"/>
                  <a:pt x="529" y="410"/>
                </a:cubicBezTo>
                <a:cubicBezTo>
                  <a:pt x="528" y="406"/>
                  <a:pt x="526" y="402"/>
                  <a:pt x="524" y="397"/>
                </a:cubicBezTo>
                <a:moveTo>
                  <a:pt x="265" y="159"/>
                </a:moveTo>
                <a:lnTo>
                  <a:pt x="265" y="265"/>
                </a:lnTo>
                <a:moveTo>
                  <a:pt x="265" y="371"/>
                </a:moveTo>
                <a:lnTo>
                  <a:pt x="266" y="371"/>
                </a:lnTo>
              </a:path>
            </a:pathLst>
          </a:custGeom>
          <a:ln cap="rnd" w="18720">
            <a:solidFill>
              <a:srgbClr val="f08e2f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1289520" y="5214240"/>
            <a:ext cx="7769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Architecture lets partners onboard new device types via the shared digital twin schema.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1203120" y="4179600"/>
            <a:ext cx="1055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67300"/>
                </a:solidFill>
                <a:effectLst/>
                <a:uFillTx/>
                <a:latin typeface="LucidaGrande"/>
                <a:ea typeface="LucidaGrande"/>
              </a:rPr>
              <a:t>Outcome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"/>
          <p:cNvSpPr/>
          <p:nvPr/>
        </p:nvSpPr>
        <p:spPr>
          <a:xfrm>
            <a:off x="766440" y="1385640"/>
            <a:ext cx="10658880" cy="5353560"/>
          </a:xfrm>
          <a:custGeom>
            <a:avLst/>
            <a:gdLst/>
            <a:ahLst/>
            <a:rect l="0" t="0" r="r" b="b"/>
            <a:pathLst>
              <a:path w="29608" h="14871">
                <a:moveTo>
                  <a:pt x="0" y="1472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4725"/>
                </a:lnTo>
                <a:cubicBezTo>
                  <a:pt x="29608" y="14735"/>
                  <a:pt x="29607" y="14744"/>
                  <a:pt x="29605" y="14754"/>
                </a:cubicBezTo>
                <a:cubicBezTo>
                  <a:pt x="29604" y="14763"/>
                  <a:pt x="29601" y="14772"/>
                  <a:pt x="29597" y="14781"/>
                </a:cubicBezTo>
                <a:cubicBezTo>
                  <a:pt x="29594" y="14790"/>
                  <a:pt x="29589" y="14798"/>
                  <a:pt x="29584" y="14806"/>
                </a:cubicBezTo>
                <a:cubicBezTo>
                  <a:pt x="29578" y="14814"/>
                  <a:pt x="29572" y="14821"/>
                  <a:pt x="29566" y="14828"/>
                </a:cubicBezTo>
                <a:cubicBezTo>
                  <a:pt x="29559" y="14835"/>
                  <a:pt x="29552" y="14841"/>
                  <a:pt x="29544" y="14846"/>
                </a:cubicBezTo>
                <a:cubicBezTo>
                  <a:pt x="29536" y="14852"/>
                  <a:pt x="29527" y="14856"/>
                  <a:pt x="29518" y="14860"/>
                </a:cubicBezTo>
                <a:cubicBezTo>
                  <a:pt x="29510" y="14863"/>
                  <a:pt x="29501" y="14866"/>
                  <a:pt x="29491" y="14868"/>
                </a:cubicBezTo>
                <a:cubicBezTo>
                  <a:pt x="29482" y="14870"/>
                  <a:pt x="29472" y="14871"/>
                  <a:pt x="29463" y="14871"/>
                </a:cubicBezTo>
                <a:lnTo>
                  <a:pt x="146" y="14871"/>
                </a:lnTo>
                <a:cubicBezTo>
                  <a:pt x="136" y="14871"/>
                  <a:pt x="127" y="14870"/>
                  <a:pt x="118" y="14868"/>
                </a:cubicBezTo>
                <a:cubicBezTo>
                  <a:pt x="108" y="14866"/>
                  <a:pt x="99" y="14863"/>
                  <a:pt x="90" y="14860"/>
                </a:cubicBezTo>
                <a:cubicBezTo>
                  <a:pt x="81" y="14856"/>
                  <a:pt x="73" y="14852"/>
                  <a:pt x="65" y="14846"/>
                </a:cubicBezTo>
                <a:cubicBezTo>
                  <a:pt x="57" y="14841"/>
                  <a:pt x="50" y="14835"/>
                  <a:pt x="43" y="14828"/>
                </a:cubicBezTo>
                <a:cubicBezTo>
                  <a:pt x="36" y="14821"/>
                  <a:pt x="30" y="14814"/>
                  <a:pt x="25" y="14806"/>
                </a:cubicBezTo>
                <a:cubicBezTo>
                  <a:pt x="20" y="14798"/>
                  <a:pt x="15" y="14790"/>
                  <a:pt x="11" y="14781"/>
                </a:cubicBezTo>
                <a:cubicBezTo>
                  <a:pt x="8" y="14772"/>
                  <a:pt x="5" y="14763"/>
                  <a:pt x="3" y="14754"/>
                </a:cubicBezTo>
                <a:cubicBezTo>
                  <a:pt x="1" y="14744"/>
                  <a:pt x="0" y="14735"/>
                  <a:pt x="0" y="1472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766440" y="1385640"/>
            <a:ext cx="10658880" cy="5353560"/>
          </a:xfrm>
          <a:custGeom>
            <a:avLst/>
            <a:gdLst/>
            <a:ahLst/>
            <a:rect l="0" t="0" r="r" b="b"/>
            <a:pathLst>
              <a:path fill="none" w="29608" h="14871">
                <a:moveTo>
                  <a:pt x="0" y="1472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4725"/>
                </a:lnTo>
                <a:cubicBezTo>
                  <a:pt x="29608" y="14735"/>
                  <a:pt x="29607" y="14744"/>
                  <a:pt x="29605" y="14754"/>
                </a:cubicBezTo>
                <a:cubicBezTo>
                  <a:pt x="29604" y="14763"/>
                  <a:pt x="29601" y="14772"/>
                  <a:pt x="29597" y="14781"/>
                </a:cubicBezTo>
                <a:cubicBezTo>
                  <a:pt x="29594" y="14790"/>
                  <a:pt x="29589" y="14798"/>
                  <a:pt x="29584" y="14806"/>
                </a:cubicBezTo>
                <a:cubicBezTo>
                  <a:pt x="29578" y="14814"/>
                  <a:pt x="29572" y="14821"/>
                  <a:pt x="29566" y="14828"/>
                </a:cubicBezTo>
                <a:cubicBezTo>
                  <a:pt x="29559" y="14835"/>
                  <a:pt x="29552" y="14841"/>
                  <a:pt x="29544" y="14846"/>
                </a:cubicBezTo>
                <a:cubicBezTo>
                  <a:pt x="29536" y="14852"/>
                  <a:pt x="29527" y="14856"/>
                  <a:pt x="29518" y="14860"/>
                </a:cubicBezTo>
                <a:cubicBezTo>
                  <a:pt x="29510" y="14863"/>
                  <a:pt x="29501" y="14866"/>
                  <a:pt x="29491" y="14868"/>
                </a:cubicBezTo>
                <a:cubicBezTo>
                  <a:pt x="29482" y="14870"/>
                  <a:pt x="29472" y="14871"/>
                  <a:pt x="29463" y="14871"/>
                </a:cubicBezTo>
                <a:lnTo>
                  <a:pt x="146" y="14871"/>
                </a:lnTo>
                <a:cubicBezTo>
                  <a:pt x="136" y="14871"/>
                  <a:pt x="127" y="14870"/>
                  <a:pt x="118" y="14868"/>
                </a:cubicBezTo>
                <a:cubicBezTo>
                  <a:pt x="108" y="14866"/>
                  <a:pt x="99" y="14863"/>
                  <a:pt x="90" y="14860"/>
                </a:cubicBezTo>
                <a:cubicBezTo>
                  <a:pt x="81" y="14856"/>
                  <a:pt x="73" y="14852"/>
                  <a:pt x="65" y="14846"/>
                </a:cubicBezTo>
                <a:cubicBezTo>
                  <a:pt x="57" y="14841"/>
                  <a:pt x="50" y="14835"/>
                  <a:pt x="43" y="14828"/>
                </a:cubicBezTo>
                <a:cubicBezTo>
                  <a:pt x="36" y="14821"/>
                  <a:pt x="30" y="14814"/>
                  <a:pt x="25" y="14806"/>
                </a:cubicBezTo>
                <a:cubicBezTo>
                  <a:pt x="20" y="14798"/>
                  <a:pt x="15" y="14790"/>
                  <a:pt x="11" y="14781"/>
                </a:cubicBezTo>
                <a:cubicBezTo>
                  <a:pt x="8" y="14772"/>
                  <a:pt x="5" y="14763"/>
                  <a:pt x="3" y="14754"/>
                </a:cubicBezTo>
                <a:cubicBezTo>
                  <a:pt x="1" y="14744"/>
                  <a:pt x="0" y="14735"/>
                  <a:pt x="0" y="14725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923760" y="1536120"/>
            <a:ext cx="7275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graph TD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923760" y="1711080"/>
            <a:ext cx="29984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subgraph User["User Control"]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923760" y="1886040"/>
            <a:ext cx="2089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App[Mobile App]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923760" y="2061000"/>
            <a:ext cx="27259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Voice[Voice Assistant]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923760" y="2227320"/>
            <a:ext cx="6364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end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923760" y="2402280"/>
            <a:ext cx="37249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subgraph Cloud["Cloud Orchestration"]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923760" y="2577240"/>
            <a:ext cx="27259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Broker[Command Broker]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923760" y="2752200"/>
            <a:ext cx="28166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Twin[Device State Twin]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923760" y="2927160"/>
            <a:ext cx="34524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Auth["Identity &amp; Permissions"]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923760" y="3101760"/>
            <a:ext cx="6364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end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923760" y="3276720"/>
            <a:ext cx="29984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subgraph Home["Home Network"]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923760" y="3443400"/>
            <a:ext cx="2089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Hub[Secure Hub]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923760" y="3618360"/>
            <a:ext cx="32709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Lights[Lighting Controllers]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923760" y="3793320"/>
            <a:ext cx="20898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HVAC[HVAC Unit]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923760" y="3967920"/>
            <a:ext cx="227160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Locks[Door Locks]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923760" y="4142880"/>
            <a:ext cx="63648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end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923760" y="4492800"/>
            <a:ext cx="1454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App --&gt; Auth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923760" y="4659480"/>
            <a:ext cx="16358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Voice --&gt; Auth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923760" y="4834080"/>
            <a:ext cx="16358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App --&gt; Broker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923760" y="5009040"/>
            <a:ext cx="17265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Broker --&gt; Twin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923760" y="5184000"/>
            <a:ext cx="16358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Broker --&gt; Hub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923760" y="5358960"/>
            <a:ext cx="16358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Hub --&gt; Lights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923760" y="5533920"/>
            <a:ext cx="1454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Hub --&gt; HVAC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923760" y="5708880"/>
            <a:ext cx="154476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Hub --&gt; Locks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923760" y="5875200"/>
            <a:ext cx="16358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Hub --&gt; Broker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923760" y="6050160"/>
            <a:ext cx="1454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Hub --&gt; Twin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923760" y="6225120"/>
            <a:ext cx="14540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Twin --&gt; App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923760" y="6400080"/>
            <a:ext cx="16358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9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Twin --&gt; Voice</a:t>
            </a:r>
            <a:endParaRPr b="0" lang="en-US" sz="11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762120" y="-8280"/>
            <a:ext cx="83970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Smart Home IoT Control —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762120" y="753480"/>
            <a:ext cx="38602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Architecture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9" name=""/>
          <p:cNvSpPr/>
          <p:nvPr/>
        </p:nvSpPr>
        <p:spPr>
          <a:xfrm>
            <a:off x="571320" y="0"/>
            <a:ext cx="11049480" cy="6858000"/>
          </a:xfrm>
          <a:custGeom>
            <a:avLst/>
            <a:gdLst/>
            <a:ahLst/>
            <a:rect l="0" t="0" r="r" b="b"/>
            <a:pathLst>
              <a:path w="30693" h="19050">
                <a:moveTo>
                  <a:pt x="0" y="0"/>
                </a:moveTo>
                <a:lnTo>
                  <a:pt x="30693" y="0"/>
                </a:lnTo>
                <a:lnTo>
                  <a:pt x="3069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0" name="" descr=""/>
          <p:cNvPicPr/>
          <p:nvPr/>
        </p:nvPicPr>
        <p:blipFill>
          <a:blip r:embed="rId2"/>
          <a:stretch/>
        </p:blipFill>
        <p:spPr>
          <a:xfrm>
            <a:off x="5753160" y="296244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"/>
          <p:cNvSpPr/>
          <p:nvPr/>
        </p:nvSpPr>
        <p:spPr>
          <a:xfrm>
            <a:off x="971280" y="3057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971280" y="3409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1168200" y="2965680"/>
            <a:ext cx="8047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Architecture orchestrates people, processes, and technology for resilient delivery.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971280" y="3771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168200" y="3318120"/>
            <a:ext cx="892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thinking keeps interdependencies, feedback loops, and stakeholder needs visible.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971280" y="4124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1168200" y="3680280"/>
            <a:ext cx="6941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 patterns accelerate implementation while preserving ﬂexibility.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971280" y="44766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1168200" y="4032720"/>
            <a:ext cx="7830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Optimisation techniques provide evidence for trade-oﬀs under real constraints.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1168200" y="4385160"/>
            <a:ext cx="843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Modular thinking plus informed coordination unlock scalable, maintainable solutions.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255092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762120" y="372600"/>
            <a:ext cx="2922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Summary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1238400" y="6569280"/>
            <a:ext cx="152856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©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LibreOffice/25.2.5.2$MacOSX_AARCH64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