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4.jpeg" ContentType="image/jpeg"/>
  <Override PartName="/ppt/media/image2.png" ContentType="image/png"/>
  <Override PartName="/ppt/media/image3.png" ContentType="image/png"/>
  <Override PartName="/ppt/media/image5.png" ContentType="image/png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_rels/slide68.xml.rels" ContentType="application/vnd.openxmlformats-package.relationships+xml"/>
  <Override PartName="/ppt/slides/_rels/slide67.xml.rels" ContentType="application/vnd.openxmlformats-package.relationships+xml"/>
  <Override PartName="/ppt/slides/_rels/slide66.xml.rels" ContentType="application/vnd.openxmlformats-package.relationships+xml"/>
  <Override PartName="/ppt/slides/_rels/slide65.xml.rels" ContentType="application/vnd.openxmlformats-package.relationships+xml"/>
  <Override PartName="/ppt/slides/_rels/slide59.xml.rels" ContentType="application/vnd.openxmlformats-package.relationships+xml"/>
  <Override PartName="/ppt/slides/_rels/slide64.xml.rels" ContentType="application/vnd.openxmlformats-package.relationships+xml"/>
  <Override PartName="/ppt/slides/_rels/slide49.xml.rels" ContentType="application/vnd.openxmlformats-package.relationships+xml"/>
  <Override PartName="/ppt/slides/_rels/slide9.xml.rels" ContentType="application/vnd.openxmlformats-package.relationships+xml"/>
  <Override PartName="/ppt/slides/_rels/slide58.xml.rels" ContentType="application/vnd.openxmlformats-package.relationships+xml"/>
  <Override PartName="/ppt/slides/_rels/slide63.xml.rels" ContentType="application/vnd.openxmlformats-package.relationships+xml"/>
  <Override PartName="/ppt/slides/_rels/slide48.xml.rels" ContentType="application/vnd.openxmlformats-package.relationships+xml"/>
  <Override PartName="/ppt/slides/_rels/slide8.xml.rels" ContentType="application/vnd.openxmlformats-package.relationships+xml"/>
  <Override PartName="/ppt/slides/_rels/slide62.xml.rels" ContentType="application/vnd.openxmlformats-package.relationships+xml"/>
  <Override PartName="/ppt/slides/_rels/slide29.xml.rels" ContentType="application/vnd.openxmlformats-package.relationships+xml"/>
  <Override PartName="/ppt/slides/_rels/slide47.xml.rels" ContentType="application/vnd.openxmlformats-package.relationships+xml"/>
  <Override PartName="/ppt/slides/_rels/slide7.xml.rels" ContentType="application/vnd.openxmlformats-package.relationships+xml"/>
  <Override PartName="/ppt/slides/_rels/slide61.xml.rels" ContentType="application/vnd.openxmlformats-package.relationships+xml"/>
  <Override PartName="/ppt/slides/_rels/slide28.xml.rels" ContentType="application/vnd.openxmlformats-package.relationships+xml"/>
  <Override PartName="/ppt/slides/_rels/slide46.xml.rels" ContentType="application/vnd.openxmlformats-package.relationships+xml"/>
  <Override PartName="/ppt/slides/_rels/slide6.xml.rels" ContentType="application/vnd.openxmlformats-package.relationships+xml"/>
  <Override PartName="/ppt/slides/_rels/slide60.xml.rels" ContentType="application/vnd.openxmlformats-package.relationships+xml"/>
  <Override PartName="/ppt/slides/_rels/slide27.xml.rels" ContentType="application/vnd.openxmlformats-package.relationships+xml"/>
  <Override PartName="/ppt/slides/_rels/slide57.xml.rels" ContentType="application/vnd.openxmlformats-package.relationships+xml"/>
  <Override PartName="/ppt/slides/_rels/slide56.xml.rels" ContentType="application/vnd.openxmlformats-package.relationships+xml"/>
  <Override PartName="/ppt/slides/_rels/slide55.xml.rels" ContentType="application/vnd.openxmlformats-package.relationships+xml"/>
  <Override PartName="/ppt/slides/_rels/slide54.xml.rels" ContentType="application/vnd.openxmlformats-package.relationships+xml"/>
  <Override PartName="/ppt/slides/_rels/slide53.xml.rels" ContentType="application/vnd.openxmlformats-package.relationships+xml"/>
  <Override PartName="/ppt/slides/_rels/slide5.xml.rels" ContentType="application/vnd.openxmlformats-package.relationships+xml"/>
  <Override PartName="/ppt/slides/_rels/slide45.xml.rels" ContentType="application/vnd.openxmlformats-package.relationships+xml"/>
  <Override PartName="/ppt/slides/_rels/slide44.xml.rels" ContentType="application/vnd.openxmlformats-package.relationships+xml"/>
  <Override PartName="/ppt/slides/_rels/slide4.xml.rels" ContentType="application/vnd.openxmlformats-package.relationships+xml"/>
  <Override PartName="/ppt/slides/_rels/slide43.xml.rels" ContentType="application/vnd.openxmlformats-package.relationships+xml"/>
  <Override PartName="/ppt/slides/_rels/slide3.xml.rels" ContentType="application/vnd.openxmlformats-package.relationships+xml"/>
  <Override PartName="/ppt/slides/_rels/slide42.xml.rels" ContentType="application/vnd.openxmlformats-package.relationships+xml"/>
  <Override PartName="/ppt/slides/_rels/slide2.xml.rels" ContentType="application/vnd.openxmlformats-package.relationships+xml"/>
  <Override PartName="/ppt/slides/_rels/slide41.xml.rels" ContentType="application/vnd.openxmlformats-package.relationships+xml"/>
  <Override PartName="/ppt/slides/_rels/slide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26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21.xml.rels" ContentType="application/vnd.openxmlformats-package.relationships+xml"/>
  <Override PartName="/ppt/slides/_rels/slide30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20.xml.rels" ContentType="application/vnd.openxmlformats-package.relationships+xml"/>
  <Override PartName="/ppt/slides/_rels/slide34.xml.rels" ContentType="application/vnd.openxmlformats-package.relationships+xml"/>
  <Override PartName="/ppt/slides/_rels/slide52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51.xml.rels" ContentType="application/vnd.openxmlformats-package.relationships+xml"/>
  <Override PartName="/ppt/slides/_rels/slide18.xml.rels" ContentType="application/vnd.openxmlformats-package.relationships+xml"/>
  <Override PartName="/ppt/slides/_rels/slide32.xml.rels" ContentType="application/vnd.openxmlformats-package.relationships+xml"/>
  <Override PartName="/ppt/slides/_rels/slide50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31.xml.rels" ContentType="application/vnd.openxmlformats-package.relationships+xml"/>
  <Override PartName="/ppt/slides/_rels/slide16.xml.rels" ContentType="application/vnd.openxmlformats-package.relationships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27.xml" ContentType="application/vnd.openxmlformats-officedocument.presentationml.slide+xml"/>
  <Override PartName="/ppt/slides/slide60.xml" ContentType="application/vnd.openxmlformats-officedocument.presentationml.slide+xml"/>
  <Override PartName="/ppt/slides/slide46.xml" ContentType="application/vnd.openxmlformats-officedocument.presentationml.slide+xml"/>
  <Override PartName="/ppt/slides/slide28.xml" ContentType="application/vnd.openxmlformats-officedocument.presentationml.slide+xml"/>
  <Override PartName="/ppt/slides/slide61.xml" ContentType="application/vnd.openxmlformats-officedocument.presentationml.slide+xml"/>
  <Override PartName="/ppt/slides/slide47.xml" ContentType="application/vnd.openxmlformats-officedocument.presentationml.slide+xml"/>
  <Override PartName="/ppt/slides/slide29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63.xml" ContentType="application/vnd.openxmlformats-officedocument.presentationml.slide+xml"/>
  <Override PartName="/ppt/slides/slide58.xml" ContentType="application/vnd.openxmlformats-officedocument.presentationml.slide+xml"/>
  <Override PartName="/ppt/slides/slide49.xml" ContentType="application/vnd.openxmlformats-officedocument.presentationml.slide+xml"/>
  <Override PartName="/ppt/slides/slide64.xml" ContentType="application/vnd.openxmlformats-officedocument.presentationml.slide+xml"/>
  <Override PartName="/ppt/slides/slide59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316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3349440"/>
            <a:ext cx="668628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Data Colonialism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4483800"/>
            <a:ext cx="977544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Surveillance, Privacy, and Democracy in the UK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-2880" y="-2880"/>
            <a:ext cx="6101640" cy="686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6858000" y="2440080"/>
            <a:ext cx="25675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Nawfal Al Hashimy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858000" y="2965320"/>
            <a:ext cx="22640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969da"/>
                </a:solidFill>
                <a:effectLst/>
                <a:uFillTx/>
                <a:latin typeface="LucidaGrande"/>
                <a:ea typeface="LucidaGrande"/>
              </a:rPr>
              <a:t>nawfal@soton.ac.uk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858000" y="3356280"/>
            <a:ext cx="440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I'm a cybersecurity professional with over 15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858000" y="3661200"/>
            <a:ext cx="4000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years of experience in Cybersecurity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858000" y="3966120"/>
            <a:ext cx="390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Counter Terrorism. My work focuses 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858000" y="4270680"/>
            <a:ext cx="4239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secure system design and network security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858000" y="4575600"/>
            <a:ext cx="379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auditing, ensuring systems are robust,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858000" y="4880520"/>
            <a:ext cx="254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resilient, and trustworthy.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33428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33428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"/>
          <p:cNvSpPr txBox="1"/>
          <p:nvPr/>
        </p:nvSpPr>
        <p:spPr>
          <a:xfrm>
            <a:off x="4095720" y="1413360"/>
            <a:ext cx="444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lecture,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244760" y="1870560"/>
            <a:ext cx="6508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Deﬁne data colonialism and explain how it diﬀers from routine,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02160" y="2175120"/>
            <a:ext cx="2785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consensual data processing.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244760" y="2537280"/>
            <a:ext cx="653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the surveillance mechanisms operating in the UK today: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502160" y="2841840"/>
            <a:ext cx="632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ANPR, live facial recognition, commercial data brokers, and bulk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502160" y="3146760"/>
            <a:ext cx="507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collection under the Investigatory Powers Act 2016.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244760" y="3499200"/>
            <a:ext cx="6663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Evaluate real UK case studies (Clearview AI, Cambridge Analytica)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502160" y="3804120"/>
            <a:ext cx="488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against UK data protection and human rights law.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244760" y="4156560"/>
            <a:ext cx="687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Weigh the security/convenience counter-argument against the civil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502160" y="4461120"/>
            <a:ext cx="63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liberties case, using primary-source quotations from both sides.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244760" y="4823280"/>
            <a:ext cx="6469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practical, evidenced routes for challenging surveillance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502160" y="5127840"/>
            <a:ext cx="4749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overreach at individual, local, and national level.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4448160" y="1761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8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4448160" y="2295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705200" y="1610280"/>
            <a:ext cx="31467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Everyday Surveillance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448160" y="28288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705200" y="2143800"/>
            <a:ext cx="43603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The Legal Loophole That Isn't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4448160" y="33620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7"/>
                  <a:pt x="26" y="52"/>
                  <a:pt x="38" y="40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40"/>
                </a:cubicBezTo>
                <a:cubicBezTo>
                  <a:pt x="239" y="52"/>
                  <a:pt x="248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705200" y="2676960"/>
            <a:ext cx="55627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Naming the System: Data Colonialism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4448160" y="38955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705200" y="3210480"/>
            <a:ext cx="56260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Why It's Incompatible With Democracy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4448160" y="4429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199"/>
                  <a:pt x="239" y="213"/>
                  <a:pt x="226" y="225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5"/>
                </a:cubicBezTo>
                <a:cubicBezTo>
                  <a:pt x="26" y="213"/>
                  <a:pt x="16" y="199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705200" y="3744000"/>
            <a:ext cx="25725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What You Can Do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4448160" y="49622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705200" y="4277160"/>
            <a:ext cx="50932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Quotes Bank: Debate &amp; Discussion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705200" y="4810680"/>
            <a:ext cx="11095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Closing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47440" y="381960"/>
            <a:ext cx="237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Agenda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62120" y="2624040"/>
            <a:ext cx="700236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What is Privacy ?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766440" y="1385640"/>
            <a:ext cx="9515880" cy="4896360"/>
          </a:xfrm>
          <a:custGeom>
            <a:avLst/>
            <a:gdLst/>
            <a:ahLst/>
            <a:rect l="0" t="0" r="r" b="b"/>
            <a:pathLst>
              <a:path fill="none" w="26433" h="13601">
                <a:moveTo>
                  <a:pt x="0" y="0"/>
                </a:moveTo>
                <a:lnTo>
                  <a:pt x="26433" y="0"/>
                </a:lnTo>
                <a:lnTo>
                  <a:pt x="26433" y="13601"/>
                </a:lnTo>
                <a:lnTo>
                  <a:pt x="0" y="13601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26459" y="0"/>
                </a:move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601"/>
                </a:lnTo>
                <a:lnTo>
                  <a:pt x="26433" y="13601"/>
                </a:lnTo>
                <a:lnTo>
                  <a:pt x="26433" y="26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905120" y="323928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905120" y="36010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904760" y="44956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4"/>
                </a:cubicBezTo>
                <a:cubicBezTo>
                  <a:pt x="4919" y="415"/>
                  <a:pt x="4922" y="446"/>
                  <a:pt x="4922" y="477"/>
                </a:cubicBezTo>
                <a:cubicBezTo>
                  <a:pt x="4922" y="508"/>
                  <a:pt x="4919" y="539"/>
                  <a:pt x="4913" y="570"/>
                </a:cubicBezTo>
                <a:cubicBezTo>
                  <a:pt x="4907" y="601"/>
                  <a:pt x="4898" y="630"/>
                  <a:pt x="4886" y="659"/>
                </a:cubicBezTo>
                <a:cubicBezTo>
                  <a:pt x="4874" y="688"/>
                  <a:pt x="4860" y="716"/>
                  <a:pt x="4842" y="742"/>
                </a:cubicBezTo>
                <a:cubicBezTo>
                  <a:pt x="4825" y="768"/>
                  <a:pt x="4805" y="792"/>
                  <a:pt x="4783" y="814"/>
                </a:cubicBezTo>
                <a:cubicBezTo>
                  <a:pt x="4761" y="836"/>
                  <a:pt x="4737" y="856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8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905120" y="412344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752640" y="44956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4"/>
                </a:cubicBezTo>
                <a:cubicBezTo>
                  <a:pt x="2750" y="415"/>
                  <a:pt x="2753" y="446"/>
                  <a:pt x="2753" y="477"/>
                </a:cubicBezTo>
                <a:cubicBezTo>
                  <a:pt x="2753" y="508"/>
                  <a:pt x="2750" y="539"/>
                  <a:pt x="2744" y="570"/>
                </a:cubicBezTo>
                <a:cubicBezTo>
                  <a:pt x="2737" y="601"/>
                  <a:pt x="2728" y="630"/>
                  <a:pt x="2716" y="659"/>
                </a:cubicBezTo>
                <a:cubicBezTo>
                  <a:pt x="2705" y="688"/>
                  <a:pt x="2690" y="716"/>
                  <a:pt x="2672" y="742"/>
                </a:cubicBezTo>
                <a:cubicBezTo>
                  <a:pt x="2655" y="768"/>
                  <a:pt x="2635" y="792"/>
                  <a:pt x="2613" y="814"/>
                </a:cubicBezTo>
                <a:cubicBezTo>
                  <a:pt x="2591" y="836"/>
                  <a:pt x="2567" y="856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7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057400" y="45723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9439200" y="5943240"/>
            <a:ext cx="771840" cy="267120"/>
          </a:xfrm>
          <a:custGeom>
            <a:avLst/>
            <a:gdLst/>
            <a:ahLst/>
            <a:rect l="0" t="0" r="r" b="b"/>
            <a:pathLst>
              <a:path w="2144" h="742">
                <a:moveTo>
                  <a:pt x="0" y="425"/>
                </a:moveTo>
                <a:lnTo>
                  <a:pt x="0" y="319"/>
                </a:lnTo>
                <a:cubicBezTo>
                  <a:pt x="0" y="298"/>
                  <a:pt x="2" y="278"/>
                  <a:pt x="6" y="257"/>
                </a:cubicBezTo>
                <a:cubicBezTo>
                  <a:pt x="10" y="237"/>
                  <a:pt x="16" y="217"/>
                  <a:pt x="24" y="197"/>
                </a:cubicBezTo>
                <a:cubicBezTo>
                  <a:pt x="32" y="178"/>
                  <a:pt x="42" y="160"/>
                  <a:pt x="53" y="143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3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3"/>
                  <a:pt x="1888" y="7"/>
                </a:cubicBezTo>
                <a:cubicBezTo>
                  <a:pt x="1909" y="11"/>
                  <a:pt x="1929" y="17"/>
                  <a:pt x="1948" y="25"/>
                </a:cubicBezTo>
                <a:cubicBezTo>
                  <a:pt x="1967" y="33"/>
                  <a:pt x="1985" y="42"/>
                  <a:pt x="2003" y="54"/>
                </a:cubicBezTo>
                <a:cubicBezTo>
                  <a:pt x="2020" y="66"/>
                  <a:pt x="2036" y="79"/>
                  <a:pt x="2051" y="93"/>
                </a:cubicBezTo>
                <a:cubicBezTo>
                  <a:pt x="2066" y="108"/>
                  <a:pt x="2079" y="124"/>
                  <a:pt x="2090" y="143"/>
                </a:cubicBezTo>
                <a:cubicBezTo>
                  <a:pt x="2102" y="160"/>
                  <a:pt x="2112" y="178"/>
                  <a:pt x="2120" y="197"/>
                </a:cubicBezTo>
                <a:cubicBezTo>
                  <a:pt x="2128" y="217"/>
                  <a:pt x="2134" y="237"/>
                  <a:pt x="2138" y="257"/>
                </a:cubicBezTo>
                <a:cubicBezTo>
                  <a:pt x="2142" y="278"/>
                  <a:pt x="2144" y="298"/>
                  <a:pt x="2144" y="319"/>
                </a:cubicBezTo>
                <a:lnTo>
                  <a:pt x="2144" y="425"/>
                </a:lnTo>
                <a:cubicBezTo>
                  <a:pt x="2144" y="446"/>
                  <a:pt x="2142" y="466"/>
                  <a:pt x="2138" y="487"/>
                </a:cubicBezTo>
                <a:cubicBezTo>
                  <a:pt x="2134" y="507"/>
                  <a:pt x="2128" y="527"/>
                  <a:pt x="2120" y="546"/>
                </a:cubicBezTo>
                <a:cubicBezTo>
                  <a:pt x="2112" y="566"/>
                  <a:pt x="2102" y="584"/>
                  <a:pt x="2090" y="601"/>
                </a:cubicBezTo>
                <a:cubicBezTo>
                  <a:pt x="2079" y="619"/>
                  <a:pt x="2066" y="635"/>
                  <a:pt x="2051" y="649"/>
                </a:cubicBezTo>
                <a:cubicBezTo>
                  <a:pt x="2036" y="664"/>
                  <a:pt x="2020" y="677"/>
                  <a:pt x="2003" y="689"/>
                </a:cubicBezTo>
                <a:cubicBezTo>
                  <a:pt x="1985" y="700"/>
                  <a:pt x="1967" y="710"/>
                  <a:pt x="1948" y="718"/>
                </a:cubicBezTo>
                <a:cubicBezTo>
                  <a:pt x="1929" y="726"/>
                  <a:pt x="1909" y="732"/>
                  <a:pt x="1888" y="736"/>
                </a:cubicBezTo>
                <a:cubicBezTo>
                  <a:pt x="1868" y="740"/>
                  <a:pt x="1847" y="742"/>
                  <a:pt x="1826" y="742"/>
                </a:cubicBezTo>
                <a:lnTo>
                  <a:pt x="317" y="742"/>
                </a:lnTo>
                <a:cubicBezTo>
                  <a:pt x="296" y="742"/>
                  <a:pt x="276" y="740"/>
                  <a:pt x="255" y="736"/>
                </a:cubicBezTo>
                <a:cubicBezTo>
                  <a:pt x="235" y="732"/>
                  <a:pt x="215" y="726"/>
                  <a:pt x="196" y="718"/>
                </a:cubicBezTo>
                <a:cubicBezTo>
                  <a:pt x="176" y="710"/>
                  <a:pt x="158" y="700"/>
                  <a:pt x="141" y="689"/>
                </a:cubicBezTo>
                <a:cubicBezTo>
                  <a:pt x="123" y="677"/>
                  <a:pt x="107" y="664"/>
                  <a:pt x="93" y="649"/>
                </a:cubicBezTo>
                <a:cubicBezTo>
                  <a:pt x="78" y="635"/>
                  <a:pt x="65" y="619"/>
                  <a:pt x="53" y="601"/>
                </a:cubicBezTo>
                <a:cubicBezTo>
                  <a:pt x="42" y="584"/>
                  <a:pt x="32" y="566"/>
                  <a:pt x="24" y="546"/>
                </a:cubicBezTo>
                <a:cubicBezTo>
                  <a:pt x="16" y="527"/>
                  <a:pt x="10" y="507"/>
                  <a:pt x="6" y="487"/>
                </a:cubicBezTo>
                <a:cubicBezTo>
                  <a:pt x="2" y="466"/>
                  <a:pt x="0" y="446"/>
                  <a:pt x="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908880" y="45723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552240" y="598212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76240" y="2378880"/>
            <a:ext cx="15019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Privacy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76240" y="3274560"/>
            <a:ext cx="965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The state or condition of being free from being observed or disturbed by other people.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76240" y="3798360"/>
            <a:ext cx="1045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Not about having something to hide — about limiting what makes you exploitable: ﬁnancially,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76240" y="4160520"/>
            <a:ext cx="3209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socially, and psychologically.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35252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35252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9448920" y="25146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847440" y="182268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2"/>
                  <a:pt x="0" y="875"/>
                </a:cubicBezTo>
                <a:cubicBezTo>
                  <a:pt x="0" y="1148"/>
                  <a:pt x="161" y="1392"/>
                  <a:pt x="413" y="1552"/>
                </a:cubicBezTo>
                <a:cubicBezTo>
                  <a:pt x="380" y="1696"/>
                  <a:pt x="304" y="1910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0"/>
                  <a:pt x="1033" y="1750"/>
                  <a:pt x="1126" y="1750"/>
                </a:cubicBezTo>
                <a:cubicBezTo>
                  <a:pt x="1747" y="1750"/>
                  <a:pt x="2250" y="1358"/>
                  <a:pt x="2250" y="875"/>
                </a:cubicBezTo>
                <a:cubicBezTo>
                  <a:pt x="2250" y="392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20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4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7" y="215"/>
                </a:cubicBezTo>
                <a:cubicBezTo>
                  <a:pt x="26" y="203"/>
                  <a:pt x="17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7" y="63"/>
                  <a:pt x="26" y="50"/>
                  <a:pt x="37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387440" y="2092320"/>
            <a:ext cx="90000" cy="90360"/>
          </a:xfrm>
          <a:custGeom>
            <a:avLst/>
            <a:gdLst/>
            <a:ahLst/>
            <a:rect l="0" t="0" r="r" b="b"/>
            <a:pathLst>
              <a:path w="250" h="251">
                <a:moveTo>
                  <a:pt x="250" y="126"/>
                </a:moveTo>
                <a:cubicBezTo>
                  <a:pt x="250" y="143"/>
                  <a:pt x="247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3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2" y="235"/>
                  <a:pt x="49" y="226"/>
                  <a:pt x="37" y="215"/>
                </a:cubicBezTo>
                <a:cubicBezTo>
                  <a:pt x="25" y="203"/>
                  <a:pt x="16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6" y="63"/>
                  <a:pt x="25" y="50"/>
                  <a:pt x="37" y="37"/>
                </a:cubicBezTo>
                <a:cubicBezTo>
                  <a:pt x="49" y="25"/>
                  <a:pt x="62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7" y="94"/>
                  <a:pt x="250" y="110"/>
                  <a:pt x="250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02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3" y="226"/>
                  <a:pt x="189" y="235"/>
                  <a:pt x="174" y="242"/>
                </a:cubicBezTo>
                <a:cubicBezTo>
                  <a:pt x="159" y="248"/>
                  <a:pt x="143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8" y="215"/>
                </a:cubicBezTo>
                <a:cubicBezTo>
                  <a:pt x="26" y="203"/>
                  <a:pt x="17" y="189"/>
                  <a:pt x="11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1" y="78"/>
                </a:cubicBezTo>
                <a:cubicBezTo>
                  <a:pt x="17" y="63"/>
                  <a:pt x="26" y="50"/>
                  <a:pt x="38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10"/>
                </a:cubicBezTo>
                <a:cubicBezTo>
                  <a:pt x="189" y="16"/>
                  <a:pt x="203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696680" y="1738080"/>
            <a:ext cx="40820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62120" y="2757240"/>
            <a:ext cx="18169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62120" y="4432680"/>
            <a:ext cx="503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When is it morally acceptable to breach privacy?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762120" y="519516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1:57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994400" y="549000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46464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228680" y="9360"/>
            <a:ext cx="9734760" cy="6839280"/>
          </a:xfrm>
          <a:custGeom>
            <a:avLst/>
            <a:gdLst/>
            <a:ahLst/>
            <a:rect l="0" t="0" r="r" b="b"/>
            <a:pathLst>
              <a:path w="27041" h="18998">
                <a:moveTo>
                  <a:pt x="0" y="0"/>
                </a:moveTo>
                <a:lnTo>
                  <a:pt x="27041" y="0"/>
                </a:lnTo>
                <a:lnTo>
                  <a:pt x="27041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9360" y="9360"/>
            <a:ext cx="12173400" cy="6839280"/>
          </a:xfrm>
          <a:custGeom>
            <a:avLst/>
            <a:gdLst/>
            <a:ahLst/>
            <a:rect l="0" t="0" r="r" b="b"/>
            <a:pathLst>
              <a:path w="33815" h="18998">
                <a:moveTo>
                  <a:pt x="0" y="0"/>
                </a:moveTo>
                <a:lnTo>
                  <a:pt x="33815" y="0"/>
                </a:lnTo>
                <a:lnTo>
                  <a:pt x="33815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9360" y="9360"/>
            <a:ext cx="12173400" cy="6839280"/>
          </a:xfrm>
          <a:custGeom>
            <a:avLst/>
            <a:gdLst/>
            <a:ahLst/>
            <a:rect l="0" t="0" r="r" b="b"/>
            <a:pathLst>
              <a:path w="33815" h="18998">
                <a:moveTo>
                  <a:pt x="0" y="0"/>
                </a:moveTo>
                <a:lnTo>
                  <a:pt x="33815" y="0"/>
                </a:lnTo>
                <a:lnTo>
                  <a:pt x="33815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971960" y="3209760"/>
            <a:ext cx="2248200" cy="438480"/>
          </a:xfrm>
          <a:custGeom>
            <a:avLst/>
            <a:gdLst/>
            <a:ahLst/>
            <a:rect l="0" t="0" r="r" b="b"/>
            <a:pathLst>
              <a:path w="6245" h="1218">
                <a:moveTo>
                  <a:pt x="23" y="23"/>
                </a:moveTo>
                <a:cubicBezTo>
                  <a:pt x="38" y="8"/>
                  <a:pt x="57" y="0"/>
                  <a:pt x="79" y="0"/>
                </a:cubicBezTo>
                <a:lnTo>
                  <a:pt x="6166" y="0"/>
                </a:lnTo>
                <a:cubicBezTo>
                  <a:pt x="6187" y="0"/>
                  <a:pt x="6206" y="8"/>
                  <a:pt x="6222" y="23"/>
                </a:cubicBezTo>
                <a:cubicBezTo>
                  <a:pt x="6237" y="39"/>
                  <a:pt x="6245" y="57"/>
                  <a:pt x="6245" y="79"/>
                </a:cubicBezTo>
                <a:lnTo>
                  <a:pt x="6245" y="1139"/>
                </a:lnTo>
                <a:cubicBezTo>
                  <a:pt x="6245" y="1161"/>
                  <a:pt x="6237" y="1179"/>
                  <a:pt x="6222" y="1195"/>
                </a:cubicBezTo>
                <a:cubicBezTo>
                  <a:pt x="6206" y="1210"/>
                  <a:pt x="6187" y="1218"/>
                  <a:pt x="6166" y="1218"/>
                </a:cubicBezTo>
                <a:lnTo>
                  <a:pt x="79" y="1218"/>
                </a:lnTo>
                <a:cubicBezTo>
                  <a:pt x="57" y="1218"/>
                  <a:pt x="38" y="1210"/>
                  <a:pt x="23" y="1195"/>
                </a:cubicBezTo>
                <a:cubicBezTo>
                  <a:pt x="7" y="1179"/>
                  <a:pt x="0" y="1161"/>
                  <a:pt x="0" y="1139"/>
                </a:cubicBezTo>
                <a:lnTo>
                  <a:pt x="0" y="79"/>
                </a:lnTo>
                <a:cubicBezTo>
                  <a:pt x="0" y="57"/>
                  <a:pt x="7" y="39"/>
                  <a:pt x="2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4971960" y="3209760"/>
            <a:ext cx="2248200" cy="438480"/>
          </a:xfrm>
          <a:custGeom>
            <a:avLst/>
            <a:gdLst/>
            <a:ahLst/>
            <a:rect l="0" t="0" r="r" b="b"/>
            <a:pathLst>
              <a:path w="6245" h="1218">
                <a:moveTo>
                  <a:pt x="0" y="1139"/>
                </a:moveTo>
                <a:lnTo>
                  <a:pt x="0" y="79"/>
                </a:lnTo>
                <a:cubicBezTo>
                  <a:pt x="0" y="57"/>
                  <a:pt x="7" y="39"/>
                  <a:pt x="23" y="23"/>
                </a:cubicBezTo>
                <a:cubicBezTo>
                  <a:pt x="38" y="8"/>
                  <a:pt x="57" y="0"/>
                  <a:pt x="79" y="0"/>
                </a:cubicBezTo>
                <a:lnTo>
                  <a:pt x="6166" y="0"/>
                </a:lnTo>
                <a:cubicBezTo>
                  <a:pt x="6187" y="0"/>
                  <a:pt x="6206" y="8"/>
                  <a:pt x="6222" y="23"/>
                </a:cubicBezTo>
                <a:cubicBezTo>
                  <a:pt x="6237" y="39"/>
                  <a:pt x="6245" y="57"/>
                  <a:pt x="6245" y="79"/>
                </a:cubicBezTo>
                <a:lnTo>
                  <a:pt x="6245" y="1139"/>
                </a:lnTo>
                <a:cubicBezTo>
                  <a:pt x="6245" y="1161"/>
                  <a:pt x="6237" y="1179"/>
                  <a:pt x="6222" y="1195"/>
                </a:cubicBezTo>
                <a:cubicBezTo>
                  <a:pt x="6206" y="1210"/>
                  <a:pt x="6187" y="1218"/>
                  <a:pt x="6166" y="1218"/>
                </a:cubicBezTo>
                <a:lnTo>
                  <a:pt x="79" y="1218"/>
                </a:lnTo>
                <a:cubicBezTo>
                  <a:pt x="57" y="1218"/>
                  <a:pt x="38" y="1210"/>
                  <a:pt x="23" y="1195"/>
                </a:cubicBezTo>
                <a:cubicBezTo>
                  <a:pt x="7" y="1179"/>
                  <a:pt x="0" y="1161"/>
                  <a:pt x="0" y="1139"/>
                </a:cubicBezTo>
                <a:moveTo>
                  <a:pt x="26" y="79"/>
                </a:moveTo>
                <a:lnTo>
                  <a:pt x="26" y="1139"/>
                </a:lnTo>
                <a:cubicBezTo>
                  <a:pt x="26" y="1146"/>
                  <a:pt x="28" y="1152"/>
                  <a:pt x="30" y="1159"/>
                </a:cubicBezTo>
                <a:cubicBezTo>
                  <a:pt x="33" y="1165"/>
                  <a:pt x="37" y="1171"/>
                  <a:pt x="42" y="1176"/>
                </a:cubicBezTo>
                <a:cubicBezTo>
                  <a:pt x="47" y="1181"/>
                  <a:pt x="52" y="1185"/>
                  <a:pt x="59" y="1188"/>
                </a:cubicBezTo>
                <a:cubicBezTo>
                  <a:pt x="65" y="1190"/>
                  <a:pt x="72" y="1192"/>
                  <a:pt x="79" y="1192"/>
                </a:cubicBezTo>
                <a:lnTo>
                  <a:pt x="6166" y="1192"/>
                </a:lnTo>
                <a:cubicBezTo>
                  <a:pt x="6173" y="1192"/>
                  <a:pt x="6179" y="1190"/>
                  <a:pt x="6186" y="1188"/>
                </a:cubicBezTo>
                <a:cubicBezTo>
                  <a:pt x="6192" y="1185"/>
                  <a:pt x="6198" y="1181"/>
                  <a:pt x="6203" y="1176"/>
                </a:cubicBezTo>
                <a:cubicBezTo>
                  <a:pt x="6208" y="1171"/>
                  <a:pt x="6212" y="1165"/>
                  <a:pt x="6214" y="1159"/>
                </a:cubicBezTo>
                <a:cubicBezTo>
                  <a:pt x="6217" y="1152"/>
                  <a:pt x="6218" y="1146"/>
                  <a:pt x="6218" y="1139"/>
                </a:cubicBezTo>
                <a:lnTo>
                  <a:pt x="6218" y="79"/>
                </a:lnTo>
                <a:cubicBezTo>
                  <a:pt x="6218" y="72"/>
                  <a:pt x="6217" y="66"/>
                  <a:pt x="6214" y="59"/>
                </a:cubicBezTo>
                <a:cubicBezTo>
                  <a:pt x="6212" y="53"/>
                  <a:pt x="6208" y="47"/>
                  <a:pt x="6203" y="42"/>
                </a:cubicBezTo>
                <a:cubicBezTo>
                  <a:pt x="6198" y="37"/>
                  <a:pt x="6192" y="33"/>
                  <a:pt x="6186" y="30"/>
                </a:cubicBezTo>
                <a:cubicBezTo>
                  <a:pt x="6179" y="28"/>
                  <a:pt x="6173" y="26"/>
                  <a:pt x="6166" y="26"/>
                </a:cubicBezTo>
                <a:lnTo>
                  <a:pt x="79" y="26"/>
                </a:lnTo>
                <a:cubicBezTo>
                  <a:pt x="72" y="26"/>
                  <a:pt x="65" y="28"/>
                  <a:pt x="59" y="30"/>
                </a:cubicBezTo>
                <a:cubicBezTo>
                  <a:pt x="52" y="33"/>
                  <a:pt x="47" y="37"/>
                  <a:pt x="42" y="42"/>
                </a:cubicBezTo>
                <a:cubicBezTo>
                  <a:pt x="37" y="47"/>
                  <a:pt x="33" y="53"/>
                  <a:pt x="30" y="59"/>
                </a:cubicBezTo>
                <a:cubicBezTo>
                  <a:pt x="28" y="66"/>
                  <a:pt x="26" y="72"/>
                  <a:pt x="26" y="79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091840" y="3349800"/>
            <a:ext cx="20084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Arial"/>
                <a:ea typeface="Arial"/>
              </a:rPr>
              <a:t>Click to sign in and play video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766440" y="3328920"/>
            <a:ext cx="10658880" cy="1047960"/>
          </a:xfrm>
          <a:custGeom>
            <a:avLst/>
            <a:gdLst/>
            <a:ahLst/>
            <a:rect l="0" t="0" r="r" b="b"/>
            <a:pathLst>
              <a:path w="29608" h="2911">
                <a:moveTo>
                  <a:pt x="0" y="276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766"/>
                </a:lnTo>
                <a:cubicBezTo>
                  <a:pt x="29608" y="2775"/>
                  <a:pt x="29607" y="2785"/>
                  <a:pt x="29605" y="2794"/>
                </a:cubicBezTo>
                <a:cubicBezTo>
                  <a:pt x="29604" y="2803"/>
                  <a:pt x="29601" y="2812"/>
                  <a:pt x="29597" y="2821"/>
                </a:cubicBezTo>
                <a:cubicBezTo>
                  <a:pt x="29594" y="2830"/>
                  <a:pt x="29589" y="2838"/>
                  <a:pt x="29584" y="2846"/>
                </a:cubicBezTo>
                <a:cubicBezTo>
                  <a:pt x="29578" y="2854"/>
                  <a:pt x="29572" y="2862"/>
                  <a:pt x="29566" y="2868"/>
                </a:cubicBezTo>
                <a:cubicBezTo>
                  <a:pt x="29559" y="2875"/>
                  <a:pt x="29552" y="2881"/>
                  <a:pt x="29544" y="2887"/>
                </a:cubicBezTo>
                <a:cubicBezTo>
                  <a:pt x="29536" y="2892"/>
                  <a:pt x="29527" y="2896"/>
                  <a:pt x="29518" y="2900"/>
                </a:cubicBezTo>
                <a:cubicBezTo>
                  <a:pt x="29510" y="2904"/>
                  <a:pt x="29501" y="2906"/>
                  <a:pt x="29491" y="2908"/>
                </a:cubicBezTo>
                <a:cubicBezTo>
                  <a:pt x="29482" y="2910"/>
                  <a:pt x="29472" y="2911"/>
                  <a:pt x="29463" y="2911"/>
                </a:cubicBezTo>
                <a:lnTo>
                  <a:pt x="146" y="2911"/>
                </a:lnTo>
                <a:cubicBezTo>
                  <a:pt x="136" y="2911"/>
                  <a:pt x="127" y="2910"/>
                  <a:pt x="118" y="2908"/>
                </a:cubicBezTo>
                <a:cubicBezTo>
                  <a:pt x="108" y="2906"/>
                  <a:pt x="99" y="2904"/>
                  <a:pt x="90" y="2900"/>
                </a:cubicBezTo>
                <a:cubicBezTo>
                  <a:pt x="81" y="2896"/>
                  <a:pt x="73" y="2892"/>
                  <a:pt x="65" y="2887"/>
                </a:cubicBezTo>
                <a:cubicBezTo>
                  <a:pt x="57" y="2881"/>
                  <a:pt x="50" y="2875"/>
                  <a:pt x="43" y="2868"/>
                </a:cubicBezTo>
                <a:cubicBezTo>
                  <a:pt x="36" y="2862"/>
                  <a:pt x="30" y="2854"/>
                  <a:pt x="25" y="2846"/>
                </a:cubicBezTo>
                <a:cubicBezTo>
                  <a:pt x="20" y="2838"/>
                  <a:pt x="15" y="2830"/>
                  <a:pt x="11" y="2821"/>
                </a:cubicBezTo>
                <a:cubicBezTo>
                  <a:pt x="8" y="2812"/>
                  <a:pt x="5" y="2803"/>
                  <a:pt x="3" y="2794"/>
                </a:cubicBezTo>
                <a:cubicBezTo>
                  <a:pt x="1" y="2785"/>
                  <a:pt x="0" y="2775"/>
                  <a:pt x="0" y="2766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766440" y="3328920"/>
            <a:ext cx="10658880" cy="1047960"/>
          </a:xfrm>
          <a:custGeom>
            <a:avLst/>
            <a:gdLst/>
            <a:ahLst/>
            <a:rect l="0" t="0" r="r" b="b"/>
            <a:pathLst>
              <a:path fill="none" w="29608" h="2911">
                <a:moveTo>
                  <a:pt x="0" y="276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766"/>
                </a:lnTo>
                <a:cubicBezTo>
                  <a:pt x="29608" y="2775"/>
                  <a:pt x="29607" y="2785"/>
                  <a:pt x="29605" y="2794"/>
                </a:cubicBezTo>
                <a:cubicBezTo>
                  <a:pt x="29604" y="2803"/>
                  <a:pt x="29601" y="2812"/>
                  <a:pt x="29597" y="2821"/>
                </a:cubicBezTo>
                <a:cubicBezTo>
                  <a:pt x="29594" y="2830"/>
                  <a:pt x="29589" y="2838"/>
                  <a:pt x="29584" y="2846"/>
                </a:cubicBezTo>
                <a:cubicBezTo>
                  <a:pt x="29578" y="2854"/>
                  <a:pt x="29572" y="2862"/>
                  <a:pt x="29566" y="2868"/>
                </a:cubicBezTo>
                <a:cubicBezTo>
                  <a:pt x="29559" y="2875"/>
                  <a:pt x="29552" y="2881"/>
                  <a:pt x="29544" y="2887"/>
                </a:cubicBezTo>
                <a:cubicBezTo>
                  <a:pt x="29536" y="2892"/>
                  <a:pt x="29527" y="2896"/>
                  <a:pt x="29518" y="2900"/>
                </a:cubicBezTo>
                <a:cubicBezTo>
                  <a:pt x="29510" y="2904"/>
                  <a:pt x="29501" y="2906"/>
                  <a:pt x="29491" y="2908"/>
                </a:cubicBezTo>
                <a:cubicBezTo>
                  <a:pt x="29482" y="2910"/>
                  <a:pt x="29472" y="2911"/>
                  <a:pt x="29463" y="2911"/>
                </a:cubicBezTo>
                <a:lnTo>
                  <a:pt x="146" y="2911"/>
                </a:lnTo>
                <a:cubicBezTo>
                  <a:pt x="136" y="2911"/>
                  <a:pt x="127" y="2910"/>
                  <a:pt x="118" y="2908"/>
                </a:cubicBezTo>
                <a:cubicBezTo>
                  <a:pt x="108" y="2906"/>
                  <a:pt x="99" y="2904"/>
                  <a:pt x="90" y="2900"/>
                </a:cubicBezTo>
                <a:cubicBezTo>
                  <a:pt x="81" y="2896"/>
                  <a:pt x="73" y="2892"/>
                  <a:pt x="65" y="2887"/>
                </a:cubicBezTo>
                <a:cubicBezTo>
                  <a:pt x="57" y="2881"/>
                  <a:pt x="50" y="2875"/>
                  <a:pt x="43" y="2868"/>
                </a:cubicBezTo>
                <a:cubicBezTo>
                  <a:pt x="36" y="2862"/>
                  <a:pt x="30" y="2854"/>
                  <a:pt x="25" y="2846"/>
                </a:cubicBezTo>
                <a:cubicBezTo>
                  <a:pt x="20" y="2838"/>
                  <a:pt x="15" y="2830"/>
                  <a:pt x="11" y="2821"/>
                </a:cubicBezTo>
                <a:cubicBezTo>
                  <a:pt x="8" y="2812"/>
                  <a:pt x="5" y="2803"/>
                  <a:pt x="3" y="2794"/>
                </a:cubicBezTo>
                <a:cubicBezTo>
                  <a:pt x="1" y="2785"/>
                  <a:pt x="0" y="2775"/>
                  <a:pt x="0" y="2766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62120" y="372600"/>
            <a:ext cx="8676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 Minutes vs. Milliseconds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923760" y="3432960"/>
            <a:ext cx="10208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Starting from one name, it took 12 minutes to ﬁnd a stranger's photo, hometown, school, address, phone number,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23760" y="3709440"/>
            <a:ext cx="10082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date of birth — the same handful of facts many banks still use to verify a caller's identity. An AI system could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923760" y="3985560"/>
            <a:ext cx="364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compile the same proﬁle in milliseconds.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"/>
          <p:cNvSpPr/>
          <p:nvPr/>
        </p:nvSpPr>
        <p:spPr>
          <a:xfrm>
            <a:off x="971280" y="2628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3"/>
                  <a:pt x="57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8"/>
                </a:cubicBezTo>
                <a:cubicBezTo>
                  <a:pt x="140" y="13"/>
                  <a:pt x="150" y="19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168200" y="2537280"/>
            <a:ext cx="10220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Currency: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your data isn't trivia to advertisers and brokers — it's revenue, even for companies that claim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971280" y="3286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168200" y="2841840"/>
            <a:ext cx="1402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not to "sell" it.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168200" y="3194280"/>
            <a:ext cx="999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Weaponisable patterns: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travel routines, family details, and spending habits can be used against you,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971280" y="3943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68200" y="3499200"/>
            <a:ext cx="250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not just marketed to you.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168200" y="3851640"/>
            <a:ext cx="10235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Narrative control: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losing privacy means losing some control over your own decisions — nudged toward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971280" y="4600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168200" y="4156560"/>
            <a:ext cx="656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choices that serve someone else's interest, too gradually to notice.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168200" y="4509000"/>
            <a:ext cx="974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Freedom: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 privacy, choices are made on your own terms; without it, every choice is monitored,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68200" y="4813560"/>
            <a:ext cx="332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judged, and potentially exploited.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62120" y="372600"/>
            <a:ext cx="10560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Privacy as Protection, Not Secrecy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766440" y="2242800"/>
            <a:ext cx="10658880" cy="1819800"/>
          </a:xfrm>
          <a:custGeom>
            <a:avLst/>
            <a:gdLst/>
            <a:ahLst/>
            <a:rect l="0" t="0" r="r" b="b"/>
            <a:pathLst>
              <a:path w="29608" h="5055">
                <a:moveTo>
                  <a:pt x="0" y="490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909"/>
                </a:lnTo>
                <a:cubicBezTo>
                  <a:pt x="29608" y="4919"/>
                  <a:pt x="29607" y="4928"/>
                  <a:pt x="29605" y="4938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4"/>
                  <a:pt x="29589" y="4982"/>
                  <a:pt x="29584" y="4990"/>
                </a:cubicBezTo>
                <a:cubicBezTo>
                  <a:pt x="29578" y="4998"/>
                  <a:pt x="29572" y="5006"/>
                  <a:pt x="29566" y="5012"/>
                </a:cubicBezTo>
                <a:cubicBezTo>
                  <a:pt x="29559" y="5019"/>
                  <a:pt x="29552" y="5025"/>
                  <a:pt x="29544" y="5030"/>
                </a:cubicBezTo>
                <a:cubicBezTo>
                  <a:pt x="29536" y="5036"/>
                  <a:pt x="29527" y="5040"/>
                  <a:pt x="29518" y="5044"/>
                </a:cubicBezTo>
                <a:cubicBezTo>
                  <a:pt x="29510" y="5048"/>
                  <a:pt x="29501" y="5050"/>
                  <a:pt x="29491" y="5052"/>
                </a:cubicBezTo>
                <a:cubicBezTo>
                  <a:pt x="29482" y="5054"/>
                  <a:pt x="29472" y="5055"/>
                  <a:pt x="29463" y="5055"/>
                </a:cubicBezTo>
                <a:lnTo>
                  <a:pt x="146" y="5055"/>
                </a:lnTo>
                <a:cubicBezTo>
                  <a:pt x="136" y="5055"/>
                  <a:pt x="127" y="5054"/>
                  <a:pt x="118" y="5052"/>
                </a:cubicBezTo>
                <a:cubicBezTo>
                  <a:pt x="108" y="5050"/>
                  <a:pt x="99" y="5048"/>
                  <a:pt x="90" y="5044"/>
                </a:cubicBezTo>
                <a:cubicBezTo>
                  <a:pt x="81" y="5040"/>
                  <a:pt x="73" y="5036"/>
                  <a:pt x="65" y="5030"/>
                </a:cubicBezTo>
                <a:cubicBezTo>
                  <a:pt x="57" y="5025"/>
                  <a:pt x="50" y="5019"/>
                  <a:pt x="43" y="5012"/>
                </a:cubicBezTo>
                <a:cubicBezTo>
                  <a:pt x="36" y="5006"/>
                  <a:pt x="30" y="4998"/>
                  <a:pt x="25" y="4990"/>
                </a:cubicBezTo>
                <a:cubicBezTo>
                  <a:pt x="20" y="4982"/>
                  <a:pt x="15" y="4974"/>
                  <a:pt x="11" y="4965"/>
                </a:cubicBezTo>
                <a:cubicBezTo>
                  <a:pt x="8" y="4956"/>
                  <a:pt x="5" y="4947"/>
                  <a:pt x="3" y="4938"/>
                </a:cubicBezTo>
                <a:cubicBezTo>
                  <a:pt x="1" y="4928"/>
                  <a:pt x="0" y="4919"/>
                  <a:pt x="0" y="4909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66440" y="2242800"/>
            <a:ext cx="10658880" cy="1819800"/>
          </a:xfrm>
          <a:custGeom>
            <a:avLst/>
            <a:gdLst/>
            <a:ahLst/>
            <a:rect l="0" t="0" r="r" b="b"/>
            <a:pathLst>
              <a:path fill="none" w="29608" h="5055">
                <a:moveTo>
                  <a:pt x="0" y="490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909"/>
                </a:lnTo>
                <a:cubicBezTo>
                  <a:pt x="29608" y="4919"/>
                  <a:pt x="29607" y="4928"/>
                  <a:pt x="29605" y="4938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4"/>
                  <a:pt x="29589" y="4982"/>
                  <a:pt x="29584" y="4990"/>
                </a:cubicBezTo>
                <a:cubicBezTo>
                  <a:pt x="29578" y="4998"/>
                  <a:pt x="29572" y="5006"/>
                  <a:pt x="29566" y="5012"/>
                </a:cubicBezTo>
                <a:cubicBezTo>
                  <a:pt x="29559" y="5019"/>
                  <a:pt x="29552" y="5025"/>
                  <a:pt x="29544" y="5030"/>
                </a:cubicBezTo>
                <a:cubicBezTo>
                  <a:pt x="29536" y="5036"/>
                  <a:pt x="29527" y="5040"/>
                  <a:pt x="29518" y="5044"/>
                </a:cubicBezTo>
                <a:cubicBezTo>
                  <a:pt x="29510" y="5048"/>
                  <a:pt x="29501" y="5050"/>
                  <a:pt x="29491" y="5052"/>
                </a:cubicBezTo>
                <a:cubicBezTo>
                  <a:pt x="29482" y="5054"/>
                  <a:pt x="29472" y="5055"/>
                  <a:pt x="29463" y="5055"/>
                </a:cubicBezTo>
                <a:lnTo>
                  <a:pt x="146" y="5055"/>
                </a:lnTo>
                <a:cubicBezTo>
                  <a:pt x="136" y="5055"/>
                  <a:pt x="127" y="5054"/>
                  <a:pt x="118" y="5052"/>
                </a:cubicBezTo>
                <a:cubicBezTo>
                  <a:pt x="108" y="5050"/>
                  <a:pt x="99" y="5048"/>
                  <a:pt x="90" y="5044"/>
                </a:cubicBezTo>
                <a:cubicBezTo>
                  <a:pt x="81" y="5040"/>
                  <a:pt x="73" y="5036"/>
                  <a:pt x="65" y="5030"/>
                </a:cubicBezTo>
                <a:cubicBezTo>
                  <a:pt x="57" y="5025"/>
                  <a:pt x="50" y="5019"/>
                  <a:pt x="43" y="5012"/>
                </a:cubicBezTo>
                <a:cubicBezTo>
                  <a:pt x="36" y="5006"/>
                  <a:pt x="30" y="4998"/>
                  <a:pt x="25" y="4990"/>
                </a:cubicBezTo>
                <a:cubicBezTo>
                  <a:pt x="20" y="4982"/>
                  <a:pt x="15" y="4974"/>
                  <a:pt x="11" y="4965"/>
                </a:cubicBezTo>
                <a:cubicBezTo>
                  <a:pt x="8" y="4956"/>
                  <a:pt x="5" y="4947"/>
                  <a:pt x="3" y="4938"/>
                </a:cubicBezTo>
                <a:cubicBezTo>
                  <a:pt x="1" y="4928"/>
                  <a:pt x="0" y="4919"/>
                  <a:pt x="0" y="4909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923760" y="2852280"/>
            <a:ext cx="10073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Delta has conﬁrmed it uses AI to individualise fares. A system that can read message content might see that your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923760" y="3128400"/>
            <a:ext cx="10388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grandfather just died and that you're now searching for last-minute ﬂights home — and price accordingly. Pricing by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968040" y="3404520"/>
            <a:ext cx="14652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device identiﬁer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341080" y="3404520"/>
            <a:ext cx="8485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rather than named individual is reported to sit outside current US price-discrimination law: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952200" y="245736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8"/>
                </a:lnTo>
                <a:lnTo>
                  <a:pt x="238" y="318"/>
                </a:lnTo>
                <a:lnTo>
                  <a:pt x="212" y="530"/>
                </a:lnTo>
                <a:lnTo>
                  <a:pt x="478" y="211"/>
                </a:lnTo>
                <a:lnTo>
                  <a:pt x="238" y="211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923760" y="3680640"/>
            <a:ext cx="4321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targeting is technically of a device, not a person.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766440" y="4186080"/>
            <a:ext cx="10658880" cy="1276560"/>
          </a:xfrm>
          <a:custGeom>
            <a:avLst/>
            <a:gdLst/>
            <a:ahLst/>
            <a:rect l="0" t="0" r="r" b="b"/>
            <a:pathLst>
              <a:path w="29608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1"/>
                </a:lnTo>
                <a:cubicBezTo>
                  <a:pt x="29608" y="3410"/>
                  <a:pt x="29607" y="3420"/>
                  <a:pt x="29605" y="3429"/>
                </a:cubicBezTo>
                <a:cubicBezTo>
                  <a:pt x="29604" y="3439"/>
                  <a:pt x="29601" y="3448"/>
                  <a:pt x="29597" y="3457"/>
                </a:cubicBezTo>
                <a:cubicBezTo>
                  <a:pt x="29594" y="3465"/>
                  <a:pt x="29589" y="3474"/>
                  <a:pt x="29584" y="3482"/>
                </a:cubicBezTo>
                <a:cubicBezTo>
                  <a:pt x="29578" y="3490"/>
                  <a:pt x="29572" y="3497"/>
                  <a:pt x="29566" y="3504"/>
                </a:cubicBezTo>
                <a:cubicBezTo>
                  <a:pt x="29559" y="3510"/>
                  <a:pt x="29552" y="3517"/>
                  <a:pt x="29544" y="3522"/>
                </a:cubicBezTo>
                <a:cubicBezTo>
                  <a:pt x="29536" y="3527"/>
                  <a:pt x="29527" y="3532"/>
                  <a:pt x="29518" y="3535"/>
                </a:cubicBezTo>
                <a:cubicBezTo>
                  <a:pt x="29510" y="3539"/>
                  <a:pt x="29501" y="3542"/>
                  <a:pt x="29491" y="3544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0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766440" y="4186080"/>
            <a:ext cx="10658880" cy="1276560"/>
          </a:xfrm>
          <a:custGeom>
            <a:avLst/>
            <a:gdLst/>
            <a:ahLst/>
            <a:rect l="0" t="0" r="r" b="b"/>
            <a:pathLst>
              <a:path fill="none" w="29608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1"/>
                </a:lnTo>
                <a:cubicBezTo>
                  <a:pt x="29608" y="3410"/>
                  <a:pt x="29607" y="3420"/>
                  <a:pt x="29605" y="3429"/>
                </a:cubicBezTo>
                <a:cubicBezTo>
                  <a:pt x="29604" y="3439"/>
                  <a:pt x="29601" y="3448"/>
                  <a:pt x="29597" y="3457"/>
                </a:cubicBezTo>
                <a:cubicBezTo>
                  <a:pt x="29594" y="3465"/>
                  <a:pt x="29589" y="3474"/>
                  <a:pt x="29584" y="3482"/>
                </a:cubicBezTo>
                <a:cubicBezTo>
                  <a:pt x="29578" y="3490"/>
                  <a:pt x="29572" y="3497"/>
                  <a:pt x="29566" y="3504"/>
                </a:cubicBezTo>
                <a:cubicBezTo>
                  <a:pt x="29559" y="3510"/>
                  <a:pt x="29552" y="3517"/>
                  <a:pt x="29544" y="3522"/>
                </a:cubicBezTo>
                <a:cubicBezTo>
                  <a:pt x="29536" y="3527"/>
                  <a:pt x="29527" y="3532"/>
                  <a:pt x="29518" y="3535"/>
                </a:cubicBezTo>
                <a:cubicBezTo>
                  <a:pt x="29510" y="3539"/>
                  <a:pt x="29501" y="3542"/>
                  <a:pt x="29491" y="3544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0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203120" y="2445840"/>
            <a:ext cx="388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Predictive pricing is already here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923760" y="4795200"/>
            <a:ext cx="10255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entered into pregnancy-tracking apps can be captured and held in a data broker's ﬁle years before a child can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952200" y="440028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9"/>
                </a:lnTo>
                <a:lnTo>
                  <a:pt x="238" y="319"/>
                </a:lnTo>
                <a:lnTo>
                  <a:pt x="212" y="530"/>
                </a:lnTo>
                <a:lnTo>
                  <a:pt x="478" y="213"/>
                </a:lnTo>
                <a:lnTo>
                  <a:pt x="238" y="213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923760" y="5071320"/>
            <a:ext cx="8737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legally be proﬁled — then activated for ad targeting the moment that child turns 13, already "full."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203120" y="4389120"/>
            <a:ext cx="2482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Proﬁling before birth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62120" y="-8280"/>
            <a:ext cx="87231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Security Models vs. Security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766440" y="1500120"/>
            <a:ext cx="10658880" cy="1638720"/>
          </a:xfrm>
          <a:custGeom>
            <a:avLst/>
            <a:gdLst/>
            <a:ahLst/>
            <a:rect l="0" t="0" r="r" b="b"/>
            <a:pathLst>
              <a:path w="29608" h="4552">
                <a:moveTo>
                  <a:pt x="0" y="440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4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2"/>
                  <a:pt x="29527" y="4537"/>
                  <a:pt x="29518" y="4540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4"/>
                  <a:pt x="90" y="4540"/>
                </a:cubicBezTo>
                <a:cubicBezTo>
                  <a:pt x="81" y="4537"/>
                  <a:pt x="73" y="4532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4"/>
                </a:cubicBezTo>
                <a:cubicBezTo>
                  <a:pt x="1" y="4425"/>
                  <a:pt x="0" y="4416"/>
                  <a:pt x="0" y="4406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766440" y="1500120"/>
            <a:ext cx="10658880" cy="1638720"/>
          </a:xfrm>
          <a:custGeom>
            <a:avLst/>
            <a:gdLst/>
            <a:ahLst/>
            <a:rect l="0" t="0" r="r" b="b"/>
            <a:pathLst>
              <a:path fill="none" w="29608" h="4552">
                <a:moveTo>
                  <a:pt x="0" y="440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4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2"/>
                  <a:pt x="29527" y="4537"/>
                  <a:pt x="29518" y="4540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4"/>
                  <a:pt x="90" y="4540"/>
                </a:cubicBezTo>
                <a:cubicBezTo>
                  <a:pt x="81" y="4537"/>
                  <a:pt x="73" y="4532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4"/>
                </a:cubicBezTo>
                <a:cubicBezTo>
                  <a:pt x="1" y="4425"/>
                  <a:pt x="0" y="4416"/>
                  <a:pt x="0" y="4406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104840" y="2199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62120" y="753480"/>
            <a:ext cx="3857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Frameworks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104840" y="2514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289520" y="2109240"/>
            <a:ext cx="5547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Abstract representation of security requirements and controls.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104840" y="2838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289520" y="2423520"/>
            <a:ext cx="10017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Describes how to protect assets conceptually (e.g., Bell–LaPadula conﬁdentiality model, zero-trust assumptions).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961920" y="175248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289520" y="2747160"/>
            <a:ext cx="2979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Focus: theory, logic, access rules.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766440" y="3261960"/>
            <a:ext cx="10658880" cy="1629360"/>
          </a:xfrm>
          <a:custGeom>
            <a:avLst/>
            <a:gdLst/>
            <a:ahLst/>
            <a:rect l="0" t="0" r="r" b="b"/>
            <a:pathLst>
              <a:path w="29608" h="4526">
                <a:moveTo>
                  <a:pt x="0" y="438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380"/>
                </a:lnTo>
                <a:cubicBezTo>
                  <a:pt x="29608" y="4390"/>
                  <a:pt x="29607" y="4399"/>
                  <a:pt x="29605" y="4409"/>
                </a:cubicBezTo>
                <a:cubicBezTo>
                  <a:pt x="29604" y="4418"/>
                  <a:pt x="29601" y="4427"/>
                  <a:pt x="29597" y="4436"/>
                </a:cubicBezTo>
                <a:cubicBezTo>
                  <a:pt x="29594" y="4445"/>
                  <a:pt x="29589" y="4453"/>
                  <a:pt x="29584" y="4461"/>
                </a:cubicBezTo>
                <a:cubicBezTo>
                  <a:pt x="29578" y="4469"/>
                  <a:pt x="29572" y="4476"/>
                  <a:pt x="29566" y="4483"/>
                </a:cubicBezTo>
                <a:cubicBezTo>
                  <a:pt x="29559" y="4490"/>
                  <a:pt x="29552" y="4496"/>
                  <a:pt x="29544" y="4501"/>
                </a:cubicBezTo>
                <a:cubicBezTo>
                  <a:pt x="29536" y="4507"/>
                  <a:pt x="29527" y="4511"/>
                  <a:pt x="29518" y="4515"/>
                </a:cubicBezTo>
                <a:cubicBezTo>
                  <a:pt x="29510" y="4518"/>
                  <a:pt x="29501" y="4521"/>
                  <a:pt x="29491" y="4523"/>
                </a:cubicBezTo>
                <a:cubicBezTo>
                  <a:pt x="29482" y="4525"/>
                  <a:pt x="29472" y="4526"/>
                  <a:pt x="29463" y="4526"/>
                </a:cubicBezTo>
                <a:lnTo>
                  <a:pt x="146" y="4526"/>
                </a:lnTo>
                <a:cubicBezTo>
                  <a:pt x="136" y="4526"/>
                  <a:pt x="127" y="4525"/>
                  <a:pt x="118" y="4523"/>
                </a:cubicBezTo>
                <a:cubicBezTo>
                  <a:pt x="108" y="4521"/>
                  <a:pt x="99" y="4518"/>
                  <a:pt x="90" y="4515"/>
                </a:cubicBezTo>
                <a:cubicBezTo>
                  <a:pt x="81" y="4511"/>
                  <a:pt x="73" y="4507"/>
                  <a:pt x="65" y="4501"/>
                </a:cubicBezTo>
                <a:cubicBezTo>
                  <a:pt x="57" y="4496"/>
                  <a:pt x="50" y="4490"/>
                  <a:pt x="43" y="4483"/>
                </a:cubicBezTo>
                <a:cubicBezTo>
                  <a:pt x="36" y="4476"/>
                  <a:pt x="30" y="4469"/>
                  <a:pt x="25" y="4461"/>
                </a:cubicBezTo>
                <a:cubicBezTo>
                  <a:pt x="20" y="4453"/>
                  <a:pt x="15" y="4445"/>
                  <a:pt x="11" y="4436"/>
                </a:cubicBezTo>
                <a:cubicBezTo>
                  <a:pt x="8" y="4427"/>
                  <a:pt x="5" y="4418"/>
                  <a:pt x="3" y="4409"/>
                </a:cubicBezTo>
                <a:cubicBezTo>
                  <a:pt x="1" y="4399"/>
                  <a:pt x="0" y="4390"/>
                  <a:pt x="0" y="438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66440" y="3261960"/>
            <a:ext cx="10658880" cy="1629360"/>
          </a:xfrm>
          <a:custGeom>
            <a:avLst/>
            <a:gdLst/>
            <a:ahLst/>
            <a:rect l="0" t="0" r="r" b="b"/>
            <a:pathLst>
              <a:path fill="none" w="29608" h="4526">
                <a:moveTo>
                  <a:pt x="0" y="438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380"/>
                </a:lnTo>
                <a:cubicBezTo>
                  <a:pt x="29608" y="4390"/>
                  <a:pt x="29607" y="4399"/>
                  <a:pt x="29605" y="4409"/>
                </a:cubicBezTo>
                <a:cubicBezTo>
                  <a:pt x="29604" y="4418"/>
                  <a:pt x="29601" y="4427"/>
                  <a:pt x="29597" y="4436"/>
                </a:cubicBezTo>
                <a:cubicBezTo>
                  <a:pt x="29594" y="4445"/>
                  <a:pt x="29589" y="4453"/>
                  <a:pt x="29584" y="4461"/>
                </a:cubicBezTo>
                <a:cubicBezTo>
                  <a:pt x="29578" y="4469"/>
                  <a:pt x="29572" y="4476"/>
                  <a:pt x="29566" y="4483"/>
                </a:cubicBezTo>
                <a:cubicBezTo>
                  <a:pt x="29559" y="4490"/>
                  <a:pt x="29552" y="4496"/>
                  <a:pt x="29544" y="4501"/>
                </a:cubicBezTo>
                <a:cubicBezTo>
                  <a:pt x="29536" y="4507"/>
                  <a:pt x="29527" y="4511"/>
                  <a:pt x="29518" y="4515"/>
                </a:cubicBezTo>
                <a:cubicBezTo>
                  <a:pt x="29510" y="4518"/>
                  <a:pt x="29501" y="4521"/>
                  <a:pt x="29491" y="4523"/>
                </a:cubicBezTo>
                <a:cubicBezTo>
                  <a:pt x="29482" y="4525"/>
                  <a:pt x="29472" y="4526"/>
                  <a:pt x="29463" y="4526"/>
                </a:cubicBezTo>
                <a:lnTo>
                  <a:pt x="146" y="4526"/>
                </a:lnTo>
                <a:cubicBezTo>
                  <a:pt x="136" y="4526"/>
                  <a:pt x="127" y="4525"/>
                  <a:pt x="118" y="4523"/>
                </a:cubicBezTo>
                <a:cubicBezTo>
                  <a:pt x="108" y="4521"/>
                  <a:pt x="99" y="4518"/>
                  <a:pt x="90" y="4515"/>
                </a:cubicBezTo>
                <a:cubicBezTo>
                  <a:pt x="81" y="4511"/>
                  <a:pt x="73" y="4507"/>
                  <a:pt x="65" y="4501"/>
                </a:cubicBezTo>
                <a:cubicBezTo>
                  <a:pt x="57" y="4496"/>
                  <a:pt x="50" y="4490"/>
                  <a:pt x="43" y="4483"/>
                </a:cubicBezTo>
                <a:cubicBezTo>
                  <a:pt x="36" y="4476"/>
                  <a:pt x="30" y="4469"/>
                  <a:pt x="25" y="4461"/>
                </a:cubicBezTo>
                <a:cubicBezTo>
                  <a:pt x="20" y="4453"/>
                  <a:pt x="15" y="4445"/>
                  <a:pt x="11" y="4436"/>
                </a:cubicBezTo>
                <a:cubicBezTo>
                  <a:pt x="8" y="4427"/>
                  <a:pt x="5" y="4418"/>
                  <a:pt x="3" y="4409"/>
                </a:cubicBezTo>
                <a:cubicBezTo>
                  <a:pt x="1" y="4399"/>
                  <a:pt x="0" y="4390"/>
                  <a:pt x="0" y="438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104840" y="39528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203120" y="1703160"/>
            <a:ext cx="1743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Security model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104840" y="4276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289520" y="3861720"/>
            <a:ext cx="6208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Practical set of policies, processes, and controls aligned to the model.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104840" y="4590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289520" y="4185720"/>
            <a:ext cx="8299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Provides implementable guidance (e.g., NCSC Cyber Assessment Framework, ISO/IEC 27001).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942840" y="347652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2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3"/>
                  <a:pt x="44" y="117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7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037880" y="353376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289520" y="4500000"/>
            <a:ext cx="4424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Focus: governance, operationalisation, assurance.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766440" y="5014800"/>
            <a:ext cx="10658880" cy="1314720"/>
          </a:xfrm>
          <a:custGeom>
            <a:avLst/>
            <a:gdLst/>
            <a:ahLst/>
            <a:rect l="0" t="0" r="r" b="b"/>
            <a:pathLst>
              <a:path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3"/>
                  <a:pt x="29597" y="3562"/>
                </a:cubicBezTo>
                <a:cubicBezTo>
                  <a:pt x="29594" y="3571"/>
                  <a:pt x="29589" y="3579"/>
                  <a:pt x="29584" y="3587"/>
                </a:cubicBezTo>
                <a:cubicBezTo>
                  <a:pt x="29578" y="3595"/>
                  <a:pt x="29572" y="3603"/>
                  <a:pt x="29566" y="3609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7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7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09"/>
                </a:cubicBezTo>
                <a:cubicBezTo>
                  <a:pt x="36" y="3603"/>
                  <a:pt x="30" y="3595"/>
                  <a:pt x="25" y="3587"/>
                </a:cubicBezTo>
                <a:cubicBezTo>
                  <a:pt x="20" y="3579"/>
                  <a:pt x="15" y="3571"/>
                  <a:pt x="11" y="3562"/>
                </a:cubicBezTo>
                <a:cubicBezTo>
                  <a:pt x="8" y="3553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66440" y="5014800"/>
            <a:ext cx="10658880" cy="1314720"/>
          </a:xfrm>
          <a:custGeom>
            <a:avLst/>
            <a:gdLst/>
            <a:ahLst/>
            <a:rect l="0" t="0" r="r" b="b"/>
            <a:pathLst>
              <a:path fill="none"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3"/>
                  <a:pt x="29597" y="3562"/>
                </a:cubicBezTo>
                <a:cubicBezTo>
                  <a:pt x="29594" y="3571"/>
                  <a:pt x="29589" y="3579"/>
                  <a:pt x="29584" y="3587"/>
                </a:cubicBezTo>
                <a:cubicBezTo>
                  <a:pt x="29578" y="3595"/>
                  <a:pt x="29572" y="3603"/>
                  <a:pt x="29566" y="3609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7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7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09"/>
                </a:cubicBezTo>
                <a:cubicBezTo>
                  <a:pt x="36" y="3603"/>
                  <a:pt x="30" y="3595"/>
                  <a:pt x="25" y="3587"/>
                </a:cubicBezTo>
                <a:cubicBezTo>
                  <a:pt x="20" y="3579"/>
                  <a:pt x="15" y="3571"/>
                  <a:pt x="11" y="3562"/>
                </a:cubicBezTo>
                <a:cubicBezTo>
                  <a:pt x="8" y="3553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104840" y="571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2"/>
                  <a:pt x="50" y="8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8"/>
                </a:cubicBezTo>
                <a:cubicBezTo>
                  <a:pt x="120" y="12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203120" y="3465000"/>
            <a:ext cx="2297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Security framework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104840" y="6038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289520" y="5623920"/>
            <a:ext cx="4768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Models guide the “why”; frameworks guide the “how”.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942480" y="523836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7"/>
                </a:moveTo>
                <a:lnTo>
                  <a:pt x="312" y="27"/>
                </a:lnTo>
                <a:cubicBezTo>
                  <a:pt x="308" y="19"/>
                  <a:pt x="301" y="12"/>
                  <a:pt x="293" y="7"/>
                </a:cubicBezTo>
                <a:cubicBezTo>
                  <a:pt x="284" y="3"/>
                  <a:pt x="275" y="0"/>
                  <a:pt x="265" y="0"/>
                </a:cubicBezTo>
                <a:cubicBezTo>
                  <a:pt x="256" y="0"/>
                  <a:pt x="247" y="3"/>
                  <a:pt x="239" y="7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7"/>
                </a:lnTo>
                <a:cubicBezTo>
                  <a:pt x="3" y="406"/>
                  <a:pt x="0" y="415"/>
                  <a:pt x="0" y="424"/>
                </a:cubicBezTo>
                <a:cubicBezTo>
                  <a:pt x="0" y="434"/>
                  <a:pt x="3" y="442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8"/>
                  <a:pt x="512" y="466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2"/>
                  <a:pt x="529" y="438"/>
                </a:cubicBezTo>
                <a:cubicBezTo>
                  <a:pt x="530" y="433"/>
                  <a:pt x="531" y="429"/>
                  <a:pt x="531" y="424"/>
                </a:cubicBezTo>
                <a:cubicBezTo>
                  <a:pt x="531" y="419"/>
                  <a:pt x="530" y="415"/>
                  <a:pt x="529" y="410"/>
                </a:cubicBezTo>
                <a:cubicBezTo>
                  <a:pt x="528" y="406"/>
                  <a:pt x="526" y="401"/>
                  <a:pt x="524" y="397"/>
                </a:cubicBezTo>
                <a:moveTo>
                  <a:pt x="265" y="159"/>
                </a:moveTo>
                <a:lnTo>
                  <a:pt x="265" y="265"/>
                </a:lnTo>
                <a:moveTo>
                  <a:pt x="265" y="371"/>
                </a:moveTo>
                <a:lnTo>
                  <a:pt x="266" y="371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289520" y="5947560"/>
            <a:ext cx="7992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Combining them ensures privacy principles translate into measurable controls and audits.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203120" y="5217840"/>
            <a:ext cx="3066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Why it matters for privacy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766440" y="1861920"/>
            <a:ext cx="3486600" cy="3867480"/>
          </a:xfrm>
          <a:custGeom>
            <a:avLst/>
            <a:gdLst/>
            <a:ahLst/>
            <a:rect l="0" t="0" r="r" b="b"/>
            <a:pathLst>
              <a:path w="9685" h="10743">
                <a:moveTo>
                  <a:pt x="0" y="10598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10598"/>
                </a:lnTo>
                <a:cubicBezTo>
                  <a:pt x="9685" y="10607"/>
                  <a:pt x="9684" y="10617"/>
                  <a:pt x="9682" y="10626"/>
                </a:cubicBezTo>
                <a:cubicBezTo>
                  <a:pt x="9680" y="10635"/>
                  <a:pt x="9678" y="10645"/>
                  <a:pt x="9674" y="10653"/>
                </a:cubicBezTo>
                <a:cubicBezTo>
                  <a:pt x="9670" y="10662"/>
                  <a:pt x="9666" y="10671"/>
                  <a:pt x="9661" y="10679"/>
                </a:cubicBezTo>
                <a:cubicBezTo>
                  <a:pt x="9655" y="10686"/>
                  <a:pt x="9649" y="10694"/>
                  <a:pt x="9643" y="10701"/>
                </a:cubicBezTo>
                <a:cubicBezTo>
                  <a:pt x="9636" y="10707"/>
                  <a:pt x="9628" y="10713"/>
                  <a:pt x="9620" y="10719"/>
                </a:cubicBezTo>
                <a:cubicBezTo>
                  <a:pt x="9613" y="10724"/>
                  <a:pt x="9604" y="10728"/>
                  <a:pt x="9595" y="10732"/>
                </a:cubicBezTo>
                <a:cubicBezTo>
                  <a:pt x="9586" y="10736"/>
                  <a:pt x="9577" y="10739"/>
                  <a:pt x="9568" y="10740"/>
                </a:cubicBezTo>
                <a:cubicBezTo>
                  <a:pt x="9559" y="10742"/>
                  <a:pt x="9549" y="10743"/>
                  <a:pt x="9540" y="10743"/>
                </a:cubicBezTo>
                <a:lnTo>
                  <a:pt x="146" y="10743"/>
                </a:lnTo>
                <a:cubicBezTo>
                  <a:pt x="136" y="10743"/>
                  <a:pt x="127" y="10742"/>
                  <a:pt x="118" y="10740"/>
                </a:cubicBezTo>
                <a:cubicBezTo>
                  <a:pt x="108" y="10739"/>
                  <a:pt x="99" y="10736"/>
                  <a:pt x="90" y="10732"/>
                </a:cubicBezTo>
                <a:cubicBezTo>
                  <a:pt x="81" y="10728"/>
                  <a:pt x="73" y="10724"/>
                  <a:pt x="65" y="10719"/>
                </a:cubicBezTo>
                <a:cubicBezTo>
                  <a:pt x="57" y="10713"/>
                  <a:pt x="50" y="10707"/>
                  <a:pt x="43" y="10701"/>
                </a:cubicBezTo>
                <a:cubicBezTo>
                  <a:pt x="36" y="10694"/>
                  <a:pt x="30" y="10686"/>
                  <a:pt x="25" y="10679"/>
                </a:cubicBezTo>
                <a:cubicBezTo>
                  <a:pt x="20" y="10671"/>
                  <a:pt x="15" y="10662"/>
                  <a:pt x="11" y="10653"/>
                </a:cubicBezTo>
                <a:cubicBezTo>
                  <a:pt x="8" y="10645"/>
                  <a:pt x="5" y="10635"/>
                  <a:pt x="3" y="10626"/>
                </a:cubicBezTo>
                <a:cubicBezTo>
                  <a:pt x="1" y="10617"/>
                  <a:pt x="0" y="10607"/>
                  <a:pt x="0" y="10598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766440" y="1861920"/>
            <a:ext cx="3486600" cy="3867480"/>
          </a:xfrm>
          <a:custGeom>
            <a:avLst/>
            <a:gdLst/>
            <a:ahLst/>
            <a:rect l="0" t="0" r="r" b="b"/>
            <a:pathLst>
              <a:path fill="none" w="9685" h="10743">
                <a:moveTo>
                  <a:pt x="0" y="10598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8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10598"/>
                </a:lnTo>
                <a:cubicBezTo>
                  <a:pt x="9685" y="10607"/>
                  <a:pt x="9684" y="10617"/>
                  <a:pt x="9682" y="10626"/>
                </a:cubicBezTo>
                <a:cubicBezTo>
                  <a:pt x="9680" y="10635"/>
                  <a:pt x="9678" y="10645"/>
                  <a:pt x="9674" y="10653"/>
                </a:cubicBezTo>
                <a:cubicBezTo>
                  <a:pt x="9670" y="10662"/>
                  <a:pt x="9666" y="10671"/>
                  <a:pt x="9661" y="10679"/>
                </a:cubicBezTo>
                <a:cubicBezTo>
                  <a:pt x="9655" y="10686"/>
                  <a:pt x="9649" y="10694"/>
                  <a:pt x="9643" y="10701"/>
                </a:cubicBezTo>
                <a:cubicBezTo>
                  <a:pt x="9636" y="10707"/>
                  <a:pt x="9628" y="10713"/>
                  <a:pt x="9620" y="10719"/>
                </a:cubicBezTo>
                <a:cubicBezTo>
                  <a:pt x="9613" y="10724"/>
                  <a:pt x="9604" y="10728"/>
                  <a:pt x="9595" y="10732"/>
                </a:cubicBezTo>
                <a:cubicBezTo>
                  <a:pt x="9586" y="10736"/>
                  <a:pt x="9577" y="10739"/>
                  <a:pt x="9568" y="10740"/>
                </a:cubicBezTo>
                <a:cubicBezTo>
                  <a:pt x="9559" y="10742"/>
                  <a:pt x="9549" y="10743"/>
                  <a:pt x="9540" y="10743"/>
                </a:cubicBezTo>
                <a:lnTo>
                  <a:pt x="146" y="10743"/>
                </a:lnTo>
                <a:cubicBezTo>
                  <a:pt x="136" y="10743"/>
                  <a:pt x="127" y="10742"/>
                  <a:pt x="118" y="10740"/>
                </a:cubicBezTo>
                <a:cubicBezTo>
                  <a:pt x="108" y="10739"/>
                  <a:pt x="99" y="10736"/>
                  <a:pt x="90" y="10732"/>
                </a:cubicBezTo>
                <a:cubicBezTo>
                  <a:pt x="81" y="10728"/>
                  <a:pt x="73" y="10724"/>
                  <a:pt x="65" y="10719"/>
                </a:cubicBezTo>
                <a:cubicBezTo>
                  <a:pt x="57" y="10713"/>
                  <a:pt x="50" y="10707"/>
                  <a:pt x="43" y="10701"/>
                </a:cubicBezTo>
                <a:cubicBezTo>
                  <a:pt x="36" y="10694"/>
                  <a:pt x="30" y="10686"/>
                  <a:pt x="25" y="10679"/>
                </a:cubicBezTo>
                <a:cubicBezTo>
                  <a:pt x="20" y="10671"/>
                  <a:pt x="15" y="10662"/>
                  <a:pt x="11" y="10653"/>
                </a:cubicBezTo>
                <a:cubicBezTo>
                  <a:pt x="8" y="10645"/>
                  <a:pt x="5" y="10635"/>
                  <a:pt x="3" y="10626"/>
                </a:cubicBezTo>
                <a:cubicBezTo>
                  <a:pt x="1" y="10617"/>
                  <a:pt x="0" y="10607"/>
                  <a:pt x="0" y="10598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104840" y="2838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62120" y="372600"/>
            <a:ext cx="91620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UK Legal &amp; Policy Framework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289520" y="2747160"/>
            <a:ext cx="1846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Lawfulness, fairness,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104840" y="3438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289520" y="3023640"/>
            <a:ext cx="1147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transparency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289520" y="3347280"/>
            <a:ext cx="2244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Purpose limitation &amp; data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104840" y="4028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289520" y="3614040"/>
            <a:ext cx="1155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minimisation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104840" y="4352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3"/>
                  <a:pt x="24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289520" y="3938040"/>
            <a:ext cx="2605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Accuracy &amp; storage limitation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289520" y="4261680"/>
            <a:ext cx="2176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Integrity, conﬁdentiality,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289520" y="4528440"/>
            <a:ext cx="1235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accountability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923760" y="4861800"/>
            <a:ext cx="3108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Source: UK GDPR &amp; Data Protection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961920" y="22572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923760" y="5138280"/>
            <a:ext cx="809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Act 2018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203120" y="2064960"/>
            <a:ext cx="547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Core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4357440" y="1861920"/>
            <a:ext cx="3476880" cy="3867480"/>
          </a:xfrm>
          <a:custGeom>
            <a:avLst/>
            <a:gdLst/>
            <a:ahLst/>
            <a:rect l="0" t="0" r="r" b="b"/>
            <a:pathLst>
              <a:path w="9658" h="10743">
                <a:moveTo>
                  <a:pt x="0" y="10598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10598"/>
                </a:lnTo>
                <a:cubicBezTo>
                  <a:pt x="9658" y="10607"/>
                  <a:pt x="9658" y="10617"/>
                  <a:pt x="9656" y="10626"/>
                </a:cubicBezTo>
                <a:cubicBezTo>
                  <a:pt x="9654" y="10635"/>
                  <a:pt x="9651" y="10645"/>
                  <a:pt x="9647" y="10653"/>
                </a:cubicBezTo>
                <a:cubicBezTo>
                  <a:pt x="9644" y="10662"/>
                  <a:pt x="9639" y="10671"/>
                  <a:pt x="9634" y="10679"/>
                </a:cubicBezTo>
                <a:cubicBezTo>
                  <a:pt x="9629" y="10686"/>
                  <a:pt x="9623" y="10694"/>
                  <a:pt x="9616" y="10701"/>
                </a:cubicBezTo>
                <a:cubicBezTo>
                  <a:pt x="9609" y="10707"/>
                  <a:pt x="9602" y="10713"/>
                  <a:pt x="9594" y="10719"/>
                </a:cubicBezTo>
                <a:cubicBezTo>
                  <a:pt x="9586" y="10724"/>
                  <a:pt x="9577" y="10728"/>
                  <a:pt x="9569" y="10732"/>
                </a:cubicBezTo>
                <a:cubicBezTo>
                  <a:pt x="9560" y="10736"/>
                  <a:pt x="9551" y="10739"/>
                  <a:pt x="9541" y="10740"/>
                </a:cubicBezTo>
                <a:cubicBezTo>
                  <a:pt x="9532" y="10742"/>
                  <a:pt x="9523" y="10743"/>
                  <a:pt x="9513" y="10743"/>
                </a:cubicBezTo>
                <a:lnTo>
                  <a:pt x="146" y="10743"/>
                </a:lnTo>
                <a:cubicBezTo>
                  <a:pt x="136" y="10743"/>
                  <a:pt x="127" y="10742"/>
                  <a:pt x="117" y="10740"/>
                </a:cubicBezTo>
                <a:cubicBezTo>
                  <a:pt x="108" y="10739"/>
                  <a:pt x="99" y="10736"/>
                  <a:pt x="90" y="10732"/>
                </a:cubicBezTo>
                <a:cubicBezTo>
                  <a:pt x="81" y="10728"/>
                  <a:pt x="73" y="10724"/>
                  <a:pt x="65" y="10719"/>
                </a:cubicBezTo>
                <a:cubicBezTo>
                  <a:pt x="57" y="10713"/>
                  <a:pt x="50" y="10707"/>
                  <a:pt x="43" y="10701"/>
                </a:cubicBezTo>
                <a:cubicBezTo>
                  <a:pt x="36" y="10694"/>
                  <a:pt x="30" y="10686"/>
                  <a:pt x="25" y="10679"/>
                </a:cubicBezTo>
                <a:cubicBezTo>
                  <a:pt x="19" y="10671"/>
                  <a:pt x="15" y="10662"/>
                  <a:pt x="11" y="10653"/>
                </a:cubicBezTo>
                <a:cubicBezTo>
                  <a:pt x="8" y="10645"/>
                  <a:pt x="5" y="10635"/>
                  <a:pt x="3" y="10626"/>
                </a:cubicBezTo>
                <a:cubicBezTo>
                  <a:pt x="1" y="10617"/>
                  <a:pt x="0" y="10607"/>
                  <a:pt x="0" y="10598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4357440" y="1861920"/>
            <a:ext cx="3476880" cy="3867480"/>
          </a:xfrm>
          <a:custGeom>
            <a:avLst/>
            <a:gdLst/>
            <a:ahLst/>
            <a:rect l="0" t="0" r="r" b="b"/>
            <a:pathLst>
              <a:path fill="none" w="9658" h="10743">
                <a:moveTo>
                  <a:pt x="0" y="10598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8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10598"/>
                </a:lnTo>
                <a:cubicBezTo>
                  <a:pt x="9658" y="10607"/>
                  <a:pt x="9658" y="10617"/>
                  <a:pt x="9656" y="10626"/>
                </a:cubicBezTo>
                <a:cubicBezTo>
                  <a:pt x="9654" y="10635"/>
                  <a:pt x="9651" y="10645"/>
                  <a:pt x="9647" y="10653"/>
                </a:cubicBezTo>
                <a:cubicBezTo>
                  <a:pt x="9644" y="10662"/>
                  <a:pt x="9639" y="10671"/>
                  <a:pt x="9634" y="10679"/>
                </a:cubicBezTo>
                <a:cubicBezTo>
                  <a:pt x="9629" y="10686"/>
                  <a:pt x="9623" y="10694"/>
                  <a:pt x="9616" y="10701"/>
                </a:cubicBezTo>
                <a:cubicBezTo>
                  <a:pt x="9609" y="10707"/>
                  <a:pt x="9602" y="10713"/>
                  <a:pt x="9594" y="10719"/>
                </a:cubicBezTo>
                <a:cubicBezTo>
                  <a:pt x="9586" y="10724"/>
                  <a:pt x="9577" y="10728"/>
                  <a:pt x="9569" y="10732"/>
                </a:cubicBezTo>
                <a:cubicBezTo>
                  <a:pt x="9560" y="10736"/>
                  <a:pt x="9551" y="10739"/>
                  <a:pt x="9541" y="10740"/>
                </a:cubicBezTo>
                <a:cubicBezTo>
                  <a:pt x="9532" y="10742"/>
                  <a:pt x="9523" y="10743"/>
                  <a:pt x="9513" y="10743"/>
                </a:cubicBezTo>
                <a:lnTo>
                  <a:pt x="146" y="10743"/>
                </a:lnTo>
                <a:cubicBezTo>
                  <a:pt x="136" y="10743"/>
                  <a:pt x="127" y="10742"/>
                  <a:pt x="117" y="10740"/>
                </a:cubicBezTo>
                <a:cubicBezTo>
                  <a:pt x="108" y="10739"/>
                  <a:pt x="99" y="10736"/>
                  <a:pt x="90" y="10732"/>
                </a:cubicBezTo>
                <a:cubicBezTo>
                  <a:pt x="81" y="10728"/>
                  <a:pt x="73" y="10724"/>
                  <a:pt x="65" y="10719"/>
                </a:cubicBezTo>
                <a:cubicBezTo>
                  <a:pt x="57" y="10713"/>
                  <a:pt x="50" y="10707"/>
                  <a:pt x="43" y="10701"/>
                </a:cubicBezTo>
                <a:cubicBezTo>
                  <a:pt x="36" y="10694"/>
                  <a:pt x="30" y="10686"/>
                  <a:pt x="25" y="10679"/>
                </a:cubicBezTo>
                <a:cubicBezTo>
                  <a:pt x="19" y="10671"/>
                  <a:pt x="15" y="10662"/>
                  <a:pt x="11" y="10653"/>
                </a:cubicBezTo>
                <a:cubicBezTo>
                  <a:pt x="8" y="10645"/>
                  <a:pt x="5" y="10635"/>
                  <a:pt x="3" y="10626"/>
                </a:cubicBezTo>
                <a:cubicBezTo>
                  <a:pt x="1" y="10617"/>
                  <a:pt x="0" y="10607"/>
                  <a:pt x="0" y="10598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4695480" y="2552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3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203120" y="2350800"/>
            <a:ext cx="1165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principles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4877280" y="2461680"/>
            <a:ext cx="2507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subjects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individuals;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695480" y="3152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0"/>
                  <a:pt x="16" y="32"/>
                  <a:pt x="24" y="24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3" y="32"/>
                  <a:pt x="149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877280" y="2737800"/>
            <a:ext cx="1027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hold rights.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4877280" y="3061800"/>
            <a:ext cx="2715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Controllers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decide why/how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4877280" y="3328200"/>
            <a:ext cx="1852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processed (e.g.,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4695480" y="4019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19"/>
                  <a:pt x="143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1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877280" y="3604680"/>
            <a:ext cx="979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university).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877280" y="3928320"/>
            <a:ext cx="2698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Processors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act on controller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877280" y="4204800"/>
            <a:ext cx="2252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instructions (cloud hosts,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695480" y="48862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1"/>
                  <a:pt x="154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877280" y="4471200"/>
            <a:ext cx="1782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analytics providers).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877280" y="4795200"/>
            <a:ext cx="2188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Supervisory authority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4877280" y="5071320"/>
            <a:ext cx="252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Information Commissionerʼs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4533840" y="207612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5"/>
                </a:moveTo>
                <a:cubicBezTo>
                  <a:pt x="530" y="282"/>
                  <a:pt x="528" y="300"/>
                  <a:pt x="525" y="318"/>
                </a:cubicBezTo>
                <a:cubicBezTo>
                  <a:pt x="521" y="335"/>
                  <a:pt x="516" y="351"/>
                  <a:pt x="510" y="367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7"/>
                  <a:pt x="465" y="441"/>
                  <a:pt x="452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6" y="510"/>
                </a:cubicBezTo>
                <a:cubicBezTo>
                  <a:pt x="349" y="517"/>
                  <a:pt x="333" y="522"/>
                  <a:pt x="316" y="525"/>
                </a:cubicBezTo>
                <a:cubicBezTo>
                  <a:pt x="299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89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9"/>
                  <a:pt x="26" y="383"/>
                  <a:pt x="20" y="367"/>
                </a:cubicBezTo>
                <a:cubicBezTo>
                  <a:pt x="13" y="351"/>
                  <a:pt x="8" y="335"/>
                  <a:pt x="5" y="318"/>
                </a:cubicBezTo>
                <a:cubicBezTo>
                  <a:pt x="1" y="300"/>
                  <a:pt x="0" y="282"/>
                  <a:pt x="0" y="265"/>
                </a:cubicBezTo>
                <a:cubicBezTo>
                  <a:pt x="0" y="248"/>
                  <a:pt x="1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6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89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299" y="2"/>
                  <a:pt x="316" y="6"/>
                </a:cubicBezTo>
                <a:cubicBezTo>
                  <a:pt x="333" y="9"/>
                  <a:pt x="349" y="14"/>
                  <a:pt x="366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2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6" y="180"/>
                  <a:pt x="521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4628880" y="213336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877280" y="5347800"/>
            <a:ext cx="1073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Oﬃce (ICO).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7939080" y="1861920"/>
            <a:ext cx="3486240" cy="3867480"/>
          </a:xfrm>
          <a:custGeom>
            <a:avLst/>
            <a:gdLst/>
            <a:ahLst/>
            <a:rect l="0" t="0" r="r" b="b"/>
            <a:pathLst>
              <a:path w="9684" h="10743">
                <a:moveTo>
                  <a:pt x="0" y="10598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10598"/>
                </a:lnTo>
                <a:cubicBezTo>
                  <a:pt x="9684" y="10607"/>
                  <a:pt x="9683" y="10617"/>
                  <a:pt x="9681" y="10626"/>
                </a:cubicBezTo>
                <a:cubicBezTo>
                  <a:pt x="9680" y="10635"/>
                  <a:pt x="9677" y="10645"/>
                  <a:pt x="9673" y="10653"/>
                </a:cubicBezTo>
                <a:cubicBezTo>
                  <a:pt x="9670" y="10662"/>
                  <a:pt x="9665" y="10671"/>
                  <a:pt x="9660" y="10679"/>
                </a:cubicBezTo>
                <a:cubicBezTo>
                  <a:pt x="9654" y="10686"/>
                  <a:pt x="9648" y="10694"/>
                  <a:pt x="9642" y="10701"/>
                </a:cubicBezTo>
                <a:cubicBezTo>
                  <a:pt x="9635" y="10707"/>
                  <a:pt x="9628" y="10713"/>
                  <a:pt x="9620" y="10719"/>
                </a:cubicBezTo>
                <a:cubicBezTo>
                  <a:pt x="9612" y="10724"/>
                  <a:pt x="9603" y="10728"/>
                  <a:pt x="9594" y="10732"/>
                </a:cubicBezTo>
                <a:cubicBezTo>
                  <a:pt x="9586" y="10736"/>
                  <a:pt x="9577" y="10739"/>
                  <a:pt x="9567" y="10740"/>
                </a:cubicBezTo>
                <a:cubicBezTo>
                  <a:pt x="9558" y="10742"/>
                  <a:pt x="9548" y="10743"/>
                  <a:pt x="9539" y="10743"/>
                </a:cubicBezTo>
                <a:lnTo>
                  <a:pt x="145" y="10743"/>
                </a:lnTo>
                <a:cubicBezTo>
                  <a:pt x="135" y="10743"/>
                  <a:pt x="126" y="10742"/>
                  <a:pt x="117" y="10740"/>
                </a:cubicBezTo>
                <a:cubicBezTo>
                  <a:pt x="107" y="10739"/>
                  <a:pt x="98" y="10736"/>
                  <a:pt x="89" y="10732"/>
                </a:cubicBezTo>
                <a:cubicBezTo>
                  <a:pt x="81" y="10728"/>
                  <a:pt x="72" y="10724"/>
                  <a:pt x="64" y="10719"/>
                </a:cubicBezTo>
                <a:cubicBezTo>
                  <a:pt x="56" y="10713"/>
                  <a:pt x="49" y="10707"/>
                  <a:pt x="42" y="10701"/>
                </a:cubicBezTo>
                <a:cubicBezTo>
                  <a:pt x="35" y="10694"/>
                  <a:pt x="29" y="10686"/>
                  <a:pt x="24" y="10679"/>
                </a:cubicBezTo>
                <a:cubicBezTo>
                  <a:pt x="19" y="10671"/>
                  <a:pt x="14" y="10662"/>
                  <a:pt x="11" y="10653"/>
                </a:cubicBezTo>
                <a:cubicBezTo>
                  <a:pt x="7" y="10645"/>
                  <a:pt x="4" y="10635"/>
                  <a:pt x="2" y="10626"/>
                </a:cubicBezTo>
                <a:cubicBezTo>
                  <a:pt x="0" y="10617"/>
                  <a:pt x="0" y="10607"/>
                  <a:pt x="0" y="10598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7939080" y="1861920"/>
            <a:ext cx="3486240" cy="3867480"/>
          </a:xfrm>
          <a:custGeom>
            <a:avLst/>
            <a:gdLst/>
            <a:ahLst/>
            <a:rect l="0" t="0" r="r" b="b"/>
            <a:pathLst>
              <a:path fill="none" w="9684" h="10743">
                <a:moveTo>
                  <a:pt x="0" y="10598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8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10598"/>
                </a:lnTo>
                <a:cubicBezTo>
                  <a:pt x="9684" y="10607"/>
                  <a:pt x="9683" y="10617"/>
                  <a:pt x="9681" y="10626"/>
                </a:cubicBezTo>
                <a:cubicBezTo>
                  <a:pt x="9680" y="10635"/>
                  <a:pt x="9677" y="10645"/>
                  <a:pt x="9673" y="10653"/>
                </a:cubicBezTo>
                <a:cubicBezTo>
                  <a:pt x="9670" y="10662"/>
                  <a:pt x="9665" y="10671"/>
                  <a:pt x="9660" y="10679"/>
                </a:cubicBezTo>
                <a:cubicBezTo>
                  <a:pt x="9654" y="10686"/>
                  <a:pt x="9648" y="10694"/>
                  <a:pt x="9642" y="10701"/>
                </a:cubicBezTo>
                <a:cubicBezTo>
                  <a:pt x="9635" y="10707"/>
                  <a:pt x="9628" y="10713"/>
                  <a:pt x="9620" y="10719"/>
                </a:cubicBezTo>
                <a:cubicBezTo>
                  <a:pt x="9612" y="10724"/>
                  <a:pt x="9603" y="10728"/>
                  <a:pt x="9594" y="10732"/>
                </a:cubicBezTo>
                <a:cubicBezTo>
                  <a:pt x="9586" y="10736"/>
                  <a:pt x="9577" y="10739"/>
                  <a:pt x="9567" y="10740"/>
                </a:cubicBezTo>
                <a:cubicBezTo>
                  <a:pt x="9558" y="10742"/>
                  <a:pt x="9548" y="10743"/>
                  <a:pt x="9539" y="10743"/>
                </a:cubicBezTo>
                <a:lnTo>
                  <a:pt x="145" y="10743"/>
                </a:lnTo>
                <a:cubicBezTo>
                  <a:pt x="135" y="10743"/>
                  <a:pt x="126" y="10742"/>
                  <a:pt x="117" y="10740"/>
                </a:cubicBezTo>
                <a:cubicBezTo>
                  <a:pt x="107" y="10739"/>
                  <a:pt x="98" y="10736"/>
                  <a:pt x="89" y="10732"/>
                </a:cubicBezTo>
                <a:cubicBezTo>
                  <a:pt x="81" y="10728"/>
                  <a:pt x="72" y="10724"/>
                  <a:pt x="64" y="10719"/>
                </a:cubicBezTo>
                <a:cubicBezTo>
                  <a:pt x="56" y="10713"/>
                  <a:pt x="49" y="10707"/>
                  <a:pt x="42" y="10701"/>
                </a:cubicBezTo>
                <a:cubicBezTo>
                  <a:pt x="35" y="10694"/>
                  <a:pt x="29" y="10686"/>
                  <a:pt x="24" y="10679"/>
                </a:cubicBezTo>
                <a:cubicBezTo>
                  <a:pt x="19" y="10671"/>
                  <a:pt x="14" y="10662"/>
                  <a:pt x="11" y="10653"/>
                </a:cubicBezTo>
                <a:cubicBezTo>
                  <a:pt x="7" y="10645"/>
                  <a:pt x="4" y="10635"/>
                  <a:pt x="2" y="10626"/>
                </a:cubicBezTo>
                <a:cubicBezTo>
                  <a:pt x="0" y="10617"/>
                  <a:pt x="0" y="10607"/>
                  <a:pt x="0" y="10598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8286480" y="3124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790880" y="2064960"/>
            <a:ext cx="123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Key actors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8286480" y="3447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8465040" y="3033000"/>
            <a:ext cx="1690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“Top Tips for Staﬀ”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8286480" y="37623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3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8465040" y="3357000"/>
            <a:ext cx="2525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“Phishing guidance for staﬀ”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8465040" y="3671280"/>
            <a:ext cx="2391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“Security outcomes: secure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8115120" y="2371320"/>
            <a:ext cx="190800" cy="172080"/>
          </a:xfrm>
          <a:custGeom>
            <a:avLst/>
            <a:gdLst/>
            <a:ahLst/>
            <a:rect l="0" t="0" r="r" b="b"/>
            <a:pathLst>
              <a:path fill="none" w="530" h="478">
                <a:moveTo>
                  <a:pt x="523" y="398"/>
                </a:moveTo>
                <a:lnTo>
                  <a:pt x="310" y="27"/>
                </a:lnTo>
                <a:cubicBezTo>
                  <a:pt x="306" y="19"/>
                  <a:pt x="299" y="12"/>
                  <a:pt x="291" y="7"/>
                </a:cubicBezTo>
                <a:cubicBezTo>
                  <a:pt x="283" y="3"/>
                  <a:pt x="274" y="0"/>
                  <a:pt x="264" y="0"/>
                </a:cubicBezTo>
                <a:cubicBezTo>
                  <a:pt x="255" y="0"/>
                  <a:pt x="246" y="3"/>
                  <a:pt x="238" y="7"/>
                </a:cubicBezTo>
                <a:cubicBezTo>
                  <a:pt x="229" y="12"/>
                  <a:pt x="223" y="19"/>
                  <a:pt x="218" y="27"/>
                </a:cubicBezTo>
                <a:lnTo>
                  <a:pt x="7" y="398"/>
                </a:lnTo>
                <a:cubicBezTo>
                  <a:pt x="2" y="407"/>
                  <a:pt x="0" y="416"/>
                  <a:pt x="0" y="425"/>
                </a:cubicBezTo>
                <a:cubicBezTo>
                  <a:pt x="0" y="435"/>
                  <a:pt x="2" y="443"/>
                  <a:pt x="7" y="452"/>
                </a:cubicBezTo>
                <a:cubicBezTo>
                  <a:pt x="12" y="460"/>
                  <a:pt x="18" y="466"/>
                  <a:pt x="26" y="471"/>
                </a:cubicBezTo>
                <a:cubicBezTo>
                  <a:pt x="35" y="476"/>
                  <a:pt x="43" y="478"/>
                  <a:pt x="53" y="478"/>
                </a:cubicBezTo>
                <a:lnTo>
                  <a:pt x="477" y="478"/>
                </a:lnTo>
                <a:cubicBezTo>
                  <a:pt x="482" y="478"/>
                  <a:pt x="486" y="477"/>
                  <a:pt x="491" y="476"/>
                </a:cubicBezTo>
                <a:cubicBezTo>
                  <a:pt x="495" y="475"/>
                  <a:pt x="500" y="473"/>
                  <a:pt x="504" y="471"/>
                </a:cubicBezTo>
                <a:cubicBezTo>
                  <a:pt x="508" y="468"/>
                  <a:pt x="511" y="466"/>
                  <a:pt x="515" y="462"/>
                </a:cubicBezTo>
                <a:cubicBezTo>
                  <a:pt x="518" y="459"/>
                  <a:pt x="521" y="455"/>
                  <a:pt x="523" y="451"/>
                </a:cubicBezTo>
                <a:cubicBezTo>
                  <a:pt x="525" y="447"/>
                  <a:pt x="527" y="443"/>
                  <a:pt x="528" y="439"/>
                </a:cubicBezTo>
                <a:cubicBezTo>
                  <a:pt x="530" y="434"/>
                  <a:pt x="530" y="430"/>
                  <a:pt x="530" y="425"/>
                </a:cubicBezTo>
                <a:cubicBezTo>
                  <a:pt x="530" y="420"/>
                  <a:pt x="530" y="416"/>
                  <a:pt x="528" y="411"/>
                </a:cubicBezTo>
                <a:cubicBezTo>
                  <a:pt x="527" y="407"/>
                  <a:pt x="525" y="403"/>
                  <a:pt x="523" y="398"/>
                </a:cubicBezTo>
                <a:moveTo>
                  <a:pt x="265" y="159"/>
                </a:moveTo>
                <a:lnTo>
                  <a:pt x="265" y="265"/>
                </a:lnTo>
                <a:moveTo>
                  <a:pt x="265" y="372"/>
                </a:move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8465040" y="3947400"/>
            <a:ext cx="2806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design, build and maintenance”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8378640" y="2064960"/>
            <a:ext cx="632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NCSC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378640" y="2350800"/>
            <a:ext cx="1067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guidance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8378640" y="2636280"/>
            <a:ext cx="1101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packages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766440" y="1385640"/>
            <a:ext cx="9515880" cy="4896360"/>
          </a:xfrm>
          <a:custGeom>
            <a:avLst/>
            <a:gdLst/>
            <a:ahLst/>
            <a:rect l="0" t="0" r="r" b="b"/>
            <a:pathLst>
              <a:path fill="none" w="26433" h="13601">
                <a:moveTo>
                  <a:pt x="0" y="0"/>
                </a:moveTo>
                <a:lnTo>
                  <a:pt x="26433" y="0"/>
                </a:lnTo>
                <a:lnTo>
                  <a:pt x="26433" y="13601"/>
                </a:lnTo>
                <a:lnTo>
                  <a:pt x="0" y="13601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26459" y="0"/>
                </a:move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601"/>
                </a:lnTo>
                <a:lnTo>
                  <a:pt x="26433" y="13601"/>
                </a:lnTo>
                <a:lnTo>
                  <a:pt x="26433" y="26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905120" y="323928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905120" y="36010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904760" y="44956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4"/>
                </a:cubicBezTo>
                <a:cubicBezTo>
                  <a:pt x="4919" y="415"/>
                  <a:pt x="4922" y="446"/>
                  <a:pt x="4922" y="477"/>
                </a:cubicBezTo>
                <a:cubicBezTo>
                  <a:pt x="4922" y="508"/>
                  <a:pt x="4919" y="539"/>
                  <a:pt x="4913" y="570"/>
                </a:cubicBezTo>
                <a:cubicBezTo>
                  <a:pt x="4907" y="601"/>
                  <a:pt x="4898" y="630"/>
                  <a:pt x="4886" y="659"/>
                </a:cubicBezTo>
                <a:cubicBezTo>
                  <a:pt x="4874" y="688"/>
                  <a:pt x="4860" y="716"/>
                  <a:pt x="4842" y="742"/>
                </a:cubicBezTo>
                <a:cubicBezTo>
                  <a:pt x="4825" y="768"/>
                  <a:pt x="4805" y="792"/>
                  <a:pt x="4783" y="814"/>
                </a:cubicBezTo>
                <a:cubicBezTo>
                  <a:pt x="4761" y="836"/>
                  <a:pt x="4737" y="856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8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905120" y="412344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3752640" y="44956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4"/>
                </a:cubicBezTo>
                <a:cubicBezTo>
                  <a:pt x="2750" y="415"/>
                  <a:pt x="2753" y="446"/>
                  <a:pt x="2753" y="477"/>
                </a:cubicBezTo>
                <a:cubicBezTo>
                  <a:pt x="2753" y="508"/>
                  <a:pt x="2750" y="539"/>
                  <a:pt x="2744" y="570"/>
                </a:cubicBezTo>
                <a:cubicBezTo>
                  <a:pt x="2737" y="601"/>
                  <a:pt x="2728" y="630"/>
                  <a:pt x="2716" y="659"/>
                </a:cubicBezTo>
                <a:cubicBezTo>
                  <a:pt x="2705" y="688"/>
                  <a:pt x="2690" y="716"/>
                  <a:pt x="2672" y="742"/>
                </a:cubicBezTo>
                <a:cubicBezTo>
                  <a:pt x="2655" y="768"/>
                  <a:pt x="2635" y="792"/>
                  <a:pt x="2613" y="814"/>
                </a:cubicBezTo>
                <a:cubicBezTo>
                  <a:pt x="2591" y="836"/>
                  <a:pt x="2567" y="856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7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057400" y="45723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9439200" y="5943240"/>
            <a:ext cx="771840" cy="267120"/>
          </a:xfrm>
          <a:custGeom>
            <a:avLst/>
            <a:gdLst/>
            <a:ahLst/>
            <a:rect l="0" t="0" r="r" b="b"/>
            <a:pathLst>
              <a:path w="2144" h="742">
                <a:moveTo>
                  <a:pt x="0" y="425"/>
                </a:moveTo>
                <a:lnTo>
                  <a:pt x="0" y="319"/>
                </a:lnTo>
                <a:cubicBezTo>
                  <a:pt x="0" y="298"/>
                  <a:pt x="2" y="278"/>
                  <a:pt x="6" y="257"/>
                </a:cubicBezTo>
                <a:cubicBezTo>
                  <a:pt x="10" y="237"/>
                  <a:pt x="16" y="217"/>
                  <a:pt x="24" y="197"/>
                </a:cubicBezTo>
                <a:cubicBezTo>
                  <a:pt x="32" y="178"/>
                  <a:pt x="42" y="160"/>
                  <a:pt x="53" y="143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3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3"/>
                  <a:pt x="1888" y="7"/>
                </a:cubicBezTo>
                <a:cubicBezTo>
                  <a:pt x="1909" y="11"/>
                  <a:pt x="1929" y="17"/>
                  <a:pt x="1948" y="25"/>
                </a:cubicBezTo>
                <a:cubicBezTo>
                  <a:pt x="1967" y="33"/>
                  <a:pt x="1985" y="42"/>
                  <a:pt x="2003" y="54"/>
                </a:cubicBezTo>
                <a:cubicBezTo>
                  <a:pt x="2020" y="66"/>
                  <a:pt x="2036" y="79"/>
                  <a:pt x="2051" y="93"/>
                </a:cubicBezTo>
                <a:cubicBezTo>
                  <a:pt x="2066" y="108"/>
                  <a:pt x="2079" y="124"/>
                  <a:pt x="2090" y="143"/>
                </a:cubicBezTo>
                <a:cubicBezTo>
                  <a:pt x="2102" y="160"/>
                  <a:pt x="2112" y="178"/>
                  <a:pt x="2120" y="197"/>
                </a:cubicBezTo>
                <a:cubicBezTo>
                  <a:pt x="2128" y="217"/>
                  <a:pt x="2134" y="237"/>
                  <a:pt x="2138" y="257"/>
                </a:cubicBezTo>
                <a:cubicBezTo>
                  <a:pt x="2142" y="278"/>
                  <a:pt x="2144" y="298"/>
                  <a:pt x="2144" y="319"/>
                </a:cubicBezTo>
                <a:lnTo>
                  <a:pt x="2144" y="425"/>
                </a:lnTo>
                <a:cubicBezTo>
                  <a:pt x="2144" y="446"/>
                  <a:pt x="2142" y="466"/>
                  <a:pt x="2138" y="487"/>
                </a:cubicBezTo>
                <a:cubicBezTo>
                  <a:pt x="2134" y="507"/>
                  <a:pt x="2128" y="527"/>
                  <a:pt x="2120" y="546"/>
                </a:cubicBezTo>
                <a:cubicBezTo>
                  <a:pt x="2112" y="566"/>
                  <a:pt x="2102" y="584"/>
                  <a:pt x="2090" y="601"/>
                </a:cubicBezTo>
                <a:cubicBezTo>
                  <a:pt x="2079" y="619"/>
                  <a:pt x="2066" y="635"/>
                  <a:pt x="2051" y="649"/>
                </a:cubicBezTo>
                <a:cubicBezTo>
                  <a:pt x="2036" y="664"/>
                  <a:pt x="2020" y="677"/>
                  <a:pt x="2003" y="689"/>
                </a:cubicBezTo>
                <a:cubicBezTo>
                  <a:pt x="1985" y="700"/>
                  <a:pt x="1967" y="710"/>
                  <a:pt x="1948" y="718"/>
                </a:cubicBezTo>
                <a:cubicBezTo>
                  <a:pt x="1929" y="726"/>
                  <a:pt x="1909" y="732"/>
                  <a:pt x="1888" y="736"/>
                </a:cubicBezTo>
                <a:cubicBezTo>
                  <a:pt x="1868" y="740"/>
                  <a:pt x="1847" y="742"/>
                  <a:pt x="1826" y="742"/>
                </a:cubicBezTo>
                <a:lnTo>
                  <a:pt x="317" y="742"/>
                </a:lnTo>
                <a:cubicBezTo>
                  <a:pt x="296" y="742"/>
                  <a:pt x="276" y="740"/>
                  <a:pt x="255" y="736"/>
                </a:cubicBezTo>
                <a:cubicBezTo>
                  <a:pt x="235" y="732"/>
                  <a:pt x="215" y="726"/>
                  <a:pt x="196" y="718"/>
                </a:cubicBezTo>
                <a:cubicBezTo>
                  <a:pt x="176" y="710"/>
                  <a:pt x="158" y="700"/>
                  <a:pt x="141" y="689"/>
                </a:cubicBezTo>
                <a:cubicBezTo>
                  <a:pt x="123" y="677"/>
                  <a:pt x="107" y="664"/>
                  <a:pt x="93" y="649"/>
                </a:cubicBezTo>
                <a:cubicBezTo>
                  <a:pt x="78" y="635"/>
                  <a:pt x="65" y="619"/>
                  <a:pt x="53" y="601"/>
                </a:cubicBezTo>
                <a:cubicBezTo>
                  <a:pt x="42" y="584"/>
                  <a:pt x="32" y="566"/>
                  <a:pt x="24" y="546"/>
                </a:cubicBezTo>
                <a:cubicBezTo>
                  <a:pt x="16" y="527"/>
                  <a:pt x="10" y="507"/>
                  <a:pt x="6" y="487"/>
                </a:cubicBezTo>
                <a:cubicBezTo>
                  <a:pt x="2" y="466"/>
                  <a:pt x="0" y="446"/>
                  <a:pt x="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908880" y="45723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9552240" y="598212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762120" y="-8280"/>
            <a:ext cx="106380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Senator Frank Church, NBC's Meet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762120" y="753480"/>
            <a:ext cx="73213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Press, 17 Aug 1975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/>
          <a:stretch/>
        </p:blipFill>
        <p:spPr>
          <a:xfrm>
            <a:off x="9448920" y="25146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"/>
          <p:cNvSpPr/>
          <p:nvPr/>
        </p:nvSpPr>
        <p:spPr>
          <a:xfrm>
            <a:off x="847440" y="182268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2"/>
                  <a:pt x="0" y="875"/>
                </a:cubicBezTo>
                <a:cubicBezTo>
                  <a:pt x="0" y="1148"/>
                  <a:pt x="161" y="1392"/>
                  <a:pt x="413" y="1552"/>
                </a:cubicBezTo>
                <a:cubicBezTo>
                  <a:pt x="380" y="1696"/>
                  <a:pt x="304" y="1910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0"/>
                  <a:pt x="1033" y="1750"/>
                  <a:pt x="1126" y="1750"/>
                </a:cubicBezTo>
                <a:cubicBezTo>
                  <a:pt x="1747" y="1750"/>
                  <a:pt x="2250" y="1358"/>
                  <a:pt x="2250" y="875"/>
                </a:cubicBezTo>
                <a:cubicBezTo>
                  <a:pt x="2250" y="392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20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4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7" y="215"/>
                </a:cubicBezTo>
                <a:cubicBezTo>
                  <a:pt x="26" y="203"/>
                  <a:pt x="17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7" y="63"/>
                  <a:pt x="26" y="50"/>
                  <a:pt x="37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387440" y="2092320"/>
            <a:ext cx="90000" cy="90360"/>
          </a:xfrm>
          <a:custGeom>
            <a:avLst/>
            <a:gdLst/>
            <a:ahLst/>
            <a:rect l="0" t="0" r="r" b="b"/>
            <a:pathLst>
              <a:path w="250" h="251">
                <a:moveTo>
                  <a:pt x="250" y="126"/>
                </a:moveTo>
                <a:cubicBezTo>
                  <a:pt x="250" y="143"/>
                  <a:pt x="247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3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2" y="235"/>
                  <a:pt x="49" y="226"/>
                  <a:pt x="37" y="215"/>
                </a:cubicBezTo>
                <a:cubicBezTo>
                  <a:pt x="25" y="203"/>
                  <a:pt x="16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6" y="63"/>
                  <a:pt x="25" y="50"/>
                  <a:pt x="37" y="37"/>
                </a:cubicBezTo>
                <a:cubicBezTo>
                  <a:pt x="49" y="25"/>
                  <a:pt x="62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7" y="94"/>
                  <a:pt x="250" y="110"/>
                  <a:pt x="250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02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3" y="226"/>
                  <a:pt x="189" y="235"/>
                  <a:pt x="174" y="242"/>
                </a:cubicBezTo>
                <a:cubicBezTo>
                  <a:pt x="159" y="248"/>
                  <a:pt x="143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8" y="215"/>
                </a:cubicBezTo>
                <a:cubicBezTo>
                  <a:pt x="26" y="203"/>
                  <a:pt x="17" y="189"/>
                  <a:pt x="11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1" y="78"/>
                </a:cubicBezTo>
                <a:cubicBezTo>
                  <a:pt x="17" y="63"/>
                  <a:pt x="26" y="50"/>
                  <a:pt x="38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10"/>
                </a:cubicBezTo>
                <a:cubicBezTo>
                  <a:pt x="189" y="16"/>
                  <a:pt x="203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696680" y="1738080"/>
            <a:ext cx="40820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62120" y="2757240"/>
            <a:ext cx="18169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762120" y="4432680"/>
            <a:ext cx="4591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Disagree with Senator Frank and state why?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62120" y="519516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1:57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994400" y="549000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766440" y="1500120"/>
            <a:ext cx="10658880" cy="1410120"/>
          </a:xfrm>
          <a:custGeom>
            <a:avLst/>
            <a:gdLst/>
            <a:ahLst/>
            <a:rect l="0" t="0" r="r" b="b"/>
            <a:pathLst>
              <a:path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1"/>
                  <a:pt x="0" y="377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766440" y="1500120"/>
            <a:ext cx="10658880" cy="1410120"/>
          </a:xfrm>
          <a:custGeom>
            <a:avLst/>
            <a:gdLst/>
            <a:ahLst/>
            <a:rect l="0" t="0" r="r" b="b"/>
            <a:pathLst>
              <a:path fill="none"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1"/>
                  <a:pt x="0" y="377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104840" y="1695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62120" y="372600"/>
            <a:ext cx="10575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Intelligence Agency Collaboration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289520" y="1604160"/>
            <a:ext cx="9792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National Cyber Security Centre (part of GCHQ) collaborates with MI5, MI6, law enforcement, and DSIT on cyber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104840" y="2285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289520" y="1880640"/>
            <a:ext cx="753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defence.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104840" y="2609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289520" y="2194920"/>
            <a:ext cx="7829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Joint advisory notices with allies (e.g., NCSC + FBI + CISA) warn about emerging threats.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766440" y="3033360"/>
            <a:ext cx="10658880" cy="1629360"/>
          </a:xfrm>
          <a:custGeom>
            <a:avLst/>
            <a:gdLst/>
            <a:ahLst/>
            <a:rect l="0" t="0" r="r" b="b"/>
            <a:pathLst>
              <a:path w="29608" h="4526">
                <a:moveTo>
                  <a:pt x="0" y="438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380"/>
                </a:lnTo>
                <a:cubicBezTo>
                  <a:pt x="29608" y="4390"/>
                  <a:pt x="29607" y="4399"/>
                  <a:pt x="29605" y="4409"/>
                </a:cubicBezTo>
                <a:cubicBezTo>
                  <a:pt x="29604" y="4418"/>
                  <a:pt x="29601" y="4427"/>
                  <a:pt x="29597" y="4436"/>
                </a:cubicBezTo>
                <a:cubicBezTo>
                  <a:pt x="29594" y="4445"/>
                  <a:pt x="29589" y="4453"/>
                  <a:pt x="29584" y="4461"/>
                </a:cubicBezTo>
                <a:cubicBezTo>
                  <a:pt x="29578" y="4469"/>
                  <a:pt x="29572" y="4476"/>
                  <a:pt x="29566" y="4483"/>
                </a:cubicBezTo>
                <a:cubicBezTo>
                  <a:pt x="29559" y="4490"/>
                  <a:pt x="29552" y="4496"/>
                  <a:pt x="29544" y="4501"/>
                </a:cubicBezTo>
                <a:cubicBezTo>
                  <a:pt x="29536" y="4507"/>
                  <a:pt x="29527" y="4511"/>
                  <a:pt x="29518" y="4515"/>
                </a:cubicBezTo>
                <a:cubicBezTo>
                  <a:pt x="29510" y="4518"/>
                  <a:pt x="29501" y="4521"/>
                  <a:pt x="29491" y="4523"/>
                </a:cubicBezTo>
                <a:cubicBezTo>
                  <a:pt x="29482" y="4525"/>
                  <a:pt x="29472" y="4526"/>
                  <a:pt x="29463" y="4526"/>
                </a:cubicBezTo>
                <a:lnTo>
                  <a:pt x="146" y="4526"/>
                </a:lnTo>
                <a:cubicBezTo>
                  <a:pt x="136" y="4526"/>
                  <a:pt x="127" y="4525"/>
                  <a:pt x="118" y="4523"/>
                </a:cubicBezTo>
                <a:cubicBezTo>
                  <a:pt x="108" y="4521"/>
                  <a:pt x="99" y="4518"/>
                  <a:pt x="90" y="4515"/>
                </a:cubicBezTo>
                <a:cubicBezTo>
                  <a:pt x="81" y="4511"/>
                  <a:pt x="73" y="4507"/>
                  <a:pt x="65" y="4501"/>
                </a:cubicBezTo>
                <a:cubicBezTo>
                  <a:pt x="57" y="4496"/>
                  <a:pt x="50" y="4490"/>
                  <a:pt x="43" y="4483"/>
                </a:cubicBezTo>
                <a:cubicBezTo>
                  <a:pt x="36" y="4476"/>
                  <a:pt x="30" y="4469"/>
                  <a:pt x="25" y="4461"/>
                </a:cubicBezTo>
                <a:cubicBezTo>
                  <a:pt x="20" y="4453"/>
                  <a:pt x="15" y="4445"/>
                  <a:pt x="11" y="4436"/>
                </a:cubicBezTo>
                <a:cubicBezTo>
                  <a:pt x="8" y="4427"/>
                  <a:pt x="5" y="4418"/>
                  <a:pt x="3" y="4409"/>
                </a:cubicBezTo>
                <a:cubicBezTo>
                  <a:pt x="1" y="4399"/>
                  <a:pt x="0" y="4390"/>
                  <a:pt x="0" y="438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766440" y="3033360"/>
            <a:ext cx="10658880" cy="1629360"/>
          </a:xfrm>
          <a:custGeom>
            <a:avLst/>
            <a:gdLst/>
            <a:ahLst/>
            <a:rect l="0" t="0" r="r" b="b"/>
            <a:pathLst>
              <a:path fill="none" w="29608" h="4526">
                <a:moveTo>
                  <a:pt x="0" y="438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380"/>
                </a:lnTo>
                <a:cubicBezTo>
                  <a:pt x="29608" y="4390"/>
                  <a:pt x="29607" y="4399"/>
                  <a:pt x="29605" y="4409"/>
                </a:cubicBezTo>
                <a:cubicBezTo>
                  <a:pt x="29604" y="4418"/>
                  <a:pt x="29601" y="4427"/>
                  <a:pt x="29597" y="4436"/>
                </a:cubicBezTo>
                <a:cubicBezTo>
                  <a:pt x="29594" y="4445"/>
                  <a:pt x="29589" y="4453"/>
                  <a:pt x="29584" y="4461"/>
                </a:cubicBezTo>
                <a:cubicBezTo>
                  <a:pt x="29578" y="4469"/>
                  <a:pt x="29572" y="4476"/>
                  <a:pt x="29566" y="4483"/>
                </a:cubicBezTo>
                <a:cubicBezTo>
                  <a:pt x="29559" y="4490"/>
                  <a:pt x="29552" y="4496"/>
                  <a:pt x="29544" y="4501"/>
                </a:cubicBezTo>
                <a:cubicBezTo>
                  <a:pt x="29536" y="4507"/>
                  <a:pt x="29527" y="4511"/>
                  <a:pt x="29518" y="4515"/>
                </a:cubicBezTo>
                <a:cubicBezTo>
                  <a:pt x="29510" y="4518"/>
                  <a:pt x="29501" y="4521"/>
                  <a:pt x="29491" y="4523"/>
                </a:cubicBezTo>
                <a:cubicBezTo>
                  <a:pt x="29482" y="4525"/>
                  <a:pt x="29472" y="4526"/>
                  <a:pt x="29463" y="4526"/>
                </a:cubicBezTo>
                <a:lnTo>
                  <a:pt x="146" y="4526"/>
                </a:lnTo>
                <a:cubicBezTo>
                  <a:pt x="136" y="4526"/>
                  <a:pt x="127" y="4525"/>
                  <a:pt x="118" y="4523"/>
                </a:cubicBezTo>
                <a:cubicBezTo>
                  <a:pt x="108" y="4521"/>
                  <a:pt x="99" y="4518"/>
                  <a:pt x="90" y="4515"/>
                </a:cubicBezTo>
                <a:cubicBezTo>
                  <a:pt x="81" y="4511"/>
                  <a:pt x="73" y="4507"/>
                  <a:pt x="65" y="4501"/>
                </a:cubicBezTo>
                <a:cubicBezTo>
                  <a:pt x="57" y="4496"/>
                  <a:pt x="50" y="4490"/>
                  <a:pt x="43" y="4483"/>
                </a:cubicBezTo>
                <a:cubicBezTo>
                  <a:pt x="36" y="4476"/>
                  <a:pt x="30" y="4469"/>
                  <a:pt x="25" y="4461"/>
                </a:cubicBezTo>
                <a:cubicBezTo>
                  <a:pt x="20" y="4453"/>
                  <a:pt x="15" y="4445"/>
                  <a:pt x="11" y="4436"/>
                </a:cubicBezTo>
                <a:cubicBezTo>
                  <a:pt x="8" y="4427"/>
                  <a:pt x="5" y="4418"/>
                  <a:pt x="3" y="4409"/>
                </a:cubicBezTo>
                <a:cubicBezTo>
                  <a:pt x="1" y="4399"/>
                  <a:pt x="0" y="4390"/>
                  <a:pt x="0" y="438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104840" y="37242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7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289520" y="2518560"/>
            <a:ext cx="9953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University sector engagement via National Cyber Security Strategy to protect research and critical infrastructure.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104840" y="4047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289520" y="3633120"/>
            <a:ext cx="6205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Intelligence insights inform threat models for digital identity systems.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104840" y="4371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289520" y="3957120"/>
            <a:ext cx="9633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Shared indicators of compromise (IOCs) accelerate response to credential-stuﬃng, state-sponsored attacks.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942840" y="324792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2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7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037880" y="330516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289520" y="4280760"/>
            <a:ext cx="8137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Collaborative exercises test incident response, ensuring alignment with privacy obligations.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766440" y="4786200"/>
            <a:ext cx="10658880" cy="1590840"/>
          </a:xfrm>
          <a:custGeom>
            <a:avLst/>
            <a:gdLst/>
            <a:ahLst/>
            <a:rect l="0" t="0" r="r" b="b"/>
            <a:pathLst>
              <a:path w="2960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274"/>
                </a:lnTo>
                <a:cubicBezTo>
                  <a:pt x="29608" y="4283"/>
                  <a:pt x="29607" y="4293"/>
                  <a:pt x="29605" y="4302"/>
                </a:cubicBezTo>
                <a:cubicBezTo>
                  <a:pt x="29604" y="4312"/>
                  <a:pt x="29601" y="4321"/>
                  <a:pt x="29597" y="4330"/>
                </a:cubicBezTo>
                <a:cubicBezTo>
                  <a:pt x="29594" y="4338"/>
                  <a:pt x="29589" y="4347"/>
                  <a:pt x="29584" y="4355"/>
                </a:cubicBezTo>
                <a:cubicBezTo>
                  <a:pt x="29578" y="4363"/>
                  <a:pt x="29572" y="4370"/>
                  <a:pt x="29566" y="4377"/>
                </a:cubicBezTo>
                <a:cubicBezTo>
                  <a:pt x="29559" y="4383"/>
                  <a:pt x="29552" y="4390"/>
                  <a:pt x="29544" y="4395"/>
                </a:cubicBezTo>
                <a:cubicBezTo>
                  <a:pt x="29536" y="4400"/>
                  <a:pt x="29527" y="4405"/>
                  <a:pt x="29518" y="4408"/>
                </a:cubicBezTo>
                <a:cubicBezTo>
                  <a:pt x="29510" y="4412"/>
                  <a:pt x="29501" y="4415"/>
                  <a:pt x="29491" y="4417"/>
                </a:cubicBezTo>
                <a:cubicBezTo>
                  <a:pt x="29482" y="4418"/>
                  <a:pt x="29472" y="4419"/>
                  <a:pt x="2946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7"/>
                </a:cubicBezTo>
                <a:cubicBezTo>
                  <a:pt x="108" y="4415"/>
                  <a:pt x="99" y="4412"/>
                  <a:pt x="90" y="4408"/>
                </a:cubicBezTo>
                <a:cubicBezTo>
                  <a:pt x="81" y="4405"/>
                  <a:pt x="73" y="4400"/>
                  <a:pt x="65" y="4395"/>
                </a:cubicBezTo>
                <a:cubicBezTo>
                  <a:pt x="57" y="4390"/>
                  <a:pt x="50" y="4383"/>
                  <a:pt x="43" y="4377"/>
                </a:cubicBezTo>
                <a:cubicBezTo>
                  <a:pt x="36" y="4370"/>
                  <a:pt x="30" y="4363"/>
                  <a:pt x="25" y="4355"/>
                </a:cubicBezTo>
                <a:cubicBezTo>
                  <a:pt x="20" y="4347"/>
                  <a:pt x="15" y="4338"/>
                  <a:pt x="11" y="4330"/>
                </a:cubicBezTo>
                <a:cubicBezTo>
                  <a:pt x="8" y="4321"/>
                  <a:pt x="5" y="4312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766440" y="4786200"/>
            <a:ext cx="10658880" cy="1590840"/>
          </a:xfrm>
          <a:custGeom>
            <a:avLst/>
            <a:gdLst/>
            <a:ahLst/>
            <a:rect l="0" t="0" r="r" b="b"/>
            <a:pathLst>
              <a:path fill="none" w="2960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274"/>
                </a:lnTo>
                <a:cubicBezTo>
                  <a:pt x="29608" y="4283"/>
                  <a:pt x="29607" y="4293"/>
                  <a:pt x="29605" y="4302"/>
                </a:cubicBezTo>
                <a:cubicBezTo>
                  <a:pt x="29604" y="4312"/>
                  <a:pt x="29601" y="4321"/>
                  <a:pt x="29597" y="4330"/>
                </a:cubicBezTo>
                <a:cubicBezTo>
                  <a:pt x="29594" y="4338"/>
                  <a:pt x="29589" y="4347"/>
                  <a:pt x="29584" y="4355"/>
                </a:cubicBezTo>
                <a:cubicBezTo>
                  <a:pt x="29578" y="4363"/>
                  <a:pt x="29572" y="4370"/>
                  <a:pt x="29566" y="4377"/>
                </a:cubicBezTo>
                <a:cubicBezTo>
                  <a:pt x="29559" y="4383"/>
                  <a:pt x="29552" y="4390"/>
                  <a:pt x="29544" y="4395"/>
                </a:cubicBezTo>
                <a:cubicBezTo>
                  <a:pt x="29536" y="4400"/>
                  <a:pt x="29527" y="4405"/>
                  <a:pt x="29518" y="4408"/>
                </a:cubicBezTo>
                <a:cubicBezTo>
                  <a:pt x="29510" y="4412"/>
                  <a:pt x="29501" y="4415"/>
                  <a:pt x="29491" y="4417"/>
                </a:cubicBezTo>
                <a:cubicBezTo>
                  <a:pt x="29482" y="4418"/>
                  <a:pt x="29472" y="4419"/>
                  <a:pt x="2946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7"/>
                </a:cubicBezTo>
                <a:cubicBezTo>
                  <a:pt x="108" y="4415"/>
                  <a:pt x="99" y="4412"/>
                  <a:pt x="90" y="4408"/>
                </a:cubicBezTo>
                <a:cubicBezTo>
                  <a:pt x="81" y="4405"/>
                  <a:pt x="73" y="4400"/>
                  <a:pt x="65" y="4395"/>
                </a:cubicBezTo>
                <a:cubicBezTo>
                  <a:pt x="57" y="4390"/>
                  <a:pt x="50" y="4383"/>
                  <a:pt x="43" y="4377"/>
                </a:cubicBezTo>
                <a:cubicBezTo>
                  <a:pt x="36" y="4370"/>
                  <a:pt x="30" y="4363"/>
                  <a:pt x="25" y="4355"/>
                </a:cubicBezTo>
                <a:cubicBezTo>
                  <a:pt x="20" y="4347"/>
                  <a:pt x="15" y="4338"/>
                  <a:pt x="11" y="4330"/>
                </a:cubicBezTo>
                <a:cubicBezTo>
                  <a:pt x="8" y="4321"/>
                  <a:pt x="5" y="4312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1104840" y="5486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2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2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203120" y="3236400"/>
            <a:ext cx="3942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Why it matters for digital identity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289520" y="5395320"/>
            <a:ext cx="9536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Oversight through Intelligence and Security Committee of Parliament, Investigatory Powers Commissionerʼs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104840" y="6076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289520" y="5671440"/>
            <a:ext cx="575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Oﬃce.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942480" y="500976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8"/>
                </a:moveTo>
                <a:lnTo>
                  <a:pt x="312" y="27"/>
                </a:lnTo>
                <a:cubicBezTo>
                  <a:pt x="308" y="19"/>
                  <a:pt x="301" y="12"/>
                  <a:pt x="293" y="7"/>
                </a:cubicBezTo>
                <a:cubicBezTo>
                  <a:pt x="284" y="3"/>
                  <a:pt x="275" y="0"/>
                  <a:pt x="265" y="0"/>
                </a:cubicBezTo>
                <a:cubicBezTo>
                  <a:pt x="256" y="0"/>
                  <a:pt x="247" y="3"/>
                  <a:pt x="239" y="7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8"/>
                </a:lnTo>
                <a:cubicBezTo>
                  <a:pt x="3" y="407"/>
                  <a:pt x="0" y="416"/>
                  <a:pt x="0" y="425"/>
                </a:cubicBezTo>
                <a:cubicBezTo>
                  <a:pt x="0" y="435"/>
                  <a:pt x="3" y="443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8"/>
                  <a:pt x="512" y="466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9"/>
                </a:cubicBezTo>
                <a:cubicBezTo>
                  <a:pt x="530" y="434"/>
                  <a:pt x="531" y="430"/>
                  <a:pt x="531" y="425"/>
                </a:cubicBezTo>
                <a:cubicBezTo>
                  <a:pt x="531" y="420"/>
                  <a:pt x="530" y="416"/>
                  <a:pt x="529" y="411"/>
                </a:cubicBezTo>
                <a:cubicBezTo>
                  <a:pt x="528" y="407"/>
                  <a:pt x="526" y="402"/>
                  <a:pt x="524" y="398"/>
                </a:cubicBezTo>
                <a:moveTo>
                  <a:pt x="265" y="160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289520" y="5985720"/>
            <a:ext cx="8562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Ensuring proportionality: intelligence sharing must respect citizensʼ rights and legal constraints.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203120" y="4989240"/>
            <a:ext cx="3577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Transparency &amp; accountability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66440" y="1385640"/>
            <a:ext cx="9515880" cy="4753440"/>
          </a:xfrm>
          <a:custGeom>
            <a:avLst/>
            <a:gdLst/>
            <a:ahLst/>
            <a:rect l="0" t="0" r="r" b="b"/>
            <a:pathLst>
              <a:path fill="none" w="26433" h="13204">
                <a:moveTo>
                  <a:pt x="0" y="0"/>
                </a:moveTo>
                <a:lnTo>
                  <a:pt x="26433" y="0"/>
                </a:lnTo>
                <a:lnTo>
                  <a:pt x="26433" y="13204"/>
                </a:lnTo>
                <a:lnTo>
                  <a:pt x="0" y="13204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26459" y="0"/>
                </a:move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204"/>
                </a:lnTo>
                <a:lnTo>
                  <a:pt x="26433" y="13204"/>
                </a:lnTo>
                <a:lnTo>
                  <a:pt x="26433" y="26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905120" y="317232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905120" y="35344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904760" y="44290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6"/>
                </a:moveTo>
                <a:cubicBezTo>
                  <a:pt x="0" y="445"/>
                  <a:pt x="3" y="414"/>
                  <a:pt x="9" y="383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3"/>
                </a:cubicBezTo>
                <a:cubicBezTo>
                  <a:pt x="4919" y="414"/>
                  <a:pt x="4922" y="445"/>
                  <a:pt x="4922" y="476"/>
                </a:cubicBezTo>
                <a:cubicBezTo>
                  <a:pt x="4922" y="507"/>
                  <a:pt x="4919" y="538"/>
                  <a:pt x="4913" y="570"/>
                </a:cubicBezTo>
                <a:cubicBezTo>
                  <a:pt x="4907" y="600"/>
                  <a:pt x="4898" y="630"/>
                  <a:pt x="4886" y="659"/>
                </a:cubicBezTo>
                <a:cubicBezTo>
                  <a:pt x="4874" y="688"/>
                  <a:pt x="4860" y="715"/>
                  <a:pt x="4842" y="741"/>
                </a:cubicBezTo>
                <a:cubicBezTo>
                  <a:pt x="4825" y="767"/>
                  <a:pt x="4805" y="792"/>
                  <a:pt x="4783" y="814"/>
                </a:cubicBezTo>
                <a:cubicBezTo>
                  <a:pt x="4761" y="836"/>
                  <a:pt x="4737" y="855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5"/>
                  <a:pt x="162" y="836"/>
                  <a:pt x="140" y="814"/>
                </a:cubicBezTo>
                <a:cubicBezTo>
                  <a:pt x="118" y="792"/>
                  <a:pt x="98" y="767"/>
                  <a:pt x="80" y="741"/>
                </a:cubicBezTo>
                <a:cubicBezTo>
                  <a:pt x="63" y="715"/>
                  <a:pt x="48" y="688"/>
                  <a:pt x="36" y="659"/>
                </a:cubicBezTo>
                <a:cubicBezTo>
                  <a:pt x="24" y="630"/>
                  <a:pt x="15" y="600"/>
                  <a:pt x="9" y="570"/>
                </a:cubicBezTo>
                <a:cubicBezTo>
                  <a:pt x="3" y="538"/>
                  <a:pt x="0" y="507"/>
                  <a:pt x="0" y="4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905120" y="405648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3752640" y="44290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6"/>
                </a:moveTo>
                <a:cubicBezTo>
                  <a:pt x="0" y="445"/>
                  <a:pt x="3" y="414"/>
                  <a:pt x="9" y="383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3"/>
                </a:cubicBezTo>
                <a:cubicBezTo>
                  <a:pt x="2750" y="414"/>
                  <a:pt x="2753" y="445"/>
                  <a:pt x="2753" y="476"/>
                </a:cubicBezTo>
                <a:cubicBezTo>
                  <a:pt x="2753" y="507"/>
                  <a:pt x="2750" y="538"/>
                  <a:pt x="2744" y="570"/>
                </a:cubicBezTo>
                <a:cubicBezTo>
                  <a:pt x="2737" y="600"/>
                  <a:pt x="2728" y="630"/>
                  <a:pt x="2716" y="659"/>
                </a:cubicBezTo>
                <a:cubicBezTo>
                  <a:pt x="2705" y="688"/>
                  <a:pt x="2690" y="715"/>
                  <a:pt x="2672" y="741"/>
                </a:cubicBezTo>
                <a:cubicBezTo>
                  <a:pt x="2655" y="767"/>
                  <a:pt x="2635" y="792"/>
                  <a:pt x="2613" y="814"/>
                </a:cubicBezTo>
                <a:cubicBezTo>
                  <a:pt x="2591" y="836"/>
                  <a:pt x="2567" y="855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5"/>
                  <a:pt x="162" y="836"/>
                  <a:pt x="140" y="814"/>
                </a:cubicBezTo>
                <a:cubicBezTo>
                  <a:pt x="117" y="792"/>
                  <a:pt x="98" y="767"/>
                  <a:pt x="80" y="741"/>
                </a:cubicBezTo>
                <a:cubicBezTo>
                  <a:pt x="63" y="715"/>
                  <a:pt x="48" y="688"/>
                  <a:pt x="36" y="659"/>
                </a:cubicBezTo>
                <a:cubicBezTo>
                  <a:pt x="24" y="630"/>
                  <a:pt x="15" y="600"/>
                  <a:pt x="9" y="570"/>
                </a:cubicBezTo>
                <a:cubicBezTo>
                  <a:pt x="3" y="538"/>
                  <a:pt x="0" y="507"/>
                  <a:pt x="0" y="4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057400" y="45057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9439200" y="5800680"/>
            <a:ext cx="771840" cy="266760"/>
          </a:xfrm>
          <a:custGeom>
            <a:avLst/>
            <a:gdLst/>
            <a:ahLst/>
            <a:rect l="0" t="0" r="r" b="b"/>
            <a:pathLst>
              <a:path w="2144" h="741">
                <a:moveTo>
                  <a:pt x="0" y="423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7" y="78"/>
                  <a:pt x="123" y="65"/>
                  <a:pt x="141" y="53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2"/>
                  <a:pt x="1888" y="6"/>
                </a:cubicBezTo>
                <a:cubicBezTo>
                  <a:pt x="1909" y="10"/>
                  <a:pt x="1929" y="16"/>
                  <a:pt x="1948" y="24"/>
                </a:cubicBezTo>
                <a:cubicBezTo>
                  <a:pt x="1967" y="32"/>
                  <a:pt x="1985" y="42"/>
                  <a:pt x="2003" y="53"/>
                </a:cubicBezTo>
                <a:cubicBezTo>
                  <a:pt x="2020" y="65"/>
                  <a:pt x="2036" y="78"/>
                  <a:pt x="2051" y="93"/>
                </a:cubicBezTo>
                <a:cubicBezTo>
                  <a:pt x="2066" y="107"/>
                  <a:pt x="2079" y="123"/>
                  <a:pt x="2090" y="141"/>
                </a:cubicBezTo>
                <a:cubicBezTo>
                  <a:pt x="2102" y="158"/>
                  <a:pt x="2112" y="176"/>
                  <a:pt x="2120" y="196"/>
                </a:cubicBezTo>
                <a:cubicBezTo>
                  <a:pt x="2128" y="215"/>
                  <a:pt x="2134" y="235"/>
                  <a:pt x="2138" y="255"/>
                </a:cubicBezTo>
                <a:cubicBezTo>
                  <a:pt x="2142" y="276"/>
                  <a:pt x="2144" y="296"/>
                  <a:pt x="2144" y="317"/>
                </a:cubicBezTo>
                <a:lnTo>
                  <a:pt x="2144" y="423"/>
                </a:lnTo>
                <a:cubicBezTo>
                  <a:pt x="2144" y="444"/>
                  <a:pt x="2142" y="464"/>
                  <a:pt x="2138" y="485"/>
                </a:cubicBezTo>
                <a:cubicBezTo>
                  <a:pt x="2134" y="505"/>
                  <a:pt x="2128" y="525"/>
                  <a:pt x="2120" y="545"/>
                </a:cubicBezTo>
                <a:cubicBezTo>
                  <a:pt x="2112" y="565"/>
                  <a:pt x="2102" y="583"/>
                  <a:pt x="2090" y="600"/>
                </a:cubicBezTo>
                <a:cubicBezTo>
                  <a:pt x="2079" y="618"/>
                  <a:pt x="2066" y="634"/>
                  <a:pt x="2051" y="648"/>
                </a:cubicBezTo>
                <a:cubicBezTo>
                  <a:pt x="2036" y="663"/>
                  <a:pt x="2020" y="676"/>
                  <a:pt x="2003" y="688"/>
                </a:cubicBezTo>
                <a:cubicBezTo>
                  <a:pt x="1985" y="700"/>
                  <a:pt x="1967" y="709"/>
                  <a:pt x="1948" y="717"/>
                </a:cubicBezTo>
                <a:cubicBezTo>
                  <a:pt x="1929" y="725"/>
                  <a:pt x="1909" y="731"/>
                  <a:pt x="1888" y="735"/>
                </a:cubicBezTo>
                <a:cubicBezTo>
                  <a:pt x="1868" y="739"/>
                  <a:pt x="1847" y="741"/>
                  <a:pt x="1826" y="741"/>
                </a:cubicBezTo>
                <a:lnTo>
                  <a:pt x="317" y="741"/>
                </a:lnTo>
                <a:cubicBezTo>
                  <a:pt x="296" y="741"/>
                  <a:pt x="276" y="739"/>
                  <a:pt x="255" y="735"/>
                </a:cubicBezTo>
                <a:cubicBezTo>
                  <a:pt x="235" y="731"/>
                  <a:pt x="215" y="725"/>
                  <a:pt x="196" y="717"/>
                </a:cubicBezTo>
                <a:cubicBezTo>
                  <a:pt x="176" y="709"/>
                  <a:pt x="158" y="700"/>
                  <a:pt x="141" y="688"/>
                </a:cubicBezTo>
                <a:cubicBezTo>
                  <a:pt x="123" y="676"/>
                  <a:pt x="107" y="663"/>
                  <a:pt x="93" y="648"/>
                </a:cubicBezTo>
                <a:cubicBezTo>
                  <a:pt x="78" y="634"/>
                  <a:pt x="65" y="618"/>
                  <a:pt x="53" y="600"/>
                </a:cubicBezTo>
                <a:cubicBezTo>
                  <a:pt x="42" y="583"/>
                  <a:pt x="32" y="565"/>
                  <a:pt x="24" y="545"/>
                </a:cubicBezTo>
                <a:cubicBezTo>
                  <a:pt x="16" y="525"/>
                  <a:pt x="10" y="505"/>
                  <a:pt x="6" y="485"/>
                </a:cubicBezTo>
                <a:cubicBezTo>
                  <a:pt x="2" y="464"/>
                  <a:pt x="0" y="444"/>
                  <a:pt x="0" y="4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3908880" y="45057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9552240" y="583920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62120" y="372600"/>
            <a:ext cx="4271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Five Eyes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766440" y="1500120"/>
            <a:ext cx="10658880" cy="1590840"/>
          </a:xfrm>
          <a:custGeom>
            <a:avLst/>
            <a:gdLst/>
            <a:ahLst/>
            <a:rect l="0" t="0" r="r" b="b"/>
            <a:pathLst>
              <a:path w="2960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274"/>
                </a:lnTo>
                <a:cubicBezTo>
                  <a:pt x="29608" y="4283"/>
                  <a:pt x="29607" y="4293"/>
                  <a:pt x="29605" y="4302"/>
                </a:cubicBezTo>
                <a:cubicBezTo>
                  <a:pt x="29604" y="4311"/>
                  <a:pt x="29601" y="4321"/>
                  <a:pt x="29597" y="4329"/>
                </a:cubicBezTo>
                <a:cubicBezTo>
                  <a:pt x="29594" y="4338"/>
                  <a:pt x="29589" y="4347"/>
                  <a:pt x="29584" y="4355"/>
                </a:cubicBezTo>
                <a:cubicBezTo>
                  <a:pt x="29578" y="4362"/>
                  <a:pt x="29572" y="4370"/>
                  <a:pt x="29566" y="4377"/>
                </a:cubicBezTo>
                <a:cubicBezTo>
                  <a:pt x="29559" y="4383"/>
                  <a:pt x="29552" y="4389"/>
                  <a:pt x="29544" y="4395"/>
                </a:cubicBezTo>
                <a:cubicBezTo>
                  <a:pt x="29536" y="4400"/>
                  <a:pt x="29527" y="4404"/>
                  <a:pt x="29518" y="4408"/>
                </a:cubicBezTo>
                <a:cubicBezTo>
                  <a:pt x="29510" y="4412"/>
                  <a:pt x="29501" y="4415"/>
                  <a:pt x="29491" y="4416"/>
                </a:cubicBezTo>
                <a:cubicBezTo>
                  <a:pt x="29482" y="4418"/>
                  <a:pt x="29472" y="4419"/>
                  <a:pt x="2946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5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7"/>
                </a:cubicBezTo>
                <a:cubicBezTo>
                  <a:pt x="36" y="4370"/>
                  <a:pt x="30" y="4362"/>
                  <a:pt x="25" y="4355"/>
                </a:cubicBezTo>
                <a:cubicBezTo>
                  <a:pt x="20" y="4347"/>
                  <a:pt x="15" y="4338"/>
                  <a:pt x="11" y="4329"/>
                </a:cubicBezTo>
                <a:cubicBezTo>
                  <a:pt x="8" y="4321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766440" y="1500120"/>
            <a:ext cx="10658880" cy="1590840"/>
          </a:xfrm>
          <a:custGeom>
            <a:avLst/>
            <a:gdLst/>
            <a:ahLst/>
            <a:rect l="0" t="0" r="r" b="b"/>
            <a:pathLst>
              <a:path fill="none" w="2960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274"/>
                </a:lnTo>
                <a:cubicBezTo>
                  <a:pt x="29608" y="4283"/>
                  <a:pt x="29607" y="4293"/>
                  <a:pt x="29605" y="4302"/>
                </a:cubicBezTo>
                <a:cubicBezTo>
                  <a:pt x="29604" y="4311"/>
                  <a:pt x="29601" y="4321"/>
                  <a:pt x="29597" y="4329"/>
                </a:cubicBezTo>
                <a:cubicBezTo>
                  <a:pt x="29594" y="4338"/>
                  <a:pt x="29589" y="4347"/>
                  <a:pt x="29584" y="4355"/>
                </a:cubicBezTo>
                <a:cubicBezTo>
                  <a:pt x="29578" y="4362"/>
                  <a:pt x="29572" y="4370"/>
                  <a:pt x="29566" y="4377"/>
                </a:cubicBezTo>
                <a:cubicBezTo>
                  <a:pt x="29559" y="4383"/>
                  <a:pt x="29552" y="4389"/>
                  <a:pt x="29544" y="4395"/>
                </a:cubicBezTo>
                <a:cubicBezTo>
                  <a:pt x="29536" y="4400"/>
                  <a:pt x="29527" y="4404"/>
                  <a:pt x="29518" y="4408"/>
                </a:cubicBezTo>
                <a:cubicBezTo>
                  <a:pt x="29510" y="4412"/>
                  <a:pt x="29501" y="4415"/>
                  <a:pt x="29491" y="4416"/>
                </a:cubicBezTo>
                <a:cubicBezTo>
                  <a:pt x="29482" y="4418"/>
                  <a:pt x="29472" y="4419"/>
                  <a:pt x="2946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5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7"/>
                </a:cubicBezTo>
                <a:cubicBezTo>
                  <a:pt x="36" y="4370"/>
                  <a:pt x="30" y="4362"/>
                  <a:pt x="25" y="4355"/>
                </a:cubicBezTo>
                <a:cubicBezTo>
                  <a:pt x="20" y="4347"/>
                  <a:pt x="15" y="4338"/>
                  <a:pt x="11" y="4329"/>
                </a:cubicBezTo>
                <a:cubicBezTo>
                  <a:pt x="8" y="4321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104840" y="2199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762120" y="372600"/>
            <a:ext cx="80920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Evolution of the Five Eyes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289520" y="2109240"/>
            <a:ext cx="9788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Post-WWII UKUSA Agreement (1946) between UK, USA, Canada, Australia, New Zealand for signals intelligence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1104840" y="2790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289520" y="2376000"/>
            <a:ext cx="721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sharing.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961920" y="175248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289520" y="2699640"/>
            <a:ext cx="6037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 on intercepting communications, defending national security.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66440" y="3214440"/>
            <a:ext cx="10658880" cy="1314720"/>
          </a:xfrm>
          <a:custGeom>
            <a:avLst/>
            <a:gdLst/>
            <a:ahLst/>
            <a:rect l="0" t="0" r="r" b="b"/>
            <a:pathLst>
              <a:path w="29608" h="3652">
                <a:moveTo>
                  <a:pt x="0" y="35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1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2"/>
                  <a:pt x="118" y="3650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1"/>
                  <a:pt x="11" y="3563"/>
                </a:cubicBezTo>
                <a:cubicBezTo>
                  <a:pt x="8" y="3554"/>
                  <a:pt x="5" y="3545"/>
                  <a:pt x="3" y="3535"/>
                </a:cubicBezTo>
                <a:cubicBezTo>
                  <a:pt x="1" y="3526"/>
                  <a:pt x="0" y="3516"/>
                  <a:pt x="0" y="3507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766440" y="3214440"/>
            <a:ext cx="10658880" cy="1314720"/>
          </a:xfrm>
          <a:custGeom>
            <a:avLst/>
            <a:gdLst/>
            <a:ahLst/>
            <a:rect l="0" t="0" r="r" b="b"/>
            <a:pathLst>
              <a:path fill="none" w="29608" h="3652">
                <a:moveTo>
                  <a:pt x="0" y="35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1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2"/>
                  <a:pt x="118" y="3650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1"/>
                  <a:pt x="11" y="3563"/>
                </a:cubicBezTo>
                <a:cubicBezTo>
                  <a:pt x="8" y="3554"/>
                  <a:pt x="5" y="3545"/>
                  <a:pt x="3" y="3535"/>
                </a:cubicBezTo>
                <a:cubicBezTo>
                  <a:pt x="1" y="3526"/>
                  <a:pt x="0" y="3516"/>
                  <a:pt x="0" y="3507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104840" y="391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203120" y="1703160"/>
            <a:ext cx="871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Origins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104840" y="42289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289520" y="3823560"/>
            <a:ext cx="8692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Collaboration now spans cyber defence, counter-disinformation, critical infrastructure protection.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942840" y="342864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6"/>
                </a:moveTo>
                <a:cubicBezTo>
                  <a:pt x="530" y="283"/>
                  <a:pt x="528" y="301"/>
                  <a:pt x="525" y="318"/>
                </a:cubicBezTo>
                <a:cubicBezTo>
                  <a:pt x="522" y="335"/>
                  <a:pt x="517" y="351"/>
                  <a:pt x="510" y="367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8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1"/>
                </a:cubicBezTo>
                <a:cubicBezTo>
                  <a:pt x="351" y="517"/>
                  <a:pt x="334" y="522"/>
                  <a:pt x="317" y="526"/>
                </a:cubicBezTo>
                <a:cubicBezTo>
                  <a:pt x="300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6"/>
                </a:cubicBezTo>
                <a:cubicBezTo>
                  <a:pt x="196" y="522"/>
                  <a:pt x="179" y="517"/>
                  <a:pt x="163" y="511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8"/>
                  <a:pt x="44" y="413"/>
                </a:cubicBezTo>
                <a:cubicBezTo>
                  <a:pt x="35" y="399"/>
                  <a:pt x="27" y="383"/>
                  <a:pt x="20" y="367"/>
                </a:cubicBezTo>
                <a:cubicBezTo>
                  <a:pt x="13" y="351"/>
                  <a:pt x="8" y="335"/>
                  <a:pt x="5" y="318"/>
                </a:cubicBezTo>
                <a:cubicBezTo>
                  <a:pt x="2" y="301"/>
                  <a:pt x="0" y="283"/>
                  <a:pt x="0" y="266"/>
                </a:cubicBezTo>
                <a:cubicBezTo>
                  <a:pt x="0" y="248"/>
                  <a:pt x="2" y="231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3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6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1"/>
                  <a:pt x="530" y="248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037880" y="348588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1289520" y="4137840"/>
            <a:ext cx="8346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Regular joint statements on ransomware, supply-chain threats, quantum-resilient encryption.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66440" y="4652640"/>
            <a:ext cx="10658880" cy="1638720"/>
          </a:xfrm>
          <a:custGeom>
            <a:avLst/>
            <a:gdLst/>
            <a:ahLst/>
            <a:rect l="0" t="0" r="r" b="b"/>
            <a:pathLst>
              <a:path w="29608" h="4552">
                <a:moveTo>
                  <a:pt x="0" y="4407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7"/>
                </a:lnTo>
                <a:cubicBezTo>
                  <a:pt x="29608" y="4416"/>
                  <a:pt x="29607" y="4426"/>
                  <a:pt x="29605" y="4435"/>
                </a:cubicBezTo>
                <a:cubicBezTo>
                  <a:pt x="29604" y="4444"/>
                  <a:pt x="29601" y="4454"/>
                  <a:pt x="29597" y="4462"/>
                </a:cubicBezTo>
                <a:cubicBezTo>
                  <a:pt x="29594" y="4471"/>
                  <a:pt x="29589" y="4480"/>
                  <a:pt x="29584" y="4488"/>
                </a:cubicBezTo>
                <a:cubicBezTo>
                  <a:pt x="29578" y="4495"/>
                  <a:pt x="29572" y="4503"/>
                  <a:pt x="29566" y="4510"/>
                </a:cubicBezTo>
                <a:cubicBezTo>
                  <a:pt x="29559" y="4516"/>
                  <a:pt x="29552" y="4522"/>
                  <a:pt x="29544" y="4528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5"/>
                  <a:pt x="29501" y="4548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8"/>
                  <a:pt x="99" y="4545"/>
                  <a:pt x="90" y="4541"/>
                </a:cubicBezTo>
                <a:cubicBezTo>
                  <a:pt x="81" y="4537"/>
                  <a:pt x="73" y="4533"/>
                  <a:pt x="65" y="4528"/>
                </a:cubicBezTo>
                <a:cubicBezTo>
                  <a:pt x="57" y="4522"/>
                  <a:pt x="50" y="4516"/>
                  <a:pt x="43" y="4510"/>
                </a:cubicBezTo>
                <a:cubicBezTo>
                  <a:pt x="36" y="4503"/>
                  <a:pt x="30" y="4495"/>
                  <a:pt x="25" y="4488"/>
                </a:cubicBezTo>
                <a:cubicBezTo>
                  <a:pt x="20" y="4480"/>
                  <a:pt x="15" y="4471"/>
                  <a:pt x="11" y="4462"/>
                </a:cubicBezTo>
                <a:cubicBezTo>
                  <a:pt x="8" y="4454"/>
                  <a:pt x="5" y="4444"/>
                  <a:pt x="3" y="4435"/>
                </a:cubicBezTo>
                <a:cubicBezTo>
                  <a:pt x="1" y="4426"/>
                  <a:pt x="0" y="4416"/>
                  <a:pt x="0" y="4407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766440" y="4652640"/>
            <a:ext cx="10658880" cy="1638720"/>
          </a:xfrm>
          <a:custGeom>
            <a:avLst/>
            <a:gdLst/>
            <a:ahLst/>
            <a:rect l="0" t="0" r="r" b="b"/>
            <a:pathLst>
              <a:path fill="none" w="29608" h="4552">
                <a:moveTo>
                  <a:pt x="0" y="4407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7"/>
                </a:lnTo>
                <a:cubicBezTo>
                  <a:pt x="29608" y="4416"/>
                  <a:pt x="29607" y="4426"/>
                  <a:pt x="29605" y="4435"/>
                </a:cubicBezTo>
                <a:cubicBezTo>
                  <a:pt x="29604" y="4444"/>
                  <a:pt x="29601" y="4454"/>
                  <a:pt x="29597" y="4462"/>
                </a:cubicBezTo>
                <a:cubicBezTo>
                  <a:pt x="29594" y="4471"/>
                  <a:pt x="29589" y="4480"/>
                  <a:pt x="29584" y="4488"/>
                </a:cubicBezTo>
                <a:cubicBezTo>
                  <a:pt x="29578" y="4495"/>
                  <a:pt x="29572" y="4503"/>
                  <a:pt x="29566" y="4510"/>
                </a:cubicBezTo>
                <a:cubicBezTo>
                  <a:pt x="29559" y="4516"/>
                  <a:pt x="29552" y="4522"/>
                  <a:pt x="29544" y="4528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5"/>
                  <a:pt x="29501" y="4548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8"/>
                  <a:pt x="99" y="4545"/>
                  <a:pt x="90" y="4541"/>
                </a:cubicBezTo>
                <a:cubicBezTo>
                  <a:pt x="81" y="4537"/>
                  <a:pt x="73" y="4533"/>
                  <a:pt x="65" y="4528"/>
                </a:cubicBezTo>
                <a:cubicBezTo>
                  <a:pt x="57" y="4522"/>
                  <a:pt x="50" y="4516"/>
                  <a:pt x="43" y="4510"/>
                </a:cubicBezTo>
                <a:cubicBezTo>
                  <a:pt x="36" y="4503"/>
                  <a:pt x="30" y="4495"/>
                  <a:pt x="25" y="4488"/>
                </a:cubicBezTo>
                <a:cubicBezTo>
                  <a:pt x="20" y="4480"/>
                  <a:pt x="15" y="4471"/>
                  <a:pt x="11" y="4462"/>
                </a:cubicBezTo>
                <a:cubicBezTo>
                  <a:pt x="8" y="4454"/>
                  <a:pt x="5" y="4444"/>
                  <a:pt x="3" y="4435"/>
                </a:cubicBezTo>
                <a:cubicBezTo>
                  <a:pt x="1" y="4426"/>
                  <a:pt x="0" y="4416"/>
                  <a:pt x="0" y="4407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1104840" y="5352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203120" y="3417480"/>
            <a:ext cx="2173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Modern expansion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104840" y="5667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289520" y="5261760"/>
            <a:ext cx="6195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Balancing secrecy with public trust; addressing lawful access debates.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104840" y="5991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289520" y="5576400"/>
            <a:ext cx="8427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Extending cooperation to “Five Eyes+” partners (e.g., Japan, South Korea) for speciﬁc missions.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942480" y="4876560"/>
            <a:ext cx="191160" cy="171720"/>
          </a:xfrm>
          <a:custGeom>
            <a:avLst/>
            <a:gdLst/>
            <a:ahLst/>
            <a:rect l="0" t="0" r="r" b="b"/>
            <a:pathLst>
              <a:path fill="none" w="531" h="477">
                <a:moveTo>
                  <a:pt x="524" y="398"/>
                </a:moveTo>
                <a:lnTo>
                  <a:pt x="312" y="28"/>
                </a:lnTo>
                <a:cubicBezTo>
                  <a:pt x="308" y="18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8"/>
                  <a:pt x="219" y="28"/>
                </a:cubicBezTo>
                <a:lnTo>
                  <a:pt x="7" y="398"/>
                </a:lnTo>
                <a:cubicBezTo>
                  <a:pt x="3" y="406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59"/>
                  <a:pt x="19" y="466"/>
                  <a:pt x="27" y="471"/>
                </a:cubicBezTo>
                <a:cubicBezTo>
                  <a:pt x="35" y="475"/>
                  <a:pt x="44" y="478"/>
                  <a:pt x="54" y="477"/>
                </a:cubicBezTo>
                <a:lnTo>
                  <a:pt x="478" y="477"/>
                </a:lnTo>
                <a:cubicBezTo>
                  <a:pt x="483" y="477"/>
                  <a:pt x="487" y="477"/>
                  <a:pt x="492" y="476"/>
                </a:cubicBezTo>
                <a:cubicBezTo>
                  <a:pt x="496" y="474"/>
                  <a:pt x="501" y="473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4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60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289520" y="5900040"/>
            <a:ext cx="6154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Ensuring privacy-preserving data sharing within alliance frameworks.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203120" y="4855680"/>
            <a:ext cx="2451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Emerging challenges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766440" y="1500120"/>
            <a:ext cx="5277240" cy="2733840"/>
          </a:xfrm>
          <a:custGeom>
            <a:avLst/>
            <a:gdLst/>
            <a:ahLst/>
            <a:rect l="0" t="0" r="r" b="b"/>
            <a:pathLst>
              <a:path w="14659" h="7594">
                <a:moveTo>
                  <a:pt x="0" y="744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449"/>
                </a:lnTo>
                <a:cubicBezTo>
                  <a:pt x="14659" y="7458"/>
                  <a:pt x="14658" y="7468"/>
                  <a:pt x="14657" y="7477"/>
                </a:cubicBezTo>
                <a:cubicBezTo>
                  <a:pt x="14655" y="7486"/>
                  <a:pt x="14652" y="7496"/>
                  <a:pt x="14648" y="7504"/>
                </a:cubicBezTo>
                <a:cubicBezTo>
                  <a:pt x="14645" y="7513"/>
                  <a:pt x="14640" y="7522"/>
                  <a:pt x="14635" y="7530"/>
                </a:cubicBezTo>
                <a:cubicBezTo>
                  <a:pt x="14629" y="7537"/>
                  <a:pt x="14623" y="7545"/>
                  <a:pt x="14617" y="7552"/>
                </a:cubicBezTo>
                <a:cubicBezTo>
                  <a:pt x="14610" y="7558"/>
                  <a:pt x="14603" y="7564"/>
                  <a:pt x="14595" y="7570"/>
                </a:cubicBezTo>
                <a:cubicBezTo>
                  <a:pt x="14587" y="7575"/>
                  <a:pt x="14578" y="7579"/>
                  <a:pt x="14569" y="7583"/>
                </a:cubicBezTo>
                <a:cubicBezTo>
                  <a:pt x="14561" y="7587"/>
                  <a:pt x="14552" y="7590"/>
                  <a:pt x="14542" y="7591"/>
                </a:cubicBezTo>
                <a:cubicBezTo>
                  <a:pt x="14533" y="7593"/>
                  <a:pt x="14523" y="7594"/>
                  <a:pt x="14514" y="7594"/>
                </a:cubicBezTo>
                <a:lnTo>
                  <a:pt x="146" y="7594"/>
                </a:lnTo>
                <a:cubicBezTo>
                  <a:pt x="136" y="7594"/>
                  <a:pt x="127" y="7593"/>
                  <a:pt x="118" y="7591"/>
                </a:cubicBezTo>
                <a:cubicBezTo>
                  <a:pt x="108" y="7590"/>
                  <a:pt x="99" y="7587"/>
                  <a:pt x="90" y="7583"/>
                </a:cubicBezTo>
                <a:cubicBezTo>
                  <a:pt x="81" y="7579"/>
                  <a:pt x="73" y="7575"/>
                  <a:pt x="65" y="7570"/>
                </a:cubicBezTo>
                <a:cubicBezTo>
                  <a:pt x="57" y="7564"/>
                  <a:pt x="50" y="7558"/>
                  <a:pt x="43" y="7552"/>
                </a:cubicBezTo>
                <a:cubicBezTo>
                  <a:pt x="36" y="7545"/>
                  <a:pt x="30" y="7537"/>
                  <a:pt x="25" y="7530"/>
                </a:cubicBezTo>
                <a:cubicBezTo>
                  <a:pt x="20" y="7522"/>
                  <a:pt x="15" y="7513"/>
                  <a:pt x="11" y="7504"/>
                </a:cubicBezTo>
                <a:cubicBezTo>
                  <a:pt x="8" y="7496"/>
                  <a:pt x="5" y="7486"/>
                  <a:pt x="3" y="7477"/>
                </a:cubicBezTo>
                <a:cubicBezTo>
                  <a:pt x="1" y="7468"/>
                  <a:pt x="0" y="7458"/>
                  <a:pt x="0" y="7449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766440" y="1500120"/>
            <a:ext cx="5277240" cy="2733840"/>
          </a:xfrm>
          <a:custGeom>
            <a:avLst/>
            <a:gdLst/>
            <a:ahLst/>
            <a:rect l="0" t="0" r="r" b="b"/>
            <a:pathLst>
              <a:path fill="none" w="14659" h="7594">
                <a:moveTo>
                  <a:pt x="0" y="744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449"/>
                </a:lnTo>
                <a:cubicBezTo>
                  <a:pt x="14659" y="7458"/>
                  <a:pt x="14658" y="7468"/>
                  <a:pt x="14657" y="7477"/>
                </a:cubicBezTo>
                <a:cubicBezTo>
                  <a:pt x="14655" y="7486"/>
                  <a:pt x="14652" y="7496"/>
                  <a:pt x="14648" y="7504"/>
                </a:cubicBezTo>
                <a:cubicBezTo>
                  <a:pt x="14645" y="7513"/>
                  <a:pt x="14640" y="7522"/>
                  <a:pt x="14635" y="7530"/>
                </a:cubicBezTo>
                <a:cubicBezTo>
                  <a:pt x="14629" y="7537"/>
                  <a:pt x="14623" y="7545"/>
                  <a:pt x="14617" y="7552"/>
                </a:cubicBezTo>
                <a:cubicBezTo>
                  <a:pt x="14610" y="7558"/>
                  <a:pt x="14603" y="7564"/>
                  <a:pt x="14595" y="7570"/>
                </a:cubicBezTo>
                <a:cubicBezTo>
                  <a:pt x="14587" y="7575"/>
                  <a:pt x="14578" y="7579"/>
                  <a:pt x="14569" y="7583"/>
                </a:cubicBezTo>
                <a:cubicBezTo>
                  <a:pt x="14561" y="7587"/>
                  <a:pt x="14552" y="7590"/>
                  <a:pt x="14542" y="7591"/>
                </a:cubicBezTo>
                <a:cubicBezTo>
                  <a:pt x="14533" y="7593"/>
                  <a:pt x="14523" y="7594"/>
                  <a:pt x="14514" y="7594"/>
                </a:cubicBezTo>
                <a:lnTo>
                  <a:pt x="146" y="7594"/>
                </a:lnTo>
                <a:cubicBezTo>
                  <a:pt x="136" y="7594"/>
                  <a:pt x="127" y="7593"/>
                  <a:pt x="118" y="7591"/>
                </a:cubicBezTo>
                <a:cubicBezTo>
                  <a:pt x="108" y="7590"/>
                  <a:pt x="99" y="7587"/>
                  <a:pt x="90" y="7583"/>
                </a:cubicBezTo>
                <a:cubicBezTo>
                  <a:pt x="81" y="7579"/>
                  <a:pt x="73" y="7575"/>
                  <a:pt x="65" y="7570"/>
                </a:cubicBezTo>
                <a:cubicBezTo>
                  <a:pt x="57" y="7564"/>
                  <a:pt x="50" y="7558"/>
                  <a:pt x="43" y="7552"/>
                </a:cubicBezTo>
                <a:cubicBezTo>
                  <a:pt x="36" y="7545"/>
                  <a:pt x="30" y="7537"/>
                  <a:pt x="25" y="7530"/>
                </a:cubicBezTo>
                <a:cubicBezTo>
                  <a:pt x="20" y="7522"/>
                  <a:pt x="15" y="7513"/>
                  <a:pt x="11" y="7504"/>
                </a:cubicBezTo>
                <a:cubicBezTo>
                  <a:pt x="8" y="7496"/>
                  <a:pt x="5" y="7486"/>
                  <a:pt x="3" y="7477"/>
                </a:cubicBezTo>
                <a:cubicBezTo>
                  <a:pt x="1" y="7468"/>
                  <a:pt x="0" y="7458"/>
                  <a:pt x="0" y="7449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104840" y="2199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62120" y="372600"/>
            <a:ext cx="7549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Fourteen Eyes &amp; Beyond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289520" y="2109240"/>
            <a:ext cx="4195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Signals intelligence partnership (SIGINT Seniors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1289520" y="2376000"/>
            <a:ext cx="3974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Europe) adds Belgium, Germany, Italy, Spain,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104840" y="3066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289520" y="2652120"/>
            <a:ext cx="1877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Sweden to Nine Eyes.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289520" y="2975760"/>
            <a:ext cx="4363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Focus: cross-border surveillance, counter-terror,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104840" y="3657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289520" y="3252240"/>
            <a:ext cx="1292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cyber defence.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1289520" y="3566520"/>
            <a:ext cx="4363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Highlights how EU and non-EU states collaborate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961920" y="175248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289520" y="3842640"/>
            <a:ext cx="2971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despite diﬀering privacy regimes.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6148080" y="1500120"/>
            <a:ext cx="5277240" cy="2733840"/>
          </a:xfrm>
          <a:custGeom>
            <a:avLst/>
            <a:gdLst/>
            <a:ahLst/>
            <a:rect l="0" t="0" r="r" b="b"/>
            <a:pathLst>
              <a:path w="14659" h="7594">
                <a:moveTo>
                  <a:pt x="0" y="744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449"/>
                </a:lnTo>
                <a:cubicBezTo>
                  <a:pt x="14659" y="7458"/>
                  <a:pt x="14658" y="7468"/>
                  <a:pt x="14656" y="7477"/>
                </a:cubicBezTo>
                <a:cubicBezTo>
                  <a:pt x="14655" y="7486"/>
                  <a:pt x="14652" y="7496"/>
                  <a:pt x="14648" y="7504"/>
                </a:cubicBezTo>
                <a:cubicBezTo>
                  <a:pt x="14645" y="7513"/>
                  <a:pt x="14640" y="7522"/>
                  <a:pt x="14635" y="7530"/>
                </a:cubicBezTo>
                <a:cubicBezTo>
                  <a:pt x="14629" y="7537"/>
                  <a:pt x="14623" y="7545"/>
                  <a:pt x="14617" y="7552"/>
                </a:cubicBezTo>
                <a:cubicBezTo>
                  <a:pt x="14610" y="7558"/>
                  <a:pt x="14603" y="7564"/>
                  <a:pt x="14595" y="7570"/>
                </a:cubicBezTo>
                <a:cubicBezTo>
                  <a:pt x="14587" y="7575"/>
                  <a:pt x="14578" y="7579"/>
                  <a:pt x="14569" y="7583"/>
                </a:cubicBezTo>
                <a:cubicBezTo>
                  <a:pt x="14561" y="7587"/>
                  <a:pt x="14552" y="7590"/>
                  <a:pt x="14542" y="7591"/>
                </a:cubicBezTo>
                <a:cubicBezTo>
                  <a:pt x="14533" y="7593"/>
                  <a:pt x="14523" y="7594"/>
                  <a:pt x="14514" y="7594"/>
                </a:cubicBezTo>
                <a:lnTo>
                  <a:pt x="146" y="7594"/>
                </a:lnTo>
                <a:cubicBezTo>
                  <a:pt x="136" y="7594"/>
                  <a:pt x="127" y="7593"/>
                  <a:pt x="117" y="7591"/>
                </a:cubicBezTo>
                <a:cubicBezTo>
                  <a:pt x="108" y="7590"/>
                  <a:pt x="99" y="7587"/>
                  <a:pt x="90" y="7583"/>
                </a:cubicBezTo>
                <a:cubicBezTo>
                  <a:pt x="81" y="7579"/>
                  <a:pt x="73" y="7575"/>
                  <a:pt x="65" y="7570"/>
                </a:cubicBezTo>
                <a:cubicBezTo>
                  <a:pt x="57" y="7564"/>
                  <a:pt x="50" y="7558"/>
                  <a:pt x="43" y="7552"/>
                </a:cubicBezTo>
                <a:cubicBezTo>
                  <a:pt x="36" y="7545"/>
                  <a:pt x="30" y="7537"/>
                  <a:pt x="25" y="7530"/>
                </a:cubicBezTo>
                <a:cubicBezTo>
                  <a:pt x="20" y="7522"/>
                  <a:pt x="15" y="7513"/>
                  <a:pt x="11" y="7504"/>
                </a:cubicBezTo>
                <a:cubicBezTo>
                  <a:pt x="8" y="7496"/>
                  <a:pt x="5" y="7486"/>
                  <a:pt x="3" y="7477"/>
                </a:cubicBezTo>
                <a:cubicBezTo>
                  <a:pt x="1" y="7468"/>
                  <a:pt x="0" y="7458"/>
                  <a:pt x="0" y="7449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6148080" y="1500120"/>
            <a:ext cx="5277240" cy="2733840"/>
          </a:xfrm>
          <a:custGeom>
            <a:avLst/>
            <a:gdLst/>
            <a:ahLst/>
            <a:rect l="0" t="0" r="r" b="b"/>
            <a:pathLst>
              <a:path fill="none" w="14659" h="7594">
                <a:moveTo>
                  <a:pt x="0" y="744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449"/>
                </a:lnTo>
                <a:cubicBezTo>
                  <a:pt x="14659" y="7458"/>
                  <a:pt x="14658" y="7468"/>
                  <a:pt x="14656" y="7477"/>
                </a:cubicBezTo>
                <a:cubicBezTo>
                  <a:pt x="14655" y="7486"/>
                  <a:pt x="14652" y="7496"/>
                  <a:pt x="14648" y="7504"/>
                </a:cubicBezTo>
                <a:cubicBezTo>
                  <a:pt x="14645" y="7513"/>
                  <a:pt x="14640" y="7522"/>
                  <a:pt x="14635" y="7530"/>
                </a:cubicBezTo>
                <a:cubicBezTo>
                  <a:pt x="14629" y="7537"/>
                  <a:pt x="14623" y="7545"/>
                  <a:pt x="14617" y="7552"/>
                </a:cubicBezTo>
                <a:cubicBezTo>
                  <a:pt x="14610" y="7558"/>
                  <a:pt x="14603" y="7564"/>
                  <a:pt x="14595" y="7570"/>
                </a:cubicBezTo>
                <a:cubicBezTo>
                  <a:pt x="14587" y="7575"/>
                  <a:pt x="14578" y="7579"/>
                  <a:pt x="14569" y="7583"/>
                </a:cubicBezTo>
                <a:cubicBezTo>
                  <a:pt x="14561" y="7587"/>
                  <a:pt x="14552" y="7590"/>
                  <a:pt x="14542" y="7591"/>
                </a:cubicBezTo>
                <a:cubicBezTo>
                  <a:pt x="14533" y="7593"/>
                  <a:pt x="14523" y="7594"/>
                  <a:pt x="14514" y="7594"/>
                </a:cubicBezTo>
                <a:lnTo>
                  <a:pt x="146" y="7594"/>
                </a:lnTo>
                <a:cubicBezTo>
                  <a:pt x="136" y="7594"/>
                  <a:pt x="127" y="7593"/>
                  <a:pt x="117" y="7591"/>
                </a:cubicBezTo>
                <a:cubicBezTo>
                  <a:pt x="108" y="7590"/>
                  <a:pt x="99" y="7587"/>
                  <a:pt x="90" y="7583"/>
                </a:cubicBezTo>
                <a:cubicBezTo>
                  <a:pt x="81" y="7579"/>
                  <a:pt x="73" y="7575"/>
                  <a:pt x="65" y="7570"/>
                </a:cubicBezTo>
                <a:cubicBezTo>
                  <a:pt x="57" y="7564"/>
                  <a:pt x="50" y="7558"/>
                  <a:pt x="43" y="7552"/>
                </a:cubicBezTo>
                <a:cubicBezTo>
                  <a:pt x="36" y="7545"/>
                  <a:pt x="30" y="7537"/>
                  <a:pt x="25" y="7530"/>
                </a:cubicBezTo>
                <a:cubicBezTo>
                  <a:pt x="20" y="7522"/>
                  <a:pt x="15" y="7513"/>
                  <a:pt x="11" y="7504"/>
                </a:cubicBezTo>
                <a:cubicBezTo>
                  <a:pt x="8" y="7496"/>
                  <a:pt x="5" y="7486"/>
                  <a:pt x="3" y="7477"/>
                </a:cubicBezTo>
                <a:cubicBezTo>
                  <a:pt x="1" y="7468"/>
                  <a:pt x="0" y="7458"/>
                  <a:pt x="0" y="7449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6486480" y="2199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203120" y="1703160"/>
            <a:ext cx="2621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Fourteen Eyes (SSEUR)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671160" y="2109240"/>
            <a:ext cx="4188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Cross-jurisdiction sharing challenges domestic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6486480" y="2790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6671160" y="2376000"/>
            <a:ext cx="2476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oversight and transparency.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6671160" y="2699640"/>
            <a:ext cx="4502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Need to ensure data minimisation, proportionality,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6486480" y="3381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7"/>
                  <a:pt x="39" y="11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6671160" y="2975760"/>
            <a:ext cx="2263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redress mechanisms.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6671160" y="3290400"/>
            <a:ext cx="4304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Drives calls for clearer disclosure to citizens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6671160" y="3566520"/>
            <a:ext cx="3596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stronger safeguards when intelligence is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6324120" y="172368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8"/>
                </a:moveTo>
                <a:lnTo>
                  <a:pt x="312" y="27"/>
                </a:lnTo>
                <a:cubicBezTo>
                  <a:pt x="307" y="19"/>
                  <a:pt x="301" y="12"/>
                  <a:pt x="293" y="7"/>
                </a:cubicBezTo>
                <a:cubicBezTo>
                  <a:pt x="285" y="2"/>
                  <a:pt x="276" y="0"/>
                  <a:pt x="266" y="0"/>
                </a:cubicBezTo>
                <a:cubicBezTo>
                  <a:pt x="257" y="0"/>
                  <a:pt x="248" y="2"/>
                  <a:pt x="240" y="7"/>
                </a:cubicBezTo>
                <a:cubicBezTo>
                  <a:pt x="231" y="12"/>
                  <a:pt x="225" y="19"/>
                  <a:pt x="220" y="27"/>
                </a:cubicBezTo>
                <a:lnTo>
                  <a:pt x="7" y="398"/>
                </a:lnTo>
                <a:cubicBezTo>
                  <a:pt x="3" y="407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5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8"/>
                  <a:pt x="512" y="465"/>
                  <a:pt x="515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5"/>
                </a:cubicBezTo>
                <a:cubicBezTo>
                  <a:pt x="531" y="420"/>
                  <a:pt x="530" y="416"/>
                  <a:pt x="529" y="411"/>
                </a:cubicBezTo>
                <a:cubicBezTo>
                  <a:pt x="528" y="407"/>
                  <a:pt x="526" y="402"/>
                  <a:pt x="524" y="398"/>
                </a:cubicBezTo>
                <a:moveTo>
                  <a:pt x="266" y="159"/>
                </a:moveTo>
                <a:lnTo>
                  <a:pt x="266" y="266"/>
                </a:lnTo>
                <a:moveTo>
                  <a:pt x="266" y="372"/>
                </a:moveTo>
                <a:lnTo>
                  <a:pt x="267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6671160" y="3842640"/>
            <a:ext cx="1076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repurposed.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766440" y="4471920"/>
            <a:ext cx="10658880" cy="1953000"/>
          </a:xfrm>
          <a:custGeom>
            <a:avLst/>
            <a:gdLst/>
            <a:ahLst/>
            <a:rect l="0" t="0" r="r" b="b"/>
            <a:pathLst>
              <a:path w="29608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279"/>
                </a:lnTo>
                <a:cubicBezTo>
                  <a:pt x="29608" y="5289"/>
                  <a:pt x="29607" y="5298"/>
                  <a:pt x="29605" y="5308"/>
                </a:cubicBezTo>
                <a:cubicBezTo>
                  <a:pt x="29604" y="5317"/>
                  <a:pt x="29601" y="5326"/>
                  <a:pt x="29597" y="5335"/>
                </a:cubicBezTo>
                <a:cubicBezTo>
                  <a:pt x="29594" y="5344"/>
                  <a:pt x="29589" y="5352"/>
                  <a:pt x="29584" y="5360"/>
                </a:cubicBezTo>
                <a:cubicBezTo>
                  <a:pt x="29578" y="5368"/>
                  <a:pt x="29572" y="5375"/>
                  <a:pt x="29566" y="5382"/>
                </a:cubicBezTo>
                <a:cubicBezTo>
                  <a:pt x="29559" y="5389"/>
                  <a:pt x="29552" y="5395"/>
                  <a:pt x="29544" y="5400"/>
                </a:cubicBezTo>
                <a:cubicBezTo>
                  <a:pt x="29536" y="5405"/>
                  <a:pt x="29527" y="5410"/>
                  <a:pt x="29518" y="5414"/>
                </a:cubicBezTo>
                <a:cubicBezTo>
                  <a:pt x="29510" y="5417"/>
                  <a:pt x="29501" y="5420"/>
                  <a:pt x="29491" y="5422"/>
                </a:cubicBezTo>
                <a:cubicBezTo>
                  <a:pt x="29482" y="5424"/>
                  <a:pt x="29472" y="5425"/>
                  <a:pt x="29463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8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5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5"/>
                  <a:pt x="30" y="5368"/>
                  <a:pt x="25" y="5360"/>
                </a:cubicBezTo>
                <a:cubicBezTo>
                  <a:pt x="20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766440" y="4471920"/>
            <a:ext cx="10658880" cy="1953000"/>
          </a:xfrm>
          <a:custGeom>
            <a:avLst/>
            <a:gdLst/>
            <a:ahLst/>
            <a:rect l="0" t="0" r="r" b="b"/>
            <a:pathLst>
              <a:path fill="none" w="29608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279"/>
                </a:lnTo>
                <a:cubicBezTo>
                  <a:pt x="29608" y="5289"/>
                  <a:pt x="29607" y="5298"/>
                  <a:pt x="29605" y="5308"/>
                </a:cubicBezTo>
                <a:cubicBezTo>
                  <a:pt x="29604" y="5317"/>
                  <a:pt x="29601" y="5326"/>
                  <a:pt x="29597" y="5335"/>
                </a:cubicBezTo>
                <a:cubicBezTo>
                  <a:pt x="29594" y="5344"/>
                  <a:pt x="29589" y="5352"/>
                  <a:pt x="29584" y="5360"/>
                </a:cubicBezTo>
                <a:cubicBezTo>
                  <a:pt x="29578" y="5368"/>
                  <a:pt x="29572" y="5375"/>
                  <a:pt x="29566" y="5382"/>
                </a:cubicBezTo>
                <a:cubicBezTo>
                  <a:pt x="29559" y="5389"/>
                  <a:pt x="29552" y="5395"/>
                  <a:pt x="29544" y="5400"/>
                </a:cubicBezTo>
                <a:cubicBezTo>
                  <a:pt x="29536" y="5405"/>
                  <a:pt x="29527" y="5410"/>
                  <a:pt x="29518" y="5414"/>
                </a:cubicBezTo>
                <a:cubicBezTo>
                  <a:pt x="29510" y="5417"/>
                  <a:pt x="29501" y="5420"/>
                  <a:pt x="29491" y="5422"/>
                </a:cubicBezTo>
                <a:cubicBezTo>
                  <a:pt x="29482" y="5424"/>
                  <a:pt x="29472" y="5425"/>
                  <a:pt x="29463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8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5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5"/>
                  <a:pt x="30" y="5368"/>
                  <a:pt x="25" y="5360"/>
                </a:cubicBezTo>
                <a:cubicBezTo>
                  <a:pt x="20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104840" y="51624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6584760" y="1703160"/>
            <a:ext cx="265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Privacy considerations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104840" y="5486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2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2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289520" y="5071320"/>
            <a:ext cx="7586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Computer network exploitation (CNE)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Five Eyes plus European and Asian partners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1104840" y="5810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1289520" y="5395320"/>
            <a:ext cx="8830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Club de Berne &amp; Counterterrorism Group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European intelligence exchange with US participation.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104840" y="6124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289520" y="5718960"/>
            <a:ext cx="7963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Maximator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Denmark, Germany, France, Netherlands, Sweden focusing on cryptanalysis.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942840" y="468612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39"/>
                  <a:pt x="453" y="452"/>
                </a:cubicBezTo>
                <a:cubicBezTo>
                  <a:pt x="440" y="464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4"/>
                  <a:pt x="77" y="452"/>
                </a:cubicBezTo>
                <a:cubicBezTo>
                  <a:pt x="65" y="439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1037880" y="474336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289520" y="6033600"/>
            <a:ext cx="6397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NATO Special Committee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security heads from all 32 NATO members.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203120" y="4674960"/>
            <a:ext cx="2746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41-nation area sharing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"/>
          <p:cNvSpPr/>
          <p:nvPr/>
        </p:nvSpPr>
        <p:spPr>
          <a:xfrm>
            <a:off x="971280" y="2523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168200" y="2432520"/>
            <a:ext cx="1010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 11,000 automatic number plate recognition (ANPR) cameras across the UK read an estimated 50–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971280" y="3190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168200" y="2737080"/>
            <a:ext cx="229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60 million plates a day.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168200" y="3099240"/>
            <a:ext cx="10127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Each read logs make, model, colour, distinguishing marks — even bumper stickers — plus the location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971280" y="3848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168200" y="3404160"/>
            <a:ext cx="93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168200" y="3756240"/>
            <a:ext cx="71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Records feed into the National ANPR Data Centre and are kept for a year.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762120" y="-8280"/>
            <a:ext cx="1031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Everyday Surveillance You Didn't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766440" y="4186080"/>
            <a:ext cx="10658880" cy="1000440"/>
          </a:xfrm>
          <a:custGeom>
            <a:avLst/>
            <a:gdLst/>
            <a:ahLst/>
            <a:rect l="0" t="0" r="r" b="b"/>
            <a:pathLst>
              <a:path w="29608" h="2779">
                <a:moveTo>
                  <a:pt x="0" y="263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34"/>
                </a:lnTo>
                <a:cubicBezTo>
                  <a:pt x="29608" y="2643"/>
                  <a:pt x="29607" y="2653"/>
                  <a:pt x="29605" y="2662"/>
                </a:cubicBezTo>
                <a:cubicBezTo>
                  <a:pt x="29604" y="2671"/>
                  <a:pt x="29601" y="2680"/>
                  <a:pt x="29597" y="2689"/>
                </a:cubicBezTo>
                <a:cubicBezTo>
                  <a:pt x="29594" y="2698"/>
                  <a:pt x="29589" y="2706"/>
                  <a:pt x="29584" y="2714"/>
                </a:cubicBezTo>
                <a:cubicBezTo>
                  <a:pt x="29578" y="2722"/>
                  <a:pt x="29572" y="2730"/>
                  <a:pt x="29566" y="2736"/>
                </a:cubicBezTo>
                <a:cubicBezTo>
                  <a:pt x="29559" y="2743"/>
                  <a:pt x="29552" y="2749"/>
                  <a:pt x="29544" y="2755"/>
                </a:cubicBezTo>
                <a:cubicBezTo>
                  <a:pt x="29536" y="2760"/>
                  <a:pt x="29527" y="2764"/>
                  <a:pt x="29518" y="2768"/>
                </a:cubicBezTo>
                <a:cubicBezTo>
                  <a:pt x="29510" y="2772"/>
                  <a:pt x="29501" y="2774"/>
                  <a:pt x="29491" y="2776"/>
                </a:cubicBezTo>
                <a:cubicBezTo>
                  <a:pt x="29482" y="2778"/>
                  <a:pt x="29472" y="2779"/>
                  <a:pt x="29463" y="2779"/>
                </a:cubicBezTo>
                <a:lnTo>
                  <a:pt x="146" y="2779"/>
                </a:lnTo>
                <a:cubicBezTo>
                  <a:pt x="136" y="2779"/>
                  <a:pt x="127" y="2778"/>
                  <a:pt x="118" y="2776"/>
                </a:cubicBezTo>
                <a:cubicBezTo>
                  <a:pt x="108" y="2774"/>
                  <a:pt x="99" y="2772"/>
                  <a:pt x="90" y="2768"/>
                </a:cubicBezTo>
                <a:cubicBezTo>
                  <a:pt x="81" y="2764"/>
                  <a:pt x="73" y="2760"/>
                  <a:pt x="65" y="2755"/>
                </a:cubicBezTo>
                <a:cubicBezTo>
                  <a:pt x="57" y="2749"/>
                  <a:pt x="50" y="2743"/>
                  <a:pt x="43" y="2736"/>
                </a:cubicBezTo>
                <a:cubicBezTo>
                  <a:pt x="36" y="2730"/>
                  <a:pt x="30" y="2722"/>
                  <a:pt x="25" y="2714"/>
                </a:cubicBezTo>
                <a:cubicBezTo>
                  <a:pt x="20" y="2706"/>
                  <a:pt x="15" y="2698"/>
                  <a:pt x="11" y="2689"/>
                </a:cubicBezTo>
                <a:cubicBezTo>
                  <a:pt x="8" y="2680"/>
                  <a:pt x="5" y="2671"/>
                  <a:pt x="3" y="2662"/>
                </a:cubicBezTo>
                <a:cubicBezTo>
                  <a:pt x="1" y="2653"/>
                  <a:pt x="0" y="2643"/>
                  <a:pt x="0" y="2634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766440" y="4186080"/>
            <a:ext cx="10658880" cy="1000440"/>
          </a:xfrm>
          <a:custGeom>
            <a:avLst/>
            <a:gdLst/>
            <a:ahLst/>
            <a:rect l="0" t="0" r="r" b="b"/>
            <a:pathLst>
              <a:path fill="none" w="29608" h="2779">
                <a:moveTo>
                  <a:pt x="0" y="263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34"/>
                </a:lnTo>
                <a:cubicBezTo>
                  <a:pt x="29608" y="2643"/>
                  <a:pt x="29607" y="2653"/>
                  <a:pt x="29605" y="2662"/>
                </a:cubicBezTo>
                <a:cubicBezTo>
                  <a:pt x="29604" y="2671"/>
                  <a:pt x="29601" y="2680"/>
                  <a:pt x="29597" y="2689"/>
                </a:cubicBezTo>
                <a:cubicBezTo>
                  <a:pt x="29594" y="2698"/>
                  <a:pt x="29589" y="2706"/>
                  <a:pt x="29584" y="2714"/>
                </a:cubicBezTo>
                <a:cubicBezTo>
                  <a:pt x="29578" y="2722"/>
                  <a:pt x="29572" y="2730"/>
                  <a:pt x="29566" y="2736"/>
                </a:cubicBezTo>
                <a:cubicBezTo>
                  <a:pt x="29559" y="2743"/>
                  <a:pt x="29552" y="2749"/>
                  <a:pt x="29544" y="2755"/>
                </a:cubicBezTo>
                <a:cubicBezTo>
                  <a:pt x="29536" y="2760"/>
                  <a:pt x="29527" y="2764"/>
                  <a:pt x="29518" y="2768"/>
                </a:cubicBezTo>
                <a:cubicBezTo>
                  <a:pt x="29510" y="2772"/>
                  <a:pt x="29501" y="2774"/>
                  <a:pt x="29491" y="2776"/>
                </a:cubicBezTo>
                <a:cubicBezTo>
                  <a:pt x="29482" y="2778"/>
                  <a:pt x="29472" y="2779"/>
                  <a:pt x="29463" y="2779"/>
                </a:cubicBezTo>
                <a:lnTo>
                  <a:pt x="146" y="2779"/>
                </a:lnTo>
                <a:cubicBezTo>
                  <a:pt x="136" y="2779"/>
                  <a:pt x="127" y="2778"/>
                  <a:pt x="118" y="2776"/>
                </a:cubicBezTo>
                <a:cubicBezTo>
                  <a:pt x="108" y="2774"/>
                  <a:pt x="99" y="2772"/>
                  <a:pt x="90" y="2768"/>
                </a:cubicBezTo>
                <a:cubicBezTo>
                  <a:pt x="81" y="2764"/>
                  <a:pt x="73" y="2760"/>
                  <a:pt x="65" y="2755"/>
                </a:cubicBezTo>
                <a:cubicBezTo>
                  <a:pt x="57" y="2749"/>
                  <a:pt x="50" y="2743"/>
                  <a:pt x="43" y="2736"/>
                </a:cubicBezTo>
                <a:cubicBezTo>
                  <a:pt x="36" y="2730"/>
                  <a:pt x="30" y="2722"/>
                  <a:pt x="25" y="2714"/>
                </a:cubicBezTo>
                <a:cubicBezTo>
                  <a:pt x="20" y="2706"/>
                  <a:pt x="15" y="2698"/>
                  <a:pt x="11" y="2689"/>
                </a:cubicBezTo>
                <a:cubicBezTo>
                  <a:pt x="8" y="2680"/>
                  <a:pt x="5" y="2671"/>
                  <a:pt x="3" y="2662"/>
                </a:cubicBezTo>
                <a:cubicBezTo>
                  <a:pt x="1" y="2653"/>
                  <a:pt x="0" y="2643"/>
                  <a:pt x="0" y="2634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762120" y="753480"/>
            <a:ext cx="35848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Consent To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942480" y="440964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9"/>
                </a:moveTo>
                <a:lnTo>
                  <a:pt x="312" y="27"/>
                </a:lnTo>
                <a:cubicBezTo>
                  <a:pt x="308" y="19"/>
                  <a:pt x="301" y="12"/>
                  <a:pt x="293" y="8"/>
                </a:cubicBezTo>
                <a:cubicBezTo>
                  <a:pt x="284" y="3"/>
                  <a:pt x="275" y="0"/>
                  <a:pt x="265" y="0"/>
                </a:cubicBezTo>
                <a:cubicBezTo>
                  <a:pt x="256" y="0"/>
                  <a:pt x="247" y="3"/>
                  <a:pt x="239" y="8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9"/>
                </a:lnTo>
                <a:cubicBezTo>
                  <a:pt x="3" y="407"/>
                  <a:pt x="0" y="416"/>
                  <a:pt x="0" y="425"/>
                </a:cubicBezTo>
                <a:cubicBezTo>
                  <a:pt x="0" y="435"/>
                  <a:pt x="3" y="444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9"/>
                  <a:pt x="512" y="466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9"/>
                </a:cubicBezTo>
                <a:cubicBezTo>
                  <a:pt x="530" y="434"/>
                  <a:pt x="531" y="430"/>
                  <a:pt x="531" y="425"/>
                </a:cubicBezTo>
                <a:cubicBezTo>
                  <a:pt x="531" y="420"/>
                  <a:pt x="530" y="416"/>
                  <a:pt x="529" y="411"/>
                </a:cubicBezTo>
                <a:cubicBezTo>
                  <a:pt x="528" y="407"/>
                  <a:pt x="526" y="403"/>
                  <a:pt x="524" y="399"/>
                </a:cubicBezTo>
                <a:moveTo>
                  <a:pt x="265" y="159"/>
                </a:moveTo>
                <a:lnTo>
                  <a:pt x="265" y="265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923760" y="4795200"/>
            <a:ext cx="9541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Take your plate oﬀ and they still know the car is yours. Every pass adds to a list of everywhere you've been.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203120" y="4389120"/>
            <a:ext cx="255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this isn't hypothetical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"/>
          <p:cNvSpPr/>
          <p:nvPr/>
        </p:nvSpPr>
        <p:spPr>
          <a:xfrm>
            <a:off x="771480" y="2352600"/>
            <a:ext cx="3200760" cy="352800"/>
          </a:xfrm>
          <a:custGeom>
            <a:avLst/>
            <a:gdLst/>
            <a:ahLst/>
            <a:rect l="0" t="0" r="r" b="b"/>
            <a:pathLst>
              <a:path w="8891" h="980">
                <a:moveTo>
                  <a:pt x="0" y="0"/>
                </a:moveTo>
                <a:lnTo>
                  <a:pt x="8891" y="0"/>
                </a:lnTo>
                <a:lnTo>
                  <a:pt x="889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3971880" y="2352600"/>
            <a:ext cx="7458120" cy="352800"/>
          </a:xfrm>
          <a:custGeom>
            <a:avLst/>
            <a:gdLst/>
            <a:ahLst/>
            <a:rect l="0" t="0" r="r" b="b"/>
            <a:pathLst>
              <a:path w="20717" h="980">
                <a:moveTo>
                  <a:pt x="0" y="0"/>
                </a:moveTo>
                <a:lnTo>
                  <a:pt x="20717" y="0"/>
                </a:lnTo>
                <a:lnTo>
                  <a:pt x="207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771480" y="2705040"/>
            <a:ext cx="3200760" cy="581400"/>
          </a:xfrm>
          <a:custGeom>
            <a:avLst/>
            <a:gdLst/>
            <a:ahLst/>
            <a:rect l="0" t="0" r="r" b="b"/>
            <a:pathLst>
              <a:path w="8891" h="1615">
                <a:moveTo>
                  <a:pt x="0" y="0"/>
                </a:moveTo>
                <a:lnTo>
                  <a:pt x="8891" y="0"/>
                </a:lnTo>
                <a:lnTo>
                  <a:pt x="889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3971880" y="2705040"/>
            <a:ext cx="7458120" cy="581400"/>
          </a:xfrm>
          <a:custGeom>
            <a:avLst/>
            <a:gdLst/>
            <a:ahLst/>
            <a:rect l="0" t="0" r="r" b="b"/>
            <a:pathLst>
              <a:path w="20717" h="1615">
                <a:moveTo>
                  <a:pt x="0" y="0"/>
                </a:moveTo>
                <a:lnTo>
                  <a:pt x="20717" y="0"/>
                </a:lnTo>
                <a:lnTo>
                  <a:pt x="2071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771480" y="3286080"/>
            <a:ext cx="3200760" cy="810000"/>
          </a:xfrm>
          <a:custGeom>
            <a:avLst/>
            <a:gdLst/>
            <a:ahLst/>
            <a:rect l="0" t="0" r="r" b="b"/>
            <a:pathLst>
              <a:path w="8891" h="2250">
                <a:moveTo>
                  <a:pt x="0" y="0"/>
                </a:moveTo>
                <a:lnTo>
                  <a:pt x="8891" y="0"/>
                </a:lnTo>
                <a:lnTo>
                  <a:pt x="8891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3971880" y="3286080"/>
            <a:ext cx="7458120" cy="810000"/>
          </a:xfrm>
          <a:custGeom>
            <a:avLst/>
            <a:gdLst/>
            <a:ahLst/>
            <a:rect l="0" t="0" r="r" b="b"/>
            <a:pathLst>
              <a:path w="20717" h="2250">
                <a:moveTo>
                  <a:pt x="0" y="0"/>
                </a:moveTo>
                <a:lnTo>
                  <a:pt x="20717" y="0"/>
                </a:lnTo>
                <a:lnTo>
                  <a:pt x="2071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771480" y="4095720"/>
            <a:ext cx="3200760" cy="1038600"/>
          </a:xfrm>
          <a:custGeom>
            <a:avLst/>
            <a:gdLst/>
            <a:ahLst/>
            <a:rect l="0" t="0" r="r" b="b"/>
            <a:pathLst>
              <a:path w="8891" h="2885">
                <a:moveTo>
                  <a:pt x="0" y="0"/>
                </a:moveTo>
                <a:lnTo>
                  <a:pt x="8891" y="0"/>
                </a:lnTo>
                <a:lnTo>
                  <a:pt x="8891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3971880" y="4095720"/>
            <a:ext cx="7458120" cy="1038600"/>
          </a:xfrm>
          <a:custGeom>
            <a:avLst/>
            <a:gdLst/>
            <a:ahLst/>
            <a:rect l="0" t="0" r="r" b="b"/>
            <a:pathLst>
              <a:path w="20717" h="2885">
                <a:moveTo>
                  <a:pt x="0" y="0"/>
                </a:moveTo>
                <a:lnTo>
                  <a:pt x="20717" y="0"/>
                </a:lnTo>
                <a:lnTo>
                  <a:pt x="20717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761760" y="2352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761760" y="2352600"/>
            <a:ext cx="3210480" cy="9720"/>
          </a:xfrm>
          <a:custGeom>
            <a:avLst/>
            <a:gdLst/>
            <a:ahLst/>
            <a:rect l="0" t="0" r="r" b="b"/>
            <a:pathLst>
              <a:path w="8918" h="27">
                <a:moveTo>
                  <a:pt x="0" y="0"/>
                </a:moveTo>
                <a:lnTo>
                  <a:pt x="8918" y="0"/>
                </a:lnTo>
                <a:lnTo>
                  <a:pt x="89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3962160" y="2352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3971880" y="2352600"/>
            <a:ext cx="7458120" cy="9720"/>
          </a:xfrm>
          <a:custGeom>
            <a:avLst/>
            <a:gdLst/>
            <a:ahLst/>
            <a:rect l="0" t="0" r="r" b="b"/>
            <a:pathLst>
              <a:path w="20717" h="27">
                <a:moveTo>
                  <a:pt x="0" y="0"/>
                </a:moveTo>
                <a:lnTo>
                  <a:pt x="20717" y="0"/>
                </a:lnTo>
                <a:lnTo>
                  <a:pt x="207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1420280" y="235260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761760" y="2705040"/>
            <a:ext cx="3210480" cy="9720"/>
          </a:xfrm>
          <a:custGeom>
            <a:avLst/>
            <a:gdLst/>
            <a:ahLst/>
            <a:rect l="0" t="0" r="r" b="b"/>
            <a:pathLst>
              <a:path w="8918" h="27">
                <a:moveTo>
                  <a:pt x="0" y="0"/>
                </a:moveTo>
                <a:lnTo>
                  <a:pt x="8918" y="0"/>
                </a:lnTo>
                <a:lnTo>
                  <a:pt x="89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3971880" y="2705040"/>
            <a:ext cx="7458120" cy="9720"/>
          </a:xfrm>
          <a:custGeom>
            <a:avLst/>
            <a:gdLst/>
            <a:ahLst/>
            <a:rect l="0" t="0" r="r" b="b"/>
            <a:pathLst>
              <a:path w="20717" h="27">
                <a:moveTo>
                  <a:pt x="0" y="0"/>
                </a:moveTo>
                <a:lnTo>
                  <a:pt x="20717" y="0"/>
                </a:lnTo>
                <a:lnTo>
                  <a:pt x="207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761760" y="271440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3962160" y="271440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1420280" y="271440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761760" y="32954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761760" y="3286080"/>
            <a:ext cx="3210480" cy="9720"/>
          </a:xfrm>
          <a:custGeom>
            <a:avLst/>
            <a:gdLst/>
            <a:ahLst/>
            <a:rect l="0" t="0" r="r" b="b"/>
            <a:pathLst>
              <a:path w="8918" h="27">
                <a:moveTo>
                  <a:pt x="0" y="0"/>
                </a:moveTo>
                <a:lnTo>
                  <a:pt x="8918" y="0"/>
                </a:lnTo>
                <a:lnTo>
                  <a:pt x="89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3962160" y="32954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3971880" y="3286080"/>
            <a:ext cx="7458120" cy="9720"/>
          </a:xfrm>
          <a:custGeom>
            <a:avLst/>
            <a:gdLst/>
            <a:ahLst/>
            <a:rect l="0" t="0" r="r" b="b"/>
            <a:pathLst>
              <a:path w="20717" h="27">
                <a:moveTo>
                  <a:pt x="0" y="0"/>
                </a:moveTo>
                <a:lnTo>
                  <a:pt x="20717" y="0"/>
                </a:lnTo>
                <a:lnTo>
                  <a:pt x="207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1420280" y="329544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761760" y="4105080"/>
            <a:ext cx="10080" cy="1038600"/>
          </a:xfrm>
          <a:custGeom>
            <a:avLst/>
            <a:gdLst/>
            <a:ahLst/>
            <a:rect l="0" t="0" r="r" b="b"/>
            <a:pathLst>
              <a:path w="28" h="2885">
                <a:moveTo>
                  <a:pt x="0" y="0"/>
                </a:moveTo>
                <a:lnTo>
                  <a:pt x="28" y="0"/>
                </a:lnTo>
                <a:lnTo>
                  <a:pt x="28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761760" y="4095720"/>
            <a:ext cx="3210480" cy="9720"/>
          </a:xfrm>
          <a:custGeom>
            <a:avLst/>
            <a:gdLst/>
            <a:ahLst/>
            <a:rect l="0" t="0" r="r" b="b"/>
            <a:pathLst>
              <a:path w="8918" h="27">
                <a:moveTo>
                  <a:pt x="0" y="0"/>
                </a:moveTo>
                <a:lnTo>
                  <a:pt x="8918" y="0"/>
                </a:lnTo>
                <a:lnTo>
                  <a:pt x="89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3962160" y="4105080"/>
            <a:ext cx="10080" cy="1038600"/>
          </a:xfrm>
          <a:custGeom>
            <a:avLst/>
            <a:gdLst/>
            <a:ahLst/>
            <a:rect l="0" t="0" r="r" b="b"/>
            <a:pathLst>
              <a:path w="28" h="2885">
                <a:moveTo>
                  <a:pt x="0" y="0"/>
                </a:moveTo>
                <a:lnTo>
                  <a:pt x="28" y="0"/>
                </a:lnTo>
                <a:lnTo>
                  <a:pt x="28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3971880" y="4095720"/>
            <a:ext cx="7458120" cy="9720"/>
          </a:xfrm>
          <a:custGeom>
            <a:avLst/>
            <a:gdLst/>
            <a:ahLst/>
            <a:rect l="0" t="0" r="r" b="b"/>
            <a:pathLst>
              <a:path w="20717" h="27">
                <a:moveTo>
                  <a:pt x="0" y="0"/>
                </a:moveTo>
                <a:lnTo>
                  <a:pt x="20717" y="0"/>
                </a:lnTo>
                <a:lnTo>
                  <a:pt x="207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1420280" y="4105080"/>
            <a:ext cx="9720" cy="1038600"/>
          </a:xfrm>
          <a:custGeom>
            <a:avLst/>
            <a:gdLst/>
            <a:ahLst/>
            <a:rect l="0" t="0" r="r" b="b"/>
            <a:pathLst>
              <a:path w="27" h="2885">
                <a:moveTo>
                  <a:pt x="0" y="0"/>
                </a:moveTo>
                <a:lnTo>
                  <a:pt x="27" y="0"/>
                </a:lnTo>
                <a:lnTo>
                  <a:pt x="27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761760" y="5133960"/>
            <a:ext cx="3210480" cy="9720"/>
          </a:xfrm>
          <a:custGeom>
            <a:avLst/>
            <a:gdLst/>
            <a:ahLst/>
            <a:rect l="0" t="0" r="r" b="b"/>
            <a:pathLst>
              <a:path w="8918" h="27">
                <a:moveTo>
                  <a:pt x="0" y="0"/>
                </a:moveTo>
                <a:lnTo>
                  <a:pt x="8918" y="0"/>
                </a:lnTo>
                <a:lnTo>
                  <a:pt x="89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3971880" y="5133960"/>
            <a:ext cx="7458120" cy="9720"/>
          </a:xfrm>
          <a:custGeom>
            <a:avLst/>
            <a:gdLst/>
            <a:ahLst/>
            <a:rect l="0" t="0" r="r" b="b"/>
            <a:pathLst>
              <a:path w="20717" h="27">
                <a:moveTo>
                  <a:pt x="0" y="0"/>
                </a:moveTo>
                <a:lnTo>
                  <a:pt x="20717" y="0"/>
                </a:lnTo>
                <a:lnTo>
                  <a:pt x="207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1365120" y="2443320"/>
            <a:ext cx="2008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Could this happen to me?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980040" y="2443320"/>
            <a:ext cx="1437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Real UK precedent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905040" y="2795760"/>
            <a:ext cx="2703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stalker who works in policing uses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905040" y="3024360"/>
            <a:ext cx="2258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network to track someone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4109760" y="2795760"/>
            <a:ext cx="6945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 ex-Wiltshire Police oﬃcer used ANPR, the Police National Computer, and force intelligence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4109760" y="3024360"/>
            <a:ext cx="6157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to track a woman — visiting her home area 31 times before he was caught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905040" y="3491280"/>
            <a:ext cx="2925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government uses facial recognition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905040" y="3719880"/>
            <a:ext cx="2366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identify everyone at a protest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4109760" y="3376800"/>
            <a:ext cx="6521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May 2026, the Met deployed live facial recognition at a London rally for the ﬁrst time,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4109760" y="3605400"/>
            <a:ext cx="6689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scanning an estimated 80,000 faces, with no dedicated legislation governing when or how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4109760" y="3834000"/>
            <a:ext cx="1145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forces can do it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905040" y="4186440"/>
            <a:ext cx="2851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Period-tracker data and search history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905040" y="4415040"/>
            <a:ext cx="2463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are used against someone after 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905040" y="4643640"/>
            <a:ext cx="2347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miscarriage or suspected illegal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905040" y="4872240"/>
            <a:ext cx="626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abortion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4109760" y="4186440"/>
            <a:ext cx="7108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woman's internet searches were cited by the judge in her 2015 sentencing for taking abortion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4109760" y="4415040"/>
            <a:ext cx="6820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pills; a 15-year-old underwent a "digital strip search" of her phone after a stillbirth in 2021;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4109760" y="4643640"/>
            <a:ext cx="6990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police guidance published in December 2024 explicitly tells oﬃcers to check fertility apps and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4109760" y="4872240"/>
            <a:ext cx="2694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search history in such investigations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762120" y="5175720"/>
            <a:ext cx="400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They can, and they have — every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62120" y="-8280"/>
            <a:ext cx="9363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Three Questions, One Answer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762120" y="753480"/>
            <a:ext cx="3218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Each Time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766440" y="1500120"/>
            <a:ext cx="5277240" cy="1819440"/>
          </a:xfrm>
          <a:custGeom>
            <a:avLst/>
            <a:gdLst/>
            <a:ahLst/>
            <a:rect l="0" t="0" r="r" b="b"/>
            <a:pathLst>
              <a:path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7" y="4937"/>
                </a:cubicBezTo>
                <a:cubicBezTo>
                  <a:pt x="14655" y="4946"/>
                  <a:pt x="14652" y="4956"/>
                  <a:pt x="14648" y="4964"/>
                </a:cubicBezTo>
                <a:cubicBezTo>
                  <a:pt x="14645" y="4973"/>
                  <a:pt x="14640" y="4982"/>
                  <a:pt x="14635" y="4990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50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8" y="5051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90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6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766440" y="1500120"/>
            <a:ext cx="5277240" cy="1819440"/>
          </a:xfrm>
          <a:custGeom>
            <a:avLst/>
            <a:gdLst/>
            <a:ahLst/>
            <a:rect l="0" t="0" r="r" b="b"/>
            <a:pathLst>
              <a:path fill="none"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7" y="4937"/>
                </a:cubicBezTo>
                <a:cubicBezTo>
                  <a:pt x="14655" y="4946"/>
                  <a:pt x="14652" y="4956"/>
                  <a:pt x="14648" y="4964"/>
                </a:cubicBezTo>
                <a:cubicBezTo>
                  <a:pt x="14645" y="4973"/>
                  <a:pt x="14640" y="4982"/>
                  <a:pt x="14635" y="4990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50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8" y="5051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90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6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62120" y="372600"/>
            <a:ext cx="9147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Thousands of Small Trackers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923760" y="2109240"/>
            <a:ext cx="4652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Record acceleration, speed, and braking for insurers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923760" y="2376000"/>
            <a:ext cx="4985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running "black box" telematics policies. UK law is meant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923760" y="2652120"/>
            <a:ext cx="4877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stop insurers selling that data to third parties — but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942840" y="171432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6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037880" y="177156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923760" y="2928240"/>
            <a:ext cx="3998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police and courts can still compel disclosure.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6148080" y="1500120"/>
            <a:ext cx="5277240" cy="1819440"/>
          </a:xfrm>
          <a:custGeom>
            <a:avLst/>
            <a:gdLst/>
            <a:ahLst/>
            <a:rect l="0" t="0" r="r" b="b"/>
            <a:pathLst>
              <a:path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6" y="4937"/>
                </a:cubicBezTo>
                <a:cubicBezTo>
                  <a:pt x="14655" y="4946"/>
                  <a:pt x="14652" y="4956"/>
                  <a:pt x="14648" y="4964"/>
                </a:cubicBezTo>
                <a:cubicBezTo>
                  <a:pt x="14645" y="4973"/>
                  <a:pt x="14640" y="4982"/>
                  <a:pt x="14635" y="4990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50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7" y="5051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90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6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6148080" y="1500120"/>
            <a:ext cx="5277240" cy="1819440"/>
          </a:xfrm>
          <a:custGeom>
            <a:avLst/>
            <a:gdLst/>
            <a:ahLst/>
            <a:rect l="0" t="0" r="r" b="b"/>
            <a:pathLst>
              <a:path fill="none"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6" y="4937"/>
                </a:cubicBezTo>
                <a:cubicBezTo>
                  <a:pt x="14655" y="4946"/>
                  <a:pt x="14652" y="4956"/>
                  <a:pt x="14648" y="4964"/>
                </a:cubicBezTo>
                <a:cubicBezTo>
                  <a:pt x="14645" y="4973"/>
                  <a:pt x="14640" y="4982"/>
                  <a:pt x="14635" y="4990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50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7" y="5051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90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6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203120" y="1703160"/>
            <a:ext cx="531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Cars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6305400" y="2109240"/>
            <a:ext cx="4779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Monitor app interactions, movement through physical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6305400" y="2376000"/>
            <a:ext cx="4563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space, every business entered, and the identities of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6324480" y="171432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3" y="530"/>
                  <a:pt x="265" y="530"/>
                </a:cubicBezTo>
                <a:cubicBezTo>
                  <a:pt x="248" y="530"/>
                  <a:pt x="231" y="528"/>
                  <a:pt x="214" y="525"/>
                </a:cubicBezTo>
                <a:cubicBezTo>
                  <a:pt x="197" y="522"/>
                  <a:pt x="180" y="517"/>
                  <a:pt x="164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6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0" y="13"/>
                  <a:pt x="197" y="8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6419520" y="177156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6305400" y="2652120"/>
            <a:ext cx="1317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people nearby.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766440" y="355752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766440" y="355752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6584760" y="1703160"/>
            <a:ext cx="850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Phones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923760" y="4166640"/>
            <a:ext cx="10099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Logs every click, every search, every fraction of a second your eyes linger on content — following you into patient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942840" y="377172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3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037880" y="382896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923760" y="4433400"/>
            <a:ext cx="4038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portals and forums you thought were private.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766440" y="494820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2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8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766440" y="494820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2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8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203120" y="3760560"/>
            <a:ext cx="1000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The web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923760" y="5557320"/>
            <a:ext cx="10189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If technology makes something possible and that something is proﬁtable, companies will do it — regardless of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952200" y="516240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8"/>
                </a:lnTo>
                <a:lnTo>
                  <a:pt x="238" y="318"/>
                </a:lnTo>
                <a:lnTo>
                  <a:pt x="212" y="530"/>
                </a:lnTo>
                <a:lnTo>
                  <a:pt x="478" y="213"/>
                </a:lnTo>
                <a:lnTo>
                  <a:pt x="238" y="213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923760" y="5833440"/>
            <a:ext cx="862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ethics. Surveillance pricing, once conﬁned to the web, now follows us oﬄine into physical stores.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1203120" y="5150880"/>
            <a:ext cx="2328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The underlying rule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"/>
          <p:cNvSpPr txBox="1"/>
          <p:nvPr/>
        </p:nvSpPr>
        <p:spPr>
          <a:xfrm>
            <a:off x="762120" y="4299480"/>
            <a:ext cx="431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243080" y="4299480"/>
            <a:ext cx="10177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Telegraph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2183760" y="4299480"/>
            <a:ext cx="889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reported it in January 2026. Not a leak, not a paraphrase — journalists in the room, audio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762120" y="4604040"/>
            <a:ext cx="394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surfaced, nobody has denied the words.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766440" y="2833560"/>
            <a:ext cx="10658880" cy="1314720"/>
          </a:xfrm>
          <a:custGeom>
            <a:avLst/>
            <a:gdLst/>
            <a:ahLst/>
            <a:rect l="0" t="0" r="r" b="b"/>
            <a:pathLst>
              <a:path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3"/>
                  <a:pt x="29597" y="3562"/>
                </a:cubicBezTo>
                <a:cubicBezTo>
                  <a:pt x="29594" y="3571"/>
                  <a:pt x="29589" y="3579"/>
                  <a:pt x="29584" y="3587"/>
                </a:cubicBezTo>
                <a:cubicBezTo>
                  <a:pt x="29578" y="3595"/>
                  <a:pt x="29572" y="3603"/>
                  <a:pt x="29566" y="3609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7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7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09"/>
                </a:cubicBezTo>
                <a:cubicBezTo>
                  <a:pt x="36" y="3603"/>
                  <a:pt x="30" y="3595"/>
                  <a:pt x="25" y="3587"/>
                </a:cubicBezTo>
                <a:cubicBezTo>
                  <a:pt x="20" y="3579"/>
                  <a:pt x="15" y="3571"/>
                  <a:pt x="11" y="3562"/>
                </a:cubicBezTo>
                <a:cubicBezTo>
                  <a:pt x="8" y="3553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766440" y="2833560"/>
            <a:ext cx="10658880" cy="1314720"/>
          </a:xfrm>
          <a:custGeom>
            <a:avLst/>
            <a:gdLst/>
            <a:ahLst/>
            <a:rect l="0" t="0" r="r" b="b"/>
            <a:pathLst>
              <a:path fill="none"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3"/>
                  <a:pt x="29597" y="3562"/>
                </a:cubicBezTo>
                <a:cubicBezTo>
                  <a:pt x="29594" y="3571"/>
                  <a:pt x="29589" y="3579"/>
                  <a:pt x="29584" y="3587"/>
                </a:cubicBezTo>
                <a:cubicBezTo>
                  <a:pt x="29578" y="3595"/>
                  <a:pt x="29572" y="3603"/>
                  <a:pt x="29566" y="3609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7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7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09"/>
                </a:cubicBezTo>
                <a:cubicBezTo>
                  <a:pt x="36" y="3603"/>
                  <a:pt x="30" y="3595"/>
                  <a:pt x="25" y="3587"/>
                </a:cubicBezTo>
                <a:cubicBezTo>
                  <a:pt x="20" y="3579"/>
                  <a:pt x="15" y="3571"/>
                  <a:pt x="11" y="3562"/>
                </a:cubicBezTo>
                <a:cubicBezTo>
                  <a:pt x="8" y="3553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762120" y="372600"/>
            <a:ext cx="52279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Eyes of the state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923760" y="2937960"/>
            <a:ext cx="10201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"When I was in justice, my ultimate vision for that part of the criminal justice system was to achieve by means of AI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923760" y="3214080"/>
            <a:ext cx="10420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technology what Jeremy Bentham tried to do with his Panopticon. That is that the eyes of the state can be on you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923760" y="3490200"/>
            <a:ext cx="1105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at all times."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923760" y="3756960"/>
            <a:ext cx="7288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Shabana Mahmood, Home Secretary, Tony Blair Institute event, December 2025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"/>
          <p:cNvSpPr/>
          <p:nvPr/>
        </p:nvSpPr>
        <p:spPr>
          <a:xfrm>
            <a:off x="971280" y="25142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971280" y="28764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1168200" y="2422800"/>
            <a:ext cx="771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15 permanent facial recognition cameras are bolted to lamp posts in Croydon.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971280" y="32288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3"/>
                  <a:pt x="57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8"/>
                </a:cubicBezTo>
                <a:cubicBezTo>
                  <a:pt x="140" y="13"/>
                  <a:pt x="150" y="19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168200" y="2784960"/>
            <a:ext cx="510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Met scanned over 3 million faces in 12 months.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971280" y="3581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168200" y="3137400"/>
            <a:ext cx="437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13 police forces are running the technology.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168200" y="3489840"/>
            <a:ext cx="675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Home Oﬃce is expanding from 10 facial recognition vans to 50.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766440" y="3919320"/>
            <a:ext cx="10658880" cy="1276920"/>
          </a:xfrm>
          <a:custGeom>
            <a:avLst/>
            <a:gdLst/>
            <a:ahLst/>
            <a:rect l="0" t="0" r="r" b="b"/>
            <a:pathLst>
              <a:path w="29608" h="3547">
                <a:moveTo>
                  <a:pt x="0" y="340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401"/>
                </a:lnTo>
                <a:cubicBezTo>
                  <a:pt x="29608" y="3411"/>
                  <a:pt x="29607" y="3420"/>
                  <a:pt x="29605" y="3429"/>
                </a:cubicBezTo>
                <a:cubicBezTo>
                  <a:pt x="29604" y="3439"/>
                  <a:pt x="29601" y="3448"/>
                  <a:pt x="29597" y="3457"/>
                </a:cubicBezTo>
                <a:cubicBezTo>
                  <a:pt x="29594" y="3466"/>
                  <a:pt x="29589" y="3474"/>
                  <a:pt x="29584" y="3482"/>
                </a:cubicBezTo>
                <a:cubicBezTo>
                  <a:pt x="29578" y="3490"/>
                  <a:pt x="29572" y="3497"/>
                  <a:pt x="29566" y="3504"/>
                </a:cubicBezTo>
                <a:cubicBezTo>
                  <a:pt x="29559" y="3511"/>
                  <a:pt x="29552" y="3517"/>
                  <a:pt x="29544" y="3522"/>
                </a:cubicBezTo>
                <a:cubicBezTo>
                  <a:pt x="29536" y="3527"/>
                  <a:pt x="29527" y="3532"/>
                  <a:pt x="29518" y="3535"/>
                </a:cubicBezTo>
                <a:cubicBezTo>
                  <a:pt x="29510" y="3539"/>
                  <a:pt x="29501" y="3542"/>
                  <a:pt x="29491" y="3544"/>
                </a:cubicBezTo>
                <a:cubicBezTo>
                  <a:pt x="29482" y="3546"/>
                  <a:pt x="29472" y="3547"/>
                  <a:pt x="29463" y="3547"/>
                </a:cubicBezTo>
                <a:lnTo>
                  <a:pt x="146" y="3547"/>
                </a:lnTo>
                <a:cubicBezTo>
                  <a:pt x="136" y="3547"/>
                  <a:pt x="127" y="3546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6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1"/>
                  <a:pt x="0" y="3401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766440" y="3919320"/>
            <a:ext cx="10658880" cy="1276920"/>
          </a:xfrm>
          <a:custGeom>
            <a:avLst/>
            <a:gdLst/>
            <a:ahLst/>
            <a:rect l="0" t="0" r="r" b="b"/>
            <a:pathLst>
              <a:path fill="none" w="29608" h="3547">
                <a:moveTo>
                  <a:pt x="0" y="340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401"/>
                </a:lnTo>
                <a:cubicBezTo>
                  <a:pt x="29608" y="3411"/>
                  <a:pt x="29607" y="3420"/>
                  <a:pt x="29605" y="3429"/>
                </a:cubicBezTo>
                <a:cubicBezTo>
                  <a:pt x="29604" y="3439"/>
                  <a:pt x="29601" y="3448"/>
                  <a:pt x="29597" y="3457"/>
                </a:cubicBezTo>
                <a:cubicBezTo>
                  <a:pt x="29594" y="3466"/>
                  <a:pt x="29589" y="3474"/>
                  <a:pt x="29584" y="3482"/>
                </a:cubicBezTo>
                <a:cubicBezTo>
                  <a:pt x="29578" y="3490"/>
                  <a:pt x="29572" y="3497"/>
                  <a:pt x="29566" y="3504"/>
                </a:cubicBezTo>
                <a:cubicBezTo>
                  <a:pt x="29559" y="3511"/>
                  <a:pt x="29552" y="3517"/>
                  <a:pt x="29544" y="3522"/>
                </a:cubicBezTo>
                <a:cubicBezTo>
                  <a:pt x="29536" y="3527"/>
                  <a:pt x="29527" y="3532"/>
                  <a:pt x="29518" y="3535"/>
                </a:cubicBezTo>
                <a:cubicBezTo>
                  <a:pt x="29510" y="3539"/>
                  <a:pt x="29501" y="3542"/>
                  <a:pt x="29491" y="3544"/>
                </a:cubicBezTo>
                <a:cubicBezTo>
                  <a:pt x="29482" y="3546"/>
                  <a:pt x="29472" y="3547"/>
                  <a:pt x="29463" y="3547"/>
                </a:cubicBezTo>
                <a:lnTo>
                  <a:pt x="146" y="3547"/>
                </a:lnTo>
                <a:cubicBezTo>
                  <a:pt x="136" y="3547"/>
                  <a:pt x="127" y="3546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6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1"/>
                  <a:pt x="0" y="3401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762120" y="372600"/>
            <a:ext cx="5977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At the Same Time...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923760" y="4528440"/>
            <a:ext cx="1017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Home Secretary invoking Bentham's surveillance prison on stage is the weirdest part of this story — and it's only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923760" y="4804560"/>
            <a:ext cx="342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309680" y="4804560"/>
            <a:ext cx="4395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third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952200" y="4133520"/>
            <a:ext cx="172080" cy="191160"/>
          </a:xfrm>
          <a:custGeom>
            <a:avLst/>
            <a:gdLst/>
            <a:ahLst/>
            <a:rect l="0" t="0" r="r" b="b"/>
            <a:pathLst>
              <a:path fill="none" w="478" h="531">
                <a:moveTo>
                  <a:pt x="265" y="0"/>
                </a:moveTo>
                <a:lnTo>
                  <a:pt x="0" y="318"/>
                </a:lnTo>
                <a:lnTo>
                  <a:pt x="238" y="318"/>
                </a:lnTo>
                <a:lnTo>
                  <a:pt x="212" y="531"/>
                </a:lnTo>
                <a:lnTo>
                  <a:pt x="478" y="212"/>
                </a:lnTo>
                <a:lnTo>
                  <a:pt x="238" y="212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1690560" y="4804560"/>
            <a:ext cx="2409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most dystopian thing in it.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1203120" y="4122360"/>
            <a:ext cx="2092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The weirdest part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876240" y="578520"/>
            <a:ext cx="32475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Panopticon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876240" y="1474560"/>
            <a:ext cx="1021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Bentham's 18th-century prison design: one guard sits in a central tower, every cell is visible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876240" y="1845720"/>
            <a:ext cx="10373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from it, but prisoners can never tell when they're actually being watched — so they behave as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876240" y="2207880"/>
            <a:ext cx="199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if they always are.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876240" y="2722320"/>
            <a:ext cx="9892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The point isn't constant observation. It's psychological coercion. You don't need to watch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3219120" y="3562200"/>
            <a:ext cx="4839120" cy="2724480"/>
          </a:xfrm>
          <a:custGeom>
            <a:avLst/>
            <a:gdLst/>
            <a:ahLst/>
            <a:rect l="0" t="0" r="r" b="b"/>
            <a:pathLst>
              <a:path w="13442" h="7568">
                <a:moveTo>
                  <a:pt x="0" y="0"/>
                </a:moveTo>
                <a:lnTo>
                  <a:pt x="13442" y="0"/>
                </a:lnTo>
                <a:lnTo>
                  <a:pt x="13442" y="7568"/>
                </a:lnTo>
                <a:lnTo>
                  <a:pt x="0" y="75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3219120" y="3562200"/>
            <a:ext cx="4839120" cy="2724480"/>
          </a:xfrm>
          <a:custGeom>
            <a:avLst/>
            <a:gdLst/>
            <a:ahLst/>
            <a:rect l="0" t="0" r="r" b="b"/>
            <a:pathLst>
              <a:path w="13442" h="7568">
                <a:moveTo>
                  <a:pt x="0" y="0"/>
                </a:moveTo>
                <a:lnTo>
                  <a:pt x="13442" y="0"/>
                </a:lnTo>
                <a:lnTo>
                  <a:pt x="13442" y="7568"/>
                </a:lnTo>
                <a:lnTo>
                  <a:pt x="0" y="75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876240" y="3093480"/>
            <a:ext cx="6063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everyone. You just need them to believe you might be.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3219120" y="56005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0" y="0"/>
                </a:moveTo>
                <a:lnTo>
                  <a:pt x="1271" y="0"/>
                </a:lnTo>
                <a:lnTo>
                  <a:pt x="1271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6686280" y="56005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0" y="0"/>
                </a:moveTo>
                <a:lnTo>
                  <a:pt x="1271" y="0"/>
                </a:lnTo>
                <a:lnTo>
                  <a:pt x="1271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7143480" y="56005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0" y="0"/>
                </a:moveTo>
                <a:lnTo>
                  <a:pt x="1271" y="0"/>
                </a:lnTo>
                <a:lnTo>
                  <a:pt x="1271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7600680" y="56005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0" y="0"/>
                </a:moveTo>
                <a:lnTo>
                  <a:pt x="1271" y="0"/>
                </a:lnTo>
                <a:lnTo>
                  <a:pt x="1271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8" name="" descr=""/>
          <p:cNvPicPr/>
          <p:nvPr/>
        </p:nvPicPr>
        <p:blipFill>
          <a:blip r:embed="rId2"/>
          <a:stretch/>
        </p:blipFill>
        <p:spPr>
          <a:xfrm>
            <a:off x="3240000" y="5946480"/>
            <a:ext cx="47973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"/>
          <p:cNvSpPr/>
          <p:nvPr/>
        </p:nvSpPr>
        <p:spPr>
          <a:xfrm>
            <a:off x="3240000" y="5946480"/>
            <a:ext cx="4797720" cy="299160"/>
          </a:xfrm>
          <a:custGeom>
            <a:avLst/>
            <a:gdLst/>
            <a:ahLst/>
            <a:rect l="0" t="0" r="r" b="b"/>
            <a:pathLst>
              <a:path w="13327" h="831">
                <a:moveTo>
                  <a:pt x="419" y="309"/>
                </a:moveTo>
                <a:cubicBezTo>
                  <a:pt x="404" y="309"/>
                  <a:pt x="392" y="314"/>
                  <a:pt x="381" y="324"/>
                </a:cubicBezTo>
                <a:cubicBezTo>
                  <a:pt x="371" y="335"/>
                  <a:pt x="366" y="347"/>
                  <a:pt x="366" y="362"/>
                </a:cubicBezTo>
                <a:cubicBezTo>
                  <a:pt x="366" y="377"/>
                  <a:pt x="371" y="389"/>
                  <a:pt x="381" y="399"/>
                </a:cubicBezTo>
                <a:cubicBezTo>
                  <a:pt x="392" y="410"/>
                  <a:pt x="404" y="415"/>
                  <a:pt x="419" y="415"/>
                </a:cubicBezTo>
                <a:lnTo>
                  <a:pt x="12908" y="415"/>
                </a:lnTo>
                <a:cubicBezTo>
                  <a:pt x="12923" y="415"/>
                  <a:pt x="12935" y="410"/>
                  <a:pt x="12945" y="399"/>
                </a:cubicBezTo>
                <a:cubicBezTo>
                  <a:pt x="12956" y="389"/>
                  <a:pt x="12961" y="377"/>
                  <a:pt x="12961" y="362"/>
                </a:cubicBezTo>
                <a:cubicBezTo>
                  <a:pt x="12961" y="347"/>
                  <a:pt x="12956" y="335"/>
                  <a:pt x="12945" y="324"/>
                </a:cubicBezTo>
                <a:cubicBezTo>
                  <a:pt x="12935" y="314"/>
                  <a:pt x="12923" y="309"/>
                  <a:pt x="12908" y="309"/>
                </a:cubicBezTo>
                <a:lnTo>
                  <a:pt x="419" y="309"/>
                </a:lnTo>
                <a:moveTo>
                  <a:pt x="0" y="0"/>
                </a:moveTo>
                <a:lnTo>
                  <a:pt x="13327" y="0"/>
                </a:lnTo>
                <a:lnTo>
                  <a:pt x="13327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371760" y="6057720"/>
            <a:ext cx="4534200" cy="38520"/>
          </a:xfrm>
          <a:custGeom>
            <a:avLst/>
            <a:gdLst/>
            <a:ahLst/>
            <a:rect l="0" t="0" r="r" b="b"/>
            <a:pathLst>
              <a:path w="12595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6" y="27"/>
                  <a:pt x="10" y="20"/>
                  <a:pt x="15" y="15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12542" y="0"/>
                </a:lnTo>
                <a:cubicBezTo>
                  <a:pt x="12549" y="0"/>
                  <a:pt x="12556" y="1"/>
                  <a:pt x="12562" y="4"/>
                </a:cubicBezTo>
                <a:cubicBezTo>
                  <a:pt x="12569" y="7"/>
                  <a:pt x="12574" y="11"/>
                  <a:pt x="12579" y="15"/>
                </a:cubicBezTo>
                <a:cubicBezTo>
                  <a:pt x="12584" y="20"/>
                  <a:pt x="12588" y="27"/>
                  <a:pt x="12591" y="34"/>
                </a:cubicBezTo>
                <a:cubicBezTo>
                  <a:pt x="12594" y="40"/>
                  <a:pt x="12595" y="47"/>
                  <a:pt x="12595" y="54"/>
                </a:cubicBezTo>
                <a:cubicBezTo>
                  <a:pt x="12595" y="61"/>
                  <a:pt x="12594" y="68"/>
                  <a:pt x="12591" y="74"/>
                </a:cubicBezTo>
                <a:cubicBezTo>
                  <a:pt x="12588" y="81"/>
                  <a:pt x="12584" y="86"/>
                  <a:pt x="12579" y="91"/>
                </a:cubicBezTo>
                <a:cubicBezTo>
                  <a:pt x="12574" y="96"/>
                  <a:pt x="12569" y="100"/>
                  <a:pt x="12562" y="103"/>
                </a:cubicBezTo>
                <a:cubicBezTo>
                  <a:pt x="12556" y="105"/>
                  <a:pt x="12549" y="107"/>
                  <a:pt x="12542" y="107"/>
                </a:cubicBezTo>
                <a:lnTo>
                  <a:pt x="53" y="107"/>
                </a:lnTo>
                <a:cubicBezTo>
                  <a:pt x="46" y="107"/>
                  <a:pt x="39" y="105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6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5295600" y="4802760"/>
            <a:ext cx="686160" cy="350280"/>
          </a:xfrm>
          <a:custGeom>
            <a:avLst/>
            <a:gdLst/>
            <a:ahLst/>
            <a:rect l="0" t="0" r="r" b="b"/>
            <a:pathLst>
              <a:path w="1906" h="973">
                <a:moveTo>
                  <a:pt x="1906" y="0"/>
                </a:moveTo>
                <a:lnTo>
                  <a:pt x="1906" y="973"/>
                </a:lnTo>
                <a:lnTo>
                  <a:pt x="0" y="973"/>
                </a:lnTo>
                <a:lnTo>
                  <a:pt x="0" y="40"/>
                </a:lnTo>
                <a:lnTo>
                  <a:pt x="190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5295600" y="4466880"/>
            <a:ext cx="686160" cy="350640"/>
          </a:xfrm>
          <a:custGeom>
            <a:avLst/>
            <a:gdLst/>
            <a:ahLst/>
            <a:rect l="0" t="0" r="r" b="b"/>
            <a:pathLst>
              <a:path w="1906" h="974">
                <a:moveTo>
                  <a:pt x="0" y="974"/>
                </a:moveTo>
                <a:lnTo>
                  <a:pt x="0" y="0"/>
                </a:lnTo>
                <a:lnTo>
                  <a:pt x="1906" y="0"/>
                </a:lnTo>
                <a:lnTo>
                  <a:pt x="1906" y="934"/>
                </a:lnTo>
                <a:lnTo>
                  <a:pt x="0" y="97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3676680" y="5774400"/>
            <a:ext cx="62748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Arial"/>
                <a:ea typeface="Arial"/>
              </a:rPr>
              <a:t>0:00 / 3:52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35252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799920" y="6343560"/>
            <a:ext cx="381240" cy="304920"/>
          </a:xfrm>
          <a:custGeom>
            <a:avLst/>
            <a:gdLst/>
            <a:ahLst/>
            <a:rect l="0" t="0" r="r" b="b"/>
            <a:pathLst>
              <a:path w="1059" h="847">
                <a:moveTo>
                  <a:pt x="0" y="423"/>
                </a:move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1" y="188"/>
                </a:cubicBezTo>
                <a:cubicBezTo>
                  <a:pt x="87" y="165"/>
                  <a:pt x="104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1"/>
                  <a:pt x="313" y="13"/>
                  <a:pt x="341" y="8"/>
                </a:cubicBezTo>
                <a:cubicBezTo>
                  <a:pt x="368" y="2"/>
                  <a:pt x="396" y="0"/>
                  <a:pt x="423" y="0"/>
                </a:cubicBezTo>
                <a:lnTo>
                  <a:pt x="636" y="0"/>
                </a:lnTo>
                <a:cubicBezTo>
                  <a:pt x="664" y="0"/>
                  <a:pt x="691" y="2"/>
                  <a:pt x="719" y="8"/>
                </a:cubicBezTo>
                <a:cubicBezTo>
                  <a:pt x="746" y="13"/>
                  <a:pt x="772" y="21"/>
                  <a:pt x="798" y="32"/>
                </a:cubicBezTo>
                <a:cubicBezTo>
                  <a:pt x="824" y="43"/>
                  <a:pt x="848" y="56"/>
                  <a:pt x="871" y="71"/>
                </a:cubicBezTo>
                <a:cubicBezTo>
                  <a:pt x="894" y="87"/>
                  <a:pt x="916" y="104"/>
                  <a:pt x="935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3" y="211"/>
                  <a:pt x="1016" y="235"/>
                  <a:pt x="1027" y="261"/>
                </a:cubicBezTo>
                <a:cubicBezTo>
                  <a:pt x="1038" y="287"/>
                  <a:pt x="1046" y="313"/>
                  <a:pt x="1051" y="340"/>
                </a:cubicBezTo>
                <a:cubicBezTo>
                  <a:pt x="1057" y="368"/>
                  <a:pt x="1059" y="395"/>
                  <a:pt x="1059" y="423"/>
                </a:cubicBezTo>
                <a:cubicBezTo>
                  <a:pt x="1059" y="451"/>
                  <a:pt x="1057" y="478"/>
                  <a:pt x="1051" y="506"/>
                </a:cubicBezTo>
                <a:cubicBezTo>
                  <a:pt x="1046" y="533"/>
                  <a:pt x="1038" y="559"/>
                  <a:pt x="1027" y="586"/>
                </a:cubicBezTo>
                <a:cubicBezTo>
                  <a:pt x="1016" y="612"/>
                  <a:pt x="1003" y="636"/>
                  <a:pt x="988" y="659"/>
                </a:cubicBezTo>
                <a:cubicBezTo>
                  <a:pt x="973" y="682"/>
                  <a:pt x="955" y="704"/>
                  <a:pt x="935" y="723"/>
                </a:cubicBezTo>
                <a:cubicBezTo>
                  <a:pt x="916" y="743"/>
                  <a:pt x="894" y="761"/>
                  <a:pt x="871" y="776"/>
                </a:cubicBezTo>
                <a:cubicBezTo>
                  <a:pt x="848" y="792"/>
                  <a:pt x="824" y="805"/>
                  <a:pt x="798" y="815"/>
                </a:cubicBezTo>
                <a:cubicBezTo>
                  <a:pt x="772" y="826"/>
                  <a:pt x="746" y="834"/>
                  <a:pt x="719" y="839"/>
                </a:cubicBezTo>
                <a:cubicBezTo>
                  <a:pt x="691" y="845"/>
                  <a:pt x="664" y="847"/>
                  <a:pt x="636" y="847"/>
                </a:cubicBezTo>
                <a:lnTo>
                  <a:pt x="423" y="847"/>
                </a:lnTo>
                <a:cubicBezTo>
                  <a:pt x="396" y="847"/>
                  <a:pt x="368" y="845"/>
                  <a:pt x="341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4" y="704"/>
                  <a:pt x="87" y="682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35252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87624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762120" y="2624040"/>
            <a:ext cx="353160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Croydon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762120" y="3788640"/>
            <a:ext cx="273744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A Case Study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"/>
          <p:cNvSpPr/>
          <p:nvPr/>
        </p:nvSpPr>
        <p:spPr>
          <a:xfrm>
            <a:off x="971280" y="2724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168200" y="2632320"/>
            <a:ext cx="9126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March 2025: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Met Superintendent Mitch Carr wrote to Croydon leaders proposing ﬁxed facial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971280" y="3381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168200" y="2937240"/>
            <a:ext cx="744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recognition cameras for the town centre. The plan mentioned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two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cameras.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168200" y="3289680"/>
            <a:ext cx="994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October 2025: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switched on —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15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cameras, bolted to lamp posts and buildings across Fairﬁeld ward.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766440" y="371916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3"/>
                  <a:pt x="29601" y="3422"/>
                  <a:pt x="29597" y="3431"/>
                </a:cubicBezTo>
                <a:cubicBezTo>
                  <a:pt x="29594" y="3439"/>
                  <a:pt x="29589" y="3448"/>
                  <a:pt x="29584" y="3456"/>
                </a:cubicBezTo>
                <a:cubicBezTo>
                  <a:pt x="29578" y="3464"/>
                  <a:pt x="29572" y="3471"/>
                  <a:pt x="29566" y="3478"/>
                </a:cubicBezTo>
                <a:cubicBezTo>
                  <a:pt x="29559" y="3485"/>
                  <a:pt x="29552" y="3491"/>
                  <a:pt x="29544" y="3496"/>
                </a:cubicBezTo>
                <a:cubicBezTo>
                  <a:pt x="29536" y="3501"/>
                  <a:pt x="29527" y="3506"/>
                  <a:pt x="29518" y="3509"/>
                </a:cubicBezTo>
                <a:cubicBezTo>
                  <a:pt x="29510" y="3513"/>
                  <a:pt x="29501" y="3516"/>
                  <a:pt x="29491" y="3518"/>
                </a:cubicBezTo>
                <a:cubicBezTo>
                  <a:pt x="29482" y="3520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20"/>
                  <a:pt x="118" y="3518"/>
                </a:cubicBezTo>
                <a:cubicBezTo>
                  <a:pt x="108" y="3516"/>
                  <a:pt x="99" y="3513"/>
                  <a:pt x="90" y="3509"/>
                </a:cubicBezTo>
                <a:cubicBezTo>
                  <a:pt x="81" y="3506"/>
                  <a:pt x="73" y="3501"/>
                  <a:pt x="65" y="3496"/>
                </a:cubicBezTo>
                <a:cubicBezTo>
                  <a:pt x="57" y="3491"/>
                  <a:pt x="50" y="3485"/>
                  <a:pt x="43" y="3478"/>
                </a:cubicBezTo>
                <a:cubicBezTo>
                  <a:pt x="36" y="3471"/>
                  <a:pt x="30" y="3464"/>
                  <a:pt x="25" y="3456"/>
                </a:cubicBezTo>
                <a:cubicBezTo>
                  <a:pt x="20" y="3448"/>
                  <a:pt x="15" y="3439"/>
                  <a:pt x="11" y="3431"/>
                </a:cubicBezTo>
                <a:cubicBezTo>
                  <a:pt x="8" y="3422"/>
                  <a:pt x="5" y="3413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766440" y="371916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3"/>
                  <a:pt x="29601" y="3422"/>
                  <a:pt x="29597" y="3431"/>
                </a:cubicBezTo>
                <a:cubicBezTo>
                  <a:pt x="29594" y="3439"/>
                  <a:pt x="29589" y="3448"/>
                  <a:pt x="29584" y="3456"/>
                </a:cubicBezTo>
                <a:cubicBezTo>
                  <a:pt x="29578" y="3464"/>
                  <a:pt x="29572" y="3471"/>
                  <a:pt x="29566" y="3478"/>
                </a:cubicBezTo>
                <a:cubicBezTo>
                  <a:pt x="29559" y="3485"/>
                  <a:pt x="29552" y="3491"/>
                  <a:pt x="29544" y="3496"/>
                </a:cubicBezTo>
                <a:cubicBezTo>
                  <a:pt x="29536" y="3501"/>
                  <a:pt x="29527" y="3506"/>
                  <a:pt x="29518" y="3509"/>
                </a:cubicBezTo>
                <a:cubicBezTo>
                  <a:pt x="29510" y="3513"/>
                  <a:pt x="29501" y="3516"/>
                  <a:pt x="29491" y="3518"/>
                </a:cubicBezTo>
                <a:cubicBezTo>
                  <a:pt x="29482" y="3520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20"/>
                  <a:pt x="118" y="3518"/>
                </a:cubicBezTo>
                <a:cubicBezTo>
                  <a:pt x="108" y="3516"/>
                  <a:pt x="99" y="3513"/>
                  <a:pt x="90" y="3509"/>
                </a:cubicBezTo>
                <a:cubicBezTo>
                  <a:pt x="81" y="3506"/>
                  <a:pt x="73" y="3501"/>
                  <a:pt x="65" y="3496"/>
                </a:cubicBezTo>
                <a:cubicBezTo>
                  <a:pt x="57" y="3491"/>
                  <a:pt x="50" y="3485"/>
                  <a:pt x="43" y="3478"/>
                </a:cubicBezTo>
                <a:cubicBezTo>
                  <a:pt x="36" y="3471"/>
                  <a:pt x="30" y="3464"/>
                  <a:pt x="25" y="3456"/>
                </a:cubicBezTo>
                <a:cubicBezTo>
                  <a:pt x="20" y="3448"/>
                  <a:pt x="15" y="3439"/>
                  <a:pt x="11" y="3431"/>
                </a:cubicBezTo>
                <a:cubicBezTo>
                  <a:pt x="8" y="3422"/>
                  <a:pt x="5" y="3413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762120" y="372600"/>
            <a:ext cx="76168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From Pilot to Permanent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923760" y="4328640"/>
            <a:ext cx="10127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Met calls it a pilot. Asked about the word "permanent," a spokesperson said the cameras "are not ﬁxed." They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942480" y="3943080"/>
            <a:ext cx="191160" cy="171720"/>
          </a:xfrm>
          <a:custGeom>
            <a:avLst/>
            <a:gdLst/>
            <a:ahLst/>
            <a:rect l="0" t="0" r="r" b="b"/>
            <a:pathLst>
              <a:path fill="none" w="531" h="477">
                <a:moveTo>
                  <a:pt x="524" y="398"/>
                </a:moveTo>
                <a:lnTo>
                  <a:pt x="312" y="27"/>
                </a:lnTo>
                <a:cubicBezTo>
                  <a:pt x="308" y="18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8"/>
                  <a:pt x="219" y="27"/>
                </a:cubicBezTo>
                <a:lnTo>
                  <a:pt x="7" y="398"/>
                </a:lnTo>
                <a:cubicBezTo>
                  <a:pt x="3" y="406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59"/>
                  <a:pt x="19" y="466"/>
                  <a:pt x="27" y="471"/>
                </a:cubicBezTo>
                <a:cubicBezTo>
                  <a:pt x="35" y="475"/>
                  <a:pt x="44" y="478"/>
                  <a:pt x="54" y="477"/>
                </a:cubicBezTo>
                <a:lnTo>
                  <a:pt x="478" y="477"/>
                </a:lnTo>
                <a:cubicBezTo>
                  <a:pt x="483" y="477"/>
                  <a:pt x="487" y="477"/>
                  <a:pt x="492" y="476"/>
                </a:cubicBezTo>
                <a:cubicBezTo>
                  <a:pt x="496" y="474"/>
                  <a:pt x="501" y="473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5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59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923760" y="4595040"/>
            <a:ext cx="2391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are screwed to lamp posts.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203120" y="3922200"/>
            <a:ext cx="127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"Not ﬁxed"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"/>
          <p:cNvSpPr/>
          <p:nvPr/>
        </p:nvSpPr>
        <p:spPr>
          <a:xfrm>
            <a:off x="2276280" y="3019320"/>
            <a:ext cx="3096000" cy="352800"/>
          </a:xfrm>
          <a:custGeom>
            <a:avLst/>
            <a:gdLst/>
            <a:ahLst/>
            <a:rect l="0" t="0" r="r" b="b"/>
            <a:pathLst>
              <a:path w="8600" h="980">
                <a:moveTo>
                  <a:pt x="0" y="0"/>
                </a:moveTo>
                <a:lnTo>
                  <a:pt x="8600" y="0"/>
                </a:lnTo>
                <a:lnTo>
                  <a:pt x="860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5371920" y="3019320"/>
            <a:ext cx="4543920" cy="352800"/>
          </a:xfrm>
          <a:custGeom>
            <a:avLst/>
            <a:gdLst/>
            <a:ahLst/>
            <a:rect l="0" t="0" r="r" b="b"/>
            <a:pathLst>
              <a:path w="12622" h="980">
                <a:moveTo>
                  <a:pt x="0" y="0"/>
                </a:moveTo>
                <a:lnTo>
                  <a:pt x="12622" y="0"/>
                </a:lnTo>
                <a:lnTo>
                  <a:pt x="1262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2276280" y="3371760"/>
            <a:ext cx="3096000" cy="352800"/>
          </a:xfrm>
          <a:custGeom>
            <a:avLst/>
            <a:gdLst/>
            <a:ahLst/>
            <a:rect l="0" t="0" r="r" b="b"/>
            <a:pathLst>
              <a:path w="8600" h="980">
                <a:moveTo>
                  <a:pt x="0" y="0"/>
                </a:moveTo>
                <a:lnTo>
                  <a:pt x="8600" y="0"/>
                </a:lnTo>
                <a:lnTo>
                  <a:pt x="860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5371920" y="3371760"/>
            <a:ext cx="4543920" cy="352800"/>
          </a:xfrm>
          <a:custGeom>
            <a:avLst/>
            <a:gdLst/>
            <a:ahLst/>
            <a:rect l="0" t="0" r="r" b="b"/>
            <a:pathLst>
              <a:path w="12622" h="980">
                <a:moveTo>
                  <a:pt x="0" y="0"/>
                </a:moveTo>
                <a:lnTo>
                  <a:pt x="12622" y="0"/>
                </a:lnTo>
                <a:lnTo>
                  <a:pt x="1262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2276280" y="3724200"/>
            <a:ext cx="3096000" cy="352800"/>
          </a:xfrm>
          <a:custGeom>
            <a:avLst/>
            <a:gdLst/>
            <a:ahLst/>
            <a:rect l="0" t="0" r="r" b="b"/>
            <a:pathLst>
              <a:path w="8600" h="980">
                <a:moveTo>
                  <a:pt x="0" y="0"/>
                </a:moveTo>
                <a:lnTo>
                  <a:pt x="8600" y="0"/>
                </a:lnTo>
                <a:lnTo>
                  <a:pt x="860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5371920" y="3724200"/>
            <a:ext cx="4543920" cy="352800"/>
          </a:xfrm>
          <a:custGeom>
            <a:avLst/>
            <a:gdLst/>
            <a:ahLst/>
            <a:rect l="0" t="0" r="r" b="b"/>
            <a:pathLst>
              <a:path w="12622" h="980">
                <a:moveTo>
                  <a:pt x="0" y="0"/>
                </a:moveTo>
                <a:lnTo>
                  <a:pt x="12622" y="0"/>
                </a:lnTo>
                <a:lnTo>
                  <a:pt x="1262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276280" y="4076640"/>
            <a:ext cx="3096000" cy="352800"/>
          </a:xfrm>
          <a:custGeom>
            <a:avLst/>
            <a:gdLst/>
            <a:ahLst/>
            <a:rect l="0" t="0" r="r" b="b"/>
            <a:pathLst>
              <a:path w="8600" h="980">
                <a:moveTo>
                  <a:pt x="0" y="0"/>
                </a:moveTo>
                <a:lnTo>
                  <a:pt x="8600" y="0"/>
                </a:lnTo>
                <a:lnTo>
                  <a:pt x="860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5371920" y="4076640"/>
            <a:ext cx="4543920" cy="352800"/>
          </a:xfrm>
          <a:custGeom>
            <a:avLst/>
            <a:gdLst/>
            <a:ahLst/>
            <a:rect l="0" t="0" r="r" b="b"/>
            <a:pathLst>
              <a:path w="12622" h="980">
                <a:moveTo>
                  <a:pt x="0" y="0"/>
                </a:moveTo>
                <a:lnTo>
                  <a:pt x="12622" y="0"/>
                </a:lnTo>
                <a:lnTo>
                  <a:pt x="1262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2276280" y="4429080"/>
            <a:ext cx="3096000" cy="352800"/>
          </a:xfrm>
          <a:custGeom>
            <a:avLst/>
            <a:gdLst/>
            <a:ahLst/>
            <a:rect l="0" t="0" r="r" b="b"/>
            <a:pathLst>
              <a:path w="8600" h="980">
                <a:moveTo>
                  <a:pt x="0" y="0"/>
                </a:moveTo>
                <a:lnTo>
                  <a:pt x="8600" y="0"/>
                </a:lnTo>
                <a:lnTo>
                  <a:pt x="860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5371920" y="4429080"/>
            <a:ext cx="4543920" cy="352800"/>
          </a:xfrm>
          <a:custGeom>
            <a:avLst/>
            <a:gdLst/>
            <a:ahLst/>
            <a:rect l="0" t="0" r="r" b="b"/>
            <a:pathLst>
              <a:path w="12622" h="980">
                <a:moveTo>
                  <a:pt x="0" y="0"/>
                </a:moveTo>
                <a:lnTo>
                  <a:pt x="12622" y="0"/>
                </a:lnTo>
                <a:lnTo>
                  <a:pt x="1262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266920" y="30096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266920" y="300960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5362560" y="30096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5371920" y="3009600"/>
            <a:ext cx="4553280" cy="10080"/>
          </a:xfrm>
          <a:custGeom>
            <a:avLst/>
            <a:gdLst/>
            <a:ahLst/>
            <a:rect l="0" t="0" r="r" b="b"/>
            <a:pathLst>
              <a:path w="12648" h="28">
                <a:moveTo>
                  <a:pt x="0" y="0"/>
                </a:moveTo>
                <a:lnTo>
                  <a:pt x="12648" y="0"/>
                </a:lnTo>
                <a:lnTo>
                  <a:pt x="12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9915480" y="30096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266920" y="336204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5371920" y="3362040"/>
            <a:ext cx="4553280" cy="10080"/>
          </a:xfrm>
          <a:custGeom>
            <a:avLst/>
            <a:gdLst/>
            <a:ahLst/>
            <a:rect l="0" t="0" r="r" b="b"/>
            <a:pathLst>
              <a:path w="12648" h="28">
                <a:moveTo>
                  <a:pt x="0" y="0"/>
                </a:moveTo>
                <a:lnTo>
                  <a:pt x="12648" y="0"/>
                </a:lnTo>
                <a:lnTo>
                  <a:pt x="12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2266920" y="3371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5362560" y="3371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9915480" y="3371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2266920" y="3724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266920" y="371448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5362560" y="3724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5371920" y="3714480"/>
            <a:ext cx="4553280" cy="10080"/>
          </a:xfrm>
          <a:custGeom>
            <a:avLst/>
            <a:gdLst/>
            <a:ahLst/>
            <a:rect l="0" t="0" r="r" b="b"/>
            <a:pathLst>
              <a:path w="12648" h="28">
                <a:moveTo>
                  <a:pt x="0" y="0"/>
                </a:moveTo>
                <a:lnTo>
                  <a:pt x="12648" y="0"/>
                </a:lnTo>
                <a:lnTo>
                  <a:pt x="12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9915480" y="3724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2266920" y="4076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2266920" y="406692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5362560" y="4076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5371920" y="4066920"/>
            <a:ext cx="4553280" cy="10080"/>
          </a:xfrm>
          <a:custGeom>
            <a:avLst/>
            <a:gdLst/>
            <a:ahLst/>
            <a:rect l="0" t="0" r="r" b="b"/>
            <a:pathLst>
              <a:path w="12648" h="28">
                <a:moveTo>
                  <a:pt x="0" y="0"/>
                </a:moveTo>
                <a:lnTo>
                  <a:pt x="12648" y="0"/>
                </a:lnTo>
                <a:lnTo>
                  <a:pt x="12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9915480" y="4076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2266920" y="4429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2266920" y="441936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5362560" y="4429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5371920" y="4419360"/>
            <a:ext cx="4553280" cy="10080"/>
          </a:xfrm>
          <a:custGeom>
            <a:avLst/>
            <a:gdLst/>
            <a:ahLst/>
            <a:rect l="0" t="0" r="r" b="b"/>
            <a:pathLst>
              <a:path w="12648" h="28">
                <a:moveTo>
                  <a:pt x="0" y="0"/>
                </a:moveTo>
                <a:lnTo>
                  <a:pt x="12648" y="0"/>
                </a:lnTo>
                <a:lnTo>
                  <a:pt x="12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9915480" y="4429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2266920" y="477180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5371920" y="4771800"/>
            <a:ext cx="4553280" cy="10080"/>
          </a:xfrm>
          <a:custGeom>
            <a:avLst/>
            <a:gdLst/>
            <a:ahLst/>
            <a:rect l="0" t="0" r="r" b="b"/>
            <a:pathLst>
              <a:path w="12648" h="28">
                <a:moveTo>
                  <a:pt x="0" y="0"/>
                </a:moveTo>
                <a:lnTo>
                  <a:pt x="12648" y="0"/>
                </a:lnTo>
                <a:lnTo>
                  <a:pt x="12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3578400" y="3100680"/>
            <a:ext cx="489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Metric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7395120" y="3100680"/>
            <a:ext cx="497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Figure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2413440" y="3453120"/>
            <a:ext cx="1086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Headline claim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5508720" y="3453120"/>
            <a:ext cx="3045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"An arrest every 34 minutes when in use"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2413440" y="3805560"/>
            <a:ext cx="1672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Arrests, ﬁrst 3 months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5508720" y="3805560"/>
            <a:ext cx="4270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103 across 13 deployments (later cited elsewhere as 133)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2413440" y="4158000"/>
            <a:ext cx="2819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Estimated scans, Croydon programme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5508720" y="4158000"/>
            <a:ext cx="748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128,000+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2413440" y="4510440"/>
            <a:ext cx="550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Hit rate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5508720" y="4510440"/>
            <a:ext cx="439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~0.1%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762120" y="-8280"/>
            <a:ext cx="100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Numbers They Lead With —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762120" y="753480"/>
            <a:ext cx="7779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and the Ones They Don't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6" name=""/>
          <p:cNvSpPr/>
          <p:nvPr/>
        </p:nvSpPr>
        <p:spPr>
          <a:xfrm>
            <a:off x="3666960" y="2219040"/>
            <a:ext cx="3277080" cy="352800"/>
          </a:xfrm>
          <a:custGeom>
            <a:avLst/>
            <a:gdLst/>
            <a:ahLst/>
            <a:rect l="0" t="0" r="r" b="b"/>
            <a:pathLst>
              <a:path w="9103" h="980">
                <a:moveTo>
                  <a:pt x="0" y="0"/>
                </a:moveTo>
                <a:lnTo>
                  <a:pt x="9103" y="0"/>
                </a:lnTo>
                <a:lnTo>
                  <a:pt x="910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943680" y="2219040"/>
            <a:ext cx="1581480" cy="352800"/>
          </a:xfrm>
          <a:custGeom>
            <a:avLst/>
            <a:gdLst/>
            <a:ahLst/>
            <a:rect l="0" t="0" r="r" b="b"/>
            <a:pathLst>
              <a:path w="4393" h="980">
                <a:moveTo>
                  <a:pt x="0" y="0"/>
                </a:moveTo>
                <a:lnTo>
                  <a:pt x="4393" y="0"/>
                </a:lnTo>
                <a:lnTo>
                  <a:pt x="439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3666960" y="2571480"/>
            <a:ext cx="3277080" cy="352800"/>
          </a:xfrm>
          <a:custGeom>
            <a:avLst/>
            <a:gdLst/>
            <a:ahLst/>
            <a:rect l="0" t="0" r="r" b="b"/>
            <a:pathLst>
              <a:path w="9103" h="980">
                <a:moveTo>
                  <a:pt x="0" y="0"/>
                </a:moveTo>
                <a:lnTo>
                  <a:pt x="9103" y="0"/>
                </a:lnTo>
                <a:lnTo>
                  <a:pt x="910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6943680" y="2571480"/>
            <a:ext cx="1581480" cy="352800"/>
          </a:xfrm>
          <a:custGeom>
            <a:avLst/>
            <a:gdLst/>
            <a:ahLst/>
            <a:rect l="0" t="0" r="r" b="b"/>
            <a:pathLst>
              <a:path w="4393" h="980">
                <a:moveTo>
                  <a:pt x="0" y="0"/>
                </a:moveTo>
                <a:lnTo>
                  <a:pt x="4393" y="0"/>
                </a:lnTo>
                <a:lnTo>
                  <a:pt x="439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3666960" y="2923920"/>
            <a:ext cx="3277080" cy="352800"/>
          </a:xfrm>
          <a:custGeom>
            <a:avLst/>
            <a:gdLst/>
            <a:ahLst/>
            <a:rect l="0" t="0" r="r" b="b"/>
            <a:pathLst>
              <a:path w="9103" h="980">
                <a:moveTo>
                  <a:pt x="0" y="0"/>
                </a:moveTo>
                <a:lnTo>
                  <a:pt x="9103" y="0"/>
                </a:lnTo>
                <a:lnTo>
                  <a:pt x="910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6943680" y="2923920"/>
            <a:ext cx="1581480" cy="352800"/>
          </a:xfrm>
          <a:custGeom>
            <a:avLst/>
            <a:gdLst/>
            <a:ahLst/>
            <a:rect l="0" t="0" r="r" b="b"/>
            <a:pathLst>
              <a:path w="4393" h="980">
                <a:moveTo>
                  <a:pt x="0" y="0"/>
                </a:moveTo>
                <a:lnTo>
                  <a:pt x="4393" y="0"/>
                </a:lnTo>
                <a:lnTo>
                  <a:pt x="439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3666960" y="3276360"/>
            <a:ext cx="3277080" cy="352800"/>
          </a:xfrm>
          <a:custGeom>
            <a:avLst/>
            <a:gdLst/>
            <a:ahLst/>
            <a:rect l="0" t="0" r="r" b="b"/>
            <a:pathLst>
              <a:path w="9103" h="980">
                <a:moveTo>
                  <a:pt x="0" y="0"/>
                </a:moveTo>
                <a:lnTo>
                  <a:pt x="9103" y="0"/>
                </a:lnTo>
                <a:lnTo>
                  <a:pt x="910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6943680" y="3276360"/>
            <a:ext cx="1581480" cy="352800"/>
          </a:xfrm>
          <a:custGeom>
            <a:avLst/>
            <a:gdLst/>
            <a:ahLst/>
            <a:rect l="0" t="0" r="r" b="b"/>
            <a:pathLst>
              <a:path w="4393" h="980">
                <a:moveTo>
                  <a:pt x="0" y="0"/>
                </a:moveTo>
                <a:lnTo>
                  <a:pt x="4393" y="0"/>
                </a:lnTo>
                <a:lnTo>
                  <a:pt x="439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3657240" y="221904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3657240" y="221904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6933960" y="221904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6943680" y="2219040"/>
            <a:ext cx="1590840" cy="10080"/>
          </a:xfrm>
          <a:custGeom>
            <a:avLst/>
            <a:gdLst/>
            <a:ah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8524800" y="221904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3657240" y="257148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6943680" y="2571480"/>
            <a:ext cx="1590840" cy="10080"/>
          </a:xfrm>
          <a:custGeom>
            <a:avLst/>
            <a:gdLst/>
            <a:ah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3657240" y="25812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933960" y="25812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8524800" y="2581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3657240" y="29336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3657240" y="292392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6933960" y="29336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6943680" y="2923920"/>
            <a:ext cx="1590840" cy="10080"/>
          </a:xfrm>
          <a:custGeom>
            <a:avLst/>
            <a:gdLst/>
            <a:ah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8524800" y="2933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3657240" y="3286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3657240" y="327636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6933960" y="3286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6943680" y="3276360"/>
            <a:ext cx="1590840" cy="10080"/>
          </a:xfrm>
          <a:custGeom>
            <a:avLst/>
            <a:gdLst/>
            <a:ah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8524800" y="3286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3657240" y="362880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943680" y="3628800"/>
            <a:ext cx="1590840" cy="10080"/>
          </a:xfrm>
          <a:custGeom>
            <a:avLst/>
            <a:gdLst/>
            <a:ah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5122440" y="2310120"/>
            <a:ext cx="361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Area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7077600" y="2310120"/>
            <a:ext cx="1310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Black population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3803760" y="2662560"/>
            <a:ext cx="1176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London average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7077600" y="2662560"/>
            <a:ext cx="439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13.5%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3803760" y="3015000"/>
            <a:ext cx="2998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Fairﬁeld ward (Croydon camera location)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077600" y="3015000"/>
            <a:ext cx="439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22.9%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3803760" y="3367440"/>
            <a:ext cx="2801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Thornton Heath (LFR van deployment)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7077600" y="3367440"/>
            <a:ext cx="439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40.1%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766440" y="3757320"/>
            <a:ext cx="10658880" cy="1819800"/>
          </a:xfrm>
          <a:custGeom>
            <a:avLst/>
            <a:gdLst/>
            <a:ahLst/>
            <a:rect l="0" t="0" r="r" b="b"/>
            <a:pathLst>
              <a:path w="29608" h="5055">
                <a:moveTo>
                  <a:pt x="0" y="490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909"/>
                </a:lnTo>
                <a:cubicBezTo>
                  <a:pt x="29608" y="4919"/>
                  <a:pt x="29607" y="4928"/>
                  <a:pt x="29605" y="4938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4"/>
                  <a:pt x="29589" y="4982"/>
                  <a:pt x="29584" y="4990"/>
                </a:cubicBezTo>
                <a:cubicBezTo>
                  <a:pt x="29578" y="4998"/>
                  <a:pt x="29572" y="5005"/>
                  <a:pt x="29566" y="5012"/>
                </a:cubicBezTo>
                <a:cubicBezTo>
                  <a:pt x="29559" y="5019"/>
                  <a:pt x="29552" y="5025"/>
                  <a:pt x="29544" y="5030"/>
                </a:cubicBezTo>
                <a:cubicBezTo>
                  <a:pt x="29536" y="5036"/>
                  <a:pt x="29527" y="5040"/>
                  <a:pt x="29518" y="5044"/>
                </a:cubicBezTo>
                <a:cubicBezTo>
                  <a:pt x="29510" y="5047"/>
                  <a:pt x="29501" y="5050"/>
                  <a:pt x="29491" y="5052"/>
                </a:cubicBezTo>
                <a:cubicBezTo>
                  <a:pt x="29482" y="5054"/>
                  <a:pt x="29472" y="5055"/>
                  <a:pt x="29463" y="5055"/>
                </a:cubicBezTo>
                <a:lnTo>
                  <a:pt x="146" y="5055"/>
                </a:lnTo>
                <a:cubicBezTo>
                  <a:pt x="136" y="5055"/>
                  <a:pt x="127" y="5054"/>
                  <a:pt x="118" y="5052"/>
                </a:cubicBezTo>
                <a:cubicBezTo>
                  <a:pt x="108" y="5050"/>
                  <a:pt x="99" y="5047"/>
                  <a:pt x="90" y="5044"/>
                </a:cubicBezTo>
                <a:cubicBezTo>
                  <a:pt x="81" y="5040"/>
                  <a:pt x="73" y="5036"/>
                  <a:pt x="65" y="5030"/>
                </a:cubicBezTo>
                <a:cubicBezTo>
                  <a:pt x="57" y="5025"/>
                  <a:pt x="50" y="5019"/>
                  <a:pt x="43" y="5012"/>
                </a:cubicBezTo>
                <a:cubicBezTo>
                  <a:pt x="36" y="5005"/>
                  <a:pt x="30" y="4998"/>
                  <a:pt x="25" y="4990"/>
                </a:cubicBezTo>
                <a:cubicBezTo>
                  <a:pt x="20" y="4982"/>
                  <a:pt x="15" y="4974"/>
                  <a:pt x="11" y="4965"/>
                </a:cubicBezTo>
                <a:cubicBezTo>
                  <a:pt x="8" y="4956"/>
                  <a:pt x="5" y="4947"/>
                  <a:pt x="3" y="4938"/>
                </a:cubicBezTo>
                <a:cubicBezTo>
                  <a:pt x="1" y="4928"/>
                  <a:pt x="0" y="4919"/>
                  <a:pt x="0" y="4909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766440" y="3757320"/>
            <a:ext cx="10658880" cy="1819800"/>
          </a:xfrm>
          <a:custGeom>
            <a:avLst/>
            <a:gdLst/>
            <a:ahLst/>
            <a:rect l="0" t="0" r="r" b="b"/>
            <a:pathLst>
              <a:path fill="none" w="29608" h="5055">
                <a:moveTo>
                  <a:pt x="0" y="490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909"/>
                </a:lnTo>
                <a:cubicBezTo>
                  <a:pt x="29608" y="4919"/>
                  <a:pt x="29607" y="4928"/>
                  <a:pt x="29605" y="4938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4"/>
                  <a:pt x="29589" y="4982"/>
                  <a:pt x="29584" y="4990"/>
                </a:cubicBezTo>
                <a:cubicBezTo>
                  <a:pt x="29578" y="4998"/>
                  <a:pt x="29572" y="5005"/>
                  <a:pt x="29566" y="5012"/>
                </a:cubicBezTo>
                <a:cubicBezTo>
                  <a:pt x="29559" y="5019"/>
                  <a:pt x="29552" y="5025"/>
                  <a:pt x="29544" y="5030"/>
                </a:cubicBezTo>
                <a:cubicBezTo>
                  <a:pt x="29536" y="5036"/>
                  <a:pt x="29527" y="5040"/>
                  <a:pt x="29518" y="5044"/>
                </a:cubicBezTo>
                <a:cubicBezTo>
                  <a:pt x="29510" y="5047"/>
                  <a:pt x="29501" y="5050"/>
                  <a:pt x="29491" y="5052"/>
                </a:cubicBezTo>
                <a:cubicBezTo>
                  <a:pt x="29482" y="5054"/>
                  <a:pt x="29472" y="5055"/>
                  <a:pt x="29463" y="5055"/>
                </a:cubicBezTo>
                <a:lnTo>
                  <a:pt x="146" y="5055"/>
                </a:lnTo>
                <a:cubicBezTo>
                  <a:pt x="136" y="5055"/>
                  <a:pt x="127" y="5054"/>
                  <a:pt x="118" y="5052"/>
                </a:cubicBezTo>
                <a:cubicBezTo>
                  <a:pt x="108" y="5050"/>
                  <a:pt x="99" y="5047"/>
                  <a:pt x="90" y="5044"/>
                </a:cubicBezTo>
                <a:cubicBezTo>
                  <a:pt x="81" y="5040"/>
                  <a:pt x="73" y="5036"/>
                  <a:pt x="65" y="5030"/>
                </a:cubicBezTo>
                <a:cubicBezTo>
                  <a:pt x="57" y="5025"/>
                  <a:pt x="50" y="5019"/>
                  <a:pt x="43" y="5012"/>
                </a:cubicBezTo>
                <a:cubicBezTo>
                  <a:pt x="36" y="5005"/>
                  <a:pt x="30" y="4998"/>
                  <a:pt x="25" y="4990"/>
                </a:cubicBezTo>
                <a:cubicBezTo>
                  <a:pt x="20" y="4982"/>
                  <a:pt x="15" y="4974"/>
                  <a:pt x="11" y="4965"/>
                </a:cubicBezTo>
                <a:cubicBezTo>
                  <a:pt x="8" y="4956"/>
                  <a:pt x="5" y="4947"/>
                  <a:pt x="3" y="4938"/>
                </a:cubicBezTo>
                <a:cubicBezTo>
                  <a:pt x="1" y="4928"/>
                  <a:pt x="0" y="4919"/>
                  <a:pt x="0" y="4909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762120" y="372600"/>
            <a:ext cx="5739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Who Gets Scanned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923760" y="4357080"/>
            <a:ext cx="9786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 half of the Met's 180 facial recognition deployments in 2024 were in boroughs with above-average Black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923760" y="4633200"/>
            <a:ext cx="9308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populations. The decision was taken without meaningful community consultation — and it's cross-party: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923760" y="4909680"/>
            <a:ext cx="9978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Conservative Croydon mayor Jason Perry backed it; Shadow Home Secretary Chris Philp called it "the logical next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952200" y="397188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7"/>
                </a:lnTo>
                <a:lnTo>
                  <a:pt x="238" y="317"/>
                </a:lnTo>
                <a:lnTo>
                  <a:pt x="212" y="530"/>
                </a:lnTo>
                <a:lnTo>
                  <a:pt x="478" y="211"/>
                </a:lnTo>
                <a:lnTo>
                  <a:pt x="238" y="211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923760" y="5185800"/>
            <a:ext cx="505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step."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1203120" y="3960360"/>
            <a:ext cx="2079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Not a coincidence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1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762120" y="-8280"/>
            <a:ext cx="10283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When It Goes Wrong: The Human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766440" y="2109600"/>
            <a:ext cx="10658880" cy="1819800"/>
          </a:xfrm>
          <a:custGeom>
            <a:avLst/>
            <a:gdLst/>
            <a:ahLst/>
            <a:rect l="0" t="0" r="r" b="b"/>
            <a:pathLst>
              <a:path w="29608" h="5055">
                <a:moveTo>
                  <a:pt x="0" y="490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909"/>
                </a:lnTo>
                <a:cubicBezTo>
                  <a:pt x="29608" y="4919"/>
                  <a:pt x="29607" y="4928"/>
                  <a:pt x="29605" y="4937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4"/>
                  <a:pt x="29589" y="4982"/>
                  <a:pt x="29584" y="4990"/>
                </a:cubicBezTo>
                <a:cubicBezTo>
                  <a:pt x="29578" y="4998"/>
                  <a:pt x="29572" y="5005"/>
                  <a:pt x="29566" y="5012"/>
                </a:cubicBezTo>
                <a:cubicBezTo>
                  <a:pt x="29559" y="5019"/>
                  <a:pt x="29552" y="5025"/>
                  <a:pt x="29544" y="5030"/>
                </a:cubicBezTo>
                <a:cubicBezTo>
                  <a:pt x="29536" y="5035"/>
                  <a:pt x="29527" y="5040"/>
                  <a:pt x="29518" y="5043"/>
                </a:cubicBezTo>
                <a:cubicBezTo>
                  <a:pt x="29510" y="5047"/>
                  <a:pt x="29501" y="5050"/>
                  <a:pt x="29491" y="5052"/>
                </a:cubicBezTo>
                <a:cubicBezTo>
                  <a:pt x="29482" y="5054"/>
                  <a:pt x="29472" y="5055"/>
                  <a:pt x="29463" y="5055"/>
                </a:cubicBezTo>
                <a:lnTo>
                  <a:pt x="146" y="5055"/>
                </a:lnTo>
                <a:cubicBezTo>
                  <a:pt x="136" y="5055"/>
                  <a:pt x="127" y="5054"/>
                  <a:pt x="118" y="5052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40"/>
                  <a:pt x="73" y="5035"/>
                  <a:pt x="65" y="5030"/>
                </a:cubicBezTo>
                <a:cubicBezTo>
                  <a:pt x="57" y="5025"/>
                  <a:pt x="50" y="5019"/>
                  <a:pt x="43" y="5012"/>
                </a:cubicBezTo>
                <a:cubicBezTo>
                  <a:pt x="36" y="5005"/>
                  <a:pt x="30" y="4998"/>
                  <a:pt x="25" y="4990"/>
                </a:cubicBezTo>
                <a:cubicBezTo>
                  <a:pt x="20" y="4982"/>
                  <a:pt x="15" y="4974"/>
                  <a:pt x="11" y="4965"/>
                </a:cubicBezTo>
                <a:cubicBezTo>
                  <a:pt x="8" y="4956"/>
                  <a:pt x="5" y="4947"/>
                  <a:pt x="3" y="4937"/>
                </a:cubicBezTo>
                <a:cubicBezTo>
                  <a:pt x="1" y="4928"/>
                  <a:pt x="0" y="4919"/>
                  <a:pt x="0" y="4909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766440" y="2109600"/>
            <a:ext cx="10658880" cy="1819800"/>
          </a:xfrm>
          <a:custGeom>
            <a:avLst/>
            <a:gdLst/>
            <a:ahLst/>
            <a:rect l="0" t="0" r="r" b="b"/>
            <a:pathLst>
              <a:path fill="none" w="29608" h="5055">
                <a:moveTo>
                  <a:pt x="0" y="490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909"/>
                </a:lnTo>
                <a:cubicBezTo>
                  <a:pt x="29608" y="4919"/>
                  <a:pt x="29607" y="4928"/>
                  <a:pt x="29605" y="4937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4"/>
                  <a:pt x="29589" y="4982"/>
                  <a:pt x="29584" y="4990"/>
                </a:cubicBezTo>
                <a:cubicBezTo>
                  <a:pt x="29578" y="4998"/>
                  <a:pt x="29572" y="5005"/>
                  <a:pt x="29566" y="5012"/>
                </a:cubicBezTo>
                <a:cubicBezTo>
                  <a:pt x="29559" y="5019"/>
                  <a:pt x="29552" y="5025"/>
                  <a:pt x="29544" y="5030"/>
                </a:cubicBezTo>
                <a:cubicBezTo>
                  <a:pt x="29536" y="5035"/>
                  <a:pt x="29527" y="5040"/>
                  <a:pt x="29518" y="5043"/>
                </a:cubicBezTo>
                <a:cubicBezTo>
                  <a:pt x="29510" y="5047"/>
                  <a:pt x="29501" y="5050"/>
                  <a:pt x="29491" y="5052"/>
                </a:cubicBezTo>
                <a:cubicBezTo>
                  <a:pt x="29482" y="5054"/>
                  <a:pt x="29472" y="5055"/>
                  <a:pt x="29463" y="5055"/>
                </a:cubicBezTo>
                <a:lnTo>
                  <a:pt x="146" y="5055"/>
                </a:lnTo>
                <a:cubicBezTo>
                  <a:pt x="136" y="5055"/>
                  <a:pt x="127" y="5054"/>
                  <a:pt x="118" y="5052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40"/>
                  <a:pt x="73" y="5035"/>
                  <a:pt x="65" y="5030"/>
                </a:cubicBezTo>
                <a:cubicBezTo>
                  <a:pt x="57" y="5025"/>
                  <a:pt x="50" y="5019"/>
                  <a:pt x="43" y="5012"/>
                </a:cubicBezTo>
                <a:cubicBezTo>
                  <a:pt x="36" y="5005"/>
                  <a:pt x="30" y="4998"/>
                  <a:pt x="25" y="4990"/>
                </a:cubicBezTo>
                <a:cubicBezTo>
                  <a:pt x="20" y="4982"/>
                  <a:pt x="15" y="4974"/>
                  <a:pt x="11" y="4965"/>
                </a:cubicBezTo>
                <a:cubicBezTo>
                  <a:pt x="8" y="4956"/>
                  <a:pt x="5" y="4947"/>
                  <a:pt x="3" y="4937"/>
                </a:cubicBezTo>
                <a:cubicBezTo>
                  <a:pt x="1" y="4928"/>
                  <a:pt x="0" y="4919"/>
                  <a:pt x="0" y="4909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62120" y="753480"/>
            <a:ext cx="1416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Cost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923760" y="2718720"/>
            <a:ext cx="10289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Black anti-knife-crime volunteer, just back from a community patrol in Croydon, was ﬂagged by the Met's system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923760" y="2994840"/>
            <a:ext cx="9499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near London Bridge. Detained nearly 30 minutes, pressured for ﬁngerprints, threatened with arrest despite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923760" y="3261600"/>
            <a:ext cx="9727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producing ID. An oﬃcer noted he lacked the suspect's facial scars; another said, "This thing is normally really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981000" y="2361960"/>
            <a:ext cx="114480" cy="114840"/>
          </a:xfrm>
          <a:custGeom>
            <a:avLst/>
            <a:gdLst/>
            <a:ahLst/>
            <a:rect l="0" t="0" r="r" b="b"/>
            <a:pathLst>
              <a:path fill="none" w="318" h="319">
                <a:moveTo>
                  <a:pt x="318" y="0"/>
                </a:moveTo>
                <a:lnTo>
                  <a:pt x="0" y="319"/>
                </a:lnTo>
                <a:moveTo>
                  <a:pt x="0" y="0"/>
                </a:moveTo>
                <a:lnTo>
                  <a:pt x="318" y="319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923760" y="3538080"/>
            <a:ext cx="7432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accurate." Thompson: "stop and search on steroids." The Met later settled with him.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766440" y="4052880"/>
            <a:ext cx="10658880" cy="1543320"/>
          </a:xfrm>
          <a:custGeom>
            <a:avLst/>
            <a:gdLst/>
            <a:ahLst/>
            <a:rect l="0" t="0" r="r" b="b"/>
            <a:pathLst>
              <a:path w="29608" h="4287">
                <a:moveTo>
                  <a:pt x="0" y="4141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5"/>
                  <a:pt x="29608" y="145"/>
                </a:cubicBezTo>
                <a:lnTo>
                  <a:pt x="29608" y="4141"/>
                </a:lnTo>
                <a:cubicBezTo>
                  <a:pt x="29608" y="4151"/>
                  <a:pt x="29607" y="4160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7"/>
                  <a:pt x="29566" y="4244"/>
                </a:cubicBezTo>
                <a:cubicBezTo>
                  <a:pt x="29559" y="4251"/>
                  <a:pt x="29552" y="4257"/>
                  <a:pt x="29544" y="4262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79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766440" y="4052880"/>
            <a:ext cx="10658880" cy="1543320"/>
          </a:xfrm>
          <a:custGeom>
            <a:avLst/>
            <a:gdLst/>
            <a:ahLst/>
            <a:rect l="0" t="0" r="r" b="b"/>
            <a:pathLst>
              <a:path fill="none" w="29608" h="4287">
                <a:moveTo>
                  <a:pt x="0" y="4141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5"/>
                  <a:pt x="29608" y="145"/>
                </a:cubicBezTo>
                <a:lnTo>
                  <a:pt x="29608" y="4141"/>
                </a:lnTo>
                <a:cubicBezTo>
                  <a:pt x="29608" y="4151"/>
                  <a:pt x="29607" y="4160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7"/>
                  <a:pt x="29566" y="4244"/>
                </a:cubicBezTo>
                <a:cubicBezTo>
                  <a:pt x="29559" y="4251"/>
                  <a:pt x="29552" y="4257"/>
                  <a:pt x="29544" y="4262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79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1203120" y="2312640"/>
            <a:ext cx="3896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Shaun Thompson, February 2024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923760" y="4662000"/>
            <a:ext cx="10049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Big Brother Watch observers have documented the Met misidentifying Black schoolchildren in uniform — lengthy,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923760" y="4928400"/>
            <a:ext cx="10096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humiliating, aggressive stops, including ﬁngerprint demands from children. The Met's own independent reviewer,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942480" y="427644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8"/>
                </a:moveTo>
                <a:lnTo>
                  <a:pt x="312" y="27"/>
                </a:lnTo>
                <a:cubicBezTo>
                  <a:pt x="308" y="18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8"/>
                  <a:pt x="219" y="27"/>
                </a:cubicBezTo>
                <a:lnTo>
                  <a:pt x="7" y="398"/>
                </a:lnTo>
                <a:cubicBezTo>
                  <a:pt x="3" y="406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59"/>
                  <a:pt x="19" y="466"/>
                  <a:pt x="27" y="471"/>
                </a:cubicBezTo>
                <a:cubicBezTo>
                  <a:pt x="35" y="475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5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59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923760" y="5204880"/>
            <a:ext cx="6790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Professor Peter Fussey, noted how distressed and intimidated one child was.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1203120" y="4255560"/>
            <a:ext cx="2381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Not an isolated case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6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6" name=""/>
          <p:cNvSpPr/>
          <p:nvPr/>
        </p:nvSpPr>
        <p:spPr>
          <a:xfrm>
            <a:off x="4895640" y="2800080"/>
            <a:ext cx="686160" cy="352800"/>
          </a:xfrm>
          <a:custGeom>
            <a:avLst/>
            <a:gdLst/>
            <a:ahLst/>
            <a:rect l="0" t="0" r="r" b="b"/>
            <a:pathLst>
              <a:path w="1906" h="980">
                <a:moveTo>
                  <a:pt x="0" y="0"/>
                </a:moveTo>
                <a:lnTo>
                  <a:pt x="1906" y="0"/>
                </a:lnTo>
                <a:lnTo>
                  <a:pt x="190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5581440" y="2800080"/>
            <a:ext cx="1715040" cy="352800"/>
          </a:xfrm>
          <a:custGeom>
            <a:avLst/>
            <a:gdLst/>
            <a:ahLst/>
            <a:rect l="0" t="0" r="r" b="b"/>
            <a:pathLst>
              <a:path w="4764" h="980">
                <a:moveTo>
                  <a:pt x="0" y="0"/>
                </a:moveTo>
                <a:lnTo>
                  <a:pt x="4764" y="0"/>
                </a:lnTo>
                <a:lnTo>
                  <a:pt x="476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4895640" y="3152520"/>
            <a:ext cx="686160" cy="352800"/>
          </a:xfrm>
          <a:custGeom>
            <a:avLst/>
            <a:gdLst/>
            <a:ahLst/>
            <a:rect l="0" t="0" r="r" b="b"/>
            <a:pathLst>
              <a:path w="1906" h="980">
                <a:moveTo>
                  <a:pt x="0" y="0"/>
                </a:moveTo>
                <a:lnTo>
                  <a:pt x="1906" y="0"/>
                </a:lnTo>
                <a:lnTo>
                  <a:pt x="190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5581440" y="3152520"/>
            <a:ext cx="1715040" cy="352800"/>
          </a:xfrm>
          <a:custGeom>
            <a:avLst/>
            <a:gdLst/>
            <a:ahLst/>
            <a:rect l="0" t="0" r="r" b="b"/>
            <a:pathLst>
              <a:path w="4764" h="980">
                <a:moveTo>
                  <a:pt x="0" y="0"/>
                </a:moveTo>
                <a:lnTo>
                  <a:pt x="4764" y="0"/>
                </a:lnTo>
                <a:lnTo>
                  <a:pt x="476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4895640" y="3504960"/>
            <a:ext cx="686160" cy="352800"/>
          </a:xfrm>
          <a:custGeom>
            <a:avLst/>
            <a:gdLst/>
            <a:ahLst/>
            <a:rect l="0" t="0" r="r" b="b"/>
            <a:pathLst>
              <a:path w="1906" h="980">
                <a:moveTo>
                  <a:pt x="0" y="0"/>
                </a:moveTo>
                <a:lnTo>
                  <a:pt x="1906" y="0"/>
                </a:lnTo>
                <a:lnTo>
                  <a:pt x="190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5581440" y="3504960"/>
            <a:ext cx="1715040" cy="352800"/>
          </a:xfrm>
          <a:custGeom>
            <a:avLst/>
            <a:gdLst/>
            <a:ahLst/>
            <a:rect l="0" t="0" r="r" b="b"/>
            <a:pathLst>
              <a:path w="4764" h="980">
                <a:moveTo>
                  <a:pt x="0" y="0"/>
                </a:moveTo>
                <a:lnTo>
                  <a:pt x="4764" y="0"/>
                </a:lnTo>
                <a:lnTo>
                  <a:pt x="476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4895640" y="3857400"/>
            <a:ext cx="686160" cy="352800"/>
          </a:xfrm>
          <a:custGeom>
            <a:avLst/>
            <a:gdLst/>
            <a:ahLst/>
            <a:rect l="0" t="0" r="r" b="b"/>
            <a:pathLst>
              <a:path w="1906" h="980">
                <a:moveTo>
                  <a:pt x="0" y="0"/>
                </a:moveTo>
                <a:lnTo>
                  <a:pt x="1906" y="0"/>
                </a:lnTo>
                <a:lnTo>
                  <a:pt x="190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5581440" y="3857400"/>
            <a:ext cx="1715040" cy="352800"/>
          </a:xfrm>
          <a:custGeom>
            <a:avLst/>
            <a:gdLst/>
            <a:ahLst/>
            <a:rect l="0" t="0" r="r" b="b"/>
            <a:pathLst>
              <a:path w="4764" h="980">
                <a:moveTo>
                  <a:pt x="0" y="0"/>
                </a:moveTo>
                <a:lnTo>
                  <a:pt x="4764" y="0"/>
                </a:lnTo>
                <a:lnTo>
                  <a:pt x="476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4886280" y="280008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4886280" y="2800080"/>
            <a:ext cx="705240" cy="10080"/>
          </a:xfrm>
          <a:custGeom>
            <a:avLst/>
            <a:gdLst/>
            <a:ah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5581440" y="280008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5591160" y="280008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7296120" y="280008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4886280" y="3152520"/>
            <a:ext cx="705240" cy="10080"/>
          </a:xfrm>
          <a:custGeom>
            <a:avLst/>
            <a:gdLst/>
            <a:ah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5591160" y="315252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4886280" y="3162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5581440" y="31622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7296120" y="3162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4886280" y="3514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4886280" y="3504960"/>
            <a:ext cx="705240" cy="10440"/>
          </a:xfrm>
          <a:custGeom>
            <a:avLst/>
            <a:gdLst/>
            <a:ahLst/>
            <a:rect l="0" t="0" r="r" b="b"/>
            <a:pathLst>
              <a:path w="1959" h="29">
                <a:moveTo>
                  <a:pt x="0" y="0"/>
                </a:moveTo>
                <a:lnTo>
                  <a:pt x="1959" y="0"/>
                </a:lnTo>
                <a:lnTo>
                  <a:pt x="195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5581440" y="3514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5591160" y="3504960"/>
            <a:ext cx="1714680" cy="10440"/>
          </a:xfrm>
          <a:custGeom>
            <a:avLst/>
            <a:gdLst/>
            <a:ahLst/>
            <a:rect l="0" t="0" r="r" b="b"/>
            <a:pathLst>
              <a:path w="4763" h="29">
                <a:moveTo>
                  <a:pt x="0" y="0"/>
                </a:moveTo>
                <a:lnTo>
                  <a:pt x="4763" y="0"/>
                </a:lnTo>
                <a:lnTo>
                  <a:pt x="476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7296120" y="3514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4886280" y="3867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4886280" y="3857400"/>
            <a:ext cx="705240" cy="10080"/>
          </a:xfrm>
          <a:custGeom>
            <a:avLst/>
            <a:gdLst/>
            <a:ah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5581440" y="3867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5591160" y="385740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7296120" y="3867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4886280" y="4209840"/>
            <a:ext cx="705240" cy="10080"/>
          </a:xfrm>
          <a:custGeom>
            <a:avLst/>
            <a:gdLst/>
            <a:ah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5591160" y="420984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762120" y="2013480"/>
            <a:ext cx="104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National Physical Laboratory report (dated Oct 2025, published Dec 2025) — false positive rates, Cognitec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762120" y="2318040"/>
            <a:ext cx="356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algorithm, Police National Database: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5065200" y="2891160"/>
            <a:ext cx="348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5720760" y="2891160"/>
            <a:ext cx="1438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False positive rate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5033520" y="3243600"/>
            <a:ext cx="411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White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5720760" y="3243600"/>
            <a:ext cx="439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0.04%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5033520" y="3596040"/>
            <a:ext cx="406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Asian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5720760" y="3596040"/>
            <a:ext cx="199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4%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5033520" y="3948480"/>
            <a:ext cx="383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Black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5720760" y="3948480"/>
            <a:ext cx="343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5.5%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766440" y="433836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2"/>
                  <a:pt x="29601" y="3422"/>
                  <a:pt x="29597" y="3430"/>
                </a:cubicBezTo>
                <a:cubicBezTo>
                  <a:pt x="29594" y="3439"/>
                  <a:pt x="29589" y="3448"/>
                  <a:pt x="29584" y="3456"/>
                </a:cubicBezTo>
                <a:cubicBezTo>
                  <a:pt x="29578" y="3463"/>
                  <a:pt x="29572" y="3471"/>
                  <a:pt x="29566" y="3478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3"/>
                  <a:pt x="29501" y="3516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6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8"/>
                </a:cubicBezTo>
                <a:cubicBezTo>
                  <a:pt x="36" y="3471"/>
                  <a:pt x="30" y="3463"/>
                  <a:pt x="25" y="3456"/>
                </a:cubicBezTo>
                <a:cubicBezTo>
                  <a:pt x="20" y="3448"/>
                  <a:pt x="15" y="3439"/>
                  <a:pt x="11" y="3430"/>
                </a:cubicBezTo>
                <a:cubicBezTo>
                  <a:pt x="8" y="3422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766440" y="433836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2"/>
                  <a:pt x="29601" y="3422"/>
                  <a:pt x="29597" y="3430"/>
                </a:cubicBezTo>
                <a:cubicBezTo>
                  <a:pt x="29594" y="3439"/>
                  <a:pt x="29589" y="3448"/>
                  <a:pt x="29584" y="3456"/>
                </a:cubicBezTo>
                <a:cubicBezTo>
                  <a:pt x="29578" y="3463"/>
                  <a:pt x="29572" y="3471"/>
                  <a:pt x="29566" y="3478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3"/>
                  <a:pt x="29501" y="3516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6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8"/>
                </a:cubicBezTo>
                <a:cubicBezTo>
                  <a:pt x="36" y="3471"/>
                  <a:pt x="30" y="3463"/>
                  <a:pt x="25" y="3456"/>
                </a:cubicBezTo>
                <a:cubicBezTo>
                  <a:pt x="20" y="3448"/>
                  <a:pt x="15" y="3439"/>
                  <a:pt x="11" y="3430"/>
                </a:cubicBezTo>
                <a:cubicBezTo>
                  <a:pt x="8" y="3422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762120" y="372600"/>
            <a:ext cx="10164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Bias the Government Sat 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923760" y="4938120"/>
            <a:ext cx="10186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NPCC knew from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September 2024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 Rather than stop, they lobbied to keep using the platform. The ICO wasn't told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952200" y="455292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8"/>
                </a:lnTo>
                <a:lnTo>
                  <a:pt x="238" y="318"/>
                </a:lnTo>
                <a:lnTo>
                  <a:pt x="212" y="530"/>
                </a:lnTo>
                <a:lnTo>
                  <a:pt x="478" y="211"/>
                </a:lnTo>
                <a:lnTo>
                  <a:pt x="238" y="211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923760" y="5214240"/>
            <a:ext cx="8255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until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December 2025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by which point over 500,000 searches had already been conducted.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1203120" y="4541400"/>
            <a:ext cx="1021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Timeline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762120" y="2624040"/>
            <a:ext cx="817236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The Legal Loophole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762120" y="3788640"/>
            <a:ext cx="62395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That Isn't Actually a Loophole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2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7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766440" y="1385640"/>
            <a:ext cx="9515880" cy="4896360"/>
          </a:xfrm>
          <a:custGeom>
            <a:avLst/>
            <a:gdLst/>
            <a:ahLst/>
            <a:rect l="0" t="0" r="r" b="b"/>
            <a:pathLst>
              <a:path fill="none" w="26433" h="13601">
                <a:moveTo>
                  <a:pt x="0" y="0"/>
                </a:moveTo>
                <a:lnTo>
                  <a:pt x="26433" y="0"/>
                </a:lnTo>
                <a:lnTo>
                  <a:pt x="26433" y="13601"/>
                </a:lnTo>
                <a:lnTo>
                  <a:pt x="0" y="13601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26459" y="0"/>
                </a:move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601"/>
                </a:lnTo>
                <a:lnTo>
                  <a:pt x="26433" y="13601"/>
                </a:lnTo>
                <a:lnTo>
                  <a:pt x="26433" y="26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1905120" y="323928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905120" y="36010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1904760" y="44956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4"/>
                </a:cubicBezTo>
                <a:cubicBezTo>
                  <a:pt x="4919" y="415"/>
                  <a:pt x="4922" y="446"/>
                  <a:pt x="4922" y="477"/>
                </a:cubicBezTo>
                <a:cubicBezTo>
                  <a:pt x="4922" y="508"/>
                  <a:pt x="4919" y="539"/>
                  <a:pt x="4913" y="570"/>
                </a:cubicBezTo>
                <a:cubicBezTo>
                  <a:pt x="4907" y="601"/>
                  <a:pt x="4898" y="630"/>
                  <a:pt x="4886" y="659"/>
                </a:cubicBezTo>
                <a:cubicBezTo>
                  <a:pt x="4874" y="688"/>
                  <a:pt x="4860" y="716"/>
                  <a:pt x="4842" y="742"/>
                </a:cubicBezTo>
                <a:cubicBezTo>
                  <a:pt x="4825" y="768"/>
                  <a:pt x="4805" y="792"/>
                  <a:pt x="4783" y="814"/>
                </a:cubicBezTo>
                <a:cubicBezTo>
                  <a:pt x="4761" y="836"/>
                  <a:pt x="4737" y="856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8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1905120" y="412344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3752640" y="44956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4"/>
                </a:cubicBezTo>
                <a:cubicBezTo>
                  <a:pt x="2750" y="415"/>
                  <a:pt x="2753" y="446"/>
                  <a:pt x="2753" y="477"/>
                </a:cubicBezTo>
                <a:cubicBezTo>
                  <a:pt x="2753" y="508"/>
                  <a:pt x="2750" y="539"/>
                  <a:pt x="2744" y="570"/>
                </a:cubicBezTo>
                <a:cubicBezTo>
                  <a:pt x="2737" y="601"/>
                  <a:pt x="2728" y="630"/>
                  <a:pt x="2716" y="659"/>
                </a:cubicBezTo>
                <a:cubicBezTo>
                  <a:pt x="2705" y="688"/>
                  <a:pt x="2690" y="716"/>
                  <a:pt x="2672" y="742"/>
                </a:cubicBezTo>
                <a:cubicBezTo>
                  <a:pt x="2655" y="768"/>
                  <a:pt x="2635" y="792"/>
                  <a:pt x="2613" y="814"/>
                </a:cubicBezTo>
                <a:cubicBezTo>
                  <a:pt x="2591" y="836"/>
                  <a:pt x="2567" y="856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7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2057400" y="45723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9439200" y="5943240"/>
            <a:ext cx="771840" cy="267120"/>
          </a:xfrm>
          <a:custGeom>
            <a:avLst/>
            <a:gdLst/>
            <a:ahLst/>
            <a:rect l="0" t="0" r="r" b="b"/>
            <a:pathLst>
              <a:path w="2144" h="742">
                <a:moveTo>
                  <a:pt x="0" y="425"/>
                </a:moveTo>
                <a:lnTo>
                  <a:pt x="0" y="319"/>
                </a:lnTo>
                <a:cubicBezTo>
                  <a:pt x="0" y="298"/>
                  <a:pt x="2" y="278"/>
                  <a:pt x="6" y="257"/>
                </a:cubicBezTo>
                <a:cubicBezTo>
                  <a:pt x="10" y="237"/>
                  <a:pt x="16" y="217"/>
                  <a:pt x="24" y="197"/>
                </a:cubicBezTo>
                <a:cubicBezTo>
                  <a:pt x="32" y="178"/>
                  <a:pt x="42" y="160"/>
                  <a:pt x="53" y="143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3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3"/>
                  <a:pt x="1888" y="7"/>
                </a:cubicBezTo>
                <a:cubicBezTo>
                  <a:pt x="1909" y="11"/>
                  <a:pt x="1929" y="17"/>
                  <a:pt x="1948" y="25"/>
                </a:cubicBezTo>
                <a:cubicBezTo>
                  <a:pt x="1967" y="33"/>
                  <a:pt x="1985" y="42"/>
                  <a:pt x="2003" y="54"/>
                </a:cubicBezTo>
                <a:cubicBezTo>
                  <a:pt x="2020" y="66"/>
                  <a:pt x="2036" y="79"/>
                  <a:pt x="2051" y="93"/>
                </a:cubicBezTo>
                <a:cubicBezTo>
                  <a:pt x="2066" y="108"/>
                  <a:pt x="2079" y="124"/>
                  <a:pt x="2090" y="143"/>
                </a:cubicBezTo>
                <a:cubicBezTo>
                  <a:pt x="2102" y="160"/>
                  <a:pt x="2112" y="178"/>
                  <a:pt x="2120" y="197"/>
                </a:cubicBezTo>
                <a:cubicBezTo>
                  <a:pt x="2128" y="217"/>
                  <a:pt x="2134" y="237"/>
                  <a:pt x="2138" y="257"/>
                </a:cubicBezTo>
                <a:cubicBezTo>
                  <a:pt x="2142" y="278"/>
                  <a:pt x="2144" y="298"/>
                  <a:pt x="2144" y="319"/>
                </a:cubicBezTo>
                <a:lnTo>
                  <a:pt x="2144" y="425"/>
                </a:lnTo>
                <a:cubicBezTo>
                  <a:pt x="2144" y="446"/>
                  <a:pt x="2142" y="466"/>
                  <a:pt x="2138" y="487"/>
                </a:cubicBezTo>
                <a:cubicBezTo>
                  <a:pt x="2134" y="507"/>
                  <a:pt x="2128" y="527"/>
                  <a:pt x="2120" y="546"/>
                </a:cubicBezTo>
                <a:cubicBezTo>
                  <a:pt x="2112" y="566"/>
                  <a:pt x="2102" y="584"/>
                  <a:pt x="2090" y="601"/>
                </a:cubicBezTo>
                <a:cubicBezTo>
                  <a:pt x="2079" y="619"/>
                  <a:pt x="2066" y="635"/>
                  <a:pt x="2051" y="649"/>
                </a:cubicBezTo>
                <a:cubicBezTo>
                  <a:pt x="2036" y="664"/>
                  <a:pt x="2020" y="677"/>
                  <a:pt x="2003" y="689"/>
                </a:cubicBezTo>
                <a:cubicBezTo>
                  <a:pt x="1985" y="700"/>
                  <a:pt x="1967" y="710"/>
                  <a:pt x="1948" y="718"/>
                </a:cubicBezTo>
                <a:cubicBezTo>
                  <a:pt x="1929" y="726"/>
                  <a:pt x="1909" y="732"/>
                  <a:pt x="1888" y="736"/>
                </a:cubicBezTo>
                <a:cubicBezTo>
                  <a:pt x="1868" y="740"/>
                  <a:pt x="1847" y="742"/>
                  <a:pt x="1826" y="742"/>
                </a:cubicBezTo>
                <a:lnTo>
                  <a:pt x="317" y="742"/>
                </a:lnTo>
                <a:cubicBezTo>
                  <a:pt x="296" y="742"/>
                  <a:pt x="276" y="740"/>
                  <a:pt x="255" y="736"/>
                </a:cubicBezTo>
                <a:cubicBezTo>
                  <a:pt x="235" y="732"/>
                  <a:pt x="215" y="726"/>
                  <a:pt x="196" y="718"/>
                </a:cubicBezTo>
                <a:cubicBezTo>
                  <a:pt x="176" y="710"/>
                  <a:pt x="158" y="700"/>
                  <a:pt x="141" y="689"/>
                </a:cubicBezTo>
                <a:cubicBezTo>
                  <a:pt x="123" y="677"/>
                  <a:pt x="107" y="664"/>
                  <a:pt x="93" y="649"/>
                </a:cubicBezTo>
                <a:cubicBezTo>
                  <a:pt x="78" y="635"/>
                  <a:pt x="65" y="619"/>
                  <a:pt x="53" y="601"/>
                </a:cubicBezTo>
                <a:cubicBezTo>
                  <a:pt x="42" y="584"/>
                  <a:pt x="32" y="566"/>
                  <a:pt x="24" y="546"/>
                </a:cubicBezTo>
                <a:cubicBezTo>
                  <a:pt x="16" y="527"/>
                  <a:pt x="10" y="507"/>
                  <a:pt x="6" y="487"/>
                </a:cubicBezTo>
                <a:cubicBezTo>
                  <a:pt x="2" y="466"/>
                  <a:pt x="0" y="446"/>
                  <a:pt x="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3908880" y="45723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9552240" y="598212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5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5" name=""/>
          <p:cNvSpPr txBox="1"/>
          <p:nvPr/>
        </p:nvSpPr>
        <p:spPr>
          <a:xfrm>
            <a:off x="762120" y="5099400"/>
            <a:ext cx="1042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Two systems that compound rather than substitute for one another: sweeping bulk powers already on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762120" y="5404320"/>
            <a:ext cx="136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statute book,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2183400" y="5404320"/>
            <a:ext cx="428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plus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2550600" y="5404320"/>
            <a:ext cx="686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a live commercial data-broker market agencies can buy from as well.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766440" y="2033280"/>
            <a:ext cx="5277240" cy="2915280"/>
          </a:xfrm>
          <a:custGeom>
            <a:avLst/>
            <a:gdLst/>
            <a:ahLst/>
            <a:rect l="0" t="0" r="r" b="b"/>
            <a:pathLst>
              <a:path w="14659" h="8098">
                <a:moveTo>
                  <a:pt x="0" y="795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7952"/>
                </a:lnTo>
                <a:cubicBezTo>
                  <a:pt x="14659" y="7962"/>
                  <a:pt x="14658" y="7971"/>
                  <a:pt x="14657" y="7980"/>
                </a:cubicBezTo>
                <a:cubicBezTo>
                  <a:pt x="14655" y="7990"/>
                  <a:pt x="14652" y="7999"/>
                  <a:pt x="14648" y="8008"/>
                </a:cubicBezTo>
                <a:cubicBezTo>
                  <a:pt x="14645" y="8017"/>
                  <a:pt x="14640" y="8025"/>
                  <a:pt x="14635" y="8033"/>
                </a:cubicBezTo>
                <a:cubicBezTo>
                  <a:pt x="14629" y="8041"/>
                  <a:pt x="14623" y="8048"/>
                  <a:pt x="14617" y="8055"/>
                </a:cubicBezTo>
                <a:cubicBezTo>
                  <a:pt x="14610" y="8062"/>
                  <a:pt x="14603" y="8068"/>
                  <a:pt x="14595" y="8073"/>
                </a:cubicBezTo>
                <a:cubicBezTo>
                  <a:pt x="14587" y="8078"/>
                  <a:pt x="14578" y="8083"/>
                  <a:pt x="14569" y="8087"/>
                </a:cubicBezTo>
                <a:cubicBezTo>
                  <a:pt x="14561" y="8090"/>
                  <a:pt x="14552" y="8093"/>
                  <a:pt x="14542" y="8095"/>
                </a:cubicBezTo>
                <a:cubicBezTo>
                  <a:pt x="14533" y="8097"/>
                  <a:pt x="14523" y="8098"/>
                  <a:pt x="14514" y="8098"/>
                </a:cubicBezTo>
                <a:lnTo>
                  <a:pt x="146" y="8098"/>
                </a:lnTo>
                <a:cubicBezTo>
                  <a:pt x="136" y="8098"/>
                  <a:pt x="127" y="8097"/>
                  <a:pt x="118" y="8095"/>
                </a:cubicBezTo>
                <a:cubicBezTo>
                  <a:pt x="108" y="8093"/>
                  <a:pt x="99" y="8090"/>
                  <a:pt x="90" y="8087"/>
                </a:cubicBezTo>
                <a:cubicBezTo>
                  <a:pt x="81" y="8083"/>
                  <a:pt x="73" y="8078"/>
                  <a:pt x="65" y="8073"/>
                </a:cubicBezTo>
                <a:cubicBezTo>
                  <a:pt x="57" y="8068"/>
                  <a:pt x="50" y="8062"/>
                  <a:pt x="43" y="8055"/>
                </a:cubicBezTo>
                <a:cubicBezTo>
                  <a:pt x="36" y="8048"/>
                  <a:pt x="30" y="8041"/>
                  <a:pt x="25" y="8033"/>
                </a:cubicBezTo>
                <a:cubicBezTo>
                  <a:pt x="20" y="8025"/>
                  <a:pt x="15" y="8017"/>
                  <a:pt x="11" y="8008"/>
                </a:cubicBezTo>
                <a:cubicBezTo>
                  <a:pt x="8" y="7999"/>
                  <a:pt x="5" y="7990"/>
                  <a:pt x="3" y="7980"/>
                </a:cubicBezTo>
                <a:cubicBezTo>
                  <a:pt x="1" y="7971"/>
                  <a:pt x="0" y="7962"/>
                  <a:pt x="0" y="7952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766440" y="2033280"/>
            <a:ext cx="5277240" cy="2915280"/>
          </a:xfrm>
          <a:custGeom>
            <a:avLst/>
            <a:gdLst/>
            <a:ahLst/>
            <a:rect l="0" t="0" r="r" b="b"/>
            <a:pathLst>
              <a:path fill="none" w="14659" h="8098">
                <a:moveTo>
                  <a:pt x="0" y="795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7952"/>
                </a:lnTo>
                <a:cubicBezTo>
                  <a:pt x="14659" y="7962"/>
                  <a:pt x="14658" y="7971"/>
                  <a:pt x="14657" y="7980"/>
                </a:cubicBezTo>
                <a:cubicBezTo>
                  <a:pt x="14655" y="7990"/>
                  <a:pt x="14652" y="7999"/>
                  <a:pt x="14648" y="8008"/>
                </a:cubicBezTo>
                <a:cubicBezTo>
                  <a:pt x="14645" y="8017"/>
                  <a:pt x="14640" y="8025"/>
                  <a:pt x="14635" y="8033"/>
                </a:cubicBezTo>
                <a:cubicBezTo>
                  <a:pt x="14629" y="8041"/>
                  <a:pt x="14623" y="8048"/>
                  <a:pt x="14617" y="8055"/>
                </a:cubicBezTo>
                <a:cubicBezTo>
                  <a:pt x="14610" y="8062"/>
                  <a:pt x="14603" y="8068"/>
                  <a:pt x="14595" y="8073"/>
                </a:cubicBezTo>
                <a:cubicBezTo>
                  <a:pt x="14587" y="8078"/>
                  <a:pt x="14578" y="8083"/>
                  <a:pt x="14569" y="8087"/>
                </a:cubicBezTo>
                <a:cubicBezTo>
                  <a:pt x="14561" y="8090"/>
                  <a:pt x="14552" y="8093"/>
                  <a:pt x="14542" y="8095"/>
                </a:cubicBezTo>
                <a:cubicBezTo>
                  <a:pt x="14533" y="8097"/>
                  <a:pt x="14523" y="8098"/>
                  <a:pt x="14514" y="8098"/>
                </a:cubicBezTo>
                <a:lnTo>
                  <a:pt x="146" y="8098"/>
                </a:lnTo>
                <a:cubicBezTo>
                  <a:pt x="136" y="8098"/>
                  <a:pt x="127" y="8097"/>
                  <a:pt x="118" y="8095"/>
                </a:cubicBezTo>
                <a:cubicBezTo>
                  <a:pt x="108" y="8093"/>
                  <a:pt x="99" y="8090"/>
                  <a:pt x="90" y="8087"/>
                </a:cubicBezTo>
                <a:cubicBezTo>
                  <a:pt x="81" y="8083"/>
                  <a:pt x="73" y="8078"/>
                  <a:pt x="65" y="8073"/>
                </a:cubicBezTo>
                <a:cubicBezTo>
                  <a:pt x="57" y="8068"/>
                  <a:pt x="50" y="8062"/>
                  <a:pt x="43" y="8055"/>
                </a:cubicBezTo>
                <a:cubicBezTo>
                  <a:pt x="36" y="8048"/>
                  <a:pt x="30" y="8041"/>
                  <a:pt x="25" y="8033"/>
                </a:cubicBezTo>
                <a:cubicBezTo>
                  <a:pt x="20" y="8025"/>
                  <a:pt x="15" y="8017"/>
                  <a:pt x="11" y="8008"/>
                </a:cubicBezTo>
                <a:cubicBezTo>
                  <a:pt x="8" y="7999"/>
                  <a:pt x="5" y="7990"/>
                  <a:pt x="3" y="7980"/>
                </a:cubicBezTo>
                <a:cubicBezTo>
                  <a:pt x="1" y="7971"/>
                  <a:pt x="0" y="7962"/>
                  <a:pt x="0" y="7952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762120" y="372600"/>
            <a:ext cx="6190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It's Already the Law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923760" y="2642400"/>
            <a:ext cx="3932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the US, agencies buy data to get around 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923760" y="2909160"/>
            <a:ext cx="4552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constitutional warrant requirement. The UK doesn't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923760" y="3185640"/>
            <a:ext cx="4574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need that: the Investigatory Powers Act 2016 —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923760" y="3461760"/>
            <a:ext cx="4453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"Snoopers' Charter" — already gives the state bulk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923760" y="3737880"/>
            <a:ext cx="5037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collection and retention powers directly, overseen by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923760" y="4014000"/>
            <a:ext cx="4478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Investigatory Powers Commissioner rather than an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923760" y="4280760"/>
            <a:ext cx="4756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ordinary court. Liberty and the UN Special Rapporteur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942480" y="2257200"/>
            <a:ext cx="191160" cy="171720"/>
          </a:xfrm>
          <a:custGeom>
            <a:avLst/>
            <a:gdLst/>
            <a:ahLst/>
            <a:rect l="0" t="0" r="r" b="b"/>
            <a:pathLst>
              <a:path fill="none" w="531" h="477">
                <a:moveTo>
                  <a:pt x="524" y="398"/>
                </a:moveTo>
                <a:lnTo>
                  <a:pt x="312" y="27"/>
                </a:lnTo>
                <a:cubicBezTo>
                  <a:pt x="308" y="18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8"/>
                  <a:pt x="219" y="27"/>
                </a:cubicBezTo>
                <a:lnTo>
                  <a:pt x="7" y="398"/>
                </a:lnTo>
                <a:cubicBezTo>
                  <a:pt x="3" y="406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59"/>
                  <a:pt x="19" y="466"/>
                  <a:pt x="27" y="470"/>
                </a:cubicBezTo>
                <a:cubicBezTo>
                  <a:pt x="35" y="475"/>
                  <a:pt x="44" y="477"/>
                  <a:pt x="54" y="477"/>
                </a:cubicBezTo>
                <a:lnTo>
                  <a:pt x="478" y="477"/>
                </a:lnTo>
                <a:cubicBezTo>
                  <a:pt x="483" y="477"/>
                  <a:pt x="487" y="477"/>
                  <a:pt x="492" y="476"/>
                </a:cubicBezTo>
                <a:cubicBezTo>
                  <a:pt x="496" y="474"/>
                  <a:pt x="501" y="473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4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60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923760" y="4557240"/>
            <a:ext cx="4516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 Privacy call it mass surveillance in its own right.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6148080" y="2033280"/>
            <a:ext cx="5277240" cy="2915280"/>
          </a:xfrm>
          <a:custGeom>
            <a:avLst/>
            <a:gdLst/>
            <a:ahLst/>
            <a:rect l="0" t="0" r="r" b="b"/>
            <a:pathLst>
              <a:path w="14659" h="8098">
                <a:moveTo>
                  <a:pt x="0" y="795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7952"/>
                </a:lnTo>
                <a:cubicBezTo>
                  <a:pt x="14659" y="7962"/>
                  <a:pt x="14658" y="7971"/>
                  <a:pt x="14656" y="7980"/>
                </a:cubicBezTo>
                <a:cubicBezTo>
                  <a:pt x="14655" y="7990"/>
                  <a:pt x="14652" y="7999"/>
                  <a:pt x="14648" y="8008"/>
                </a:cubicBezTo>
                <a:cubicBezTo>
                  <a:pt x="14645" y="8017"/>
                  <a:pt x="14640" y="8025"/>
                  <a:pt x="14635" y="8033"/>
                </a:cubicBezTo>
                <a:cubicBezTo>
                  <a:pt x="14629" y="8041"/>
                  <a:pt x="14623" y="8048"/>
                  <a:pt x="14617" y="8055"/>
                </a:cubicBezTo>
                <a:cubicBezTo>
                  <a:pt x="14610" y="8062"/>
                  <a:pt x="14603" y="8068"/>
                  <a:pt x="14595" y="8073"/>
                </a:cubicBezTo>
                <a:cubicBezTo>
                  <a:pt x="14587" y="8078"/>
                  <a:pt x="14578" y="8083"/>
                  <a:pt x="14569" y="8087"/>
                </a:cubicBezTo>
                <a:cubicBezTo>
                  <a:pt x="14561" y="8090"/>
                  <a:pt x="14552" y="8093"/>
                  <a:pt x="14542" y="8095"/>
                </a:cubicBezTo>
                <a:cubicBezTo>
                  <a:pt x="14533" y="8097"/>
                  <a:pt x="14523" y="8098"/>
                  <a:pt x="14514" y="8098"/>
                </a:cubicBezTo>
                <a:lnTo>
                  <a:pt x="146" y="8098"/>
                </a:lnTo>
                <a:cubicBezTo>
                  <a:pt x="136" y="8098"/>
                  <a:pt x="127" y="8097"/>
                  <a:pt x="117" y="8095"/>
                </a:cubicBezTo>
                <a:cubicBezTo>
                  <a:pt x="108" y="8093"/>
                  <a:pt x="99" y="8090"/>
                  <a:pt x="90" y="8087"/>
                </a:cubicBezTo>
                <a:cubicBezTo>
                  <a:pt x="81" y="8083"/>
                  <a:pt x="73" y="8078"/>
                  <a:pt x="65" y="8073"/>
                </a:cubicBezTo>
                <a:cubicBezTo>
                  <a:pt x="57" y="8068"/>
                  <a:pt x="50" y="8062"/>
                  <a:pt x="43" y="8055"/>
                </a:cubicBezTo>
                <a:cubicBezTo>
                  <a:pt x="36" y="8048"/>
                  <a:pt x="30" y="8041"/>
                  <a:pt x="25" y="8033"/>
                </a:cubicBezTo>
                <a:cubicBezTo>
                  <a:pt x="20" y="8025"/>
                  <a:pt x="15" y="8017"/>
                  <a:pt x="11" y="8008"/>
                </a:cubicBezTo>
                <a:cubicBezTo>
                  <a:pt x="8" y="7999"/>
                  <a:pt x="5" y="7990"/>
                  <a:pt x="3" y="7980"/>
                </a:cubicBezTo>
                <a:cubicBezTo>
                  <a:pt x="1" y="7971"/>
                  <a:pt x="0" y="7962"/>
                  <a:pt x="0" y="7952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6148080" y="2033280"/>
            <a:ext cx="5277240" cy="2915280"/>
          </a:xfrm>
          <a:custGeom>
            <a:avLst/>
            <a:gdLst/>
            <a:ahLst/>
            <a:rect l="0" t="0" r="r" b="b"/>
            <a:pathLst>
              <a:path fill="none" w="14659" h="8098">
                <a:moveTo>
                  <a:pt x="0" y="795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7952"/>
                </a:lnTo>
                <a:cubicBezTo>
                  <a:pt x="14659" y="7962"/>
                  <a:pt x="14658" y="7971"/>
                  <a:pt x="14656" y="7980"/>
                </a:cubicBezTo>
                <a:cubicBezTo>
                  <a:pt x="14655" y="7990"/>
                  <a:pt x="14652" y="7999"/>
                  <a:pt x="14648" y="8008"/>
                </a:cubicBezTo>
                <a:cubicBezTo>
                  <a:pt x="14645" y="8017"/>
                  <a:pt x="14640" y="8025"/>
                  <a:pt x="14635" y="8033"/>
                </a:cubicBezTo>
                <a:cubicBezTo>
                  <a:pt x="14629" y="8041"/>
                  <a:pt x="14623" y="8048"/>
                  <a:pt x="14617" y="8055"/>
                </a:cubicBezTo>
                <a:cubicBezTo>
                  <a:pt x="14610" y="8062"/>
                  <a:pt x="14603" y="8068"/>
                  <a:pt x="14595" y="8073"/>
                </a:cubicBezTo>
                <a:cubicBezTo>
                  <a:pt x="14587" y="8078"/>
                  <a:pt x="14578" y="8083"/>
                  <a:pt x="14569" y="8087"/>
                </a:cubicBezTo>
                <a:cubicBezTo>
                  <a:pt x="14561" y="8090"/>
                  <a:pt x="14552" y="8093"/>
                  <a:pt x="14542" y="8095"/>
                </a:cubicBezTo>
                <a:cubicBezTo>
                  <a:pt x="14533" y="8097"/>
                  <a:pt x="14523" y="8098"/>
                  <a:pt x="14514" y="8098"/>
                </a:cubicBezTo>
                <a:lnTo>
                  <a:pt x="146" y="8098"/>
                </a:lnTo>
                <a:cubicBezTo>
                  <a:pt x="136" y="8098"/>
                  <a:pt x="127" y="8097"/>
                  <a:pt x="117" y="8095"/>
                </a:cubicBezTo>
                <a:cubicBezTo>
                  <a:pt x="108" y="8093"/>
                  <a:pt x="99" y="8090"/>
                  <a:pt x="90" y="8087"/>
                </a:cubicBezTo>
                <a:cubicBezTo>
                  <a:pt x="81" y="8083"/>
                  <a:pt x="73" y="8078"/>
                  <a:pt x="65" y="8073"/>
                </a:cubicBezTo>
                <a:cubicBezTo>
                  <a:pt x="57" y="8068"/>
                  <a:pt x="50" y="8062"/>
                  <a:pt x="43" y="8055"/>
                </a:cubicBezTo>
                <a:cubicBezTo>
                  <a:pt x="36" y="8048"/>
                  <a:pt x="30" y="8041"/>
                  <a:pt x="25" y="8033"/>
                </a:cubicBezTo>
                <a:cubicBezTo>
                  <a:pt x="20" y="8025"/>
                  <a:pt x="15" y="8017"/>
                  <a:pt x="11" y="8008"/>
                </a:cubicBezTo>
                <a:cubicBezTo>
                  <a:pt x="8" y="7999"/>
                  <a:pt x="5" y="7990"/>
                  <a:pt x="3" y="7980"/>
                </a:cubicBezTo>
                <a:cubicBezTo>
                  <a:pt x="1" y="7971"/>
                  <a:pt x="0" y="7962"/>
                  <a:pt x="0" y="7952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1203120" y="2236320"/>
            <a:ext cx="2755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No workaround needed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6305400" y="2642400"/>
            <a:ext cx="4553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Metropolitan Police has conﬁrmed it purchases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6305400" y="2909160"/>
            <a:ext cx="4665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information from commercial data brokers including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6305400" y="3185640"/>
            <a:ext cx="4453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Experian, Equifax, and Acxiom. The Home Oﬃce's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6305400" y="3461760"/>
            <a:ext cx="4589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Immigration Enforcement has separately contracted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6305400" y="3737880"/>
            <a:ext cx="4770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private ﬁrms for tools like Wi-Fi traﬃc interception 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6333840" y="224784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6" y="0"/>
                </a:moveTo>
                <a:lnTo>
                  <a:pt x="0" y="317"/>
                </a:lnTo>
                <a:lnTo>
                  <a:pt x="238" y="317"/>
                </a:lnTo>
                <a:lnTo>
                  <a:pt x="212" y="530"/>
                </a:lnTo>
                <a:lnTo>
                  <a:pt x="478" y="211"/>
                </a:lnTo>
                <a:lnTo>
                  <a:pt x="238" y="211"/>
                </a:lnTo>
                <a:lnTo>
                  <a:pt x="266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6305400" y="4014000"/>
            <a:ext cx="2476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track migrants' movements.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6584760" y="2236320"/>
            <a:ext cx="3159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And the US-style thing too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762120" y="2624040"/>
            <a:ext cx="851796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Is This Even Lawful?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9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5" name=""/>
          <p:cNvSpPr txBox="1"/>
          <p:nvPr/>
        </p:nvSpPr>
        <p:spPr>
          <a:xfrm>
            <a:off x="762120" y="4289760"/>
            <a:ext cx="976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EHRC argued the Met's policy is incompatible with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Articles 8, 10, and 11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 the ECHR (privacy,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762120" y="4594680"/>
            <a:ext cx="975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expression, assembly) — and that facial recognition at protests creates a chilling eﬀect on people's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762120" y="4889880"/>
            <a:ext cx="353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willingness to exercise those rights.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766440" y="2547720"/>
            <a:ext cx="10658880" cy="1591200"/>
          </a:xfrm>
          <a:custGeom>
            <a:avLst/>
            <a:gdLst/>
            <a:ahLst/>
            <a:rect l="0" t="0" r="r" b="b"/>
            <a:pathLst>
              <a:path w="29608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274"/>
                </a:lnTo>
                <a:cubicBezTo>
                  <a:pt x="29608" y="4284"/>
                  <a:pt x="29607" y="4293"/>
                  <a:pt x="29605" y="4303"/>
                </a:cubicBezTo>
                <a:cubicBezTo>
                  <a:pt x="29604" y="4312"/>
                  <a:pt x="29601" y="4321"/>
                  <a:pt x="29597" y="4330"/>
                </a:cubicBezTo>
                <a:cubicBezTo>
                  <a:pt x="29594" y="4339"/>
                  <a:pt x="29589" y="4347"/>
                  <a:pt x="29584" y="4355"/>
                </a:cubicBezTo>
                <a:cubicBezTo>
                  <a:pt x="29578" y="4363"/>
                  <a:pt x="29572" y="4370"/>
                  <a:pt x="29566" y="4377"/>
                </a:cubicBezTo>
                <a:cubicBezTo>
                  <a:pt x="29559" y="4384"/>
                  <a:pt x="29552" y="4390"/>
                  <a:pt x="29544" y="4395"/>
                </a:cubicBezTo>
                <a:cubicBezTo>
                  <a:pt x="29536" y="4400"/>
                  <a:pt x="29527" y="4405"/>
                  <a:pt x="29518" y="4409"/>
                </a:cubicBezTo>
                <a:cubicBezTo>
                  <a:pt x="29510" y="4412"/>
                  <a:pt x="29501" y="4415"/>
                  <a:pt x="29491" y="4417"/>
                </a:cubicBezTo>
                <a:cubicBezTo>
                  <a:pt x="29482" y="4419"/>
                  <a:pt x="29472" y="4420"/>
                  <a:pt x="29463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8" y="4417"/>
                </a:cubicBezTo>
                <a:cubicBezTo>
                  <a:pt x="108" y="4415"/>
                  <a:pt x="99" y="4412"/>
                  <a:pt x="90" y="4409"/>
                </a:cubicBezTo>
                <a:cubicBezTo>
                  <a:pt x="81" y="4405"/>
                  <a:pt x="73" y="4400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0"/>
                  <a:pt x="30" y="4363"/>
                  <a:pt x="25" y="4355"/>
                </a:cubicBezTo>
                <a:cubicBezTo>
                  <a:pt x="20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766440" y="2547720"/>
            <a:ext cx="10658880" cy="1591200"/>
          </a:xfrm>
          <a:custGeom>
            <a:avLst/>
            <a:gdLst/>
            <a:ahLst/>
            <a:rect l="0" t="0" r="r" b="b"/>
            <a:pathLst>
              <a:path fill="none" w="29608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274"/>
                </a:lnTo>
                <a:cubicBezTo>
                  <a:pt x="29608" y="4284"/>
                  <a:pt x="29607" y="4293"/>
                  <a:pt x="29605" y="4303"/>
                </a:cubicBezTo>
                <a:cubicBezTo>
                  <a:pt x="29604" y="4312"/>
                  <a:pt x="29601" y="4321"/>
                  <a:pt x="29597" y="4330"/>
                </a:cubicBezTo>
                <a:cubicBezTo>
                  <a:pt x="29594" y="4339"/>
                  <a:pt x="29589" y="4347"/>
                  <a:pt x="29584" y="4355"/>
                </a:cubicBezTo>
                <a:cubicBezTo>
                  <a:pt x="29578" y="4363"/>
                  <a:pt x="29572" y="4370"/>
                  <a:pt x="29566" y="4377"/>
                </a:cubicBezTo>
                <a:cubicBezTo>
                  <a:pt x="29559" y="4384"/>
                  <a:pt x="29552" y="4390"/>
                  <a:pt x="29544" y="4395"/>
                </a:cubicBezTo>
                <a:cubicBezTo>
                  <a:pt x="29536" y="4400"/>
                  <a:pt x="29527" y="4405"/>
                  <a:pt x="29518" y="4409"/>
                </a:cubicBezTo>
                <a:cubicBezTo>
                  <a:pt x="29510" y="4412"/>
                  <a:pt x="29501" y="4415"/>
                  <a:pt x="29491" y="4417"/>
                </a:cubicBezTo>
                <a:cubicBezTo>
                  <a:pt x="29482" y="4419"/>
                  <a:pt x="29472" y="4420"/>
                  <a:pt x="29463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8" y="4417"/>
                </a:cubicBezTo>
                <a:cubicBezTo>
                  <a:pt x="108" y="4415"/>
                  <a:pt x="99" y="4412"/>
                  <a:pt x="90" y="4409"/>
                </a:cubicBezTo>
                <a:cubicBezTo>
                  <a:pt x="81" y="4405"/>
                  <a:pt x="73" y="4400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0"/>
                  <a:pt x="30" y="4363"/>
                  <a:pt x="25" y="4355"/>
                </a:cubicBezTo>
                <a:cubicBezTo>
                  <a:pt x="20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762120" y="372600"/>
            <a:ext cx="574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EHRC Says No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923760" y="2652120"/>
            <a:ext cx="9881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"There must be clear rules which guarantee that live facial recognition technology is used only when necessary,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923760" y="2918880"/>
            <a:ext cx="10137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proportionate, and constrained by appropriate safeguards. We believe that the Metropolitan Police's current policy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923760" y="3195000"/>
            <a:ext cx="2477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falls short of this standard."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923760" y="3471120"/>
            <a:ext cx="7209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John Kirkpatrick, CEO, Equality and Human Rights Commission, intervening in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8177400" y="3471120"/>
            <a:ext cx="23817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 (Thompson and Carlo) v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968040" y="3747600"/>
            <a:ext cx="37861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Commissioner of Police of the Metropolis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4587480" y="3747600"/>
            <a:ext cx="1265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August 2025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6" name=""/>
          <p:cNvSpPr/>
          <p:nvPr/>
        </p:nvSpPr>
        <p:spPr>
          <a:xfrm>
            <a:off x="971280" y="2543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971280" y="2895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3"/>
                  <a:pt x="57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8"/>
                </a:cubicBezTo>
                <a:cubicBezTo>
                  <a:pt x="140" y="13"/>
                  <a:pt x="150" y="19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1168200" y="2451600"/>
            <a:ext cx="798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 Court heard the case January 2025; judgment handed down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21 April 2026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971280" y="3257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1168200" y="2804040"/>
            <a:ext cx="517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claim was dismissed.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Claimants are appealing.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1168200" y="3165840"/>
            <a:ext cx="973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Silkie Carlo, Big Brother Watch: "dystopian surveillance tech that turns us into walking ID cards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1168200" y="3470760"/>
            <a:ext cx="345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treats us like a nation of suspects."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766440" y="390024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8"/>
                  <a:pt x="29584" y="3455"/>
                </a:cubicBezTo>
                <a:cubicBezTo>
                  <a:pt x="29578" y="3463"/>
                  <a:pt x="29572" y="3471"/>
                  <a:pt x="29566" y="3478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3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8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8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766440" y="390024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8"/>
                  <a:pt x="29584" y="3455"/>
                </a:cubicBezTo>
                <a:cubicBezTo>
                  <a:pt x="29578" y="3463"/>
                  <a:pt x="29572" y="3471"/>
                  <a:pt x="29566" y="3478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3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8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8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762120" y="372600"/>
            <a:ext cx="61401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Court Outcome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923760" y="4500000"/>
            <a:ext cx="9831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Its own human rights regulator said, formally and in court, that the policy falls short of the legal standard.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952200" y="4114440"/>
            <a:ext cx="172080" cy="191160"/>
          </a:xfrm>
          <a:custGeom>
            <a:avLst/>
            <a:gdLst/>
            <a:ahLst/>
            <a:rect l="0" t="0" r="r" b="b"/>
            <a:pathLst>
              <a:path fill="none" w="478" h="531">
                <a:moveTo>
                  <a:pt x="265" y="0"/>
                </a:moveTo>
                <a:lnTo>
                  <a:pt x="0" y="318"/>
                </a:lnTo>
                <a:lnTo>
                  <a:pt x="238" y="318"/>
                </a:lnTo>
                <a:lnTo>
                  <a:pt x="212" y="531"/>
                </a:lnTo>
                <a:lnTo>
                  <a:pt x="478" y="212"/>
                </a:lnTo>
                <a:lnTo>
                  <a:pt x="238" y="212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923760" y="4776120"/>
            <a:ext cx="6039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response: expand the programme ﬁvefold, announce 50 more vans.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1203120" y="4103280"/>
            <a:ext cx="327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The government's response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8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766440" y="2500200"/>
            <a:ext cx="10658880" cy="1819440"/>
          </a:xfrm>
          <a:custGeom>
            <a:avLst/>
            <a:gdLst/>
            <a:ahLst/>
            <a:rect l="0" t="0" r="r" b="b"/>
            <a:pathLst>
              <a:path w="29608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909"/>
                </a:lnTo>
                <a:cubicBezTo>
                  <a:pt x="29608" y="4918"/>
                  <a:pt x="29607" y="4928"/>
                  <a:pt x="29605" y="4937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3"/>
                  <a:pt x="29589" y="4982"/>
                  <a:pt x="29584" y="4990"/>
                </a:cubicBezTo>
                <a:cubicBezTo>
                  <a:pt x="29578" y="4998"/>
                  <a:pt x="29572" y="5005"/>
                  <a:pt x="29566" y="5012"/>
                </a:cubicBezTo>
                <a:cubicBezTo>
                  <a:pt x="29559" y="5018"/>
                  <a:pt x="29552" y="5025"/>
                  <a:pt x="29544" y="5030"/>
                </a:cubicBezTo>
                <a:cubicBezTo>
                  <a:pt x="29536" y="5035"/>
                  <a:pt x="29527" y="5040"/>
                  <a:pt x="29518" y="5043"/>
                </a:cubicBezTo>
                <a:cubicBezTo>
                  <a:pt x="29510" y="5047"/>
                  <a:pt x="29501" y="5050"/>
                  <a:pt x="29491" y="5052"/>
                </a:cubicBezTo>
                <a:cubicBezTo>
                  <a:pt x="29482" y="5053"/>
                  <a:pt x="29472" y="5054"/>
                  <a:pt x="29463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8" y="5052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40"/>
                  <a:pt x="73" y="5035"/>
                  <a:pt x="65" y="5030"/>
                </a:cubicBezTo>
                <a:cubicBezTo>
                  <a:pt x="57" y="5025"/>
                  <a:pt x="50" y="5018"/>
                  <a:pt x="43" y="5012"/>
                </a:cubicBezTo>
                <a:cubicBezTo>
                  <a:pt x="36" y="5005"/>
                  <a:pt x="30" y="4998"/>
                  <a:pt x="25" y="4990"/>
                </a:cubicBezTo>
                <a:cubicBezTo>
                  <a:pt x="20" y="4982"/>
                  <a:pt x="15" y="4973"/>
                  <a:pt x="11" y="4965"/>
                </a:cubicBezTo>
                <a:cubicBezTo>
                  <a:pt x="8" y="4956"/>
                  <a:pt x="5" y="4947"/>
                  <a:pt x="3" y="4937"/>
                </a:cubicBezTo>
                <a:cubicBezTo>
                  <a:pt x="1" y="4928"/>
                  <a:pt x="0" y="4918"/>
                  <a:pt x="0" y="4909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766440" y="2500200"/>
            <a:ext cx="10658880" cy="1819440"/>
          </a:xfrm>
          <a:custGeom>
            <a:avLst/>
            <a:gdLst/>
            <a:ahLst/>
            <a:rect l="0" t="0" r="r" b="b"/>
            <a:pathLst>
              <a:path fill="none" w="29608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909"/>
                </a:lnTo>
                <a:cubicBezTo>
                  <a:pt x="29608" y="4918"/>
                  <a:pt x="29607" y="4928"/>
                  <a:pt x="29605" y="4937"/>
                </a:cubicBezTo>
                <a:cubicBezTo>
                  <a:pt x="29604" y="4947"/>
                  <a:pt x="29601" y="4956"/>
                  <a:pt x="29597" y="4965"/>
                </a:cubicBezTo>
                <a:cubicBezTo>
                  <a:pt x="29594" y="4973"/>
                  <a:pt x="29589" y="4982"/>
                  <a:pt x="29584" y="4990"/>
                </a:cubicBezTo>
                <a:cubicBezTo>
                  <a:pt x="29578" y="4998"/>
                  <a:pt x="29572" y="5005"/>
                  <a:pt x="29566" y="5012"/>
                </a:cubicBezTo>
                <a:cubicBezTo>
                  <a:pt x="29559" y="5018"/>
                  <a:pt x="29552" y="5025"/>
                  <a:pt x="29544" y="5030"/>
                </a:cubicBezTo>
                <a:cubicBezTo>
                  <a:pt x="29536" y="5035"/>
                  <a:pt x="29527" y="5040"/>
                  <a:pt x="29518" y="5043"/>
                </a:cubicBezTo>
                <a:cubicBezTo>
                  <a:pt x="29510" y="5047"/>
                  <a:pt x="29501" y="5050"/>
                  <a:pt x="29491" y="5052"/>
                </a:cubicBezTo>
                <a:cubicBezTo>
                  <a:pt x="29482" y="5053"/>
                  <a:pt x="29472" y="5054"/>
                  <a:pt x="29463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8" y="5052"/>
                </a:cubicBezTo>
                <a:cubicBezTo>
                  <a:pt x="108" y="5050"/>
                  <a:pt x="99" y="5047"/>
                  <a:pt x="90" y="5043"/>
                </a:cubicBezTo>
                <a:cubicBezTo>
                  <a:pt x="81" y="5040"/>
                  <a:pt x="73" y="5035"/>
                  <a:pt x="65" y="5030"/>
                </a:cubicBezTo>
                <a:cubicBezTo>
                  <a:pt x="57" y="5025"/>
                  <a:pt x="50" y="5018"/>
                  <a:pt x="43" y="5012"/>
                </a:cubicBezTo>
                <a:cubicBezTo>
                  <a:pt x="36" y="5005"/>
                  <a:pt x="30" y="4998"/>
                  <a:pt x="25" y="4990"/>
                </a:cubicBezTo>
                <a:cubicBezTo>
                  <a:pt x="20" y="4982"/>
                  <a:pt x="15" y="4973"/>
                  <a:pt x="11" y="4965"/>
                </a:cubicBezTo>
                <a:cubicBezTo>
                  <a:pt x="8" y="4956"/>
                  <a:pt x="5" y="4947"/>
                  <a:pt x="3" y="4937"/>
                </a:cubicBezTo>
                <a:cubicBezTo>
                  <a:pt x="1" y="4928"/>
                  <a:pt x="0" y="4918"/>
                  <a:pt x="0" y="4909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762120" y="372600"/>
            <a:ext cx="8536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Law That Doesn't Exist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923760" y="3099600"/>
            <a:ext cx="10075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Not one — not after nearly a decade of deployment, millions of faces scanned, and a 2020 Court of Appeal ruling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923760" y="3376080"/>
            <a:ext cx="9781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that South Wales Police's use of it was unlawful. The Home Oﬃce's own December 2025 consultation admits 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923760" y="3652200"/>
            <a:ext cx="10065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citizen would need four pieces of legislation, a national guidance document, and local force policy just to know if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952200" y="271440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9"/>
                </a:lnTo>
                <a:lnTo>
                  <a:pt x="238" y="319"/>
                </a:lnTo>
                <a:lnTo>
                  <a:pt x="212" y="530"/>
                </a:lnTo>
                <a:lnTo>
                  <a:pt x="478" y="213"/>
                </a:lnTo>
                <a:lnTo>
                  <a:pt x="238" y="213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923760" y="3928320"/>
            <a:ext cx="263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they're being scanned legally.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766440" y="4443120"/>
            <a:ext cx="10658880" cy="762480"/>
          </a:xfrm>
          <a:custGeom>
            <a:avLst/>
            <a:gdLst/>
            <a:ahLst/>
            <a:rect l="0" t="0" r="r" b="b"/>
            <a:pathLst>
              <a:path w="29608" h="2118">
                <a:moveTo>
                  <a:pt x="0" y="19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72"/>
                </a:lnTo>
                <a:cubicBezTo>
                  <a:pt x="29608" y="1982"/>
                  <a:pt x="29607" y="1991"/>
                  <a:pt x="29605" y="2001"/>
                </a:cubicBezTo>
                <a:cubicBezTo>
                  <a:pt x="29604" y="2010"/>
                  <a:pt x="29601" y="2019"/>
                  <a:pt x="29597" y="2028"/>
                </a:cubicBezTo>
                <a:cubicBezTo>
                  <a:pt x="29594" y="2037"/>
                  <a:pt x="29589" y="2045"/>
                  <a:pt x="29584" y="2053"/>
                </a:cubicBezTo>
                <a:cubicBezTo>
                  <a:pt x="29578" y="2061"/>
                  <a:pt x="29572" y="2069"/>
                  <a:pt x="29566" y="2075"/>
                </a:cubicBezTo>
                <a:cubicBezTo>
                  <a:pt x="29559" y="2082"/>
                  <a:pt x="29552" y="2088"/>
                  <a:pt x="29544" y="2093"/>
                </a:cubicBezTo>
                <a:cubicBezTo>
                  <a:pt x="29536" y="2099"/>
                  <a:pt x="29527" y="2103"/>
                  <a:pt x="29518" y="2107"/>
                </a:cubicBezTo>
                <a:cubicBezTo>
                  <a:pt x="29510" y="2111"/>
                  <a:pt x="29501" y="2113"/>
                  <a:pt x="29491" y="2115"/>
                </a:cubicBezTo>
                <a:cubicBezTo>
                  <a:pt x="29482" y="2117"/>
                  <a:pt x="29472" y="2118"/>
                  <a:pt x="29463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8" y="2115"/>
                </a:cubicBezTo>
                <a:cubicBezTo>
                  <a:pt x="108" y="2113"/>
                  <a:pt x="99" y="2111"/>
                  <a:pt x="90" y="2107"/>
                </a:cubicBezTo>
                <a:cubicBezTo>
                  <a:pt x="81" y="2103"/>
                  <a:pt x="73" y="2099"/>
                  <a:pt x="65" y="2093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9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1"/>
                  <a:pt x="0" y="1982"/>
                  <a:pt x="0" y="1972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766440" y="4443120"/>
            <a:ext cx="10658880" cy="762480"/>
          </a:xfrm>
          <a:custGeom>
            <a:avLst/>
            <a:gdLst/>
            <a:ahLst/>
            <a:rect l="0" t="0" r="r" b="b"/>
            <a:pathLst>
              <a:path fill="none" w="29608" h="2118">
                <a:moveTo>
                  <a:pt x="0" y="19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72"/>
                </a:lnTo>
                <a:cubicBezTo>
                  <a:pt x="29608" y="1982"/>
                  <a:pt x="29607" y="1991"/>
                  <a:pt x="29605" y="2001"/>
                </a:cubicBezTo>
                <a:cubicBezTo>
                  <a:pt x="29604" y="2010"/>
                  <a:pt x="29601" y="2019"/>
                  <a:pt x="29597" y="2028"/>
                </a:cubicBezTo>
                <a:cubicBezTo>
                  <a:pt x="29594" y="2037"/>
                  <a:pt x="29589" y="2045"/>
                  <a:pt x="29584" y="2053"/>
                </a:cubicBezTo>
                <a:cubicBezTo>
                  <a:pt x="29578" y="2061"/>
                  <a:pt x="29572" y="2069"/>
                  <a:pt x="29566" y="2075"/>
                </a:cubicBezTo>
                <a:cubicBezTo>
                  <a:pt x="29559" y="2082"/>
                  <a:pt x="29552" y="2088"/>
                  <a:pt x="29544" y="2093"/>
                </a:cubicBezTo>
                <a:cubicBezTo>
                  <a:pt x="29536" y="2099"/>
                  <a:pt x="29527" y="2103"/>
                  <a:pt x="29518" y="2107"/>
                </a:cubicBezTo>
                <a:cubicBezTo>
                  <a:pt x="29510" y="2111"/>
                  <a:pt x="29501" y="2113"/>
                  <a:pt x="29491" y="2115"/>
                </a:cubicBezTo>
                <a:cubicBezTo>
                  <a:pt x="29482" y="2117"/>
                  <a:pt x="29472" y="2118"/>
                  <a:pt x="29463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8" y="2115"/>
                </a:cubicBezTo>
                <a:cubicBezTo>
                  <a:pt x="108" y="2113"/>
                  <a:pt x="99" y="2111"/>
                  <a:pt x="90" y="2107"/>
                </a:cubicBezTo>
                <a:cubicBezTo>
                  <a:pt x="81" y="2103"/>
                  <a:pt x="73" y="2099"/>
                  <a:pt x="65" y="2093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9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1"/>
                  <a:pt x="0" y="1982"/>
                  <a:pt x="0" y="1972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1203120" y="2703240"/>
            <a:ext cx="2431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No Act of Parliament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923760" y="4547520"/>
            <a:ext cx="10079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Sarah Jones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Crime and Policing Minister: "the biggest breakthrough for catching criminals since DNA matching."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923760" y="4814280"/>
            <a:ext cx="8473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Big Brother Watch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in reply: "We would never accept DNA checkpoints across our high streets."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9" name=""/>
          <p:cNvSpPr/>
          <p:nvPr/>
        </p:nvSpPr>
        <p:spPr>
          <a:xfrm>
            <a:off x="971280" y="2600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1168200" y="2508480"/>
            <a:ext cx="991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Oct 2023: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Professor Fraser Sampson resigned as Biometrics and Surveillance Camera Commissioner,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971280" y="3257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1168200" y="2813400"/>
            <a:ext cx="7202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writing that the government's proposed bill would make his role "otiose."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971280" y="3619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1168200" y="3165840"/>
            <a:ext cx="5616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bill never passed. The role sat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empty for two years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971280" y="3971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1168200" y="3527640"/>
            <a:ext cx="544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Nov 2025: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Professor William Webster ﬁnally appointed.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1168200" y="3880080"/>
            <a:ext cx="647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 2025: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government launches a consultation asking whether a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7709040" y="3880080"/>
            <a:ext cx="4075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new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8056080" y="3880080"/>
            <a:ext cx="2670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regulator is needed — one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971280" y="4628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8"/>
                </a:cubicBezTo>
                <a:cubicBezTo>
                  <a:pt x="150" y="167"/>
                  <a:pt x="140" y="174"/>
                  <a:pt x="128" y="178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8"/>
                </a:cubicBezTo>
                <a:cubicBezTo>
                  <a:pt x="46" y="174"/>
                  <a:pt x="36" y="167"/>
                  <a:pt x="27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1168200" y="4185000"/>
            <a:ext cx="393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month after appointing the current one.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1168200" y="4537440"/>
            <a:ext cx="10136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Consultation ran to Feb 2026 — nine years after police ﬁrst scanned faces, ﬁve years after the Court of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1168200" y="4842360"/>
            <a:ext cx="241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Appeal ruled it unlawful.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762120" y="372600"/>
            <a:ext cx="9098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Commissioner Shambles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762120" y="2624040"/>
            <a:ext cx="75074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History Repeating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8" name=""/>
          <p:cNvSpPr/>
          <p:nvPr/>
        </p:nvSpPr>
        <p:spPr>
          <a:xfrm>
            <a:off x="771480" y="2333520"/>
            <a:ext cx="1781280" cy="352800"/>
          </a:xfrm>
          <a:custGeom>
            <a:avLst/>
            <a:gdLst/>
            <a:ahLst/>
            <a:rect l="0" t="0" r="r" b="b"/>
            <a:pathLst>
              <a:path w="4948" h="980">
                <a:moveTo>
                  <a:pt x="0" y="0"/>
                </a:moveTo>
                <a:lnTo>
                  <a:pt x="4948" y="0"/>
                </a:lnTo>
                <a:lnTo>
                  <a:pt x="494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2552400" y="2333520"/>
            <a:ext cx="2095920" cy="352800"/>
          </a:xfrm>
          <a:custGeom>
            <a:avLst/>
            <a:gdLst/>
            <a:ahLst/>
            <a:rect l="0" t="0" r="r" b="b"/>
            <a:pathLst>
              <a:path w="5822" h="980">
                <a:moveTo>
                  <a:pt x="0" y="0"/>
                </a:moveTo>
                <a:lnTo>
                  <a:pt x="5822" y="0"/>
                </a:lnTo>
                <a:lnTo>
                  <a:pt x="5822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4647960" y="2333520"/>
            <a:ext cx="6782040" cy="352800"/>
          </a:xfrm>
          <a:custGeom>
            <a:avLst/>
            <a:gdLst/>
            <a:ahLst/>
            <a:rect l="0" t="0" r="r" b="b"/>
            <a:pathLst>
              <a:path w="18839" h="980">
                <a:moveTo>
                  <a:pt x="0" y="0"/>
                </a:moveTo>
                <a:lnTo>
                  <a:pt x="18839" y="0"/>
                </a:lnTo>
                <a:lnTo>
                  <a:pt x="1883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771480" y="2685960"/>
            <a:ext cx="1781280" cy="581400"/>
          </a:xfrm>
          <a:custGeom>
            <a:avLst/>
            <a:gdLst/>
            <a:ahLst/>
            <a:rect l="0" t="0" r="r" b="b"/>
            <a:pathLst>
              <a:path w="4948" h="1615">
                <a:moveTo>
                  <a:pt x="0" y="0"/>
                </a:moveTo>
                <a:lnTo>
                  <a:pt x="4948" y="0"/>
                </a:lnTo>
                <a:lnTo>
                  <a:pt x="494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2552400" y="2685960"/>
            <a:ext cx="2095920" cy="581400"/>
          </a:xfrm>
          <a:custGeom>
            <a:avLst/>
            <a:gdLst/>
            <a:ahLst/>
            <a:rect l="0" t="0" r="r" b="b"/>
            <a:pathLst>
              <a:path w="5822" h="1615">
                <a:moveTo>
                  <a:pt x="0" y="0"/>
                </a:moveTo>
                <a:lnTo>
                  <a:pt x="5822" y="0"/>
                </a:lnTo>
                <a:lnTo>
                  <a:pt x="5822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4647960" y="2685960"/>
            <a:ext cx="6782040" cy="581400"/>
          </a:xfrm>
          <a:custGeom>
            <a:avLst/>
            <a:gdLst/>
            <a:ahLst/>
            <a:rect l="0" t="0" r="r" b="b"/>
            <a:pathLst>
              <a:path w="18839" h="1615">
                <a:moveTo>
                  <a:pt x="0" y="0"/>
                </a:moveTo>
                <a:lnTo>
                  <a:pt x="18839" y="0"/>
                </a:lnTo>
                <a:lnTo>
                  <a:pt x="18839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771480" y="3267000"/>
            <a:ext cx="1781280" cy="810000"/>
          </a:xfrm>
          <a:custGeom>
            <a:avLst/>
            <a:gdLst/>
            <a:ahLst/>
            <a:rect l="0" t="0" r="r" b="b"/>
            <a:pathLst>
              <a:path w="4948" h="2250">
                <a:moveTo>
                  <a:pt x="0" y="0"/>
                </a:moveTo>
                <a:lnTo>
                  <a:pt x="4948" y="0"/>
                </a:lnTo>
                <a:lnTo>
                  <a:pt x="494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2552400" y="3267000"/>
            <a:ext cx="2095920" cy="810000"/>
          </a:xfrm>
          <a:custGeom>
            <a:avLst/>
            <a:gdLst/>
            <a:ahLst/>
            <a:rect l="0" t="0" r="r" b="b"/>
            <a:pathLst>
              <a:path w="5822" h="2250">
                <a:moveTo>
                  <a:pt x="0" y="0"/>
                </a:moveTo>
                <a:lnTo>
                  <a:pt x="5822" y="0"/>
                </a:lnTo>
                <a:lnTo>
                  <a:pt x="5822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4647960" y="3267000"/>
            <a:ext cx="6782040" cy="810000"/>
          </a:xfrm>
          <a:custGeom>
            <a:avLst/>
            <a:gdLst/>
            <a:ahLst/>
            <a:rect l="0" t="0" r="r" b="b"/>
            <a:pathLst>
              <a:path w="18839" h="2250">
                <a:moveTo>
                  <a:pt x="0" y="0"/>
                </a:moveTo>
                <a:lnTo>
                  <a:pt x="18839" y="0"/>
                </a:lnTo>
                <a:lnTo>
                  <a:pt x="18839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771480" y="4076640"/>
            <a:ext cx="1781280" cy="810000"/>
          </a:xfrm>
          <a:custGeom>
            <a:avLst/>
            <a:gdLst/>
            <a:ahLst/>
            <a:rect l="0" t="0" r="r" b="b"/>
            <a:pathLst>
              <a:path w="4948" h="2250">
                <a:moveTo>
                  <a:pt x="0" y="0"/>
                </a:moveTo>
                <a:lnTo>
                  <a:pt x="4948" y="0"/>
                </a:lnTo>
                <a:lnTo>
                  <a:pt x="494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2552400" y="4076640"/>
            <a:ext cx="2095920" cy="810000"/>
          </a:xfrm>
          <a:custGeom>
            <a:avLst/>
            <a:gdLst/>
            <a:ahLst/>
            <a:rect l="0" t="0" r="r" b="b"/>
            <a:pathLst>
              <a:path w="5822" h="2250">
                <a:moveTo>
                  <a:pt x="0" y="0"/>
                </a:moveTo>
                <a:lnTo>
                  <a:pt x="5822" y="0"/>
                </a:lnTo>
                <a:lnTo>
                  <a:pt x="5822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4647960" y="4076640"/>
            <a:ext cx="6782040" cy="810000"/>
          </a:xfrm>
          <a:custGeom>
            <a:avLst/>
            <a:gdLst/>
            <a:ahLst/>
            <a:rect l="0" t="0" r="r" b="b"/>
            <a:pathLst>
              <a:path w="18839" h="2250">
                <a:moveTo>
                  <a:pt x="0" y="0"/>
                </a:moveTo>
                <a:lnTo>
                  <a:pt x="18839" y="0"/>
                </a:lnTo>
                <a:lnTo>
                  <a:pt x="18839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771480" y="4886280"/>
            <a:ext cx="1781280" cy="581400"/>
          </a:xfrm>
          <a:custGeom>
            <a:avLst/>
            <a:gdLst/>
            <a:ahLst/>
            <a:rect l="0" t="0" r="r" b="b"/>
            <a:pathLst>
              <a:path w="4948" h="1615">
                <a:moveTo>
                  <a:pt x="0" y="0"/>
                </a:moveTo>
                <a:lnTo>
                  <a:pt x="4948" y="0"/>
                </a:lnTo>
                <a:lnTo>
                  <a:pt x="494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2552400" y="4886280"/>
            <a:ext cx="2095920" cy="581400"/>
          </a:xfrm>
          <a:custGeom>
            <a:avLst/>
            <a:gdLst/>
            <a:ahLst/>
            <a:rect l="0" t="0" r="r" b="b"/>
            <a:pathLst>
              <a:path w="5822" h="1615">
                <a:moveTo>
                  <a:pt x="0" y="0"/>
                </a:moveTo>
                <a:lnTo>
                  <a:pt x="5822" y="0"/>
                </a:lnTo>
                <a:lnTo>
                  <a:pt x="5822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4647960" y="4886280"/>
            <a:ext cx="6782040" cy="581400"/>
          </a:xfrm>
          <a:custGeom>
            <a:avLst/>
            <a:gdLst/>
            <a:ahLst/>
            <a:rect l="0" t="0" r="r" b="b"/>
            <a:pathLst>
              <a:path w="18839" h="1615">
                <a:moveTo>
                  <a:pt x="0" y="0"/>
                </a:moveTo>
                <a:lnTo>
                  <a:pt x="18839" y="0"/>
                </a:lnTo>
                <a:lnTo>
                  <a:pt x="18839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761760" y="232380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761760" y="232380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2543040" y="23238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2552400" y="232380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4638600" y="23238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4647960" y="2323800"/>
            <a:ext cx="6782040" cy="10080"/>
          </a:xfrm>
          <a:custGeom>
            <a:avLst/>
            <a:gdLst/>
            <a:ahLst/>
            <a:rect l="0" t="0" r="r" b="b"/>
            <a:pathLst>
              <a:path w="18839" h="28">
                <a:moveTo>
                  <a:pt x="0" y="0"/>
                </a:moveTo>
                <a:lnTo>
                  <a:pt x="18839" y="0"/>
                </a:lnTo>
                <a:lnTo>
                  <a:pt x="18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1420280" y="23238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761760" y="267624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2552400" y="267624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4647960" y="2676240"/>
            <a:ext cx="6782040" cy="10080"/>
          </a:xfrm>
          <a:custGeom>
            <a:avLst/>
            <a:gdLst/>
            <a:ahLst/>
            <a:rect l="0" t="0" r="r" b="b"/>
            <a:pathLst>
              <a:path w="18839" h="28">
                <a:moveTo>
                  <a:pt x="0" y="0"/>
                </a:moveTo>
                <a:lnTo>
                  <a:pt x="18839" y="0"/>
                </a:lnTo>
                <a:lnTo>
                  <a:pt x="18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761760" y="268596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2543040" y="268596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4638600" y="268596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1420280" y="268596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761760" y="326700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761760" y="325728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2543040" y="32670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2552400" y="325728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4638600" y="32670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4647960" y="3257280"/>
            <a:ext cx="6782040" cy="10080"/>
          </a:xfrm>
          <a:custGeom>
            <a:avLst/>
            <a:gdLst/>
            <a:ahLst/>
            <a:rect l="0" t="0" r="r" b="b"/>
            <a:pathLst>
              <a:path w="18839" h="28">
                <a:moveTo>
                  <a:pt x="0" y="0"/>
                </a:moveTo>
                <a:lnTo>
                  <a:pt x="18839" y="0"/>
                </a:lnTo>
                <a:lnTo>
                  <a:pt x="18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11420280" y="32670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761760" y="40766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761760" y="406692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2543040" y="407664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2552400" y="406692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4638600" y="407664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4647960" y="4066920"/>
            <a:ext cx="6782040" cy="10080"/>
          </a:xfrm>
          <a:custGeom>
            <a:avLst/>
            <a:gdLst/>
            <a:ahLst/>
            <a:rect l="0" t="0" r="r" b="b"/>
            <a:pathLst>
              <a:path w="18839" h="28">
                <a:moveTo>
                  <a:pt x="0" y="0"/>
                </a:moveTo>
                <a:lnTo>
                  <a:pt x="18839" y="0"/>
                </a:lnTo>
                <a:lnTo>
                  <a:pt x="18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11420280" y="407664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761760" y="48862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761760" y="487656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2543040" y="488628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2552400" y="487656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4638600" y="488628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4647960" y="4876560"/>
            <a:ext cx="6782040" cy="10080"/>
          </a:xfrm>
          <a:custGeom>
            <a:avLst/>
            <a:gdLst/>
            <a:ahLst/>
            <a:rect l="0" t="0" r="r" b="b"/>
            <a:pathLst>
              <a:path w="18839" h="28">
                <a:moveTo>
                  <a:pt x="0" y="0"/>
                </a:moveTo>
                <a:lnTo>
                  <a:pt x="18839" y="0"/>
                </a:lnTo>
                <a:lnTo>
                  <a:pt x="18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11420280" y="488628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761760" y="545760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2552400" y="545760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4647960" y="5457600"/>
            <a:ext cx="6782040" cy="10080"/>
          </a:xfrm>
          <a:custGeom>
            <a:avLst/>
            <a:gdLst/>
            <a:ahLst/>
            <a:rect l="0" t="0" r="r" b="b"/>
            <a:pathLst>
              <a:path w="18839" h="28">
                <a:moveTo>
                  <a:pt x="0" y="0"/>
                </a:moveTo>
                <a:lnTo>
                  <a:pt x="18839" y="0"/>
                </a:lnTo>
                <a:lnTo>
                  <a:pt x="18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1418040" y="2414880"/>
            <a:ext cx="481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Power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3111840" y="2414880"/>
            <a:ext cx="973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Intended for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7059240" y="2414880"/>
            <a:ext cx="1954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How it was actually used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905040" y="2767320"/>
            <a:ext cx="824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Section 44,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905040" y="2995920"/>
            <a:ext cx="1448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Terrorism Act 2000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2688120" y="2881440"/>
            <a:ext cx="1368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Counter-terrorism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4785120" y="2767320"/>
            <a:ext cx="6401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Walter Wolfgang, 82, detained for heckling "Nonsense!" at a Labour conference speech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4785120" y="2995920"/>
            <a:ext cx="3399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(2005); ECtHR struck the power down in 2010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905040" y="3576960"/>
            <a:ext cx="763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RIPA 2000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2688120" y="3462480"/>
            <a:ext cx="1416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Counter-terrorism,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2688120" y="3691080"/>
            <a:ext cx="995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serious crime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4785120" y="3348360"/>
            <a:ext cx="636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Poole BC spied on a mother over a school admissions form (2008, unlawful); a council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4785120" y="3576960"/>
            <a:ext cx="6263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watched a pigeon feeder; another tailed 8 teenage paper boys; 9,600+ operations 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4785120" y="3805560"/>
            <a:ext cx="336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total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905040" y="4272120"/>
            <a:ext cx="1180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Coronavirus Act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905040" y="4500720"/>
            <a:ext cx="386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2020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2688120" y="4386600"/>
            <a:ext cx="1803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Public health emergency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4785120" y="4158000"/>
            <a:ext cx="6163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Drones shamed dog walkers; a lagoon was dyed black to deter visitors; two women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4785120" y="4386600"/>
            <a:ext cx="6209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ﬁned £200 over takeaway teas classed as a "picnic"; 100% of 270 prosecutions were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4785120" y="4615200"/>
            <a:ext cx="1230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wrongly charged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905040" y="4967640"/>
            <a:ext cx="1202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Public Order Act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905040" y="5196240"/>
            <a:ext cx="801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1986, s.17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2688120" y="4967640"/>
            <a:ext cx="1599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Football hooliganism,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2688120" y="5196240"/>
            <a:ext cx="1316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far-right marches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4785120" y="4967640"/>
            <a:ext cx="601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Two oﬃcers visited a columnist's home on Remembrance Sunday over a year-old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4785120" y="5196240"/>
            <a:ext cx="2406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tweet; case dropped 8 days later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762120" y="-8280"/>
            <a:ext cx="9778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"If They Have the Powers, They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762120" y="753480"/>
            <a:ext cx="4743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Will Use Them"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766440" y="1385640"/>
            <a:ext cx="9515880" cy="4753440"/>
          </a:xfrm>
          <a:custGeom>
            <a:avLst/>
            <a:gdLst/>
            <a:ahLst/>
            <a:rect l="0" t="0" r="r" b="b"/>
            <a:pathLst>
              <a:path fill="none" w="26433" h="13204">
                <a:moveTo>
                  <a:pt x="0" y="0"/>
                </a:moveTo>
                <a:lnTo>
                  <a:pt x="26433" y="0"/>
                </a:lnTo>
                <a:lnTo>
                  <a:pt x="26433" y="13204"/>
                </a:lnTo>
                <a:lnTo>
                  <a:pt x="0" y="13204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26459" y="0"/>
                </a:move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204"/>
                </a:lnTo>
                <a:lnTo>
                  <a:pt x="26433" y="13204"/>
                </a:lnTo>
                <a:lnTo>
                  <a:pt x="26433" y="26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761760" y="1380960"/>
            <a:ext cx="9525240" cy="4762800"/>
          </a:xfrm>
          <a:custGeom>
            <a:avLst/>
            <a:gdLst/>
            <a:ahLst/>
            <a:rect l="0" t="0" r="r" b="b"/>
            <a:pathLst>
              <a:path w="26459" h="13230">
                <a:moveTo>
                  <a:pt x="0" y="0"/>
                </a:moveTo>
                <a:lnTo>
                  <a:pt x="26459" y="0"/>
                </a:lnTo>
                <a:lnTo>
                  <a:pt x="26459" y="13230"/>
                </a:lnTo>
                <a:lnTo>
                  <a:pt x="0" y="13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1905120" y="317232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1905120" y="35344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1904760" y="44290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6"/>
                </a:moveTo>
                <a:cubicBezTo>
                  <a:pt x="0" y="445"/>
                  <a:pt x="3" y="414"/>
                  <a:pt x="9" y="383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3"/>
                </a:cubicBezTo>
                <a:cubicBezTo>
                  <a:pt x="4919" y="414"/>
                  <a:pt x="4922" y="445"/>
                  <a:pt x="4922" y="476"/>
                </a:cubicBezTo>
                <a:cubicBezTo>
                  <a:pt x="4922" y="507"/>
                  <a:pt x="4919" y="538"/>
                  <a:pt x="4913" y="570"/>
                </a:cubicBezTo>
                <a:cubicBezTo>
                  <a:pt x="4907" y="600"/>
                  <a:pt x="4898" y="630"/>
                  <a:pt x="4886" y="659"/>
                </a:cubicBezTo>
                <a:cubicBezTo>
                  <a:pt x="4874" y="688"/>
                  <a:pt x="4860" y="715"/>
                  <a:pt x="4842" y="741"/>
                </a:cubicBezTo>
                <a:cubicBezTo>
                  <a:pt x="4825" y="767"/>
                  <a:pt x="4805" y="792"/>
                  <a:pt x="4783" y="814"/>
                </a:cubicBezTo>
                <a:cubicBezTo>
                  <a:pt x="4761" y="836"/>
                  <a:pt x="4737" y="855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5"/>
                  <a:pt x="162" y="836"/>
                  <a:pt x="140" y="814"/>
                </a:cubicBezTo>
                <a:cubicBezTo>
                  <a:pt x="118" y="792"/>
                  <a:pt x="98" y="767"/>
                  <a:pt x="80" y="741"/>
                </a:cubicBezTo>
                <a:cubicBezTo>
                  <a:pt x="63" y="715"/>
                  <a:pt x="48" y="688"/>
                  <a:pt x="36" y="659"/>
                </a:cubicBezTo>
                <a:cubicBezTo>
                  <a:pt x="24" y="630"/>
                  <a:pt x="15" y="600"/>
                  <a:pt x="9" y="570"/>
                </a:cubicBezTo>
                <a:cubicBezTo>
                  <a:pt x="3" y="538"/>
                  <a:pt x="0" y="507"/>
                  <a:pt x="0" y="4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1905120" y="405648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3752640" y="44290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6"/>
                </a:moveTo>
                <a:cubicBezTo>
                  <a:pt x="0" y="445"/>
                  <a:pt x="3" y="414"/>
                  <a:pt x="9" y="383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3"/>
                </a:cubicBezTo>
                <a:cubicBezTo>
                  <a:pt x="2750" y="414"/>
                  <a:pt x="2753" y="445"/>
                  <a:pt x="2753" y="476"/>
                </a:cubicBezTo>
                <a:cubicBezTo>
                  <a:pt x="2753" y="507"/>
                  <a:pt x="2750" y="538"/>
                  <a:pt x="2744" y="570"/>
                </a:cubicBezTo>
                <a:cubicBezTo>
                  <a:pt x="2737" y="600"/>
                  <a:pt x="2728" y="630"/>
                  <a:pt x="2716" y="659"/>
                </a:cubicBezTo>
                <a:cubicBezTo>
                  <a:pt x="2705" y="688"/>
                  <a:pt x="2690" y="715"/>
                  <a:pt x="2672" y="741"/>
                </a:cubicBezTo>
                <a:cubicBezTo>
                  <a:pt x="2655" y="767"/>
                  <a:pt x="2635" y="792"/>
                  <a:pt x="2613" y="814"/>
                </a:cubicBezTo>
                <a:cubicBezTo>
                  <a:pt x="2591" y="836"/>
                  <a:pt x="2567" y="855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5"/>
                  <a:pt x="162" y="836"/>
                  <a:pt x="140" y="814"/>
                </a:cubicBezTo>
                <a:cubicBezTo>
                  <a:pt x="117" y="792"/>
                  <a:pt x="98" y="767"/>
                  <a:pt x="80" y="741"/>
                </a:cubicBezTo>
                <a:cubicBezTo>
                  <a:pt x="63" y="715"/>
                  <a:pt x="48" y="688"/>
                  <a:pt x="36" y="659"/>
                </a:cubicBezTo>
                <a:cubicBezTo>
                  <a:pt x="24" y="630"/>
                  <a:pt x="15" y="600"/>
                  <a:pt x="9" y="570"/>
                </a:cubicBezTo>
                <a:cubicBezTo>
                  <a:pt x="3" y="538"/>
                  <a:pt x="0" y="507"/>
                  <a:pt x="0" y="4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2057400" y="45057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9439200" y="5800680"/>
            <a:ext cx="771840" cy="266760"/>
          </a:xfrm>
          <a:custGeom>
            <a:avLst/>
            <a:gdLst/>
            <a:ahLst/>
            <a:rect l="0" t="0" r="r" b="b"/>
            <a:pathLst>
              <a:path w="2144" h="741">
                <a:moveTo>
                  <a:pt x="0" y="423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7" y="78"/>
                  <a:pt x="123" y="65"/>
                  <a:pt x="141" y="53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2"/>
                  <a:pt x="1888" y="6"/>
                </a:cubicBezTo>
                <a:cubicBezTo>
                  <a:pt x="1909" y="10"/>
                  <a:pt x="1929" y="16"/>
                  <a:pt x="1948" y="24"/>
                </a:cubicBezTo>
                <a:cubicBezTo>
                  <a:pt x="1967" y="32"/>
                  <a:pt x="1985" y="42"/>
                  <a:pt x="2003" y="53"/>
                </a:cubicBezTo>
                <a:cubicBezTo>
                  <a:pt x="2020" y="65"/>
                  <a:pt x="2036" y="78"/>
                  <a:pt x="2051" y="93"/>
                </a:cubicBezTo>
                <a:cubicBezTo>
                  <a:pt x="2066" y="107"/>
                  <a:pt x="2079" y="123"/>
                  <a:pt x="2090" y="141"/>
                </a:cubicBezTo>
                <a:cubicBezTo>
                  <a:pt x="2102" y="158"/>
                  <a:pt x="2112" y="176"/>
                  <a:pt x="2120" y="196"/>
                </a:cubicBezTo>
                <a:cubicBezTo>
                  <a:pt x="2128" y="215"/>
                  <a:pt x="2134" y="235"/>
                  <a:pt x="2138" y="255"/>
                </a:cubicBezTo>
                <a:cubicBezTo>
                  <a:pt x="2142" y="276"/>
                  <a:pt x="2144" y="296"/>
                  <a:pt x="2144" y="317"/>
                </a:cubicBezTo>
                <a:lnTo>
                  <a:pt x="2144" y="423"/>
                </a:lnTo>
                <a:cubicBezTo>
                  <a:pt x="2144" y="444"/>
                  <a:pt x="2142" y="464"/>
                  <a:pt x="2138" y="485"/>
                </a:cubicBezTo>
                <a:cubicBezTo>
                  <a:pt x="2134" y="505"/>
                  <a:pt x="2128" y="525"/>
                  <a:pt x="2120" y="545"/>
                </a:cubicBezTo>
                <a:cubicBezTo>
                  <a:pt x="2112" y="565"/>
                  <a:pt x="2102" y="583"/>
                  <a:pt x="2090" y="600"/>
                </a:cubicBezTo>
                <a:cubicBezTo>
                  <a:pt x="2079" y="618"/>
                  <a:pt x="2066" y="634"/>
                  <a:pt x="2051" y="648"/>
                </a:cubicBezTo>
                <a:cubicBezTo>
                  <a:pt x="2036" y="663"/>
                  <a:pt x="2020" y="676"/>
                  <a:pt x="2003" y="688"/>
                </a:cubicBezTo>
                <a:cubicBezTo>
                  <a:pt x="1985" y="700"/>
                  <a:pt x="1967" y="709"/>
                  <a:pt x="1948" y="717"/>
                </a:cubicBezTo>
                <a:cubicBezTo>
                  <a:pt x="1929" y="725"/>
                  <a:pt x="1909" y="731"/>
                  <a:pt x="1888" y="735"/>
                </a:cubicBezTo>
                <a:cubicBezTo>
                  <a:pt x="1868" y="739"/>
                  <a:pt x="1847" y="741"/>
                  <a:pt x="1826" y="741"/>
                </a:cubicBezTo>
                <a:lnTo>
                  <a:pt x="317" y="741"/>
                </a:lnTo>
                <a:cubicBezTo>
                  <a:pt x="296" y="741"/>
                  <a:pt x="276" y="739"/>
                  <a:pt x="255" y="735"/>
                </a:cubicBezTo>
                <a:cubicBezTo>
                  <a:pt x="235" y="731"/>
                  <a:pt x="215" y="725"/>
                  <a:pt x="196" y="717"/>
                </a:cubicBezTo>
                <a:cubicBezTo>
                  <a:pt x="176" y="709"/>
                  <a:pt x="158" y="700"/>
                  <a:pt x="141" y="688"/>
                </a:cubicBezTo>
                <a:cubicBezTo>
                  <a:pt x="123" y="676"/>
                  <a:pt x="107" y="663"/>
                  <a:pt x="93" y="648"/>
                </a:cubicBezTo>
                <a:cubicBezTo>
                  <a:pt x="78" y="634"/>
                  <a:pt x="65" y="618"/>
                  <a:pt x="53" y="600"/>
                </a:cubicBezTo>
                <a:cubicBezTo>
                  <a:pt x="42" y="583"/>
                  <a:pt x="32" y="565"/>
                  <a:pt x="24" y="545"/>
                </a:cubicBezTo>
                <a:cubicBezTo>
                  <a:pt x="16" y="525"/>
                  <a:pt x="10" y="505"/>
                  <a:pt x="6" y="485"/>
                </a:cubicBezTo>
                <a:cubicBezTo>
                  <a:pt x="2" y="464"/>
                  <a:pt x="0" y="444"/>
                  <a:pt x="0" y="4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3908880" y="45057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9552240" y="583920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762120" y="2624040"/>
            <a:ext cx="808740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Naming the System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1" name="" descr=""/>
          <p:cNvPicPr/>
          <p:nvPr/>
        </p:nvPicPr>
        <p:blipFill>
          <a:blip r:embed="rId1"/>
          <a:stretch/>
        </p:blipFill>
        <p:spPr>
          <a:xfrm>
            <a:off x="9448920" y="25146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2" name=""/>
          <p:cNvSpPr/>
          <p:nvPr/>
        </p:nvSpPr>
        <p:spPr>
          <a:xfrm>
            <a:off x="847440" y="167004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2"/>
                  <a:pt x="0" y="876"/>
                </a:cubicBezTo>
                <a:cubicBezTo>
                  <a:pt x="0" y="1149"/>
                  <a:pt x="161" y="1392"/>
                  <a:pt x="413" y="1553"/>
                </a:cubicBezTo>
                <a:cubicBezTo>
                  <a:pt x="380" y="1697"/>
                  <a:pt x="304" y="1911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1"/>
                  <a:pt x="1033" y="1750"/>
                  <a:pt x="1126" y="1750"/>
                </a:cubicBezTo>
                <a:cubicBezTo>
                  <a:pt x="1747" y="1750"/>
                  <a:pt x="2250" y="1359"/>
                  <a:pt x="2250" y="876"/>
                </a:cubicBezTo>
                <a:cubicBezTo>
                  <a:pt x="2250" y="392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1207440" y="194004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5"/>
                </a:moveTo>
                <a:cubicBezTo>
                  <a:pt x="251" y="141"/>
                  <a:pt x="248" y="157"/>
                  <a:pt x="241" y="173"/>
                </a:cubicBezTo>
                <a:cubicBezTo>
                  <a:pt x="235" y="188"/>
                  <a:pt x="226" y="201"/>
                  <a:pt x="214" y="213"/>
                </a:cubicBezTo>
                <a:cubicBezTo>
                  <a:pt x="202" y="226"/>
                  <a:pt x="189" y="235"/>
                  <a:pt x="174" y="241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1"/>
                </a:cubicBezTo>
                <a:cubicBezTo>
                  <a:pt x="63" y="235"/>
                  <a:pt x="49" y="226"/>
                  <a:pt x="37" y="213"/>
                </a:cubicBezTo>
                <a:cubicBezTo>
                  <a:pt x="26" y="201"/>
                  <a:pt x="17" y="188"/>
                  <a:pt x="10" y="173"/>
                </a:cubicBezTo>
                <a:cubicBezTo>
                  <a:pt x="3" y="157"/>
                  <a:pt x="0" y="141"/>
                  <a:pt x="0" y="125"/>
                </a:cubicBezTo>
                <a:cubicBezTo>
                  <a:pt x="0" y="108"/>
                  <a:pt x="3" y="92"/>
                  <a:pt x="10" y="77"/>
                </a:cubicBezTo>
                <a:cubicBezTo>
                  <a:pt x="17" y="62"/>
                  <a:pt x="26" y="48"/>
                  <a:pt x="37" y="37"/>
                </a:cubicBezTo>
                <a:cubicBezTo>
                  <a:pt x="49" y="25"/>
                  <a:pt x="63" y="16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9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48"/>
                  <a:pt x="235" y="62"/>
                  <a:pt x="241" y="77"/>
                </a:cubicBezTo>
                <a:cubicBezTo>
                  <a:pt x="248" y="92"/>
                  <a:pt x="251" y="108"/>
                  <a:pt x="251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1387440" y="1940040"/>
            <a:ext cx="90000" cy="90360"/>
          </a:xfrm>
          <a:custGeom>
            <a:avLst/>
            <a:gdLst/>
            <a:ahLst/>
            <a:rect l="0" t="0" r="r" b="b"/>
            <a:pathLst>
              <a:path w="250" h="251">
                <a:moveTo>
                  <a:pt x="250" y="125"/>
                </a:moveTo>
                <a:cubicBezTo>
                  <a:pt x="250" y="141"/>
                  <a:pt x="247" y="157"/>
                  <a:pt x="241" y="173"/>
                </a:cubicBezTo>
                <a:cubicBezTo>
                  <a:pt x="235" y="188"/>
                  <a:pt x="226" y="201"/>
                  <a:pt x="214" y="213"/>
                </a:cubicBezTo>
                <a:cubicBezTo>
                  <a:pt x="202" y="226"/>
                  <a:pt x="189" y="235"/>
                  <a:pt x="173" y="241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1"/>
                </a:cubicBezTo>
                <a:cubicBezTo>
                  <a:pt x="62" y="235"/>
                  <a:pt x="49" y="226"/>
                  <a:pt x="37" y="213"/>
                </a:cubicBezTo>
                <a:cubicBezTo>
                  <a:pt x="25" y="201"/>
                  <a:pt x="16" y="188"/>
                  <a:pt x="10" y="173"/>
                </a:cubicBezTo>
                <a:cubicBezTo>
                  <a:pt x="3" y="157"/>
                  <a:pt x="0" y="141"/>
                  <a:pt x="0" y="125"/>
                </a:cubicBezTo>
                <a:cubicBezTo>
                  <a:pt x="0" y="108"/>
                  <a:pt x="3" y="92"/>
                  <a:pt x="10" y="77"/>
                </a:cubicBezTo>
                <a:cubicBezTo>
                  <a:pt x="16" y="62"/>
                  <a:pt x="25" y="48"/>
                  <a:pt x="37" y="37"/>
                </a:cubicBezTo>
                <a:cubicBezTo>
                  <a:pt x="49" y="25"/>
                  <a:pt x="62" y="16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9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48"/>
                  <a:pt x="235" y="62"/>
                  <a:pt x="241" y="77"/>
                </a:cubicBezTo>
                <a:cubicBezTo>
                  <a:pt x="247" y="92"/>
                  <a:pt x="250" y="108"/>
                  <a:pt x="250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1027440" y="194004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5"/>
                </a:moveTo>
                <a:cubicBezTo>
                  <a:pt x="251" y="141"/>
                  <a:pt x="248" y="157"/>
                  <a:pt x="241" y="173"/>
                </a:cubicBezTo>
                <a:cubicBezTo>
                  <a:pt x="235" y="188"/>
                  <a:pt x="226" y="201"/>
                  <a:pt x="214" y="213"/>
                </a:cubicBezTo>
                <a:cubicBezTo>
                  <a:pt x="203" y="226"/>
                  <a:pt x="189" y="235"/>
                  <a:pt x="174" y="241"/>
                </a:cubicBezTo>
                <a:cubicBezTo>
                  <a:pt x="159" y="248"/>
                  <a:pt x="143" y="251"/>
                  <a:pt x="126" y="251"/>
                </a:cubicBezTo>
                <a:cubicBezTo>
                  <a:pt x="109" y="251"/>
                  <a:pt x="93" y="248"/>
                  <a:pt x="78" y="241"/>
                </a:cubicBezTo>
                <a:cubicBezTo>
                  <a:pt x="63" y="235"/>
                  <a:pt x="49" y="226"/>
                  <a:pt x="38" y="213"/>
                </a:cubicBezTo>
                <a:cubicBezTo>
                  <a:pt x="26" y="201"/>
                  <a:pt x="17" y="188"/>
                  <a:pt x="11" y="173"/>
                </a:cubicBezTo>
                <a:cubicBezTo>
                  <a:pt x="3" y="157"/>
                  <a:pt x="0" y="141"/>
                  <a:pt x="0" y="125"/>
                </a:cubicBezTo>
                <a:cubicBezTo>
                  <a:pt x="0" y="108"/>
                  <a:pt x="3" y="92"/>
                  <a:pt x="11" y="77"/>
                </a:cubicBezTo>
                <a:cubicBezTo>
                  <a:pt x="17" y="62"/>
                  <a:pt x="26" y="48"/>
                  <a:pt x="38" y="37"/>
                </a:cubicBezTo>
                <a:cubicBezTo>
                  <a:pt x="49" y="25"/>
                  <a:pt x="63" y="16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9"/>
                </a:cubicBezTo>
                <a:cubicBezTo>
                  <a:pt x="189" y="16"/>
                  <a:pt x="203" y="25"/>
                  <a:pt x="214" y="37"/>
                </a:cubicBezTo>
                <a:cubicBezTo>
                  <a:pt x="226" y="48"/>
                  <a:pt x="235" y="62"/>
                  <a:pt x="241" y="77"/>
                </a:cubicBezTo>
                <a:cubicBezTo>
                  <a:pt x="248" y="92"/>
                  <a:pt x="251" y="108"/>
                  <a:pt x="251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1696680" y="1585800"/>
            <a:ext cx="40820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762120" y="2604960"/>
            <a:ext cx="18169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762120" y="4280400"/>
            <a:ext cx="670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If you can only do one of two things, one to prevent murder,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762120" y="4584960"/>
            <a:ext cx="6173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other to prevent sucide, which would you choose and why?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762120" y="534744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1:57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1994400" y="564228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6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876240" y="1836000"/>
            <a:ext cx="357084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Data Colonialism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876240" y="2731680"/>
            <a:ext cx="9797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When government and corporations extract private property, resources, land, value,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876240" y="3093480"/>
            <a:ext cx="10365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labour from people — concentrating it for themselves and using it to entrench that system —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876240" y="3465000"/>
            <a:ext cx="10230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we call it </a:t>
            </a:r>
            <a:r>
              <a:rPr b="1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colonialism</a:t>
            </a:r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. The same extractive logic now runs on data, exercised not by trading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876240" y="3827160"/>
            <a:ext cx="9329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companies and plantation owners but by tech companies and government agencies.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876240" y="4341240"/>
            <a:ext cx="1054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Data colonialism </a:t>
            </a:r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describes when governments and corporations extract data from people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876240" y="4712760"/>
            <a:ext cx="481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use it to generate proﬁts and exert control.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135252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799920" y="6343560"/>
            <a:ext cx="381240" cy="304920"/>
          </a:xfrm>
          <a:custGeom>
            <a:avLst/>
            <a:gdLst/>
            <a:ahLst/>
            <a:rect l="0" t="0" r="r" b="b"/>
            <a:pathLst>
              <a:path w="1059" h="847">
                <a:moveTo>
                  <a:pt x="0" y="423"/>
                </a:move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1" y="188"/>
                </a:cubicBezTo>
                <a:cubicBezTo>
                  <a:pt x="87" y="165"/>
                  <a:pt x="104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1"/>
                  <a:pt x="313" y="13"/>
                  <a:pt x="341" y="8"/>
                </a:cubicBezTo>
                <a:cubicBezTo>
                  <a:pt x="368" y="2"/>
                  <a:pt x="396" y="0"/>
                  <a:pt x="423" y="0"/>
                </a:cubicBezTo>
                <a:lnTo>
                  <a:pt x="636" y="0"/>
                </a:lnTo>
                <a:cubicBezTo>
                  <a:pt x="664" y="0"/>
                  <a:pt x="691" y="2"/>
                  <a:pt x="719" y="8"/>
                </a:cubicBezTo>
                <a:cubicBezTo>
                  <a:pt x="746" y="13"/>
                  <a:pt x="772" y="21"/>
                  <a:pt x="798" y="32"/>
                </a:cubicBezTo>
                <a:cubicBezTo>
                  <a:pt x="824" y="43"/>
                  <a:pt x="848" y="56"/>
                  <a:pt x="871" y="71"/>
                </a:cubicBezTo>
                <a:cubicBezTo>
                  <a:pt x="894" y="87"/>
                  <a:pt x="916" y="104"/>
                  <a:pt x="935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3" y="211"/>
                  <a:pt x="1016" y="235"/>
                  <a:pt x="1027" y="261"/>
                </a:cubicBezTo>
                <a:cubicBezTo>
                  <a:pt x="1038" y="287"/>
                  <a:pt x="1046" y="313"/>
                  <a:pt x="1051" y="340"/>
                </a:cubicBezTo>
                <a:cubicBezTo>
                  <a:pt x="1057" y="368"/>
                  <a:pt x="1059" y="395"/>
                  <a:pt x="1059" y="423"/>
                </a:cubicBezTo>
                <a:cubicBezTo>
                  <a:pt x="1059" y="451"/>
                  <a:pt x="1057" y="478"/>
                  <a:pt x="1051" y="506"/>
                </a:cubicBezTo>
                <a:cubicBezTo>
                  <a:pt x="1046" y="533"/>
                  <a:pt x="1038" y="559"/>
                  <a:pt x="1027" y="586"/>
                </a:cubicBezTo>
                <a:cubicBezTo>
                  <a:pt x="1016" y="612"/>
                  <a:pt x="1003" y="636"/>
                  <a:pt x="988" y="659"/>
                </a:cubicBezTo>
                <a:cubicBezTo>
                  <a:pt x="973" y="682"/>
                  <a:pt x="955" y="704"/>
                  <a:pt x="935" y="723"/>
                </a:cubicBezTo>
                <a:cubicBezTo>
                  <a:pt x="916" y="743"/>
                  <a:pt x="894" y="761"/>
                  <a:pt x="871" y="776"/>
                </a:cubicBezTo>
                <a:cubicBezTo>
                  <a:pt x="848" y="792"/>
                  <a:pt x="824" y="805"/>
                  <a:pt x="798" y="815"/>
                </a:cubicBezTo>
                <a:cubicBezTo>
                  <a:pt x="772" y="826"/>
                  <a:pt x="746" y="834"/>
                  <a:pt x="719" y="839"/>
                </a:cubicBezTo>
                <a:cubicBezTo>
                  <a:pt x="691" y="845"/>
                  <a:pt x="664" y="847"/>
                  <a:pt x="636" y="847"/>
                </a:cubicBezTo>
                <a:lnTo>
                  <a:pt x="423" y="847"/>
                </a:lnTo>
                <a:cubicBezTo>
                  <a:pt x="396" y="847"/>
                  <a:pt x="368" y="845"/>
                  <a:pt x="341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4" y="704"/>
                  <a:pt x="87" y="682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135252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87624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3" name=""/>
          <p:cNvSpPr/>
          <p:nvPr/>
        </p:nvSpPr>
        <p:spPr>
          <a:xfrm>
            <a:off x="771480" y="1590480"/>
            <a:ext cx="1971720" cy="352800"/>
          </a:xfrm>
          <a:custGeom>
            <a:avLst/>
            <a:gdLst/>
            <a:ahLst/>
            <a:rect l="0" t="0" r="r" b="b"/>
            <a:pathLst>
              <a:path w="5477" h="980">
                <a:moveTo>
                  <a:pt x="0" y="0"/>
                </a:moveTo>
                <a:lnTo>
                  <a:pt x="5477" y="0"/>
                </a:lnTo>
                <a:lnTo>
                  <a:pt x="547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2742840" y="1590480"/>
            <a:ext cx="4362840" cy="352800"/>
          </a:xfrm>
          <a:custGeom>
            <a:avLst/>
            <a:gdLst/>
            <a:ahLst/>
            <a:rect l="0" t="0" r="r" b="b"/>
            <a:pathLst>
              <a:path w="12119" h="980">
                <a:moveTo>
                  <a:pt x="0" y="0"/>
                </a:moveTo>
                <a:lnTo>
                  <a:pt x="12119" y="0"/>
                </a:lnTo>
                <a:lnTo>
                  <a:pt x="1211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7105320" y="1590480"/>
            <a:ext cx="4324680" cy="352800"/>
          </a:xfrm>
          <a:custGeom>
            <a:avLst/>
            <a:gdLst/>
            <a:ahLst/>
            <a:rect l="0" t="0" r="r" b="b"/>
            <a:pathLst>
              <a:path w="12013" h="980">
                <a:moveTo>
                  <a:pt x="0" y="0"/>
                </a:moveTo>
                <a:lnTo>
                  <a:pt x="12013" y="0"/>
                </a:lnTo>
                <a:lnTo>
                  <a:pt x="1201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771480" y="1942920"/>
            <a:ext cx="1971720" cy="581400"/>
          </a:xfrm>
          <a:custGeom>
            <a:avLst/>
            <a:gdLst/>
            <a:ahLst/>
            <a:rect l="0" t="0" r="r" b="b"/>
            <a:pathLst>
              <a:path w="5477" h="1615">
                <a:moveTo>
                  <a:pt x="0" y="0"/>
                </a:moveTo>
                <a:lnTo>
                  <a:pt x="5477" y="0"/>
                </a:lnTo>
                <a:lnTo>
                  <a:pt x="547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2742840" y="1942920"/>
            <a:ext cx="4362840" cy="581400"/>
          </a:xfrm>
          <a:custGeom>
            <a:avLst/>
            <a:gdLst/>
            <a:ahLst/>
            <a:rect l="0" t="0" r="r" b="b"/>
            <a:pathLst>
              <a:path w="12119" h="1615">
                <a:moveTo>
                  <a:pt x="0" y="0"/>
                </a:moveTo>
                <a:lnTo>
                  <a:pt x="12119" y="0"/>
                </a:lnTo>
                <a:lnTo>
                  <a:pt x="12119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7105320" y="1942920"/>
            <a:ext cx="4324680" cy="581400"/>
          </a:xfrm>
          <a:custGeom>
            <a:avLst/>
            <a:gdLst/>
            <a:ahLst/>
            <a:rect l="0" t="0" r="r" b="b"/>
            <a:pathLst>
              <a:path w="12013" h="1615">
                <a:moveTo>
                  <a:pt x="0" y="0"/>
                </a:moveTo>
                <a:lnTo>
                  <a:pt x="12013" y="0"/>
                </a:lnTo>
                <a:lnTo>
                  <a:pt x="12013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771480" y="2523960"/>
            <a:ext cx="1971720" cy="810000"/>
          </a:xfrm>
          <a:custGeom>
            <a:avLst/>
            <a:gdLst/>
            <a:ahLst/>
            <a:rect l="0" t="0" r="r" b="b"/>
            <a:pathLst>
              <a:path w="5477" h="2250">
                <a:moveTo>
                  <a:pt x="0" y="0"/>
                </a:moveTo>
                <a:lnTo>
                  <a:pt x="5477" y="0"/>
                </a:lnTo>
                <a:lnTo>
                  <a:pt x="547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2742840" y="2523960"/>
            <a:ext cx="4362840" cy="810000"/>
          </a:xfrm>
          <a:custGeom>
            <a:avLst/>
            <a:gdLst/>
            <a:ahLst/>
            <a:rect l="0" t="0" r="r" b="b"/>
            <a:pathLst>
              <a:path w="12119" h="2250">
                <a:moveTo>
                  <a:pt x="0" y="0"/>
                </a:moveTo>
                <a:lnTo>
                  <a:pt x="12119" y="0"/>
                </a:lnTo>
                <a:lnTo>
                  <a:pt x="12119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7105320" y="2523960"/>
            <a:ext cx="4324680" cy="810000"/>
          </a:xfrm>
          <a:custGeom>
            <a:avLst/>
            <a:gdLst/>
            <a:ahLst/>
            <a:rect l="0" t="0" r="r" b="b"/>
            <a:pathLst>
              <a:path w="12013" h="2250">
                <a:moveTo>
                  <a:pt x="0" y="0"/>
                </a:moveTo>
                <a:lnTo>
                  <a:pt x="12013" y="0"/>
                </a:lnTo>
                <a:lnTo>
                  <a:pt x="12013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771480" y="3333600"/>
            <a:ext cx="1971720" cy="810000"/>
          </a:xfrm>
          <a:custGeom>
            <a:avLst/>
            <a:gdLst/>
            <a:ahLst/>
            <a:rect l="0" t="0" r="r" b="b"/>
            <a:pathLst>
              <a:path w="5477" h="2250">
                <a:moveTo>
                  <a:pt x="0" y="0"/>
                </a:moveTo>
                <a:lnTo>
                  <a:pt x="5477" y="0"/>
                </a:lnTo>
                <a:lnTo>
                  <a:pt x="547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2742840" y="3333600"/>
            <a:ext cx="4362840" cy="810000"/>
          </a:xfrm>
          <a:custGeom>
            <a:avLst/>
            <a:gdLst/>
            <a:ahLst/>
            <a:rect l="0" t="0" r="r" b="b"/>
            <a:pathLst>
              <a:path w="12119" h="2250">
                <a:moveTo>
                  <a:pt x="0" y="0"/>
                </a:moveTo>
                <a:lnTo>
                  <a:pt x="12119" y="0"/>
                </a:lnTo>
                <a:lnTo>
                  <a:pt x="12119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7105320" y="3333600"/>
            <a:ext cx="4324680" cy="810000"/>
          </a:xfrm>
          <a:custGeom>
            <a:avLst/>
            <a:gdLst/>
            <a:ahLst/>
            <a:rect l="0" t="0" r="r" b="b"/>
            <a:pathLst>
              <a:path w="12013" h="2250">
                <a:moveTo>
                  <a:pt x="0" y="0"/>
                </a:moveTo>
                <a:lnTo>
                  <a:pt x="12013" y="0"/>
                </a:lnTo>
                <a:lnTo>
                  <a:pt x="12013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771480" y="4143240"/>
            <a:ext cx="1971720" cy="810000"/>
          </a:xfrm>
          <a:custGeom>
            <a:avLst/>
            <a:gdLst/>
            <a:ahLst/>
            <a:rect l="0" t="0" r="r" b="b"/>
            <a:pathLst>
              <a:path w="5477" h="2250">
                <a:moveTo>
                  <a:pt x="0" y="0"/>
                </a:moveTo>
                <a:lnTo>
                  <a:pt x="5477" y="0"/>
                </a:lnTo>
                <a:lnTo>
                  <a:pt x="547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2742840" y="4143240"/>
            <a:ext cx="4362840" cy="810000"/>
          </a:xfrm>
          <a:custGeom>
            <a:avLst/>
            <a:gdLst/>
            <a:ahLst/>
            <a:rect l="0" t="0" r="r" b="b"/>
            <a:pathLst>
              <a:path w="12119" h="2250">
                <a:moveTo>
                  <a:pt x="0" y="0"/>
                </a:moveTo>
                <a:lnTo>
                  <a:pt x="12119" y="0"/>
                </a:lnTo>
                <a:lnTo>
                  <a:pt x="12119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7105320" y="4143240"/>
            <a:ext cx="4324680" cy="810000"/>
          </a:xfrm>
          <a:custGeom>
            <a:avLst/>
            <a:gdLst/>
            <a:ahLst/>
            <a:rect l="0" t="0" r="r" b="b"/>
            <a:pathLst>
              <a:path w="12013" h="2250">
                <a:moveTo>
                  <a:pt x="0" y="0"/>
                </a:moveTo>
                <a:lnTo>
                  <a:pt x="12013" y="0"/>
                </a:lnTo>
                <a:lnTo>
                  <a:pt x="12013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761760" y="158112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761760" y="158112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2733480" y="158112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2742840" y="158112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7095960" y="158112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7105320" y="1581120"/>
            <a:ext cx="4324680" cy="9720"/>
          </a:xfrm>
          <a:custGeom>
            <a:avLst/>
            <a:gdLst/>
            <a:ahLst/>
            <a:rect l="0" t="0" r="r" b="b"/>
            <a:pathLst>
              <a:path w="12013" h="27">
                <a:moveTo>
                  <a:pt x="0" y="0"/>
                </a:moveTo>
                <a:lnTo>
                  <a:pt x="12013" y="0"/>
                </a:lnTo>
                <a:lnTo>
                  <a:pt x="12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11420280" y="158112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761760" y="193356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2742840" y="193356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7105320" y="1933560"/>
            <a:ext cx="4324680" cy="9720"/>
          </a:xfrm>
          <a:custGeom>
            <a:avLst/>
            <a:gdLst/>
            <a:ahLst/>
            <a:rect l="0" t="0" r="r" b="b"/>
            <a:pathLst>
              <a:path w="12013" h="27">
                <a:moveTo>
                  <a:pt x="0" y="0"/>
                </a:moveTo>
                <a:lnTo>
                  <a:pt x="12013" y="0"/>
                </a:lnTo>
                <a:lnTo>
                  <a:pt x="12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761760" y="194292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2733480" y="194292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7095960" y="194292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11420280" y="194292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761760" y="252396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761760" y="251424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2733480" y="252396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2742840" y="251424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7095960" y="252396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7105320" y="2514240"/>
            <a:ext cx="4324680" cy="10080"/>
          </a:xfrm>
          <a:custGeom>
            <a:avLst/>
            <a:gdLst/>
            <a:ahLst/>
            <a:rect l="0" t="0" r="r" b="b"/>
            <a:pathLst>
              <a:path w="12013" h="28">
                <a:moveTo>
                  <a:pt x="0" y="0"/>
                </a:moveTo>
                <a:lnTo>
                  <a:pt x="12013" y="0"/>
                </a:lnTo>
                <a:lnTo>
                  <a:pt x="12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11420280" y="252396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761760" y="333360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761760" y="332388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2733480" y="33336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742840" y="332388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7095960" y="33336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7105320" y="3323880"/>
            <a:ext cx="4324680" cy="10080"/>
          </a:xfrm>
          <a:custGeom>
            <a:avLst/>
            <a:gdLst/>
            <a:ahLst/>
            <a:rect l="0" t="0" r="r" b="b"/>
            <a:pathLst>
              <a:path w="12013" h="28">
                <a:moveTo>
                  <a:pt x="0" y="0"/>
                </a:moveTo>
                <a:lnTo>
                  <a:pt x="12013" y="0"/>
                </a:lnTo>
                <a:lnTo>
                  <a:pt x="12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11420280" y="33336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761760" y="41432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761760" y="413352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2733480" y="414324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2742840" y="413352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7095960" y="414324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7105320" y="4133520"/>
            <a:ext cx="4324680" cy="10080"/>
          </a:xfrm>
          <a:custGeom>
            <a:avLst/>
            <a:gdLst/>
            <a:ahLst/>
            <a:rect l="0" t="0" r="r" b="b"/>
            <a:pathLst>
              <a:path w="12013" h="28">
                <a:moveTo>
                  <a:pt x="0" y="0"/>
                </a:moveTo>
                <a:lnTo>
                  <a:pt x="12013" y="0"/>
                </a:lnTo>
                <a:lnTo>
                  <a:pt x="12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11420280" y="414324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761760" y="494316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2742840" y="494316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7105320" y="4943160"/>
            <a:ext cx="4324680" cy="10080"/>
          </a:xfrm>
          <a:custGeom>
            <a:avLst/>
            <a:gdLst/>
            <a:ahLst/>
            <a:rect l="0" t="0" r="r" b="b"/>
            <a:pathLst>
              <a:path w="12013" h="28">
                <a:moveTo>
                  <a:pt x="0" y="0"/>
                </a:moveTo>
                <a:lnTo>
                  <a:pt x="12013" y="0"/>
                </a:lnTo>
                <a:lnTo>
                  <a:pt x="12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1019880" y="1671840"/>
            <a:ext cx="1469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Company / agency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4350960" y="1671840"/>
            <a:ext cx="1145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extracted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8591040" y="1671840"/>
            <a:ext cx="1348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Sold to / used by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905040" y="2024280"/>
            <a:ext cx="1514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Met Police and other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905040" y="2252880"/>
            <a:ext cx="706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UK forces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2880720" y="2138760"/>
            <a:ext cx="2222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Personal and ﬁnancial records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7242840" y="2024280"/>
            <a:ext cx="3639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Purchased directly from commercial data brokers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7242840" y="2252880"/>
            <a:ext cx="2042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(Experian, Equifax, Acxiom)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905040" y="2605320"/>
            <a:ext cx="912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Home Oﬃce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905040" y="2833920"/>
            <a:ext cx="903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Immigration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905040" y="3062520"/>
            <a:ext cx="931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Enforcement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2880720" y="2719800"/>
            <a:ext cx="4075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Wi-Fi traﬃc and location data via contracted tools (e.g.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2880720" y="2948400"/>
            <a:ext cx="1053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"MacGrabber")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7242840" y="2833920"/>
            <a:ext cx="2500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Used to locate and track migrants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905040" y="3643560"/>
            <a:ext cx="904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Clearview AI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2880720" y="3414960"/>
            <a:ext cx="4017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Facial recognition built from social media/web images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2880720" y="3643560"/>
            <a:ext cx="3549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without permission; oﬀered free trials to UK law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2880720" y="3872160"/>
            <a:ext cx="933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enforcement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7242840" y="3529440"/>
            <a:ext cx="3966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Fined £7.5m by the ICO (2022); overturned on appeal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7242840" y="3758040"/>
            <a:ext cx="3824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(2023); reinstated by the Upper Tribunal (Oct 2025)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905040" y="4339080"/>
            <a:ext cx="1658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Cambridge Analytica 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905040" y="4567680"/>
            <a:ext cx="974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SCL Elections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2880720" y="4339080"/>
            <a:ext cx="3921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Psychological proﬁles from stolen Facebook data, via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2880720" y="4567680"/>
            <a:ext cx="2630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London-based parent SCL Elections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7242840" y="4224600"/>
            <a:ext cx="3759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Sold to the 2016 Trump campaign; Facebook ﬁned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7242840" y="4453200"/>
            <a:ext cx="3383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£500,000 by the ICO; SCL Elections criminally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7242840" y="4681800"/>
            <a:ext cx="1550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prosecuted in the UK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766440" y="5072040"/>
            <a:ext cx="10658880" cy="1276560"/>
          </a:xfrm>
          <a:custGeom>
            <a:avLst/>
            <a:gdLst/>
            <a:ahLst/>
            <a:rect l="0" t="0" r="r" b="b"/>
            <a:pathLst>
              <a:path w="29608" h="3546">
                <a:moveTo>
                  <a:pt x="0" y="34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0"/>
                </a:lnTo>
                <a:cubicBezTo>
                  <a:pt x="29608" y="3410"/>
                  <a:pt x="29607" y="3419"/>
                  <a:pt x="29605" y="3429"/>
                </a:cubicBezTo>
                <a:cubicBezTo>
                  <a:pt x="29604" y="3438"/>
                  <a:pt x="29601" y="3447"/>
                  <a:pt x="29597" y="3456"/>
                </a:cubicBezTo>
                <a:cubicBezTo>
                  <a:pt x="29594" y="3465"/>
                  <a:pt x="29589" y="3473"/>
                  <a:pt x="29584" y="3481"/>
                </a:cubicBezTo>
                <a:cubicBezTo>
                  <a:pt x="29578" y="3489"/>
                  <a:pt x="29572" y="3497"/>
                  <a:pt x="29566" y="3503"/>
                </a:cubicBezTo>
                <a:cubicBezTo>
                  <a:pt x="29559" y="3510"/>
                  <a:pt x="29552" y="3516"/>
                  <a:pt x="29544" y="3521"/>
                </a:cubicBezTo>
                <a:cubicBezTo>
                  <a:pt x="29536" y="3527"/>
                  <a:pt x="29527" y="3531"/>
                  <a:pt x="29518" y="3535"/>
                </a:cubicBezTo>
                <a:cubicBezTo>
                  <a:pt x="29510" y="3539"/>
                  <a:pt x="29501" y="3541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1"/>
                  <a:pt x="99" y="3539"/>
                  <a:pt x="90" y="3535"/>
                </a:cubicBezTo>
                <a:cubicBezTo>
                  <a:pt x="81" y="3531"/>
                  <a:pt x="73" y="3527"/>
                  <a:pt x="65" y="3521"/>
                </a:cubicBezTo>
                <a:cubicBezTo>
                  <a:pt x="57" y="3516"/>
                  <a:pt x="50" y="3510"/>
                  <a:pt x="43" y="3503"/>
                </a:cubicBezTo>
                <a:cubicBezTo>
                  <a:pt x="36" y="3497"/>
                  <a:pt x="30" y="3489"/>
                  <a:pt x="25" y="3481"/>
                </a:cubicBezTo>
                <a:cubicBezTo>
                  <a:pt x="20" y="3473"/>
                  <a:pt x="15" y="3465"/>
                  <a:pt x="11" y="3456"/>
                </a:cubicBezTo>
                <a:cubicBezTo>
                  <a:pt x="8" y="3447"/>
                  <a:pt x="5" y="3438"/>
                  <a:pt x="3" y="3429"/>
                </a:cubicBezTo>
                <a:cubicBezTo>
                  <a:pt x="1" y="3419"/>
                  <a:pt x="0" y="3410"/>
                  <a:pt x="0" y="340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766440" y="5072040"/>
            <a:ext cx="10658880" cy="1276560"/>
          </a:xfrm>
          <a:custGeom>
            <a:avLst/>
            <a:gdLst/>
            <a:ahLst/>
            <a:rect l="0" t="0" r="r" b="b"/>
            <a:pathLst>
              <a:path fill="none" w="29608" h="3546">
                <a:moveTo>
                  <a:pt x="0" y="34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0"/>
                </a:lnTo>
                <a:cubicBezTo>
                  <a:pt x="29608" y="3410"/>
                  <a:pt x="29607" y="3419"/>
                  <a:pt x="29605" y="3429"/>
                </a:cubicBezTo>
                <a:cubicBezTo>
                  <a:pt x="29604" y="3438"/>
                  <a:pt x="29601" y="3447"/>
                  <a:pt x="29597" y="3456"/>
                </a:cubicBezTo>
                <a:cubicBezTo>
                  <a:pt x="29594" y="3465"/>
                  <a:pt x="29589" y="3473"/>
                  <a:pt x="29584" y="3481"/>
                </a:cubicBezTo>
                <a:cubicBezTo>
                  <a:pt x="29578" y="3489"/>
                  <a:pt x="29572" y="3497"/>
                  <a:pt x="29566" y="3503"/>
                </a:cubicBezTo>
                <a:cubicBezTo>
                  <a:pt x="29559" y="3510"/>
                  <a:pt x="29552" y="3516"/>
                  <a:pt x="29544" y="3521"/>
                </a:cubicBezTo>
                <a:cubicBezTo>
                  <a:pt x="29536" y="3527"/>
                  <a:pt x="29527" y="3531"/>
                  <a:pt x="29518" y="3535"/>
                </a:cubicBezTo>
                <a:cubicBezTo>
                  <a:pt x="29510" y="3539"/>
                  <a:pt x="29501" y="3541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1"/>
                  <a:pt x="99" y="3539"/>
                  <a:pt x="90" y="3535"/>
                </a:cubicBezTo>
                <a:cubicBezTo>
                  <a:pt x="81" y="3531"/>
                  <a:pt x="73" y="3527"/>
                  <a:pt x="65" y="3521"/>
                </a:cubicBezTo>
                <a:cubicBezTo>
                  <a:pt x="57" y="3516"/>
                  <a:pt x="50" y="3510"/>
                  <a:pt x="43" y="3503"/>
                </a:cubicBezTo>
                <a:cubicBezTo>
                  <a:pt x="36" y="3497"/>
                  <a:pt x="30" y="3489"/>
                  <a:pt x="25" y="3481"/>
                </a:cubicBezTo>
                <a:cubicBezTo>
                  <a:pt x="20" y="3473"/>
                  <a:pt x="15" y="3465"/>
                  <a:pt x="11" y="3456"/>
                </a:cubicBezTo>
                <a:cubicBezTo>
                  <a:pt x="8" y="3447"/>
                  <a:pt x="5" y="3438"/>
                  <a:pt x="3" y="3429"/>
                </a:cubicBezTo>
                <a:cubicBezTo>
                  <a:pt x="1" y="3419"/>
                  <a:pt x="0" y="3410"/>
                  <a:pt x="0" y="340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762120" y="372600"/>
            <a:ext cx="75531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Case Studies in the Wild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923760" y="5681160"/>
            <a:ext cx="10280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Companies proﬁt from this system, then use those proﬁts to lobby the same politicians who could regulate them 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942840" y="52862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8"/>
                  <a:pt x="485" y="412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7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1037880" y="534348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923760" y="5957280"/>
            <a:ext cx="2534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keeping the system in place.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1203120" y="5274720"/>
            <a:ext cx="217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The incentive loop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9" name=""/>
          <p:cNvSpPr txBox="1"/>
          <p:nvPr/>
        </p:nvSpPr>
        <p:spPr>
          <a:xfrm>
            <a:off x="762120" y="4861440"/>
            <a:ext cx="1044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Essex Police declined to conﬁrm whether oﬃcers had even met Corsight representatives. The Home Oﬃce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762120" y="5166000"/>
            <a:ext cx="419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has not answered due diligence questions.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762120" y="-8280"/>
            <a:ext cx="93049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Where the Technology 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766440" y="2271600"/>
            <a:ext cx="10658880" cy="1543320"/>
          </a:xfrm>
          <a:custGeom>
            <a:avLst/>
            <a:gdLst/>
            <a:ahLst/>
            <a:rect l="0" t="0" r="r" b="b"/>
            <a:pathLst>
              <a:path w="29608" h="4287">
                <a:moveTo>
                  <a:pt x="0" y="4142"/>
                </a:moveTo>
                <a:lnTo>
                  <a:pt x="0" y="146"/>
                </a:ln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4142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8"/>
                  <a:pt x="29566" y="4244"/>
                </a:cubicBezTo>
                <a:cubicBezTo>
                  <a:pt x="29559" y="4251"/>
                  <a:pt x="29552" y="4257"/>
                  <a:pt x="29544" y="4263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80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80"/>
                  <a:pt x="90" y="4276"/>
                </a:cubicBezTo>
                <a:cubicBezTo>
                  <a:pt x="81" y="4272"/>
                  <a:pt x="73" y="4268"/>
                  <a:pt x="65" y="4263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8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766440" y="2271600"/>
            <a:ext cx="10658880" cy="1543320"/>
          </a:xfrm>
          <a:custGeom>
            <a:avLst/>
            <a:gdLst/>
            <a:ahLst/>
            <a:rect l="0" t="0" r="r" b="b"/>
            <a:pathLst>
              <a:path fill="none" w="29608" h="4287">
                <a:moveTo>
                  <a:pt x="0" y="4142"/>
                </a:moveTo>
                <a:lnTo>
                  <a:pt x="0" y="146"/>
                </a:ln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4142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8"/>
                  <a:pt x="29566" y="4244"/>
                </a:cubicBezTo>
                <a:cubicBezTo>
                  <a:pt x="29559" y="4251"/>
                  <a:pt x="29552" y="4257"/>
                  <a:pt x="29544" y="4263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80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80"/>
                  <a:pt x="90" y="4276"/>
                </a:cubicBezTo>
                <a:cubicBezTo>
                  <a:pt x="81" y="4272"/>
                  <a:pt x="73" y="4268"/>
                  <a:pt x="65" y="4263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8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1"/>
                  <a:pt x="0" y="4151"/>
                  <a:pt x="0" y="4142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762120" y="753480"/>
            <a:ext cx="1608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From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923760" y="2880720"/>
            <a:ext cx="10121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April 2025: a £20m, four-year facial recognition framework awarded to three suppliers. One, Digital Barriers (UK),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923760" y="3156840"/>
            <a:ext cx="9407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subcontracts to Israeli ﬁrm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Corsight AI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reported by Al Jazeera and AOAV to be linked to Israeli military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952200" y="248580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9"/>
                </a:lnTo>
                <a:lnTo>
                  <a:pt x="238" y="319"/>
                </a:lnTo>
                <a:lnTo>
                  <a:pt x="212" y="530"/>
                </a:lnTo>
                <a:lnTo>
                  <a:pt x="478" y="212"/>
                </a:lnTo>
                <a:lnTo>
                  <a:pt x="238" y="212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923760" y="3423600"/>
            <a:ext cx="3517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surveillance in Gaza and the West Bank.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766440" y="3938400"/>
            <a:ext cx="10658880" cy="771840"/>
          </a:xfrm>
          <a:custGeom>
            <a:avLst/>
            <a:gdLst/>
            <a:ahLst/>
            <a:rect l="0" t="0" r="r" b="b"/>
            <a:pathLst>
              <a:path w="29608" h="2144">
                <a:moveTo>
                  <a:pt x="0" y="1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99"/>
                </a:lnTo>
                <a:cubicBezTo>
                  <a:pt x="29608" y="2008"/>
                  <a:pt x="29607" y="2018"/>
                  <a:pt x="29605" y="2027"/>
                </a:cubicBezTo>
                <a:cubicBezTo>
                  <a:pt x="29604" y="2036"/>
                  <a:pt x="29601" y="2045"/>
                  <a:pt x="29597" y="2054"/>
                </a:cubicBezTo>
                <a:cubicBezTo>
                  <a:pt x="29594" y="2063"/>
                  <a:pt x="29589" y="2072"/>
                  <a:pt x="29584" y="2079"/>
                </a:cubicBezTo>
                <a:cubicBezTo>
                  <a:pt x="29578" y="2087"/>
                  <a:pt x="29572" y="2095"/>
                  <a:pt x="29566" y="2102"/>
                </a:cubicBezTo>
                <a:cubicBezTo>
                  <a:pt x="29559" y="2108"/>
                  <a:pt x="29552" y="2114"/>
                  <a:pt x="29544" y="2120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7"/>
                  <a:pt x="29501" y="2139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39"/>
                  <a:pt x="99" y="2137"/>
                  <a:pt x="90" y="2133"/>
                </a:cubicBezTo>
                <a:cubicBezTo>
                  <a:pt x="81" y="2129"/>
                  <a:pt x="73" y="2125"/>
                  <a:pt x="65" y="2120"/>
                </a:cubicBezTo>
                <a:cubicBezTo>
                  <a:pt x="57" y="2114"/>
                  <a:pt x="50" y="2108"/>
                  <a:pt x="43" y="2102"/>
                </a:cubicBezTo>
                <a:cubicBezTo>
                  <a:pt x="36" y="2095"/>
                  <a:pt x="30" y="2087"/>
                  <a:pt x="25" y="2079"/>
                </a:cubicBezTo>
                <a:cubicBezTo>
                  <a:pt x="20" y="2072"/>
                  <a:pt x="15" y="2063"/>
                  <a:pt x="11" y="2054"/>
                </a:cubicBezTo>
                <a:cubicBezTo>
                  <a:pt x="8" y="2045"/>
                  <a:pt x="5" y="2036"/>
                  <a:pt x="3" y="2027"/>
                </a:cubicBezTo>
                <a:cubicBezTo>
                  <a:pt x="1" y="2018"/>
                  <a:pt x="0" y="2008"/>
                  <a:pt x="0" y="1999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766440" y="3938400"/>
            <a:ext cx="10658880" cy="771840"/>
          </a:xfrm>
          <a:custGeom>
            <a:avLst/>
            <a:gdLst/>
            <a:ahLst/>
            <a:rect l="0" t="0" r="r" b="b"/>
            <a:pathLst>
              <a:path fill="none" w="29608" h="2144">
                <a:moveTo>
                  <a:pt x="0" y="1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99"/>
                </a:lnTo>
                <a:cubicBezTo>
                  <a:pt x="29608" y="2008"/>
                  <a:pt x="29607" y="2018"/>
                  <a:pt x="29605" y="2027"/>
                </a:cubicBezTo>
                <a:cubicBezTo>
                  <a:pt x="29604" y="2036"/>
                  <a:pt x="29601" y="2045"/>
                  <a:pt x="29597" y="2054"/>
                </a:cubicBezTo>
                <a:cubicBezTo>
                  <a:pt x="29594" y="2063"/>
                  <a:pt x="29589" y="2072"/>
                  <a:pt x="29584" y="2079"/>
                </a:cubicBezTo>
                <a:cubicBezTo>
                  <a:pt x="29578" y="2087"/>
                  <a:pt x="29572" y="2095"/>
                  <a:pt x="29566" y="2102"/>
                </a:cubicBezTo>
                <a:cubicBezTo>
                  <a:pt x="29559" y="2108"/>
                  <a:pt x="29552" y="2114"/>
                  <a:pt x="29544" y="2120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7"/>
                  <a:pt x="29501" y="2139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39"/>
                  <a:pt x="99" y="2137"/>
                  <a:pt x="90" y="2133"/>
                </a:cubicBezTo>
                <a:cubicBezTo>
                  <a:pt x="81" y="2129"/>
                  <a:pt x="73" y="2125"/>
                  <a:pt x="65" y="2120"/>
                </a:cubicBezTo>
                <a:cubicBezTo>
                  <a:pt x="57" y="2114"/>
                  <a:pt x="50" y="2108"/>
                  <a:pt x="43" y="2102"/>
                </a:cubicBezTo>
                <a:cubicBezTo>
                  <a:pt x="36" y="2095"/>
                  <a:pt x="30" y="2087"/>
                  <a:pt x="25" y="2079"/>
                </a:cubicBezTo>
                <a:cubicBezTo>
                  <a:pt x="20" y="2072"/>
                  <a:pt x="15" y="2063"/>
                  <a:pt x="11" y="2054"/>
                </a:cubicBezTo>
                <a:cubicBezTo>
                  <a:pt x="8" y="2045"/>
                  <a:pt x="5" y="2036"/>
                  <a:pt x="3" y="2027"/>
                </a:cubicBezTo>
                <a:cubicBezTo>
                  <a:pt x="1" y="2018"/>
                  <a:pt x="0" y="2008"/>
                  <a:pt x="0" y="1999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1203120" y="2474640"/>
            <a:ext cx="2013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The supply chain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923760" y="4042800"/>
            <a:ext cx="10138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"Taxpayer money should not be spent contracting companies that are facilitating human rights abuses anywhere."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923760" y="4318920"/>
            <a:ext cx="5482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Anna Bacciarelli, senior AI researcher, Human Rights Watch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762120" y="2624040"/>
            <a:ext cx="548208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Zooming Out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762120" y="3788640"/>
            <a:ext cx="69289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Three Programmes, One Machine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8" name=""/>
          <p:cNvSpPr/>
          <p:nvPr/>
        </p:nvSpPr>
        <p:spPr>
          <a:xfrm>
            <a:off x="771480" y="2152440"/>
            <a:ext cx="2676600" cy="352800"/>
          </a:xfrm>
          <a:custGeom>
            <a:avLst/>
            <a:gdLst/>
            <a:ahLst/>
            <a:rect l="0" t="0" r="r" b="b"/>
            <a:pathLst>
              <a:path w="7435" h="980">
                <a:moveTo>
                  <a:pt x="0" y="0"/>
                </a:moveTo>
                <a:lnTo>
                  <a:pt x="7435" y="0"/>
                </a:lnTo>
                <a:lnTo>
                  <a:pt x="7435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3447720" y="2152440"/>
            <a:ext cx="2019960" cy="352800"/>
          </a:xfrm>
          <a:custGeom>
            <a:avLst/>
            <a:gdLst/>
            <a:ahLst/>
            <a:rect l="0" t="0" r="r" b="b"/>
            <a:pathLst>
              <a:path w="5611" h="980">
                <a:moveTo>
                  <a:pt x="0" y="0"/>
                </a:moveTo>
                <a:lnTo>
                  <a:pt x="5611" y="0"/>
                </a:lnTo>
                <a:lnTo>
                  <a:pt x="561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5467320" y="2152440"/>
            <a:ext cx="1895760" cy="352800"/>
          </a:xfrm>
          <a:custGeom>
            <a:avLst/>
            <a:gdLst/>
            <a:ahLst/>
            <a:rect l="0" t="0" r="r" b="b"/>
            <a:pathLst>
              <a:path w="5266" h="980">
                <a:moveTo>
                  <a:pt x="0" y="0"/>
                </a:moveTo>
                <a:lnTo>
                  <a:pt x="5266" y="0"/>
                </a:lnTo>
                <a:lnTo>
                  <a:pt x="5266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7362720" y="2152440"/>
            <a:ext cx="4067280" cy="352800"/>
          </a:xfrm>
          <a:custGeom>
            <a:avLst/>
            <a:gdLst/>
            <a:ahLst/>
            <a:rect l="0" t="0" r="r" b="b"/>
            <a:pathLst>
              <a:path w="11298" h="980">
                <a:moveTo>
                  <a:pt x="0" y="0"/>
                </a:moveTo>
                <a:lnTo>
                  <a:pt x="11298" y="0"/>
                </a:lnTo>
                <a:lnTo>
                  <a:pt x="1129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771480" y="2504880"/>
            <a:ext cx="2676600" cy="581400"/>
          </a:xfrm>
          <a:custGeom>
            <a:avLst/>
            <a:gdLst/>
            <a:ahLst/>
            <a:rect l="0" t="0" r="r" b="b"/>
            <a:pathLst>
              <a:path w="7435" h="1615">
                <a:moveTo>
                  <a:pt x="0" y="0"/>
                </a:moveTo>
                <a:lnTo>
                  <a:pt x="7435" y="0"/>
                </a:lnTo>
                <a:lnTo>
                  <a:pt x="7435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3447720" y="2504880"/>
            <a:ext cx="2019960" cy="581400"/>
          </a:xfrm>
          <a:custGeom>
            <a:avLst/>
            <a:gdLst/>
            <a:ahLst/>
            <a:rect l="0" t="0" r="r" b="b"/>
            <a:pathLst>
              <a:path w="5611" h="1615">
                <a:moveTo>
                  <a:pt x="0" y="0"/>
                </a:moveTo>
                <a:lnTo>
                  <a:pt x="5611" y="0"/>
                </a:lnTo>
                <a:lnTo>
                  <a:pt x="561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5467320" y="2504880"/>
            <a:ext cx="1895760" cy="581400"/>
          </a:xfrm>
          <a:custGeom>
            <a:avLst/>
            <a:gdLst/>
            <a:ahLst/>
            <a:rect l="0" t="0" r="r" b="b"/>
            <a:pathLst>
              <a:path w="5266" h="1615">
                <a:moveTo>
                  <a:pt x="0" y="0"/>
                </a:moveTo>
                <a:lnTo>
                  <a:pt x="5266" y="0"/>
                </a:lnTo>
                <a:lnTo>
                  <a:pt x="5266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7362720" y="2504880"/>
            <a:ext cx="4067280" cy="581400"/>
          </a:xfrm>
          <a:custGeom>
            <a:avLst/>
            <a:gdLst/>
            <a:ahLst/>
            <a:rect l="0" t="0" r="r" b="b"/>
            <a:pathLst>
              <a:path w="11298" h="1615">
                <a:moveTo>
                  <a:pt x="0" y="0"/>
                </a:moveTo>
                <a:lnTo>
                  <a:pt x="11298" y="0"/>
                </a:lnTo>
                <a:lnTo>
                  <a:pt x="1129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771480" y="3085920"/>
            <a:ext cx="2676600" cy="581400"/>
          </a:xfrm>
          <a:custGeom>
            <a:avLst/>
            <a:gdLst/>
            <a:ahLst/>
            <a:rect l="0" t="0" r="r" b="b"/>
            <a:pathLst>
              <a:path w="7435" h="1615">
                <a:moveTo>
                  <a:pt x="0" y="0"/>
                </a:moveTo>
                <a:lnTo>
                  <a:pt x="7435" y="0"/>
                </a:lnTo>
                <a:lnTo>
                  <a:pt x="7435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3447720" y="3085920"/>
            <a:ext cx="2019960" cy="581400"/>
          </a:xfrm>
          <a:custGeom>
            <a:avLst/>
            <a:gdLst/>
            <a:ahLst/>
            <a:rect l="0" t="0" r="r" b="b"/>
            <a:pathLst>
              <a:path w="5611" h="1615">
                <a:moveTo>
                  <a:pt x="0" y="0"/>
                </a:moveTo>
                <a:lnTo>
                  <a:pt x="5611" y="0"/>
                </a:lnTo>
                <a:lnTo>
                  <a:pt x="561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5467320" y="3085920"/>
            <a:ext cx="1895760" cy="581400"/>
          </a:xfrm>
          <a:custGeom>
            <a:avLst/>
            <a:gdLst/>
            <a:ahLst/>
            <a:rect l="0" t="0" r="r" b="b"/>
            <a:pathLst>
              <a:path w="5266" h="1615">
                <a:moveTo>
                  <a:pt x="0" y="0"/>
                </a:moveTo>
                <a:lnTo>
                  <a:pt x="5266" y="0"/>
                </a:lnTo>
                <a:lnTo>
                  <a:pt x="5266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7362720" y="3085920"/>
            <a:ext cx="4067280" cy="581400"/>
          </a:xfrm>
          <a:custGeom>
            <a:avLst/>
            <a:gdLst/>
            <a:ahLst/>
            <a:rect l="0" t="0" r="r" b="b"/>
            <a:pathLst>
              <a:path w="11298" h="1615">
                <a:moveTo>
                  <a:pt x="0" y="0"/>
                </a:moveTo>
                <a:lnTo>
                  <a:pt x="11298" y="0"/>
                </a:lnTo>
                <a:lnTo>
                  <a:pt x="1129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771480" y="3666960"/>
            <a:ext cx="2676600" cy="581400"/>
          </a:xfrm>
          <a:custGeom>
            <a:avLst/>
            <a:gdLst/>
            <a:ahLst/>
            <a:rect l="0" t="0" r="r" b="b"/>
            <a:pathLst>
              <a:path w="7435" h="1615">
                <a:moveTo>
                  <a:pt x="0" y="0"/>
                </a:moveTo>
                <a:lnTo>
                  <a:pt x="7435" y="0"/>
                </a:lnTo>
                <a:lnTo>
                  <a:pt x="7435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3447720" y="3666960"/>
            <a:ext cx="2019960" cy="581400"/>
          </a:xfrm>
          <a:custGeom>
            <a:avLst/>
            <a:gdLst/>
            <a:ahLst/>
            <a:rect l="0" t="0" r="r" b="b"/>
            <a:pathLst>
              <a:path w="5611" h="1615">
                <a:moveTo>
                  <a:pt x="0" y="0"/>
                </a:moveTo>
                <a:lnTo>
                  <a:pt x="5611" y="0"/>
                </a:lnTo>
                <a:lnTo>
                  <a:pt x="561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5467320" y="3666960"/>
            <a:ext cx="1895760" cy="581400"/>
          </a:xfrm>
          <a:custGeom>
            <a:avLst/>
            <a:gdLst/>
            <a:ahLst/>
            <a:rect l="0" t="0" r="r" b="b"/>
            <a:pathLst>
              <a:path w="5266" h="1615">
                <a:moveTo>
                  <a:pt x="0" y="0"/>
                </a:moveTo>
                <a:lnTo>
                  <a:pt x="5266" y="0"/>
                </a:lnTo>
                <a:lnTo>
                  <a:pt x="5266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7362720" y="3666960"/>
            <a:ext cx="4067280" cy="581400"/>
          </a:xfrm>
          <a:custGeom>
            <a:avLst/>
            <a:gdLst/>
            <a:ahLst/>
            <a:rect l="0" t="0" r="r" b="b"/>
            <a:pathLst>
              <a:path w="11298" h="1615">
                <a:moveTo>
                  <a:pt x="0" y="0"/>
                </a:moveTo>
                <a:lnTo>
                  <a:pt x="11298" y="0"/>
                </a:lnTo>
                <a:lnTo>
                  <a:pt x="1129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761760" y="2152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761760" y="2152440"/>
            <a:ext cx="2696040" cy="10080"/>
          </a:xfrm>
          <a:custGeom>
            <a:avLst/>
            <a:gdLst/>
            <a:ahLst/>
            <a:rect l="0" t="0" r="r" b="b"/>
            <a:pathLst>
              <a:path w="7489" h="28">
                <a:moveTo>
                  <a:pt x="0" y="0"/>
                </a:moveTo>
                <a:lnTo>
                  <a:pt x="7489" y="0"/>
                </a:lnTo>
                <a:lnTo>
                  <a:pt x="7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3447720" y="2152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3457440" y="2152440"/>
            <a:ext cx="2010240" cy="10080"/>
          </a:xfrm>
          <a:custGeom>
            <a:avLst/>
            <a:gdLst/>
            <a:ahLst/>
            <a:rect l="0" t="0" r="r" b="b"/>
            <a:pathLst>
              <a:path w="5584" h="28">
                <a:moveTo>
                  <a:pt x="0" y="0"/>
                </a:moveTo>
                <a:lnTo>
                  <a:pt x="5584" y="0"/>
                </a:lnTo>
                <a:lnTo>
                  <a:pt x="55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5457600" y="2152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5467320" y="215244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7353000" y="2152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7362720" y="2152440"/>
            <a:ext cx="4067280" cy="10080"/>
          </a:xfrm>
          <a:custGeom>
            <a:avLst/>
            <a:gdLst/>
            <a:ahLst/>
            <a:rect l="0" t="0" r="r" b="b"/>
            <a:pathLst>
              <a:path w="11298" h="28">
                <a:moveTo>
                  <a:pt x="0" y="0"/>
                </a:moveTo>
                <a:lnTo>
                  <a:pt x="11298" y="0"/>
                </a:lnTo>
                <a:lnTo>
                  <a:pt x="1129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11420280" y="2152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761760" y="250488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3457440" y="2504880"/>
            <a:ext cx="2010240" cy="9720"/>
          </a:xfrm>
          <a:custGeom>
            <a:avLst/>
            <a:gdLst/>
            <a:ahLst/>
            <a:rect l="0" t="0" r="r" b="b"/>
            <a:pathLst>
              <a:path w="5584" h="27">
                <a:moveTo>
                  <a:pt x="0" y="0"/>
                </a:moveTo>
                <a:lnTo>
                  <a:pt x="5584" y="0"/>
                </a:lnTo>
                <a:lnTo>
                  <a:pt x="5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5467320" y="250488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7362720" y="2504880"/>
            <a:ext cx="4067280" cy="9720"/>
          </a:xfrm>
          <a:custGeom>
            <a:avLst/>
            <a:gdLst/>
            <a:ahLst/>
            <a:rect l="0" t="0" r="r" b="b"/>
            <a:pathLst>
              <a:path w="11298" h="27">
                <a:moveTo>
                  <a:pt x="0" y="0"/>
                </a:moveTo>
                <a:lnTo>
                  <a:pt x="11298" y="0"/>
                </a:lnTo>
                <a:lnTo>
                  <a:pt x="112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761760" y="251424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3447720" y="251424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5457600" y="251424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7353000" y="251424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11420280" y="251424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761760" y="30952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761760" y="308592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3447720" y="30952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3457440" y="3085920"/>
            <a:ext cx="2010240" cy="9720"/>
          </a:xfrm>
          <a:custGeom>
            <a:avLst/>
            <a:gdLst/>
            <a:ahLst/>
            <a:rect l="0" t="0" r="r" b="b"/>
            <a:pathLst>
              <a:path w="5584" h="27">
                <a:moveTo>
                  <a:pt x="0" y="0"/>
                </a:moveTo>
                <a:lnTo>
                  <a:pt x="5584" y="0"/>
                </a:lnTo>
                <a:lnTo>
                  <a:pt x="5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5457600" y="30952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5467320" y="308592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7353000" y="30952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7362720" y="3085920"/>
            <a:ext cx="4067280" cy="9720"/>
          </a:xfrm>
          <a:custGeom>
            <a:avLst/>
            <a:gdLst/>
            <a:ahLst/>
            <a:rect l="0" t="0" r="r" b="b"/>
            <a:pathLst>
              <a:path w="11298" h="27">
                <a:moveTo>
                  <a:pt x="0" y="0"/>
                </a:moveTo>
                <a:lnTo>
                  <a:pt x="11298" y="0"/>
                </a:lnTo>
                <a:lnTo>
                  <a:pt x="112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11420280" y="309528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761760" y="367632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761760" y="366696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3447720" y="367632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3457440" y="3666960"/>
            <a:ext cx="2010240" cy="9720"/>
          </a:xfrm>
          <a:custGeom>
            <a:avLst/>
            <a:gdLst/>
            <a:ahLst/>
            <a:rect l="0" t="0" r="r" b="b"/>
            <a:pathLst>
              <a:path w="5584" h="27">
                <a:moveTo>
                  <a:pt x="0" y="0"/>
                </a:moveTo>
                <a:lnTo>
                  <a:pt x="5584" y="0"/>
                </a:lnTo>
                <a:lnTo>
                  <a:pt x="5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5457600" y="367632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5467320" y="366696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7353000" y="367632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7362720" y="3666960"/>
            <a:ext cx="4067280" cy="9720"/>
          </a:xfrm>
          <a:custGeom>
            <a:avLst/>
            <a:gdLst/>
            <a:ahLst/>
            <a:rect l="0" t="0" r="r" b="b"/>
            <a:pathLst>
              <a:path w="11298" h="27">
                <a:moveTo>
                  <a:pt x="0" y="0"/>
                </a:moveTo>
                <a:lnTo>
                  <a:pt x="11298" y="0"/>
                </a:lnTo>
                <a:lnTo>
                  <a:pt x="112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11420280" y="367632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761760" y="424800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3457440" y="4248000"/>
            <a:ext cx="2010240" cy="9720"/>
          </a:xfrm>
          <a:custGeom>
            <a:avLst/>
            <a:gdLst/>
            <a:ahLst/>
            <a:rect l="0" t="0" r="r" b="b"/>
            <a:pathLst>
              <a:path w="5584" h="27">
                <a:moveTo>
                  <a:pt x="0" y="0"/>
                </a:moveTo>
                <a:lnTo>
                  <a:pt x="5584" y="0"/>
                </a:lnTo>
                <a:lnTo>
                  <a:pt x="5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5467320" y="424800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7362720" y="4248000"/>
            <a:ext cx="4067280" cy="9720"/>
          </a:xfrm>
          <a:custGeom>
            <a:avLst/>
            <a:gdLst/>
            <a:ahLst/>
            <a:rect l="0" t="0" r="r" b="b"/>
            <a:pathLst>
              <a:path w="11298" h="27">
                <a:moveTo>
                  <a:pt x="0" y="0"/>
                </a:moveTo>
                <a:lnTo>
                  <a:pt x="11298" y="0"/>
                </a:lnTo>
                <a:lnTo>
                  <a:pt x="112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1657080" y="2243520"/>
            <a:ext cx="905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Programme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4200480" y="2243520"/>
            <a:ext cx="516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Owner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5821200" y="2243520"/>
            <a:ext cx="1185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Stated purpose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9150840" y="2243520"/>
            <a:ext cx="487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Status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905040" y="2710080"/>
            <a:ext cx="1618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Live facial recognition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3589920" y="2595960"/>
            <a:ext cx="1362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Home Oﬃce / Met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3589920" y="2824560"/>
            <a:ext cx="429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Police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5602680" y="2710080"/>
            <a:ext cx="1177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Crime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7500960" y="2710080"/>
            <a:ext cx="3231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 governing Act; expanding 10 → 50 vans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905040" y="3177000"/>
            <a:ext cx="1623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Online Safety Act (age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 txBox="1"/>
          <p:nvPr/>
        </p:nvSpPr>
        <p:spPr>
          <a:xfrm>
            <a:off x="905040" y="3405600"/>
            <a:ext cx="870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veriﬁcation)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 txBox="1"/>
          <p:nvPr/>
        </p:nvSpPr>
        <p:spPr>
          <a:xfrm>
            <a:off x="3589920" y="3291120"/>
            <a:ext cx="1001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DSIT / Ofcom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5602680" y="3177000"/>
            <a:ext cx="1194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Child protection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5602680" y="3405600"/>
            <a:ext cx="456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online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 txBox="1"/>
          <p:nvPr/>
        </p:nvSpPr>
        <p:spPr>
          <a:xfrm>
            <a:off x="7500960" y="3291120"/>
            <a:ext cx="1464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Live since July 2025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 txBox="1"/>
          <p:nvPr/>
        </p:nvSpPr>
        <p:spPr>
          <a:xfrm>
            <a:off x="905040" y="3872160"/>
            <a:ext cx="1549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Digital ID ("BritCard")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 txBox="1"/>
          <p:nvPr/>
        </p:nvSpPr>
        <p:spPr>
          <a:xfrm>
            <a:off x="3589920" y="3872160"/>
            <a:ext cx="1046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Cabinet Oﬃce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5602680" y="3758040"/>
            <a:ext cx="1077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Right-to-work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5602680" y="3986640"/>
            <a:ext cx="502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checks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7500960" y="3758040"/>
            <a:ext cx="3373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Compulsion dropped Jan 2026; infrastructure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7500960" y="3986640"/>
            <a:ext cx="608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retained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762120" y="-8280"/>
            <a:ext cx="91062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Three Programmes, Diﬀerent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766440" y="437652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1"/>
                  <a:pt x="29566" y="3477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3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766440" y="437652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1"/>
                  <a:pt x="29566" y="3477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3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762120" y="753480"/>
            <a:ext cx="40683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Departments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923760" y="4976280"/>
            <a:ext cx="10000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government's own digital ID consultation states: "police facial recognition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may include access to biometric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942480" y="4600440"/>
            <a:ext cx="191160" cy="171720"/>
          </a:xfrm>
          <a:custGeom>
            <a:avLst/>
            <a:gdLst/>
            <a:ahLst/>
            <a:rect l="0" t="0" r="r" b="b"/>
            <a:pathLst>
              <a:path fill="none" w="531" h="477">
                <a:moveTo>
                  <a:pt x="524" y="398"/>
                </a:moveTo>
                <a:lnTo>
                  <a:pt x="312" y="26"/>
                </a:lnTo>
                <a:cubicBezTo>
                  <a:pt x="308" y="18"/>
                  <a:pt x="301" y="11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1"/>
                  <a:pt x="224" y="18"/>
                  <a:pt x="219" y="26"/>
                </a:cubicBezTo>
                <a:lnTo>
                  <a:pt x="7" y="398"/>
                </a:lnTo>
                <a:cubicBezTo>
                  <a:pt x="3" y="406"/>
                  <a:pt x="0" y="415"/>
                  <a:pt x="0" y="424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59"/>
                  <a:pt x="19" y="466"/>
                  <a:pt x="27" y="470"/>
                </a:cubicBezTo>
                <a:cubicBezTo>
                  <a:pt x="35" y="475"/>
                  <a:pt x="44" y="477"/>
                  <a:pt x="54" y="477"/>
                </a:cubicBezTo>
                <a:lnTo>
                  <a:pt x="478" y="477"/>
                </a:lnTo>
                <a:cubicBezTo>
                  <a:pt x="483" y="477"/>
                  <a:pt x="487" y="477"/>
                  <a:pt x="492" y="475"/>
                </a:cubicBezTo>
                <a:cubicBezTo>
                  <a:pt x="496" y="474"/>
                  <a:pt x="501" y="472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8"/>
                  <a:pt x="522" y="455"/>
                  <a:pt x="524" y="451"/>
                </a:cubicBezTo>
                <a:cubicBezTo>
                  <a:pt x="526" y="447"/>
                  <a:pt x="528" y="442"/>
                  <a:pt x="529" y="438"/>
                </a:cubicBezTo>
                <a:cubicBezTo>
                  <a:pt x="530" y="433"/>
                  <a:pt x="531" y="429"/>
                  <a:pt x="531" y="424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59"/>
                </a:moveTo>
                <a:lnTo>
                  <a:pt x="265" y="264"/>
                </a:lnTo>
                <a:moveTo>
                  <a:pt x="265" y="371"/>
                </a:moveTo>
                <a:lnTo>
                  <a:pt x="266" y="371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923760" y="5252400"/>
            <a:ext cx="8925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held by government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." The same week, Minister Darren Jones told the public there was no link.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1203120" y="4579560"/>
            <a:ext cx="2852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Two brieﬁngs, one truth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1" name=""/>
          <p:cNvSpPr/>
          <p:nvPr/>
        </p:nvSpPr>
        <p:spPr>
          <a:xfrm>
            <a:off x="971280" y="3057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971280" y="34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1168200" y="2965680"/>
            <a:ext cx="360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Age veriﬁcation went live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July 2025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97128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1168200" y="3318120"/>
            <a:ext cx="430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UK VPN usage spiked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~1,400%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within days.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1168200" y="3680280"/>
            <a:ext cx="48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Ofcom issued a record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£1.35m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ﬁne on 8579 LLC.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971280" y="44766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 txBox="1"/>
          <p:nvPr/>
        </p:nvSpPr>
        <p:spPr>
          <a:xfrm>
            <a:off x="1168200" y="4032720"/>
            <a:ext cx="515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Apple pulled Advanced Data Protection from the UK.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1168200" y="4385160"/>
            <a:ext cx="9665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Signal has said it will leave the UK entirely rather than comply with encryption-breaking demands.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762120" y="372600"/>
            <a:ext cx="9392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Online Safety Act, in Numbers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0" name=""/>
          <p:cNvSpPr/>
          <p:nvPr/>
        </p:nvSpPr>
        <p:spPr>
          <a:xfrm>
            <a:off x="971280" y="28764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971280" y="32382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8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1168200" y="2784960"/>
            <a:ext cx="7345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Starmer announced mandatory right-to-work digital ID,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September 2025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971280" y="3590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1168200" y="3146760"/>
            <a:ext cx="7315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Petition against it: nearly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3 million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signatures — 4th largest in UK history.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971280" y="3943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1168200" y="3499200"/>
            <a:ext cx="840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January 2026: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partial U-turn — compulsion dropped, mandatory digital checks kept.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971280" y="4295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9" y="4"/>
                  <a:pt x="81" y="0"/>
                  <a:pt x="93" y="0"/>
                </a:cubicBezTo>
                <a:cubicBezTo>
                  <a:pt x="105" y="0"/>
                  <a:pt x="117" y="4"/>
                  <a:pt x="128" y="8"/>
                </a:cubicBezTo>
                <a:cubicBezTo>
                  <a:pt x="140" y="13"/>
                  <a:pt x="150" y="20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1168200" y="3851640"/>
            <a:ext cx="660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gov.uk One Login: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16.6m+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accounts across 220+ services already.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971280" y="4657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1168200" y="4204080"/>
            <a:ext cx="592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gov.uk Wallet driving licence pilot launched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February 2026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1168200" y="4565880"/>
            <a:ext cx="3350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OBR three-year cost: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£1.8 billion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762120" y="372600"/>
            <a:ext cx="6966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Digital ID, in Numbers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9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1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766440" y="1500120"/>
            <a:ext cx="10658880" cy="1410120"/>
          </a:xfrm>
          <a:custGeom>
            <a:avLst/>
            <a:gdLst/>
            <a:ahLst/>
            <a:rect l="0" t="0" r="r" b="b"/>
            <a:pathLst>
              <a:path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1"/>
                  <a:pt x="0" y="377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66440" y="1500120"/>
            <a:ext cx="10658880" cy="1410120"/>
          </a:xfrm>
          <a:custGeom>
            <a:avLst/>
            <a:gdLst/>
            <a:ahLst/>
            <a:rect l="0" t="0" r="r" b="b"/>
            <a:pathLst>
              <a:path fill="none"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1"/>
                  <a:pt x="0" y="377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1104840" y="1695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762120" y="372600"/>
            <a:ext cx="8717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UK Digital Identity Proposal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1289520" y="1604160"/>
            <a:ext cx="9736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Department for Science, Innovation and Technology (DSIT) is developing a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UK digital identity and attributes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1104840" y="2285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1289520" y="1880640"/>
            <a:ext cx="1598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trust framework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1104840" y="2609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1289520" y="2194920"/>
            <a:ext cx="9076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Aims to let citizens prove who they are online using reusable credentials issued by certiﬁed providers.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766440" y="3147840"/>
            <a:ext cx="5277240" cy="3048480"/>
          </a:xfrm>
          <a:custGeom>
            <a:avLst/>
            <a:gdLst/>
            <a:ahLst/>
            <a:rect l="0" t="0" r="r" b="b"/>
            <a:pathLst>
              <a:path w="14659" h="8468">
                <a:moveTo>
                  <a:pt x="0" y="83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8322"/>
                </a:lnTo>
                <a:cubicBezTo>
                  <a:pt x="14659" y="8332"/>
                  <a:pt x="14658" y="8341"/>
                  <a:pt x="14657" y="8351"/>
                </a:cubicBezTo>
                <a:cubicBezTo>
                  <a:pt x="14655" y="8360"/>
                  <a:pt x="14652" y="8369"/>
                  <a:pt x="14648" y="8378"/>
                </a:cubicBezTo>
                <a:cubicBezTo>
                  <a:pt x="14645" y="8387"/>
                  <a:pt x="14640" y="8395"/>
                  <a:pt x="14635" y="8403"/>
                </a:cubicBezTo>
                <a:cubicBezTo>
                  <a:pt x="14629" y="8411"/>
                  <a:pt x="14623" y="8418"/>
                  <a:pt x="14617" y="8425"/>
                </a:cubicBezTo>
                <a:cubicBezTo>
                  <a:pt x="14610" y="8432"/>
                  <a:pt x="14603" y="8438"/>
                  <a:pt x="14595" y="8443"/>
                </a:cubicBezTo>
                <a:cubicBezTo>
                  <a:pt x="14587" y="8448"/>
                  <a:pt x="14578" y="8453"/>
                  <a:pt x="14569" y="8457"/>
                </a:cubicBezTo>
                <a:cubicBezTo>
                  <a:pt x="14561" y="8460"/>
                  <a:pt x="14552" y="8463"/>
                  <a:pt x="14542" y="8465"/>
                </a:cubicBezTo>
                <a:cubicBezTo>
                  <a:pt x="14533" y="8467"/>
                  <a:pt x="14523" y="8468"/>
                  <a:pt x="14514" y="8468"/>
                </a:cubicBezTo>
                <a:lnTo>
                  <a:pt x="146" y="8468"/>
                </a:lnTo>
                <a:cubicBezTo>
                  <a:pt x="136" y="8468"/>
                  <a:pt x="127" y="8467"/>
                  <a:pt x="118" y="8465"/>
                </a:cubicBezTo>
                <a:cubicBezTo>
                  <a:pt x="108" y="8463"/>
                  <a:pt x="99" y="8460"/>
                  <a:pt x="90" y="8457"/>
                </a:cubicBezTo>
                <a:cubicBezTo>
                  <a:pt x="81" y="8453"/>
                  <a:pt x="73" y="8448"/>
                  <a:pt x="65" y="8443"/>
                </a:cubicBezTo>
                <a:cubicBezTo>
                  <a:pt x="57" y="8438"/>
                  <a:pt x="50" y="8432"/>
                  <a:pt x="43" y="8425"/>
                </a:cubicBezTo>
                <a:cubicBezTo>
                  <a:pt x="36" y="8418"/>
                  <a:pt x="30" y="8411"/>
                  <a:pt x="25" y="8403"/>
                </a:cubicBezTo>
                <a:cubicBezTo>
                  <a:pt x="20" y="8395"/>
                  <a:pt x="15" y="8387"/>
                  <a:pt x="11" y="8378"/>
                </a:cubicBezTo>
                <a:cubicBezTo>
                  <a:pt x="8" y="8369"/>
                  <a:pt x="5" y="8360"/>
                  <a:pt x="3" y="8351"/>
                </a:cubicBezTo>
                <a:cubicBezTo>
                  <a:pt x="1" y="8341"/>
                  <a:pt x="0" y="8332"/>
                  <a:pt x="0" y="8322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766440" y="3147840"/>
            <a:ext cx="5277240" cy="3048480"/>
          </a:xfrm>
          <a:custGeom>
            <a:avLst/>
            <a:gdLst/>
            <a:ahLst/>
            <a:rect l="0" t="0" r="r" b="b"/>
            <a:pathLst>
              <a:path fill="none" w="14659" h="8468">
                <a:moveTo>
                  <a:pt x="0" y="83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8322"/>
                </a:lnTo>
                <a:cubicBezTo>
                  <a:pt x="14659" y="8332"/>
                  <a:pt x="14658" y="8341"/>
                  <a:pt x="14657" y="8351"/>
                </a:cubicBezTo>
                <a:cubicBezTo>
                  <a:pt x="14655" y="8360"/>
                  <a:pt x="14652" y="8369"/>
                  <a:pt x="14648" y="8378"/>
                </a:cubicBezTo>
                <a:cubicBezTo>
                  <a:pt x="14645" y="8387"/>
                  <a:pt x="14640" y="8395"/>
                  <a:pt x="14635" y="8403"/>
                </a:cubicBezTo>
                <a:cubicBezTo>
                  <a:pt x="14629" y="8411"/>
                  <a:pt x="14623" y="8418"/>
                  <a:pt x="14617" y="8425"/>
                </a:cubicBezTo>
                <a:cubicBezTo>
                  <a:pt x="14610" y="8432"/>
                  <a:pt x="14603" y="8438"/>
                  <a:pt x="14595" y="8443"/>
                </a:cubicBezTo>
                <a:cubicBezTo>
                  <a:pt x="14587" y="8448"/>
                  <a:pt x="14578" y="8453"/>
                  <a:pt x="14569" y="8457"/>
                </a:cubicBezTo>
                <a:cubicBezTo>
                  <a:pt x="14561" y="8460"/>
                  <a:pt x="14552" y="8463"/>
                  <a:pt x="14542" y="8465"/>
                </a:cubicBezTo>
                <a:cubicBezTo>
                  <a:pt x="14533" y="8467"/>
                  <a:pt x="14523" y="8468"/>
                  <a:pt x="14514" y="8468"/>
                </a:cubicBezTo>
                <a:lnTo>
                  <a:pt x="146" y="8468"/>
                </a:lnTo>
                <a:cubicBezTo>
                  <a:pt x="136" y="8468"/>
                  <a:pt x="127" y="8467"/>
                  <a:pt x="118" y="8465"/>
                </a:cubicBezTo>
                <a:cubicBezTo>
                  <a:pt x="108" y="8463"/>
                  <a:pt x="99" y="8460"/>
                  <a:pt x="90" y="8457"/>
                </a:cubicBezTo>
                <a:cubicBezTo>
                  <a:pt x="81" y="8453"/>
                  <a:pt x="73" y="8448"/>
                  <a:pt x="65" y="8443"/>
                </a:cubicBezTo>
                <a:cubicBezTo>
                  <a:pt x="57" y="8438"/>
                  <a:pt x="50" y="8432"/>
                  <a:pt x="43" y="8425"/>
                </a:cubicBezTo>
                <a:cubicBezTo>
                  <a:pt x="36" y="8418"/>
                  <a:pt x="30" y="8411"/>
                  <a:pt x="25" y="8403"/>
                </a:cubicBezTo>
                <a:cubicBezTo>
                  <a:pt x="20" y="8395"/>
                  <a:pt x="15" y="8387"/>
                  <a:pt x="11" y="8378"/>
                </a:cubicBezTo>
                <a:cubicBezTo>
                  <a:pt x="8" y="8369"/>
                  <a:pt x="5" y="8360"/>
                  <a:pt x="3" y="8351"/>
                </a:cubicBezTo>
                <a:cubicBezTo>
                  <a:pt x="1" y="8341"/>
                  <a:pt x="0" y="8332"/>
                  <a:pt x="0" y="8322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1104840" y="3838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7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1289520" y="2518560"/>
            <a:ext cx="657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Built on principles: privacy, transparency, interoperability, proportionality.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1289520" y="3747600"/>
            <a:ext cx="4336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Simpliﬁed access to government, banking, rental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1104840" y="4438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1289520" y="4023720"/>
            <a:ext cx="765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services.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 txBox="1"/>
          <p:nvPr/>
        </p:nvSpPr>
        <p:spPr>
          <a:xfrm>
            <a:off x="1289520" y="4347360"/>
            <a:ext cx="3894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Increased responsibility to safeguard digital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1104840" y="5028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1289520" y="4623840"/>
            <a:ext cx="1916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wallets/identity apps.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1289520" y="4938120"/>
            <a:ext cx="4429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Expect reliance on secure devices, MFA, biometric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1104840" y="5628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1289520" y="5214240"/>
            <a:ext cx="1042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veriﬁcation.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 txBox="1"/>
          <p:nvPr/>
        </p:nvSpPr>
        <p:spPr>
          <a:xfrm>
            <a:off x="1289520" y="5538240"/>
            <a:ext cx="4169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Potential for cross-border recognition (e.g., EU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942840" y="33620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4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1037880" y="341928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1289520" y="5805000"/>
            <a:ext cx="1459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digital identity 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6148080" y="3147840"/>
            <a:ext cx="5277240" cy="3048480"/>
          </a:xfrm>
          <a:custGeom>
            <a:avLst/>
            <a:gdLst/>
            <a:ahLst/>
            <a:rect l="0" t="0" r="r" b="b"/>
            <a:pathLst>
              <a:path w="14659" h="8468">
                <a:moveTo>
                  <a:pt x="0" y="83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8322"/>
                </a:lnTo>
                <a:cubicBezTo>
                  <a:pt x="14659" y="8332"/>
                  <a:pt x="14658" y="8341"/>
                  <a:pt x="14656" y="8351"/>
                </a:cubicBezTo>
                <a:cubicBezTo>
                  <a:pt x="14655" y="8360"/>
                  <a:pt x="14652" y="8369"/>
                  <a:pt x="14648" y="8378"/>
                </a:cubicBezTo>
                <a:cubicBezTo>
                  <a:pt x="14645" y="8387"/>
                  <a:pt x="14640" y="8395"/>
                  <a:pt x="14635" y="8403"/>
                </a:cubicBezTo>
                <a:cubicBezTo>
                  <a:pt x="14629" y="8411"/>
                  <a:pt x="14623" y="8418"/>
                  <a:pt x="14617" y="8425"/>
                </a:cubicBezTo>
                <a:cubicBezTo>
                  <a:pt x="14610" y="8432"/>
                  <a:pt x="14603" y="8438"/>
                  <a:pt x="14595" y="8443"/>
                </a:cubicBezTo>
                <a:cubicBezTo>
                  <a:pt x="14587" y="8448"/>
                  <a:pt x="14578" y="8453"/>
                  <a:pt x="14569" y="8457"/>
                </a:cubicBezTo>
                <a:cubicBezTo>
                  <a:pt x="14561" y="8460"/>
                  <a:pt x="14552" y="8463"/>
                  <a:pt x="14542" y="8465"/>
                </a:cubicBezTo>
                <a:cubicBezTo>
                  <a:pt x="14533" y="8467"/>
                  <a:pt x="14523" y="8468"/>
                  <a:pt x="14514" y="8468"/>
                </a:cubicBezTo>
                <a:lnTo>
                  <a:pt x="146" y="8468"/>
                </a:lnTo>
                <a:cubicBezTo>
                  <a:pt x="136" y="8468"/>
                  <a:pt x="127" y="8467"/>
                  <a:pt x="117" y="8465"/>
                </a:cubicBezTo>
                <a:cubicBezTo>
                  <a:pt x="108" y="8463"/>
                  <a:pt x="99" y="8460"/>
                  <a:pt x="90" y="8457"/>
                </a:cubicBezTo>
                <a:cubicBezTo>
                  <a:pt x="81" y="8453"/>
                  <a:pt x="73" y="8448"/>
                  <a:pt x="65" y="8443"/>
                </a:cubicBezTo>
                <a:cubicBezTo>
                  <a:pt x="57" y="8438"/>
                  <a:pt x="50" y="8432"/>
                  <a:pt x="43" y="8425"/>
                </a:cubicBezTo>
                <a:cubicBezTo>
                  <a:pt x="36" y="8418"/>
                  <a:pt x="30" y="8411"/>
                  <a:pt x="25" y="8403"/>
                </a:cubicBezTo>
                <a:cubicBezTo>
                  <a:pt x="20" y="8395"/>
                  <a:pt x="15" y="8387"/>
                  <a:pt x="11" y="8378"/>
                </a:cubicBezTo>
                <a:cubicBezTo>
                  <a:pt x="8" y="8369"/>
                  <a:pt x="5" y="8360"/>
                  <a:pt x="3" y="8351"/>
                </a:cubicBezTo>
                <a:cubicBezTo>
                  <a:pt x="1" y="8341"/>
                  <a:pt x="0" y="8332"/>
                  <a:pt x="0" y="8322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6148080" y="3147840"/>
            <a:ext cx="5277240" cy="3048480"/>
          </a:xfrm>
          <a:custGeom>
            <a:avLst/>
            <a:gdLst/>
            <a:ahLst/>
            <a:rect l="0" t="0" r="r" b="b"/>
            <a:pathLst>
              <a:path fill="none" w="14659" h="8468">
                <a:moveTo>
                  <a:pt x="0" y="83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8322"/>
                </a:lnTo>
                <a:cubicBezTo>
                  <a:pt x="14659" y="8332"/>
                  <a:pt x="14658" y="8341"/>
                  <a:pt x="14656" y="8351"/>
                </a:cubicBezTo>
                <a:cubicBezTo>
                  <a:pt x="14655" y="8360"/>
                  <a:pt x="14652" y="8369"/>
                  <a:pt x="14648" y="8378"/>
                </a:cubicBezTo>
                <a:cubicBezTo>
                  <a:pt x="14645" y="8387"/>
                  <a:pt x="14640" y="8395"/>
                  <a:pt x="14635" y="8403"/>
                </a:cubicBezTo>
                <a:cubicBezTo>
                  <a:pt x="14629" y="8411"/>
                  <a:pt x="14623" y="8418"/>
                  <a:pt x="14617" y="8425"/>
                </a:cubicBezTo>
                <a:cubicBezTo>
                  <a:pt x="14610" y="8432"/>
                  <a:pt x="14603" y="8438"/>
                  <a:pt x="14595" y="8443"/>
                </a:cubicBezTo>
                <a:cubicBezTo>
                  <a:pt x="14587" y="8448"/>
                  <a:pt x="14578" y="8453"/>
                  <a:pt x="14569" y="8457"/>
                </a:cubicBezTo>
                <a:cubicBezTo>
                  <a:pt x="14561" y="8460"/>
                  <a:pt x="14552" y="8463"/>
                  <a:pt x="14542" y="8465"/>
                </a:cubicBezTo>
                <a:cubicBezTo>
                  <a:pt x="14533" y="8467"/>
                  <a:pt x="14523" y="8468"/>
                  <a:pt x="14514" y="8468"/>
                </a:cubicBezTo>
                <a:lnTo>
                  <a:pt x="146" y="8468"/>
                </a:lnTo>
                <a:cubicBezTo>
                  <a:pt x="136" y="8468"/>
                  <a:pt x="127" y="8467"/>
                  <a:pt x="117" y="8465"/>
                </a:cubicBezTo>
                <a:cubicBezTo>
                  <a:pt x="108" y="8463"/>
                  <a:pt x="99" y="8460"/>
                  <a:pt x="90" y="8457"/>
                </a:cubicBezTo>
                <a:cubicBezTo>
                  <a:pt x="81" y="8453"/>
                  <a:pt x="73" y="8448"/>
                  <a:pt x="65" y="8443"/>
                </a:cubicBezTo>
                <a:cubicBezTo>
                  <a:pt x="57" y="8438"/>
                  <a:pt x="50" y="8432"/>
                  <a:pt x="43" y="8425"/>
                </a:cubicBezTo>
                <a:cubicBezTo>
                  <a:pt x="36" y="8418"/>
                  <a:pt x="30" y="8411"/>
                  <a:pt x="25" y="8403"/>
                </a:cubicBezTo>
                <a:cubicBezTo>
                  <a:pt x="20" y="8395"/>
                  <a:pt x="15" y="8387"/>
                  <a:pt x="11" y="8378"/>
                </a:cubicBezTo>
                <a:cubicBezTo>
                  <a:pt x="8" y="8369"/>
                  <a:pt x="5" y="8360"/>
                  <a:pt x="3" y="8351"/>
                </a:cubicBezTo>
                <a:cubicBezTo>
                  <a:pt x="1" y="8341"/>
                  <a:pt x="0" y="8332"/>
                  <a:pt x="0" y="8322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6486480" y="3838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7"/>
                  <a:pt x="39" y="11"/>
                  <a:pt x="49" y="7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7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1203120" y="3350880"/>
            <a:ext cx="2971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Implications for students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6671160" y="3747600"/>
            <a:ext cx="3818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How will consent and data minimisation be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6486480" y="4438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6671160" y="4023720"/>
            <a:ext cx="858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enforced?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6671160" y="4347360"/>
            <a:ext cx="3733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happens when identity providers are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6486480" y="5028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1"/>
                  <a:pt x="49" y="7"/>
                </a:cubicBezTo>
                <a:cubicBezTo>
                  <a:pt x="58" y="3"/>
                  <a:pt x="68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6671160" y="4623840"/>
            <a:ext cx="894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breached?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6671160" y="4938120"/>
            <a:ext cx="4398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How to include people without passports/driverʼs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6486480" y="5628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6671160" y="5214240"/>
            <a:ext cx="3221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licences and avoid digital exclusion?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6671160" y="5538240"/>
            <a:ext cx="3654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Oversight: ICO, DSIT certiﬁcation regime,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6324120" y="337140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9"/>
                </a:moveTo>
                <a:lnTo>
                  <a:pt x="312" y="27"/>
                </a:lnTo>
                <a:cubicBezTo>
                  <a:pt x="307" y="19"/>
                  <a:pt x="301" y="12"/>
                  <a:pt x="293" y="8"/>
                </a:cubicBezTo>
                <a:cubicBezTo>
                  <a:pt x="285" y="3"/>
                  <a:pt x="276" y="0"/>
                  <a:pt x="266" y="0"/>
                </a:cubicBezTo>
                <a:cubicBezTo>
                  <a:pt x="257" y="0"/>
                  <a:pt x="248" y="3"/>
                  <a:pt x="240" y="8"/>
                </a:cubicBezTo>
                <a:cubicBezTo>
                  <a:pt x="231" y="12"/>
                  <a:pt x="225" y="19"/>
                  <a:pt x="220" y="27"/>
                </a:cubicBezTo>
                <a:lnTo>
                  <a:pt x="7" y="399"/>
                </a:lnTo>
                <a:cubicBezTo>
                  <a:pt x="3" y="407"/>
                  <a:pt x="0" y="416"/>
                  <a:pt x="0" y="425"/>
                </a:cubicBezTo>
                <a:cubicBezTo>
                  <a:pt x="0" y="435"/>
                  <a:pt x="3" y="444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9"/>
                  <a:pt x="512" y="466"/>
                  <a:pt x="515" y="462"/>
                </a:cubicBezTo>
                <a:cubicBezTo>
                  <a:pt x="519" y="459"/>
                  <a:pt x="522" y="456"/>
                  <a:pt x="524" y="452"/>
                </a:cubicBezTo>
                <a:cubicBezTo>
                  <a:pt x="526" y="447"/>
                  <a:pt x="528" y="443"/>
                  <a:pt x="529" y="439"/>
                </a:cubicBezTo>
                <a:cubicBezTo>
                  <a:pt x="530" y="434"/>
                  <a:pt x="531" y="430"/>
                  <a:pt x="531" y="425"/>
                </a:cubicBezTo>
                <a:cubicBezTo>
                  <a:pt x="531" y="420"/>
                  <a:pt x="530" y="416"/>
                  <a:pt x="529" y="411"/>
                </a:cubicBezTo>
                <a:cubicBezTo>
                  <a:pt x="528" y="407"/>
                  <a:pt x="526" y="403"/>
                  <a:pt x="524" y="399"/>
                </a:cubicBezTo>
                <a:moveTo>
                  <a:pt x="266" y="159"/>
                </a:moveTo>
                <a:lnTo>
                  <a:pt x="266" y="265"/>
                </a:lnTo>
                <a:moveTo>
                  <a:pt x="266" y="371"/>
                </a:moveTo>
                <a:lnTo>
                  <a:pt x="267" y="371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6671160" y="5805000"/>
            <a:ext cx="1773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independent audits.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6584760" y="3350880"/>
            <a:ext cx="1446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Open issues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766440" y="238572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3"/>
                  <a:pt x="29601" y="3422"/>
                  <a:pt x="29597" y="3430"/>
                </a:cubicBezTo>
                <a:cubicBezTo>
                  <a:pt x="29594" y="3439"/>
                  <a:pt x="29589" y="3448"/>
                  <a:pt x="29584" y="3456"/>
                </a:cubicBezTo>
                <a:cubicBezTo>
                  <a:pt x="29578" y="3464"/>
                  <a:pt x="29572" y="3471"/>
                  <a:pt x="29566" y="3478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6"/>
                  <a:pt x="29518" y="3509"/>
                </a:cubicBezTo>
                <a:cubicBezTo>
                  <a:pt x="29510" y="3513"/>
                  <a:pt x="29501" y="3516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6"/>
                  <a:pt x="99" y="3513"/>
                  <a:pt x="90" y="3509"/>
                </a:cubicBezTo>
                <a:cubicBezTo>
                  <a:pt x="81" y="3506"/>
                  <a:pt x="73" y="3501"/>
                  <a:pt x="65" y="3496"/>
                </a:cubicBezTo>
                <a:cubicBezTo>
                  <a:pt x="57" y="3490"/>
                  <a:pt x="50" y="3484"/>
                  <a:pt x="43" y="3478"/>
                </a:cubicBezTo>
                <a:cubicBezTo>
                  <a:pt x="36" y="3471"/>
                  <a:pt x="30" y="3464"/>
                  <a:pt x="25" y="3456"/>
                </a:cubicBezTo>
                <a:cubicBezTo>
                  <a:pt x="20" y="3448"/>
                  <a:pt x="15" y="3439"/>
                  <a:pt x="11" y="3430"/>
                </a:cubicBezTo>
                <a:cubicBezTo>
                  <a:pt x="8" y="3422"/>
                  <a:pt x="5" y="3413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766440" y="238572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375"/>
                </a:lnTo>
                <a:cubicBezTo>
                  <a:pt x="29608" y="3384"/>
                  <a:pt x="29607" y="3394"/>
                  <a:pt x="29605" y="3403"/>
                </a:cubicBezTo>
                <a:cubicBezTo>
                  <a:pt x="29604" y="3413"/>
                  <a:pt x="29601" y="3422"/>
                  <a:pt x="29597" y="3430"/>
                </a:cubicBezTo>
                <a:cubicBezTo>
                  <a:pt x="29594" y="3439"/>
                  <a:pt x="29589" y="3448"/>
                  <a:pt x="29584" y="3456"/>
                </a:cubicBezTo>
                <a:cubicBezTo>
                  <a:pt x="29578" y="3464"/>
                  <a:pt x="29572" y="3471"/>
                  <a:pt x="29566" y="3478"/>
                </a:cubicBezTo>
                <a:cubicBezTo>
                  <a:pt x="29559" y="3484"/>
                  <a:pt x="29552" y="3490"/>
                  <a:pt x="29544" y="3496"/>
                </a:cubicBezTo>
                <a:cubicBezTo>
                  <a:pt x="29536" y="3501"/>
                  <a:pt x="29527" y="3506"/>
                  <a:pt x="29518" y="3509"/>
                </a:cubicBezTo>
                <a:cubicBezTo>
                  <a:pt x="29510" y="3513"/>
                  <a:pt x="29501" y="3516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6"/>
                  <a:pt x="99" y="3513"/>
                  <a:pt x="90" y="3509"/>
                </a:cubicBezTo>
                <a:cubicBezTo>
                  <a:pt x="81" y="3506"/>
                  <a:pt x="73" y="3501"/>
                  <a:pt x="65" y="3496"/>
                </a:cubicBezTo>
                <a:cubicBezTo>
                  <a:pt x="57" y="3490"/>
                  <a:pt x="50" y="3484"/>
                  <a:pt x="43" y="3478"/>
                </a:cubicBezTo>
                <a:cubicBezTo>
                  <a:pt x="36" y="3471"/>
                  <a:pt x="30" y="3464"/>
                  <a:pt x="25" y="3456"/>
                </a:cubicBezTo>
                <a:cubicBezTo>
                  <a:pt x="20" y="3448"/>
                  <a:pt x="15" y="3439"/>
                  <a:pt x="11" y="3430"/>
                </a:cubicBezTo>
                <a:cubicBezTo>
                  <a:pt x="8" y="3422"/>
                  <a:pt x="5" y="3413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762120" y="372600"/>
            <a:ext cx="98143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Honest Counter-Argument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923760" y="2994840"/>
            <a:ext cx="10389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 single document says "we are building a total surveillance state." The departments genuinely are separate. Digital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961920" y="263808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60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923760" y="3261600"/>
            <a:ext cx="9923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 is no longer mandatory, oﬃcially. Post-Southport prosecutions used existing laws, not the Online Safety Act.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766440" y="3776400"/>
            <a:ext cx="10658880" cy="1543320"/>
          </a:xfrm>
          <a:custGeom>
            <a:avLst/>
            <a:gdLst/>
            <a:ahLst/>
            <a:rect l="0" t="0" r="r" b="b"/>
            <a:pathLst>
              <a:path w="29608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142"/>
                </a:lnTo>
                <a:cubicBezTo>
                  <a:pt x="29608" y="4152"/>
                  <a:pt x="29607" y="4161"/>
                  <a:pt x="29605" y="4170"/>
                </a:cubicBezTo>
                <a:cubicBezTo>
                  <a:pt x="29604" y="4180"/>
                  <a:pt x="29601" y="4189"/>
                  <a:pt x="29597" y="4198"/>
                </a:cubicBezTo>
                <a:cubicBezTo>
                  <a:pt x="29594" y="4206"/>
                  <a:pt x="29589" y="4215"/>
                  <a:pt x="29584" y="4223"/>
                </a:cubicBezTo>
                <a:cubicBezTo>
                  <a:pt x="29578" y="4231"/>
                  <a:pt x="29572" y="4238"/>
                  <a:pt x="29566" y="4245"/>
                </a:cubicBezTo>
                <a:cubicBezTo>
                  <a:pt x="29559" y="4252"/>
                  <a:pt x="29552" y="4258"/>
                  <a:pt x="29544" y="4263"/>
                </a:cubicBezTo>
                <a:cubicBezTo>
                  <a:pt x="29536" y="4268"/>
                  <a:pt x="29527" y="4273"/>
                  <a:pt x="29518" y="4276"/>
                </a:cubicBezTo>
                <a:cubicBezTo>
                  <a:pt x="29510" y="4280"/>
                  <a:pt x="29501" y="4283"/>
                  <a:pt x="29491" y="4285"/>
                </a:cubicBezTo>
                <a:cubicBezTo>
                  <a:pt x="29482" y="4287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7"/>
                  <a:pt x="118" y="4285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8"/>
                  <a:pt x="50" y="4252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8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2"/>
                  <a:pt x="0" y="4142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766440" y="3776400"/>
            <a:ext cx="10658880" cy="1543320"/>
          </a:xfrm>
          <a:custGeom>
            <a:avLst/>
            <a:gdLst/>
            <a:ahLst/>
            <a:rect l="0" t="0" r="r" b="b"/>
            <a:pathLst>
              <a:path fill="none" w="29608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142"/>
                </a:lnTo>
                <a:cubicBezTo>
                  <a:pt x="29608" y="4152"/>
                  <a:pt x="29607" y="4161"/>
                  <a:pt x="29605" y="4170"/>
                </a:cubicBezTo>
                <a:cubicBezTo>
                  <a:pt x="29604" y="4180"/>
                  <a:pt x="29601" y="4189"/>
                  <a:pt x="29597" y="4198"/>
                </a:cubicBezTo>
                <a:cubicBezTo>
                  <a:pt x="29594" y="4206"/>
                  <a:pt x="29589" y="4215"/>
                  <a:pt x="29584" y="4223"/>
                </a:cubicBezTo>
                <a:cubicBezTo>
                  <a:pt x="29578" y="4231"/>
                  <a:pt x="29572" y="4238"/>
                  <a:pt x="29566" y="4245"/>
                </a:cubicBezTo>
                <a:cubicBezTo>
                  <a:pt x="29559" y="4252"/>
                  <a:pt x="29552" y="4258"/>
                  <a:pt x="29544" y="4263"/>
                </a:cubicBezTo>
                <a:cubicBezTo>
                  <a:pt x="29536" y="4268"/>
                  <a:pt x="29527" y="4273"/>
                  <a:pt x="29518" y="4276"/>
                </a:cubicBezTo>
                <a:cubicBezTo>
                  <a:pt x="29510" y="4280"/>
                  <a:pt x="29501" y="4283"/>
                  <a:pt x="29491" y="4285"/>
                </a:cubicBezTo>
                <a:cubicBezTo>
                  <a:pt x="29482" y="4287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7"/>
                  <a:pt x="118" y="4285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8"/>
                  <a:pt x="50" y="4252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8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2"/>
                  <a:pt x="0" y="4142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1203120" y="2588760"/>
            <a:ext cx="2552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What's genuinely true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923760" y="4385520"/>
            <a:ext cx="10283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national photo register, plus a national facial-matching service, plus an age-gated internet, plus expanding facial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923760" y="4662000"/>
            <a:ext cx="3804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recognition cameras, creates the technical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4772160" y="4662000"/>
            <a:ext cx="7459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capacity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5449320" y="4662000"/>
            <a:ext cx="5443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for a surveillance system — regardless of whether any single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952200" y="399096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8"/>
                </a:lnTo>
                <a:lnTo>
                  <a:pt x="238" y="318"/>
                </a:lnTo>
                <a:lnTo>
                  <a:pt x="212" y="530"/>
                </a:lnTo>
                <a:lnTo>
                  <a:pt x="478" y="211"/>
                </a:lnTo>
                <a:lnTo>
                  <a:pt x="238" y="211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923760" y="4928400"/>
            <a:ext cx="1806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minister intended it.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1203120" y="3979440"/>
            <a:ext cx="319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But the convergence is real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65" name="" descr=""/>
          <p:cNvPicPr/>
          <p:nvPr/>
        </p:nvPicPr>
        <p:blipFill>
          <a:blip r:embed="rId1"/>
          <a:stretch/>
        </p:blipFill>
        <p:spPr>
          <a:xfrm>
            <a:off x="9448920" y="25146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6" name=""/>
          <p:cNvSpPr/>
          <p:nvPr/>
        </p:nvSpPr>
        <p:spPr>
          <a:xfrm>
            <a:off x="847440" y="151776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1"/>
                  <a:pt x="0" y="875"/>
                </a:cubicBezTo>
                <a:cubicBezTo>
                  <a:pt x="0" y="1148"/>
                  <a:pt x="161" y="1392"/>
                  <a:pt x="413" y="1552"/>
                </a:cubicBezTo>
                <a:cubicBezTo>
                  <a:pt x="380" y="1697"/>
                  <a:pt x="304" y="1911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0"/>
                  <a:pt x="1033" y="1750"/>
                  <a:pt x="1126" y="1750"/>
                </a:cubicBezTo>
                <a:cubicBezTo>
                  <a:pt x="1747" y="1750"/>
                  <a:pt x="2250" y="1359"/>
                  <a:pt x="2250" y="875"/>
                </a:cubicBezTo>
                <a:cubicBezTo>
                  <a:pt x="2250" y="391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1207440" y="1787760"/>
            <a:ext cx="90360" cy="90000"/>
          </a:xfrm>
          <a:custGeom>
            <a:avLst/>
            <a:gdLst/>
            <a:ahLst/>
            <a:rect l="0" t="0" r="r" b="b"/>
            <a:pathLst>
              <a:path w="251" h="250">
                <a:moveTo>
                  <a:pt x="251" y="125"/>
                </a:moveTo>
                <a:cubicBezTo>
                  <a:pt x="251" y="142"/>
                  <a:pt x="248" y="158"/>
                  <a:pt x="241" y="173"/>
                </a:cubicBezTo>
                <a:cubicBezTo>
                  <a:pt x="235" y="189"/>
                  <a:pt x="226" y="202"/>
                  <a:pt x="214" y="214"/>
                </a:cubicBezTo>
                <a:cubicBezTo>
                  <a:pt x="202" y="226"/>
                  <a:pt x="189" y="235"/>
                  <a:pt x="174" y="241"/>
                </a:cubicBezTo>
                <a:cubicBezTo>
                  <a:pt x="158" y="247"/>
                  <a:pt x="142" y="250"/>
                  <a:pt x="126" y="250"/>
                </a:cubicBezTo>
                <a:cubicBezTo>
                  <a:pt x="109" y="250"/>
                  <a:pt x="93" y="247"/>
                  <a:pt x="78" y="241"/>
                </a:cubicBezTo>
                <a:cubicBezTo>
                  <a:pt x="63" y="235"/>
                  <a:pt x="49" y="226"/>
                  <a:pt x="37" y="214"/>
                </a:cubicBezTo>
                <a:cubicBezTo>
                  <a:pt x="26" y="202"/>
                  <a:pt x="17" y="189"/>
                  <a:pt x="10" y="173"/>
                </a:cubicBezTo>
                <a:cubicBezTo>
                  <a:pt x="3" y="158"/>
                  <a:pt x="0" y="142"/>
                  <a:pt x="0" y="125"/>
                </a:cubicBezTo>
                <a:cubicBezTo>
                  <a:pt x="0" y="108"/>
                  <a:pt x="3" y="92"/>
                  <a:pt x="10" y="77"/>
                </a:cubicBezTo>
                <a:cubicBezTo>
                  <a:pt x="17" y="61"/>
                  <a:pt x="26" y="48"/>
                  <a:pt x="37" y="36"/>
                </a:cubicBezTo>
                <a:cubicBezTo>
                  <a:pt x="49" y="24"/>
                  <a:pt x="63" y="15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9"/>
                </a:cubicBezTo>
                <a:cubicBezTo>
                  <a:pt x="189" y="15"/>
                  <a:pt x="202" y="24"/>
                  <a:pt x="214" y="36"/>
                </a:cubicBezTo>
                <a:cubicBezTo>
                  <a:pt x="226" y="48"/>
                  <a:pt x="235" y="61"/>
                  <a:pt x="241" y="77"/>
                </a:cubicBezTo>
                <a:cubicBezTo>
                  <a:pt x="248" y="92"/>
                  <a:pt x="251" y="108"/>
                  <a:pt x="251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1387440" y="1787760"/>
            <a:ext cx="90000" cy="90000"/>
          </a:xfrm>
          <a:custGeom>
            <a:avLst/>
            <a:gdLst/>
            <a:ahLst/>
            <a:rect l="0" t="0" r="r" b="b"/>
            <a:pathLst>
              <a:path w="250" h="250">
                <a:moveTo>
                  <a:pt x="250" y="125"/>
                </a:moveTo>
                <a:cubicBezTo>
                  <a:pt x="250" y="142"/>
                  <a:pt x="247" y="158"/>
                  <a:pt x="241" y="173"/>
                </a:cubicBezTo>
                <a:cubicBezTo>
                  <a:pt x="235" y="189"/>
                  <a:pt x="226" y="202"/>
                  <a:pt x="214" y="214"/>
                </a:cubicBezTo>
                <a:cubicBezTo>
                  <a:pt x="202" y="226"/>
                  <a:pt x="189" y="235"/>
                  <a:pt x="173" y="241"/>
                </a:cubicBezTo>
                <a:cubicBezTo>
                  <a:pt x="158" y="247"/>
                  <a:pt x="142" y="250"/>
                  <a:pt x="126" y="250"/>
                </a:cubicBezTo>
                <a:cubicBezTo>
                  <a:pt x="109" y="250"/>
                  <a:pt x="93" y="247"/>
                  <a:pt x="78" y="241"/>
                </a:cubicBezTo>
                <a:cubicBezTo>
                  <a:pt x="62" y="235"/>
                  <a:pt x="49" y="226"/>
                  <a:pt x="37" y="214"/>
                </a:cubicBezTo>
                <a:cubicBezTo>
                  <a:pt x="25" y="202"/>
                  <a:pt x="16" y="189"/>
                  <a:pt x="10" y="173"/>
                </a:cubicBezTo>
                <a:cubicBezTo>
                  <a:pt x="3" y="158"/>
                  <a:pt x="0" y="142"/>
                  <a:pt x="0" y="125"/>
                </a:cubicBezTo>
                <a:cubicBezTo>
                  <a:pt x="0" y="108"/>
                  <a:pt x="3" y="92"/>
                  <a:pt x="10" y="77"/>
                </a:cubicBezTo>
                <a:cubicBezTo>
                  <a:pt x="16" y="61"/>
                  <a:pt x="25" y="48"/>
                  <a:pt x="37" y="36"/>
                </a:cubicBezTo>
                <a:cubicBezTo>
                  <a:pt x="49" y="24"/>
                  <a:pt x="62" y="15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9"/>
                </a:cubicBezTo>
                <a:cubicBezTo>
                  <a:pt x="189" y="15"/>
                  <a:pt x="202" y="24"/>
                  <a:pt x="214" y="36"/>
                </a:cubicBezTo>
                <a:cubicBezTo>
                  <a:pt x="226" y="48"/>
                  <a:pt x="235" y="61"/>
                  <a:pt x="241" y="77"/>
                </a:cubicBezTo>
                <a:cubicBezTo>
                  <a:pt x="247" y="92"/>
                  <a:pt x="250" y="108"/>
                  <a:pt x="250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1027440" y="1787760"/>
            <a:ext cx="90360" cy="90000"/>
          </a:xfrm>
          <a:custGeom>
            <a:avLst/>
            <a:gdLst/>
            <a:ahLst/>
            <a:rect l="0" t="0" r="r" b="b"/>
            <a:pathLst>
              <a:path w="251" h="250">
                <a:moveTo>
                  <a:pt x="251" y="125"/>
                </a:moveTo>
                <a:cubicBezTo>
                  <a:pt x="251" y="142"/>
                  <a:pt x="248" y="158"/>
                  <a:pt x="241" y="173"/>
                </a:cubicBezTo>
                <a:cubicBezTo>
                  <a:pt x="235" y="189"/>
                  <a:pt x="226" y="202"/>
                  <a:pt x="214" y="214"/>
                </a:cubicBezTo>
                <a:cubicBezTo>
                  <a:pt x="203" y="226"/>
                  <a:pt x="189" y="235"/>
                  <a:pt x="174" y="241"/>
                </a:cubicBezTo>
                <a:cubicBezTo>
                  <a:pt x="159" y="247"/>
                  <a:pt x="143" y="250"/>
                  <a:pt x="126" y="250"/>
                </a:cubicBezTo>
                <a:cubicBezTo>
                  <a:pt x="109" y="250"/>
                  <a:pt x="93" y="247"/>
                  <a:pt x="78" y="241"/>
                </a:cubicBezTo>
                <a:cubicBezTo>
                  <a:pt x="63" y="235"/>
                  <a:pt x="49" y="226"/>
                  <a:pt x="38" y="214"/>
                </a:cubicBezTo>
                <a:cubicBezTo>
                  <a:pt x="26" y="202"/>
                  <a:pt x="17" y="189"/>
                  <a:pt x="11" y="173"/>
                </a:cubicBezTo>
                <a:cubicBezTo>
                  <a:pt x="3" y="158"/>
                  <a:pt x="0" y="142"/>
                  <a:pt x="0" y="125"/>
                </a:cubicBezTo>
                <a:cubicBezTo>
                  <a:pt x="0" y="108"/>
                  <a:pt x="3" y="92"/>
                  <a:pt x="11" y="77"/>
                </a:cubicBezTo>
                <a:cubicBezTo>
                  <a:pt x="17" y="61"/>
                  <a:pt x="26" y="48"/>
                  <a:pt x="38" y="36"/>
                </a:cubicBezTo>
                <a:cubicBezTo>
                  <a:pt x="49" y="24"/>
                  <a:pt x="63" y="15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9"/>
                </a:cubicBezTo>
                <a:cubicBezTo>
                  <a:pt x="189" y="15"/>
                  <a:pt x="203" y="24"/>
                  <a:pt x="214" y="36"/>
                </a:cubicBezTo>
                <a:cubicBezTo>
                  <a:pt x="226" y="48"/>
                  <a:pt x="235" y="61"/>
                  <a:pt x="241" y="77"/>
                </a:cubicBezTo>
                <a:cubicBezTo>
                  <a:pt x="248" y="92"/>
                  <a:pt x="251" y="108"/>
                  <a:pt x="251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 txBox="1"/>
          <p:nvPr/>
        </p:nvSpPr>
        <p:spPr>
          <a:xfrm>
            <a:off x="1696680" y="1433520"/>
            <a:ext cx="40820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 txBox="1"/>
          <p:nvPr/>
        </p:nvSpPr>
        <p:spPr>
          <a:xfrm>
            <a:off x="762120" y="2452680"/>
            <a:ext cx="18169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 txBox="1"/>
          <p:nvPr/>
        </p:nvSpPr>
        <p:spPr>
          <a:xfrm>
            <a:off x="762120" y="4127760"/>
            <a:ext cx="5773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Does it matter whether there's a "master plan," if every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762120" y="4432680"/>
            <a:ext cx="626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department's separate piece still ﬁts together into the same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762120" y="4737600"/>
            <a:ext cx="975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machine?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762120" y="550008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4:57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 txBox="1"/>
          <p:nvPr/>
        </p:nvSpPr>
        <p:spPr>
          <a:xfrm>
            <a:off x="1994400" y="579492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 txBox="1"/>
          <p:nvPr/>
        </p:nvSpPr>
        <p:spPr>
          <a:xfrm>
            <a:off x="762120" y="2624040"/>
            <a:ext cx="89647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Why It's Incompatible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 txBox="1"/>
          <p:nvPr/>
        </p:nvSpPr>
        <p:spPr>
          <a:xfrm>
            <a:off x="762120" y="3788640"/>
            <a:ext cx="33771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With Democracy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7" name=""/>
          <p:cNvSpPr/>
          <p:nvPr/>
        </p:nvSpPr>
        <p:spPr>
          <a:xfrm>
            <a:off x="771480" y="2790720"/>
            <a:ext cx="3343320" cy="352800"/>
          </a:xfrm>
          <a:custGeom>
            <a:avLst/>
            <a:gdLst/>
            <a:ahLst/>
            <a:rect l="0" t="0" r="r" b="b"/>
            <a:pathLst>
              <a:path w="9287" h="980">
                <a:moveTo>
                  <a:pt x="0" y="0"/>
                </a:moveTo>
                <a:lnTo>
                  <a:pt x="9287" y="0"/>
                </a:lnTo>
                <a:lnTo>
                  <a:pt x="928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4114440" y="2790720"/>
            <a:ext cx="7315560" cy="352800"/>
          </a:xfrm>
          <a:custGeom>
            <a:avLst/>
            <a:gdLst/>
            <a:ahLst/>
            <a:rect l="0" t="0" r="r" b="b"/>
            <a:pathLst>
              <a:path w="20321" h="980">
                <a:moveTo>
                  <a:pt x="0" y="0"/>
                </a:moveTo>
                <a:lnTo>
                  <a:pt x="20321" y="0"/>
                </a:lnTo>
                <a:lnTo>
                  <a:pt x="2032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771480" y="3143160"/>
            <a:ext cx="3343320" cy="352800"/>
          </a:xfrm>
          <a:custGeom>
            <a:avLst/>
            <a:gdLst/>
            <a:ahLst/>
            <a:rect l="0" t="0" r="r" b="b"/>
            <a:pathLst>
              <a:path w="9287" h="980">
                <a:moveTo>
                  <a:pt x="0" y="0"/>
                </a:moveTo>
                <a:lnTo>
                  <a:pt x="9287" y="0"/>
                </a:lnTo>
                <a:lnTo>
                  <a:pt x="928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4114440" y="3143160"/>
            <a:ext cx="7315560" cy="352800"/>
          </a:xfrm>
          <a:custGeom>
            <a:avLst/>
            <a:gdLst/>
            <a:ahLst/>
            <a:rect l="0" t="0" r="r" b="b"/>
            <a:pathLst>
              <a:path w="20321" h="980">
                <a:moveTo>
                  <a:pt x="0" y="0"/>
                </a:moveTo>
                <a:lnTo>
                  <a:pt x="20321" y="0"/>
                </a:lnTo>
                <a:lnTo>
                  <a:pt x="2032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771480" y="3495600"/>
            <a:ext cx="3343320" cy="581400"/>
          </a:xfrm>
          <a:custGeom>
            <a:avLst/>
            <a:gdLst/>
            <a:ahLst/>
            <a:rect l="0" t="0" r="r" b="b"/>
            <a:pathLst>
              <a:path w="9287" h="1615">
                <a:moveTo>
                  <a:pt x="0" y="0"/>
                </a:moveTo>
                <a:lnTo>
                  <a:pt x="9287" y="0"/>
                </a:lnTo>
                <a:lnTo>
                  <a:pt x="928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4114440" y="3495600"/>
            <a:ext cx="7315560" cy="581400"/>
          </a:xfrm>
          <a:custGeom>
            <a:avLst/>
            <a:gdLst/>
            <a:ahLst/>
            <a:rect l="0" t="0" r="r" b="b"/>
            <a:pathLst>
              <a:path w="20321" h="1615">
                <a:moveTo>
                  <a:pt x="0" y="0"/>
                </a:moveTo>
                <a:lnTo>
                  <a:pt x="20321" y="0"/>
                </a:lnTo>
                <a:lnTo>
                  <a:pt x="2032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771480" y="4076640"/>
            <a:ext cx="3343320" cy="581400"/>
          </a:xfrm>
          <a:custGeom>
            <a:avLst/>
            <a:gdLst/>
            <a:ahLst/>
            <a:rect l="0" t="0" r="r" b="b"/>
            <a:pathLst>
              <a:path w="9287" h="1615">
                <a:moveTo>
                  <a:pt x="0" y="0"/>
                </a:moveTo>
                <a:lnTo>
                  <a:pt x="9287" y="0"/>
                </a:lnTo>
                <a:lnTo>
                  <a:pt x="928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4114440" y="4076640"/>
            <a:ext cx="7315560" cy="581400"/>
          </a:xfrm>
          <a:custGeom>
            <a:avLst/>
            <a:gdLst/>
            <a:ahLst/>
            <a:rect l="0" t="0" r="r" b="b"/>
            <a:pathLst>
              <a:path w="20321" h="1615">
                <a:moveTo>
                  <a:pt x="0" y="0"/>
                </a:moveTo>
                <a:lnTo>
                  <a:pt x="20321" y="0"/>
                </a:lnTo>
                <a:lnTo>
                  <a:pt x="2032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771480" y="4657680"/>
            <a:ext cx="3343320" cy="352800"/>
          </a:xfrm>
          <a:custGeom>
            <a:avLst/>
            <a:gdLst/>
            <a:ahLst/>
            <a:rect l="0" t="0" r="r" b="b"/>
            <a:pathLst>
              <a:path w="9287" h="980">
                <a:moveTo>
                  <a:pt x="0" y="0"/>
                </a:moveTo>
                <a:lnTo>
                  <a:pt x="9287" y="0"/>
                </a:lnTo>
                <a:lnTo>
                  <a:pt x="928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4114440" y="4657680"/>
            <a:ext cx="7315560" cy="352800"/>
          </a:xfrm>
          <a:custGeom>
            <a:avLst/>
            <a:gdLst/>
            <a:ahLst/>
            <a:rect l="0" t="0" r="r" b="b"/>
            <a:pathLst>
              <a:path w="20321" h="980">
                <a:moveTo>
                  <a:pt x="0" y="0"/>
                </a:moveTo>
                <a:lnTo>
                  <a:pt x="20321" y="0"/>
                </a:lnTo>
                <a:lnTo>
                  <a:pt x="2032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761760" y="278100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761760" y="2781000"/>
            <a:ext cx="3362760" cy="10080"/>
          </a:xfrm>
          <a:custGeom>
            <a:avLst/>
            <a:gdLst/>
            <a:ahLst/>
            <a:rect l="0" t="0" r="r" b="b"/>
            <a:pathLst>
              <a:path w="9341" h="28">
                <a:moveTo>
                  <a:pt x="0" y="0"/>
                </a:moveTo>
                <a:lnTo>
                  <a:pt x="9341" y="0"/>
                </a:lnTo>
                <a:lnTo>
                  <a:pt x="9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4114440" y="278100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4124160" y="2781000"/>
            <a:ext cx="7305840" cy="10080"/>
          </a:xfrm>
          <a:custGeom>
            <a:avLst/>
            <a:gdLst/>
            <a:ahLst/>
            <a:rect l="0" t="0" r="r" b="b"/>
            <a:pathLst>
              <a:path w="20294" h="28">
                <a:moveTo>
                  <a:pt x="0" y="0"/>
                </a:moveTo>
                <a:lnTo>
                  <a:pt x="20294" y="0"/>
                </a:lnTo>
                <a:lnTo>
                  <a:pt x="2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11420280" y="27810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761760" y="3133440"/>
            <a:ext cx="3362760" cy="10080"/>
          </a:xfrm>
          <a:custGeom>
            <a:avLst/>
            <a:gdLst/>
            <a:ahLst/>
            <a:rect l="0" t="0" r="r" b="b"/>
            <a:pathLst>
              <a:path w="9341" h="28">
                <a:moveTo>
                  <a:pt x="0" y="0"/>
                </a:moveTo>
                <a:lnTo>
                  <a:pt x="9341" y="0"/>
                </a:lnTo>
                <a:lnTo>
                  <a:pt x="9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4124160" y="3133440"/>
            <a:ext cx="7305840" cy="10080"/>
          </a:xfrm>
          <a:custGeom>
            <a:avLst/>
            <a:gdLst/>
            <a:ahLst/>
            <a:rect l="0" t="0" r="r" b="b"/>
            <a:pathLst>
              <a:path w="20294" h="28">
                <a:moveTo>
                  <a:pt x="0" y="0"/>
                </a:moveTo>
                <a:lnTo>
                  <a:pt x="20294" y="0"/>
                </a:lnTo>
                <a:lnTo>
                  <a:pt x="2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761760" y="31431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4114440" y="31431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11420280" y="31431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761760" y="349560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761760" y="3485880"/>
            <a:ext cx="3362760" cy="10080"/>
          </a:xfrm>
          <a:custGeom>
            <a:avLst/>
            <a:gdLst/>
            <a:ahLst/>
            <a:rect l="0" t="0" r="r" b="b"/>
            <a:pathLst>
              <a:path w="9341" h="28">
                <a:moveTo>
                  <a:pt x="0" y="0"/>
                </a:moveTo>
                <a:lnTo>
                  <a:pt x="9341" y="0"/>
                </a:lnTo>
                <a:lnTo>
                  <a:pt x="9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4114440" y="349560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4124160" y="3485880"/>
            <a:ext cx="7305840" cy="10080"/>
          </a:xfrm>
          <a:custGeom>
            <a:avLst/>
            <a:gdLst/>
            <a:ahLst/>
            <a:rect l="0" t="0" r="r" b="b"/>
            <a:pathLst>
              <a:path w="20294" h="28">
                <a:moveTo>
                  <a:pt x="0" y="0"/>
                </a:moveTo>
                <a:lnTo>
                  <a:pt x="20294" y="0"/>
                </a:lnTo>
                <a:lnTo>
                  <a:pt x="2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11420280" y="349560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761760" y="407664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761760" y="4066920"/>
            <a:ext cx="3362760" cy="10080"/>
          </a:xfrm>
          <a:custGeom>
            <a:avLst/>
            <a:gdLst/>
            <a:ahLst/>
            <a:rect l="0" t="0" r="r" b="b"/>
            <a:pathLst>
              <a:path w="9341" h="28">
                <a:moveTo>
                  <a:pt x="0" y="0"/>
                </a:moveTo>
                <a:lnTo>
                  <a:pt x="9341" y="0"/>
                </a:lnTo>
                <a:lnTo>
                  <a:pt x="9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4114440" y="407664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28" y="0"/>
                </a:lnTo>
                <a:lnTo>
                  <a:pt x="28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4124160" y="4066920"/>
            <a:ext cx="7305840" cy="10080"/>
          </a:xfrm>
          <a:custGeom>
            <a:avLst/>
            <a:gdLst/>
            <a:ahLst/>
            <a:rect l="0" t="0" r="r" b="b"/>
            <a:pathLst>
              <a:path w="20294" h="28">
                <a:moveTo>
                  <a:pt x="0" y="0"/>
                </a:moveTo>
                <a:lnTo>
                  <a:pt x="20294" y="0"/>
                </a:lnTo>
                <a:lnTo>
                  <a:pt x="2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11420280" y="407664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27" y="0"/>
                </a:lnTo>
                <a:lnTo>
                  <a:pt x="27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761760" y="4657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761760" y="4647960"/>
            <a:ext cx="3362760" cy="10080"/>
          </a:xfrm>
          <a:custGeom>
            <a:avLst/>
            <a:gdLst/>
            <a:ahLst/>
            <a:rect l="0" t="0" r="r" b="b"/>
            <a:pathLst>
              <a:path w="9341" h="28">
                <a:moveTo>
                  <a:pt x="0" y="0"/>
                </a:moveTo>
                <a:lnTo>
                  <a:pt x="9341" y="0"/>
                </a:lnTo>
                <a:lnTo>
                  <a:pt x="9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4114440" y="4657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4124160" y="4647960"/>
            <a:ext cx="7305840" cy="10080"/>
          </a:xfrm>
          <a:custGeom>
            <a:avLst/>
            <a:gdLst/>
            <a:ahLst/>
            <a:rect l="0" t="0" r="r" b="b"/>
            <a:pathLst>
              <a:path w="20294" h="28">
                <a:moveTo>
                  <a:pt x="0" y="0"/>
                </a:moveTo>
                <a:lnTo>
                  <a:pt x="20294" y="0"/>
                </a:lnTo>
                <a:lnTo>
                  <a:pt x="2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11420280" y="4657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761760" y="5000400"/>
            <a:ext cx="3362760" cy="10080"/>
          </a:xfrm>
          <a:custGeom>
            <a:avLst/>
            <a:gdLst/>
            <a:ahLst/>
            <a:rect l="0" t="0" r="r" b="b"/>
            <a:pathLst>
              <a:path w="9341" h="28">
                <a:moveTo>
                  <a:pt x="0" y="0"/>
                </a:moveTo>
                <a:lnTo>
                  <a:pt x="9341" y="0"/>
                </a:lnTo>
                <a:lnTo>
                  <a:pt x="9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4124160" y="5000400"/>
            <a:ext cx="7305840" cy="10080"/>
          </a:xfrm>
          <a:custGeom>
            <a:avLst/>
            <a:gdLst/>
            <a:ahLst/>
            <a:rect l="0" t="0" r="r" b="b"/>
            <a:pathLst>
              <a:path w="20294" h="28">
                <a:moveTo>
                  <a:pt x="0" y="0"/>
                </a:moveTo>
                <a:lnTo>
                  <a:pt x="20294" y="0"/>
                </a:lnTo>
                <a:lnTo>
                  <a:pt x="2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 txBox="1"/>
          <p:nvPr/>
        </p:nvSpPr>
        <p:spPr>
          <a:xfrm>
            <a:off x="912240" y="2872080"/>
            <a:ext cx="3059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Right (Human Rights Act 1998 / ECHR)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7170840" y="2872080"/>
            <a:ext cx="1200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Undermined by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905040" y="3224520"/>
            <a:ext cx="2565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Freedom of expression (Article 10)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4254480" y="3224520"/>
            <a:ext cx="312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Proﬁling and the destruction of anonymity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905040" y="3576960"/>
            <a:ext cx="2778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Freedom of assembly and association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905040" y="3805560"/>
            <a:ext cx="816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(Article 11)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4254480" y="3691080"/>
            <a:ext cx="4917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Facial recognition and surveillance at protests and of relationships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905040" y="4272120"/>
            <a:ext cx="1911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right to a fair hearing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4254480" y="4158000"/>
            <a:ext cx="6942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Opaque algorithms making decisions about us, with no dedicated law yet governing tools like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4254480" y="4386600"/>
            <a:ext cx="1581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live facial recognition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905040" y="4739040"/>
            <a:ext cx="3036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Right to respect for private life (Article 8)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4254480" y="4739040"/>
            <a:ext cx="4238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Digital lives constantly monitored, mined, and monetised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762120" y="-8280"/>
            <a:ext cx="9868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Rights Undermined, Regardless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762120" y="753480"/>
            <a:ext cx="759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of How the Data Is Used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4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6" name=""/>
          <p:cNvSpPr/>
          <p:nvPr/>
        </p:nvSpPr>
        <p:spPr>
          <a:xfrm>
            <a:off x="766440" y="3081240"/>
            <a:ext cx="10658880" cy="1543320"/>
          </a:xfrm>
          <a:custGeom>
            <a:avLst/>
            <a:gdLst/>
            <a:ahLst/>
            <a:rect l="0" t="0" r="r" b="b"/>
            <a:pathLst>
              <a:path w="29608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141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8"/>
                  <a:pt x="29566" y="4244"/>
                </a:cubicBezTo>
                <a:cubicBezTo>
                  <a:pt x="29559" y="4251"/>
                  <a:pt x="29552" y="4257"/>
                  <a:pt x="29544" y="4262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80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80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8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1"/>
                  <a:pt x="0" y="4151"/>
                  <a:pt x="0" y="4141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766440" y="3081240"/>
            <a:ext cx="10658880" cy="1543320"/>
          </a:xfrm>
          <a:custGeom>
            <a:avLst/>
            <a:gdLst/>
            <a:ahLst/>
            <a:rect l="0" t="0" r="r" b="b"/>
            <a:pathLst>
              <a:path fill="none" w="29608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141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8"/>
                  <a:pt x="29566" y="4244"/>
                </a:cubicBezTo>
                <a:cubicBezTo>
                  <a:pt x="29559" y="4251"/>
                  <a:pt x="29552" y="4257"/>
                  <a:pt x="29544" y="4262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80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80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8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1"/>
                  <a:pt x="0" y="4151"/>
                  <a:pt x="0" y="4141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 txBox="1"/>
          <p:nvPr/>
        </p:nvSpPr>
        <p:spPr>
          <a:xfrm>
            <a:off x="923760" y="3690360"/>
            <a:ext cx="1026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colonialism diminishes limited government, personal responsibility, and private property. It weakens freedom,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923760" y="3957120"/>
            <a:ext cx="10414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equality, civil rights, and the value of consent. The power it concentrates in corporations and government agencies is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942840" y="3305160"/>
            <a:ext cx="190800" cy="171720"/>
          </a:xfrm>
          <a:custGeom>
            <a:avLst/>
            <a:gdLst/>
            <a:ahLst/>
            <a:rect l="0" t="0" r="r" b="b"/>
            <a:pathLst>
              <a:path fill="none" w="530" h="477">
                <a:moveTo>
                  <a:pt x="26" y="477"/>
                </a:moveTo>
                <a:cubicBezTo>
                  <a:pt x="106" y="477"/>
                  <a:pt x="212" y="450"/>
                  <a:pt x="212" y="265"/>
                </a:cubicBezTo>
                <a:lnTo>
                  <a:pt x="212" y="52"/>
                </a:lnTo>
                <a:cubicBezTo>
                  <a:pt x="212" y="19"/>
                  <a:pt x="192" y="-1"/>
                  <a:pt x="159" y="0"/>
                </a:cubicBezTo>
                <a:lnTo>
                  <a:pt x="53" y="0"/>
                </a:lnTo>
                <a:cubicBezTo>
                  <a:pt x="20" y="0"/>
                  <a:pt x="0" y="19"/>
                  <a:pt x="0" y="52"/>
                </a:cubicBezTo>
                <a:lnTo>
                  <a:pt x="0" y="212"/>
                </a:lnTo>
                <a:cubicBezTo>
                  <a:pt x="0" y="245"/>
                  <a:pt x="20" y="265"/>
                  <a:pt x="53" y="265"/>
                </a:cubicBezTo>
                <a:cubicBezTo>
                  <a:pt x="79" y="265"/>
                  <a:pt x="79" y="265"/>
                  <a:pt x="79" y="292"/>
                </a:cubicBezTo>
                <a:lnTo>
                  <a:pt x="79" y="318"/>
                </a:lnTo>
                <a:cubicBezTo>
                  <a:pt x="79" y="344"/>
                  <a:pt x="53" y="371"/>
                  <a:pt x="26" y="371"/>
                </a:cubicBezTo>
                <a:cubicBezTo>
                  <a:pt x="0" y="371"/>
                  <a:pt x="0" y="371"/>
                  <a:pt x="0" y="398"/>
                </a:cubicBezTo>
                <a:lnTo>
                  <a:pt x="0" y="450"/>
                </a:lnTo>
                <a:cubicBezTo>
                  <a:pt x="0" y="477"/>
                  <a:pt x="0" y="477"/>
                  <a:pt x="26" y="477"/>
                </a:cubicBezTo>
                <a:moveTo>
                  <a:pt x="345" y="477"/>
                </a:moveTo>
                <a:cubicBezTo>
                  <a:pt x="424" y="477"/>
                  <a:pt x="530" y="450"/>
                  <a:pt x="530" y="265"/>
                </a:cubicBezTo>
                <a:lnTo>
                  <a:pt x="530" y="52"/>
                </a:lnTo>
                <a:cubicBezTo>
                  <a:pt x="530" y="19"/>
                  <a:pt x="510" y="-1"/>
                  <a:pt x="477" y="0"/>
                </a:cubicBezTo>
                <a:lnTo>
                  <a:pt x="371" y="0"/>
                </a:lnTo>
                <a:cubicBezTo>
                  <a:pt x="338" y="0"/>
                  <a:pt x="318" y="19"/>
                  <a:pt x="318" y="52"/>
                </a:cubicBezTo>
                <a:lnTo>
                  <a:pt x="318" y="212"/>
                </a:lnTo>
                <a:cubicBezTo>
                  <a:pt x="318" y="245"/>
                  <a:pt x="338" y="265"/>
                  <a:pt x="371" y="265"/>
                </a:cubicBezTo>
                <a:lnTo>
                  <a:pt x="391" y="265"/>
                </a:lnTo>
                <a:cubicBezTo>
                  <a:pt x="391" y="325"/>
                  <a:pt x="398" y="371"/>
                  <a:pt x="318" y="371"/>
                </a:cubicBezTo>
                <a:lnTo>
                  <a:pt x="318" y="450"/>
                </a:lnTo>
                <a:cubicBezTo>
                  <a:pt x="318" y="477"/>
                  <a:pt x="318" y="477"/>
                  <a:pt x="345" y="477"/>
                </a:cubicBezTo>
              </a:path>
            </a:pathLst>
          </a:custGeom>
          <a:ln cap="rnd" w="18720">
            <a:solidFill>
              <a:srgbClr val="a7a7a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 txBox="1"/>
          <p:nvPr/>
        </p:nvSpPr>
        <p:spPr>
          <a:xfrm>
            <a:off x="923760" y="4233240"/>
            <a:ext cx="8109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power taken from the people — "which is where it needs to reside for democracy to thrive."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1203120" y="3284280"/>
            <a:ext cx="4026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a7a7a7"/>
                </a:solidFill>
                <a:effectLst/>
                <a:uFillTx/>
                <a:latin typeface="LucidaGrande"/>
                <a:ea typeface="LucidaGrande"/>
              </a:rPr>
              <a:t>Cuts across the political spectrum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60" name="" descr=""/>
          <p:cNvPicPr/>
          <p:nvPr/>
        </p:nvPicPr>
        <p:blipFill>
          <a:blip r:embed="rId1"/>
          <a:stretch/>
        </p:blipFill>
        <p:spPr>
          <a:xfrm>
            <a:off x="9448920" y="25146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1" name=""/>
          <p:cNvSpPr/>
          <p:nvPr/>
        </p:nvSpPr>
        <p:spPr>
          <a:xfrm>
            <a:off x="847440" y="182268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2"/>
                  <a:pt x="0" y="875"/>
                </a:cubicBezTo>
                <a:cubicBezTo>
                  <a:pt x="0" y="1148"/>
                  <a:pt x="161" y="1392"/>
                  <a:pt x="413" y="1552"/>
                </a:cubicBezTo>
                <a:cubicBezTo>
                  <a:pt x="380" y="1696"/>
                  <a:pt x="304" y="1910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0"/>
                  <a:pt x="1033" y="1750"/>
                  <a:pt x="1126" y="1750"/>
                </a:cubicBezTo>
                <a:cubicBezTo>
                  <a:pt x="1747" y="1750"/>
                  <a:pt x="2250" y="1358"/>
                  <a:pt x="2250" y="875"/>
                </a:cubicBezTo>
                <a:cubicBezTo>
                  <a:pt x="2250" y="392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120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4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7" y="215"/>
                </a:cubicBezTo>
                <a:cubicBezTo>
                  <a:pt x="26" y="203"/>
                  <a:pt x="17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7" y="63"/>
                  <a:pt x="26" y="50"/>
                  <a:pt x="37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1387440" y="2092320"/>
            <a:ext cx="90000" cy="90360"/>
          </a:xfrm>
          <a:custGeom>
            <a:avLst/>
            <a:gdLst/>
            <a:ahLst/>
            <a:rect l="0" t="0" r="r" b="b"/>
            <a:pathLst>
              <a:path w="250" h="251">
                <a:moveTo>
                  <a:pt x="250" y="126"/>
                </a:moveTo>
                <a:cubicBezTo>
                  <a:pt x="250" y="143"/>
                  <a:pt x="247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3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2" y="235"/>
                  <a:pt x="49" y="226"/>
                  <a:pt x="37" y="215"/>
                </a:cubicBezTo>
                <a:cubicBezTo>
                  <a:pt x="25" y="203"/>
                  <a:pt x="16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6" y="63"/>
                  <a:pt x="25" y="50"/>
                  <a:pt x="37" y="37"/>
                </a:cubicBezTo>
                <a:cubicBezTo>
                  <a:pt x="49" y="25"/>
                  <a:pt x="62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7" y="94"/>
                  <a:pt x="250" y="110"/>
                  <a:pt x="250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102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3" y="226"/>
                  <a:pt x="189" y="235"/>
                  <a:pt x="174" y="242"/>
                </a:cubicBezTo>
                <a:cubicBezTo>
                  <a:pt x="159" y="248"/>
                  <a:pt x="143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8" y="215"/>
                </a:cubicBezTo>
                <a:cubicBezTo>
                  <a:pt x="26" y="203"/>
                  <a:pt x="17" y="189"/>
                  <a:pt x="11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1" y="78"/>
                </a:cubicBezTo>
                <a:cubicBezTo>
                  <a:pt x="17" y="63"/>
                  <a:pt x="26" y="50"/>
                  <a:pt x="38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10"/>
                </a:cubicBezTo>
                <a:cubicBezTo>
                  <a:pt x="189" y="16"/>
                  <a:pt x="203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1696680" y="1738080"/>
            <a:ext cx="40820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762120" y="2757240"/>
            <a:ext cx="18169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762120" y="4432680"/>
            <a:ext cx="388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lines we shouldn't cut through?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762120" y="519516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1:57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1994400" y="549000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766440" y="1385640"/>
            <a:ext cx="9515880" cy="4896360"/>
          </a:xfrm>
          <a:custGeom>
            <a:avLst/>
            <a:gdLst/>
            <a:ahLst/>
            <a:rect l="0" t="0" r="r" b="b"/>
            <a:pathLst>
              <a:path fill="none" w="26433" h="13601">
                <a:moveTo>
                  <a:pt x="0" y="0"/>
                </a:moveTo>
                <a:lnTo>
                  <a:pt x="26433" y="0"/>
                </a:lnTo>
                <a:lnTo>
                  <a:pt x="26433" y="13601"/>
                </a:lnTo>
                <a:lnTo>
                  <a:pt x="0" y="13601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26459" y="0"/>
                </a:move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601"/>
                </a:lnTo>
                <a:lnTo>
                  <a:pt x="26433" y="13601"/>
                </a:lnTo>
                <a:lnTo>
                  <a:pt x="26433" y="26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1905120" y="323928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1905120" y="36010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1904760" y="44956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4"/>
                </a:cubicBezTo>
                <a:cubicBezTo>
                  <a:pt x="4919" y="415"/>
                  <a:pt x="4922" y="446"/>
                  <a:pt x="4922" y="477"/>
                </a:cubicBezTo>
                <a:cubicBezTo>
                  <a:pt x="4922" y="508"/>
                  <a:pt x="4919" y="539"/>
                  <a:pt x="4913" y="570"/>
                </a:cubicBezTo>
                <a:cubicBezTo>
                  <a:pt x="4907" y="601"/>
                  <a:pt x="4898" y="630"/>
                  <a:pt x="4886" y="659"/>
                </a:cubicBezTo>
                <a:cubicBezTo>
                  <a:pt x="4874" y="688"/>
                  <a:pt x="4860" y="716"/>
                  <a:pt x="4842" y="742"/>
                </a:cubicBezTo>
                <a:cubicBezTo>
                  <a:pt x="4825" y="768"/>
                  <a:pt x="4805" y="792"/>
                  <a:pt x="4783" y="814"/>
                </a:cubicBezTo>
                <a:cubicBezTo>
                  <a:pt x="4761" y="836"/>
                  <a:pt x="4737" y="856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8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1905120" y="412344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3752640" y="44956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4"/>
                </a:cubicBezTo>
                <a:cubicBezTo>
                  <a:pt x="2750" y="415"/>
                  <a:pt x="2753" y="446"/>
                  <a:pt x="2753" y="477"/>
                </a:cubicBezTo>
                <a:cubicBezTo>
                  <a:pt x="2753" y="508"/>
                  <a:pt x="2750" y="539"/>
                  <a:pt x="2744" y="570"/>
                </a:cubicBezTo>
                <a:cubicBezTo>
                  <a:pt x="2737" y="601"/>
                  <a:pt x="2728" y="630"/>
                  <a:pt x="2716" y="659"/>
                </a:cubicBezTo>
                <a:cubicBezTo>
                  <a:pt x="2705" y="688"/>
                  <a:pt x="2690" y="716"/>
                  <a:pt x="2672" y="742"/>
                </a:cubicBezTo>
                <a:cubicBezTo>
                  <a:pt x="2655" y="768"/>
                  <a:pt x="2635" y="792"/>
                  <a:pt x="2613" y="814"/>
                </a:cubicBezTo>
                <a:cubicBezTo>
                  <a:pt x="2591" y="836"/>
                  <a:pt x="2567" y="856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7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2057400" y="45723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9439200" y="5943240"/>
            <a:ext cx="771840" cy="267120"/>
          </a:xfrm>
          <a:custGeom>
            <a:avLst/>
            <a:gdLst/>
            <a:ahLst/>
            <a:rect l="0" t="0" r="r" b="b"/>
            <a:pathLst>
              <a:path w="2144" h="742">
                <a:moveTo>
                  <a:pt x="0" y="425"/>
                </a:moveTo>
                <a:lnTo>
                  <a:pt x="0" y="319"/>
                </a:lnTo>
                <a:cubicBezTo>
                  <a:pt x="0" y="298"/>
                  <a:pt x="2" y="278"/>
                  <a:pt x="6" y="257"/>
                </a:cubicBezTo>
                <a:cubicBezTo>
                  <a:pt x="10" y="237"/>
                  <a:pt x="16" y="217"/>
                  <a:pt x="24" y="197"/>
                </a:cubicBezTo>
                <a:cubicBezTo>
                  <a:pt x="32" y="178"/>
                  <a:pt x="42" y="160"/>
                  <a:pt x="53" y="143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3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3"/>
                  <a:pt x="1888" y="7"/>
                </a:cubicBezTo>
                <a:cubicBezTo>
                  <a:pt x="1909" y="11"/>
                  <a:pt x="1929" y="17"/>
                  <a:pt x="1948" y="25"/>
                </a:cubicBezTo>
                <a:cubicBezTo>
                  <a:pt x="1967" y="33"/>
                  <a:pt x="1985" y="42"/>
                  <a:pt x="2003" y="54"/>
                </a:cubicBezTo>
                <a:cubicBezTo>
                  <a:pt x="2020" y="66"/>
                  <a:pt x="2036" y="79"/>
                  <a:pt x="2051" y="93"/>
                </a:cubicBezTo>
                <a:cubicBezTo>
                  <a:pt x="2066" y="108"/>
                  <a:pt x="2079" y="124"/>
                  <a:pt x="2090" y="143"/>
                </a:cubicBezTo>
                <a:cubicBezTo>
                  <a:pt x="2102" y="160"/>
                  <a:pt x="2112" y="178"/>
                  <a:pt x="2120" y="197"/>
                </a:cubicBezTo>
                <a:cubicBezTo>
                  <a:pt x="2128" y="217"/>
                  <a:pt x="2134" y="237"/>
                  <a:pt x="2138" y="257"/>
                </a:cubicBezTo>
                <a:cubicBezTo>
                  <a:pt x="2142" y="278"/>
                  <a:pt x="2144" y="298"/>
                  <a:pt x="2144" y="319"/>
                </a:cubicBezTo>
                <a:lnTo>
                  <a:pt x="2144" y="425"/>
                </a:lnTo>
                <a:cubicBezTo>
                  <a:pt x="2144" y="446"/>
                  <a:pt x="2142" y="466"/>
                  <a:pt x="2138" y="487"/>
                </a:cubicBezTo>
                <a:cubicBezTo>
                  <a:pt x="2134" y="507"/>
                  <a:pt x="2128" y="527"/>
                  <a:pt x="2120" y="546"/>
                </a:cubicBezTo>
                <a:cubicBezTo>
                  <a:pt x="2112" y="566"/>
                  <a:pt x="2102" y="584"/>
                  <a:pt x="2090" y="601"/>
                </a:cubicBezTo>
                <a:cubicBezTo>
                  <a:pt x="2079" y="619"/>
                  <a:pt x="2066" y="635"/>
                  <a:pt x="2051" y="649"/>
                </a:cubicBezTo>
                <a:cubicBezTo>
                  <a:pt x="2036" y="664"/>
                  <a:pt x="2020" y="677"/>
                  <a:pt x="2003" y="689"/>
                </a:cubicBezTo>
                <a:cubicBezTo>
                  <a:pt x="1985" y="700"/>
                  <a:pt x="1967" y="710"/>
                  <a:pt x="1948" y="718"/>
                </a:cubicBezTo>
                <a:cubicBezTo>
                  <a:pt x="1929" y="726"/>
                  <a:pt x="1909" y="732"/>
                  <a:pt x="1888" y="736"/>
                </a:cubicBezTo>
                <a:cubicBezTo>
                  <a:pt x="1868" y="740"/>
                  <a:pt x="1847" y="742"/>
                  <a:pt x="1826" y="742"/>
                </a:cubicBezTo>
                <a:lnTo>
                  <a:pt x="317" y="742"/>
                </a:lnTo>
                <a:cubicBezTo>
                  <a:pt x="296" y="742"/>
                  <a:pt x="276" y="740"/>
                  <a:pt x="255" y="736"/>
                </a:cubicBezTo>
                <a:cubicBezTo>
                  <a:pt x="235" y="732"/>
                  <a:pt x="215" y="726"/>
                  <a:pt x="196" y="718"/>
                </a:cubicBezTo>
                <a:cubicBezTo>
                  <a:pt x="176" y="710"/>
                  <a:pt x="158" y="700"/>
                  <a:pt x="141" y="689"/>
                </a:cubicBezTo>
                <a:cubicBezTo>
                  <a:pt x="123" y="677"/>
                  <a:pt x="107" y="664"/>
                  <a:pt x="93" y="649"/>
                </a:cubicBezTo>
                <a:cubicBezTo>
                  <a:pt x="78" y="635"/>
                  <a:pt x="65" y="619"/>
                  <a:pt x="53" y="601"/>
                </a:cubicBezTo>
                <a:cubicBezTo>
                  <a:pt x="42" y="584"/>
                  <a:pt x="32" y="566"/>
                  <a:pt x="24" y="546"/>
                </a:cubicBezTo>
                <a:cubicBezTo>
                  <a:pt x="16" y="527"/>
                  <a:pt x="10" y="507"/>
                  <a:pt x="6" y="487"/>
                </a:cubicBezTo>
                <a:cubicBezTo>
                  <a:pt x="2" y="466"/>
                  <a:pt x="0" y="446"/>
                  <a:pt x="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3908880" y="45723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9552240" y="598212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0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09" name="" descr=""/>
          <p:cNvPicPr/>
          <p:nvPr/>
        </p:nvPicPr>
        <p:blipFill>
          <a:blip r:embed="rId1"/>
          <a:stretch/>
        </p:blipFill>
        <p:spPr>
          <a:xfrm>
            <a:off x="9448920" y="25146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0" name=""/>
          <p:cNvSpPr/>
          <p:nvPr/>
        </p:nvSpPr>
        <p:spPr>
          <a:xfrm>
            <a:off x="847440" y="182268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2"/>
                  <a:pt x="0" y="875"/>
                </a:cubicBezTo>
                <a:cubicBezTo>
                  <a:pt x="0" y="1148"/>
                  <a:pt x="161" y="1392"/>
                  <a:pt x="413" y="1552"/>
                </a:cubicBezTo>
                <a:cubicBezTo>
                  <a:pt x="380" y="1696"/>
                  <a:pt x="304" y="1910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0"/>
                  <a:pt x="1033" y="1750"/>
                  <a:pt x="1126" y="1750"/>
                </a:cubicBezTo>
                <a:cubicBezTo>
                  <a:pt x="1747" y="1750"/>
                  <a:pt x="2250" y="1358"/>
                  <a:pt x="2250" y="875"/>
                </a:cubicBezTo>
                <a:cubicBezTo>
                  <a:pt x="2250" y="392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120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4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7" y="215"/>
                </a:cubicBezTo>
                <a:cubicBezTo>
                  <a:pt x="26" y="203"/>
                  <a:pt x="17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7" y="63"/>
                  <a:pt x="26" y="50"/>
                  <a:pt x="37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1387440" y="2092320"/>
            <a:ext cx="90000" cy="90360"/>
          </a:xfrm>
          <a:custGeom>
            <a:avLst/>
            <a:gdLst/>
            <a:ahLst/>
            <a:rect l="0" t="0" r="r" b="b"/>
            <a:pathLst>
              <a:path w="250" h="251">
                <a:moveTo>
                  <a:pt x="250" y="126"/>
                </a:moveTo>
                <a:cubicBezTo>
                  <a:pt x="250" y="143"/>
                  <a:pt x="247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2" y="226"/>
                  <a:pt x="189" y="235"/>
                  <a:pt x="173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2" y="235"/>
                  <a:pt x="49" y="226"/>
                  <a:pt x="37" y="215"/>
                </a:cubicBezTo>
                <a:cubicBezTo>
                  <a:pt x="25" y="203"/>
                  <a:pt x="16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6" y="63"/>
                  <a:pt x="25" y="50"/>
                  <a:pt x="37" y="37"/>
                </a:cubicBezTo>
                <a:cubicBezTo>
                  <a:pt x="49" y="25"/>
                  <a:pt x="62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7" y="94"/>
                  <a:pt x="250" y="110"/>
                  <a:pt x="250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1027440" y="209232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5"/>
                </a:cubicBezTo>
                <a:cubicBezTo>
                  <a:pt x="203" y="226"/>
                  <a:pt x="189" y="235"/>
                  <a:pt x="174" y="242"/>
                </a:cubicBezTo>
                <a:cubicBezTo>
                  <a:pt x="159" y="248"/>
                  <a:pt x="143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8" y="215"/>
                </a:cubicBezTo>
                <a:cubicBezTo>
                  <a:pt x="26" y="203"/>
                  <a:pt x="17" y="189"/>
                  <a:pt x="11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1" y="78"/>
                </a:cubicBezTo>
                <a:cubicBezTo>
                  <a:pt x="17" y="63"/>
                  <a:pt x="26" y="50"/>
                  <a:pt x="38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10"/>
                </a:cubicBezTo>
                <a:cubicBezTo>
                  <a:pt x="189" y="16"/>
                  <a:pt x="203" y="25"/>
                  <a:pt x="214" y="37"/>
                </a:cubicBezTo>
                <a:cubicBezTo>
                  <a:pt x="226" y="50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1696680" y="1738080"/>
            <a:ext cx="40820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762120" y="2757240"/>
            <a:ext cx="18169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762120" y="4432680"/>
            <a:ext cx="4204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Would peace and safety justify the cost?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762120" y="519516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1:57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1994400" y="549000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2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3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766440" y="1385640"/>
            <a:ext cx="9515880" cy="4896360"/>
          </a:xfrm>
          <a:custGeom>
            <a:avLst/>
            <a:gdLst/>
            <a:ahLst/>
            <a:rect l="0" t="0" r="r" b="b"/>
            <a:pathLst>
              <a:path fill="none" w="26433" h="13601">
                <a:moveTo>
                  <a:pt x="0" y="0"/>
                </a:moveTo>
                <a:lnTo>
                  <a:pt x="26433" y="0"/>
                </a:lnTo>
                <a:lnTo>
                  <a:pt x="26433" y="13601"/>
                </a:lnTo>
                <a:lnTo>
                  <a:pt x="0" y="13601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26459" y="0"/>
                </a:move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601"/>
                </a:lnTo>
                <a:lnTo>
                  <a:pt x="26433" y="13601"/>
                </a:lnTo>
                <a:lnTo>
                  <a:pt x="26433" y="26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1905120" y="323928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1905120" y="36010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1904760" y="44956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4"/>
                </a:cubicBezTo>
                <a:cubicBezTo>
                  <a:pt x="4919" y="415"/>
                  <a:pt x="4922" y="446"/>
                  <a:pt x="4922" y="477"/>
                </a:cubicBezTo>
                <a:cubicBezTo>
                  <a:pt x="4922" y="508"/>
                  <a:pt x="4919" y="539"/>
                  <a:pt x="4913" y="570"/>
                </a:cubicBezTo>
                <a:cubicBezTo>
                  <a:pt x="4907" y="601"/>
                  <a:pt x="4898" y="630"/>
                  <a:pt x="4886" y="659"/>
                </a:cubicBezTo>
                <a:cubicBezTo>
                  <a:pt x="4874" y="688"/>
                  <a:pt x="4860" y="716"/>
                  <a:pt x="4842" y="742"/>
                </a:cubicBezTo>
                <a:cubicBezTo>
                  <a:pt x="4825" y="768"/>
                  <a:pt x="4805" y="792"/>
                  <a:pt x="4783" y="814"/>
                </a:cubicBezTo>
                <a:cubicBezTo>
                  <a:pt x="4761" y="836"/>
                  <a:pt x="4737" y="856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8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 txBox="1"/>
          <p:nvPr/>
        </p:nvSpPr>
        <p:spPr>
          <a:xfrm>
            <a:off x="1905120" y="412344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3752640" y="44956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4"/>
                </a:cubicBezTo>
                <a:cubicBezTo>
                  <a:pt x="2750" y="415"/>
                  <a:pt x="2753" y="446"/>
                  <a:pt x="2753" y="477"/>
                </a:cubicBezTo>
                <a:cubicBezTo>
                  <a:pt x="2753" y="508"/>
                  <a:pt x="2750" y="539"/>
                  <a:pt x="2744" y="570"/>
                </a:cubicBezTo>
                <a:cubicBezTo>
                  <a:pt x="2737" y="601"/>
                  <a:pt x="2728" y="630"/>
                  <a:pt x="2716" y="659"/>
                </a:cubicBezTo>
                <a:cubicBezTo>
                  <a:pt x="2705" y="688"/>
                  <a:pt x="2690" y="716"/>
                  <a:pt x="2672" y="742"/>
                </a:cubicBezTo>
                <a:cubicBezTo>
                  <a:pt x="2655" y="768"/>
                  <a:pt x="2635" y="792"/>
                  <a:pt x="2613" y="814"/>
                </a:cubicBezTo>
                <a:cubicBezTo>
                  <a:pt x="2591" y="836"/>
                  <a:pt x="2567" y="856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7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2057400" y="45723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9439200" y="5943240"/>
            <a:ext cx="771840" cy="267120"/>
          </a:xfrm>
          <a:custGeom>
            <a:avLst/>
            <a:gdLst/>
            <a:ahLst/>
            <a:rect l="0" t="0" r="r" b="b"/>
            <a:pathLst>
              <a:path w="2144" h="742">
                <a:moveTo>
                  <a:pt x="0" y="425"/>
                </a:moveTo>
                <a:lnTo>
                  <a:pt x="0" y="319"/>
                </a:lnTo>
                <a:cubicBezTo>
                  <a:pt x="0" y="298"/>
                  <a:pt x="2" y="278"/>
                  <a:pt x="6" y="257"/>
                </a:cubicBezTo>
                <a:cubicBezTo>
                  <a:pt x="10" y="237"/>
                  <a:pt x="16" y="217"/>
                  <a:pt x="24" y="197"/>
                </a:cubicBezTo>
                <a:cubicBezTo>
                  <a:pt x="32" y="178"/>
                  <a:pt x="42" y="160"/>
                  <a:pt x="53" y="143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3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3"/>
                  <a:pt x="1888" y="7"/>
                </a:cubicBezTo>
                <a:cubicBezTo>
                  <a:pt x="1909" y="11"/>
                  <a:pt x="1929" y="17"/>
                  <a:pt x="1948" y="25"/>
                </a:cubicBezTo>
                <a:cubicBezTo>
                  <a:pt x="1967" y="33"/>
                  <a:pt x="1985" y="42"/>
                  <a:pt x="2003" y="54"/>
                </a:cubicBezTo>
                <a:cubicBezTo>
                  <a:pt x="2020" y="66"/>
                  <a:pt x="2036" y="79"/>
                  <a:pt x="2051" y="93"/>
                </a:cubicBezTo>
                <a:cubicBezTo>
                  <a:pt x="2066" y="108"/>
                  <a:pt x="2079" y="124"/>
                  <a:pt x="2090" y="143"/>
                </a:cubicBezTo>
                <a:cubicBezTo>
                  <a:pt x="2102" y="160"/>
                  <a:pt x="2112" y="178"/>
                  <a:pt x="2120" y="197"/>
                </a:cubicBezTo>
                <a:cubicBezTo>
                  <a:pt x="2128" y="217"/>
                  <a:pt x="2134" y="237"/>
                  <a:pt x="2138" y="257"/>
                </a:cubicBezTo>
                <a:cubicBezTo>
                  <a:pt x="2142" y="278"/>
                  <a:pt x="2144" y="298"/>
                  <a:pt x="2144" y="319"/>
                </a:cubicBezTo>
                <a:lnTo>
                  <a:pt x="2144" y="425"/>
                </a:lnTo>
                <a:cubicBezTo>
                  <a:pt x="2144" y="446"/>
                  <a:pt x="2142" y="466"/>
                  <a:pt x="2138" y="487"/>
                </a:cubicBezTo>
                <a:cubicBezTo>
                  <a:pt x="2134" y="507"/>
                  <a:pt x="2128" y="527"/>
                  <a:pt x="2120" y="546"/>
                </a:cubicBezTo>
                <a:cubicBezTo>
                  <a:pt x="2112" y="566"/>
                  <a:pt x="2102" y="584"/>
                  <a:pt x="2090" y="601"/>
                </a:cubicBezTo>
                <a:cubicBezTo>
                  <a:pt x="2079" y="619"/>
                  <a:pt x="2066" y="635"/>
                  <a:pt x="2051" y="649"/>
                </a:cubicBezTo>
                <a:cubicBezTo>
                  <a:pt x="2036" y="664"/>
                  <a:pt x="2020" y="677"/>
                  <a:pt x="2003" y="689"/>
                </a:cubicBezTo>
                <a:cubicBezTo>
                  <a:pt x="1985" y="700"/>
                  <a:pt x="1967" y="710"/>
                  <a:pt x="1948" y="718"/>
                </a:cubicBezTo>
                <a:cubicBezTo>
                  <a:pt x="1929" y="726"/>
                  <a:pt x="1909" y="732"/>
                  <a:pt x="1888" y="736"/>
                </a:cubicBezTo>
                <a:cubicBezTo>
                  <a:pt x="1868" y="740"/>
                  <a:pt x="1847" y="742"/>
                  <a:pt x="1826" y="742"/>
                </a:cubicBezTo>
                <a:lnTo>
                  <a:pt x="317" y="742"/>
                </a:lnTo>
                <a:cubicBezTo>
                  <a:pt x="296" y="742"/>
                  <a:pt x="276" y="740"/>
                  <a:pt x="255" y="736"/>
                </a:cubicBezTo>
                <a:cubicBezTo>
                  <a:pt x="235" y="732"/>
                  <a:pt x="215" y="726"/>
                  <a:pt x="196" y="718"/>
                </a:cubicBezTo>
                <a:cubicBezTo>
                  <a:pt x="176" y="710"/>
                  <a:pt x="158" y="700"/>
                  <a:pt x="141" y="689"/>
                </a:cubicBezTo>
                <a:cubicBezTo>
                  <a:pt x="123" y="677"/>
                  <a:pt x="107" y="664"/>
                  <a:pt x="93" y="649"/>
                </a:cubicBezTo>
                <a:cubicBezTo>
                  <a:pt x="78" y="635"/>
                  <a:pt x="65" y="619"/>
                  <a:pt x="53" y="601"/>
                </a:cubicBezTo>
                <a:cubicBezTo>
                  <a:pt x="42" y="584"/>
                  <a:pt x="32" y="566"/>
                  <a:pt x="24" y="546"/>
                </a:cubicBezTo>
                <a:cubicBezTo>
                  <a:pt x="16" y="527"/>
                  <a:pt x="10" y="507"/>
                  <a:pt x="6" y="487"/>
                </a:cubicBezTo>
                <a:cubicBezTo>
                  <a:pt x="2" y="466"/>
                  <a:pt x="0" y="446"/>
                  <a:pt x="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 txBox="1"/>
          <p:nvPr/>
        </p:nvSpPr>
        <p:spPr>
          <a:xfrm>
            <a:off x="3908880" y="45723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 txBox="1"/>
          <p:nvPr/>
        </p:nvSpPr>
        <p:spPr>
          <a:xfrm>
            <a:off x="9552240" y="598212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5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766440" y="1385640"/>
            <a:ext cx="9515880" cy="4896360"/>
          </a:xfrm>
          <a:custGeom>
            <a:avLst/>
            <a:gdLst/>
            <a:ahLst/>
            <a:rect l="0" t="0" r="r" b="b"/>
            <a:pathLst>
              <a:path fill="none" w="26433" h="13601">
                <a:moveTo>
                  <a:pt x="0" y="0"/>
                </a:moveTo>
                <a:lnTo>
                  <a:pt x="26433" y="0"/>
                </a:lnTo>
                <a:lnTo>
                  <a:pt x="26433" y="13601"/>
                </a:lnTo>
                <a:lnTo>
                  <a:pt x="0" y="13601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26459" y="0"/>
                </a:move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601"/>
                </a:lnTo>
                <a:lnTo>
                  <a:pt x="26433" y="13601"/>
                </a:lnTo>
                <a:lnTo>
                  <a:pt x="26433" y="26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 txBox="1"/>
          <p:nvPr/>
        </p:nvSpPr>
        <p:spPr>
          <a:xfrm>
            <a:off x="1905120" y="323928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1905120" y="36010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1904760" y="44956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4"/>
                </a:cubicBezTo>
                <a:cubicBezTo>
                  <a:pt x="4919" y="415"/>
                  <a:pt x="4922" y="446"/>
                  <a:pt x="4922" y="477"/>
                </a:cubicBezTo>
                <a:cubicBezTo>
                  <a:pt x="4922" y="508"/>
                  <a:pt x="4919" y="539"/>
                  <a:pt x="4913" y="570"/>
                </a:cubicBezTo>
                <a:cubicBezTo>
                  <a:pt x="4907" y="601"/>
                  <a:pt x="4898" y="630"/>
                  <a:pt x="4886" y="659"/>
                </a:cubicBezTo>
                <a:cubicBezTo>
                  <a:pt x="4874" y="688"/>
                  <a:pt x="4860" y="716"/>
                  <a:pt x="4842" y="742"/>
                </a:cubicBezTo>
                <a:cubicBezTo>
                  <a:pt x="4825" y="768"/>
                  <a:pt x="4805" y="792"/>
                  <a:pt x="4783" y="814"/>
                </a:cubicBezTo>
                <a:cubicBezTo>
                  <a:pt x="4761" y="836"/>
                  <a:pt x="4737" y="856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8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 txBox="1"/>
          <p:nvPr/>
        </p:nvSpPr>
        <p:spPr>
          <a:xfrm>
            <a:off x="1905120" y="412344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3752640" y="44956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4"/>
                </a:cubicBezTo>
                <a:cubicBezTo>
                  <a:pt x="2750" y="415"/>
                  <a:pt x="2753" y="446"/>
                  <a:pt x="2753" y="477"/>
                </a:cubicBezTo>
                <a:cubicBezTo>
                  <a:pt x="2753" y="508"/>
                  <a:pt x="2750" y="539"/>
                  <a:pt x="2744" y="570"/>
                </a:cubicBezTo>
                <a:cubicBezTo>
                  <a:pt x="2737" y="601"/>
                  <a:pt x="2728" y="630"/>
                  <a:pt x="2716" y="659"/>
                </a:cubicBezTo>
                <a:cubicBezTo>
                  <a:pt x="2705" y="688"/>
                  <a:pt x="2690" y="716"/>
                  <a:pt x="2672" y="742"/>
                </a:cubicBezTo>
                <a:cubicBezTo>
                  <a:pt x="2655" y="768"/>
                  <a:pt x="2635" y="792"/>
                  <a:pt x="2613" y="814"/>
                </a:cubicBezTo>
                <a:cubicBezTo>
                  <a:pt x="2591" y="836"/>
                  <a:pt x="2567" y="856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7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 txBox="1"/>
          <p:nvPr/>
        </p:nvSpPr>
        <p:spPr>
          <a:xfrm>
            <a:off x="2057400" y="45723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9439200" y="5943240"/>
            <a:ext cx="771840" cy="267120"/>
          </a:xfrm>
          <a:custGeom>
            <a:avLst/>
            <a:gdLst/>
            <a:ahLst/>
            <a:rect l="0" t="0" r="r" b="b"/>
            <a:pathLst>
              <a:path w="2144" h="742">
                <a:moveTo>
                  <a:pt x="0" y="425"/>
                </a:moveTo>
                <a:lnTo>
                  <a:pt x="0" y="319"/>
                </a:lnTo>
                <a:cubicBezTo>
                  <a:pt x="0" y="298"/>
                  <a:pt x="2" y="278"/>
                  <a:pt x="6" y="257"/>
                </a:cubicBezTo>
                <a:cubicBezTo>
                  <a:pt x="10" y="237"/>
                  <a:pt x="16" y="217"/>
                  <a:pt x="24" y="197"/>
                </a:cubicBezTo>
                <a:cubicBezTo>
                  <a:pt x="32" y="178"/>
                  <a:pt x="42" y="160"/>
                  <a:pt x="53" y="143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3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3"/>
                  <a:pt x="1888" y="7"/>
                </a:cubicBezTo>
                <a:cubicBezTo>
                  <a:pt x="1909" y="11"/>
                  <a:pt x="1929" y="17"/>
                  <a:pt x="1948" y="25"/>
                </a:cubicBezTo>
                <a:cubicBezTo>
                  <a:pt x="1967" y="33"/>
                  <a:pt x="1985" y="42"/>
                  <a:pt x="2003" y="54"/>
                </a:cubicBezTo>
                <a:cubicBezTo>
                  <a:pt x="2020" y="66"/>
                  <a:pt x="2036" y="79"/>
                  <a:pt x="2051" y="93"/>
                </a:cubicBezTo>
                <a:cubicBezTo>
                  <a:pt x="2066" y="108"/>
                  <a:pt x="2079" y="124"/>
                  <a:pt x="2090" y="143"/>
                </a:cubicBezTo>
                <a:cubicBezTo>
                  <a:pt x="2102" y="160"/>
                  <a:pt x="2112" y="178"/>
                  <a:pt x="2120" y="197"/>
                </a:cubicBezTo>
                <a:cubicBezTo>
                  <a:pt x="2128" y="217"/>
                  <a:pt x="2134" y="237"/>
                  <a:pt x="2138" y="257"/>
                </a:cubicBezTo>
                <a:cubicBezTo>
                  <a:pt x="2142" y="278"/>
                  <a:pt x="2144" y="298"/>
                  <a:pt x="2144" y="319"/>
                </a:cubicBezTo>
                <a:lnTo>
                  <a:pt x="2144" y="425"/>
                </a:lnTo>
                <a:cubicBezTo>
                  <a:pt x="2144" y="446"/>
                  <a:pt x="2142" y="466"/>
                  <a:pt x="2138" y="487"/>
                </a:cubicBezTo>
                <a:cubicBezTo>
                  <a:pt x="2134" y="507"/>
                  <a:pt x="2128" y="527"/>
                  <a:pt x="2120" y="546"/>
                </a:cubicBezTo>
                <a:cubicBezTo>
                  <a:pt x="2112" y="566"/>
                  <a:pt x="2102" y="584"/>
                  <a:pt x="2090" y="601"/>
                </a:cubicBezTo>
                <a:cubicBezTo>
                  <a:pt x="2079" y="619"/>
                  <a:pt x="2066" y="635"/>
                  <a:pt x="2051" y="649"/>
                </a:cubicBezTo>
                <a:cubicBezTo>
                  <a:pt x="2036" y="664"/>
                  <a:pt x="2020" y="677"/>
                  <a:pt x="2003" y="689"/>
                </a:cubicBezTo>
                <a:cubicBezTo>
                  <a:pt x="1985" y="700"/>
                  <a:pt x="1967" y="710"/>
                  <a:pt x="1948" y="718"/>
                </a:cubicBezTo>
                <a:cubicBezTo>
                  <a:pt x="1929" y="726"/>
                  <a:pt x="1909" y="732"/>
                  <a:pt x="1888" y="736"/>
                </a:cubicBezTo>
                <a:cubicBezTo>
                  <a:pt x="1868" y="740"/>
                  <a:pt x="1847" y="742"/>
                  <a:pt x="1826" y="742"/>
                </a:cubicBezTo>
                <a:lnTo>
                  <a:pt x="317" y="742"/>
                </a:lnTo>
                <a:cubicBezTo>
                  <a:pt x="296" y="742"/>
                  <a:pt x="276" y="740"/>
                  <a:pt x="255" y="736"/>
                </a:cubicBezTo>
                <a:cubicBezTo>
                  <a:pt x="235" y="732"/>
                  <a:pt x="215" y="726"/>
                  <a:pt x="196" y="718"/>
                </a:cubicBezTo>
                <a:cubicBezTo>
                  <a:pt x="176" y="710"/>
                  <a:pt x="158" y="700"/>
                  <a:pt x="141" y="689"/>
                </a:cubicBezTo>
                <a:cubicBezTo>
                  <a:pt x="123" y="677"/>
                  <a:pt x="107" y="664"/>
                  <a:pt x="93" y="649"/>
                </a:cubicBezTo>
                <a:cubicBezTo>
                  <a:pt x="78" y="635"/>
                  <a:pt x="65" y="619"/>
                  <a:pt x="53" y="601"/>
                </a:cubicBezTo>
                <a:cubicBezTo>
                  <a:pt x="42" y="584"/>
                  <a:pt x="32" y="566"/>
                  <a:pt x="24" y="546"/>
                </a:cubicBezTo>
                <a:cubicBezTo>
                  <a:pt x="16" y="527"/>
                  <a:pt x="10" y="507"/>
                  <a:pt x="6" y="487"/>
                </a:cubicBezTo>
                <a:cubicBezTo>
                  <a:pt x="2" y="466"/>
                  <a:pt x="0" y="446"/>
                  <a:pt x="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 txBox="1"/>
          <p:nvPr/>
        </p:nvSpPr>
        <p:spPr>
          <a:xfrm>
            <a:off x="3908880" y="45723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 txBox="1"/>
          <p:nvPr/>
        </p:nvSpPr>
        <p:spPr>
          <a:xfrm>
            <a:off x="9552240" y="598212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78" name="" descr=""/>
          <p:cNvPicPr/>
          <p:nvPr/>
        </p:nvPicPr>
        <p:blipFill>
          <a:blip r:embed="rId1"/>
          <a:stretch/>
        </p:blipFill>
        <p:spPr>
          <a:xfrm>
            <a:off x="9448920" y="25146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9" name=""/>
          <p:cNvSpPr/>
          <p:nvPr/>
        </p:nvSpPr>
        <p:spPr>
          <a:xfrm>
            <a:off x="847440" y="151776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1"/>
                  <a:pt x="0" y="875"/>
                </a:cubicBezTo>
                <a:cubicBezTo>
                  <a:pt x="0" y="1148"/>
                  <a:pt x="161" y="1392"/>
                  <a:pt x="413" y="1552"/>
                </a:cubicBezTo>
                <a:cubicBezTo>
                  <a:pt x="380" y="1697"/>
                  <a:pt x="304" y="1911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0"/>
                  <a:pt x="1033" y="1750"/>
                  <a:pt x="1126" y="1750"/>
                </a:cubicBezTo>
                <a:cubicBezTo>
                  <a:pt x="1747" y="1750"/>
                  <a:pt x="2250" y="1359"/>
                  <a:pt x="2250" y="875"/>
                </a:cubicBezTo>
                <a:cubicBezTo>
                  <a:pt x="2250" y="391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1207440" y="1787760"/>
            <a:ext cx="90360" cy="90000"/>
          </a:xfrm>
          <a:custGeom>
            <a:avLst/>
            <a:gdLst/>
            <a:ahLst/>
            <a:rect l="0" t="0" r="r" b="b"/>
            <a:pathLst>
              <a:path w="251" h="250">
                <a:moveTo>
                  <a:pt x="251" y="125"/>
                </a:moveTo>
                <a:cubicBezTo>
                  <a:pt x="251" y="142"/>
                  <a:pt x="248" y="158"/>
                  <a:pt x="241" y="173"/>
                </a:cubicBezTo>
                <a:cubicBezTo>
                  <a:pt x="235" y="189"/>
                  <a:pt x="226" y="202"/>
                  <a:pt x="214" y="214"/>
                </a:cubicBezTo>
                <a:cubicBezTo>
                  <a:pt x="202" y="226"/>
                  <a:pt x="189" y="235"/>
                  <a:pt x="174" y="241"/>
                </a:cubicBezTo>
                <a:cubicBezTo>
                  <a:pt x="158" y="247"/>
                  <a:pt x="142" y="250"/>
                  <a:pt x="126" y="250"/>
                </a:cubicBezTo>
                <a:cubicBezTo>
                  <a:pt x="109" y="250"/>
                  <a:pt x="93" y="247"/>
                  <a:pt x="78" y="241"/>
                </a:cubicBezTo>
                <a:cubicBezTo>
                  <a:pt x="63" y="235"/>
                  <a:pt x="49" y="226"/>
                  <a:pt x="37" y="214"/>
                </a:cubicBezTo>
                <a:cubicBezTo>
                  <a:pt x="26" y="202"/>
                  <a:pt x="17" y="189"/>
                  <a:pt x="10" y="173"/>
                </a:cubicBezTo>
                <a:cubicBezTo>
                  <a:pt x="3" y="158"/>
                  <a:pt x="0" y="142"/>
                  <a:pt x="0" y="125"/>
                </a:cubicBezTo>
                <a:cubicBezTo>
                  <a:pt x="0" y="108"/>
                  <a:pt x="3" y="92"/>
                  <a:pt x="10" y="77"/>
                </a:cubicBezTo>
                <a:cubicBezTo>
                  <a:pt x="17" y="61"/>
                  <a:pt x="26" y="48"/>
                  <a:pt x="37" y="36"/>
                </a:cubicBezTo>
                <a:cubicBezTo>
                  <a:pt x="49" y="24"/>
                  <a:pt x="63" y="15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9"/>
                </a:cubicBezTo>
                <a:cubicBezTo>
                  <a:pt x="189" y="15"/>
                  <a:pt x="202" y="24"/>
                  <a:pt x="214" y="36"/>
                </a:cubicBezTo>
                <a:cubicBezTo>
                  <a:pt x="226" y="48"/>
                  <a:pt x="235" y="61"/>
                  <a:pt x="241" y="77"/>
                </a:cubicBezTo>
                <a:cubicBezTo>
                  <a:pt x="248" y="92"/>
                  <a:pt x="251" y="108"/>
                  <a:pt x="251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1387440" y="1787760"/>
            <a:ext cx="90000" cy="90000"/>
          </a:xfrm>
          <a:custGeom>
            <a:avLst/>
            <a:gdLst/>
            <a:ahLst/>
            <a:rect l="0" t="0" r="r" b="b"/>
            <a:pathLst>
              <a:path w="250" h="250">
                <a:moveTo>
                  <a:pt x="250" y="125"/>
                </a:moveTo>
                <a:cubicBezTo>
                  <a:pt x="250" y="142"/>
                  <a:pt x="247" y="158"/>
                  <a:pt x="241" y="173"/>
                </a:cubicBezTo>
                <a:cubicBezTo>
                  <a:pt x="235" y="189"/>
                  <a:pt x="226" y="202"/>
                  <a:pt x="214" y="214"/>
                </a:cubicBezTo>
                <a:cubicBezTo>
                  <a:pt x="202" y="226"/>
                  <a:pt x="189" y="235"/>
                  <a:pt x="173" y="241"/>
                </a:cubicBezTo>
                <a:cubicBezTo>
                  <a:pt x="158" y="247"/>
                  <a:pt x="142" y="250"/>
                  <a:pt x="126" y="250"/>
                </a:cubicBezTo>
                <a:cubicBezTo>
                  <a:pt x="109" y="250"/>
                  <a:pt x="93" y="247"/>
                  <a:pt x="78" y="241"/>
                </a:cubicBezTo>
                <a:cubicBezTo>
                  <a:pt x="62" y="235"/>
                  <a:pt x="49" y="226"/>
                  <a:pt x="37" y="214"/>
                </a:cubicBezTo>
                <a:cubicBezTo>
                  <a:pt x="25" y="202"/>
                  <a:pt x="16" y="189"/>
                  <a:pt x="10" y="173"/>
                </a:cubicBezTo>
                <a:cubicBezTo>
                  <a:pt x="3" y="158"/>
                  <a:pt x="0" y="142"/>
                  <a:pt x="0" y="125"/>
                </a:cubicBezTo>
                <a:cubicBezTo>
                  <a:pt x="0" y="108"/>
                  <a:pt x="3" y="92"/>
                  <a:pt x="10" y="77"/>
                </a:cubicBezTo>
                <a:cubicBezTo>
                  <a:pt x="16" y="61"/>
                  <a:pt x="25" y="48"/>
                  <a:pt x="37" y="36"/>
                </a:cubicBezTo>
                <a:cubicBezTo>
                  <a:pt x="49" y="24"/>
                  <a:pt x="62" y="15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9"/>
                </a:cubicBezTo>
                <a:cubicBezTo>
                  <a:pt x="189" y="15"/>
                  <a:pt x="202" y="24"/>
                  <a:pt x="214" y="36"/>
                </a:cubicBezTo>
                <a:cubicBezTo>
                  <a:pt x="226" y="48"/>
                  <a:pt x="235" y="61"/>
                  <a:pt x="241" y="77"/>
                </a:cubicBezTo>
                <a:cubicBezTo>
                  <a:pt x="247" y="92"/>
                  <a:pt x="250" y="108"/>
                  <a:pt x="250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1027440" y="1787760"/>
            <a:ext cx="90360" cy="90000"/>
          </a:xfrm>
          <a:custGeom>
            <a:avLst/>
            <a:gdLst/>
            <a:ahLst/>
            <a:rect l="0" t="0" r="r" b="b"/>
            <a:pathLst>
              <a:path w="251" h="250">
                <a:moveTo>
                  <a:pt x="251" y="125"/>
                </a:moveTo>
                <a:cubicBezTo>
                  <a:pt x="251" y="142"/>
                  <a:pt x="248" y="158"/>
                  <a:pt x="241" y="173"/>
                </a:cubicBezTo>
                <a:cubicBezTo>
                  <a:pt x="235" y="189"/>
                  <a:pt x="226" y="202"/>
                  <a:pt x="214" y="214"/>
                </a:cubicBezTo>
                <a:cubicBezTo>
                  <a:pt x="203" y="226"/>
                  <a:pt x="189" y="235"/>
                  <a:pt x="174" y="241"/>
                </a:cubicBezTo>
                <a:cubicBezTo>
                  <a:pt x="159" y="247"/>
                  <a:pt x="143" y="250"/>
                  <a:pt x="126" y="250"/>
                </a:cubicBezTo>
                <a:cubicBezTo>
                  <a:pt x="109" y="250"/>
                  <a:pt x="93" y="247"/>
                  <a:pt x="78" y="241"/>
                </a:cubicBezTo>
                <a:cubicBezTo>
                  <a:pt x="63" y="235"/>
                  <a:pt x="49" y="226"/>
                  <a:pt x="38" y="214"/>
                </a:cubicBezTo>
                <a:cubicBezTo>
                  <a:pt x="26" y="202"/>
                  <a:pt x="17" y="189"/>
                  <a:pt x="11" y="173"/>
                </a:cubicBezTo>
                <a:cubicBezTo>
                  <a:pt x="3" y="158"/>
                  <a:pt x="0" y="142"/>
                  <a:pt x="0" y="125"/>
                </a:cubicBezTo>
                <a:cubicBezTo>
                  <a:pt x="0" y="108"/>
                  <a:pt x="3" y="92"/>
                  <a:pt x="11" y="77"/>
                </a:cubicBezTo>
                <a:cubicBezTo>
                  <a:pt x="17" y="61"/>
                  <a:pt x="26" y="48"/>
                  <a:pt x="38" y="36"/>
                </a:cubicBezTo>
                <a:cubicBezTo>
                  <a:pt x="49" y="24"/>
                  <a:pt x="63" y="15"/>
                  <a:pt x="78" y="9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9"/>
                </a:cubicBezTo>
                <a:cubicBezTo>
                  <a:pt x="189" y="15"/>
                  <a:pt x="203" y="24"/>
                  <a:pt x="214" y="36"/>
                </a:cubicBezTo>
                <a:cubicBezTo>
                  <a:pt x="226" y="48"/>
                  <a:pt x="235" y="61"/>
                  <a:pt x="241" y="77"/>
                </a:cubicBezTo>
                <a:cubicBezTo>
                  <a:pt x="248" y="92"/>
                  <a:pt x="251" y="108"/>
                  <a:pt x="251" y="12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 txBox="1"/>
          <p:nvPr/>
        </p:nvSpPr>
        <p:spPr>
          <a:xfrm>
            <a:off x="1696680" y="1433520"/>
            <a:ext cx="40820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 txBox="1"/>
          <p:nvPr/>
        </p:nvSpPr>
        <p:spPr>
          <a:xfrm>
            <a:off x="762120" y="2452680"/>
            <a:ext cx="18169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 txBox="1"/>
          <p:nvPr/>
        </p:nvSpPr>
        <p:spPr>
          <a:xfrm>
            <a:off x="762120" y="4127760"/>
            <a:ext cx="678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message do you want to send to the public?, what data you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 txBox="1"/>
          <p:nvPr/>
        </p:nvSpPr>
        <p:spPr>
          <a:xfrm>
            <a:off x="762120" y="4432680"/>
            <a:ext cx="6946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are going to use? and through which means you are going to send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 txBox="1"/>
          <p:nvPr/>
        </p:nvSpPr>
        <p:spPr>
          <a:xfrm>
            <a:off x="762120" y="4737600"/>
            <a:ext cx="1418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message?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 txBox="1"/>
          <p:nvPr/>
        </p:nvSpPr>
        <p:spPr>
          <a:xfrm>
            <a:off x="762120" y="550008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4:57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 txBox="1"/>
          <p:nvPr/>
        </p:nvSpPr>
        <p:spPr>
          <a:xfrm>
            <a:off x="1994400" y="579492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9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766440" y="1385640"/>
            <a:ext cx="9515880" cy="4896360"/>
          </a:xfrm>
          <a:custGeom>
            <a:avLst/>
            <a:gdLst/>
            <a:ahLst/>
            <a:rect l="0" t="0" r="r" b="b"/>
            <a:pathLst>
              <a:path fill="none" w="26433" h="13601">
                <a:moveTo>
                  <a:pt x="0" y="0"/>
                </a:moveTo>
                <a:lnTo>
                  <a:pt x="26433" y="0"/>
                </a:lnTo>
                <a:lnTo>
                  <a:pt x="26433" y="13601"/>
                </a:lnTo>
                <a:lnTo>
                  <a:pt x="0" y="13601"/>
                </a:ln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26459" y="0"/>
                </a:move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lnTo>
                  <a:pt x="26459" y="0"/>
                </a:lnTo>
                <a:moveTo>
                  <a:pt x="26433" y="26"/>
                </a:moveTo>
                <a:lnTo>
                  <a:pt x="27" y="26"/>
                </a:lnTo>
                <a:lnTo>
                  <a:pt x="27" y="13601"/>
                </a:lnTo>
                <a:lnTo>
                  <a:pt x="26433" y="13601"/>
                </a:lnTo>
                <a:lnTo>
                  <a:pt x="26433" y="26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761760" y="1380960"/>
            <a:ext cx="9525240" cy="4905720"/>
          </a:xfrm>
          <a:custGeom>
            <a:avLst/>
            <a:gdLst/>
            <a:ahLst/>
            <a:rect l="0" t="0" r="r" b="b"/>
            <a:pathLst>
              <a:path w="26459" h="13627">
                <a:moveTo>
                  <a:pt x="0" y="0"/>
                </a:moveTo>
                <a:lnTo>
                  <a:pt x="26459" y="0"/>
                </a:lnTo>
                <a:lnTo>
                  <a:pt x="26459" y="13627"/>
                </a:lnTo>
                <a:lnTo>
                  <a:pt x="0" y="13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 txBox="1"/>
          <p:nvPr/>
        </p:nvSpPr>
        <p:spPr>
          <a:xfrm>
            <a:off x="1905120" y="3239280"/>
            <a:ext cx="3084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Video player configuration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 txBox="1"/>
          <p:nvPr/>
        </p:nvSpPr>
        <p:spPr>
          <a:xfrm>
            <a:off x="1905120" y="3601080"/>
            <a:ext cx="56376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1904760" y="4495680"/>
            <a:ext cx="1771920" cy="343080"/>
          </a:xfrm>
          <a:custGeom>
            <a:avLst/>
            <a:gdLst/>
            <a:ahLst/>
            <a:rect l="0" t="0" r="r" b="b"/>
            <a:pathLst>
              <a:path w="4922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8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4" y="9"/>
                </a:cubicBezTo>
                <a:cubicBezTo>
                  <a:pt x="414" y="3"/>
                  <a:pt x="445" y="0"/>
                  <a:pt x="476" y="0"/>
                </a:cubicBezTo>
                <a:lnTo>
                  <a:pt x="4446" y="0"/>
                </a:lnTo>
                <a:cubicBezTo>
                  <a:pt x="4477" y="0"/>
                  <a:pt x="4508" y="3"/>
                  <a:pt x="4539" y="9"/>
                </a:cubicBezTo>
                <a:cubicBezTo>
                  <a:pt x="4570" y="15"/>
                  <a:pt x="4600" y="24"/>
                  <a:pt x="4628" y="36"/>
                </a:cubicBezTo>
                <a:cubicBezTo>
                  <a:pt x="4657" y="48"/>
                  <a:pt x="4685" y="63"/>
                  <a:pt x="4711" y="80"/>
                </a:cubicBezTo>
                <a:cubicBezTo>
                  <a:pt x="4737" y="97"/>
                  <a:pt x="4761" y="117"/>
                  <a:pt x="4783" y="139"/>
                </a:cubicBezTo>
                <a:cubicBezTo>
                  <a:pt x="4805" y="161"/>
                  <a:pt x="4825" y="185"/>
                  <a:pt x="4842" y="211"/>
                </a:cubicBezTo>
                <a:cubicBezTo>
                  <a:pt x="4860" y="237"/>
                  <a:pt x="4874" y="265"/>
                  <a:pt x="4886" y="294"/>
                </a:cubicBezTo>
                <a:cubicBezTo>
                  <a:pt x="4898" y="323"/>
                  <a:pt x="4907" y="352"/>
                  <a:pt x="4913" y="384"/>
                </a:cubicBezTo>
                <a:cubicBezTo>
                  <a:pt x="4919" y="415"/>
                  <a:pt x="4922" y="446"/>
                  <a:pt x="4922" y="477"/>
                </a:cubicBezTo>
                <a:cubicBezTo>
                  <a:pt x="4922" y="508"/>
                  <a:pt x="4919" y="539"/>
                  <a:pt x="4913" y="570"/>
                </a:cubicBezTo>
                <a:cubicBezTo>
                  <a:pt x="4907" y="601"/>
                  <a:pt x="4898" y="630"/>
                  <a:pt x="4886" y="659"/>
                </a:cubicBezTo>
                <a:cubicBezTo>
                  <a:pt x="4874" y="688"/>
                  <a:pt x="4860" y="716"/>
                  <a:pt x="4842" y="742"/>
                </a:cubicBezTo>
                <a:cubicBezTo>
                  <a:pt x="4825" y="768"/>
                  <a:pt x="4805" y="792"/>
                  <a:pt x="4783" y="814"/>
                </a:cubicBezTo>
                <a:cubicBezTo>
                  <a:pt x="4761" y="836"/>
                  <a:pt x="4737" y="856"/>
                  <a:pt x="4711" y="873"/>
                </a:cubicBezTo>
                <a:cubicBezTo>
                  <a:pt x="4685" y="890"/>
                  <a:pt x="4657" y="905"/>
                  <a:pt x="4628" y="917"/>
                </a:cubicBezTo>
                <a:cubicBezTo>
                  <a:pt x="4600" y="929"/>
                  <a:pt x="4570" y="938"/>
                  <a:pt x="4539" y="944"/>
                </a:cubicBezTo>
                <a:cubicBezTo>
                  <a:pt x="4508" y="950"/>
                  <a:pt x="4477" y="953"/>
                  <a:pt x="444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4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8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 txBox="1"/>
          <p:nvPr/>
        </p:nvSpPr>
        <p:spPr>
          <a:xfrm>
            <a:off x="1905120" y="4123440"/>
            <a:ext cx="6361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3752640" y="4495680"/>
            <a:ext cx="991080" cy="343080"/>
          </a:xfrm>
          <a:custGeom>
            <a:avLst/>
            <a:gdLst/>
            <a:ahLst/>
            <a:rect l="0" t="0" r="r" b="b"/>
            <a:pathLst>
              <a:path w="2753" h="953">
                <a:moveTo>
                  <a:pt x="0" y="477"/>
                </a:moveTo>
                <a:cubicBezTo>
                  <a:pt x="0" y="446"/>
                  <a:pt x="3" y="415"/>
                  <a:pt x="9" y="384"/>
                </a:cubicBezTo>
                <a:cubicBezTo>
                  <a:pt x="15" y="352"/>
                  <a:pt x="24" y="323"/>
                  <a:pt x="36" y="294"/>
                </a:cubicBezTo>
                <a:cubicBezTo>
                  <a:pt x="48" y="265"/>
                  <a:pt x="63" y="237"/>
                  <a:pt x="80" y="211"/>
                </a:cubicBezTo>
                <a:cubicBezTo>
                  <a:pt x="98" y="185"/>
                  <a:pt x="117" y="161"/>
                  <a:pt x="140" y="139"/>
                </a:cubicBezTo>
                <a:cubicBezTo>
                  <a:pt x="162" y="117"/>
                  <a:pt x="186" y="97"/>
                  <a:pt x="212" y="80"/>
                </a:cubicBezTo>
                <a:cubicBezTo>
                  <a:pt x="238" y="63"/>
                  <a:pt x="265" y="48"/>
                  <a:pt x="294" y="36"/>
                </a:cubicBezTo>
                <a:cubicBezTo>
                  <a:pt x="323" y="24"/>
                  <a:pt x="353" y="15"/>
                  <a:pt x="383" y="9"/>
                </a:cubicBezTo>
                <a:cubicBezTo>
                  <a:pt x="414" y="3"/>
                  <a:pt x="445" y="0"/>
                  <a:pt x="476" y="0"/>
                </a:cubicBezTo>
                <a:lnTo>
                  <a:pt x="2276" y="0"/>
                </a:lnTo>
                <a:cubicBezTo>
                  <a:pt x="2308" y="0"/>
                  <a:pt x="2339" y="3"/>
                  <a:pt x="2369" y="9"/>
                </a:cubicBezTo>
                <a:cubicBezTo>
                  <a:pt x="2400" y="15"/>
                  <a:pt x="2430" y="24"/>
                  <a:pt x="2459" y="36"/>
                </a:cubicBezTo>
                <a:cubicBezTo>
                  <a:pt x="2488" y="48"/>
                  <a:pt x="2515" y="63"/>
                  <a:pt x="2541" y="80"/>
                </a:cubicBezTo>
                <a:cubicBezTo>
                  <a:pt x="2567" y="97"/>
                  <a:pt x="2591" y="117"/>
                  <a:pt x="2613" y="139"/>
                </a:cubicBezTo>
                <a:cubicBezTo>
                  <a:pt x="2635" y="161"/>
                  <a:pt x="2655" y="185"/>
                  <a:pt x="2672" y="211"/>
                </a:cubicBezTo>
                <a:cubicBezTo>
                  <a:pt x="2690" y="237"/>
                  <a:pt x="2705" y="265"/>
                  <a:pt x="2716" y="294"/>
                </a:cubicBezTo>
                <a:cubicBezTo>
                  <a:pt x="2728" y="323"/>
                  <a:pt x="2737" y="352"/>
                  <a:pt x="2744" y="384"/>
                </a:cubicBezTo>
                <a:cubicBezTo>
                  <a:pt x="2750" y="415"/>
                  <a:pt x="2753" y="446"/>
                  <a:pt x="2753" y="477"/>
                </a:cubicBezTo>
                <a:cubicBezTo>
                  <a:pt x="2753" y="508"/>
                  <a:pt x="2750" y="539"/>
                  <a:pt x="2744" y="570"/>
                </a:cubicBezTo>
                <a:cubicBezTo>
                  <a:pt x="2737" y="601"/>
                  <a:pt x="2728" y="630"/>
                  <a:pt x="2716" y="659"/>
                </a:cubicBezTo>
                <a:cubicBezTo>
                  <a:pt x="2705" y="688"/>
                  <a:pt x="2690" y="716"/>
                  <a:pt x="2672" y="742"/>
                </a:cubicBezTo>
                <a:cubicBezTo>
                  <a:pt x="2655" y="768"/>
                  <a:pt x="2635" y="792"/>
                  <a:pt x="2613" y="814"/>
                </a:cubicBezTo>
                <a:cubicBezTo>
                  <a:pt x="2591" y="836"/>
                  <a:pt x="2567" y="856"/>
                  <a:pt x="2541" y="873"/>
                </a:cubicBezTo>
                <a:cubicBezTo>
                  <a:pt x="2515" y="890"/>
                  <a:pt x="2488" y="905"/>
                  <a:pt x="2459" y="917"/>
                </a:cubicBezTo>
                <a:cubicBezTo>
                  <a:pt x="2430" y="929"/>
                  <a:pt x="2400" y="938"/>
                  <a:pt x="2369" y="944"/>
                </a:cubicBezTo>
                <a:cubicBezTo>
                  <a:pt x="2339" y="950"/>
                  <a:pt x="2308" y="953"/>
                  <a:pt x="2276" y="953"/>
                </a:cubicBezTo>
                <a:lnTo>
                  <a:pt x="476" y="953"/>
                </a:lnTo>
                <a:cubicBezTo>
                  <a:pt x="445" y="953"/>
                  <a:pt x="414" y="950"/>
                  <a:pt x="383" y="944"/>
                </a:cubicBezTo>
                <a:cubicBezTo>
                  <a:pt x="353" y="938"/>
                  <a:pt x="323" y="929"/>
                  <a:pt x="294" y="917"/>
                </a:cubicBezTo>
                <a:cubicBezTo>
                  <a:pt x="265" y="905"/>
                  <a:pt x="238" y="890"/>
                  <a:pt x="212" y="873"/>
                </a:cubicBezTo>
                <a:cubicBezTo>
                  <a:pt x="186" y="856"/>
                  <a:pt x="162" y="836"/>
                  <a:pt x="140" y="814"/>
                </a:cubicBezTo>
                <a:cubicBezTo>
                  <a:pt x="117" y="792"/>
                  <a:pt x="98" y="768"/>
                  <a:pt x="80" y="742"/>
                </a:cubicBezTo>
                <a:cubicBezTo>
                  <a:pt x="63" y="716"/>
                  <a:pt x="48" y="688"/>
                  <a:pt x="36" y="659"/>
                </a:cubicBezTo>
                <a:cubicBezTo>
                  <a:pt x="24" y="630"/>
                  <a:pt x="15" y="601"/>
                  <a:pt x="9" y="570"/>
                </a:cubicBezTo>
                <a:cubicBezTo>
                  <a:pt x="3" y="539"/>
                  <a:pt x="0" y="508"/>
                  <a:pt x="0" y="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2057400" y="4572360"/>
            <a:ext cx="1489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Watch video on YouTube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9439200" y="5943240"/>
            <a:ext cx="771840" cy="267120"/>
          </a:xfrm>
          <a:custGeom>
            <a:avLst/>
            <a:gdLst/>
            <a:ahLst/>
            <a:rect l="0" t="0" r="r" b="b"/>
            <a:pathLst>
              <a:path w="2144" h="742">
                <a:moveTo>
                  <a:pt x="0" y="425"/>
                </a:moveTo>
                <a:lnTo>
                  <a:pt x="0" y="319"/>
                </a:lnTo>
                <a:cubicBezTo>
                  <a:pt x="0" y="298"/>
                  <a:pt x="2" y="278"/>
                  <a:pt x="6" y="257"/>
                </a:cubicBezTo>
                <a:cubicBezTo>
                  <a:pt x="10" y="237"/>
                  <a:pt x="16" y="217"/>
                  <a:pt x="24" y="197"/>
                </a:cubicBezTo>
                <a:cubicBezTo>
                  <a:pt x="32" y="178"/>
                  <a:pt x="42" y="160"/>
                  <a:pt x="53" y="143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3"/>
                  <a:pt x="296" y="0"/>
                  <a:pt x="317" y="0"/>
                </a:cubicBezTo>
                <a:lnTo>
                  <a:pt x="1826" y="0"/>
                </a:lnTo>
                <a:cubicBezTo>
                  <a:pt x="1847" y="0"/>
                  <a:pt x="1868" y="3"/>
                  <a:pt x="1888" y="7"/>
                </a:cubicBezTo>
                <a:cubicBezTo>
                  <a:pt x="1909" y="11"/>
                  <a:pt x="1929" y="17"/>
                  <a:pt x="1948" y="25"/>
                </a:cubicBezTo>
                <a:cubicBezTo>
                  <a:pt x="1967" y="33"/>
                  <a:pt x="1985" y="42"/>
                  <a:pt x="2003" y="54"/>
                </a:cubicBezTo>
                <a:cubicBezTo>
                  <a:pt x="2020" y="66"/>
                  <a:pt x="2036" y="79"/>
                  <a:pt x="2051" y="93"/>
                </a:cubicBezTo>
                <a:cubicBezTo>
                  <a:pt x="2066" y="108"/>
                  <a:pt x="2079" y="124"/>
                  <a:pt x="2090" y="143"/>
                </a:cubicBezTo>
                <a:cubicBezTo>
                  <a:pt x="2102" y="160"/>
                  <a:pt x="2112" y="178"/>
                  <a:pt x="2120" y="197"/>
                </a:cubicBezTo>
                <a:cubicBezTo>
                  <a:pt x="2128" y="217"/>
                  <a:pt x="2134" y="237"/>
                  <a:pt x="2138" y="257"/>
                </a:cubicBezTo>
                <a:cubicBezTo>
                  <a:pt x="2142" y="278"/>
                  <a:pt x="2144" y="298"/>
                  <a:pt x="2144" y="319"/>
                </a:cubicBezTo>
                <a:lnTo>
                  <a:pt x="2144" y="425"/>
                </a:lnTo>
                <a:cubicBezTo>
                  <a:pt x="2144" y="446"/>
                  <a:pt x="2142" y="466"/>
                  <a:pt x="2138" y="487"/>
                </a:cubicBezTo>
                <a:cubicBezTo>
                  <a:pt x="2134" y="507"/>
                  <a:pt x="2128" y="527"/>
                  <a:pt x="2120" y="546"/>
                </a:cubicBezTo>
                <a:cubicBezTo>
                  <a:pt x="2112" y="566"/>
                  <a:pt x="2102" y="584"/>
                  <a:pt x="2090" y="601"/>
                </a:cubicBezTo>
                <a:cubicBezTo>
                  <a:pt x="2079" y="619"/>
                  <a:pt x="2066" y="635"/>
                  <a:pt x="2051" y="649"/>
                </a:cubicBezTo>
                <a:cubicBezTo>
                  <a:pt x="2036" y="664"/>
                  <a:pt x="2020" y="677"/>
                  <a:pt x="2003" y="689"/>
                </a:cubicBezTo>
                <a:cubicBezTo>
                  <a:pt x="1985" y="700"/>
                  <a:pt x="1967" y="710"/>
                  <a:pt x="1948" y="718"/>
                </a:cubicBezTo>
                <a:cubicBezTo>
                  <a:pt x="1929" y="726"/>
                  <a:pt x="1909" y="732"/>
                  <a:pt x="1888" y="736"/>
                </a:cubicBezTo>
                <a:cubicBezTo>
                  <a:pt x="1868" y="740"/>
                  <a:pt x="1847" y="742"/>
                  <a:pt x="1826" y="742"/>
                </a:cubicBezTo>
                <a:lnTo>
                  <a:pt x="317" y="742"/>
                </a:lnTo>
                <a:cubicBezTo>
                  <a:pt x="296" y="742"/>
                  <a:pt x="276" y="740"/>
                  <a:pt x="255" y="736"/>
                </a:cubicBezTo>
                <a:cubicBezTo>
                  <a:pt x="235" y="732"/>
                  <a:pt x="215" y="726"/>
                  <a:pt x="196" y="718"/>
                </a:cubicBezTo>
                <a:cubicBezTo>
                  <a:pt x="176" y="710"/>
                  <a:pt x="158" y="700"/>
                  <a:pt x="141" y="689"/>
                </a:cubicBezTo>
                <a:cubicBezTo>
                  <a:pt x="123" y="677"/>
                  <a:pt x="107" y="664"/>
                  <a:pt x="93" y="649"/>
                </a:cubicBezTo>
                <a:cubicBezTo>
                  <a:pt x="78" y="635"/>
                  <a:pt x="65" y="619"/>
                  <a:pt x="53" y="601"/>
                </a:cubicBezTo>
                <a:cubicBezTo>
                  <a:pt x="42" y="584"/>
                  <a:pt x="32" y="566"/>
                  <a:pt x="24" y="546"/>
                </a:cubicBezTo>
                <a:cubicBezTo>
                  <a:pt x="16" y="527"/>
                  <a:pt x="10" y="507"/>
                  <a:pt x="6" y="487"/>
                </a:cubicBezTo>
                <a:cubicBezTo>
                  <a:pt x="2" y="466"/>
                  <a:pt x="0" y="446"/>
                  <a:pt x="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 txBox="1"/>
          <p:nvPr/>
        </p:nvSpPr>
        <p:spPr>
          <a:xfrm>
            <a:off x="3908880" y="4572360"/>
            <a:ext cx="678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Learn more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 txBox="1"/>
          <p:nvPr/>
        </p:nvSpPr>
        <p:spPr>
          <a:xfrm>
            <a:off x="9552240" y="5982120"/>
            <a:ext cx="553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ababab"/>
                </a:solidFill>
                <a:effectLst/>
                <a:uFillTx/>
                <a:latin typeface="Roboto"/>
                <a:ea typeface="Roboto"/>
              </a:rPr>
              <a:t>Error 153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2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2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 txBox="1"/>
          <p:nvPr/>
        </p:nvSpPr>
        <p:spPr>
          <a:xfrm>
            <a:off x="762120" y="372600"/>
            <a:ext cx="70153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Mission Accomplished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1" name=""/>
          <p:cNvSpPr txBox="1"/>
          <p:nvPr/>
        </p:nvSpPr>
        <p:spPr>
          <a:xfrm>
            <a:off x="1238400" y="6405120"/>
            <a:ext cx="1733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871602 / 285725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 txBox="1"/>
          <p:nvPr/>
        </p:nvSpPr>
        <p:spPr>
          <a:xfrm>
            <a:off x="762120" y="372600"/>
            <a:ext cx="6033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Closing Takeaways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69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9" name="" descr=""/>
          <p:cNvPicPr/>
          <p:nvPr/>
        </p:nvPicPr>
        <p:blipFill>
          <a:blip r:embed="rId1"/>
          <a:stretch/>
        </p:blipFill>
        <p:spPr>
          <a:xfrm>
            <a:off x="6324480" y="2695680"/>
            <a:ext cx="5714640" cy="32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0" name=""/>
          <p:cNvSpPr/>
          <p:nvPr/>
        </p:nvSpPr>
        <p:spPr>
          <a:xfrm>
            <a:off x="1028520" y="3257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7" y="23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 txBox="1"/>
          <p:nvPr/>
        </p:nvSpPr>
        <p:spPr>
          <a:xfrm>
            <a:off x="1212840" y="3171240"/>
            <a:ext cx="6031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Any step forward is a positive step — this doesn't need to be adopted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1028520" y="3838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7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7"/>
                </a:cubicBezTo>
                <a:cubicBezTo>
                  <a:pt x="120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 txBox="1"/>
          <p:nvPr/>
        </p:nvSpPr>
        <p:spPr>
          <a:xfrm>
            <a:off x="1212840" y="3438000"/>
            <a:ext cx="9475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all at once.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 txBox="1"/>
          <p:nvPr/>
        </p:nvSpPr>
        <p:spPr>
          <a:xfrm>
            <a:off x="1212840" y="3752280"/>
            <a:ext cx="57495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Always question why an organisation is asking for a given piece of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1028520" y="4410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0" y="148"/>
                  <a:pt x="111" y="152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49" y="152"/>
                </a:cubicBezTo>
                <a:cubicBezTo>
                  <a:pt x="39" y="148"/>
                  <a:pt x="31" y="143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 txBox="1"/>
          <p:nvPr/>
        </p:nvSpPr>
        <p:spPr>
          <a:xfrm>
            <a:off x="1212840" y="4019040"/>
            <a:ext cx="4897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information. Most of the time, it doesn't actually need it.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 txBox="1"/>
          <p:nvPr/>
        </p:nvSpPr>
        <p:spPr>
          <a:xfrm>
            <a:off x="1212840" y="4323960"/>
            <a:ext cx="57614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Make informed, intentional decisions about what you share, rather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 txBox="1"/>
          <p:nvPr/>
        </p:nvSpPr>
        <p:spPr>
          <a:xfrm>
            <a:off x="1212840" y="4590720"/>
            <a:ext cx="2083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than defaulting to "yes."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 txBox="1"/>
          <p:nvPr/>
        </p:nvSpPr>
        <p:spPr>
          <a:xfrm>
            <a:off x="857160" y="634680"/>
            <a:ext cx="75420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Closing Takeaways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