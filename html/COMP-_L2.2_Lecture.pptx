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79" r:id="rId9"/>
    <p:sldId id="263" r:id="rId10"/>
    <p:sldId id="264" r:id="rId11"/>
    <p:sldId id="265" r:id="rId12"/>
    <p:sldId id="266" r:id="rId13"/>
    <p:sldId id="267" r:id="rId14"/>
    <p:sldId id="268" r:id="rId15"/>
    <p:sldId id="269" r:id="rId16"/>
    <p:sldId id="270" r:id="rId17"/>
    <p:sldId id="272" r:id="rId18"/>
    <p:sldId id="273" r:id="rId19"/>
    <p:sldId id="275" r:id="rId20"/>
    <p:sldId id="276" r:id="rId21"/>
    <p:sldId id="277" r:id="rId22"/>
    <p:sldId id="278"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09"/>
    <p:restoredTop sz="94353"/>
  </p:normalViewPr>
  <p:slideViewPr>
    <p:cSldViewPr snapToGrid="0" snapToObjects="1">
      <p:cViewPr varScale="1">
        <p:scale>
          <a:sx n="116" d="100"/>
          <a:sy n="116" d="100"/>
        </p:scale>
        <p:origin x="2800" y="480"/>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C0760-A542-FE4F-8EBF-B1B1FB6407CD}" type="datetimeFigureOut">
              <a:rPr lang="en-001" smtClean="0"/>
              <a:t>21/09/2026</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D410-6F06-0944-A7D6-EF8BD4B59FCF}" type="slidenum">
              <a:rPr lang="en-001" smtClean="0"/>
              <a:t>‹#›</a:t>
            </a:fld>
            <a:endParaRPr lang="en-001"/>
          </a:p>
        </p:txBody>
      </p:sp>
    </p:spTree>
    <p:extLst>
      <p:ext uri="{BB962C8B-B14F-4D97-AF65-F5344CB8AC3E}">
        <p14:creationId xmlns:p14="http://schemas.microsoft.com/office/powerpoint/2010/main" val="77502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0 min] Week 2, Lecture 2 of 3. Plan: 50 minutes = 20 main slides</a:t>
            </a:r>
            <a:r>
              <a:t>, </a:t>
            </a:r>
            <a:r>
              <a:rPr lang="en-US"/>
              <a:t>one</a:t>
            </a:r>
            <a:r>
              <a:t> exercise, </a:t>
            </a:r>
            <a:r>
              <a:rPr dirty="0"/>
              <a:t>plus hidden appendix slides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Lecture 1's vocabulary (FR, NFR, measurable NFRs) tells us what a good requirement looks like. Today: how to find them and how to check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1 min] Attendance (</a:t>
            </a:r>
            <a:r>
              <a:rPr dirty="0" err="1"/>
              <a:t>SEAtS</a:t>
            </a:r>
            <a:r>
              <a:rPr dirty="0"/>
              <a:t>) slide.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Two quick recall questions before starting: 'Give me an example of a vague NFR' and 'How would you make it measurable?'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Bracketed codes map objectives to module outcomes (A3 best practice and risk identification for group projects, B4 trade-offs, B5 ethical and security responsibilities). Adjust the mapping if you prefer.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Walk through the five activities. Stress the loop: what we learn in validation changes what we elicit. The lifecycle aligns with ISO/IEC/IEEE 29148:2018. The rest of the lecture follows it: elicitation (slides 7-12), validation (13-14), analysis and conflicts (15).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Ask: 'Who are the stakeholders of a smart toy that monitors children?' Expect parents; push for regulators, retailers, paediatricians, the child, the app store, the battery supplier. Adjacent systems (phone OS, Bluetooth stack, cloud service) impose requirements too.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B036-E698-68FD-9488-B6DA45689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11EDD-5899-C275-BE49-1C463C3037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34A16EB-A400-E4F3-E00C-D2EAFBC87CE7}"/>
              </a:ext>
            </a:extLst>
          </p:cNvPr>
          <p:cNvSpPr>
            <a:spLocks noGrp="1"/>
          </p:cNvSpPr>
          <p:nvPr>
            <p:ph type="body" sz="quarter" idx="3"/>
          </p:nvPr>
        </p:nvSpPr>
        <p:spPr/>
        <p:txBody>
          <a:bodyPr/>
          <a:lstStyle/>
          <a:p>
            <a:r>
              <a:t>[about 2 min] The case study from the old deck, with the missing image replaced by a simple block diagram (the original slides showed images that did not survive the PDF). Ask: which stakeholders and which NFRs are hiding in these four constraints? (safety, size, latency, security, energy).</a:t>
            </a:r>
          </a:p>
        </p:txBody>
      </p:sp>
      <p:sp>
        <p:nvSpPr>
          <p:cNvPr id="4" name="Slide Number Placeholder 3">
            <a:extLst>
              <a:ext uri="{FF2B5EF4-FFF2-40B4-BE49-F238E27FC236}">
                <a16:creationId xmlns:a16="http://schemas.microsoft.com/office/drawing/2014/main" id="{A40329BE-E149-B801-A30D-94B8A6F429D5}"/>
              </a:ext>
            </a:extLst>
          </p:cNvPr>
          <p:cNvSpPr>
            <a:spLocks noGrp="1"/>
          </p:cNvSpPr>
          <p:nvPr>
            <p:ph type="sldNum" sz="quarter" idx="5"/>
          </p:nvPr>
        </p:nvSpPr>
        <p:spPr/>
      </p:sp>
    </p:spTree>
    <p:extLst>
      <p:ext uri="{BB962C8B-B14F-4D97-AF65-F5344CB8AC3E}">
        <p14:creationId xmlns:p14="http://schemas.microsoft.com/office/powerpoint/2010/main" val="3191422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 min] Power-interest grid (after Mendelow, 1991). Power is the ability to affect the project; interest is how much they care about the result. The vertical axis runs from high power at the top to low power at the bottom. Use the child-monitoring duck (case study later) as the example. The point: different quadrants call for different elicitation effort. Children as users are a special case ethically.</a:t>
            </a:r>
            <a:br>
              <a:rPr lang="en-US" dirty="0"/>
            </a:br>
            <a:br>
              <a:rPr lang="en-US" dirty="0"/>
            </a:br>
            <a:r>
              <a:rPr lang="en-US" b="1" dirty="0"/>
              <a:t>Parents/carers:</a:t>
            </a:r>
            <a:r>
              <a:rPr lang="en-US" dirty="0"/>
              <a:t> </a:t>
            </a:r>
            <a:r>
              <a:rPr lang="en-US" b="1" dirty="0"/>
              <a:t>High power + high interest</a:t>
            </a:r>
            <a:r>
              <a:rPr lang="en-US" dirty="0"/>
              <a:t> → </a:t>
            </a:r>
            <a:r>
              <a:rPr lang="en-US" i="1" dirty="0"/>
              <a:t>Manage closely</a:t>
            </a:r>
            <a:r>
              <a:rPr lang="en-US" dirty="0"/>
              <a:t> </a:t>
            </a:r>
          </a:p>
          <a:p>
            <a:r>
              <a:rPr lang="en-US" b="1" dirty="0"/>
              <a:t>Children:</a:t>
            </a:r>
            <a:r>
              <a:rPr lang="en-US" dirty="0"/>
              <a:t> </a:t>
            </a:r>
            <a:r>
              <a:rPr lang="en-US" b="1" dirty="0"/>
              <a:t>Low power + high interest</a:t>
            </a:r>
            <a:r>
              <a:rPr lang="en-US" dirty="0"/>
              <a:t> → </a:t>
            </a:r>
            <a:r>
              <a:rPr lang="en-US" i="1" dirty="0"/>
              <a:t>Keep informed / actively involve</a:t>
            </a:r>
            <a:r>
              <a:rPr lang="en-US" dirty="0"/>
              <a:t> </a:t>
            </a:r>
          </a:p>
          <a:p>
            <a:r>
              <a:rPr lang="en-US" dirty="0"/>
              <a:t>The statement means that </a:t>
            </a:r>
            <a:r>
              <a:rPr lang="en-US" b="1" dirty="0"/>
              <a:t>even when parents have the power to make decisions about the toy, children's requirements should not simply be assumed to be the same as their parents' requirements.</a:t>
            </a:r>
            <a:endParaRPr lang="en-US" dirty="0"/>
          </a:p>
          <a:p>
            <a:r>
              <a:rPr lang="en-US" dirty="0"/>
              <a:t>For example:</a:t>
            </a:r>
          </a:p>
          <a:p>
            <a:r>
              <a:rPr lang="en-US" b="1" dirty="0"/>
              <a:t>Parent requirement:</a:t>
            </a:r>
            <a:r>
              <a:rPr lang="en-US" dirty="0"/>
              <a:t> “I want the toy to allow me to monitor my child's activity.”</a:t>
            </a:r>
          </a:p>
          <a:p>
            <a:r>
              <a:rPr lang="en-US" dirty="0"/>
              <a:t>But the child may have a different requirement:</a:t>
            </a:r>
          </a:p>
          <a:p>
            <a:r>
              <a:rPr lang="en-US" b="1" dirty="0"/>
              <a:t>Child requirement:</a:t>
            </a:r>
            <a:r>
              <a:rPr lang="en-US" dirty="0"/>
              <a:t> “I want privacy and control over when the toy listens to me.”</a:t>
            </a:r>
          </a:p>
          <a:p>
            <a:r>
              <a:rPr lang="en-US" dirty="0"/>
              <a:t>So the RE lesson is:</a:t>
            </a:r>
          </a:p>
          <a:p>
            <a:r>
              <a:rPr lang="en-US" b="1" dirty="0"/>
              <a:t>High-power stakeholders can make decisions, but they don't necessarily represent the requirements of all users.</a:t>
            </a:r>
            <a:endParaRPr lang="en-US" dirty="0"/>
          </a:p>
          <a:p>
            <a:r>
              <a:rPr lang="en-US" dirty="0"/>
              <a:t>I'd therefore change your bottom sentence to something very clear for students:</a:t>
            </a:r>
          </a:p>
          <a:p>
            <a:r>
              <a:rPr lang="en-US" b="1" dirty="0"/>
              <a:t>Children have low power but high interest: their requirements may differ from those of parents and should be explicitly considered.</a:t>
            </a:r>
            <a:endParaRPr lang="en-US" dirty="0"/>
          </a:p>
          <a:p>
            <a:r>
              <a:rPr lang="en-US" dirty="0"/>
              <a:t>This works particularly well with your </a:t>
            </a:r>
            <a:r>
              <a:rPr lang="en-US" b="1" dirty="0"/>
              <a:t>Power–Interest matrix</a:t>
            </a:r>
            <a:r>
              <a:rPr lang="en-US" dirty="0"/>
              <a:t>, because it demonstrates why stakeholder mapping matters in requirements engineering rather than just stakeholder management.</a:t>
            </a:r>
          </a:p>
          <a:p>
            <a:endParaRPr lang="en-US" dirty="0"/>
          </a:p>
          <a:p>
            <a:endParaRPr lang="en-001" dirty="0"/>
          </a:p>
          <a:p>
            <a:r>
              <a:rPr lang="en-US" dirty="0"/>
              <a:t>https://</a:t>
            </a:r>
            <a:r>
              <a:rPr lang="en-US" dirty="0" err="1"/>
              <a:t>osuva.uwasa.fi</a:t>
            </a:r>
            <a:r>
              <a:rPr lang="en-US" dirty="0"/>
              <a:t>/server/</a:t>
            </a:r>
            <a:r>
              <a:rPr lang="en-US" dirty="0" err="1"/>
              <a:t>api</a:t>
            </a:r>
            <a:r>
              <a:rPr lang="en-US" dirty="0"/>
              <a:t>/core/bitstreams/a8a938fe-dad1-49c6-8205-03fe3a5e750e/content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 min] interviews, questionnaires, workshops and focus groups, ethnographic observation, document and system analysis, prototyping, user stories and use cases. No technique is best; combine several (triangulation).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Structured interviews allow comparison across sessions; semi-structured interviews encourage dialogue. Closed questions in surveys quantify trends, open questions elicit qualitative feedback. Tacit knowledge: skilled users often cannot describe what they do, which is why observation matters.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Vevox multiple-choice poll, six options each time. About 20 seconds per scenario, show the result, then go to the next slide. Answers: 1 observation, 2 survey, 3 workshop, 4 document and system analysis, 5 prototype, 6 interview.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Several scenarios could use more than one technique; that is the point. Ask students which second technique they would add to each.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 min] Do not confuse the two. Verification asks whether we built it to the specification; validation asks whether the specification is what stakeholders actually need. Both are needed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Seven techniques from the old deck in one table. Pick two to demonstrate: test-case derivation (turn a requirement into a pass/fail test) and traceability (a Requirements Traceability Matrix links each requirement to design and tests; tools include IBM DOORS, Jama Connect and Jira plugins). The hidden appendix has a small traceability matrix example.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MoSCoW prioritisation with Smart Study Room examples. Emphasise that 'Won't' means not in this release, not never. Giga-mapping (from the old deck) is a way to visualise a whole system and its conflicts on one large map. Exercise 2 practises MoSCoW.</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Link back to the techniques table and the validation table. Meta-models are cheap approximations of expensive simulations, used to explore trade-offs early (see the appendix slide on requirements in multi-component systems).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Covers learning outcome B5 (ethical and security responsibilities for data in motion and at rest). Requirements for security and privacy are NFRs with measurable statements. Design choices such as sound level only, never audio, are ethical requirements expressed as constraints. Elicitation is also subject to ethics: informed consent for interviews, anonymised notes, secure storage.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 min] Close with the takeaways and preview Lecture 3. </a:t>
            </a:r>
            <a:endParaRPr lang="en-US" dirty="0"/>
          </a:p>
          <a:p>
            <a:r>
              <a:rPr dirty="0"/>
              <a:t>The slides after this one are hidden appendix slides.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from the old deck.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Large systems such as lightweight robots or intelligent tutoring systems need top-level goals decomposed into component-level specifications.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A small Requirements Traceability Matrix (RTM) for the Smart Study Room. Tools: IBM DOORS, Jama Connect, Jira plugins.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11"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2"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7"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8" name="Footer SEAtS"/>
          <p:cNvSpPr txBox="1"/>
          <p:nvPr userDrawn="1"/>
        </p:nvSpPr>
        <p:spPr>
          <a:xfrm>
            <a:off x="868680" y="6384033"/>
            <a:ext cx="3200400" cy="291086"/>
          </a:xfrm>
          <a:prstGeom prst="rect">
            <a:avLst/>
          </a:prstGeom>
          <a:noFill/>
        </p:spPr>
        <p:txBody>
          <a:bodyPr wrap="square" lIns="0" tIns="0" rIns="0" bIns="0" anchor="ctr">
            <a:noAutofit/>
          </a:bodyPr>
          <a:lstStyle/>
          <a:p>
            <a:r>
              <a:rPr lang="en-GB" sz="1000" b="1" dirty="0" err="1">
                <a:solidFill>
                  <a:srgbClr val="1F497D"/>
                </a:solidFill>
              </a:rPr>
              <a:t>SEAtS</a:t>
            </a:r>
            <a:r>
              <a:rPr lang="en-GB" sz="1000" b="1" dirty="0">
                <a:solidFill>
                  <a:srgbClr val="1F497D"/>
                </a:solidFill>
              </a:rPr>
              <a:t> | 368074</a:t>
            </a:r>
          </a:p>
          <a:p>
            <a:r>
              <a:rPr lang="en-GB" sz="800" b="1" dirty="0">
                <a:solidFill>
                  <a:srgbClr val="8C8C8C"/>
                </a:solidFill>
              </a:rPr>
              <a:t>© University of Southampton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6"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7"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9/21/26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368074</a:t>
            </a:r>
          </a:p>
          <a:p>
            <a:r>
              <a:rPr lang="en-GB" sz="800" b="1" dirty="0">
                <a:solidFill>
                  <a:srgbClr val="8C8C8C"/>
                </a:solidFill>
              </a:rPr>
              <a:t>© University of Southampton</a:t>
            </a:r>
          </a:p>
        </p:txBody>
      </p:sp>
    </p:spTree>
    <p:extLst>
      <p:ext uri="{BB962C8B-B14F-4D97-AF65-F5344CB8AC3E}">
        <p14:creationId xmlns:p14="http://schemas.microsoft.com/office/powerpoint/2010/main" val="19705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alehi@Soton.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www.iso.org/standard/72089.html"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link.springer.com/chapter/10.1007/978-3-031-42307-9_19" TargetMode="External"/><Relationship Id="rId5" Type="http://schemas.openxmlformats.org/officeDocument/2006/relationships/hyperlink" Target="https://www.oreilly.com/library/view/-/9780132942850" TargetMode="External"/><Relationship Id="rId4" Type="http://schemas.openxmlformats.org/officeDocument/2006/relationships/hyperlink" Target="https://www.oreilly.com/library/view/software-engineering-10th/9780137586691/xhtml/fileP7000495926000000000000000000AD0.xhtml?utm_source=chatgpt.co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371600"/>
            <a:ext cx="8412480" cy="2468880"/>
          </a:xfrm>
        </p:spPr>
        <p:txBody>
          <a:bodyPr/>
          <a:lstStyle/>
          <a:p>
            <a:r>
              <a:rPr sz="3600"/>
              <a:t>AICE2005 - Systematic Design</a:t>
            </a:r>
            <a:br/>
            <a:br/>
            <a:r>
              <a:rPr sz="3800" b="1">
                <a:solidFill>
                  <a:schemeClr val="tx2"/>
                </a:solidFill>
              </a:rPr>
              <a:t>Gathering and Validating Requirements</a:t>
            </a:r>
          </a:p>
        </p:txBody>
      </p:sp>
      <p:sp>
        <p:nvSpPr>
          <p:cNvPr id="3" name="Subtitle 2"/>
          <p:cNvSpPr>
            <a:spLocks noGrp="1"/>
          </p:cNvSpPr>
          <p:nvPr>
            <p:ph type="subTitle" idx="1"/>
          </p:nvPr>
        </p:nvSpPr>
        <p:spPr>
          <a:xfrm>
            <a:off x="1371600" y="4114800"/>
            <a:ext cx="6400800" cy="1463040"/>
          </a:xfrm>
        </p:spPr>
        <p:txBody>
          <a:bodyPr>
            <a:normAutofit fontScale="70000" lnSpcReduction="20000"/>
          </a:bodyPr>
          <a:lstStyle/>
          <a:p>
            <a:r>
              <a:rPr dirty="0"/>
              <a:t>Asieh Salehi Fathabadi</a:t>
            </a:r>
            <a:endParaRPr lang="en-US" dirty="0"/>
          </a:p>
          <a:p>
            <a:r>
              <a:rPr lang="en-US" dirty="0">
                <a:hlinkClick r:id="rId3"/>
              </a:rPr>
              <a:t>A.Salehi@Soton.ac.uk</a:t>
            </a:r>
            <a:endParaRPr lang="en-US" dirty="0"/>
          </a:p>
          <a:p>
            <a:endParaRPr dirty="0"/>
          </a:p>
          <a:p>
            <a:r>
              <a:rPr dirty="0"/>
              <a:t>University of Southampton</a:t>
            </a:r>
          </a:p>
          <a:p>
            <a:r>
              <a:rPr dirty="0"/>
              <a:t>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Week Overview</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2000" b="0">
                <a:solidFill>
                  <a:srgbClr val="595959"/>
                </a:solidFill>
              </a:rPr>
              <a:t>Week 2  |  Analysing systems: requirements</a:t>
            </a:r>
          </a:p>
        </p:txBody>
      </p:sp>
      <p:sp>
        <p:nvSpPr>
          <p:cNvPr id="4" name="Rounded Rectangle 3"/>
          <p:cNvSpPr/>
          <p:nvPr/>
        </p:nvSpPr>
        <p:spPr>
          <a:xfrm>
            <a:off x="457200" y="17830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1: Functional and Non-Functional Requirements</a:t>
            </a:r>
          </a:p>
          <a:p>
            <a:pPr marL="0" indent="0" algn="l">
              <a:buNone/>
            </a:pPr>
            <a:r>
              <a:rPr sz="1600" b="0">
                <a:solidFill>
                  <a:srgbClr val="595959"/>
                </a:solidFill>
              </a:rPr>
              <a:t>What must the system do, and how well must it do it?</a:t>
            </a:r>
          </a:p>
        </p:txBody>
      </p:sp>
      <p:sp>
        <p:nvSpPr>
          <p:cNvPr id="5" name="Rounded Rectangle 4"/>
          <p:cNvSpPr/>
          <p:nvPr/>
        </p:nvSpPr>
        <p:spPr>
          <a:xfrm>
            <a:off x="457200" y="3154680"/>
            <a:ext cx="8229600" cy="1143000"/>
          </a:xfrm>
          <a:prstGeom prst="roundRect">
            <a:avLst>
              <a:gd name="adj" fmla="val 8000"/>
            </a:avLst>
          </a:prstGeom>
          <a:solidFill>
            <a:srgbClr val="1F497D"/>
          </a:solidFill>
          <a:ln>
            <a:noFill/>
          </a:ln>
          <a:effectLst/>
        </p:spPr>
        <p:txBody>
          <a:bodyPr wrap="square" lIns="228600" tIns="54864" rIns="228600" bIns="54864" rtlCol="0" anchor="ctr"/>
          <a:lstStyle/>
          <a:p>
            <a:pPr marL="0" indent="0" algn="l">
              <a:spcAft>
                <a:spcPts val="400"/>
              </a:spcAft>
              <a:buNone/>
            </a:pPr>
            <a:r>
              <a:rPr sz="2200" b="1">
                <a:solidFill>
                  <a:srgbClr val="FFFFFF"/>
                </a:solidFill>
              </a:rPr>
              <a:t>Lecture 2: Gathering and Validating Requirements</a:t>
            </a:r>
          </a:p>
          <a:p>
            <a:pPr marL="0" indent="0" algn="l">
              <a:buNone/>
            </a:pPr>
            <a:r>
              <a:rPr sz="1600" b="0">
                <a:solidFill>
                  <a:srgbClr val="FFFFFF"/>
                </a:solidFill>
              </a:rPr>
              <a:t>How do we find out what stakeholders need, and check we got it right?</a:t>
            </a:r>
          </a:p>
        </p:txBody>
      </p:sp>
      <p:sp>
        <p:nvSpPr>
          <p:cNvPr id="6" name="Rounded Rectangle 5"/>
          <p:cNvSpPr/>
          <p:nvPr/>
        </p:nvSpPr>
        <p:spPr>
          <a:xfrm>
            <a:off x="457200" y="45262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3: Use Cases and Personas</a:t>
            </a:r>
          </a:p>
          <a:p>
            <a:pPr marL="0" indent="0" algn="l">
              <a:buNone/>
            </a:pPr>
            <a:r>
              <a:rPr sz="1600" b="0">
                <a:solidFill>
                  <a:srgbClr val="595959"/>
                </a:solidFill>
              </a:rPr>
              <a:t>How do we capture users and their goals as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999768"/>
            <a:ext cx="8229600" cy="572464"/>
          </a:xfrm>
          <a:prstGeom prst="rect">
            <a:avLst/>
          </a:prstGeom>
          <a:noFill/>
        </p:spPr>
        <p:txBody>
          <a:bodyPr wrap="square" lIns="73152" tIns="54864" rIns="73152" bIns="54864" anchor="ctr">
            <a:spAutoFit/>
          </a:bodyPr>
          <a:lstStyle/>
          <a:p>
            <a:pPr algn="ctr">
              <a:spcAft>
                <a:spcPts val="1400"/>
              </a:spcAft>
            </a:pPr>
            <a:r>
              <a:rPr lang="en-US" sz="3000" b="1" dirty="0">
                <a:solidFill>
                  <a:srgbClr val="1F497D"/>
                </a:solidFill>
              </a:rPr>
              <a:t>Record your attendance</a:t>
            </a:r>
          </a:p>
        </p:txBody>
      </p:sp>
      <p:sp>
        <p:nvSpPr>
          <p:cNvPr id="5" name="TextBox 4"/>
          <p:cNvSpPr txBox="1"/>
          <p:nvPr/>
        </p:nvSpPr>
        <p:spPr>
          <a:xfrm>
            <a:off x="2743200" y="5459099"/>
            <a:ext cx="3657600" cy="603242"/>
          </a:xfrm>
          <a:prstGeom prst="rect">
            <a:avLst/>
          </a:prstGeom>
          <a:noFill/>
        </p:spPr>
        <p:txBody>
          <a:bodyPr wrap="square" lIns="73152" tIns="54864" rIns="73152" bIns="54864" anchor="ctr">
            <a:spAutoFit/>
          </a:bodyPr>
          <a:lstStyle/>
          <a:p>
            <a:pPr algn="ctr"/>
            <a:r>
              <a:rPr lang="en-001" sz="3200" dirty="0">
                <a:solidFill>
                  <a:srgbClr val="262626"/>
                </a:solidFill>
              </a:rPr>
              <a:t>368074</a:t>
            </a:r>
            <a:endParaRPr sz="3200" b="0" dirty="0">
              <a:solidFill>
                <a:srgbClr val="262626"/>
              </a:solidFill>
            </a:endParaRPr>
          </a:p>
        </p:txBody>
      </p:sp>
      <p:pic>
        <p:nvPicPr>
          <p:cNvPr id="7" name="Picture 6" descr="A qr code on a white background&#10;&#10;AI-generated content may be incorrect.">
            <a:extLst>
              <a:ext uri="{FF2B5EF4-FFF2-40B4-BE49-F238E27FC236}">
                <a16:creationId xmlns:a16="http://schemas.microsoft.com/office/drawing/2014/main" id="{3FE2E723-431F-8E1F-CE7A-6BEB7F2F0072}"/>
              </a:ext>
            </a:extLst>
          </p:cNvPr>
          <p:cNvPicPr>
            <a:picLocks noChangeAspect="1"/>
          </p:cNvPicPr>
          <p:nvPr/>
        </p:nvPicPr>
        <p:blipFill>
          <a:blip r:embed="rId3"/>
          <a:stretch>
            <a:fillRect/>
          </a:stretch>
        </p:blipFill>
        <p:spPr>
          <a:xfrm>
            <a:off x="3480262" y="3214032"/>
            <a:ext cx="2183476" cy="21434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Recap: Lecture 1</a:t>
            </a:r>
          </a:p>
        </p:txBody>
      </p:sp>
      <p:sp>
        <p:nvSpPr>
          <p:cNvPr id="3" name="TextBox 2"/>
          <p:cNvSpPr txBox="1"/>
          <p:nvPr/>
        </p:nvSpPr>
        <p:spPr>
          <a:xfrm>
            <a:off x="411480" y="1188720"/>
            <a:ext cx="8321040" cy="4937760"/>
          </a:xfrm>
          <a:prstGeom prst="rect">
            <a:avLst/>
          </a:prstGeom>
          <a:noFill/>
        </p:spPr>
        <p:txBody>
          <a:bodyPr wrap="square" lIns="73152" tIns="54864" rIns="73152" bIns="54864" anchor="t">
            <a:spAutoFit/>
          </a:bodyPr>
          <a:lstStyle/>
          <a:p>
            <a:pPr marL="285750" indent="-285750" algn="l">
              <a:spcAft>
                <a:spcPts val="1600"/>
              </a:spcAft>
              <a:buFont typeface="Arial"/>
              <a:buChar char="•"/>
            </a:pPr>
            <a:r>
              <a:rPr sz="2200" b="1">
                <a:solidFill>
                  <a:srgbClr val="1F497D"/>
                </a:solidFill>
              </a:rPr>
              <a:t>FR vs NFR: </a:t>
            </a:r>
            <a:r>
              <a:rPr sz="2200" b="0">
                <a:solidFill>
                  <a:srgbClr val="262626"/>
                </a:solidFill>
              </a:rPr>
              <a:t>what the system does vs how well it does it</a:t>
            </a:r>
          </a:p>
          <a:p>
            <a:pPr marL="285750" indent="-285750" algn="l">
              <a:spcAft>
                <a:spcPts val="1600"/>
              </a:spcAft>
              <a:buFont typeface="Arial"/>
              <a:buChar char="•"/>
            </a:pPr>
            <a:r>
              <a:rPr sz="2200" b="1">
                <a:solidFill>
                  <a:srgbClr val="1F497D"/>
                </a:solidFill>
              </a:rPr>
              <a:t>Measurable NFRs: </a:t>
            </a:r>
            <a:r>
              <a:rPr sz="2200" b="0">
                <a:solidFill>
                  <a:srgbClr val="262626"/>
                </a:solidFill>
              </a:rPr>
              <a:t>value, unit, condition, proportion and method</a:t>
            </a:r>
          </a:p>
          <a:p>
            <a:pPr marL="285750" indent="-285750" algn="l">
              <a:spcAft>
                <a:spcPts val="1600"/>
              </a:spcAft>
              <a:buFont typeface="Arial"/>
              <a:buChar char="•"/>
            </a:pPr>
            <a:r>
              <a:rPr sz="2200" b="1">
                <a:solidFill>
                  <a:srgbClr val="1F497D"/>
                </a:solidFill>
              </a:rPr>
              <a:t>Precise wording: </a:t>
            </a:r>
            <a:r>
              <a:rPr sz="2200" b="0">
                <a:solidFill>
                  <a:srgbClr val="262626"/>
                </a:solidFill>
              </a:rPr>
              <a:t>five questions, logic, EARS templates</a:t>
            </a:r>
          </a:p>
          <a:p>
            <a:pPr marL="285750" indent="-285750" algn="l">
              <a:spcAft>
                <a:spcPts val="1600"/>
              </a:spcAft>
              <a:buFont typeface="Arial"/>
              <a:buChar char="•"/>
            </a:pPr>
            <a:r>
              <a:rPr sz="2200" b="1">
                <a:solidFill>
                  <a:srgbClr val="1F497D"/>
                </a:solidFill>
              </a:rPr>
              <a:t>Trade-offs: </a:t>
            </a:r>
            <a:r>
              <a:rPr sz="2200" b="0">
                <a:solidFill>
                  <a:srgbClr val="262626"/>
                </a:solidFill>
              </a:rPr>
              <a:t>NFRs conflict and are allocated across components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Lecture 2 Overview</a:t>
            </a:r>
          </a:p>
        </p:txBody>
      </p:sp>
      <p:sp>
        <p:nvSpPr>
          <p:cNvPr id="3" name="TextBox 2"/>
          <p:cNvSpPr txBox="1"/>
          <p:nvPr/>
        </p:nvSpPr>
        <p:spPr>
          <a:xfrm>
            <a:off x="457200" y="1097280"/>
            <a:ext cx="8229600" cy="228600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2000" b="0" dirty="0">
                <a:solidFill>
                  <a:srgbClr val="262626"/>
                </a:solidFill>
              </a:rPr>
              <a:t>The requirements lifecycle</a:t>
            </a:r>
          </a:p>
          <a:p>
            <a:pPr marL="285750" indent="-285750" algn="l">
              <a:spcAft>
                <a:spcPts val="400"/>
              </a:spcAft>
              <a:buFont typeface="Arial"/>
              <a:buChar char="•"/>
            </a:pPr>
            <a:r>
              <a:rPr sz="2000" b="0" dirty="0">
                <a:solidFill>
                  <a:srgbClr val="262626"/>
                </a:solidFill>
              </a:rPr>
              <a:t>Stakeholders and elicitation techniques</a:t>
            </a:r>
          </a:p>
          <a:p>
            <a:pPr marL="285750" indent="-285750" algn="l">
              <a:spcAft>
                <a:spcPts val="400"/>
              </a:spcAft>
              <a:buFont typeface="Arial"/>
              <a:buChar char="•"/>
            </a:pPr>
            <a:r>
              <a:rPr sz="2000" b="0" dirty="0">
                <a:solidFill>
                  <a:srgbClr val="262626"/>
                </a:solidFill>
              </a:rPr>
              <a:t>Validating requirements</a:t>
            </a:r>
          </a:p>
          <a:p>
            <a:pPr marL="285750" indent="-285750" algn="l">
              <a:spcAft>
                <a:spcPts val="400"/>
              </a:spcAft>
              <a:buFont typeface="Arial"/>
              <a:buChar char="•"/>
            </a:pPr>
            <a:r>
              <a:rPr sz="2000" b="0" dirty="0">
                <a:solidFill>
                  <a:srgbClr val="262626"/>
                </a:solidFill>
              </a:rPr>
              <a:t>Conflicts, trade-offs, security and ethics</a:t>
            </a:r>
          </a:p>
          <a:p>
            <a:pPr marL="285750" indent="-285750" algn="l">
              <a:spcAft>
                <a:spcPts val="400"/>
              </a:spcAft>
              <a:buFont typeface="Arial"/>
              <a:buChar char="•"/>
            </a:pPr>
            <a:r>
              <a:rPr sz="2000" b="0" dirty="0">
                <a:solidFill>
                  <a:srgbClr val="262626"/>
                </a:solidFill>
              </a:rPr>
              <a:t>Case study: a child-monitoring toy duck</a:t>
            </a:r>
          </a:p>
        </p:txBody>
      </p:sp>
      <p:sp>
        <p:nvSpPr>
          <p:cNvPr id="4" name="TextBox 3"/>
          <p:cNvSpPr txBox="1"/>
          <p:nvPr/>
        </p:nvSpPr>
        <p:spPr>
          <a:xfrm>
            <a:off x="457200" y="3429000"/>
            <a:ext cx="8229600" cy="411480"/>
          </a:xfrm>
          <a:prstGeom prst="rect">
            <a:avLst/>
          </a:prstGeom>
          <a:noFill/>
        </p:spPr>
        <p:txBody>
          <a:bodyPr wrap="square" lIns="73152" tIns="54864" rIns="73152" bIns="54864" anchor="t">
            <a:spAutoFit/>
          </a:bodyPr>
          <a:lstStyle/>
          <a:p>
            <a:pPr marL="0" indent="0" algn="l">
              <a:buNone/>
            </a:pPr>
            <a:r>
              <a:rPr sz="2000" b="1">
                <a:solidFill>
                  <a:srgbClr val="1F497D"/>
                </a:solidFill>
              </a:rPr>
              <a:t>Learning Objectives:</a:t>
            </a:r>
          </a:p>
        </p:txBody>
      </p:sp>
      <p:sp>
        <p:nvSpPr>
          <p:cNvPr id="5" name="TextBox 4"/>
          <p:cNvSpPr txBox="1"/>
          <p:nvPr/>
        </p:nvSpPr>
        <p:spPr>
          <a:xfrm>
            <a:off x="457200" y="3886200"/>
            <a:ext cx="8229600" cy="1372683"/>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800" b="0" dirty="0">
                <a:solidFill>
                  <a:srgbClr val="262626"/>
                </a:solidFill>
              </a:rPr>
              <a:t>Apply appropriate techniques to gather user and stakeholder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Validate requirements for completeness, consistency and feasibility</a:t>
            </a:r>
            <a:r>
              <a:rPr sz="1400" b="0" dirty="0">
                <a:solidFill>
                  <a:srgbClr val="595959"/>
                </a:solidFill>
              </a:rPr>
              <a:t> </a:t>
            </a:r>
          </a:p>
          <a:p>
            <a:pPr marL="285750" indent="-285750" algn="l">
              <a:spcAft>
                <a:spcPts val="400"/>
              </a:spcAft>
              <a:buFont typeface="Arial"/>
              <a:buChar char="•"/>
            </a:pPr>
            <a:r>
              <a:rPr sz="1800" b="0" dirty="0">
                <a:solidFill>
                  <a:srgbClr val="262626"/>
                </a:solidFill>
              </a:rPr>
              <a:t>Evaluate trade-offs in complex system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Identify challenges in multi-stakeholder systems and propose resolution strategies</a:t>
            </a:r>
            <a:r>
              <a:rPr sz="1400" b="0" dirty="0">
                <a:solidFill>
                  <a:srgbClr val="595959"/>
                </a:solid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The Requirements Lifecycle</a:t>
            </a:r>
          </a:p>
        </p:txBody>
      </p:sp>
      <p:sp>
        <p:nvSpPr>
          <p:cNvPr id="3" name="Oval 2"/>
          <p:cNvSpPr/>
          <p:nvPr/>
        </p:nvSpPr>
        <p:spPr>
          <a:xfrm>
            <a:off x="502920" y="12984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1</a:t>
            </a:r>
          </a:p>
        </p:txBody>
      </p:sp>
      <p:sp>
        <p:nvSpPr>
          <p:cNvPr id="4" name="TextBox 3"/>
          <p:cNvSpPr txBox="1"/>
          <p:nvPr/>
        </p:nvSpPr>
        <p:spPr>
          <a:xfrm>
            <a:off x="1280160" y="11887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Elicitation</a:t>
            </a:r>
          </a:p>
        </p:txBody>
      </p:sp>
      <p:sp>
        <p:nvSpPr>
          <p:cNvPr id="5" name="TextBox 4"/>
          <p:cNvSpPr txBox="1"/>
          <p:nvPr/>
        </p:nvSpPr>
        <p:spPr>
          <a:xfrm>
            <a:off x="3383280" y="11887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Discover requirements from stakeholders: interviews, workshops, observation.</a:t>
            </a:r>
          </a:p>
        </p:txBody>
      </p:sp>
      <p:sp>
        <p:nvSpPr>
          <p:cNvPr id="6" name="Down Arrow 5"/>
          <p:cNvSpPr/>
          <p:nvPr/>
        </p:nvSpPr>
        <p:spPr>
          <a:xfrm>
            <a:off x="685800" y="1874519"/>
            <a:ext cx="182880" cy="228600"/>
          </a:xfrm>
          <a:prstGeom prst="downArrow">
            <a:avLst/>
          </a:prstGeom>
          <a:solidFill>
            <a:srgbClr val="1F497D"/>
          </a:solidFill>
          <a:ln>
            <a:noFill/>
          </a:ln>
          <a:effectLst/>
        </p:spPr>
        <p:txBody>
          <a:bodyPr rtlCol="0" anchor="ctr"/>
          <a:lstStyle/>
          <a:p>
            <a:pPr algn="ctr"/>
            <a:endParaRPr/>
          </a:p>
        </p:txBody>
      </p:sp>
      <p:sp>
        <p:nvSpPr>
          <p:cNvPr id="7" name="Oval 6"/>
          <p:cNvSpPr/>
          <p:nvPr/>
        </p:nvSpPr>
        <p:spPr>
          <a:xfrm>
            <a:off x="502920" y="22128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2</a:t>
            </a:r>
          </a:p>
        </p:txBody>
      </p:sp>
      <p:sp>
        <p:nvSpPr>
          <p:cNvPr id="8" name="TextBox 7"/>
          <p:cNvSpPr txBox="1"/>
          <p:nvPr/>
        </p:nvSpPr>
        <p:spPr>
          <a:xfrm>
            <a:off x="1280160" y="21031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Analysis</a:t>
            </a:r>
          </a:p>
        </p:txBody>
      </p:sp>
      <p:sp>
        <p:nvSpPr>
          <p:cNvPr id="9" name="TextBox 8"/>
          <p:cNvSpPr txBox="1"/>
          <p:nvPr/>
        </p:nvSpPr>
        <p:spPr>
          <a:xfrm>
            <a:off x="3383280" y="21031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Resolve conflicts, prioritise and refine for clarity and feasibility.</a:t>
            </a:r>
          </a:p>
        </p:txBody>
      </p:sp>
      <p:sp>
        <p:nvSpPr>
          <p:cNvPr id="10" name="Down Arrow 9"/>
          <p:cNvSpPr/>
          <p:nvPr/>
        </p:nvSpPr>
        <p:spPr>
          <a:xfrm>
            <a:off x="685800" y="2788920"/>
            <a:ext cx="182880" cy="228600"/>
          </a:xfrm>
          <a:prstGeom prst="downArrow">
            <a:avLst/>
          </a:prstGeom>
          <a:solidFill>
            <a:srgbClr val="1F497D"/>
          </a:solidFill>
          <a:ln>
            <a:noFill/>
          </a:ln>
          <a:effectLst/>
        </p:spPr>
        <p:txBody>
          <a:bodyPr rtlCol="0" anchor="ctr"/>
          <a:lstStyle/>
          <a:p>
            <a:pPr algn="ctr"/>
            <a:endParaRPr/>
          </a:p>
        </p:txBody>
      </p:sp>
      <p:sp>
        <p:nvSpPr>
          <p:cNvPr id="11" name="Oval 10"/>
          <p:cNvSpPr/>
          <p:nvPr/>
        </p:nvSpPr>
        <p:spPr>
          <a:xfrm>
            <a:off x="502920" y="31272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3</a:t>
            </a:r>
          </a:p>
        </p:txBody>
      </p:sp>
      <p:sp>
        <p:nvSpPr>
          <p:cNvPr id="12" name="TextBox 11"/>
          <p:cNvSpPr txBox="1"/>
          <p:nvPr/>
        </p:nvSpPr>
        <p:spPr>
          <a:xfrm>
            <a:off x="1280160" y="30175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Specification</a:t>
            </a:r>
          </a:p>
        </p:txBody>
      </p:sp>
      <p:sp>
        <p:nvSpPr>
          <p:cNvPr id="13" name="TextBox 12"/>
          <p:cNvSpPr txBox="1"/>
          <p:nvPr/>
        </p:nvSpPr>
        <p:spPr>
          <a:xfrm>
            <a:off x="3383280" y="30175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Document in a standard format (ISO/IEC/IEEE 29148:2018).</a:t>
            </a:r>
          </a:p>
        </p:txBody>
      </p:sp>
      <p:sp>
        <p:nvSpPr>
          <p:cNvPr id="14" name="Down Arrow 13"/>
          <p:cNvSpPr/>
          <p:nvPr/>
        </p:nvSpPr>
        <p:spPr>
          <a:xfrm>
            <a:off x="685800" y="3703320"/>
            <a:ext cx="182880" cy="228600"/>
          </a:xfrm>
          <a:prstGeom prst="downArrow">
            <a:avLst/>
          </a:prstGeom>
          <a:solidFill>
            <a:srgbClr val="1F497D"/>
          </a:solidFill>
          <a:ln>
            <a:noFill/>
          </a:ln>
          <a:effectLst/>
        </p:spPr>
        <p:txBody>
          <a:bodyPr rtlCol="0" anchor="ctr"/>
          <a:lstStyle/>
          <a:p>
            <a:pPr algn="ctr"/>
            <a:endParaRPr/>
          </a:p>
        </p:txBody>
      </p:sp>
      <p:sp>
        <p:nvSpPr>
          <p:cNvPr id="15" name="Oval 14"/>
          <p:cNvSpPr/>
          <p:nvPr/>
        </p:nvSpPr>
        <p:spPr>
          <a:xfrm>
            <a:off x="502920" y="40416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4</a:t>
            </a:r>
          </a:p>
        </p:txBody>
      </p:sp>
      <p:sp>
        <p:nvSpPr>
          <p:cNvPr id="16" name="TextBox 15"/>
          <p:cNvSpPr txBox="1"/>
          <p:nvPr/>
        </p:nvSpPr>
        <p:spPr>
          <a:xfrm>
            <a:off x="1280160" y="39319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Validation</a:t>
            </a:r>
          </a:p>
        </p:txBody>
      </p:sp>
      <p:sp>
        <p:nvSpPr>
          <p:cNvPr id="17" name="TextBox 16"/>
          <p:cNvSpPr txBox="1"/>
          <p:nvPr/>
        </p:nvSpPr>
        <p:spPr>
          <a:xfrm>
            <a:off x="3383280" y="39319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Check correctness, consistency, completeness and testability.</a:t>
            </a:r>
          </a:p>
        </p:txBody>
      </p:sp>
      <p:sp>
        <p:nvSpPr>
          <p:cNvPr id="18" name="Rectangle 17"/>
          <p:cNvSpPr/>
          <p:nvPr/>
        </p:nvSpPr>
        <p:spPr>
          <a:xfrm>
            <a:off x="457200" y="5170107"/>
            <a:ext cx="8229600" cy="640080"/>
          </a:xfrm>
          <a:prstGeom prst="rect">
            <a:avLst/>
          </a:prstGeom>
          <a:solidFill>
            <a:srgbClr val="EBF1DE"/>
          </a:solidFill>
          <a:ln>
            <a:noFill/>
          </a:ln>
          <a:effectLst/>
        </p:spPr>
        <p:txBody>
          <a:bodyPr wrap="square" lIns="73152" tIns="54864" rIns="73152" bIns="54864" rtlCol="0" anchor="ctr"/>
          <a:lstStyle/>
          <a:p>
            <a:pPr marL="0" indent="0" algn="ctr">
              <a:buNone/>
            </a:pPr>
            <a:r>
              <a:rPr sz="1800" b="1">
                <a:solidFill>
                  <a:srgbClr val="4F6228"/>
                </a:solidFill>
              </a:rPr>
              <a:t>Management: </a:t>
            </a:r>
            <a:r>
              <a:rPr sz="1800" b="0">
                <a:solidFill>
                  <a:srgbClr val="262626"/>
                </a:solidFill>
              </a:rPr>
              <a:t>track and update requirements throughout the system lifecycle.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Stakeholders and Sources</a:t>
            </a:r>
          </a:p>
        </p:txBody>
      </p:sp>
      <p:sp>
        <p:nvSpPr>
          <p:cNvPr id="3" name="Rectangle 2"/>
          <p:cNvSpPr/>
          <p:nvPr/>
        </p:nvSpPr>
        <p:spPr>
          <a:xfrm>
            <a:off x="457200" y="1188720"/>
            <a:ext cx="4023360" cy="393192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234440"/>
            <a:ext cx="3749039" cy="457200"/>
          </a:xfrm>
          <a:prstGeom prst="rect">
            <a:avLst/>
          </a:prstGeom>
          <a:noFill/>
        </p:spPr>
        <p:txBody>
          <a:bodyPr wrap="square" lIns="73152" tIns="54864" rIns="73152" bIns="54864" anchor="ctr">
            <a:spAutoFit/>
          </a:bodyPr>
          <a:lstStyle/>
          <a:p>
            <a:pPr marL="0" indent="0" algn="l">
              <a:buNone/>
            </a:pPr>
            <a:r>
              <a:rPr sz="2000" b="1">
                <a:solidFill>
                  <a:srgbClr val="1F497D"/>
                </a:solidFill>
              </a:rPr>
              <a:t>Stakeholders</a:t>
            </a:r>
          </a:p>
        </p:txBody>
      </p:sp>
      <p:sp>
        <p:nvSpPr>
          <p:cNvPr id="5" name="TextBox 4"/>
          <p:cNvSpPr txBox="1"/>
          <p:nvPr/>
        </p:nvSpPr>
        <p:spPr>
          <a:xfrm>
            <a:off x="594360" y="1737360"/>
            <a:ext cx="3749039" cy="329184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2000" b="0">
                <a:solidFill>
                  <a:srgbClr val="262626"/>
                </a:solidFill>
              </a:rPr>
              <a:t>Users</a:t>
            </a:r>
          </a:p>
          <a:p>
            <a:pPr marL="285750" indent="-285750" algn="l">
              <a:spcAft>
                <a:spcPts val="500"/>
              </a:spcAft>
              <a:buFont typeface="Arial"/>
              <a:buChar char="•"/>
            </a:pPr>
            <a:r>
              <a:rPr sz="2000" b="0">
                <a:solidFill>
                  <a:srgbClr val="262626"/>
                </a:solidFill>
              </a:rPr>
              <a:t>Project sponsors</a:t>
            </a:r>
          </a:p>
          <a:p>
            <a:pPr marL="285750" indent="-285750" algn="l">
              <a:spcAft>
                <a:spcPts val="500"/>
              </a:spcAft>
              <a:buFont typeface="Arial"/>
              <a:buChar char="•"/>
            </a:pPr>
            <a:r>
              <a:rPr sz="2000" b="0">
                <a:solidFill>
                  <a:srgbClr val="262626"/>
                </a:solidFill>
              </a:rPr>
              <a:t>Regulatory bodies</a:t>
            </a:r>
          </a:p>
          <a:p>
            <a:pPr marL="285750" indent="-285750" algn="l">
              <a:spcAft>
                <a:spcPts val="500"/>
              </a:spcAft>
              <a:buFont typeface="Arial"/>
              <a:buChar char="•"/>
            </a:pPr>
            <a:r>
              <a:rPr sz="2000" b="0">
                <a:solidFill>
                  <a:srgbClr val="262626"/>
                </a:solidFill>
              </a:rPr>
              <a:t>Developers and testers</a:t>
            </a:r>
          </a:p>
          <a:p>
            <a:pPr marL="285750" indent="-285750" algn="l">
              <a:spcAft>
                <a:spcPts val="500"/>
              </a:spcAft>
              <a:buFont typeface="Arial"/>
              <a:buChar char="•"/>
            </a:pPr>
            <a:r>
              <a:rPr sz="2000" b="0">
                <a:solidFill>
                  <a:srgbClr val="262626"/>
                </a:solidFill>
              </a:rPr>
              <a:t>Maintainers</a:t>
            </a:r>
          </a:p>
          <a:p>
            <a:pPr marL="285750" indent="-285750" algn="l">
              <a:spcAft>
                <a:spcPts val="500"/>
              </a:spcAft>
              <a:buFont typeface="Arial"/>
              <a:buChar char="•"/>
            </a:pPr>
            <a:r>
              <a:rPr sz="2000" b="0">
                <a:solidFill>
                  <a:srgbClr val="262626"/>
                </a:solidFill>
              </a:rPr>
              <a:t>Adjacent systems (yes, systems too)</a:t>
            </a:r>
          </a:p>
        </p:txBody>
      </p:sp>
      <p:sp>
        <p:nvSpPr>
          <p:cNvPr id="6" name="Rectangle 5"/>
          <p:cNvSpPr/>
          <p:nvPr/>
        </p:nvSpPr>
        <p:spPr>
          <a:xfrm>
            <a:off x="4663440" y="1188720"/>
            <a:ext cx="4023360" cy="3931920"/>
          </a:xfrm>
          <a:prstGeom prst="rect">
            <a:avLst/>
          </a:prstGeom>
          <a:solidFill>
            <a:srgbClr val="F2F2F2"/>
          </a:solidFill>
          <a:ln>
            <a:noFill/>
          </a:ln>
          <a:effectLst/>
        </p:spPr>
        <p:txBody>
          <a:bodyPr rtlCol="0" anchor="ctr"/>
          <a:lstStyle/>
          <a:p>
            <a:pPr algn="ctr"/>
            <a:endParaRPr/>
          </a:p>
        </p:txBody>
      </p:sp>
      <p:sp>
        <p:nvSpPr>
          <p:cNvPr id="7" name="TextBox 6"/>
          <p:cNvSpPr txBox="1"/>
          <p:nvPr/>
        </p:nvSpPr>
        <p:spPr>
          <a:xfrm>
            <a:off x="4800600" y="1234440"/>
            <a:ext cx="3749039" cy="457200"/>
          </a:xfrm>
          <a:prstGeom prst="rect">
            <a:avLst/>
          </a:prstGeom>
          <a:noFill/>
        </p:spPr>
        <p:txBody>
          <a:bodyPr wrap="square" lIns="73152" tIns="54864" rIns="73152" bIns="54864" anchor="ctr">
            <a:spAutoFit/>
          </a:bodyPr>
          <a:lstStyle/>
          <a:p>
            <a:pPr marL="0" indent="0" algn="l">
              <a:buNone/>
            </a:pPr>
            <a:r>
              <a:rPr sz="2000" b="1">
                <a:solidFill>
                  <a:srgbClr val="1F497D"/>
                </a:solidFill>
              </a:rPr>
              <a:t>Sources of requirements</a:t>
            </a:r>
          </a:p>
        </p:txBody>
      </p:sp>
      <p:sp>
        <p:nvSpPr>
          <p:cNvPr id="8" name="TextBox 7"/>
          <p:cNvSpPr txBox="1"/>
          <p:nvPr/>
        </p:nvSpPr>
        <p:spPr>
          <a:xfrm>
            <a:off x="4800600" y="1737360"/>
            <a:ext cx="3749039" cy="329184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2000" b="0">
                <a:solidFill>
                  <a:srgbClr val="262626"/>
                </a:solidFill>
              </a:rPr>
              <a:t>User interviews and observation</a:t>
            </a:r>
          </a:p>
          <a:p>
            <a:pPr marL="285750" indent="-285750" algn="l">
              <a:spcAft>
                <a:spcPts val="500"/>
              </a:spcAft>
              <a:buFont typeface="Arial"/>
              <a:buChar char="•"/>
            </a:pPr>
            <a:r>
              <a:rPr sz="2000" b="0">
                <a:solidFill>
                  <a:srgbClr val="262626"/>
                </a:solidFill>
              </a:rPr>
              <a:t>Existing systems and documentation</a:t>
            </a:r>
          </a:p>
          <a:p>
            <a:pPr marL="285750" indent="-285750" algn="l">
              <a:spcAft>
                <a:spcPts val="500"/>
              </a:spcAft>
              <a:buFont typeface="Arial"/>
              <a:buChar char="•"/>
            </a:pPr>
            <a:r>
              <a:rPr sz="2000" b="0">
                <a:solidFill>
                  <a:srgbClr val="262626"/>
                </a:solidFill>
              </a:rPr>
              <a:t>Standards and regulations</a:t>
            </a:r>
          </a:p>
          <a:p>
            <a:pPr marL="285750" indent="-285750" algn="l">
              <a:spcAft>
                <a:spcPts val="500"/>
              </a:spcAft>
              <a:buFont typeface="Arial"/>
              <a:buChar char="•"/>
            </a:pPr>
            <a:r>
              <a:rPr sz="2000" b="0">
                <a:solidFill>
                  <a:srgbClr val="262626"/>
                </a:solidFill>
              </a:rPr>
              <a:t>Competitive benchmarking</a:t>
            </a:r>
          </a:p>
          <a:p>
            <a:pPr marL="285750" indent="-285750" algn="l">
              <a:spcAft>
                <a:spcPts val="500"/>
              </a:spcAft>
              <a:buFont typeface="Arial"/>
              <a:buChar char="•"/>
            </a:pPr>
            <a:r>
              <a:rPr sz="2000" b="0">
                <a:solidFill>
                  <a:srgbClr val="262626"/>
                </a:solidFill>
              </a:rPr>
              <a:t>Internal expertise and R&amp;D insights</a:t>
            </a:r>
          </a:p>
        </p:txBody>
      </p:sp>
      <p:sp>
        <p:nvSpPr>
          <p:cNvPr id="9" name="TextBox 8"/>
          <p:cNvSpPr txBox="1"/>
          <p:nvPr/>
        </p:nvSpPr>
        <p:spPr>
          <a:xfrm>
            <a:off x="457200" y="5303520"/>
            <a:ext cx="8229600" cy="914400"/>
          </a:xfrm>
          <a:prstGeom prst="rect">
            <a:avLst/>
          </a:prstGeom>
          <a:noFill/>
        </p:spPr>
        <p:txBody>
          <a:bodyPr wrap="square" lIns="73152" tIns="54864" rIns="73152" bIns="54864" anchor="ctr">
            <a:spAutoFit/>
          </a:bodyPr>
          <a:lstStyle/>
          <a:p>
            <a:pPr marL="0" indent="0" algn="l">
              <a:buNone/>
            </a:pPr>
            <a:r>
              <a:rPr sz="1800" b="1">
                <a:solidFill>
                  <a:srgbClr val="1F497D"/>
                </a:solidFill>
              </a:rPr>
              <a:t>Identify stakeholders early: a missed stakeholder is a missed requirement. Stakeholders are more than users.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628C-16D2-B49F-A115-F4EA1C70F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57A97-0FCC-FBA0-D440-DFE47897496B}"/>
              </a:ext>
            </a:extLst>
          </p:cNvPr>
          <p:cNvSpPr>
            <a:spLocks noGrp="1"/>
          </p:cNvSpPr>
          <p:nvPr>
            <p:ph type="title"/>
          </p:nvPr>
        </p:nvSpPr>
        <p:spPr>
          <a:xfrm>
            <a:off x="342900" y="91440"/>
            <a:ext cx="8458200" cy="1005840"/>
          </a:xfrm>
        </p:spPr>
        <p:txBody>
          <a:bodyPr/>
          <a:lstStyle/>
          <a:p>
            <a:r>
              <a:rPr sz="3000" b="1" dirty="0">
                <a:solidFill>
                  <a:schemeClr val="tx2"/>
                </a:solidFill>
              </a:rPr>
              <a:t>Case Study: Child-Monitoring Duck</a:t>
            </a:r>
          </a:p>
        </p:txBody>
      </p:sp>
      <p:sp>
        <p:nvSpPr>
          <p:cNvPr id="3" name="Rectangle 2">
            <a:extLst>
              <a:ext uri="{FF2B5EF4-FFF2-40B4-BE49-F238E27FC236}">
                <a16:creationId xmlns:a16="http://schemas.microsoft.com/office/drawing/2014/main" id="{AB88B4E1-D6CD-3E21-EDE2-CB14CA205505}"/>
              </a:ext>
            </a:extLst>
          </p:cNvPr>
          <p:cNvSpPr/>
          <p:nvPr/>
        </p:nvSpPr>
        <p:spPr>
          <a:xfrm>
            <a:off x="457200" y="1097280"/>
            <a:ext cx="8229600" cy="777240"/>
          </a:xfrm>
          <a:prstGeom prst="rect">
            <a:avLst/>
          </a:prstGeom>
          <a:solidFill>
            <a:srgbClr val="DCE6F2"/>
          </a:solidFill>
          <a:ln>
            <a:noFill/>
          </a:ln>
          <a:effectLst/>
        </p:spPr>
        <p:txBody>
          <a:bodyPr wrap="square" lIns="182880" tIns="54864" rIns="182880" bIns="54864" rtlCol="0" anchor="ctr"/>
          <a:lstStyle/>
          <a:p>
            <a:pPr marL="0" indent="0" algn="l">
              <a:buNone/>
            </a:pPr>
            <a:r>
              <a:rPr sz="1800" b="0">
                <a:solidFill>
                  <a:srgbClr val="262626"/>
                </a:solidFill>
              </a:rPr>
              <a:t>Design a child-monitoring system embedded in a toy duck, used by caregivers for indoor safety monitoring.</a:t>
            </a:r>
          </a:p>
        </p:txBody>
      </p:sp>
      <p:sp>
        <p:nvSpPr>
          <p:cNvPr id="4" name="Rectangle 3">
            <a:extLst>
              <a:ext uri="{FF2B5EF4-FFF2-40B4-BE49-F238E27FC236}">
                <a16:creationId xmlns:a16="http://schemas.microsoft.com/office/drawing/2014/main" id="{C064E6A5-4C60-B818-E737-165320FB3954}"/>
              </a:ext>
            </a:extLst>
          </p:cNvPr>
          <p:cNvSpPr/>
          <p:nvPr/>
        </p:nvSpPr>
        <p:spPr>
          <a:xfrm>
            <a:off x="457200" y="2103120"/>
            <a:ext cx="3291840" cy="1463040"/>
          </a:xfrm>
          <a:prstGeom prst="rect">
            <a:avLst/>
          </a:prstGeom>
          <a:solidFill>
            <a:srgbClr val="FDE9D9"/>
          </a:solidFill>
          <a:ln>
            <a:noFill/>
          </a:ln>
          <a:effectLst/>
        </p:spPr>
        <p:txBody>
          <a:bodyPr wrap="square" lIns="137160" tIns="54864" rIns="137160" bIns="54864" rtlCol="0" anchor="ctr"/>
          <a:lstStyle/>
          <a:p>
            <a:pPr marL="0" indent="0" algn="l">
              <a:spcAft>
                <a:spcPts val="300"/>
              </a:spcAft>
              <a:buNone/>
            </a:pPr>
            <a:r>
              <a:rPr sz="1800" b="1">
                <a:solidFill>
                  <a:srgbClr val="E36C09"/>
                </a:solidFill>
              </a:rPr>
              <a:t>Duck</a:t>
            </a:r>
          </a:p>
          <a:p>
            <a:pPr marL="0" indent="0" algn="l">
              <a:buNone/>
            </a:pPr>
            <a:r>
              <a:rPr sz="1400" b="0">
                <a:solidFill>
                  <a:srgbClr val="262626"/>
                </a:solidFill>
              </a:rPr>
              <a:t>Temperature, sound-level and presence sensors, microcontroller, BLE radio</a:t>
            </a:r>
          </a:p>
        </p:txBody>
      </p:sp>
      <p:sp>
        <p:nvSpPr>
          <p:cNvPr id="5" name="Right Arrow 4">
            <a:extLst>
              <a:ext uri="{FF2B5EF4-FFF2-40B4-BE49-F238E27FC236}">
                <a16:creationId xmlns:a16="http://schemas.microsoft.com/office/drawing/2014/main" id="{CADC1E4B-6B9B-C311-83D4-7C7CF64A3B6E}"/>
              </a:ext>
            </a:extLst>
          </p:cNvPr>
          <p:cNvSpPr/>
          <p:nvPr/>
        </p:nvSpPr>
        <p:spPr>
          <a:xfrm>
            <a:off x="3840480" y="2697480"/>
            <a:ext cx="594360" cy="320040"/>
          </a:xfrm>
          <a:prstGeom prst="rightArrow">
            <a:avLst/>
          </a:prstGeom>
          <a:solidFill>
            <a:srgbClr val="1F497D"/>
          </a:solidFill>
          <a:ln>
            <a:noFill/>
          </a:ln>
          <a:effectLst/>
        </p:spPr>
        <p:txBody>
          <a:bodyPr rtlCol="0" anchor="ctr"/>
          <a:lstStyle/>
          <a:p>
            <a:pPr algn="ctr"/>
            <a:endParaRPr/>
          </a:p>
        </p:txBody>
      </p:sp>
      <p:sp>
        <p:nvSpPr>
          <p:cNvPr id="6" name="TextBox 5">
            <a:extLst>
              <a:ext uri="{FF2B5EF4-FFF2-40B4-BE49-F238E27FC236}">
                <a16:creationId xmlns:a16="http://schemas.microsoft.com/office/drawing/2014/main" id="{CF25FBC6-AF80-564B-7DAB-B36EFD1703BF}"/>
              </a:ext>
            </a:extLst>
          </p:cNvPr>
          <p:cNvSpPr txBox="1"/>
          <p:nvPr/>
        </p:nvSpPr>
        <p:spPr>
          <a:xfrm>
            <a:off x="3611880" y="3063240"/>
            <a:ext cx="1051560" cy="502920"/>
          </a:xfrm>
          <a:prstGeom prst="rect">
            <a:avLst/>
          </a:prstGeom>
          <a:noFill/>
        </p:spPr>
        <p:txBody>
          <a:bodyPr wrap="square" lIns="18288" tIns="18288" rIns="18288" bIns="18288" anchor="t">
            <a:spAutoFit/>
          </a:bodyPr>
          <a:lstStyle/>
          <a:p>
            <a:pPr marL="0" indent="0" algn="ctr">
              <a:buNone/>
            </a:pPr>
            <a:r>
              <a:rPr sz="1100" b="0">
                <a:solidFill>
                  <a:srgbClr val="595959"/>
                </a:solidFill>
              </a:rPr>
              <a:t>secure link</a:t>
            </a:r>
          </a:p>
          <a:p>
            <a:pPr marL="0" indent="0" algn="ctr">
              <a:buNone/>
            </a:pPr>
            <a:r>
              <a:rPr sz="1100" b="0">
                <a:solidFill>
                  <a:srgbClr val="595959"/>
                </a:solidFill>
              </a:rPr>
              <a:t>&lt; 2 s delay</a:t>
            </a:r>
          </a:p>
        </p:txBody>
      </p:sp>
      <p:sp>
        <p:nvSpPr>
          <p:cNvPr id="7" name="Rectangle 6">
            <a:extLst>
              <a:ext uri="{FF2B5EF4-FFF2-40B4-BE49-F238E27FC236}">
                <a16:creationId xmlns:a16="http://schemas.microsoft.com/office/drawing/2014/main" id="{A61B9A97-48B7-9541-A7DA-13CFC873D7D2}"/>
              </a:ext>
            </a:extLst>
          </p:cNvPr>
          <p:cNvSpPr/>
          <p:nvPr/>
        </p:nvSpPr>
        <p:spPr>
          <a:xfrm>
            <a:off x="4572000" y="2103120"/>
            <a:ext cx="1965960" cy="1463040"/>
          </a:xfrm>
          <a:prstGeom prst="rect">
            <a:avLst/>
          </a:prstGeom>
          <a:solidFill>
            <a:srgbClr val="DCE6F2"/>
          </a:solidFill>
          <a:ln>
            <a:noFill/>
          </a:ln>
          <a:effectLst/>
        </p:spPr>
        <p:txBody>
          <a:bodyPr wrap="square" lIns="137160" tIns="54864" rIns="137160" bIns="54864" rtlCol="0" anchor="ctr"/>
          <a:lstStyle/>
          <a:p>
            <a:pPr marL="0" indent="0" algn="l">
              <a:spcAft>
                <a:spcPts val="300"/>
              </a:spcAft>
              <a:buNone/>
            </a:pPr>
            <a:r>
              <a:rPr sz="1700" b="1">
                <a:solidFill>
                  <a:srgbClr val="1F497D"/>
                </a:solidFill>
              </a:rPr>
              <a:t>Phone / gateway</a:t>
            </a:r>
          </a:p>
          <a:p>
            <a:pPr marL="0" indent="0" algn="l">
              <a:buNone/>
            </a:pPr>
            <a:r>
              <a:rPr sz="1300" b="0">
                <a:solidFill>
                  <a:srgbClr val="595959"/>
                </a:solidFill>
              </a:rPr>
              <a:t>relays data</a:t>
            </a:r>
          </a:p>
        </p:txBody>
      </p:sp>
      <p:sp>
        <p:nvSpPr>
          <p:cNvPr id="8" name="Right Arrow 7">
            <a:extLst>
              <a:ext uri="{FF2B5EF4-FFF2-40B4-BE49-F238E27FC236}">
                <a16:creationId xmlns:a16="http://schemas.microsoft.com/office/drawing/2014/main" id="{1246A3A2-9181-FF48-C6D4-960F8E1A227F}"/>
              </a:ext>
            </a:extLst>
          </p:cNvPr>
          <p:cNvSpPr/>
          <p:nvPr/>
        </p:nvSpPr>
        <p:spPr>
          <a:xfrm>
            <a:off x="6583680" y="2697480"/>
            <a:ext cx="365760" cy="320040"/>
          </a:xfrm>
          <a:prstGeom prst="rightArrow">
            <a:avLst/>
          </a:prstGeom>
          <a:solidFill>
            <a:srgbClr val="1F497D"/>
          </a:solidFill>
          <a:ln>
            <a:noFill/>
          </a:ln>
          <a:effectLst/>
        </p:spPr>
        <p:txBody>
          <a:bodyPr rtlCol="0" anchor="ctr"/>
          <a:lstStyle/>
          <a:p>
            <a:pPr algn="ctr"/>
            <a:endParaRPr/>
          </a:p>
        </p:txBody>
      </p:sp>
      <p:sp>
        <p:nvSpPr>
          <p:cNvPr id="9" name="Rectangle 8">
            <a:extLst>
              <a:ext uri="{FF2B5EF4-FFF2-40B4-BE49-F238E27FC236}">
                <a16:creationId xmlns:a16="http://schemas.microsoft.com/office/drawing/2014/main" id="{5E90405E-90AC-89A0-FE6B-7864CF1EB6C7}"/>
              </a:ext>
            </a:extLst>
          </p:cNvPr>
          <p:cNvSpPr/>
          <p:nvPr/>
        </p:nvSpPr>
        <p:spPr>
          <a:xfrm>
            <a:off x="6995160" y="2103120"/>
            <a:ext cx="1691640" cy="1463040"/>
          </a:xfrm>
          <a:prstGeom prst="rect">
            <a:avLst/>
          </a:prstGeom>
          <a:solidFill>
            <a:srgbClr val="DAEEF3"/>
          </a:solidFill>
          <a:ln>
            <a:noFill/>
          </a:ln>
          <a:effectLst/>
        </p:spPr>
        <p:txBody>
          <a:bodyPr wrap="square" lIns="137160" tIns="54864" rIns="137160" bIns="54864" rtlCol="0" anchor="ctr"/>
          <a:lstStyle/>
          <a:p>
            <a:pPr marL="0" indent="0" algn="l">
              <a:spcAft>
                <a:spcPts val="300"/>
              </a:spcAft>
              <a:buNone/>
            </a:pPr>
            <a:r>
              <a:rPr sz="1700" b="1">
                <a:solidFill>
                  <a:srgbClr val="31859C"/>
                </a:solidFill>
              </a:rPr>
              <a:t>Caregiver app</a:t>
            </a:r>
          </a:p>
          <a:p>
            <a:pPr marL="0" indent="0" algn="l">
              <a:buNone/>
            </a:pPr>
            <a:r>
              <a:rPr sz="1300" b="0">
                <a:solidFill>
                  <a:srgbClr val="595959"/>
                </a:solidFill>
              </a:rPr>
              <a:t>alerts and history</a:t>
            </a:r>
          </a:p>
        </p:txBody>
      </p:sp>
      <p:sp>
        <p:nvSpPr>
          <p:cNvPr id="10" name="TextBox 9">
            <a:extLst>
              <a:ext uri="{FF2B5EF4-FFF2-40B4-BE49-F238E27FC236}">
                <a16:creationId xmlns:a16="http://schemas.microsoft.com/office/drawing/2014/main" id="{5A10BDAB-E5DA-F204-DDE7-46A4BB3E1AC2}"/>
              </a:ext>
            </a:extLst>
          </p:cNvPr>
          <p:cNvSpPr txBox="1"/>
          <p:nvPr/>
        </p:nvSpPr>
        <p:spPr>
          <a:xfrm>
            <a:off x="457200" y="3749039"/>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System constraints</a:t>
            </a:r>
          </a:p>
        </p:txBody>
      </p:sp>
      <p:sp>
        <p:nvSpPr>
          <p:cNvPr id="11" name="TextBox 10">
            <a:extLst>
              <a:ext uri="{FF2B5EF4-FFF2-40B4-BE49-F238E27FC236}">
                <a16:creationId xmlns:a16="http://schemas.microsoft.com/office/drawing/2014/main" id="{90A41B2D-5B81-8604-D8D8-91A67403E555}"/>
              </a:ext>
            </a:extLst>
          </p:cNvPr>
          <p:cNvSpPr txBox="1"/>
          <p:nvPr/>
        </p:nvSpPr>
        <p:spPr>
          <a:xfrm>
            <a:off x="457200" y="4160520"/>
            <a:ext cx="8229600" cy="210312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600" b="0">
                <a:solidFill>
                  <a:srgbClr val="262626"/>
                </a:solidFill>
              </a:rPr>
              <a:t>Must resemble a rubber duck in size, shape and texture.</a:t>
            </a:r>
          </a:p>
          <a:p>
            <a:pPr marL="285750" indent="-285750" algn="l">
              <a:spcAft>
                <a:spcPts val="300"/>
              </a:spcAft>
              <a:buFont typeface="Arial"/>
              <a:buChar char="•"/>
            </a:pPr>
            <a:r>
              <a:rPr sz="1600" b="0">
                <a:solidFill>
                  <a:srgbClr val="262626"/>
                </a:solidFill>
              </a:rPr>
              <a:t>Must be safe and non-intrusive for children aged 2 to 5.</a:t>
            </a:r>
          </a:p>
          <a:p>
            <a:pPr marL="285750" indent="-285750" algn="l">
              <a:spcAft>
                <a:spcPts val="300"/>
              </a:spcAft>
              <a:buFont typeface="Arial"/>
              <a:buChar char="•"/>
            </a:pPr>
            <a:r>
              <a:rPr sz="1600" b="0">
                <a:solidFill>
                  <a:srgbClr val="262626"/>
                </a:solidFill>
              </a:rPr>
              <a:t>Must monitor room temperature and sound levels, and detect presence.</a:t>
            </a:r>
          </a:p>
          <a:p>
            <a:pPr marL="285750" indent="-285750" algn="l">
              <a:spcAft>
                <a:spcPts val="300"/>
              </a:spcAft>
              <a:buFont typeface="Arial"/>
              <a:buChar char="•"/>
            </a:pPr>
            <a:r>
              <a:rPr sz="1600" b="0">
                <a:solidFill>
                  <a:srgbClr val="262626"/>
                </a:solidFill>
              </a:rPr>
              <a:t>All data must reach the caregiver app securely with minimal latency (&lt; 2 s).</a:t>
            </a:r>
          </a:p>
        </p:txBody>
      </p:sp>
    </p:spTree>
    <p:extLst>
      <p:ext uri="{BB962C8B-B14F-4D97-AF65-F5344CB8AC3E}">
        <p14:creationId xmlns:p14="http://schemas.microsoft.com/office/powerpoint/2010/main" val="2933804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Mapping Stakeholders: Power and Interest</a:t>
            </a:r>
          </a:p>
        </p:txBody>
      </p:sp>
      <p:sp>
        <p:nvSpPr>
          <p:cNvPr id="3" name="Rectangle 2"/>
          <p:cNvSpPr/>
          <p:nvPr/>
        </p:nvSpPr>
        <p:spPr>
          <a:xfrm>
            <a:off x="1216152" y="1059507"/>
            <a:ext cx="3694176" cy="2093976"/>
          </a:xfrm>
          <a:prstGeom prst="rect">
            <a:avLst/>
          </a:prstGeom>
          <a:solidFill>
            <a:srgbClr val="FDE9D9"/>
          </a:solidFill>
          <a:ln>
            <a:noFill/>
          </a:ln>
          <a:effectLst/>
        </p:spPr>
        <p:txBody>
          <a:bodyPr wrap="square" lIns="182880" tIns="54864" rIns="182880" bIns="54864" rtlCol="0" anchor="ctr"/>
          <a:lstStyle/>
          <a:p>
            <a:pPr marL="0" indent="0" algn="l">
              <a:spcAft>
                <a:spcPts val="600"/>
              </a:spcAft>
              <a:buNone/>
            </a:pPr>
            <a:r>
              <a:rPr sz="1900" b="1">
                <a:solidFill>
                  <a:srgbClr val="E36C09"/>
                </a:solidFill>
              </a:rPr>
              <a:t>Keep satisfied</a:t>
            </a:r>
          </a:p>
          <a:p>
            <a:pPr marL="0" indent="0" algn="l">
              <a:buNone/>
            </a:pPr>
            <a:r>
              <a:rPr sz="1600" b="0">
                <a:solidFill>
                  <a:srgbClr val="262626"/>
                </a:solidFill>
              </a:rPr>
              <a:t>Regulators (toy safety, data protection), retail partners</a:t>
            </a:r>
          </a:p>
        </p:txBody>
      </p:sp>
      <p:sp>
        <p:nvSpPr>
          <p:cNvPr id="4" name="Rectangle 3"/>
          <p:cNvSpPr/>
          <p:nvPr/>
        </p:nvSpPr>
        <p:spPr>
          <a:xfrm>
            <a:off x="4965192" y="1059507"/>
            <a:ext cx="3694176" cy="2093976"/>
          </a:xfrm>
          <a:prstGeom prst="rect">
            <a:avLst/>
          </a:prstGeom>
          <a:solidFill>
            <a:srgbClr val="F2DCDB"/>
          </a:solidFill>
          <a:ln>
            <a:noFill/>
          </a:ln>
          <a:effectLst/>
        </p:spPr>
        <p:txBody>
          <a:bodyPr wrap="square" lIns="182880" tIns="54864" rIns="182880" bIns="54864" rtlCol="0" anchor="ctr"/>
          <a:lstStyle/>
          <a:p>
            <a:pPr marL="0" indent="0" algn="l">
              <a:spcAft>
                <a:spcPts val="600"/>
              </a:spcAft>
              <a:buNone/>
            </a:pPr>
            <a:r>
              <a:rPr sz="1900" b="1">
                <a:solidFill>
                  <a:srgbClr val="A93226"/>
                </a:solidFill>
              </a:rPr>
              <a:t>Manage closely</a:t>
            </a:r>
          </a:p>
          <a:p>
            <a:pPr marL="0" indent="0" algn="l">
              <a:buNone/>
            </a:pPr>
            <a:r>
              <a:rPr sz="1600" b="0">
                <a:solidFill>
                  <a:srgbClr val="262626"/>
                </a:solidFill>
              </a:rPr>
              <a:t>Parents and caregivers, product owner, sponsor</a:t>
            </a:r>
          </a:p>
        </p:txBody>
      </p:sp>
      <p:sp>
        <p:nvSpPr>
          <p:cNvPr id="5" name="Rectangle 4"/>
          <p:cNvSpPr/>
          <p:nvPr/>
        </p:nvSpPr>
        <p:spPr>
          <a:xfrm>
            <a:off x="1216152" y="3208347"/>
            <a:ext cx="3694176" cy="2093976"/>
          </a:xfrm>
          <a:prstGeom prst="rect">
            <a:avLst/>
          </a:prstGeom>
          <a:solidFill>
            <a:srgbClr val="F2F2F2"/>
          </a:solidFill>
          <a:ln>
            <a:noFill/>
          </a:ln>
          <a:effectLst/>
        </p:spPr>
        <p:txBody>
          <a:bodyPr wrap="square" lIns="182880" tIns="54864" rIns="182880" bIns="54864" rtlCol="0" anchor="ctr"/>
          <a:lstStyle/>
          <a:p>
            <a:pPr marL="0" indent="0" algn="l">
              <a:spcAft>
                <a:spcPts val="600"/>
              </a:spcAft>
              <a:buNone/>
            </a:pPr>
            <a:r>
              <a:rPr sz="1900" b="1">
                <a:solidFill>
                  <a:srgbClr val="595959"/>
                </a:solidFill>
              </a:rPr>
              <a:t>Monitor</a:t>
            </a:r>
          </a:p>
          <a:p>
            <a:pPr marL="0" indent="0" algn="l">
              <a:buNone/>
            </a:pPr>
            <a:r>
              <a:rPr sz="1600" b="0">
                <a:solidFill>
                  <a:srgbClr val="262626"/>
                </a:solidFill>
              </a:rPr>
              <a:t>Component and battery suppliers</a:t>
            </a:r>
          </a:p>
        </p:txBody>
      </p:sp>
      <p:sp>
        <p:nvSpPr>
          <p:cNvPr id="6" name="Rectangle 5"/>
          <p:cNvSpPr/>
          <p:nvPr/>
        </p:nvSpPr>
        <p:spPr>
          <a:xfrm>
            <a:off x="4965192" y="3208347"/>
            <a:ext cx="3694176" cy="2093976"/>
          </a:xfrm>
          <a:prstGeom prst="rect">
            <a:avLst/>
          </a:prstGeom>
          <a:solidFill>
            <a:srgbClr val="DAEEF3"/>
          </a:solidFill>
          <a:ln>
            <a:noFill/>
          </a:ln>
          <a:effectLst/>
        </p:spPr>
        <p:txBody>
          <a:bodyPr wrap="square" lIns="182880" tIns="54864" rIns="182880" bIns="54864" rtlCol="0" anchor="ctr"/>
          <a:lstStyle/>
          <a:p>
            <a:pPr marL="0" indent="0" algn="l">
              <a:spcAft>
                <a:spcPts val="600"/>
              </a:spcAft>
              <a:buNone/>
            </a:pPr>
            <a:r>
              <a:rPr sz="1900" b="1">
                <a:solidFill>
                  <a:srgbClr val="31859C"/>
                </a:solidFill>
              </a:rPr>
              <a:t>Keep informed</a:t>
            </a:r>
          </a:p>
          <a:p>
            <a:pPr marL="0" indent="0" algn="l">
              <a:buNone/>
            </a:pPr>
            <a:r>
              <a:rPr sz="1600" b="0">
                <a:solidFill>
                  <a:srgbClr val="262626"/>
                </a:solidFill>
              </a:rPr>
              <a:t>Children (through parents), paediatricians, child psychologists</a:t>
            </a:r>
          </a:p>
        </p:txBody>
      </p:sp>
      <p:sp>
        <p:nvSpPr>
          <p:cNvPr id="7" name="TextBox 6"/>
          <p:cNvSpPr txBox="1"/>
          <p:nvPr/>
        </p:nvSpPr>
        <p:spPr>
          <a:xfrm>
            <a:off x="274320" y="1278861"/>
            <a:ext cx="822960" cy="3804118"/>
          </a:xfrm>
          <a:prstGeom prst="rect">
            <a:avLst/>
          </a:prstGeom>
          <a:noFill/>
        </p:spPr>
        <p:txBody>
          <a:bodyPr wrap="square" lIns="73152" tIns="54864" rIns="73152" bIns="54864" anchor="ctr">
            <a:spAutoFit/>
          </a:bodyPr>
          <a:lstStyle/>
          <a:p>
            <a:pPr marL="0" indent="0" algn="ctr">
              <a:buNone/>
            </a:pPr>
            <a:r>
              <a:rPr lang="en-US" sz="1600" b="1" dirty="0">
                <a:solidFill>
                  <a:srgbClr val="595959"/>
                </a:solidFill>
              </a:rPr>
              <a:t>High</a:t>
            </a:r>
          </a:p>
          <a:p>
            <a:pPr marL="0" indent="0" algn="ctr">
              <a:buNone/>
            </a:pPr>
            <a:endParaRPr lang="en-US" sz="1600" b="1" dirty="0">
              <a:solidFill>
                <a:srgbClr val="595959"/>
              </a:solidFill>
            </a:endParaRPr>
          </a:p>
          <a:p>
            <a:pPr marL="0" indent="0" algn="ctr">
              <a:buNone/>
            </a:pPr>
            <a:endParaRPr lang="en-US" sz="1600" b="1" dirty="0">
              <a:solidFill>
                <a:srgbClr val="595959"/>
              </a:solidFill>
            </a:endParaRPr>
          </a:p>
          <a:p>
            <a:pPr marL="0" indent="0" algn="ctr">
              <a:buNone/>
            </a:pPr>
            <a:endParaRPr lang="en-US" sz="1600" b="1" dirty="0">
              <a:solidFill>
                <a:srgbClr val="595959"/>
              </a:solidFill>
            </a:endParaRPr>
          </a:p>
          <a:p>
            <a:pPr marL="0" indent="0" algn="ctr">
              <a:buNone/>
            </a:pPr>
            <a:endParaRPr lang="en-US" sz="1600" b="1" dirty="0">
              <a:solidFill>
                <a:srgbClr val="595959"/>
              </a:solidFill>
            </a:endParaRPr>
          </a:p>
          <a:p>
            <a:pPr marL="0" indent="0" algn="ctr">
              <a:buNone/>
            </a:pPr>
            <a:endParaRPr lang="en-001" sz="1600" b="1" dirty="0">
              <a:solidFill>
                <a:srgbClr val="595959"/>
              </a:solidFill>
            </a:endParaRPr>
          </a:p>
          <a:p>
            <a:pPr marL="0" indent="0" algn="ctr">
              <a:buNone/>
            </a:pPr>
            <a:r>
              <a:rPr sz="1600" b="1" dirty="0">
                <a:solidFill>
                  <a:srgbClr val="595959"/>
                </a:solidFill>
              </a:rPr>
              <a:t>Power </a:t>
            </a:r>
            <a:r>
              <a:rPr lang="en-001" sz="1600" b="1" dirty="0">
                <a:solidFill>
                  <a:srgbClr val="595959"/>
                </a:solidFill>
              </a:rPr>
              <a:t>↑</a:t>
            </a: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r>
              <a:rPr lang="en-001" sz="1600" b="1" dirty="0">
                <a:solidFill>
                  <a:srgbClr val="595959"/>
                </a:solidFill>
              </a:rPr>
              <a:t>Low</a:t>
            </a:r>
            <a:endParaRPr sz="1600" b="1" dirty="0">
              <a:solidFill>
                <a:srgbClr val="595959"/>
              </a:solidFill>
            </a:endParaRPr>
          </a:p>
        </p:txBody>
      </p:sp>
      <p:sp>
        <p:nvSpPr>
          <p:cNvPr id="8" name="TextBox 7"/>
          <p:cNvSpPr txBox="1"/>
          <p:nvPr/>
        </p:nvSpPr>
        <p:spPr>
          <a:xfrm>
            <a:off x="1188720" y="5375475"/>
            <a:ext cx="7498079" cy="357021"/>
          </a:xfrm>
          <a:prstGeom prst="rect">
            <a:avLst/>
          </a:prstGeom>
          <a:noFill/>
        </p:spPr>
        <p:txBody>
          <a:bodyPr wrap="square" lIns="73152" tIns="54864" rIns="73152" bIns="54864" anchor="t">
            <a:spAutoFit/>
          </a:bodyPr>
          <a:lstStyle/>
          <a:p>
            <a:pPr marL="0" indent="0" algn="ctr">
              <a:buNone/>
            </a:pPr>
            <a:r>
              <a:rPr lang="en-US" sz="1600" b="1" dirty="0">
                <a:solidFill>
                  <a:srgbClr val="595959"/>
                </a:solidFill>
              </a:rPr>
              <a:t>Low                                                  </a:t>
            </a:r>
            <a:r>
              <a:rPr sz="1600" b="1" dirty="0">
                <a:solidFill>
                  <a:srgbClr val="595959"/>
                </a:solidFill>
              </a:rPr>
              <a:t>Interest  →</a:t>
            </a:r>
            <a:r>
              <a:rPr lang="en-US" sz="1600" b="1" dirty="0">
                <a:solidFill>
                  <a:srgbClr val="595959"/>
                </a:solidFill>
              </a:rPr>
              <a:t>                                          High</a:t>
            </a:r>
            <a:endParaRPr sz="1600" b="1" dirty="0">
              <a:solidFill>
                <a:srgbClr val="595959"/>
              </a:solidFill>
            </a:endParaRPr>
          </a:p>
        </p:txBody>
      </p:sp>
      <p:sp>
        <p:nvSpPr>
          <p:cNvPr id="9" name="TextBox 8"/>
          <p:cNvSpPr txBox="1"/>
          <p:nvPr/>
        </p:nvSpPr>
        <p:spPr>
          <a:xfrm>
            <a:off x="457200" y="5771668"/>
            <a:ext cx="8229600" cy="572464"/>
          </a:xfrm>
          <a:prstGeom prst="rect">
            <a:avLst/>
          </a:prstGeom>
          <a:noFill/>
        </p:spPr>
        <p:txBody>
          <a:bodyPr wrap="square" lIns="73152" tIns="54864" rIns="73152" bIns="54864" anchor="ctr">
            <a:spAutoFit/>
          </a:bodyPr>
          <a:lstStyle/>
          <a:p>
            <a:pPr marL="0" indent="0" algn="ctr">
              <a:buNone/>
            </a:pPr>
            <a:r>
              <a:rPr lang="en-US" sz="1500" b="0" i="1" dirty="0">
                <a:solidFill>
                  <a:srgbClr val="595959"/>
                </a:solidFill>
              </a:rPr>
              <a:t>Children have limited decision-making power but are primary users and affected stakeholders; </a:t>
            </a:r>
          </a:p>
          <a:p>
            <a:pPr marL="0" indent="0" algn="ctr">
              <a:buNone/>
            </a:pPr>
            <a:r>
              <a:rPr lang="en-US" sz="1500" b="0" i="1" dirty="0">
                <a:solidFill>
                  <a:srgbClr val="595959"/>
                </a:solidFill>
              </a:rPr>
              <a:t>their requirements should therefore be actively represented.</a:t>
            </a:r>
            <a:endParaRPr sz="1500" b="0" i="1" dirty="0">
              <a:solidFill>
                <a:srgbClr val="5959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Elicitation Techniques</a:t>
            </a:r>
          </a:p>
        </p:txBody>
      </p:sp>
      <p:graphicFrame>
        <p:nvGraphicFramePr>
          <p:cNvPr id="3" name="Table 2"/>
          <p:cNvGraphicFramePr>
            <a:graphicFrameLocks noGrp="1"/>
          </p:cNvGraphicFramePr>
          <p:nvPr/>
        </p:nvGraphicFramePr>
        <p:xfrm>
          <a:off x="365760" y="1143000"/>
          <a:ext cx="8412480" cy="4828032"/>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603504">
                <a:tc>
                  <a:txBody>
                    <a:bodyPr/>
                    <a:lstStyle/>
                    <a:p>
                      <a:pPr marL="0" indent="0">
                        <a:buNone/>
                      </a:pPr>
                      <a:r>
                        <a:rPr sz="1600" b="1">
                          <a:solidFill>
                            <a:srgbClr val="FFFFFF"/>
                          </a:solidFill>
                        </a:rPr>
                        <a:t>Technique</a:t>
                      </a:r>
                    </a:p>
                  </a:txBody>
                  <a:tcPr marL="73152" marR="73152" marT="36576" marB="36576" anchor="ctr">
                    <a:solidFill>
                      <a:srgbClr val="1F497D"/>
                    </a:solidFill>
                  </a:tcPr>
                </a:tc>
                <a:tc>
                  <a:txBody>
                    <a:bodyPr/>
                    <a:lstStyle/>
                    <a:p>
                      <a:pPr marL="0" indent="0">
                        <a:buNone/>
                      </a:pPr>
                      <a:r>
                        <a:rPr sz="1600" b="1">
                          <a:solidFill>
                            <a:srgbClr val="FFFFFF"/>
                          </a:solidFill>
                        </a:rPr>
                        <a:t>Best for</a:t>
                      </a:r>
                    </a:p>
                  </a:txBody>
                  <a:tcPr marL="73152" marR="73152" marT="36576" marB="36576" anchor="ctr">
                    <a:solidFill>
                      <a:srgbClr val="1F497D"/>
                    </a:solidFill>
                  </a:tcPr>
                </a:tc>
                <a:tc>
                  <a:txBody>
                    <a:bodyPr/>
                    <a:lstStyle/>
                    <a:p>
                      <a:pPr marL="0" indent="0">
                        <a:buNone/>
                      </a:pPr>
                      <a:r>
                        <a:rPr sz="1600" b="1">
                          <a:solidFill>
                            <a:srgbClr val="FFFFFF"/>
                          </a:solidFill>
                        </a:rPr>
                        <a:t>Watch out for</a:t>
                      </a:r>
                    </a:p>
                  </a:txBody>
                  <a:tcPr marL="73152" marR="73152" marT="36576" marB="36576" anchor="ctr">
                    <a:solidFill>
                      <a:srgbClr val="1F497D"/>
                    </a:solidFill>
                  </a:tcPr>
                </a:tc>
                <a:extLst>
                  <a:ext uri="{0D108BD9-81ED-4DB2-BD59-A6C34878D82A}">
                    <a16:rowId xmlns:a16="http://schemas.microsoft.com/office/drawing/2014/main" val="10000"/>
                  </a:ext>
                </a:extLst>
              </a:tr>
              <a:tr h="603504">
                <a:tc>
                  <a:txBody>
                    <a:bodyPr/>
                    <a:lstStyle/>
                    <a:p>
                      <a:pPr marL="0" indent="0">
                        <a:buNone/>
                      </a:pPr>
                      <a:r>
                        <a:rPr sz="1600" b="1">
                          <a:solidFill>
                            <a:srgbClr val="262626"/>
                          </a:solidFill>
                        </a:rPr>
                        <a:t>Interviews</a:t>
                      </a:r>
                    </a:p>
                  </a:txBody>
                  <a:tcPr marL="73152" marR="73152" marT="36576" marB="36576" anchor="ctr">
                    <a:solidFill>
                      <a:srgbClr val="DCE6F2"/>
                    </a:solidFill>
                  </a:tcPr>
                </a:tc>
                <a:tc>
                  <a:txBody>
                    <a:bodyPr/>
                    <a:lstStyle/>
                    <a:p>
                      <a:pPr marL="0" indent="0">
                        <a:buNone/>
                      </a:pPr>
                      <a:r>
                        <a:rPr sz="1600" b="0">
                          <a:solidFill>
                            <a:srgbClr val="262626"/>
                          </a:solidFill>
                        </a:rPr>
                        <a:t>Deep insight, implicit concerns</a:t>
                      </a:r>
                    </a:p>
                  </a:txBody>
                  <a:tcPr marL="73152" marR="73152" marT="36576" marB="36576" anchor="ctr">
                    <a:solidFill>
                      <a:srgbClr val="FFFFFF"/>
                    </a:solidFill>
                  </a:tcPr>
                </a:tc>
                <a:tc>
                  <a:txBody>
                    <a:bodyPr/>
                    <a:lstStyle/>
                    <a:p>
                      <a:pPr marL="0" indent="0">
                        <a:buNone/>
                      </a:pPr>
                      <a:r>
                        <a:rPr sz="1600" b="0">
                          <a:solidFill>
                            <a:srgbClr val="262626"/>
                          </a:solidFill>
                        </a:rPr>
                        <a:t>Interviewer bias, small samples</a:t>
                      </a:r>
                    </a:p>
                  </a:txBody>
                  <a:tcPr marL="73152" marR="73152" marT="36576" marB="36576" anchor="ctr">
                    <a:solidFill>
                      <a:srgbClr val="FFFFFF"/>
                    </a:solidFill>
                  </a:tcPr>
                </a:tc>
                <a:extLst>
                  <a:ext uri="{0D108BD9-81ED-4DB2-BD59-A6C34878D82A}">
                    <a16:rowId xmlns:a16="http://schemas.microsoft.com/office/drawing/2014/main" val="10001"/>
                  </a:ext>
                </a:extLst>
              </a:tr>
              <a:tr h="603504">
                <a:tc>
                  <a:txBody>
                    <a:bodyPr/>
                    <a:lstStyle/>
                    <a:p>
                      <a:pPr marL="0" indent="0">
                        <a:buNone/>
                      </a:pPr>
                      <a:r>
                        <a:rPr sz="1600" b="1">
                          <a:solidFill>
                            <a:srgbClr val="262626"/>
                          </a:solidFill>
                        </a:rPr>
                        <a:t>Questionnaires and surveys</a:t>
                      </a:r>
                    </a:p>
                  </a:txBody>
                  <a:tcPr marL="73152" marR="73152" marT="36576" marB="36576" anchor="ctr">
                    <a:solidFill>
                      <a:srgbClr val="DCE6F2"/>
                    </a:solidFill>
                  </a:tcPr>
                </a:tc>
                <a:tc>
                  <a:txBody>
                    <a:bodyPr/>
                    <a:lstStyle/>
                    <a:p>
                      <a:pPr marL="0" indent="0">
                        <a:buNone/>
                      </a:pPr>
                      <a:r>
                        <a:rPr sz="1600" b="0">
                          <a:solidFill>
                            <a:srgbClr val="262626"/>
                          </a:solidFill>
                        </a:rPr>
                        <a:t>Many or dispersed users, trends</a:t>
                      </a:r>
                    </a:p>
                  </a:txBody>
                  <a:tcPr marL="73152" marR="73152" marT="36576" marB="36576" anchor="ctr">
                    <a:solidFill>
                      <a:srgbClr val="F2F2F2"/>
                    </a:solidFill>
                  </a:tcPr>
                </a:tc>
                <a:tc>
                  <a:txBody>
                    <a:bodyPr/>
                    <a:lstStyle/>
                    <a:p>
                      <a:pPr marL="0" indent="0">
                        <a:buNone/>
                      </a:pPr>
                      <a:r>
                        <a:rPr sz="1600" b="0">
                          <a:solidFill>
                            <a:srgbClr val="262626"/>
                          </a:solidFill>
                        </a:rPr>
                        <a:t>Shallow answers, badly worded questions</a:t>
                      </a:r>
                    </a:p>
                  </a:txBody>
                  <a:tcPr marL="73152" marR="73152" marT="36576" marB="36576" anchor="ctr">
                    <a:solidFill>
                      <a:srgbClr val="F2F2F2"/>
                    </a:solidFill>
                  </a:tcPr>
                </a:tc>
                <a:extLst>
                  <a:ext uri="{0D108BD9-81ED-4DB2-BD59-A6C34878D82A}">
                    <a16:rowId xmlns:a16="http://schemas.microsoft.com/office/drawing/2014/main" val="10002"/>
                  </a:ext>
                </a:extLst>
              </a:tr>
              <a:tr h="603504">
                <a:tc>
                  <a:txBody>
                    <a:bodyPr/>
                    <a:lstStyle/>
                    <a:p>
                      <a:pPr marL="0" indent="0">
                        <a:buNone/>
                      </a:pPr>
                      <a:r>
                        <a:rPr sz="1600" b="1">
                          <a:solidFill>
                            <a:srgbClr val="262626"/>
                          </a:solidFill>
                        </a:rPr>
                        <a:t>Workshops and focus groups</a:t>
                      </a:r>
                    </a:p>
                  </a:txBody>
                  <a:tcPr marL="73152" marR="73152" marT="36576" marB="36576" anchor="ctr">
                    <a:solidFill>
                      <a:srgbClr val="DCE6F2"/>
                    </a:solidFill>
                  </a:tcPr>
                </a:tc>
                <a:tc>
                  <a:txBody>
                    <a:bodyPr/>
                    <a:lstStyle/>
                    <a:p>
                      <a:pPr marL="0" indent="0">
                        <a:buNone/>
                      </a:pPr>
                      <a:r>
                        <a:rPr sz="1600" b="0">
                          <a:solidFill>
                            <a:srgbClr val="262626"/>
                          </a:solidFill>
                        </a:rPr>
                        <a:t>Brainstorming, resolving conflicts</a:t>
                      </a:r>
                    </a:p>
                  </a:txBody>
                  <a:tcPr marL="73152" marR="73152" marT="36576" marB="36576" anchor="ctr">
                    <a:solidFill>
                      <a:srgbClr val="FFFFFF"/>
                    </a:solidFill>
                  </a:tcPr>
                </a:tc>
                <a:tc>
                  <a:txBody>
                    <a:bodyPr/>
                    <a:lstStyle/>
                    <a:p>
                      <a:pPr marL="0" indent="0">
                        <a:buNone/>
                      </a:pPr>
                      <a:r>
                        <a:rPr sz="1600" b="0">
                          <a:solidFill>
                            <a:srgbClr val="262626"/>
                          </a:solidFill>
                        </a:rPr>
                        <a:t>Dominant voices</a:t>
                      </a:r>
                    </a:p>
                  </a:txBody>
                  <a:tcPr marL="73152" marR="73152" marT="36576" marB="36576" anchor="ctr">
                    <a:solidFill>
                      <a:srgbClr val="FFFFFF"/>
                    </a:solidFill>
                  </a:tcPr>
                </a:tc>
                <a:extLst>
                  <a:ext uri="{0D108BD9-81ED-4DB2-BD59-A6C34878D82A}">
                    <a16:rowId xmlns:a16="http://schemas.microsoft.com/office/drawing/2014/main" val="10003"/>
                  </a:ext>
                </a:extLst>
              </a:tr>
              <a:tr h="603504">
                <a:tc>
                  <a:txBody>
                    <a:bodyPr/>
                    <a:lstStyle/>
                    <a:p>
                      <a:pPr marL="0" indent="0">
                        <a:buNone/>
                      </a:pPr>
                      <a:r>
                        <a:rPr sz="1600" b="1">
                          <a:solidFill>
                            <a:srgbClr val="262626"/>
                          </a:solidFill>
                        </a:rPr>
                        <a:t>Observation (ethnography)</a:t>
                      </a:r>
                    </a:p>
                  </a:txBody>
                  <a:tcPr marL="73152" marR="73152" marT="36576" marB="36576" anchor="ctr">
                    <a:solidFill>
                      <a:srgbClr val="DCE6F2"/>
                    </a:solidFill>
                  </a:tcPr>
                </a:tc>
                <a:tc>
                  <a:txBody>
                    <a:bodyPr/>
                    <a:lstStyle/>
                    <a:p>
                      <a:pPr marL="0" indent="0">
                        <a:buNone/>
                      </a:pPr>
                      <a:r>
                        <a:rPr sz="1600" b="0">
                          <a:solidFill>
                            <a:srgbClr val="262626"/>
                          </a:solidFill>
                        </a:rPr>
                        <a:t>Tacit workflows, real context</a:t>
                      </a:r>
                    </a:p>
                  </a:txBody>
                  <a:tcPr marL="73152" marR="73152" marT="36576" marB="36576" anchor="ctr">
                    <a:solidFill>
                      <a:srgbClr val="F2F2F2"/>
                    </a:solidFill>
                  </a:tcPr>
                </a:tc>
                <a:tc>
                  <a:txBody>
                    <a:bodyPr/>
                    <a:lstStyle/>
                    <a:p>
                      <a:pPr marL="0" indent="0">
                        <a:buNone/>
                      </a:pPr>
                      <a:r>
                        <a:rPr sz="1600" b="0">
                          <a:solidFill>
                            <a:srgbClr val="262626"/>
                          </a:solidFill>
                        </a:rPr>
                        <a:t>Time-consuming, observer effect</a:t>
                      </a:r>
                    </a:p>
                  </a:txBody>
                  <a:tcPr marL="73152" marR="73152" marT="36576" marB="36576" anchor="ctr">
                    <a:solidFill>
                      <a:srgbClr val="F2F2F2"/>
                    </a:solidFill>
                  </a:tcPr>
                </a:tc>
                <a:extLst>
                  <a:ext uri="{0D108BD9-81ED-4DB2-BD59-A6C34878D82A}">
                    <a16:rowId xmlns:a16="http://schemas.microsoft.com/office/drawing/2014/main" val="10004"/>
                  </a:ext>
                </a:extLst>
              </a:tr>
              <a:tr h="603504">
                <a:tc>
                  <a:txBody>
                    <a:bodyPr/>
                    <a:lstStyle/>
                    <a:p>
                      <a:pPr marL="0" indent="0">
                        <a:buNone/>
                      </a:pPr>
                      <a:r>
                        <a:rPr sz="1600" b="1">
                          <a:solidFill>
                            <a:srgbClr val="262626"/>
                          </a:solidFill>
                        </a:rPr>
                        <a:t>Document and system analysis</a:t>
                      </a:r>
                    </a:p>
                  </a:txBody>
                  <a:tcPr marL="73152" marR="73152" marT="36576" marB="36576" anchor="ctr">
                    <a:solidFill>
                      <a:srgbClr val="DCE6F2"/>
                    </a:solidFill>
                  </a:tcPr>
                </a:tc>
                <a:tc>
                  <a:txBody>
                    <a:bodyPr/>
                    <a:lstStyle/>
                    <a:p>
                      <a:pPr marL="0" indent="0">
                        <a:buNone/>
                      </a:pPr>
                      <a:r>
                        <a:rPr sz="1600" b="0">
                          <a:solidFill>
                            <a:srgbClr val="262626"/>
                          </a:solidFill>
                        </a:rPr>
                        <a:t>Legacy systems, standards</a:t>
                      </a:r>
                    </a:p>
                  </a:txBody>
                  <a:tcPr marL="73152" marR="73152" marT="36576" marB="36576" anchor="ctr">
                    <a:solidFill>
                      <a:srgbClr val="FFFFFF"/>
                    </a:solidFill>
                  </a:tcPr>
                </a:tc>
                <a:tc>
                  <a:txBody>
                    <a:bodyPr/>
                    <a:lstStyle/>
                    <a:p>
                      <a:pPr marL="0" indent="0">
                        <a:buNone/>
                      </a:pPr>
                      <a:r>
                        <a:rPr sz="1600" b="0">
                          <a:solidFill>
                            <a:srgbClr val="262626"/>
                          </a:solidFill>
                        </a:rPr>
                        <a:t>Outdated documentation</a:t>
                      </a:r>
                    </a:p>
                  </a:txBody>
                  <a:tcPr marL="73152" marR="73152" marT="36576" marB="36576" anchor="ctr">
                    <a:solidFill>
                      <a:srgbClr val="FFFFFF"/>
                    </a:solidFill>
                  </a:tcPr>
                </a:tc>
                <a:extLst>
                  <a:ext uri="{0D108BD9-81ED-4DB2-BD59-A6C34878D82A}">
                    <a16:rowId xmlns:a16="http://schemas.microsoft.com/office/drawing/2014/main" val="10005"/>
                  </a:ext>
                </a:extLst>
              </a:tr>
              <a:tr h="603504">
                <a:tc>
                  <a:txBody>
                    <a:bodyPr/>
                    <a:lstStyle/>
                    <a:p>
                      <a:pPr marL="0" indent="0">
                        <a:buNone/>
                      </a:pPr>
                      <a:r>
                        <a:rPr sz="1600" b="1">
                          <a:solidFill>
                            <a:srgbClr val="262626"/>
                          </a:solidFill>
                        </a:rPr>
                        <a:t>Prototyping</a:t>
                      </a:r>
                    </a:p>
                  </a:txBody>
                  <a:tcPr marL="73152" marR="73152" marT="36576" marB="36576" anchor="ctr">
                    <a:solidFill>
                      <a:srgbClr val="DCE6F2"/>
                    </a:solidFill>
                  </a:tcPr>
                </a:tc>
                <a:tc>
                  <a:txBody>
                    <a:bodyPr/>
                    <a:lstStyle/>
                    <a:p>
                      <a:pPr marL="0" indent="0">
                        <a:buNone/>
                      </a:pPr>
                      <a:r>
                        <a:rPr sz="1600" b="0">
                          <a:solidFill>
                            <a:srgbClr val="262626"/>
                          </a:solidFill>
                        </a:rPr>
                        <a:t>Feasibility, concrete reactions</a:t>
                      </a:r>
                    </a:p>
                  </a:txBody>
                  <a:tcPr marL="73152" marR="73152" marT="36576" marB="36576" anchor="ctr">
                    <a:solidFill>
                      <a:srgbClr val="F2F2F2"/>
                    </a:solidFill>
                  </a:tcPr>
                </a:tc>
                <a:tc>
                  <a:txBody>
                    <a:bodyPr/>
                    <a:lstStyle/>
                    <a:p>
                      <a:pPr marL="0" indent="0">
                        <a:buNone/>
                      </a:pPr>
                      <a:r>
                        <a:rPr sz="1600" b="0">
                          <a:solidFill>
                            <a:srgbClr val="262626"/>
                          </a:solidFill>
                        </a:rPr>
                        <a:t>Users fixate on the look</a:t>
                      </a:r>
                    </a:p>
                  </a:txBody>
                  <a:tcPr marL="73152" marR="73152" marT="36576" marB="36576" anchor="ctr">
                    <a:solidFill>
                      <a:srgbClr val="F2F2F2"/>
                    </a:solidFill>
                  </a:tcPr>
                </a:tc>
                <a:extLst>
                  <a:ext uri="{0D108BD9-81ED-4DB2-BD59-A6C34878D82A}">
                    <a16:rowId xmlns:a16="http://schemas.microsoft.com/office/drawing/2014/main" val="10006"/>
                  </a:ext>
                </a:extLst>
              </a:tr>
              <a:tr h="603504">
                <a:tc>
                  <a:txBody>
                    <a:bodyPr/>
                    <a:lstStyle/>
                    <a:p>
                      <a:pPr marL="0" indent="0">
                        <a:buNone/>
                      </a:pPr>
                      <a:r>
                        <a:rPr sz="1600" b="1">
                          <a:solidFill>
                            <a:srgbClr val="262626"/>
                          </a:solidFill>
                        </a:rPr>
                        <a:t>User stories and use cases</a:t>
                      </a:r>
                    </a:p>
                  </a:txBody>
                  <a:tcPr marL="73152" marR="73152" marT="36576" marB="36576" anchor="ctr">
                    <a:solidFill>
                      <a:srgbClr val="DCE6F2"/>
                    </a:solidFill>
                  </a:tcPr>
                </a:tc>
                <a:tc>
                  <a:txBody>
                    <a:bodyPr/>
                    <a:lstStyle/>
                    <a:p>
                      <a:pPr marL="0" indent="0">
                        <a:buNone/>
                      </a:pPr>
                      <a:r>
                        <a:rPr sz="1600" b="0">
                          <a:solidFill>
                            <a:srgbClr val="262626"/>
                          </a:solidFill>
                        </a:rPr>
                        <a:t>Actor-system interactions, agile</a:t>
                      </a:r>
                    </a:p>
                  </a:txBody>
                  <a:tcPr marL="73152" marR="73152" marT="36576" marB="36576" anchor="ctr">
                    <a:solidFill>
                      <a:srgbClr val="FFFFFF"/>
                    </a:solidFill>
                  </a:tcPr>
                </a:tc>
                <a:tc>
                  <a:txBody>
                    <a:bodyPr/>
                    <a:lstStyle/>
                    <a:p>
                      <a:pPr marL="0" indent="0">
                        <a:buNone/>
                      </a:pPr>
                      <a:r>
                        <a:rPr sz="1600" b="0">
                          <a:solidFill>
                            <a:srgbClr val="262626"/>
                          </a:solidFill>
                        </a:rPr>
                        <a:t>Quality requirements get missed</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Asking Good Questions</a:t>
            </a:r>
          </a:p>
        </p:txBody>
      </p:sp>
      <p:sp>
        <p:nvSpPr>
          <p:cNvPr id="3" name="Rectangle 2"/>
          <p:cNvSpPr/>
          <p:nvPr/>
        </p:nvSpPr>
        <p:spPr>
          <a:xfrm>
            <a:off x="457200" y="1188720"/>
            <a:ext cx="4023360" cy="3566160"/>
          </a:xfrm>
          <a:prstGeom prst="rect">
            <a:avLst/>
          </a:prstGeom>
          <a:solidFill>
            <a:srgbClr val="EBF1DE"/>
          </a:solidFill>
          <a:ln>
            <a:noFill/>
          </a:ln>
          <a:effectLst/>
        </p:spPr>
        <p:txBody>
          <a:bodyPr rtlCol="0" anchor="ctr"/>
          <a:lstStyle/>
          <a:p>
            <a:pPr algn="ctr"/>
            <a:endParaRPr/>
          </a:p>
        </p:txBody>
      </p:sp>
      <p:sp>
        <p:nvSpPr>
          <p:cNvPr id="4" name="TextBox 3"/>
          <p:cNvSpPr txBox="1"/>
          <p:nvPr/>
        </p:nvSpPr>
        <p:spPr>
          <a:xfrm>
            <a:off x="594360" y="1234440"/>
            <a:ext cx="3749039" cy="457200"/>
          </a:xfrm>
          <a:prstGeom prst="rect">
            <a:avLst/>
          </a:prstGeom>
          <a:noFill/>
        </p:spPr>
        <p:txBody>
          <a:bodyPr wrap="square" lIns="73152" tIns="54864" rIns="73152" bIns="54864" anchor="ctr">
            <a:spAutoFit/>
          </a:bodyPr>
          <a:lstStyle/>
          <a:p>
            <a:pPr marL="0" indent="0" algn="l">
              <a:buNone/>
            </a:pPr>
            <a:r>
              <a:rPr sz="2000" b="1">
                <a:solidFill>
                  <a:srgbClr val="4F6228"/>
                </a:solidFill>
              </a:rPr>
              <a:t>Ask</a:t>
            </a:r>
          </a:p>
        </p:txBody>
      </p:sp>
      <p:sp>
        <p:nvSpPr>
          <p:cNvPr id="5" name="TextBox 4"/>
          <p:cNvSpPr txBox="1"/>
          <p:nvPr/>
        </p:nvSpPr>
        <p:spPr>
          <a:xfrm>
            <a:off x="594360" y="1737360"/>
            <a:ext cx="3749039" cy="301752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900" b="0">
                <a:solidFill>
                  <a:srgbClr val="262626"/>
                </a:solidFill>
              </a:rPr>
              <a:t>"Walk me through the last time you…"</a:t>
            </a:r>
          </a:p>
          <a:p>
            <a:pPr marL="285750" indent="-285750" algn="l">
              <a:spcAft>
                <a:spcPts val="600"/>
              </a:spcAft>
              <a:buFont typeface="Arial"/>
              <a:buChar char="•"/>
            </a:pPr>
            <a:r>
              <a:rPr sz="1900" b="0">
                <a:solidFill>
                  <a:srgbClr val="262626"/>
                </a:solidFill>
              </a:rPr>
              <a:t>"What happens when it goes wrong?"</a:t>
            </a:r>
          </a:p>
          <a:p>
            <a:pPr marL="285750" indent="-285750" algn="l">
              <a:spcAft>
                <a:spcPts val="600"/>
              </a:spcAft>
              <a:buFont typeface="Arial"/>
              <a:buChar char="•"/>
            </a:pPr>
            <a:r>
              <a:rPr sz="1900" b="0">
                <a:solidFill>
                  <a:srgbClr val="262626"/>
                </a:solidFill>
              </a:rPr>
              <a:t>"What must it never do?"</a:t>
            </a:r>
          </a:p>
          <a:p>
            <a:pPr marL="285750" indent="-285750" algn="l">
              <a:spcAft>
                <a:spcPts val="600"/>
              </a:spcAft>
              <a:buFont typeface="Arial"/>
              <a:buChar char="•"/>
            </a:pPr>
            <a:r>
              <a:rPr sz="1900" b="0">
                <a:solidFill>
                  <a:srgbClr val="262626"/>
                </a:solidFill>
              </a:rPr>
              <a:t>"Who else should we talk to?"</a:t>
            </a:r>
          </a:p>
        </p:txBody>
      </p:sp>
      <p:sp>
        <p:nvSpPr>
          <p:cNvPr id="6" name="Rectangle 5"/>
          <p:cNvSpPr/>
          <p:nvPr/>
        </p:nvSpPr>
        <p:spPr>
          <a:xfrm>
            <a:off x="4663440" y="1188720"/>
            <a:ext cx="4023360" cy="3566160"/>
          </a:xfrm>
          <a:prstGeom prst="rect">
            <a:avLst/>
          </a:prstGeom>
          <a:solidFill>
            <a:srgbClr val="F2DCDB"/>
          </a:solidFill>
          <a:ln>
            <a:noFill/>
          </a:ln>
          <a:effectLst/>
        </p:spPr>
        <p:txBody>
          <a:bodyPr rtlCol="0" anchor="ctr"/>
          <a:lstStyle/>
          <a:p>
            <a:pPr algn="ctr"/>
            <a:endParaRPr/>
          </a:p>
        </p:txBody>
      </p:sp>
      <p:sp>
        <p:nvSpPr>
          <p:cNvPr id="7" name="TextBox 6"/>
          <p:cNvSpPr txBox="1"/>
          <p:nvPr/>
        </p:nvSpPr>
        <p:spPr>
          <a:xfrm>
            <a:off x="4800600" y="1234440"/>
            <a:ext cx="3749039" cy="457200"/>
          </a:xfrm>
          <a:prstGeom prst="rect">
            <a:avLst/>
          </a:prstGeom>
          <a:noFill/>
        </p:spPr>
        <p:txBody>
          <a:bodyPr wrap="square" lIns="73152" tIns="54864" rIns="73152" bIns="54864" anchor="ctr">
            <a:spAutoFit/>
          </a:bodyPr>
          <a:lstStyle/>
          <a:p>
            <a:pPr marL="0" indent="0" algn="l">
              <a:buNone/>
            </a:pPr>
            <a:r>
              <a:rPr sz="2000" b="1">
                <a:solidFill>
                  <a:srgbClr val="A93226"/>
                </a:solidFill>
              </a:rPr>
              <a:t>Avoid</a:t>
            </a:r>
          </a:p>
        </p:txBody>
      </p:sp>
      <p:sp>
        <p:nvSpPr>
          <p:cNvPr id="8" name="TextBox 7"/>
          <p:cNvSpPr txBox="1"/>
          <p:nvPr/>
        </p:nvSpPr>
        <p:spPr>
          <a:xfrm>
            <a:off x="4800600" y="1737360"/>
            <a:ext cx="3749039" cy="301752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900" b="1">
                <a:solidFill>
                  <a:srgbClr val="262626"/>
                </a:solidFill>
              </a:rPr>
              <a:t>Leading: </a:t>
            </a:r>
            <a:r>
              <a:rPr sz="1900" b="0">
                <a:solidFill>
                  <a:srgbClr val="262626"/>
                </a:solidFill>
              </a:rPr>
              <a:t>"Don't you find the app confusing?"</a:t>
            </a:r>
          </a:p>
          <a:p>
            <a:pPr marL="285750" indent="-285750" algn="l">
              <a:spcAft>
                <a:spcPts val="600"/>
              </a:spcAft>
              <a:buFont typeface="Arial"/>
              <a:buChar char="•"/>
            </a:pPr>
            <a:r>
              <a:rPr sz="1900" b="1">
                <a:solidFill>
                  <a:srgbClr val="262626"/>
                </a:solidFill>
              </a:rPr>
              <a:t>Double-barrelled: </a:t>
            </a:r>
            <a:r>
              <a:rPr sz="1900" b="0">
                <a:solidFill>
                  <a:srgbClr val="262626"/>
                </a:solidFill>
              </a:rPr>
              <a:t>"Is it fast and easy?"</a:t>
            </a:r>
          </a:p>
          <a:p>
            <a:pPr marL="285750" indent="-285750" algn="l">
              <a:spcAft>
                <a:spcPts val="600"/>
              </a:spcAft>
              <a:buFont typeface="Arial"/>
              <a:buChar char="•"/>
            </a:pPr>
            <a:r>
              <a:rPr sz="1900" b="1">
                <a:solidFill>
                  <a:srgbClr val="262626"/>
                </a:solidFill>
              </a:rPr>
              <a:t>Hypothetical: </a:t>
            </a:r>
            <a:r>
              <a:rPr sz="1900" b="0">
                <a:solidFill>
                  <a:srgbClr val="262626"/>
                </a:solidFill>
              </a:rPr>
              <a:t>"Would you use it?" (ask about past behaviour instead)</a:t>
            </a:r>
          </a:p>
        </p:txBody>
      </p:sp>
      <p:sp>
        <p:nvSpPr>
          <p:cNvPr id="9" name="Rectangle 8"/>
          <p:cNvSpPr/>
          <p:nvPr/>
        </p:nvSpPr>
        <p:spPr>
          <a:xfrm>
            <a:off x="457200" y="4937760"/>
            <a:ext cx="8229600" cy="1280160"/>
          </a:xfrm>
          <a:prstGeom prst="rect">
            <a:avLst/>
          </a:prstGeom>
          <a:solidFill>
            <a:srgbClr val="DCE6F2"/>
          </a:solidFill>
          <a:ln>
            <a:noFill/>
          </a:ln>
          <a:effectLst/>
        </p:spPr>
        <p:txBody>
          <a:bodyPr wrap="square" lIns="182880" tIns="54864" rIns="182880" bIns="54864" rtlCol="0" anchor="ctr"/>
          <a:lstStyle/>
          <a:p>
            <a:pPr marL="0" indent="0" algn="l">
              <a:buNone/>
            </a:pPr>
            <a:r>
              <a:rPr sz="1700" b="1">
                <a:solidFill>
                  <a:srgbClr val="1F497D"/>
                </a:solidFill>
              </a:rPr>
              <a:t>People cannot tell you what they do without noticing. </a:t>
            </a:r>
            <a:r>
              <a:rPr sz="1700" b="0">
                <a:solidFill>
                  <a:srgbClr val="262626"/>
                </a:solidFill>
              </a:rPr>
              <a:t>Combine interviews with observation, and use closed questions to quantify what open questions reveal.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1520"/>
            <a:ext cx="8458200" cy="822960"/>
          </a:xfrm>
        </p:spPr>
        <p:txBody>
          <a:bodyPr/>
          <a:lstStyle/>
          <a:p>
            <a:r>
              <a:rPr sz="3000" b="1" dirty="0">
                <a:solidFill>
                  <a:schemeClr val="tx2"/>
                </a:solidFill>
              </a:rPr>
              <a:t>Exercise: Which technique?</a:t>
            </a:r>
          </a:p>
        </p:txBody>
      </p:sp>
      <p:sp>
        <p:nvSpPr>
          <p:cNvPr id="3" name="Content Placeholder 2"/>
          <p:cNvSpPr>
            <a:spLocks noGrp="1"/>
          </p:cNvSpPr>
          <p:nvPr>
            <p:ph sz="quarter" idx="13"/>
          </p:nvPr>
        </p:nvSpPr>
        <p:spPr>
          <a:xfrm>
            <a:off x="3246120" y="1737360"/>
            <a:ext cx="5532120" cy="4480560"/>
          </a:xfrm>
        </p:spPr>
        <p:txBody>
          <a:bodyPr wrap="square"/>
          <a:lstStyle/>
          <a:p>
            <a:pPr marL="0" indent="0">
              <a:spcAft>
                <a:spcPts val="200"/>
              </a:spcAft>
              <a:buNone/>
            </a:pPr>
            <a:r>
              <a:rPr sz="1700" b="1" dirty="0">
                <a:solidFill>
                  <a:srgbClr val="1F497D"/>
                </a:solidFill>
              </a:rPr>
              <a:t>Pick the best technique on </a:t>
            </a:r>
            <a:r>
              <a:rPr sz="1700" b="1" dirty="0" err="1">
                <a:solidFill>
                  <a:srgbClr val="1F497D"/>
                </a:solidFill>
              </a:rPr>
              <a:t>Vevox</a:t>
            </a:r>
            <a:endParaRPr sz="1700" b="1" dirty="0">
              <a:solidFill>
                <a:srgbClr val="1F497D"/>
              </a:solidFill>
            </a:endParaRPr>
          </a:p>
          <a:p>
            <a:pPr marL="0" indent="0">
              <a:spcAft>
                <a:spcPts val="800"/>
              </a:spcAft>
              <a:buNone/>
            </a:pPr>
            <a:r>
              <a:rPr sz="1500" b="0" dirty="0">
                <a:solidFill>
                  <a:srgbClr val="595959"/>
                </a:solidFill>
              </a:rPr>
              <a:t>Interview, survey, workshop, observation, document analysis or prototype.</a:t>
            </a:r>
          </a:p>
          <a:p>
            <a:pPr marL="285750" indent="-285750">
              <a:spcAft>
                <a:spcPts val="300"/>
              </a:spcAft>
              <a:buFont typeface="+mj-lt"/>
              <a:buAutoNum type="arabicPeriod"/>
            </a:pPr>
            <a:r>
              <a:rPr sz="1700" b="0" dirty="0">
                <a:solidFill>
                  <a:srgbClr val="262626"/>
                </a:solidFill>
              </a:rPr>
              <a:t>See how nurses really use a ward tablet while walking.</a:t>
            </a:r>
          </a:p>
          <a:p>
            <a:pPr marL="285750" indent="-285750">
              <a:spcAft>
                <a:spcPts val="300"/>
              </a:spcAft>
              <a:buFont typeface="+mj-lt"/>
              <a:buAutoNum type="arabicPeriod"/>
            </a:pPr>
            <a:r>
              <a:rPr sz="1700" b="0" dirty="0">
                <a:solidFill>
                  <a:srgbClr val="262626"/>
                </a:solidFill>
              </a:rPr>
              <a:t>Get quick feedback from 800 students on several campuses.</a:t>
            </a:r>
          </a:p>
          <a:p>
            <a:pPr marL="285750" indent="-285750">
              <a:spcAft>
                <a:spcPts val="300"/>
              </a:spcAft>
              <a:buFont typeface="+mj-lt"/>
              <a:buAutoNum type="arabicPeriod"/>
            </a:pPr>
            <a:r>
              <a:rPr sz="1700" b="0" dirty="0">
                <a:solidFill>
                  <a:srgbClr val="262626"/>
                </a:solidFill>
              </a:rPr>
              <a:t>Resolve a clash between the sensor team and the app team.</a:t>
            </a:r>
          </a:p>
          <a:p>
            <a:pPr marL="285750" indent="-285750">
              <a:spcAft>
                <a:spcPts val="300"/>
              </a:spcAft>
              <a:buFont typeface="+mj-lt"/>
              <a:buAutoNum type="arabicPeriod"/>
            </a:pPr>
            <a:r>
              <a:rPr sz="1700" b="0" dirty="0">
                <a:solidFill>
                  <a:srgbClr val="262626"/>
                </a:solidFill>
              </a:rPr>
              <a:t>Find out what an undocumented legacy system really does.</a:t>
            </a:r>
          </a:p>
          <a:p>
            <a:pPr marL="285750" indent="-285750">
              <a:spcAft>
                <a:spcPts val="300"/>
              </a:spcAft>
              <a:buFont typeface="+mj-lt"/>
              <a:buAutoNum type="arabicPeriod"/>
            </a:pPr>
            <a:r>
              <a:rPr sz="1700" b="0" dirty="0">
                <a:solidFill>
                  <a:srgbClr val="262626"/>
                </a:solidFill>
              </a:rPr>
              <a:t>Test whether users grasp a new dashboard idea before building it.</a:t>
            </a:r>
          </a:p>
          <a:p>
            <a:pPr marL="285750" indent="-285750">
              <a:spcAft>
                <a:spcPts val="300"/>
              </a:spcAft>
              <a:buFont typeface="+mj-lt"/>
              <a:buAutoNum type="arabicPeriod"/>
            </a:pPr>
            <a:r>
              <a:rPr sz="1700" b="0" dirty="0">
                <a:solidFill>
                  <a:srgbClr val="262626"/>
                </a:solidFill>
              </a:rPr>
              <a:t>Explore a lecturer's worries about automated marking.</a:t>
            </a:r>
          </a:p>
        </p:txBody>
      </p:sp>
      <p:sp>
        <p:nvSpPr>
          <p:cNvPr id="4" name="Rectangle 3"/>
          <p:cNvSpPr/>
          <p:nvPr/>
        </p:nvSpPr>
        <p:spPr>
          <a:xfrm>
            <a:off x="914400" y="228600"/>
            <a:ext cx="7315200" cy="502920"/>
          </a:xfrm>
          <a:prstGeom prst="rect">
            <a:avLst/>
          </a:prstGeom>
          <a:solidFill>
            <a:srgbClr val="D7E4BD"/>
          </a:solidFill>
          <a:ln>
            <a:noFill/>
          </a:ln>
          <a:effectLst/>
        </p:spPr>
        <p:txBody>
          <a:bodyPr wrap="square" lIns="73152" tIns="54864" rIns="73152" bIns="54864" rtlCol="0" anchor="ctr"/>
          <a:lstStyle/>
          <a:p>
            <a:pPr marL="0" indent="0" algn="ctr">
              <a:buNone/>
            </a:pPr>
            <a:r>
              <a:rPr sz="2600" b="1">
                <a:solidFill>
                  <a:srgbClr val="000000"/>
                </a:solidFill>
              </a:rPr>
              <a:t>Let's think and reflect</a:t>
            </a:r>
          </a:p>
        </p:txBody>
      </p:sp>
      <p:pic>
        <p:nvPicPr>
          <p:cNvPr id="10" name="Picture 9" descr="A blue background with a qr code&#10;&#10;AI-generated content may be incorrect.">
            <a:extLst>
              <a:ext uri="{FF2B5EF4-FFF2-40B4-BE49-F238E27FC236}">
                <a16:creationId xmlns:a16="http://schemas.microsoft.com/office/drawing/2014/main" id="{498CA266-00CE-848A-4051-917FF5BAF77D}"/>
              </a:ext>
            </a:extLst>
          </p:cNvPr>
          <p:cNvPicPr>
            <a:picLocks noChangeAspect="1"/>
          </p:cNvPicPr>
          <p:nvPr/>
        </p:nvPicPr>
        <p:blipFill>
          <a:blip r:embed="rId3"/>
          <a:stretch>
            <a:fillRect/>
          </a:stretch>
        </p:blipFill>
        <p:spPr>
          <a:xfrm>
            <a:off x="478186" y="1464729"/>
            <a:ext cx="2542332" cy="46617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Which technique? Discussion</a:t>
            </a:r>
          </a:p>
        </p:txBody>
      </p:sp>
      <p:graphicFrame>
        <p:nvGraphicFramePr>
          <p:cNvPr id="3" name="Table 2"/>
          <p:cNvGraphicFramePr>
            <a:graphicFrameLocks noGrp="1"/>
          </p:cNvGraphicFramePr>
          <p:nvPr/>
        </p:nvGraphicFramePr>
        <p:xfrm>
          <a:off x="457200" y="1188720"/>
          <a:ext cx="8229598" cy="3968496"/>
        </p:xfrm>
        <a:graphic>
          <a:graphicData uri="http://schemas.openxmlformats.org/drawingml/2006/table">
            <a:tbl>
              <a:tblPr firstRow="1" bandRow="1">
                <a:tableStyleId>{5C22544A-7EE6-4342-B048-85BDC9FD1C3A}</a:tableStyleId>
              </a:tblPr>
              <a:tblGrid>
                <a:gridCol w="350195">
                  <a:extLst>
                    <a:ext uri="{9D8B030D-6E8A-4147-A177-3AD203B41FA5}">
                      <a16:colId xmlns:a16="http://schemas.microsoft.com/office/drawing/2014/main" val="20000"/>
                    </a:ext>
                  </a:extLst>
                </a:gridCol>
                <a:gridCol w="2626468">
                  <a:extLst>
                    <a:ext uri="{9D8B030D-6E8A-4147-A177-3AD203B41FA5}">
                      <a16:colId xmlns:a16="http://schemas.microsoft.com/office/drawing/2014/main" val="20001"/>
                    </a:ext>
                  </a:extLst>
                </a:gridCol>
                <a:gridCol w="2101174">
                  <a:extLst>
                    <a:ext uri="{9D8B030D-6E8A-4147-A177-3AD203B41FA5}">
                      <a16:colId xmlns:a16="http://schemas.microsoft.com/office/drawing/2014/main" val="20002"/>
                    </a:ext>
                  </a:extLst>
                </a:gridCol>
                <a:gridCol w="3151761">
                  <a:extLst>
                    <a:ext uri="{9D8B030D-6E8A-4147-A177-3AD203B41FA5}">
                      <a16:colId xmlns:a16="http://schemas.microsoft.com/office/drawing/2014/main" val="20003"/>
                    </a:ext>
                  </a:extLst>
                </a:gridCol>
              </a:tblGrid>
              <a:tr h="566928">
                <a:tc>
                  <a:txBody>
                    <a:bodyPr/>
                    <a:lstStyle/>
                    <a:p>
                      <a:pPr marL="0" indent="0">
                        <a:buNone/>
                      </a:pPr>
                      <a:r>
                        <a:rPr sz="1500" b="1">
                          <a:solidFill>
                            <a:srgbClr val="FFFFFF"/>
                          </a:solidFill>
                        </a:rPr>
                        <a:t>#</a:t>
                      </a:r>
                    </a:p>
                  </a:txBody>
                  <a:tcPr marL="73152" marR="73152" marT="36576" marB="36576" anchor="ctr">
                    <a:solidFill>
                      <a:srgbClr val="1F497D"/>
                    </a:solidFill>
                  </a:tcPr>
                </a:tc>
                <a:tc>
                  <a:txBody>
                    <a:bodyPr/>
                    <a:lstStyle/>
                    <a:p>
                      <a:pPr marL="0" indent="0">
                        <a:buNone/>
                      </a:pPr>
                      <a:r>
                        <a:rPr sz="1500" b="1">
                          <a:solidFill>
                            <a:srgbClr val="FFFFFF"/>
                          </a:solidFill>
                        </a:rPr>
                        <a:t>Scenario</a:t>
                      </a:r>
                    </a:p>
                  </a:txBody>
                  <a:tcPr marL="73152" marR="73152" marT="36576" marB="36576" anchor="ctr">
                    <a:solidFill>
                      <a:srgbClr val="1F497D"/>
                    </a:solidFill>
                  </a:tcPr>
                </a:tc>
                <a:tc>
                  <a:txBody>
                    <a:bodyPr/>
                    <a:lstStyle/>
                    <a:p>
                      <a:pPr marL="0" indent="0">
                        <a:buNone/>
                      </a:pPr>
                      <a:r>
                        <a:rPr sz="1500" b="1">
                          <a:solidFill>
                            <a:srgbClr val="FFFFFF"/>
                          </a:solidFill>
                        </a:rPr>
                        <a:t>Best fit</a:t>
                      </a:r>
                    </a:p>
                  </a:txBody>
                  <a:tcPr marL="73152" marR="73152" marT="36576" marB="36576" anchor="ctr">
                    <a:solidFill>
                      <a:srgbClr val="1F497D"/>
                    </a:solidFill>
                  </a:tcPr>
                </a:tc>
                <a:tc>
                  <a:txBody>
                    <a:bodyPr/>
                    <a:lstStyle/>
                    <a:p>
                      <a:pPr marL="0" indent="0">
                        <a:buNone/>
                      </a:pPr>
                      <a:r>
                        <a:rPr sz="1500" b="1">
                          <a:solidFill>
                            <a:srgbClr val="FFFFFF"/>
                          </a:solidFill>
                        </a:rPr>
                        <a:t>Why</a:t>
                      </a:r>
                    </a:p>
                  </a:txBody>
                  <a:tcPr marL="73152" marR="73152" marT="36576" marB="36576" anchor="ctr">
                    <a:solidFill>
                      <a:srgbClr val="1F497D"/>
                    </a:solidFill>
                  </a:tcPr>
                </a:tc>
                <a:extLst>
                  <a:ext uri="{0D108BD9-81ED-4DB2-BD59-A6C34878D82A}">
                    <a16:rowId xmlns:a16="http://schemas.microsoft.com/office/drawing/2014/main" val="10000"/>
                  </a:ext>
                </a:extLst>
              </a:tr>
              <a:tr h="566928">
                <a:tc>
                  <a:txBody>
                    <a:bodyPr/>
                    <a:lstStyle/>
                    <a:p>
                      <a:pPr marL="0" indent="0">
                        <a:buNone/>
                      </a:pPr>
                      <a:r>
                        <a:rPr sz="1500" b="0">
                          <a:solidFill>
                            <a:srgbClr val="262626"/>
                          </a:solidFill>
                        </a:rPr>
                        <a:t>1</a:t>
                      </a:r>
                    </a:p>
                  </a:txBody>
                  <a:tcPr marL="73152" marR="73152" marT="36576" marB="36576" anchor="ctr">
                    <a:solidFill>
                      <a:srgbClr val="FFFFFF"/>
                    </a:solidFill>
                  </a:tcPr>
                </a:tc>
                <a:tc>
                  <a:txBody>
                    <a:bodyPr/>
                    <a:lstStyle/>
                    <a:p>
                      <a:pPr marL="0" indent="0">
                        <a:buNone/>
                      </a:pPr>
                      <a:r>
                        <a:rPr sz="1500" b="0">
                          <a:solidFill>
                            <a:srgbClr val="262626"/>
                          </a:solidFill>
                        </a:rPr>
                        <a:t>Nurses using a ward tablet</a:t>
                      </a:r>
                    </a:p>
                  </a:txBody>
                  <a:tcPr marL="73152" marR="73152" marT="36576" marB="36576" anchor="ctr">
                    <a:solidFill>
                      <a:srgbClr val="FFFFFF"/>
                    </a:solidFill>
                  </a:tcPr>
                </a:tc>
                <a:tc>
                  <a:txBody>
                    <a:bodyPr/>
                    <a:lstStyle/>
                    <a:p>
                      <a:pPr marL="0" indent="0">
                        <a:buNone/>
                      </a:pPr>
                      <a:r>
                        <a:rPr sz="1500" b="0" dirty="0">
                          <a:solidFill>
                            <a:srgbClr val="262626"/>
                          </a:solidFill>
                        </a:rPr>
                        <a:t>Observation</a:t>
                      </a:r>
                    </a:p>
                  </a:txBody>
                  <a:tcPr marL="73152" marR="73152" marT="36576" marB="36576" anchor="ctr">
                    <a:solidFill>
                      <a:srgbClr val="FFFFFF"/>
                    </a:solidFill>
                  </a:tcPr>
                </a:tc>
                <a:tc>
                  <a:txBody>
                    <a:bodyPr/>
                    <a:lstStyle/>
                    <a:p>
                      <a:pPr marL="0" indent="0">
                        <a:buNone/>
                      </a:pPr>
                      <a:r>
                        <a:rPr sz="1500" b="0">
                          <a:solidFill>
                            <a:srgbClr val="262626"/>
                          </a:solidFill>
                        </a:rPr>
                        <a:t>Tacit workflows only show in context</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pPr marL="0" indent="0">
                        <a:buNone/>
                      </a:pPr>
                      <a:r>
                        <a:rPr sz="1500" b="0">
                          <a:solidFill>
                            <a:srgbClr val="262626"/>
                          </a:solidFill>
                        </a:rPr>
                        <a:t>2</a:t>
                      </a:r>
                    </a:p>
                  </a:txBody>
                  <a:tcPr marL="73152" marR="73152" marT="36576" marB="36576" anchor="ctr">
                    <a:solidFill>
                      <a:srgbClr val="F2F2F2"/>
                    </a:solidFill>
                  </a:tcPr>
                </a:tc>
                <a:tc>
                  <a:txBody>
                    <a:bodyPr/>
                    <a:lstStyle/>
                    <a:p>
                      <a:pPr marL="0" indent="0">
                        <a:buNone/>
                      </a:pPr>
                      <a:r>
                        <a:rPr sz="1500" b="0">
                          <a:solidFill>
                            <a:srgbClr val="262626"/>
                          </a:solidFill>
                        </a:rPr>
                        <a:t>800 students, several campuses</a:t>
                      </a:r>
                    </a:p>
                  </a:txBody>
                  <a:tcPr marL="73152" marR="73152" marT="36576" marB="36576" anchor="ctr">
                    <a:solidFill>
                      <a:srgbClr val="F2F2F2"/>
                    </a:solidFill>
                  </a:tcPr>
                </a:tc>
                <a:tc>
                  <a:txBody>
                    <a:bodyPr/>
                    <a:lstStyle/>
                    <a:p>
                      <a:pPr marL="0" indent="0">
                        <a:buNone/>
                      </a:pPr>
                      <a:r>
                        <a:rPr sz="1500" b="0" dirty="0">
                          <a:solidFill>
                            <a:srgbClr val="262626"/>
                          </a:solidFill>
                        </a:rPr>
                        <a:t>Survey</a:t>
                      </a:r>
                    </a:p>
                  </a:txBody>
                  <a:tcPr marL="73152" marR="73152" marT="36576" marB="36576" anchor="ctr">
                    <a:solidFill>
                      <a:srgbClr val="F2F2F2"/>
                    </a:solidFill>
                  </a:tcPr>
                </a:tc>
                <a:tc>
                  <a:txBody>
                    <a:bodyPr/>
                    <a:lstStyle/>
                    <a:p>
                      <a:pPr marL="0" indent="0">
                        <a:buNone/>
                      </a:pPr>
                      <a:r>
                        <a:rPr sz="1500" b="0">
                          <a:solidFill>
                            <a:srgbClr val="262626"/>
                          </a:solidFill>
                        </a:rPr>
                        <a:t>Reach and quantify</a:t>
                      </a:r>
                    </a:p>
                  </a:txBody>
                  <a:tcPr marL="73152" marR="73152" marT="36576" marB="36576" anchor="ctr">
                    <a:solidFill>
                      <a:srgbClr val="F2F2F2"/>
                    </a:solidFill>
                  </a:tcPr>
                </a:tc>
                <a:extLst>
                  <a:ext uri="{0D108BD9-81ED-4DB2-BD59-A6C34878D82A}">
                    <a16:rowId xmlns:a16="http://schemas.microsoft.com/office/drawing/2014/main" val="10002"/>
                  </a:ext>
                </a:extLst>
              </a:tr>
              <a:tr h="566928">
                <a:tc>
                  <a:txBody>
                    <a:bodyPr/>
                    <a:lstStyle/>
                    <a:p>
                      <a:pPr marL="0" indent="0">
                        <a:buNone/>
                      </a:pPr>
                      <a:r>
                        <a:rPr sz="1500" b="0">
                          <a:solidFill>
                            <a:srgbClr val="262626"/>
                          </a:solidFill>
                        </a:rPr>
                        <a:t>3</a:t>
                      </a:r>
                    </a:p>
                  </a:txBody>
                  <a:tcPr marL="73152" marR="73152" marT="36576" marB="36576" anchor="ctr">
                    <a:solidFill>
                      <a:srgbClr val="FFFFFF"/>
                    </a:solidFill>
                  </a:tcPr>
                </a:tc>
                <a:tc>
                  <a:txBody>
                    <a:bodyPr/>
                    <a:lstStyle/>
                    <a:p>
                      <a:pPr marL="0" indent="0">
                        <a:buNone/>
                      </a:pPr>
                      <a:r>
                        <a:rPr sz="1500" b="0">
                          <a:solidFill>
                            <a:srgbClr val="262626"/>
                          </a:solidFill>
                        </a:rPr>
                        <a:t>Sensor team vs app team clash</a:t>
                      </a:r>
                    </a:p>
                  </a:txBody>
                  <a:tcPr marL="73152" marR="73152" marT="36576" marB="36576" anchor="ctr">
                    <a:solidFill>
                      <a:srgbClr val="FFFFFF"/>
                    </a:solidFill>
                  </a:tcPr>
                </a:tc>
                <a:tc>
                  <a:txBody>
                    <a:bodyPr/>
                    <a:lstStyle/>
                    <a:p>
                      <a:pPr marL="0" indent="0">
                        <a:buNone/>
                      </a:pPr>
                      <a:r>
                        <a:rPr sz="1500" b="0" dirty="0">
                          <a:solidFill>
                            <a:srgbClr val="262626"/>
                          </a:solidFill>
                        </a:rPr>
                        <a:t>Workshop</a:t>
                      </a:r>
                    </a:p>
                  </a:txBody>
                  <a:tcPr marL="73152" marR="73152" marT="36576" marB="36576" anchor="ctr">
                    <a:solidFill>
                      <a:srgbClr val="FFFFFF"/>
                    </a:solidFill>
                  </a:tcPr>
                </a:tc>
                <a:tc>
                  <a:txBody>
                    <a:bodyPr/>
                    <a:lstStyle/>
                    <a:p>
                      <a:pPr marL="0" indent="0">
                        <a:buNone/>
                      </a:pPr>
                      <a:r>
                        <a:rPr sz="1500" b="0">
                          <a:solidFill>
                            <a:srgbClr val="262626"/>
                          </a:solidFill>
                        </a:rPr>
                        <a:t>Negotiate trade-offs face to face</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pPr marL="0" indent="0">
                        <a:buNone/>
                      </a:pPr>
                      <a:r>
                        <a:rPr sz="1500" b="0">
                          <a:solidFill>
                            <a:srgbClr val="262626"/>
                          </a:solidFill>
                        </a:rPr>
                        <a:t>4</a:t>
                      </a:r>
                    </a:p>
                  </a:txBody>
                  <a:tcPr marL="73152" marR="73152" marT="36576" marB="36576" anchor="ctr">
                    <a:solidFill>
                      <a:srgbClr val="F2F2F2"/>
                    </a:solidFill>
                  </a:tcPr>
                </a:tc>
                <a:tc>
                  <a:txBody>
                    <a:bodyPr/>
                    <a:lstStyle/>
                    <a:p>
                      <a:pPr marL="0" indent="0">
                        <a:buNone/>
                      </a:pPr>
                      <a:r>
                        <a:rPr sz="1500" b="0">
                          <a:solidFill>
                            <a:srgbClr val="262626"/>
                          </a:solidFill>
                        </a:rPr>
                        <a:t>Undocumented legacy system</a:t>
                      </a:r>
                    </a:p>
                  </a:txBody>
                  <a:tcPr marL="73152" marR="73152" marT="36576" marB="36576" anchor="ctr">
                    <a:solidFill>
                      <a:srgbClr val="F2F2F2"/>
                    </a:solidFill>
                  </a:tcPr>
                </a:tc>
                <a:tc>
                  <a:txBody>
                    <a:bodyPr/>
                    <a:lstStyle/>
                    <a:p>
                      <a:pPr marL="0" indent="0">
                        <a:buNone/>
                      </a:pPr>
                      <a:r>
                        <a:rPr sz="1500" b="0" dirty="0">
                          <a:solidFill>
                            <a:srgbClr val="262626"/>
                          </a:solidFill>
                        </a:rPr>
                        <a:t>Document / system analysis</a:t>
                      </a:r>
                    </a:p>
                  </a:txBody>
                  <a:tcPr marL="73152" marR="73152" marT="36576" marB="36576" anchor="ctr">
                    <a:solidFill>
                      <a:srgbClr val="F2F2F2"/>
                    </a:solidFill>
                  </a:tcPr>
                </a:tc>
                <a:tc>
                  <a:txBody>
                    <a:bodyPr/>
                    <a:lstStyle/>
                    <a:p>
                      <a:pPr marL="0" indent="0">
                        <a:buNone/>
                      </a:pPr>
                      <a:r>
                        <a:rPr sz="1500" b="0">
                          <a:solidFill>
                            <a:srgbClr val="262626"/>
                          </a:solidFill>
                        </a:rPr>
                        <a:t>The system is the evidence</a:t>
                      </a:r>
                    </a:p>
                  </a:txBody>
                  <a:tcPr marL="73152" marR="73152" marT="36576" marB="36576" anchor="ctr">
                    <a:solidFill>
                      <a:srgbClr val="F2F2F2"/>
                    </a:solidFill>
                  </a:tcPr>
                </a:tc>
                <a:extLst>
                  <a:ext uri="{0D108BD9-81ED-4DB2-BD59-A6C34878D82A}">
                    <a16:rowId xmlns:a16="http://schemas.microsoft.com/office/drawing/2014/main" val="10004"/>
                  </a:ext>
                </a:extLst>
              </a:tr>
              <a:tr h="566928">
                <a:tc>
                  <a:txBody>
                    <a:bodyPr/>
                    <a:lstStyle/>
                    <a:p>
                      <a:pPr marL="0" indent="0">
                        <a:buNone/>
                      </a:pPr>
                      <a:r>
                        <a:rPr sz="1500" b="0">
                          <a:solidFill>
                            <a:srgbClr val="262626"/>
                          </a:solidFill>
                        </a:rPr>
                        <a:t>5</a:t>
                      </a:r>
                    </a:p>
                  </a:txBody>
                  <a:tcPr marL="73152" marR="73152" marT="36576" marB="36576" anchor="ctr">
                    <a:solidFill>
                      <a:srgbClr val="FFFFFF"/>
                    </a:solidFill>
                  </a:tcPr>
                </a:tc>
                <a:tc>
                  <a:txBody>
                    <a:bodyPr/>
                    <a:lstStyle/>
                    <a:p>
                      <a:pPr marL="0" indent="0">
                        <a:buNone/>
                      </a:pPr>
                      <a:r>
                        <a:rPr sz="1500" b="0">
                          <a:solidFill>
                            <a:srgbClr val="262626"/>
                          </a:solidFill>
                        </a:rPr>
                        <a:t>Unbuilt dashboard idea</a:t>
                      </a:r>
                    </a:p>
                  </a:txBody>
                  <a:tcPr marL="73152" marR="73152" marT="36576" marB="36576" anchor="ctr">
                    <a:solidFill>
                      <a:srgbClr val="FFFFFF"/>
                    </a:solidFill>
                  </a:tcPr>
                </a:tc>
                <a:tc>
                  <a:txBody>
                    <a:bodyPr/>
                    <a:lstStyle/>
                    <a:p>
                      <a:pPr marL="0" indent="0">
                        <a:buNone/>
                      </a:pPr>
                      <a:r>
                        <a:rPr sz="1500" b="0" dirty="0">
                          <a:solidFill>
                            <a:srgbClr val="262626"/>
                          </a:solidFill>
                        </a:rPr>
                        <a:t>Prototype</a:t>
                      </a:r>
                    </a:p>
                  </a:txBody>
                  <a:tcPr marL="73152" marR="73152" marT="36576" marB="36576" anchor="ctr">
                    <a:solidFill>
                      <a:srgbClr val="FFFFFF"/>
                    </a:solidFill>
                  </a:tcPr>
                </a:tc>
                <a:tc>
                  <a:txBody>
                    <a:bodyPr/>
                    <a:lstStyle/>
                    <a:p>
                      <a:pPr marL="0" indent="0">
                        <a:buNone/>
                      </a:pPr>
                      <a:r>
                        <a:rPr sz="1500" b="0">
                          <a:solidFill>
                            <a:srgbClr val="262626"/>
                          </a:solidFill>
                        </a:rPr>
                        <a:t>React to something concrete</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pPr marL="0" indent="0">
                        <a:buNone/>
                      </a:pPr>
                      <a:r>
                        <a:rPr sz="1500" b="0">
                          <a:solidFill>
                            <a:srgbClr val="262626"/>
                          </a:solidFill>
                        </a:rPr>
                        <a:t>6</a:t>
                      </a:r>
                    </a:p>
                  </a:txBody>
                  <a:tcPr marL="73152" marR="73152" marT="36576" marB="36576" anchor="ctr">
                    <a:solidFill>
                      <a:srgbClr val="F2F2F2"/>
                    </a:solidFill>
                  </a:tcPr>
                </a:tc>
                <a:tc>
                  <a:txBody>
                    <a:bodyPr/>
                    <a:lstStyle/>
                    <a:p>
                      <a:pPr marL="0" indent="0">
                        <a:buNone/>
                      </a:pPr>
                      <a:r>
                        <a:rPr sz="1500" b="0">
                          <a:solidFill>
                            <a:srgbClr val="262626"/>
                          </a:solidFill>
                        </a:rPr>
                        <a:t>Lecturer's worries</a:t>
                      </a:r>
                    </a:p>
                  </a:txBody>
                  <a:tcPr marL="73152" marR="73152" marT="36576" marB="36576" anchor="ctr">
                    <a:solidFill>
                      <a:srgbClr val="F2F2F2"/>
                    </a:solidFill>
                  </a:tcPr>
                </a:tc>
                <a:tc>
                  <a:txBody>
                    <a:bodyPr/>
                    <a:lstStyle/>
                    <a:p>
                      <a:pPr marL="0" indent="0">
                        <a:buNone/>
                      </a:pPr>
                      <a:r>
                        <a:rPr sz="1500" b="0" dirty="0">
                          <a:solidFill>
                            <a:srgbClr val="262626"/>
                          </a:solidFill>
                        </a:rPr>
                        <a:t>Interview</a:t>
                      </a:r>
                    </a:p>
                  </a:txBody>
                  <a:tcPr marL="73152" marR="73152" marT="36576" marB="36576" anchor="ctr">
                    <a:solidFill>
                      <a:srgbClr val="F2F2F2"/>
                    </a:solidFill>
                  </a:tcPr>
                </a:tc>
                <a:tc>
                  <a:txBody>
                    <a:bodyPr/>
                    <a:lstStyle/>
                    <a:p>
                      <a:pPr marL="0" indent="0">
                        <a:buNone/>
                      </a:pPr>
                      <a:r>
                        <a:rPr sz="1500" b="0" dirty="0">
                          <a:solidFill>
                            <a:srgbClr val="262626"/>
                          </a:solidFill>
                        </a:rPr>
                        <a:t>Depth and follow-up questions</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457200" y="534924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Rule of thumb: </a:t>
            </a:r>
            <a:r>
              <a:rPr sz="1600" b="0">
                <a:solidFill>
                  <a:srgbClr val="262626"/>
                </a:solidFill>
              </a:rPr>
              <a:t>match the technique to what you need to learn, and combine at least two (e.g. observation to find what people do, an interview to learn why).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Validating Requirements</a:t>
            </a:r>
          </a:p>
        </p:txBody>
      </p:sp>
      <p:sp>
        <p:nvSpPr>
          <p:cNvPr id="3" name="Rectangle 2"/>
          <p:cNvSpPr/>
          <p:nvPr/>
        </p:nvSpPr>
        <p:spPr>
          <a:xfrm>
            <a:off x="457200" y="1188720"/>
            <a:ext cx="4023360" cy="155448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200" b="1">
                <a:solidFill>
                  <a:srgbClr val="1F497D"/>
                </a:solidFill>
              </a:rPr>
              <a:t>Validation</a:t>
            </a:r>
          </a:p>
          <a:p>
            <a:pPr marL="0" indent="0" algn="l">
              <a:buNone/>
            </a:pPr>
            <a:r>
              <a:rPr sz="1800" b="0">
                <a:solidFill>
                  <a:srgbClr val="262626"/>
                </a:solidFill>
              </a:rPr>
              <a:t>Are we building the right system?</a:t>
            </a:r>
          </a:p>
          <a:p>
            <a:pPr marL="0" indent="0" algn="l">
              <a:buNone/>
            </a:pPr>
            <a:r>
              <a:rPr sz="1400" b="0">
                <a:solidFill>
                  <a:srgbClr val="595959"/>
                </a:solidFill>
              </a:rPr>
              <a:t>Checks requirements against real stakeholder needs.</a:t>
            </a:r>
          </a:p>
        </p:txBody>
      </p:sp>
      <p:sp>
        <p:nvSpPr>
          <p:cNvPr id="4" name="Rectangle 3"/>
          <p:cNvSpPr/>
          <p:nvPr/>
        </p:nvSpPr>
        <p:spPr>
          <a:xfrm>
            <a:off x="4663440" y="1188720"/>
            <a:ext cx="4023360" cy="1554480"/>
          </a:xfrm>
          <a:prstGeom prst="rect">
            <a:avLst/>
          </a:prstGeom>
          <a:solidFill>
            <a:srgbClr val="DAEEF3"/>
          </a:solidFill>
          <a:ln>
            <a:noFill/>
          </a:ln>
          <a:effectLst/>
        </p:spPr>
        <p:txBody>
          <a:bodyPr wrap="square" lIns="182880" tIns="54864" rIns="182880" bIns="54864" rtlCol="0" anchor="ctr"/>
          <a:lstStyle/>
          <a:p>
            <a:pPr marL="0" indent="0" algn="l">
              <a:spcAft>
                <a:spcPts val="400"/>
              </a:spcAft>
              <a:buNone/>
            </a:pPr>
            <a:r>
              <a:rPr sz="2200" b="1">
                <a:solidFill>
                  <a:srgbClr val="31859C"/>
                </a:solidFill>
              </a:rPr>
              <a:t>Verification</a:t>
            </a:r>
          </a:p>
          <a:p>
            <a:pPr marL="0" indent="0" algn="l">
              <a:buNone/>
            </a:pPr>
            <a:r>
              <a:rPr sz="1800" b="0">
                <a:solidFill>
                  <a:srgbClr val="262626"/>
                </a:solidFill>
              </a:rPr>
              <a:t>Are we building the system right?</a:t>
            </a:r>
          </a:p>
          <a:p>
            <a:pPr marL="0" indent="0" algn="l">
              <a:buNone/>
            </a:pPr>
            <a:r>
              <a:rPr sz="1400" b="0">
                <a:solidFill>
                  <a:srgbClr val="595959"/>
                </a:solidFill>
              </a:rPr>
              <a:t>Checks the design and code against the requirements.</a:t>
            </a:r>
          </a:p>
        </p:txBody>
      </p:sp>
      <p:sp>
        <p:nvSpPr>
          <p:cNvPr id="5" name="TextBox 4"/>
          <p:cNvSpPr txBox="1"/>
          <p:nvPr/>
        </p:nvSpPr>
        <p:spPr>
          <a:xfrm>
            <a:off x="457200" y="292608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Requirements must be:</a:t>
            </a:r>
          </a:p>
        </p:txBody>
      </p:sp>
      <p:sp>
        <p:nvSpPr>
          <p:cNvPr id="6" name="TextBox 5"/>
          <p:cNvSpPr txBox="1"/>
          <p:nvPr/>
        </p:nvSpPr>
        <p:spPr>
          <a:xfrm>
            <a:off x="457200" y="33832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Correct: </a:t>
            </a:r>
            <a:r>
              <a:rPr sz="1700" b="0">
                <a:solidFill>
                  <a:srgbClr val="262626"/>
                </a:solidFill>
              </a:rPr>
              <a:t>reflect true stakeholder intent</a:t>
            </a:r>
          </a:p>
        </p:txBody>
      </p:sp>
      <p:sp>
        <p:nvSpPr>
          <p:cNvPr id="7" name="TextBox 6"/>
          <p:cNvSpPr txBox="1"/>
          <p:nvPr/>
        </p:nvSpPr>
        <p:spPr>
          <a:xfrm>
            <a:off x="457200" y="38404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Consistent: </a:t>
            </a:r>
            <a:r>
              <a:rPr sz="1700" b="0">
                <a:solidFill>
                  <a:srgbClr val="262626"/>
                </a:solidFill>
              </a:rPr>
              <a:t>no internal contradictions</a:t>
            </a:r>
          </a:p>
        </p:txBody>
      </p:sp>
      <p:sp>
        <p:nvSpPr>
          <p:cNvPr id="8" name="TextBox 7"/>
          <p:cNvSpPr txBox="1"/>
          <p:nvPr/>
        </p:nvSpPr>
        <p:spPr>
          <a:xfrm>
            <a:off x="457200" y="42976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Complete: </a:t>
            </a:r>
            <a:r>
              <a:rPr sz="1700" b="0">
                <a:solidFill>
                  <a:srgbClr val="262626"/>
                </a:solidFill>
              </a:rPr>
              <a:t>cover all relevant scenarios</a:t>
            </a:r>
          </a:p>
        </p:txBody>
      </p:sp>
      <p:sp>
        <p:nvSpPr>
          <p:cNvPr id="9" name="TextBox 8"/>
          <p:cNvSpPr txBox="1"/>
          <p:nvPr/>
        </p:nvSpPr>
        <p:spPr>
          <a:xfrm>
            <a:off x="457200" y="47548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Feasible: </a:t>
            </a:r>
            <a:r>
              <a:rPr sz="1700" b="0">
                <a:solidFill>
                  <a:srgbClr val="262626"/>
                </a:solidFill>
              </a:rPr>
              <a:t>achievable within constraints</a:t>
            </a:r>
          </a:p>
        </p:txBody>
      </p:sp>
      <p:sp>
        <p:nvSpPr>
          <p:cNvPr id="10" name="TextBox 9"/>
          <p:cNvSpPr txBox="1"/>
          <p:nvPr/>
        </p:nvSpPr>
        <p:spPr>
          <a:xfrm>
            <a:off x="457200" y="52120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Verifiable: </a:t>
            </a:r>
            <a:r>
              <a:rPr sz="1700" b="0">
                <a:solidFill>
                  <a:srgbClr val="262626"/>
                </a:solidFill>
              </a:rPr>
              <a:t>can be tested or demonstrated</a:t>
            </a:r>
          </a:p>
        </p:txBody>
      </p:sp>
      <p:sp>
        <p:nvSpPr>
          <p:cNvPr id="11" name="TextBox 10"/>
          <p:cNvSpPr txBox="1"/>
          <p:nvPr/>
        </p:nvSpPr>
        <p:spPr>
          <a:xfrm>
            <a:off x="457200" y="5760720"/>
            <a:ext cx="8229600" cy="457200"/>
          </a:xfrm>
          <a:prstGeom prst="rect">
            <a:avLst/>
          </a:prstGeom>
          <a:noFill/>
        </p:spPr>
        <p:txBody>
          <a:bodyPr wrap="square" lIns="73152" tIns="54864" rIns="73152" bIns="54864" anchor="ctr">
            <a:spAutoFit/>
          </a:bodyPr>
          <a:lstStyle/>
          <a:p>
            <a:pPr marL="0" indent="0" algn="ctr">
              <a:buNone/>
            </a:pPr>
            <a:r>
              <a:rPr sz="1500" b="0" i="1">
                <a:solidFill>
                  <a:srgbClr val="595959"/>
                </a:solidFill>
              </a:rPr>
              <a:t>Validation catches wrong requirements before they are built, when the cost of change is lowest.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Validation Techniques</a:t>
            </a:r>
          </a:p>
        </p:txBody>
      </p:sp>
      <p:graphicFrame>
        <p:nvGraphicFramePr>
          <p:cNvPr id="3" name="Table 2"/>
          <p:cNvGraphicFramePr>
            <a:graphicFrameLocks noGrp="1"/>
          </p:cNvGraphicFramePr>
          <p:nvPr/>
        </p:nvGraphicFramePr>
        <p:xfrm>
          <a:off x="365760" y="1143000"/>
          <a:ext cx="8412480" cy="482803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603504">
                <a:tc>
                  <a:txBody>
                    <a:bodyPr/>
                    <a:lstStyle/>
                    <a:p>
                      <a:pPr marL="0" indent="0">
                        <a:buNone/>
                      </a:pPr>
                      <a:r>
                        <a:rPr sz="1400" b="1">
                          <a:solidFill>
                            <a:srgbClr val="FFFFFF"/>
                          </a:solidFill>
                        </a:rPr>
                        <a:t>Technique</a:t>
                      </a:r>
                    </a:p>
                  </a:txBody>
                  <a:tcPr marL="73152" marR="73152" marT="36576" marB="36576" anchor="ctr">
                    <a:solidFill>
                      <a:srgbClr val="1F497D"/>
                    </a:solidFill>
                  </a:tcPr>
                </a:tc>
                <a:tc>
                  <a:txBody>
                    <a:bodyPr/>
                    <a:lstStyle/>
                    <a:p>
                      <a:pPr marL="0" indent="0">
                        <a:buNone/>
                      </a:pPr>
                      <a:r>
                        <a:rPr sz="1400" b="1">
                          <a:solidFill>
                            <a:srgbClr val="FFFFFF"/>
                          </a:solidFill>
                        </a:rPr>
                        <a:t>What it checks</a:t>
                      </a:r>
                    </a:p>
                  </a:txBody>
                  <a:tcPr marL="73152" marR="73152" marT="36576" marB="36576" anchor="ctr">
                    <a:solidFill>
                      <a:srgbClr val="1F497D"/>
                    </a:solidFill>
                  </a:tcPr>
                </a:tc>
                <a:tc>
                  <a:txBody>
                    <a:bodyPr/>
                    <a:lstStyle/>
                    <a:p>
                      <a:pPr marL="0" indent="0">
                        <a:buNone/>
                      </a:pPr>
                      <a:r>
                        <a:rPr sz="1400" b="1">
                          <a:solidFill>
                            <a:srgbClr val="FFFFFF"/>
                          </a:solidFill>
                        </a:rPr>
                        <a:t>Example</a:t>
                      </a:r>
                    </a:p>
                  </a:txBody>
                  <a:tcPr marL="73152" marR="73152" marT="36576" marB="36576" anchor="ctr">
                    <a:solidFill>
                      <a:srgbClr val="1F497D"/>
                    </a:solidFill>
                  </a:tcPr>
                </a:tc>
                <a:extLst>
                  <a:ext uri="{0D108BD9-81ED-4DB2-BD59-A6C34878D82A}">
                    <a16:rowId xmlns:a16="http://schemas.microsoft.com/office/drawing/2014/main" val="10000"/>
                  </a:ext>
                </a:extLst>
              </a:tr>
              <a:tr h="603504">
                <a:tc>
                  <a:txBody>
                    <a:bodyPr/>
                    <a:lstStyle/>
                    <a:p>
                      <a:pPr marL="0" indent="0">
                        <a:buNone/>
                      </a:pPr>
                      <a:r>
                        <a:rPr sz="1400" b="1">
                          <a:solidFill>
                            <a:srgbClr val="262626"/>
                          </a:solidFill>
                        </a:rPr>
                        <a:t>Requirement reviews</a:t>
                      </a:r>
                    </a:p>
                  </a:txBody>
                  <a:tcPr marL="73152" marR="73152" marT="36576" marB="36576" anchor="ctr">
                    <a:solidFill>
                      <a:srgbClr val="DCE6F2"/>
                    </a:solidFill>
                  </a:tcPr>
                </a:tc>
                <a:tc>
                  <a:txBody>
                    <a:bodyPr/>
                    <a:lstStyle/>
                    <a:p>
                      <a:pPr marL="0" indent="0">
                        <a:buNone/>
                      </a:pPr>
                      <a:r>
                        <a:rPr sz="1400" b="0">
                          <a:solidFill>
                            <a:srgbClr val="262626"/>
                          </a:solidFill>
                        </a:rPr>
                        <a:t>Ambiguity, omissions, inconsistency</a:t>
                      </a:r>
                    </a:p>
                  </a:txBody>
                  <a:tcPr marL="73152" marR="73152" marT="36576" marB="36576" anchor="ctr">
                    <a:solidFill>
                      <a:srgbClr val="FFFFFF"/>
                    </a:solidFill>
                  </a:tcPr>
                </a:tc>
                <a:tc>
                  <a:txBody>
                    <a:bodyPr/>
                    <a:lstStyle/>
                    <a:p>
                      <a:pPr marL="0" indent="0">
                        <a:buNone/>
                      </a:pPr>
                      <a:r>
                        <a:rPr sz="1400" b="0">
                          <a:solidFill>
                            <a:srgbClr val="262626"/>
                          </a:solidFill>
                        </a:rPr>
                        <a:t>Walkthrough with reader, reviewer, moderator</a:t>
                      </a:r>
                    </a:p>
                  </a:txBody>
                  <a:tcPr marL="73152" marR="73152" marT="36576" marB="36576" anchor="ctr">
                    <a:solidFill>
                      <a:srgbClr val="FFFFFF"/>
                    </a:solidFill>
                  </a:tcPr>
                </a:tc>
                <a:extLst>
                  <a:ext uri="{0D108BD9-81ED-4DB2-BD59-A6C34878D82A}">
                    <a16:rowId xmlns:a16="http://schemas.microsoft.com/office/drawing/2014/main" val="10001"/>
                  </a:ext>
                </a:extLst>
              </a:tr>
              <a:tr h="603504">
                <a:tc>
                  <a:txBody>
                    <a:bodyPr/>
                    <a:lstStyle/>
                    <a:p>
                      <a:pPr marL="0" indent="0">
                        <a:buNone/>
                      </a:pPr>
                      <a:r>
                        <a:rPr sz="1400" b="1">
                          <a:solidFill>
                            <a:srgbClr val="262626"/>
                          </a:solidFill>
                        </a:rPr>
                        <a:t>Simulation and prototyping</a:t>
                      </a:r>
                    </a:p>
                  </a:txBody>
                  <a:tcPr marL="73152" marR="73152" marT="36576" marB="36576" anchor="ctr">
                    <a:solidFill>
                      <a:srgbClr val="DCE6F2"/>
                    </a:solidFill>
                  </a:tcPr>
                </a:tc>
                <a:tc>
                  <a:txBody>
                    <a:bodyPr/>
                    <a:lstStyle/>
                    <a:p>
                      <a:pPr marL="0" indent="0">
                        <a:buNone/>
                      </a:pPr>
                      <a:r>
                        <a:rPr sz="1400" b="0">
                          <a:solidFill>
                            <a:srgbClr val="262626"/>
                          </a:solidFill>
                        </a:rPr>
                        <a:t>Can it be met in real conditions?</a:t>
                      </a:r>
                    </a:p>
                  </a:txBody>
                  <a:tcPr marL="73152" marR="73152" marT="36576" marB="36576" anchor="ctr">
                    <a:solidFill>
                      <a:srgbClr val="F2F2F2"/>
                    </a:solidFill>
                  </a:tcPr>
                </a:tc>
                <a:tc>
                  <a:txBody>
                    <a:bodyPr/>
                    <a:lstStyle/>
                    <a:p>
                      <a:pPr marL="0" indent="0">
                        <a:buNone/>
                      </a:pPr>
                      <a:r>
                        <a:rPr sz="1400" b="0">
                          <a:solidFill>
                            <a:srgbClr val="262626"/>
                          </a:solidFill>
                        </a:rPr>
                        <a:t>FEA for hardware; wireframes for software</a:t>
                      </a:r>
                    </a:p>
                  </a:txBody>
                  <a:tcPr marL="73152" marR="73152" marT="36576" marB="36576" anchor="ctr">
                    <a:solidFill>
                      <a:srgbClr val="F2F2F2"/>
                    </a:solidFill>
                  </a:tcPr>
                </a:tc>
                <a:extLst>
                  <a:ext uri="{0D108BD9-81ED-4DB2-BD59-A6C34878D82A}">
                    <a16:rowId xmlns:a16="http://schemas.microsoft.com/office/drawing/2014/main" val="10002"/>
                  </a:ext>
                </a:extLst>
              </a:tr>
              <a:tr h="603504">
                <a:tc>
                  <a:txBody>
                    <a:bodyPr/>
                    <a:lstStyle/>
                    <a:p>
                      <a:pPr marL="0" indent="0">
                        <a:buNone/>
                      </a:pPr>
                      <a:r>
                        <a:rPr sz="1400" b="1">
                          <a:solidFill>
                            <a:srgbClr val="262626"/>
                          </a:solidFill>
                        </a:rPr>
                        <a:t>Test-case derivation</a:t>
                      </a:r>
                    </a:p>
                  </a:txBody>
                  <a:tcPr marL="73152" marR="73152" marT="36576" marB="36576" anchor="ctr">
                    <a:solidFill>
                      <a:srgbClr val="DCE6F2"/>
                    </a:solidFill>
                  </a:tcPr>
                </a:tc>
                <a:tc>
                  <a:txBody>
                    <a:bodyPr/>
                    <a:lstStyle/>
                    <a:p>
                      <a:pPr marL="0" indent="0">
                        <a:buNone/>
                      </a:pPr>
                      <a:r>
                        <a:rPr sz="1400" b="0">
                          <a:solidFill>
                            <a:srgbClr val="262626"/>
                          </a:solidFill>
                        </a:rPr>
                        <a:t>Is it verifiable?</a:t>
                      </a:r>
                    </a:p>
                  </a:txBody>
                  <a:tcPr marL="73152" marR="73152" marT="36576" marB="36576" anchor="ctr">
                    <a:solidFill>
                      <a:srgbClr val="FFFFFF"/>
                    </a:solidFill>
                  </a:tcPr>
                </a:tc>
                <a:tc>
                  <a:txBody>
                    <a:bodyPr/>
                    <a:lstStyle/>
                    <a:p>
                      <a:pPr marL="0" indent="0">
                        <a:buNone/>
                      </a:pPr>
                      <a:r>
                        <a:rPr sz="1400" b="0">
                          <a:solidFill>
                            <a:srgbClr val="262626"/>
                          </a:solidFill>
                        </a:rPr>
                        <a:t>"The arm must lift 1 kg in 5 s in 90% of trials"</a:t>
                      </a:r>
                    </a:p>
                  </a:txBody>
                  <a:tcPr marL="73152" marR="73152" marT="36576" marB="36576" anchor="ctr">
                    <a:solidFill>
                      <a:srgbClr val="FFFFFF"/>
                    </a:solidFill>
                  </a:tcPr>
                </a:tc>
                <a:extLst>
                  <a:ext uri="{0D108BD9-81ED-4DB2-BD59-A6C34878D82A}">
                    <a16:rowId xmlns:a16="http://schemas.microsoft.com/office/drawing/2014/main" val="10003"/>
                  </a:ext>
                </a:extLst>
              </a:tr>
              <a:tr h="603504">
                <a:tc>
                  <a:txBody>
                    <a:bodyPr/>
                    <a:lstStyle/>
                    <a:p>
                      <a:pPr marL="0" indent="0">
                        <a:buNone/>
                      </a:pPr>
                      <a:r>
                        <a:rPr sz="1400" b="1">
                          <a:solidFill>
                            <a:srgbClr val="262626"/>
                          </a:solidFill>
                        </a:rPr>
                        <a:t>Traceability (RTM)</a:t>
                      </a:r>
                    </a:p>
                  </a:txBody>
                  <a:tcPr marL="73152" marR="73152" marT="36576" marB="36576" anchor="ctr">
                    <a:solidFill>
                      <a:srgbClr val="DCE6F2"/>
                    </a:solidFill>
                  </a:tcPr>
                </a:tc>
                <a:tc>
                  <a:txBody>
                    <a:bodyPr/>
                    <a:lstStyle/>
                    <a:p>
                      <a:pPr marL="0" indent="0">
                        <a:buNone/>
                      </a:pPr>
                      <a:r>
                        <a:rPr sz="1400" b="0">
                          <a:solidFill>
                            <a:srgbClr val="262626"/>
                          </a:solidFill>
                        </a:rPr>
                        <a:t>Is every requirement covered?</a:t>
                      </a:r>
                    </a:p>
                  </a:txBody>
                  <a:tcPr marL="73152" marR="73152" marT="36576" marB="36576" anchor="ctr">
                    <a:solidFill>
                      <a:srgbClr val="F2F2F2"/>
                    </a:solidFill>
                  </a:tcPr>
                </a:tc>
                <a:tc>
                  <a:txBody>
                    <a:bodyPr/>
                    <a:lstStyle/>
                    <a:p>
                      <a:pPr marL="0" indent="0">
                        <a:buNone/>
                      </a:pPr>
                      <a:r>
                        <a:rPr sz="1400" b="0">
                          <a:solidFill>
                            <a:srgbClr val="262626"/>
                          </a:solidFill>
                        </a:rPr>
                        <a:t>Requirement to design to test; impact analysis</a:t>
                      </a:r>
                    </a:p>
                  </a:txBody>
                  <a:tcPr marL="73152" marR="73152" marT="36576" marB="36576" anchor="ctr">
                    <a:solidFill>
                      <a:srgbClr val="F2F2F2"/>
                    </a:solidFill>
                  </a:tcPr>
                </a:tc>
                <a:extLst>
                  <a:ext uri="{0D108BD9-81ED-4DB2-BD59-A6C34878D82A}">
                    <a16:rowId xmlns:a16="http://schemas.microsoft.com/office/drawing/2014/main" val="10004"/>
                  </a:ext>
                </a:extLst>
              </a:tr>
              <a:tr h="603504">
                <a:tc>
                  <a:txBody>
                    <a:bodyPr/>
                    <a:lstStyle/>
                    <a:p>
                      <a:pPr marL="0" indent="0">
                        <a:buNone/>
                      </a:pPr>
                      <a:r>
                        <a:rPr sz="1400" b="1">
                          <a:solidFill>
                            <a:srgbClr val="262626"/>
                          </a:solidFill>
                        </a:rPr>
                        <a:t>Feasibility checks</a:t>
                      </a:r>
                    </a:p>
                  </a:txBody>
                  <a:tcPr marL="73152" marR="73152" marT="36576" marB="36576" anchor="ctr">
                    <a:solidFill>
                      <a:srgbClr val="DCE6F2"/>
                    </a:solidFill>
                  </a:tcPr>
                </a:tc>
                <a:tc>
                  <a:txBody>
                    <a:bodyPr/>
                    <a:lstStyle/>
                    <a:p>
                      <a:pPr marL="0" indent="0">
                        <a:buNone/>
                      </a:pPr>
                      <a:r>
                        <a:rPr sz="1400" b="0">
                          <a:solidFill>
                            <a:srgbClr val="262626"/>
                          </a:solidFill>
                        </a:rPr>
                        <a:t>Time, cost, technical limits</a:t>
                      </a:r>
                    </a:p>
                  </a:txBody>
                  <a:tcPr marL="73152" marR="73152" marT="36576" marB="36576" anchor="ctr">
                    <a:solidFill>
                      <a:srgbClr val="FFFFFF"/>
                    </a:solidFill>
                  </a:tcPr>
                </a:tc>
                <a:tc>
                  <a:txBody>
                    <a:bodyPr/>
                    <a:lstStyle/>
                    <a:p>
                      <a:pPr marL="0" indent="0">
                        <a:buNone/>
                      </a:pPr>
                      <a:r>
                        <a:rPr sz="1400" b="0">
                          <a:solidFill>
                            <a:srgbClr val="262626"/>
                          </a:solidFill>
                        </a:rPr>
                        <a:t>Are interoperable interfaces available?</a:t>
                      </a:r>
                    </a:p>
                  </a:txBody>
                  <a:tcPr marL="73152" marR="73152" marT="36576" marB="36576" anchor="ctr">
                    <a:solidFill>
                      <a:srgbClr val="FFFFFF"/>
                    </a:solidFill>
                  </a:tcPr>
                </a:tc>
                <a:extLst>
                  <a:ext uri="{0D108BD9-81ED-4DB2-BD59-A6C34878D82A}">
                    <a16:rowId xmlns:a16="http://schemas.microsoft.com/office/drawing/2014/main" val="10005"/>
                  </a:ext>
                </a:extLst>
              </a:tr>
              <a:tr h="603504">
                <a:tc>
                  <a:txBody>
                    <a:bodyPr/>
                    <a:lstStyle/>
                    <a:p>
                      <a:pPr marL="0" indent="0">
                        <a:buNone/>
                      </a:pPr>
                      <a:r>
                        <a:rPr sz="1400" b="1">
                          <a:solidFill>
                            <a:srgbClr val="262626"/>
                          </a:solidFill>
                        </a:rPr>
                        <a:t>Stakeholder review sessions</a:t>
                      </a:r>
                    </a:p>
                  </a:txBody>
                  <a:tcPr marL="73152" marR="73152" marT="36576" marB="36576" anchor="ctr">
                    <a:solidFill>
                      <a:srgbClr val="DCE6F2"/>
                    </a:solidFill>
                  </a:tcPr>
                </a:tc>
                <a:tc>
                  <a:txBody>
                    <a:bodyPr/>
                    <a:lstStyle/>
                    <a:p>
                      <a:pPr marL="0" indent="0">
                        <a:buNone/>
                      </a:pPr>
                      <a:r>
                        <a:rPr sz="1400" b="0">
                          <a:solidFill>
                            <a:srgbClr val="262626"/>
                          </a:solidFill>
                        </a:rPr>
                        <a:t>Are human needs kept?</a:t>
                      </a:r>
                    </a:p>
                  </a:txBody>
                  <a:tcPr marL="73152" marR="73152" marT="36576" marB="36576" anchor="ctr">
                    <a:solidFill>
                      <a:srgbClr val="F2F2F2"/>
                    </a:solidFill>
                  </a:tcPr>
                </a:tc>
                <a:tc>
                  <a:txBody>
                    <a:bodyPr/>
                    <a:lstStyle/>
                    <a:p>
                      <a:pPr marL="0" indent="0">
                        <a:buNone/>
                      </a:pPr>
                      <a:r>
                        <a:rPr sz="1400" b="0">
                          <a:solidFill>
                            <a:srgbClr val="262626"/>
                          </a:solidFill>
                        </a:rPr>
                        <a:t>Usability and accessibility walkthroughs</a:t>
                      </a:r>
                    </a:p>
                  </a:txBody>
                  <a:tcPr marL="73152" marR="73152" marT="36576" marB="36576" anchor="ctr">
                    <a:solidFill>
                      <a:srgbClr val="F2F2F2"/>
                    </a:solidFill>
                  </a:tcPr>
                </a:tc>
                <a:extLst>
                  <a:ext uri="{0D108BD9-81ED-4DB2-BD59-A6C34878D82A}">
                    <a16:rowId xmlns:a16="http://schemas.microsoft.com/office/drawing/2014/main" val="10006"/>
                  </a:ext>
                </a:extLst>
              </a:tr>
              <a:tr h="603504">
                <a:tc>
                  <a:txBody>
                    <a:bodyPr/>
                    <a:lstStyle/>
                    <a:p>
                      <a:pPr marL="0" indent="0">
                        <a:buNone/>
                      </a:pPr>
                      <a:r>
                        <a:rPr sz="1400" b="1">
                          <a:solidFill>
                            <a:srgbClr val="262626"/>
                          </a:solidFill>
                        </a:rPr>
                        <a:t>Requirement modelling</a:t>
                      </a:r>
                    </a:p>
                  </a:txBody>
                  <a:tcPr marL="73152" marR="73152" marT="36576" marB="36576" anchor="ctr">
                    <a:solidFill>
                      <a:srgbClr val="DCE6F2"/>
                    </a:solidFill>
                  </a:tcPr>
                </a:tc>
                <a:tc>
                  <a:txBody>
                    <a:bodyPr/>
                    <a:lstStyle/>
                    <a:p>
                      <a:pPr marL="0" indent="0">
                        <a:buNone/>
                      </a:pPr>
                      <a:r>
                        <a:rPr sz="1400" b="0">
                          <a:solidFill>
                            <a:srgbClr val="262626"/>
                          </a:solidFill>
                        </a:rPr>
                        <a:t>Does the model satisfy properties?</a:t>
                      </a:r>
                    </a:p>
                  </a:txBody>
                  <a:tcPr marL="73152" marR="73152" marT="36576" marB="36576" anchor="ctr">
                    <a:solidFill>
                      <a:srgbClr val="FFFFFF"/>
                    </a:solidFill>
                  </a:tcPr>
                </a:tc>
                <a:tc>
                  <a:txBody>
                    <a:bodyPr/>
                    <a:lstStyle/>
                    <a:p>
                      <a:pPr marL="0" indent="0">
                        <a:buNone/>
                      </a:pPr>
                      <a:r>
                        <a:rPr sz="1400" b="0">
                          <a:solidFill>
                            <a:srgbClr val="262626"/>
                          </a:solidFill>
                        </a:rPr>
                        <a:t>SysML, model checking, formal methods</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Conflicts and Prioritisation</a:t>
            </a:r>
          </a:p>
        </p:txBody>
      </p:sp>
      <p:sp>
        <p:nvSpPr>
          <p:cNvPr id="3" name="Rectangle 2"/>
          <p:cNvSpPr/>
          <p:nvPr/>
        </p:nvSpPr>
        <p:spPr>
          <a:xfrm>
            <a:off x="457200" y="1188720"/>
            <a:ext cx="4000500" cy="1188720"/>
          </a:xfrm>
          <a:prstGeom prst="rect">
            <a:avLst/>
          </a:prstGeom>
          <a:solidFill>
            <a:srgbClr val="F2DCDB"/>
          </a:solidFill>
          <a:ln>
            <a:noFill/>
          </a:ln>
          <a:effectLst/>
        </p:spPr>
        <p:txBody>
          <a:bodyPr wrap="square" lIns="182880" tIns="54864" rIns="182880" bIns="54864" rtlCol="0" anchor="ctr"/>
          <a:lstStyle/>
          <a:p>
            <a:pPr marL="0" indent="0" algn="l">
              <a:spcAft>
                <a:spcPts val="300"/>
              </a:spcAft>
              <a:buNone/>
            </a:pPr>
            <a:r>
              <a:rPr sz="2000" b="1">
                <a:solidFill>
                  <a:srgbClr val="A93226"/>
                </a:solidFill>
              </a:rPr>
              <a:t>Must</a:t>
            </a:r>
          </a:p>
          <a:p>
            <a:pPr marL="0" indent="0" algn="l">
              <a:buNone/>
            </a:pPr>
            <a:r>
              <a:rPr sz="1600" b="0">
                <a:solidFill>
                  <a:srgbClr val="262626"/>
                </a:solidFill>
              </a:rPr>
              <a:t>Dashboard shows room temperature</a:t>
            </a:r>
          </a:p>
        </p:txBody>
      </p:sp>
      <p:sp>
        <p:nvSpPr>
          <p:cNvPr id="4" name="Rectangle 3"/>
          <p:cNvSpPr/>
          <p:nvPr/>
        </p:nvSpPr>
        <p:spPr>
          <a:xfrm>
            <a:off x="4686300" y="1188720"/>
            <a:ext cx="4000500" cy="1188720"/>
          </a:xfrm>
          <a:prstGeom prst="rect">
            <a:avLst/>
          </a:prstGeom>
          <a:solidFill>
            <a:srgbClr val="FDE9D9"/>
          </a:solidFill>
          <a:ln>
            <a:noFill/>
          </a:ln>
          <a:effectLst/>
        </p:spPr>
        <p:txBody>
          <a:bodyPr wrap="square" lIns="182880" tIns="54864" rIns="182880" bIns="54864" rtlCol="0" anchor="ctr"/>
          <a:lstStyle/>
          <a:p>
            <a:pPr marL="0" indent="0" algn="l">
              <a:spcAft>
                <a:spcPts val="300"/>
              </a:spcAft>
              <a:buNone/>
            </a:pPr>
            <a:r>
              <a:rPr sz="2000" b="1">
                <a:solidFill>
                  <a:srgbClr val="E36C09"/>
                </a:solidFill>
              </a:rPr>
              <a:t>Should</a:t>
            </a:r>
          </a:p>
          <a:p>
            <a:pPr marL="0" indent="0" algn="l">
              <a:buNone/>
            </a:pPr>
            <a:r>
              <a:rPr sz="1600" b="0">
                <a:solidFill>
                  <a:srgbClr val="262626"/>
                </a:solidFill>
              </a:rPr>
              <a:t>Occupancy history for the last week</a:t>
            </a:r>
          </a:p>
        </p:txBody>
      </p:sp>
      <p:sp>
        <p:nvSpPr>
          <p:cNvPr id="5" name="Rectangle 4"/>
          <p:cNvSpPr/>
          <p:nvPr/>
        </p:nvSpPr>
        <p:spPr>
          <a:xfrm>
            <a:off x="457200" y="2514600"/>
            <a:ext cx="4000500" cy="1188720"/>
          </a:xfrm>
          <a:prstGeom prst="rect">
            <a:avLst/>
          </a:prstGeom>
          <a:solidFill>
            <a:srgbClr val="DAEEF3"/>
          </a:solidFill>
          <a:ln>
            <a:noFill/>
          </a:ln>
          <a:effectLst/>
        </p:spPr>
        <p:txBody>
          <a:bodyPr wrap="square" lIns="182880" tIns="54864" rIns="182880" bIns="54864" rtlCol="0" anchor="ctr"/>
          <a:lstStyle/>
          <a:p>
            <a:pPr marL="0" indent="0" algn="l">
              <a:spcAft>
                <a:spcPts val="300"/>
              </a:spcAft>
              <a:buNone/>
            </a:pPr>
            <a:r>
              <a:rPr sz="2000" b="1">
                <a:solidFill>
                  <a:srgbClr val="31859C"/>
                </a:solidFill>
              </a:rPr>
              <a:t>Could</a:t>
            </a:r>
          </a:p>
          <a:p>
            <a:pPr marL="0" indent="0" algn="l">
              <a:buNone/>
            </a:pPr>
            <a:r>
              <a:rPr sz="1600" b="0">
                <a:solidFill>
                  <a:srgbClr val="262626"/>
                </a:solidFill>
              </a:rPr>
              <a:t>Study-tip suggestions</a:t>
            </a:r>
          </a:p>
        </p:txBody>
      </p:sp>
      <p:sp>
        <p:nvSpPr>
          <p:cNvPr id="6" name="Rectangle 5"/>
          <p:cNvSpPr/>
          <p:nvPr/>
        </p:nvSpPr>
        <p:spPr>
          <a:xfrm>
            <a:off x="4686300" y="2514600"/>
            <a:ext cx="4000500" cy="1188720"/>
          </a:xfrm>
          <a:prstGeom prst="rect">
            <a:avLst/>
          </a:prstGeom>
          <a:solidFill>
            <a:srgbClr val="F2F2F2"/>
          </a:solidFill>
          <a:ln>
            <a:noFill/>
          </a:ln>
          <a:effectLst/>
        </p:spPr>
        <p:txBody>
          <a:bodyPr wrap="square" lIns="182880" tIns="54864" rIns="182880" bIns="54864" rtlCol="0" anchor="ctr"/>
          <a:lstStyle/>
          <a:p>
            <a:pPr marL="0" indent="0" algn="l">
              <a:spcAft>
                <a:spcPts val="300"/>
              </a:spcAft>
              <a:buNone/>
            </a:pPr>
            <a:r>
              <a:rPr sz="2000" b="1">
                <a:solidFill>
                  <a:srgbClr val="595959"/>
                </a:solidFill>
              </a:rPr>
              <a:t>Won't (this release)</a:t>
            </a:r>
          </a:p>
          <a:p>
            <a:pPr marL="0" indent="0" algn="l">
              <a:buNone/>
            </a:pPr>
            <a:r>
              <a:rPr sz="1600" b="0">
                <a:solidFill>
                  <a:srgbClr val="262626"/>
                </a:solidFill>
              </a:rPr>
              <a:t>Voice assistant</a:t>
            </a:r>
          </a:p>
        </p:txBody>
      </p:sp>
      <p:sp>
        <p:nvSpPr>
          <p:cNvPr id="7" name="TextBox 6"/>
          <p:cNvSpPr txBox="1"/>
          <p:nvPr/>
        </p:nvSpPr>
        <p:spPr>
          <a:xfrm>
            <a:off x="457200" y="3931920"/>
            <a:ext cx="8229600" cy="365760"/>
          </a:xfrm>
          <a:prstGeom prst="rect">
            <a:avLst/>
          </a:prstGeom>
          <a:noFill/>
        </p:spPr>
        <p:txBody>
          <a:bodyPr wrap="square" lIns="73152" tIns="54864" rIns="73152" bIns="54864" anchor="t">
            <a:spAutoFit/>
          </a:bodyPr>
          <a:lstStyle/>
          <a:p>
            <a:pPr marL="0" indent="0" algn="ctr">
              <a:buNone/>
            </a:pPr>
            <a:r>
              <a:rPr sz="1500" b="0">
                <a:solidFill>
                  <a:srgbClr val="595959"/>
                </a:solidFill>
              </a:rPr>
              <a:t>MoSCoW: Must, Should, Could, Won't</a:t>
            </a:r>
          </a:p>
        </p:txBody>
      </p:sp>
      <p:sp>
        <p:nvSpPr>
          <p:cNvPr id="8" name="TextBox 7"/>
          <p:cNvSpPr txBox="1"/>
          <p:nvPr/>
        </p:nvSpPr>
        <p:spPr>
          <a:xfrm>
            <a:off x="457200" y="438912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Managing conflicts</a:t>
            </a:r>
          </a:p>
        </p:txBody>
      </p:sp>
      <p:sp>
        <p:nvSpPr>
          <p:cNvPr id="9" name="TextBox 8"/>
          <p:cNvSpPr txBox="1"/>
          <p:nvPr/>
        </p:nvSpPr>
        <p:spPr>
          <a:xfrm>
            <a:off x="457200" y="4800600"/>
            <a:ext cx="8229600" cy="14630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600" b="0">
                <a:solidFill>
                  <a:srgbClr val="262626"/>
                </a:solidFill>
              </a:rPr>
              <a:t>Rank with stakeholders, then decide and record the reason.</a:t>
            </a:r>
          </a:p>
          <a:p>
            <a:pPr marL="285750" indent="-285750" algn="l">
              <a:spcAft>
                <a:spcPts val="300"/>
              </a:spcAft>
              <a:buFont typeface="Arial"/>
              <a:buChar char="•"/>
            </a:pPr>
            <a:r>
              <a:rPr sz="1600" b="0">
                <a:solidFill>
                  <a:srgbClr val="262626"/>
                </a:solidFill>
              </a:rPr>
              <a:t>Quantify the conflict: turn opinions into numbers.</a:t>
            </a:r>
          </a:p>
          <a:p>
            <a:pPr marL="285750" indent="-285750" algn="l">
              <a:spcAft>
                <a:spcPts val="300"/>
              </a:spcAft>
              <a:buFont typeface="Arial"/>
              <a:buChar char="•"/>
            </a:pPr>
            <a:r>
              <a:rPr sz="1600" b="0">
                <a:solidFill>
                  <a:srgbClr val="262626"/>
                </a:solidFill>
              </a:rPr>
              <a:t>Model the system (system maps, giga-mapping) to see conflicts and leverage points.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Duck: How We Gather and Validate</a:t>
            </a:r>
          </a:p>
        </p:txBody>
      </p:sp>
      <p:sp>
        <p:nvSpPr>
          <p:cNvPr id="3" name="Rectangle 2"/>
          <p:cNvSpPr/>
          <p:nvPr/>
        </p:nvSpPr>
        <p:spPr>
          <a:xfrm>
            <a:off x="457200" y="1188720"/>
            <a:ext cx="4023360" cy="448056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234440"/>
            <a:ext cx="3749039" cy="502920"/>
          </a:xfrm>
          <a:prstGeom prst="rect">
            <a:avLst/>
          </a:prstGeom>
          <a:noFill/>
        </p:spPr>
        <p:txBody>
          <a:bodyPr wrap="square" lIns="73152" tIns="54864" rIns="73152" bIns="54864" anchor="ctr">
            <a:spAutoFit/>
          </a:bodyPr>
          <a:lstStyle/>
          <a:p>
            <a:pPr marL="0" indent="0" algn="l">
              <a:buNone/>
            </a:pPr>
            <a:r>
              <a:rPr sz="2200" b="1">
                <a:solidFill>
                  <a:srgbClr val="1F497D"/>
                </a:solidFill>
              </a:rPr>
              <a:t>Gathering</a:t>
            </a:r>
          </a:p>
        </p:txBody>
      </p:sp>
      <p:sp>
        <p:nvSpPr>
          <p:cNvPr id="5" name="TextBox 4"/>
          <p:cNvSpPr txBox="1"/>
          <p:nvPr/>
        </p:nvSpPr>
        <p:spPr>
          <a:xfrm>
            <a:off x="59436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900" b="0">
                <a:solidFill>
                  <a:srgbClr val="262626"/>
                </a:solidFill>
              </a:rPr>
              <a:t>Stakeholder interviews with parents, paediatricians and child psychologists.</a:t>
            </a:r>
          </a:p>
          <a:p>
            <a:pPr marL="285750" indent="-285750" algn="l">
              <a:spcAft>
                <a:spcPts val="800"/>
              </a:spcAft>
              <a:buFont typeface="Arial"/>
              <a:buChar char="•"/>
            </a:pPr>
            <a:r>
              <a:rPr sz="1900" b="0">
                <a:solidFill>
                  <a:srgbClr val="262626"/>
                </a:solidFill>
              </a:rPr>
              <a:t>Competitive analysis of baby monitors and smart toys.</a:t>
            </a:r>
          </a:p>
          <a:p>
            <a:pPr marL="285750" indent="-285750" algn="l">
              <a:spcAft>
                <a:spcPts val="800"/>
              </a:spcAft>
              <a:buFont typeface="Arial"/>
              <a:buChar char="•"/>
            </a:pPr>
            <a:r>
              <a:rPr sz="1900" b="0">
                <a:solidFill>
                  <a:srgbClr val="262626"/>
                </a:solidFill>
              </a:rPr>
              <a:t>Meta-models to explore trade-offs between sensor placement, battery capacity and toy softness.</a:t>
            </a:r>
          </a:p>
        </p:txBody>
      </p:sp>
      <p:sp>
        <p:nvSpPr>
          <p:cNvPr id="6" name="Rectangle 5"/>
          <p:cNvSpPr/>
          <p:nvPr/>
        </p:nvSpPr>
        <p:spPr>
          <a:xfrm>
            <a:off x="4663440" y="1188720"/>
            <a:ext cx="4023360" cy="4480560"/>
          </a:xfrm>
          <a:prstGeom prst="rect">
            <a:avLst/>
          </a:prstGeom>
          <a:solidFill>
            <a:srgbClr val="EBF1DE"/>
          </a:solidFill>
          <a:ln>
            <a:noFill/>
          </a:ln>
          <a:effectLst/>
        </p:spPr>
        <p:txBody>
          <a:bodyPr rtlCol="0" anchor="ctr"/>
          <a:lstStyle/>
          <a:p>
            <a:pPr algn="ctr"/>
            <a:endParaRPr/>
          </a:p>
        </p:txBody>
      </p:sp>
      <p:sp>
        <p:nvSpPr>
          <p:cNvPr id="7" name="TextBox 6"/>
          <p:cNvSpPr txBox="1"/>
          <p:nvPr/>
        </p:nvSpPr>
        <p:spPr>
          <a:xfrm>
            <a:off x="4800600" y="1234440"/>
            <a:ext cx="3749039" cy="502920"/>
          </a:xfrm>
          <a:prstGeom prst="rect">
            <a:avLst/>
          </a:prstGeom>
          <a:noFill/>
        </p:spPr>
        <p:txBody>
          <a:bodyPr wrap="square" lIns="73152" tIns="54864" rIns="73152" bIns="54864" anchor="ctr">
            <a:spAutoFit/>
          </a:bodyPr>
          <a:lstStyle/>
          <a:p>
            <a:pPr marL="0" indent="0" algn="l">
              <a:buNone/>
            </a:pPr>
            <a:r>
              <a:rPr sz="2200" b="1">
                <a:solidFill>
                  <a:srgbClr val="4F6228"/>
                </a:solidFill>
              </a:rPr>
              <a:t>Validating</a:t>
            </a:r>
          </a:p>
        </p:txBody>
      </p:sp>
      <p:sp>
        <p:nvSpPr>
          <p:cNvPr id="8" name="TextBox 7"/>
          <p:cNvSpPr txBox="1"/>
          <p:nvPr/>
        </p:nvSpPr>
        <p:spPr>
          <a:xfrm>
            <a:off x="480060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900" b="1">
                <a:solidFill>
                  <a:srgbClr val="262626"/>
                </a:solidFill>
              </a:rPr>
              <a:t>Functional: </a:t>
            </a:r>
            <a:r>
              <a:rPr sz="1900" b="0">
                <a:solidFill>
                  <a:srgbClr val="262626"/>
                </a:solidFill>
              </a:rPr>
              <a:t>embedded system simulation (microcontroller, BLE, sensor modules).</a:t>
            </a:r>
          </a:p>
          <a:p>
            <a:pPr marL="285750" indent="-285750" algn="l">
              <a:spcAft>
                <a:spcPts val="800"/>
              </a:spcAft>
              <a:buFont typeface="Arial"/>
              <a:buChar char="•"/>
            </a:pPr>
            <a:r>
              <a:rPr sz="1900" b="1">
                <a:solidFill>
                  <a:srgbClr val="262626"/>
                </a:solidFill>
              </a:rPr>
              <a:t>Safety: </a:t>
            </a:r>
            <a:r>
              <a:rPr sz="1900" b="0">
                <a:solidFill>
                  <a:srgbClr val="262626"/>
                </a:solidFill>
              </a:rPr>
              <a:t>compliance check against toy safety standards (e.g. EN 71).</a:t>
            </a:r>
          </a:p>
          <a:p>
            <a:pPr marL="285750" indent="-285750" algn="l">
              <a:spcAft>
                <a:spcPts val="800"/>
              </a:spcAft>
              <a:buFont typeface="Arial"/>
              <a:buChar char="•"/>
            </a:pPr>
            <a:r>
              <a:rPr sz="1900" b="1">
                <a:solidFill>
                  <a:srgbClr val="262626"/>
                </a:solidFill>
              </a:rPr>
              <a:t>Stakeholder: </a:t>
            </a:r>
            <a:r>
              <a:rPr sz="1900" b="0">
                <a:solidFill>
                  <a:srgbClr val="262626"/>
                </a:solidFill>
              </a:rPr>
              <a:t>physical prototypes tested in supervised play environments.</a:t>
            </a:r>
          </a:p>
        </p:txBody>
      </p:sp>
      <p:sp>
        <p:nvSpPr>
          <p:cNvPr id="9" name="TextBox 8"/>
          <p:cNvSpPr txBox="1"/>
          <p:nvPr/>
        </p:nvSpPr>
        <p:spPr>
          <a:xfrm>
            <a:off x="457200" y="5760720"/>
            <a:ext cx="8229600" cy="457200"/>
          </a:xfrm>
          <a:prstGeom prst="rect">
            <a:avLst/>
          </a:prstGeom>
          <a:noFill/>
        </p:spPr>
        <p:txBody>
          <a:bodyPr wrap="square" lIns="73152" tIns="54864" rIns="73152" bIns="54864" anchor="ctr">
            <a:spAutoFit/>
          </a:bodyPr>
          <a:lstStyle/>
          <a:p>
            <a:pPr marL="0" indent="0" algn="ctr">
              <a:buNone/>
            </a:pPr>
            <a:r>
              <a:rPr sz="1500" b="0" i="1">
                <a:solidFill>
                  <a:srgbClr val="595959"/>
                </a:solidFill>
              </a:rPr>
              <a:t>Each validation type answers a different question: does it work, is it safe, do people accept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Security and Ethics Are Requirements Too</a:t>
            </a:r>
          </a:p>
        </p:txBody>
      </p:sp>
      <p:sp>
        <p:nvSpPr>
          <p:cNvPr id="3" name="Rectangle 2"/>
          <p:cNvSpPr/>
          <p:nvPr/>
        </p:nvSpPr>
        <p:spPr>
          <a:xfrm>
            <a:off x="457200" y="1188720"/>
            <a:ext cx="2621280" cy="2926080"/>
          </a:xfrm>
          <a:prstGeom prst="rect">
            <a:avLst/>
          </a:prstGeom>
          <a:solidFill>
            <a:srgbClr val="FDE9D9"/>
          </a:solidFill>
          <a:ln>
            <a:noFill/>
          </a:ln>
          <a:effectLst/>
        </p:spPr>
        <p:txBody>
          <a:bodyPr rtlCol="0" anchor="ctr"/>
          <a:lstStyle/>
          <a:p>
            <a:pPr algn="ctr"/>
            <a:endParaRPr/>
          </a:p>
        </p:txBody>
      </p:sp>
      <p:sp>
        <p:nvSpPr>
          <p:cNvPr id="4" name="TextBox 3"/>
          <p:cNvSpPr txBox="1"/>
          <p:nvPr/>
        </p:nvSpPr>
        <p:spPr>
          <a:xfrm>
            <a:off x="457200" y="1234440"/>
            <a:ext cx="2621280" cy="548640"/>
          </a:xfrm>
          <a:prstGeom prst="rect">
            <a:avLst/>
          </a:prstGeom>
          <a:noFill/>
        </p:spPr>
        <p:txBody>
          <a:bodyPr wrap="square" lIns="73152" tIns="54864" rIns="73152" bIns="54864" anchor="ctr">
            <a:spAutoFit/>
          </a:bodyPr>
          <a:lstStyle/>
          <a:p>
            <a:pPr marL="0" indent="0" algn="ctr">
              <a:buNone/>
            </a:pPr>
            <a:r>
              <a:rPr sz="2000" b="1">
                <a:solidFill>
                  <a:srgbClr val="E36C09"/>
                </a:solidFill>
              </a:rPr>
              <a:t>Data in motion</a:t>
            </a:r>
          </a:p>
        </p:txBody>
      </p:sp>
      <p:sp>
        <p:nvSpPr>
          <p:cNvPr id="5" name="TextBox 4"/>
          <p:cNvSpPr txBox="1"/>
          <p:nvPr/>
        </p:nvSpPr>
        <p:spPr>
          <a:xfrm>
            <a:off x="548640" y="1828800"/>
            <a:ext cx="2438400" cy="228600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Duck-to-app link shall be encrypted and paired.</a:t>
            </a:r>
          </a:p>
          <a:p>
            <a:pPr marL="285750" indent="-285750" algn="l">
              <a:spcAft>
                <a:spcPts val="800"/>
              </a:spcAft>
              <a:buFont typeface="Arial"/>
              <a:buChar char="•"/>
            </a:pPr>
            <a:r>
              <a:rPr sz="1700" b="0">
                <a:solidFill>
                  <a:srgbClr val="262626"/>
                </a:solidFill>
              </a:rPr>
              <a:t>Cloud traffic shall use TLS 1.3.</a:t>
            </a:r>
          </a:p>
        </p:txBody>
      </p:sp>
      <p:sp>
        <p:nvSpPr>
          <p:cNvPr id="6" name="Rectangle 5"/>
          <p:cNvSpPr/>
          <p:nvPr/>
        </p:nvSpPr>
        <p:spPr>
          <a:xfrm>
            <a:off x="3261360" y="1188720"/>
            <a:ext cx="2621280" cy="2926080"/>
          </a:xfrm>
          <a:prstGeom prst="rect">
            <a:avLst/>
          </a:prstGeom>
          <a:solidFill>
            <a:srgbClr val="DCE6F2"/>
          </a:solidFill>
          <a:ln>
            <a:noFill/>
          </a:ln>
          <a:effectLst/>
        </p:spPr>
        <p:txBody>
          <a:bodyPr rtlCol="0" anchor="ctr"/>
          <a:lstStyle/>
          <a:p>
            <a:pPr algn="ctr"/>
            <a:endParaRPr/>
          </a:p>
        </p:txBody>
      </p:sp>
      <p:sp>
        <p:nvSpPr>
          <p:cNvPr id="7" name="TextBox 6"/>
          <p:cNvSpPr txBox="1"/>
          <p:nvPr/>
        </p:nvSpPr>
        <p:spPr>
          <a:xfrm>
            <a:off x="3261360" y="1234440"/>
            <a:ext cx="2621280" cy="548640"/>
          </a:xfrm>
          <a:prstGeom prst="rect">
            <a:avLst/>
          </a:prstGeom>
          <a:noFill/>
        </p:spPr>
        <p:txBody>
          <a:bodyPr wrap="square" lIns="73152" tIns="54864" rIns="73152" bIns="54864" anchor="ctr">
            <a:spAutoFit/>
          </a:bodyPr>
          <a:lstStyle/>
          <a:p>
            <a:pPr marL="0" indent="0" algn="ctr">
              <a:buNone/>
            </a:pPr>
            <a:r>
              <a:rPr sz="2000" b="1">
                <a:solidFill>
                  <a:srgbClr val="1F497D"/>
                </a:solidFill>
              </a:rPr>
              <a:t>Data at rest</a:t>
            </a:r>
          </a:p>
        </p:txBody>
      </p:sp>
      <p:sp>
        <p:nvSpPr>
          <p:cNvPr id="8" name="TextBox 7"/>
          <p:cNvSpPr txBox="1"/>
          <p:nvPr/>
        </p:nvSpPr>
        <p:spPr>
          <a:xfrm>
            <a:off x="3352800" y="1828800"/>
            <a:ext cx="2438400" cy="228600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Stored data shall be encrypted (AES-256).</a:t>
            </a:r>
          </a:p>
          <a:p>
            <a:pPr marL="285750" indent="-285750" algn="l">
              <a:spcAft>
                <a:spcPts val="800"/>
              </a:spcAft>
              <a:buFont typeface="Arial"/>
              <a:buChar char="•"/>
            </a:pPr>
            <a:r>
              <a:rPr sz="1700" b="0">
                <a:solidFill>
                  <a:srgbClr val="262626"/>
                </a:solidFill>
              </a:rPr>
              <a:t>Access limited to the caregiver's account.</a:t>
            </a:r>
          </a:p>
        </p:txBody>
      </p:sp>
      <p:sp>
        <p:nvSpPr>
          <p:cNvPr id="9" name="Rectangle 8"/>
          <p:cNvSpPr/>
          <p:nvPr/>
        </p:nvSpPr>
        <p:spPr>
          <a:xfrm>
            <a:off x="6065520" y="1188720"/>
            <a:ext cx="2621280" cy="2926080"/>
          </a:xfrm>
          <a:prstGeom prst="rect">
            <a:avLst/>
          </a:prstGeom>
          <a:solidFill>
            <a:srgbClr val="EBF1DE"/>
          </a:solidFill>
          <a:ln>
            <a:noFill/>
          </a:ln>
          <a:effectLst/>
        </p:spPr>
        <p:txBody>
          <a:bodyPr rtlCol="0" anchor="ctr"/>
          <a:lstStyle/>
          <a:p>
            <a:pPr algn="ctr"/>
            <a:endParaRPr/>
          </a:p>
        </p:txBody>
      </p:sp>
      <p:sp>
        <p:nvSpPr>
          <p:cNvPr id="10" name="TextBox 9"/>
          <p:cNvSpPr txBox="1"/>
          <p:nvPr/>
        </p:nvSpPr>
        <p:spPr>
          <a:xfrm>
            <a:off x="6065520" y="1234440"/>
            <a:ext cx="2621280" cy="548640"/>
          </a:xfrm>
          <a:prstGeom prst="rect">
            <a:avLst/>
          </a:prstGeom>
          <a:noFill/>
        </p:spPr>
        <p:txBody>
          <a:bodyPr wrap="square" lIns="73152" tIns="54864" rIns="73152" bIns="54864" anchor="ctr">
            <a:spAutoFit/>
          </a:bodyPr>
          <a:lstStyle/>
          <a:p>
            <a:pPr marL="0" indent="0" algn="ctr">
              <a:buNone/>
            </a:pPr>
            <a:r>
              <a:rPr sz="2000" b="1">
                <a:solidFill>
                  <a:srgbClr val="4F6228"/>
                </a:solidFill>
              </a:rPr>
              <a:t>Ethics and privacy</a:t>
            </a:r>
          </a:p>
        </p:txBody>
      </p:sp>
      <p:sp>
        <p:nvSpPr>
          <p:cNvPr id="11" name="TextBox 10"/>
          <p:cNvSpPr txBox="1"/>
          <p:nvPr/>
        </p:nvSpPr>
        <p:spPr>
          <a:xfrm>
            <a:off x="6156960" y="1828800"/>
            <a:ext cx="2438400" cy="228600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Sound level only: no audio is recorded.</a:t>
            </a:r>
          </a:p>
          <a:p>
            <a:pPr marL="285750" indent="-285750" algn="l">
              <a:spcAft>
                <a:spcPts val="800"/>
              </a:spcAft>
              <a:buFont typeface="Arial"/>
              <a:buChar char="•"/>
            </a:pPr>
            <a:r>
              <a:rPr sz="1700" b="0">
                <a:solidFill>
                  <a:srgbClr val="262626"/>
                </a:solidFill>
              </a:rPr>
              <a:t>Data minimised; deleted after 30 days.</a:t>
            </a:r>
          </a:p>
        </p:txBody>
      </p:sp>
      <p:sp>
        <p:nvSpPr>
          <p:cNvPr id="12" name="TextBox 11"/>
          <p:cNvSpPr txBox="1"/>
          <p:nvPr/>
        </p:nvSpPr>
        <p:spPr>
          <a:xfrm>
            <a:off x="457200" y="429768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Ask about every piece of data:</a:t>
            </a:r>
          </a:p>
        </p:txBody>
      </p:sp>
      <p:sp>
        <p:nvSpPr>
          <p:cNvPr id="13" name="TextBox 12"/>
          <p:cNvSpPr txBox="1"/>
          <p:nvPr/>
        </p:nvSpPr>
        <p:spPr>
          <a:xfrm>
            <a:off x="457200" y="4709160"/>
            <a:ext cx="8229600" cy="155448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700" b="0">
                <a:solidFill>
                  <a:srgbClr val="262626"/>
                </a:solidFill>
              </a:rPr>
              <a:t>Who can see it, and why do we collect it at all?</a:t>
            </a:r>
          </a:p>
          <a:p>
            <a:pPr marL="285750" indent="-285750" algn="l">
              <a:spcAft>
                <a:spcPts val="300"/>
              </a:spcAft>
              <a:buFont typeface="Arial"/>
              <a:buChar char="•"/>
            </a:pPr>
            <a:r>
              <a:rPr sz="1700" b="0">
                <a:solidFill>
                  <a:srgbClr val="262626"/>
                </a:solidFill>
              </a:rPr>
              <a:t>How long do we keep it, and who can delete it?</a:t>
            </a:r>
          </a:p>
          <a:p>
            <a:pPr marL="285750" indent="-285750" algn="l">
              <a:spcAft>
                <a:spcPts val="300"/>
              </a:spcAft>
              <a:buFont typeface="Arial"/>
              <a:buChar char="•"/>
            </a:pPr>
            <a:r>
              <a:rPr sz="1700" b="0">
                <a:solidFill>
                  <a:srgbClr val="262626"/>
                </a:solidFill>
              </a:rPr>
              <a:t>Young children cannot consent: parents do. UK GDPR gives children's data special protection.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Summary and What's Next</a:t>
            </a:r>
          </a:p>
        </p:txBody>
      </p:sp>
      <p:sp>
        <p:nvSpPr>
          <p:cNvPr id="3" name="TextBox 2"/>
          <p:cNvSpPr txBox="1"/>
          <p:nvPr/>
        </p:nvSpPr>
        <p:spPr>
          <a:xfrm>
            <a:off x="457200" y="1051560"/>
            <a:ext cx="8229600" cy="19202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800" b="1">
                <a:solidFill>
                  <a:srgbClr val="1F497D"/>
                </a:solidFill>
              </a:rPr>
              <a:t>Lifecycle: </a:t>
            </a:r>
            <a:r>
              <a:rPr sz="1800" b="0">
                <a:solidFill>
                  <a:srgbClr val="262626"/>
                </a:solidFill>
              </a:rPr>
              <a:t>elicit, analyse, specify, validate, manage: a loop</a:t>
            </a:r>
          </a:p>
          <a:p>
            <a:pPr marL="285750" indent="-285750" algn="l">
              <a:spcAft>
                <a:spcPts val="300"/>
              </a:spcAft>
              <a:buFont typeface="Arial"/>
              <a:buChar char="•"/>
            </a:pPr>
            <a:r>
              <a:rPr sz="1800" b="1">
                <a:solidFill>
                  <a:srgbClr val="1F497D"/>
                </a:solidFill>
              </a:rPr>
              <a:t>Stakeholders: </a:t>
            </a:r>
            <a:r>
              <a:rPr sz="1800" b="0">
                <a:solidFill>
                  <a:srgbClr val="262626"/>
                </a:solidFill>
              </a:rPr>
              <a:t>identify early, map power and interest</a:t>
            </a:r>
          </a:p>
          <a:p>
            <a:pPr marL="285750" indent="-285750" algn="l">
              <a:spcAft>
                <a:spcPts val="300"/>
              </a:spcAft>
              <a:buFont typeface="Arial"/>
              <a:buChar char="•"/>
            </a:pPr>
            <a:r>
              <a:rPr sz="1800" b="1">
                <a:solidFill>
                  <a:srgbClr val="1F497D"/>
                </a:solidFill>
              </a:rPr>
              <a:t>Techniques: </a:t>
            </a:r>
            <a:r>
              <a:rPr sz="1800" b="0">
                <a:solidFill>
                  <a:srgbClr val="262626"/>
                </a:solidFill>
              </a:rPr>
              <a:t>match the technique to what you need to learn</a:t>
            </a:r>
          </a:p>
          <a:p>
            <a:pPr marL="285750" indent="-285750" algn="l">
              <a:spcAft>
                <a:spcPts val="300"/>
              </a:spcAft>
              <a:buFont typeface="Arial"/>
              <a:buChar char="•"/>
            </a:pPr>
            <a:r>
              <a:rPr sz="1800" b="1">
                <a:solidFill>
                  <a:srgbClr val="1F497D"/>
                </a:solidFill>
              </a:rPr>
              <a:t>Validation: </a:t>
            </a:r>
            <a:r>
              <a:rPr sz="1800" b="0">
                <a:solidFill>
                  <a:srgbClr val="262626"/>
                </a:solidFill>
              </a:rPr>
              <a:t>right system, then system right</a:t>
            </a:r>
          </a:p>
          <a:p>
            <a:pPr marL="285750" indent="-285750" algn="l">
              <a:spcAft>
                <a:spcPts val="300"/>
              </a:spcAft>
              <a:buFont typeface="Arial"/>
              <a:buChar char="•"/>
            </a:pPr>
            <a:r>
              <a:rPr sz="1800" b="1">
                <a:solidFill>
                  <a:srgbClr val="1F497D"/>
                </a:solidFill>
              </a:rPr>
              <a:t>Trade-offs and ethics: </a:t>
            </a:r>
            <a:r>
              <a:rPr sz="1800" b="0">
                <a:solidFill>
                  <a:srgbClr val="262626"/>
                </a:solidFill>
              </a:rPr>
              <a:t>prioritise, record decisions, protect data</a:t>
            </a:r>
          </a:p>
        </p:txBody>
      </p:sp>
      <p:sp>
        <p:nvSpPr>
          <p:cNvPr id="4" name="Rectangle 3"/>
          <p:cNvSpPr/>
          <p:nvPr/>
        </p:nvSpPr>
        <p:spPr>
          <a:xfrm>
            <a:off x="1371600" y="2739455"/>
            <a:ext cx="6400800" cy="457200"/>
          </a:xfrm>
          <a:prstGeom prst="rect">
            <a:avLst/>
          </a:prstGeom>
          <a:solidFill>
            <a:srgbClr val="D7E4BD"/>
          </a:solidFill>
          <a:ln>
            <a:noFill/>
          </a:ln>
          <a:effectLst/>
        </p:spPr>
        <p:txBody>
          <a:bodyPr wrap="square" lIns="73152" tIns="54864" rIns="73152" bIns="54864" rtlCol="0" anchor="ctr"/>
          <a:lstStyle/>
          <a:p>
            <a:pPr marL="0" indent="0" algn="ctr">
              <a:buNone/>
            </a:pPr>
            <a:r>
              <a:rPr sz="2200" b="1">
                <a:solidFill>
                  <a:srgbClr val="000000"/>
                </a:solidFill>
              </a:rPr>
              <a:t>Let's read and explore</a:t>
            </a:r>
          </a:p>
        </p:txBody>
      </p:sp>
      <p:sp>
        <p:nvSpPr>
          <p:cNvPr id="5" name="TextBox 4"/>
          <p:cNvSpPr txBox="1"/>
          <p:nvPr/>
        </p:nvSpPr>
        <p:spPr>
          <a:xfrm>
            <a:off x="640080" y="3288095"/>
            <a:ext cx="8046720" cy="2531975"/>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dirty="0">
                <a:solidFill>
                  <a:srgbClr val="262626"/>
                </a:solidFill>
              </a:rPr>
              <a:t>ISO/IEC/IEEE 29148:2018. Requirements engineering.</a:t>
            </a:r>
            <a:endParaRPr lang="en-US" sz="1400" b="0" dirty="0">
              <a:solidFill>
                <a:srgbClr val="262626"/>
              </a:solidFill>
            </a:endParaRPr>
          </a:p>
          <a:p>
            <a:pPr>
              <a:spcAft>
                <a:spcPts val="200"/>
              </a:spcAft>
            </a:pPr>
            <a:r>
              <a:rPr lang="en-US" sz="1400" dirty="0">
                <a:hlinkClick r:id="rId3"/>
              </a:rPr>
              <a:t>https://www.iso.org/standard/72089.html</a:t>
            </a:r>
            <a:endParaRPr sz="1400" b="0" dirty="0">
              <a:solidFill>
                <a:srgbClr val="262626"/>
              </a:solidFill>
            </a:endParaRPr>
          </a:p>
          <a:p>
            <a:pPr marL="285750" indent="-285750" algn="l">
              <a:spcAft>
                <a:spcPts val="200"/>
              </a:spcAft>
              <a:buFont typeface="Arial"/>
              <a:buChar char="–"/>
            </a:pPr>
            <a:r>
              <a:rPr sz="1400" b="0" dirty="0">
                <a:solidFill>
                  <a:srgbClr val="262626"/>
                </a:solidFill>
              </a:rPr>
              <a:t>Sommerville, I. Software Engineering, Ch. 4 Requirements engineering.</a:t>
            </a:r>
            <a:endParaRPr lang="en-US" sz="1400" b="0" dirty="0">
              <a:solidFill>
                <a:srgbClr val="262626"/>
              </a:solidFill>
            </a:endParaRPr>
          </a:p>
          <a:p>
            <a:pPr>
              <a:spcAft>
                <a:spcPts val="200"/>
              </a:spcAft>
            </a:pPr>
            <a:r>
              <a:rPr lang="en-US" sz="1400" dirty="0">
                <a:solidFill>
                  <a:srgbClr val="262626"/>
                </a:solidFill>
                <a:hlinkClick r:id="rId4"/>
              </a:rPr>
              <a:t>https://www.oreilly.com/library/view/software-engineering-10th/9780137586691/xhtml/fileP7000495926000000000000000000AD0.xhtml?utm_source=chatgpt.com</a:t>
            </a:r>
            <a:endParaRPr sz="1400" b="0" dirty="0">
              <a:solidFill>
                <a:srgbClr val="262626"/>
              </a:solidFill>
            </a:endParaRPr>
          </a:p>
          <a:p>
            <a:pPr marL="285750" indent="-285750" algn="l">
              <a:spcAft>
                <a:spcPts val="200"/>
              </a:spcAft>
              <a:buFont typeface="Arial"/>
              <a:buChar char="–"/>
            </a:pPr>
            <a:r>
              <a:rPr sz="1400" b="0" dirty="0">
                <a:solidFill>
                  <a:srgbClr val="262626"/>
                </a:solidFill>
              </a:rPr>
              <a:t>Robertson, S. and Robertson, J. Mastering the Requirements Process.</a:t>
            </a:r>
            <a:endParaRPr lang="en-US" sz="1400" b="0" dirty="0">
              <a:solidFill>
                <a:srgbClr val="262626"/>
              </a:solidFill>
            </a:endParaRPr>
          </a:p>
          <a:p>
            <a:pPr>
              <a:spcAft>
                <a:spcPts val="200"/>
              </a:spcAft>
            </a:pPr>
            <a:r>
              <a:rPr lang="en-US" sz="1400" dirty="0">
                <a:hlinkClick r:id="rId5"/>
              </a:rPr>
              <a:t>https://www.oreilly.com/library/view/-/9780132942850</a:t>
            </a:r>
            <a:r>
              <a:rPr sz="1400" b="0" dirty="0">
                <a:solidFill>
                  <a:srgbClr val="262626"/>
                </a:solidFill>
              </a:rPr>
              <a:t>.</a:t>
            </a:r>
          </a:p>
          <a:p>
            <a:pPr marL="285750" indent="-285750">
              <a:spcAft>
                <a:spcPts val="200"/>
              </a:spcAft>
              <a:buFont typeface="Arial"/>
              <a:buChar char="–"/>
            </a:pPr>
            <a:r>
              <a:rPr lang="en-US" sz="1400" b="0" dirty="0" err="1">
                <a:solidFill>
                  <a:srgbClr val="262626"/>
                </a:solidFill>
              </a:rPr>
              <a:t>Errikos</a:t>
            </a:r>
            <a:r>
              <a:rPr lang="en-US" sz="1400" b="0" dirty="0">
                <a:solidFill>
                  <a:srgbClr val="262626"/>
                </a:solidFill>
              </a:rPr>
              <a:t>, S. et </a:t>
            </a:r>
            <a:r>
              <a:rPr lang="en-US" sz="1400" dirty="0">
                <a:solidFill>
                  <a:srgbClr val="262626"/>
                </a:solidFill>
              </a:rPr>
              <a:t>a</a:t>
            </a:r>
            <a:r>
              <a:rPr lang="en-US" sz="1400" b="0" dirty="0">
                <a:solidFill>
                  <a:srgbClr val="262626"/>
                </a:solidFill>
              </a:rPr>
              <a:t>l. Managing Ethical Requirements Elicitation</a:t>
            </a:r>
          </a:p>
          <a:p>
            <a:pPr>
              <a:spcAft>
                <a:spcPts val="200"/>
              </a:spcAft>
            </a:pPr>
            <a:r>
              <a:rPr lang="en-US" sz="1400" dirty="0">
                <a:solidFill>
                  <a:srgbClr val="262626"/>
                </a:solidFill>
                <a:hlinkClick r:id="rId6"/>
              </a:rPr>
              <a:t>https://link.springer.com/chapter/10.1007/978-3-031-42307-9_19</a:t>
            </a:r>
            <a:endParaRPr lang="en-US" sz="1400" dirty="0">
              <a:solidFill>
                <a:srgbClr val="262626"/>
              </a:solidFill>
            </a:endParaRPr>
          </a:p>
          <a:p>
            <a:pPr marL="285750" indent="-285750">
              <a:spcAft>
                <a:spcPts val="200"/>
              </a:spcAft>
              <a:buFont typeface="Arial"/>
              <a:buChar char="–"/>
            </a:pPr>
            <a:endParaRPr sz="1400" b="0" dirty="0">
              <a:solidFill>
                <a:srgbClr val="262626"/>
              </a:solidFill>
            </a:endParaRPr>
          </a:p>
        </p:txBody>
      </p:sp>
      <p:sp>
        <p:nvSpPr>
          <p:cNvPr id="6" name="Rectangle 5"/>
          <p:cNvSpPr/>
          <p:nvPr/>
        </p:nvSpPr>
        <p:spPr>
          <a:xfrm>
            <a:off x="457200" y="5613819"/>
            <a:ext cx="8229600" cy="685800"/>
          </a:xfrm>
          <a:prstGeom prst="rect">
            <a:avLst/>
          </a:prstGeom>
          <a:solidFill>
            <a:srgbClr val="DCE6F2"/>
          </a:solidFill>
          <a:ln>
            <a:noFill/>
          </a:ln>
          <a:effectLst/>
        </p:spPr>
        <p:txBody>
          <a:bodyPr wrap="square" lIns="182880" tIns="54864" rIns="182880" bIns="54864" rtlCol="0" anchor="ctr"/>
          <a:lstStyle/>
          <a:p>
            <a:r>
              <a:rPr sz="1600" b="1" dirty="0">
                <a:solidFill>
                  <a:srgbClr val="1F497D"/>
                </a:solidFill>
              </a:rPr>
              <a:t>Next</a:t>
            </a:r>
            <a:r>
              <a:rPr lang="en-US" sz="1600" b="1" dirty="0">
                <a:solidFill>
                  <a:srgbClr val="1F497D"/>
                </a:solidFill>
              </a:rPr>
              <a:t> Lecture</a:t>
            </a:r>
            <a:r>
              <a:rPr sz="1600" b="1" dirty="0">
                <a:solidFill>
                  <a:srgbClr val="1F497D"/>
                </a:solidFill>
              </a:rPr>
              <a:t>:</a:t>
            </a:r>
            <a:r>
              <a:rPr sz="1600" b="0" dirty="0">
                <a:solidFill>
                  <a:srgbClr val="262626"/>
                </a:solidFill>
              </a:rPr>
              <a:t> Use Cases and Personas: how do we capture users and their goals as scenarios?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Why Requirements Matter</a:t>
            </a:r>
          </a:p>
        </p:txBody>
      </p:sp>
      <p:sp>
        <p:nvSpPr>
          <p:cNvPr id="3" name="Rectangle 2"/>
          <p:cNvSpPr/>
          <p:nvPr/>
        </p:nvSpPr>
        <p:spPr>
          <a:xfrm>
            <a:off x="457200" y="1280160"/>
            <a:ext cx="2621280" cy="4206240"/>
          </a:xfrm>
          <a:prstGeom prst="rect">
            <a:avLst/>
          </a:prstGeom>
          <a:solidFill>
            <a:srgbClr val="EBF1DE"/>
          </a:solidFill>
          <a:ln>
            <a:noFill/>
          </a:ln>
          <a:effectLst/>
        </p:spPr>
        <p:txBody>
          <a:bodyPr rtlCol="0" anchor="ctr"/>
          <a:lstStyle/>
          <a:p>
            <a:pPr algn="ctr"/>
            <a:endParaRPr/>
          </a:p>
        </p:txBody>
      </p:sp>
      <p:sp>
        <p:nvSpPr>
          <p:cNvPr id="4" name="TextBox 3"/>
          <p:cNvSpPr txBox="1"/>
          <p:nvPr/>
        </p:nvSpPr>
        <p:spPr>
          <a:xfrm>
            <a:off x="548640" y="1371600"/>
            <a:ext cx="2438400" cy="822960"/>
          </a:xfrm>
          <a:prstGeom prst="rect">
            <a:avLst/>
          </a:prstGeom>
          <a:noFill/>
        </p:spPr>
        <p:txBody>
          <a:bodyPr wrap="square" lIns="73152" tIns="54864" rIns="73152" bIns="54864" anchor="ctr">
            <a:spAutoFit/>
          </a:bodyPr>
          <a:lstStyle/>
          <a:p>
            <a:pPr marL="0" indent="0" algn="l">
              <a:buNone/>
            </a:pPr>
            <a:r>
              <a:rPr sz="1900" b="1">
                <a:solidFill>
                  <a:srgbClr val="4F6228"/>
                </a:solidFill>
              </a:rPr>
              <a:t>Foundation for success</a:t>
            </a:r>
          </a:p>
        </p:txBody>
      </p:sp>
      <p:sp>
        <p:nvSpPr>
          <p:cNvPr id="5" name="TextBox 4"/>
          <p:cNvSpPr txBox="1"/>
          <p:nvPr/>
        </p:nvSpPr>
        <p:spPr>
          <a:xfrm>
            <a:off x="548640" y="2286000"/>
            <a:ext cx="2438400" cy="3108960"/>
          </a:xfrm>
          <a:prstGeom prst="rect">
            <a:avLst/>
          </a:prstGeom>
          <a:noFill/>
        </p:spPr>
        <p:txBody>
          <a:bodyPr wrap="square" lIns="73152" tIns="54864" rIns="73152" bIns="54864" anchor="t">
            <a:spAutoFit/>
          </a:bodyPr>
          <a:lstStyle/>
          <a:p>
            <a:pPr marL="0" indent="0" algn="l">
              <a:buNone/>
            </a:pPr>
            <a:r>
              <a:rPr sz="1600" b="0">
                <a:solidFill>
                  <a:srgbClr val="262626"/>
                </a:solidFill>
              </a:rPr>
              <a:t>Requirements set the trajectory and feasibility of system design, whether for digital platforms, autonomous robots or hybrid cyber-physical systems.</a:t>
            </a:r>
          </a:p>
        </p:txBody>
      </p:sp>
      <p:sp>
        <p:nvSpPr>
          <p:cNvPr id="6" name="Rectangle 5"/>
          <p:cNvSpPr/>
          <p:nvPr/>
        </p:nvSpPr>
        <p:spPr>
          <a:xfrm>
            <a:off x="3261360" y="1280160"/>
            <a:ext cx="2621280" cy="4206240"/>
          </a:xfrm>
          <a:prstGeom prst="rect">
            <a:avLst/>
          </a:prstGeom>
          <a:solidFill>
            <a:srgbClr val="F2DCDB"/>
          </a:solidFill>
          <a:ln>
            <a:noFill/>
          </a:ln>
          <a:effectLst/>
        </p:spPr>
        <p:txBody>
          <a:bodyPr rtlCol="0" anchor="ctr"/>
          <a:lstStyle/>
          <a:p>
            <a:pPr algn="ctr"/>
            <a:endParaRPr/>
          </a:p>
        </p:txBody>
      </p:sp>
      <p:sp>
        <p:nvSpPr>
          <p:cNvPr id="7" name="TextBox 6"/>
          <p:cNvSpPr txBox="1"/>
          <p:nvPr/>
        </p:nvSpPr>
        <p:spPr>
          <a:xfrm>
            <a:off x="3352800" y="1371600"/>
            <a:ext cx="2438400" cy="822960"/>
          </a:xfrm>
          <a:prstGeom prst="rect">
            <a:avLst/>
          </a:prstGeom>
          <a:noFill/>
        </p:spPr>
        <p:txBody>
          <a:bodyPr wrap="square" lIns="73152" tIns="54864" rIns="73152" bIns="54864" anchor="ctr">
            <a:spAutoFit/>
          </a:bodyPr>
          <a:lstStyle/>
          <a:p>
            <a:pPr marL="0" indent="0" algn="l">
              <a:buNone/>
            </a:pPr>
            <a:r>
              <a:rPr sz="1900" b="1">
                <a:solidFill>
                  <a:srgbClr val="A93226"/>
                </a:solidFill>
              </a:rPr>
              <a:t>Risk mitigation</a:t>
            </a:r>
          </a:p>
        </p:txBody>
      </p:sp>
      <p:sp>
        <p:nvSpPr>
          <p:cNvPr id="8" name="TextBox 7"/>
          <p:cNvSpPr txBox="1"/>
          <p:nvPr/>
        </p:nvSpPr>
        <p:spPr>
          <a:xfrm>
            <a:off x="3352800" y="2286000"/>
            <a:ext cx="2438400" cy="3108960"/>
          </a:xfrm>
          <a:prstGeom prst="rect">
            <a:avLst/>
          </a:prstGeom>
          <a:noFill/>
        </p:spPr>
        <p:txBody>
          <a:bodyPr wrap="square" lIns="73152" tIns="54864" rIns="73152" bIns="54864" anchor="t">
            <a:spAutoFit/>
          </a:bodyPr>
          <a:lstStyle/>
          <a:p>
            <a:pPr marL="0" indent="0" algn="l">
              <a:buNone/>
            </a:pPr>
            <a:r>
              <a:rPr sz="1600" b="0">
                <a:solidFill>
                  <a:srgbClr val="262626"/>
                </a:solidFill>
              </a:rPr>
              <a:t>Without accurate requirements, even well-engineered systems may miss user needs, cause costly rework or expose the system to security and performance risks.</a:t>
            </a:r>
          </a:p>
        </p:txBody>
      </p:sp>
      <p:sp>
        <p:nvSpPr>
          <p:cNvPr id="9" name="Rectangle 8"/>
          <p:cNvSpPr/>
          <p:nvPr/>
        </p:nvSpPr>
        <p:spPr>
          <a:xfrm>
            <a:off x="6065520" y="1280160"/>
            <a:ext cx="2621280" cy="420624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6156960" y="1371600"/>
            <a:ext cx="2438400" cy="822960"/>
          </a:xfrm>
          <a:prstGeom prst="rect">
            <a:avLst/>
          </a:prstGeom>
          <a:noFill/>
        </p:spPr>
        <p:txBody>
          <a:bodyPr wrap="square" lIns="73152" tIns="54864" rIns="73152" bIns="54864" anchor="ctr">
            <a:spAutoFit/>
          </a:bodyPr>
          <a:lstStyle/>
          <a:p>
            <a:pPr marL="0" indent="0" algn="l">
              <a:buNone/>
            </a:pPr>
            <a:r>
              <a:rPr sz="1900" b="1">
                <a:solidFill>
                  <a:srgbClr val="31859C"/>
                </a:solidFill>
              </a:rPr>
              <a:t>Cross-disciplinary communication</a:t>
            </a:r>
          </a:p>
        </p:txBody>
      </p:sp>
      <p:sp>
        <p:nvSpPr>
          <p:cNvPr id="11" name="TextBox 10"/>
          <p:cNvSpPr txBox="1"/>
          <p:nvPr/>
        </p:nvSpPr>
        <p:spPr>
          <a:xfrm>
            <a:off x="6156960" y="2286000"/>
            <a:ext cx="2438400" cy="3108960"/>
          </a:xfrm>
          <a:prstGeom prst="rect">
            <a:avLst/>
          </a:prstGeom>
          <a:noFill/>
        </p:spPr>
        <p:txBody>
          <a:bodyPr wrap="square" lIns="73152" tIns="54864" rIns="73152" bIns="54864" anchor="t">
            <a:spAutoFit/>
          </a:bodyPr>
          <a:lstStyle/>
          <a:p>
            <a:pPr marL="0" indent="0" algn="l">
              <a:buNone/>
            </a:pPr>
            <a:r>
              <a:rPr sz="1600" b="0">
                <a:solidFill>
                  <a:srgbClr val="262626"/>
                </a:solidFill>
              </a:rPr>
              <a:t>In multi-component systems, requirements let software, hardware and human-systems teams communicate, enabling decomposition and integration planning.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600" b="1">
                <a:solidFill>
                  <a:schemeClr val="tx2"/>
                </a:solidFill>
              </a:rPr>
              <a:t>Appendix: Requirements in Multi-Component Systems</a:t>
            </a:r>
          </a:p>
        </p:txBody>
      </p:sp>
      <p:sp>
        <p:nvSpPr>
          <p:cNvPr id="3" name="Rectangle 2"/>
          <p:cNvSpPr/>
          <p:nvPr/>
        </p:nvSpPr>
        <p:spPr>
          <a:xfrm>
            <a:off x="457200" y="1188720"/>
            <a:ext cx="4754880" cy="731520"/>
          </a:xfrm>
          <a:prstGeom prst="rect">
            <a:avLst/>
          </a:prstGeom>
          <a:solidFill>
            <a:srgbClr val="1F497D"/>
          </a:solidFill>
          <a:ln>
            <a:noFill/>
          </a:ln>
          <a:effectLst/>
        </p:spPr>
        <p:txBody>
          <a:bodyPr wrap="square" lIns="137160" tIns="54864" rIns="137160" bIns="54864" rtlCol="0" anchor="ctr"/>
          <a:lstStyle/>
          <a:p>
            <a:pPr marL="0" indent="0" algn="l">
              <a:spcAft>
                <a:spcPts val="100"/>
              </a:spcAft>
              <a:buNone/>
            </a:pPr>
            <a:r>
              <a:rPr sz="1800" b="1">
                <a:solidFill>
                  <a:srgbClr val="FFFFFF"/>
                </a:solidFill>
              </a:rPr>
              <a:t>System requirements</a:t>
            </a:r>
          </a:p>
          <a:p>
            <a:pPr marL="0" indent="0" algn="l">
              <a:buNone/>
            </a:pPr>
            <a:r>
              <a:rPr sz="1400" b="0">
                <a:solidFill>
                  <a:srgbClr val="FFFFFF"/>
                </a:solidFill>
              </a:rPr>
              <a:t>define overall system needs</a:t>
            </a:r>
          </a:p>
        </p:txBody>
      </p:sp>
      <p:sp>
        <p:nvSpPr>
          <p:cNvPr id="4" name="Rectangle 3"/>
          <p:cNvSpPr/>
          <p:nvPr/>
        </p:nvSpPr>
        <p:spPr>
          <a:xfrm>
            <a:off x="822960" y="2057400"/>
            <a:ext cx="4754880" cy="731520"/>
          </a:xfrm>
          <a:prstGeom prst="rect">
            <a:avLst/>
          </a:prstGeom>
          <a:solidFill>
            <a:srgbClr val="DCE6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Decompose requirements</a:t>
            </a:r>
          </a:p>
          <a:p>
            <a:pPr marL="0" indent="0" algn="l">
              <a:buNone/>
            </a:pPr>
            <a:r>
              <a:rPr sz="1400" b="0">
                <a:solidFill>
                  <a:srgbClr val="262626"/>
                </a:solidFill>
              </a:rPr>
              <a:t>break down to subsystems</a:t>
            </a:r>
          </a:p>
        </p:txBody>
      </p:sp>
      <p:sp>
        <p:nvSpPr>
          <p:cNvPr id="5" name="Rectangle 4"/>
          <p:cNvSpPr/>
          <p:nvPr/>
        </p:nvSpPr>
        <p:spPr>
          <a:xfrm>
            <a:off x="1188720" y="2926080"/>
            <a:ext cx="4754880" cy="731520"/>
          </a:xfrm>
          <a:prstGeom prst="rect">
            <a:avLst/>
          </a:prstGeom>
          <a:solidFill>
            <a:srgbClr val="DCE6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Allocate to components</a:t>
            </a:r>
          </a:p>
          <a:p>
            <a:pPr marL="0" indent="0" algn="l">
              <a:buNone/>
            </a:pPr>
            <a:r>
              <a:rPr sz="1400" b="0">
                <a:solidFill>
                  <a:srgbClr val="262626"/>
                </a:solidFill>
              </a:rPr>
              <a:t>assign tasks to components</a:t>
            </a:r>
          </a:p>
        </p:txBody>
      </p:sp>
      <p:sp>
        <p:nvSpPr>
          <p:cNvPr id="6" name="Rectangle 5"/>
          <p:cNvSpPr/>
          <p:nvPr/>
        </p:nvSpPr>
        <p:spPr>
          <a:xfrm>
            <a:off x="1554480" y="3794759"/>
            <a:ext cx="4754880" cy="731520"/>
          </a:xfrm>
          <a:prstGeom prst="rect">
            <a:avLst/>
          </a:prstGeom>
          <a:solidFill>
            <a:srgbClr val="DCE6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Component design</a:t>
            </a:r>
          </a:p>
          <a:p>
            <a:pPr marL="0" indent="0" algn="l">
              <a:buNone/>
            </a:pPr>
            <a:r>
              <a:rPr sz="1400" b="0">
                <a:solidFill>
                  <a:srgbClr val="262626"/>
                </a:solidFill>
              </a:rPr>
              <a:t>detail the design per component</a:t>
            </a:r>
          </a:p>
        </p:txBody>
      </p:sp>
      <p:sp>
        <p:nvSpPr>
          <p:cNvPr id="7" name="TextBox 6"/>
          <p:cNvSpPr txBox="1"/>
          <p:nvPr/>
        </p:nvSpPr>
        <p:spPr>
          <a:xfrm>
            <a:off x="457200" y="4754880"/>
            <a:ext cx="8229600" cy="146304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500" b="1">
                <a:solidFill>
                  <a:srgbClr val="262626"/>
                </a:solidFill>
              </a:rPr>
              <a:t>System-level requirements </a:t>
            </a:r>
            <a:r>
              <a:rPr sz="1500" b="0">
                <a:solidFill>
                  <a:srgbClr val="262626"/>
                </a:solidFill>
              </a:rPr>
              <a:t>define global goals (e.g. total weight &lt; 5 kg, accuracy &lt; 1 mm).</a:t>
            </a:r>
          </a:p>
          <a:p>
            <a:pPr marL="285750" indent="-285750" algn="l">
              <a:spcAft>
                <a:spcPts val="400"/>
              </a:spcAft>
              <a:buFont typeface="Arial"/>
              <a:buChar char="•"/>
            </a:pPr>
            <a:r>
              <a:rPr sz="1500" b="1">
                <a:solidFill>
                  <a:srgbClr val="262626"/>
                </a:solidFill>
              </a:rPr>
              <a:t>Component-level requirements </a:t>
            </a:r>
            <a:r>
              <a:rPr sz="1500" b="0">
                <a:solidFill>
                  <a:srgbClr val="262626"/>
                </a:solidFill>
              </a:rPr>
              <a:t>derive from meta-models, stiffness matrices and feasibility constraints (Krischer et al., 2024).</a:t>
            </a:r>
          </a:p>
          <a:p>
            <a:pPr marL="285750" indent="-285750" algn="l">
              <a:buFont typeface="Arial"/>
              <a:buChar char="•"/>
            </a:pPr>
            <a:r>
              <a:rPr sz="1500" b="0">
                <a:solidFill>
                  <a:srgbClr val="262626"/>
                </a:solidFill>
              </a:rPr>
              <a:t>Meta-models and active learning can estimate physical feasibility during early validation.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A Traceability Matrix</a:t>
            </a:r>
          </a:p>
        </p:txBody>
      </p:sp>
      <p:graphicFrame>
        <p:nvGraphicFramePr>
          <p:cNvPr id="3" name="Table 2"/>
          <p:cNvGraphicFramePr>
            <a:graphicFrameLocks noGrp="1"/>
          </p:cNvGraphicFramePr>
          <p:nvPr/>
        </p:nvGraphicFramePr>
        <p:xfrm>
          <a:off x="365760" y="1280160"/>
          <a:ext cx="8412478" cy="3200400"/>
        </p:xfrm>
        <a:graphic>
          <a:graphicData uri="http://schemas.openxmlformats.org/drawingml/2006/table">
            <a:tbl>
              <a:tblPr firstRow="1" bandRow="1">
                <a:tableStyleId>{5C22544A-7EE6-4342-B048-85BDC9FD1C3A}</a:tableStyleId>
              </a:tblPr>
              <a:tblGrid>
                <a:gridCol w="560832">
                  <a:extLst>
                    <a:ext uri="{9D8B030D-6E8A-4147-A177-3AD203B41FA5}">
                      <a16:colId xmlns:a16="http://schemas.microsoft.com/office/drawing/2014/main" val="20000"/>
                    </a:ext>
                  </a:extLst>
                </a:gridCol>
                <a:gridCol w="2617216">
                  <a:extLst>
                    <a:ext uri="{9D8B030D-6E8A-4147-A177-3AD203B41FA5}">
                      <a16:colId xmlns:a16="http://schemas.microsoft.com/office/drawing/2014/main" val="20001"/>
                    </a:ext>
                  </a:extLst>
                </a:gridCol>
                <a:gridCol w="2056383">
                  <a:extLst>
                    <a:ext uri="{9D8B030D-6E8A-4147-A177-3AD203B41FA5}">
                      <a16:colId xmlns:a16="http://schemas.microsoft.com/office/drawing/2014/main" val="20002"/>
                    </a:ext>
                  </a:extLst>
                </a:gridCol>
                <a:gridCol w="2056383">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tblGrid>
              <a:tr h="640080">
                <a:tc>
                  <a:txBody>
                    <a:bodyPr/>
                    <a:lstStyle/>
                    <a:p>
                      <a:pPr marL="0" indent="0">
                        <a:buNone/>
                      </a:pPr>
                      <a:r>
                        <a:rPr sz="1500" b="1">
                          <a:solidFill>
                            <a:srgbClr val="FFFFFF"/>
                          </a:solidFill>
                        </a:rPr>
                        <a:t>ID</a:t>
                      </a:r>
                    </a:p>
                  </a:txBody>
                  <a:tcPr marL="73152" marR="73152" marT="36576" marB="36576" anchor="ctr">
                    <a:solidFill>
                      <a:srgbClr val="1F497D"/>
                    </a:solidFill>
                  </a:tcPr>
                </a:tc>
                <a:tc>
                  <a:txBody>
                    <a:bodyPr/>
                    <a:lstStyle/>
                    <a:p>
                      <a:pPr marL="0" indent="0">
                        <a:buNone/>
                      </a:pPr>
                      <a:r>
                        <a:rPr sz="1500" b="1">
                          <a:solidFill>
                            <a:srgbClr val="FFFFFF"/>
                          </a:solidFill>
                        </a:rPr>
                        <a:t>Requirement</a:t>
                      </a:r>
                    </a:p>
                  </a:txBody>
                  <a:tcPr marL="73152" marR="73152" marT="36576" marB="36576" anchor="ctr">
                    <a:solidFill>
                      <a:srgbClr val="1F497D"/>
                    </a:solidFill>
                  </a:tcPr>
                </a:tc>
                <a:tc>
                  <a:txBody>
                    <a:bodyPr/>
                    <a:lstStyle/>
                    <a:p>
                      <a:pPr marL="0" indent="0">
                        <a:buNone/>
                      </a:pPr>
                      <a:r>
                        <a:rPr sz="1500" b="1">
                          <a:solidFill>
                            <a:srgbClr val="FFFFFF"/>
                          </a:solidFill>
                        </a:rPr>
                        <a:t>Design element</a:t>
                      </a:r>
                    </a:p>
                  </a:txBody>
                  <a:tcPr marL="73152" marR="73152" marT="36576" marB="36576" anchor="ctr">
                    <a:solidFill>
                      <a:srgbClr val="1F497D"/>
                    </a:solidFill>
                  </a:tcPr>
                </a:tc>
                <a:tc>
                  <a:txBody>
                    <a:bodyPr/>
                    <a:lstStyle/>
                    <a:p>
                      <a:pPr marL="0" indent="0">
                        <a:buNone/>
                      </a:pPr>
                      <a:r>
                        <a:rPr sz="1500" b="1">
                          <a:solidFill>
                            <a:srgbClr val="FFFFFF"/>
                          </a:solidFill>
                        </a:rPr>
                        <a:t>Test case</a:t>
                      </a:r>
                    </a:p>
                  </a:txBody>
                  <a:tcPr marL="73152" marR="73152" marT="36576" marB="36576" anchor="ctr">
                    <a:solidFill>
                      <a:srgbClr val="1F497D"/>
                    </a:solidFill>
                  </a:tcPr>
                </a:tc>
                <a:tc>
                  <a:txBody>
                    <a:bodyPr/>
                    <a:lstStyle/>
                    <a:p>
                      <a:pPr marL="0" indent="0">
                        <a:buNone/>
                      </a:pPr>
                      <a:r>
                        <a:rPr sz="1500" b="1">
                          <a:solidFill>
                            <a:srgbClr val="FFFFFF"/>
                          </a:solidFill>
                        </a:rPr>
                        <a:t>Status</a:t>
                      </a:r>
                    </a:p>
                  </a:txBody>
                  <a:tcPr marL="73152" marR="73152" marT="36576" marB="36576" anchor="ctr">
                    <a:solidFill>
                      <a:srgbClr val="1F497D"/>
                    </a:solidFill>
                  </a:tcPr>
                </a:tc>
                <a:extLst>
                  <a:ext uri="{0D108BD9-81ED-4DB2-BD59-A6C34878D82A}">
                    <a16:rowId xmlns:a16="http://schemas.microsoft.com/office/drawing/2014/main" val="10000"/>
                  </a:ext>
                </a:extLst>
              </a:tr>
              <a:tr h="640080">
                <a:tc>
                  <a:txBody>
                    <a:bodyPr/>
                    <a:lstStyle/>
                    <a:p>
                      <a:pPr marL="0" indent="0">
                        <a:buNone/>
                      </a:pPr>
                      <a:r>
                        <a:rPr sz="1500" b="1">
                          <a:solidFill>
                            <a:srgbClr val="262626"/>
                          </a:solidFill>
                        </a:rPr>
                        <a:t>R1</a:t>
                      </a:r>
                    </a:p>
                  </a:txBody>
                  <a:tcPr marL="73152" marR="73152" marT="36576" marB="36576" anchor="ctr">
                    <a:solidFill>
                      <a:srgbClr val="DCE6F2"/>
                    </a:solidFill>
                  </a:tcPr>
                </a:tc>
                <a:tc>
                  <a:txBody>
                    <a:bodyPr/>
                    <a:lstStyle/>
                    <a:p>
                      <a:pPr marL="0" indent="0">
                        <a:buNone/>
                      </a:pPr>
                      <a:r>
                        <a:rPr sz="1500" b="0">
                          <a:solidFill>
                            <a:srgbClr val="262626"/>
                          </a:solidFill>
                        </a:rPr>
                        <a:t>Show room temperature</a:t>
                      </a:r>
                    </a:p>
                  </a:txBody>
                  <a:tcPr marL="73152" marR="73152" marT="36576" marB="36576" anchor="ctr">
                    <a:solidFill>
                      <a:srgbClr val="FFFFFF"/>
                    </a:solidFill>
                  </a:tcPr>
                </a:tc>
                <a:tc>
                  <a:txBody>
                    <a:bodyPr/>
                    <a:lstStyle/>
                    <a:p>
                      <a:pPr marL="0" indent="0">
                        <a:buNone/>
                      </a:pPr>
                      <a:r>
                        <a:rPr sz="1500" b="0">
                          <a:solidFill>
                            <a:srgbClr val="262626"/>
                          </a:solidFill>
                        </a:rPr>
                        <a:t>Dashboard widget</a:t>
                      </a:r>
                    </a:p>
                  </a:txBody>
                  <a:tcPr marL="73152" marR="73152" marT="36576" marB="36576" anchor="ctr">
                    <a:solidFill>
                      <a:srgbClr val="FFFFFF"/>
                    </a:solidFill>
                  </a:tcPr>
                </a:tc>
                <a:tc>
                  <a:txBody>
                    <a:bodyPr/>
                    <a:lstStyle/>
                    <a:p>
                      <a:pPr marL="0" indent="0">
                        <a:buNone/>
                      </a:pPr>
                      <a:r>
                        <a:rPr sz="1500" b="0">
                          <a:solidFill>
                            <a:srgbClr val="262626"/>
                          </a:solidFill>
                        </a:rPr>
                        <a:t>T-01 display test</a:t>
                      </a:r>
                    </a:p>
                  </a:txBody>
                  <a:tcPr marL="73152" marR="73152" marT="36576" marB="36576" anchor="ctr">
                    <a:solidFill>
                      <a:srgbClr val="FFFFFF"/>
                    </a:solidFill>
                  </a:tcPr>
                </a:tc>
                <a:tc>
                  <a:txBody>
                    <a:bodyPr/>
                    <a:lstStyle/>
                    <a:p>
                      <a:pPr marL="0" indent="0">
                        <a:buNone/>
                      </a:pPr>
                      <a:r>
                        <a:rPr sz="1500" b="0">
                          <a:solidFill>
                            <a:srgbClr val="262626"/>
                          </a:solidFill>
                        </a:rPr>
                        <a:t>Passed</a:t>
                      </a:r>
                    </a:p>
                  </a:txBody>
                  <a:tcPr marL="73152" marR="73152" marT="36576" marB="36576" anchor="ctr">
                    <a:solidFill>
                      <a:srgbClr val="FFFFFF"/>
                    </a:solidFill>
                  </a:tcPr>
                </a:tc>
                <a:extLst>
                  <a:ext uri="{0D108BD9-81ED-4DB2-BD59-A6C34878D82A}">
                    <a16:rowId xmlns:a16="http://schemas.microsoft.com/office/drawing/2014/main" val="10001"/>
                  </a:ext>
                </a:extLst>
              </a:tr>
              <a:tr h="640080">
                <a:tc>
                  <a:txBody>
                    <a:bodyPr/>
                    <a:lstStyle/>
                    <a:p>
                      <a:pPr marL="0" indent="0">
                        <a:buNone/>
                      </a:pPr>
                      <a:r>
                        <a:rPr sz="1500" b="1">
                          <a:solidFill>
                            <a:srgbClr val="262626"/>
                          </a:solidFill>
                        </a:rPr>
                        <a:t>R2</a:t>
                      </a:r>
                    </a:p>
                  </a:txBody>
                  <a:tcPr marL="73152" marR="73152" marT="36576" marB="36576" anchor="ctr">
                    <a:solidFill>
                      <a:srgbClr val="DCE6F2"/>
                    </a:solidFill>
                  </a:tcPr>
                </a:tc>
                <a:tc>
                  <a:txBody>
                    <a:bodyPr/>
                    <a:lstStyle/>
                    <a:p>
                      <a:pPr marL="0" indent="0">
                        <a:buNone/>
                      </a:pPr>
                      <a:r>
                        <a:rPr sz="1500" b="0">
                          <a:solidFill>
                            <a:srgbClr val="262626"/>
                          </a:solidFill>
                        </a:rPr>
                        <a:t>Update within 2 s (95%)</a:t>
                      </a:r>
                    </a:p>
                  </a:txBody>
                  <a:tcPr marL="73152" marR="73152" marT="36576" marB="36576" anchor="ctr">
                    <a:solidFill>
                      <a:srgbClr val="F2F2F2"/>
                    </a:solidFill>
                  </a:tcPr>
                </a:tc>
                <a:tc>
                  <a:txBody>
                    <a:bodyPr/>
                    <a:lstStyle/>
                    <a:p>
                      <a:pPr marL="0" indent="0">
                        <a:buNone/>
                      </a:pPr>
                      <a:r>
                        <a:rPr sz="1500" b="0">
                          <a:solidFill>
                            <a:srgbClr val="262626"/>
                          </a:solidFill>
                        </a:rPr>
                        <a:t>Backend queue</a:t>
                      </a:r>
                    </a:p>
                  </a:txBody>
                  <a:tcPr marL="73152" marR="73152" marT="36576" marB="36576" anchor="ctr">
                    <a:solidFill>
                      <a:srgbClr val="F2F2F2"/>
                    </a:solidFill>
                  </a:tcPr>
                </a:tc>
                <a:tc>
                  <a:txBody>
                    <a:bodyPr/>
                    <a:lstStyle/>
                    <a:p>
                      <a:pPr marL="0" indent="0">
                        <a:buNone/>
                      </a:pPr>
                      <a:r>
                        <a:rPr sz="1500" b="0">
                          <a:solidFill>
                            <a:srgbClr val="262626"/>
                          </a:solidFill>
                        </a:rPr>
                        <a:t>T-07 load test</a:t>
                      </a:r>
                    </a:p>
                  </a:txBody>
                  <a:tcPr marL="73152" marR="73152" marT="36576" marB="36576" anchor="ctr">
                    <a:solidFill>
                      <a:srgbClr val="F2F2F2"/>
                    </a:solidFill>
                  </a:tcPr>
                </a:tc>
                <a:tc>
                  <a:txBody>
                    <a:bodyPr/>
                    <a:lstStyle/>
                    <a:p>
                      <a:pPr marL="0" indent="0">
                        <a:buNone/>
                      </a:pPr>
                      <a:r>
                        <a:rPr sz="1500" b="0">
                          <a:solidFill>
                            <a:srgbClr val="262626"/>
                          </a:solidFill>
                        </a:rPr>
                        <a:t>Failing</a:t>
                      </a:r>
                    </a:p>
                  </a:txBody>
                  <a:tcPr marL="73152" marR="73152" marT="36576" marB="36576" anchor="ctr">
                    <a:solidFill>
                      <a:srgbClr val="F2F2F2"/>
                    </a:solidFill>
                  </a:tcPr>
                </a:tc>
                <a:extLst>
                  <a:ext uri="{0D108BD9-81ED-4DB2-BD59-A6C34878D82A}">
                    <a16:rowId xmlns:a16="http://schemas.microsoft.com/office/drawing/2014/main" val="10002"/>
                  </a:ext>
                </a:extLst>
              </a:tr>
              <a:tr h="640080">
                <a:tc>
                  <a:txBody>
                    <a:bodyPr/>
                    <a:lstStyle/>
                    <a:p>
                      <a:pPr marL="0" indent="0">
                        <a:buNone/>
                      </a:pPr>
                      <a:r>
                        <a:rPr sz="1500" b="1">
                          <a:solidFill>
                            <a:srgbClr val="262626"/>
                          </a:solidFill>
                        </a:rPr>
                        <a:t>R3</a:t>
                      </a:r>
                    </a:p>
                  </a:txBody>
                  <a:tcPr marL="73152" marR="73152" marT="36576" marB="36576" anchor="ctr">
                    <a:solidFill>
                      <a:srgbClr val="DCE6F2"/>
                    </a:solidFill>
                  </a:tcPr>
                </a:tc>
                <a:tc>
                  <a:txBody>
                    <a:bodyPr/>
                    <a:lstStyle/>
                    <a:p>
                      <a:pPr marL="0" indent="0">
                        <a:buNone/>
                      </a:pPr>
                      <a:r>
                        <a:rPr sz="1500" b="0">
                          <a:solidFill>
                            <a:srgbClr val="262626"/>
                          </a:solidFill>
                        </a:rPr>
                        <a:t>Sensor accuracy ±0.5 °C</a:t>
                      </a:r>
                    </a:p>
                  </a:txBody>
                  <a:tcPr marL="73152" marR="73152" marT="36576" marB="36576" anchor="ctr">
                    <a:solidFill>
                      <a:srgbClr val="FFFFFF"/>
                    </a:solidFill>
                  </a:tcPr>
                </a:tc>
                <a:tc>
                  <a:txBody>
                    <a:bodyPr/>
                    <a:lstStyle/>
                    <a:p>
                      <a:pPr marL="0" indent="0">
                        <a:buNone/>
                      </a:pPr>
                      <a:r>
                        <a:rPr sz="1500" b="0">
                          <a:solidFill>
                            <a:srgbClr val="262626"/>
                          </a:solidFill>
                        </a:rPr>
                        <a:t>Sensor node ADC</a:t>
                      </a:r>
                    </a:p>
                  </a:txBody>
                  <a:tcPr marL="73152" marR="73152" marT="36576" marB="36576" anchor="ctr">
                    <a:solidFill>
                      <a:srgbClr val="FFFFFF"/>
                    </a:solidFill>
                  </a:tcPr>
                </a:tc>
                <a:tc>
                  <a:txBody>
                    <a:bodyPr/>
                    <a:lstStyle/>
                    <a:p>
                      <a:pPr marL="0" indent="0">
                        <a:buNone/>
                      </a:pPr>
                      <a:r>
                        <a:rPr sz="1500" b="0">
                          <a:solidFill>
                            <a:srgbClr val="262626"/>
                          </a:solidFill>
                        </a:rPr>
                        <a:t>T-12 calibration</a:t>
                      </a:r>
                    </a:p>
                  </a:txBody>
                  <a:tcPr marL="73152" marR="73152" marT="36576" marB="36576" anchor="ctr">
                    <a:solidFill>
                      <a:srgbClr val="FFFFFF"/>
                    </a:solidFill>
                  </a:tcPr>
                </a:tc>
                <a:tc>
                  <a:txBody>
                    <a:bodyPr/>
                    <a:lstStyle/>
                    <a:p>
                      <a:pPr marL="0" indent="0">
                        <a:buNone/>
                      </a:pPr>
                      <a:r>
                        <a:rPr sz="1500" b="0">
                          <a:solidFill>
                            <a:srgbClr val="262626"/>
                          </a:solidFill>
                        </a:rPr>
                        <a:t>Passed</a:t>
                      </a:r>
                    </a:p>
                  </a:txBody>
                  <a:tcPr marL="73152" marR="73152" marT="36576" marB="36576" anchor="ctr">
                    <a:solidFill>
                      <a:srgbClr val="FFFFFF"/>
                    </a:solidFill>
                  </a:tcPr>
                </a:tc>
                <a:extLst>
                  <a:ext uri="{0D108BD9-81ED-4DB2-BD59-A6C34878D82A}">
                    <a16:rowId xmlns:a16="http://schemas.microsoft.com/office/drawing/2014/main" val="10003"/>
                  </a:ext>
                </a:extLst>
              </a:tr>
              <a:tr h="640080">
                <a:tc>
                  <a:txBody>
                    <a:bodyPr/>
                    <a:lstStyle/>
                    <a:p>
                      <a:pPr marL="0" indent="0">
                        <a:buNone/>
                      </a:pPr>
                      <a:r>
                        <a:rPr sz="1500" b="1">
                          <a:solidFill>
                            <a:srgbClr val="262626"/>
                          </a:solidFill>
                        </a:rPr>
                        <a:t>R4</a:t>
                      </a:r>
                    </a:p>
                  </a:txBody>
                  <a:tcPr marL="73152" marR="73152" marT="36576" marB="36576" anchor="ctr">
                    <a:solidFill>
                      <a:srgbClr val="DCE6F2"/>
                    </a:solidFill>
                  </a:tcPr>
                </a:tc>
                <a:tc>
                  <a:txBody>
                    <a:bodyPr/>
                    <a:lstStyle/>
                    <a:p>
                      <a:pPr marL="0" indent="0">
                        <a:buNone/>
                      </a:pPr>
                      <a:r>
                        <a:rPr sz="1500" b="0">
                          <a:solidFill>
                            <a:srgbClr val="262626"/>
                          </a:solidFill>
                        </a:rPr>
                        <a:t>Data encrypted in transit</a:t>
                      </a:r>
                    </a:p>
                  </a:txBody>
                  <a:tcPr marL="73152" marR="73152" marT="36576" marB="36576" anchor="ctr">
                    <a:solidFill>
                      <a:srgbClr val="F2F2F2"/>
                    </a:solidFill>
                  </a:tcPr>
                </a:tc>
                <a:tc>
                  <a:txBody>
                    <a:bodyPr/>
                    <a:lstStyle/>
                    <a:p>
                      <a:pPr marL="0" indent="0">
                        <a:buNone/>
                      </a:pPr>
                      <a:r>
                        <a:rPr sz="1500" b="0">
                          <a:solidFill>
                            <a:srgbClr val="262626"/>
                          </a:solidFill>
                        </a:rPr>
                        <a:t>TLS gateway</a:t>
                      </a:r>
                    </a:p>
                  </a:txBody>
                  <a:tcPr marL="73152" marR="73152" marT="36576" marB="36576" anchor="ctr">
                    <a:solidFill>
                      <a:srgbClr val="F2F2F2"/>
                    </a:solidFill>
                  </a:tcPr>
                </a:tc>
                <a:tc>
                  <a:txBody>
                    <a:bodyPr/>
                    <a:lstStyle/>
                    <a:p>
                      <a:pPr marL="0" indent="0">
                        <a:buNone/>
                      </a:pPr>
                      <a:r>
                        <a:rPr sz="1500" b="0">
                          <a:solidFill>
                            <a:srgbClr val="262626"/>
                          </a:solidFill>
                        </a:rPr>
                        <a:t>T-15 security scan</a:t>
                      </a:r>
                    </a:p>
                  </a:txBody>
                  <a:tcPr marL="73152" marR="73152" marT="36576" marB="36576" anchor="ctr">
                    <a:solidFill>
                      <a:srgbClr val="F2F2F2"/>
                    </a:solidFill>
                  </a:tcPr>
                </a:tc>
                <a:tc>
                  <a:txBody>
                    <a:bodyPr/>
                    <a:lstStyle/>
                    <a:p>
                      <a:pPr marL="0" indent="0">
                        <a:buNone/>
                      </a:pPr>
                      <a:r>
                        <a:rPr sz="1500" b="0">
                          <a:solidFill>
                            <a:srgbClr val="262626"/>
                          </a:solidFill>
                        </a:rPr>
                        <a:t>Not run</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4" name="Rectangle 3"/>
          <p:cNvSpPr/>
          <p:nvPr/>
        </p:nvSpPr>
        <p:spPr>
          <a:xfrm>
            <a:off x="457200" y="4754880"/>
            <a:ext cx="8229600" cy="1280160"/>
          </a:xfrm>
          <a:prstGeom prst="rect">
            <a:avLst/>
          </a:prstGeom>
          <a:solidFill>
            <a:srgbClr val="DCE6F2"/>
          </a:solidFill>
          <a:ln>
            <a:noFill/>
          </a:ln>
          <a:effectLst/>
        </p:spPr>
        <p:txBody>
          <a:bodyPr wrap="square" lIns="182880" tIns="54864" rIns="182880" bIns="54864" rtlCol="0" anchor="ctr"/>
          <a:lstStyle/>
          <a:p>
            <a:pPr marL="0" indent="0" algn="l">
              <a:buNone/>
            </a:pPr>
            <a:r>
              <a:rPr sz="1700" b="0">
                <a:solidFill>
                  <a:srgbClr val="262626"/>
                </a:solidFill>
              </a:rPr>
              <a:t>Each requirement is accounted for and supports impact analysis: if R2 changes, we can see which design element and test are affected.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02DFA9-1A7F-384F-9364-52518B21DDA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27731</TotalTime>
  <Words>2979</Words>
  <Application>Microsoft Macintosh PowerPoint</Application>
  <PresentationFormat>On-screen Show (4:3)</PresentationFormat>
  <Paragraphs>354</Paragraphs>
  <Slides>22</Slides>
  <Notes>22</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AICE2005 - Systematic Design  Gathering and Validating Requirements</vt:lpstr>
      <vt:lpstr>Week Overview</vt:lpstr>
      <vt:lpstr>PowerPoint Presentation</vt:lpstr>
      <vt:lpstr>Recap: Lecture 1</vt:lpstr>
      <vt:lpstr>Lecture 2 Overview</vt:lpstr>
      <vt:lpstr>The Requirements Lifecycle</vt:lpstr>
      <vt:lpstr>Stakeholders and Sources</vt:lpstr>
      <vt:lpstr>Case Study: Child-Monitoring Duck</vt:lpstr>
      <vt:lpstr>Mapping Stakeholders: Power and Interest</vt:lpstr>
      <vt:lpstr>Elicitation Techniques</vt:lpstr>
      <vt:lpstr>Asking Good Questions</vt:lpstr>
      <vt:lpstr>Exercise: Which technique?</vt:lpstr>
      <vt:lpstr>Which technique? Discussion</vt:lpstr>
      <vt:lpstr>Validating Requirements</vt:lpstr>
      <vt:lpstr>Validation Techniques</vt:lpstr>
      <vt:lpstr>Conflicts and Prioritisation</vt:lpstr>
      <vt:lpstr>Duck: How We Gather and Validate</vt:lpstr>
      <vt:lpstr>Security and Ethics Are Requirements Too</vt:lpstr>
      <vt:lpstr>Summary and What's Next</vt:lpstr>
      <vt:lpstr>Appendix: Why Requirements Matter</vt:lpstr>
      <vt:lpstr>Appendix: Requirements in Multi-Component Systems</vt:lpstr>
      <vt:lpstr>Appendix: A Traceability Matrix</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Asieh Salehi Fathabadi</cp:lastModifiedBy>
  <cp:revision>51</cp:revision>
  <dcterms:created xsi:type="dcterms:W3CDTF">2013-01-27T09:14:16Z</dcterms:created>
  <dcterms:modified xsi:type="dcterms:W3CDTF">2026-09-21T19:00:44Z</dcterms:modified>
  <cp:category/>
</cp:coreProperties>
</file>