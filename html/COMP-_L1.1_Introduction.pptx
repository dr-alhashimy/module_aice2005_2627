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2454120"/>
            <a:ext cx="897408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Welcome to Systematic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3349440"/>
            <a:ext cx="27331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 txBox="1"/>
          <p:nvPr/>
        </p:nvSpPr>
        <p:spPr>
          <a:xfrm>
            <a:off x="2625840" y="2832480"/>
            <a:ext cx="183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Nawfal Al Hashimy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25840" y="3137400"/>
            <a:ext cx="1955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969da"/>
                </a:solidFill>
                <a:effectLst/>
                <a:uFillTx/>
                <a:latin typeface="LucidaGrande"/>
                <a:ea typeface="LucidaGrande"/>
              </a:rPr>
              <a:t>nawfal@soton.ac.uk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5991120" y="2800440"/>
            <a:ext cx="1771200" cy="17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 txBox="1"/>
          <p:nvPr/>
        </p:nvSpPr>
        <p:spPr>
          <a:xfrm>
            <a:off x="2625840" y="3441960"/>
            <a:ext cx="326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Lectures, Assignment Workshops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855920" y="2832480"/>
            <a:ext cx="2206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Asieh Salehi Fathabadi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855920" y="3137400"/>
            <a:ext cx="3174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969da"/>
                </a:solidFill>
                <a:effectLst/>
                <a:uFillTx/>
                <a:latin typeface="LucidaGrande"/>
                <a:ea typeface="LucidaGrande"/>
              </a:rPr>
              <a:t>A.Salehi-Fathabadi@soton.ac.uk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855920" y="3441960"/>
            <a:ext cx="356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Lectures, Formal Methods workshop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" name="" descr=""/>
          <p:cNvPicPr/>
          <p:nvPr/>
        </p:nvPicPr>
        <p:blipFill>
          <a:blip r:embed="rId3"/>
          <a:stretch/>
        </p:blipFill>
        <p:spPr>
          <a:xfrm>
            <a:off x="758880" y="2786040"/>
            <a:ext cx="1779840" cy="178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762120" y="2765880"/>
            <a:ext cx="993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goal of this module is to give students an overview of the theory and methods for designing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62120" y="3070440"/>
            <a:ext cx="424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delivering large multi-component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62120" y="3527640"/>
            <a:ext cx="9783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There will be a particular emphasis on systems which combine requirements and functionality from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62120" y="3832560"/>
            <a:ext cx="1024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learning, software, and hardware, and the ways in which the boundaries between them can be identiﬁed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62120" y="4127760"/>
            <a:ext cx="140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managed.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62120" y="4584960"/>
            <a:ext cx="9848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module provides preparatory tools and techniques for the group project module in semester 2.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62120" y="372600"/>
            <a:ext cx="7284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Purpose of this Module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/>
          <p:nvPr/>
        </p:nvSpPr>
        <p:spPr>
          <a:xfrm>
            <a:off x="761760" y="1380960"/>
            <a:ext cx="10668240" cy="5477040"/>
          </a:xfrm>
          <a:custGeom>
            <a:avLst/>
            <a:gdLst/>
            <a:ahLst/>
            <a:rect l="0" t="0" r="r" b="b"/>
            <a:pathLst>
              <a:path w="29634" h="15214">
                <a:moveTo>
                  <a:pt x="0" y="0"/>
                </a:moveTo>
                <a:lnTo>
                  <a:pt x="29634" y="0"/>
                </a:lnTo>
                <a:lnTo>
                  <a:pt x="29634" y="15214"/>
                </a:lnTo>
                <a:lnTo>
                  <a:pt x="0" y="152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5753160" y="468612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62120" y="372600"/>
            <a:ext cx="35420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Motiviation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66440" y="1500120"/>
            <a:ext cx="5943960" cy="2276640"/>
          </a:xfrm>
          <a:custGeom>
            <a:avLst/>
            <a:gdLst/>
            <a:ahLst/>
            <a:rect l="0" t="0" r="r" b="b"/>
            <a:pathLst>
              <a:path w="16511" h="6324">
                <a:moveTo>
                  <a:pt x="0" y="61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6366" y="0"/>
                </a:lnTo>
                <a:cubicBezTo>
                  <a:pt x="16375" y="0"/>
                  <a:pt x="16385" y="1"/>
                  <a:pt x="16394" y="2"/>
                </a:cubicBezTo>
                <a:cubicBezTo>
                  <a:pt x="16404" y="4"/>
                  <a:pt x="16413" y="7"/>
                  <a:pt x="16422" y="11"/>
                </a:cubicBezTo>
                <a:cubicBezTo>
                  <a:pt x="16430" y="14"/>
                  <a:pt x="16439" y="19"/>
                  <a:pt x="16447" y="24"/>
                </a:cubicBezTo>
                <a:cubicBezTo>
                  <a:pt x="16455" y="30"/>
                  <a:pt x="16462" y="36"/>
                  <a:pt x="16469" y="42"/>
                </a:cubicBezTo>
                <a:cubicBezTo>
                  <a:pt x="16476" y="49"/>
                  <a:pt x="16482" y="56"/>
                  <a:pt x="16487" y="64"/>
                </a:cubicBezTo>
                <a:cubicBezTo>
                  <a:pt x="16492" y="72"/>
                  <a:pt x="16497" y="81"/>
                  <a:pt x="16500" y="90"/>
                </a:cubicBezTo>
                <a:cubicBezTo>
                  <a:pt x="16504" y="98"/>
                  <a:pt x="16507" y="107"/>
                  <a:pt x="16509" y="117"/>
                </a:cubicBezTo>
                <a:cubicBezTo>
                  <a:pt x="16510" y="126"/>
                  <a:pt x="16511" y="136"/>
                  <a:pt x="16511" y="145"/>
                </a:cubicBezTo>
                <a:lnTo>
                  <a:pt x="16511" y="6179"/>
                </a:lnTo>
                <a:cubicBezTo>
                  <a:pt x="16511" y="6188"/>
                  <a:pt x="16510" y="6198"/>
                  <a:pt x="16509" y="6207"/>
                </a:cubicBezTo>
                <a:cubicBezTo>
                  <a:pt x="16507" y="6216"/>
                  <a:pt x="16504" y="6226"/>
                  <a:pt x="16500" y="6234"/>
                </a:cubicBezTo>
                <a:cubicBezTo>
                  <a:pt x="16497" y="6243"/>
                  <a:pt x="16492" y="6252"/>
                  <a:pt x="16487" y="6260"/>
                </a:cubicBezTo>
                <a:cubicBezTo>
                  <a:pt x="16482" y="6267"/>
                  <a:pt x="16476" y="6275"/>
                  <a:pt x="16469" y="6282"/>
                </a:cubicBezTo>
                <a:cubicBezTo>
                  <a:pt x="16462" y="6288"/>
                  <a:pt x="16455" y="6294"/>
                  <a:pt x="16447" y="6300"/>
                </a:cubicBezTo>
                <a:cubicBezTo>
                  <a:pt x="16439" y="6305"/>
                  <a:pt x="16430" y="6309"/>
                  <a:pt x="16422" y="6313"/>
                </a:cubicBezTo>
                <a:cubicBezTo>
                  <a:pt x="16413" y="6317"/>
                  <a:pt x="16404" y="6320"/>
                  <a:pt x="16394" y="6321"/>
                </a:cubicBezTo>
                <a:cubicBezTo>
                  <a:pt x="16385" y="6323"/>
                  <a:pt x="16375" y="6324"/>
                  <a:pt x="16366" y="6324"/>
                </a:cubicBezTo>
                <a:lnTo>
                  <a:pt x="146" y="6324"/>
                </a:lnTo>
                <a:cubicBezTo>
                  <a:pt x="136" y="6324"/>
                  <a:pt x="127" y="6323"/>
                  <a:pt x="118" y="6321"/>
                </a:cubicBezTo>
                <a:cubicBezTo>
                  <a:pt x="108" y="6320"/>
                  <a:pt x="99" y="6317"/>
                  <a:pt x="90" y="6313"/>
                </a:cubicBezTo>
                <a:cubicBezTo>
                  <a:pt x="81" y="6309"/>
                  <a:pt x="73" y="6305"/>
                  <a:pt x="65" y="6300"/>
                </a:cubicBezTo>
                <a:cubicBezTo>
                  <a:pt x="57" y="6294"/>
                  <a:pt x="50" y="6288"/>
                  <a:pt x="43" y="6282"/>
                </a:cubicBezTo>
                <a:cubicBezTo>
                  <a:pt x="36" y="6275"/>
                  <a:pt x="30" y="6267"/>
                  <a:pt x="25" y="6260"/>
                </a:cubicBezTo>
                <a:cubicBezTo>
                  <a:pt x="20" y="6252"/>
                  <a:pt x="15" y="6243"/>
                  <a:pt x="11" y="6234"/>
                </a:cubicBezTo>
                <a:cubicBezTo>
                  <a:pt x="8" y="6226"/>
                  <a:pt x="5" y="6216"/>
                  <a:pt x="3" y="6207"/>
                </a:cubicBezTo>
                <a:cubicBezTo>
                  <a:pt x="1" y="6198"/>
                  <a:pt x="0" y="6188"/>
                  <a:pt x="0" y="617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766440" y="1500120"/>
            <a:ext cx="5943960" cy="2276640"/>
          </a:xfrm>
          <a:custGeom>
            <a:avLst/>
            <a:gdLst/>
            <a:ahLst/>
            <a:rect l="0" t="0" r="r" b="b"/>
            <a:pathLst>
              <a:path fill="none" w="16511" h="6324">
                <a:moveTo>
                  <a:pt x="0" y="61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6366" y="0"/>
                </a:lnTo>
                <a:cubicBezTo>
                  <a:pt x="16375" y="0"/>
                  <a:pt x="16385" y="1"/>
                  <a:pt x="16394" y="2"/>
                </a:cubicBezTo>
                <a:cubicBezTo>
                  <a:pt x="16404" y="4"/>
                  <a:pt x="16413" y="7"/>
                  <a:pt x="16422" y="11"/>
                </a:cubicBezTo>
                <a:cubicBezTo>
                  <a:pt x="16430" y="14"/>
                  <a:pt x="16439" y="19"/>
                  <a:pt x="16447" y="24"/>
                </a:cubicBezTo>
                <a:cubicBezTo>
                  <a:pt x="16455" y="30"/>
                  <a:pt x="16462" y="36"/>
                  <a:pt x="16469" y="42"/>
                </a:cubicBezTo>
                <a:cubicBezTo>
                  <a:pt x="16476" y="49"/>
                  <a:pt x="16482" y="56"/>
                  <a:pt x="16487" y="64"/>
                </a:cubicBezTo>
                <a:cubicBezTo>
                  <a:pt x="16492" y="72"/>
                  <a:pt x="16497" y="81"/>
                  <a:pt x="16500" y="90"/>
                </a:cubicBezTo>
                <a:cubicBezTo>
                  <a:pt x="16504" y="98"/>
                  <a:pt x="16507" y="107"/>
                  <a:pt x="16509" y="117"/>
                </a:cubicBezTo>
                <a:cubicBezTo>
                  <a:pt x="16510" y="126"/>
                  <a:pt x="16511" y="136"/>
                  <a:pt x="16511" y="145"/>
                </a:cubicBezTo>
                <a:lnTo>
                  <a:pt x="16511" y="6179"/>
                </a:lnTo>
                <a:cubicBezTo>
                  <a:pt x="16511" y="6188"/>
                  <a:pt x="16510" y="6198"/>
                  <a:pt x="16509" y="6207"/>
                </a:cubicBezTo>
                <a:cubicBezTo>
                  <a:pt x="16507" y="6216"/>
                  <a:pt x="16504" y="6226"/>
                  <a:pt x="16500" y="6234"/>
                </a:cubicBezTo>
                <a:cubicBezTo>
                  <a:pt x="16497" y="6243"/>
                  <a:pt x="16492" y="6252"/>
                  <a:pt x="16487" y="6260"/>
                </a:cubicBezTo>
                <a:cubicBezTo>
                  <a:pt x="16482" y="6267"/>
                  <a:pt x="16476" y="6275"/>
                  <a:pt x="16469" y="6282"/>
                </a:cubicBezTo>
                <a:cubicBezTo>
                  <a:pt x="16462" y="6288"/>
                  <a:pt x="16455" y="6294"/>
                  <a:pt x="16447" y="6300"/>
                </a:cubicBezTo>
                <a:cubicBezTo>
                  <a:pt x="16439" y="6305"/>
                  <a:pt x="16430" y="6309"/>
                  <a:pt x="16422" y="6313"/>
                </a:cubicBezTo>
                <a:cubicBezTo>
                  <a:pt x="16413" y="6317"/>
                  <a:pt x="16404" y="6320"/>
                  <a:pt x="16394" y="6321"/>
                </a:cubicBezTo>
                <a:cubicBezTo>
                  <a:pt x="16385" y="6323"/>
                  <a:pt x="16375" y="6324"/>
                  <a:pt x="16366" y="6324"/>
                </a:cubicBezTo>
                <a:lnTo>
                  <a:pt x="146" y="6324"/>
                </a:lnTo>
                <a:cubicBezTo>
                  <a:pt x="136" y="6324"/>
                  <a:pt x="127" y="6323"/>
                  <a:pt x="118" y="6321"/>
                </a:cubicBezTo>
                <a:cubicBezTo>
                  <a:pt x="108" y="6320"/>
                  <a:pt x="99" y="6317"/>
                  <a:pt x="90" y="6313"/>
                </a:cubicBezTo>
                <a:cubicBezTo>
                  <a:pt x="81" y="6309"/>
                  <a:pt x="73" y="6305"/>
                  <a:pt x="65" y="6300"/>
                </a:cubicBezTo>
                <a:cubicBezTo>
                  <a:pt x="57" y="6294"/>
                  <a:pt x="50" y="6288"/>
                  <a:pt x="43" y="6282"/>
                </a:cubicBezTo>
                <a:cubicBezTo>
                  <a:pt x="36" y="6275"/>
                  <a:pt x="30" y="6267"/>
                  <a:pt x="25" y="6260"/>
                </a:cubicBezTo>
                <a:cubicBezTo>
                  <a:pt x="20" y="6252"/>
                  <a:pt x="15" y="6243"/>
                  <a:pt x="11" y="6234"/>
                </a:cubicBezTo>
                <a:cubicBezTo>
                  <a:pt x="8" y="6226"/>
                  <a:pt x="5" y="6216"/>
                  <a:pt x="3" y="6207"/>
                </a:cubicBezTo>
                <a:cubicBezTo>
                  <a:pt x="1" y="6198"/>
                  <a:pt x="0" y="6188"/>
                  <a:pt x="0" y="617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104840" y="2199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62120" y="372600"/>
            <a:ext cx="2608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Syllabus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104840" y="2514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289520" y="2109240"/>
            <a:ext cx="3940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Functional and non-functional requirements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104840" y="2838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289520" y="2423520"/>
            <a:ext cx="2136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Requirements gathering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942840" y="171432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037880" y="177156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289520" y="2747160"/>
            <a:ext cx="1745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architecture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6814800" y="1500120"/>
            <a:ext cx="4610520" cy="2276640"/>
          </a:xfrm>
          <a:custGeom>
            <a:avLst/>
            <a:gdLst/>
            <a:ahLst/>
            <a:rect l="0" t="0" r="r" b="b"/>
            <a:pathLst>
              <a:path w="12807" h="6324">
                <a:moveTo>
                  <a:pt x="0" y="61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2662" y="0"/>
                </a:lnTo>
                <a:cubicBezTo>
                  <a:pt x="12671" y="0"/>
                  <a:pt x="12681" y="1"/>
                  <a:pt x="12690" y="2"/>
                </a:cubicBezTo>
                <a:cubicBezTo>
                  <a:pt x="12700" y="4"/>
                  <a:pt x="12709" y="7"/>
                  <a:pt x="12717" y="11"/>
                </a:cubicBezTo>
                <a:cubicBezTo>
                  <a:pt x="12726" y="14"/>
                  <a:pt x="12735" y="19"/>
                  <a:pt x="12743" y="24"/>
                </a:cubicBezTo>
                <a:cubicBezTo>
                  <a:pt x="12751" y="30"/>
                  <a:pt x="12758" y="36"/>
                  <a:pt x="12765" y="42"/>
                </a:cubicBezTo>
                <a:cubicBezTo>
                  <a:pt x="12771" y="49"/>
                  <a:pt x="12777" y="56"/>
                  <a:pt x="12783" y="64"/>
                </a:cubicBezTo>
                <a:cubicBezTo>
                  <a:pt x="12788" y="72"/>
                  <a:pt x="12793" y="81"/>
                  <a:pt x="12796" y="90"/>
                </a:cubicBezTo>
                <a:cubicBezTo>
                  <a:pt x="12800" y="98"/>
                  <a:pt x="12803" y="107"/>
                  <a:pt x="12804" y="117"/>
                </a:cubicBezTo>
                <a:cubicBezTo>
                  <a:pt x="12806" y="126"/>
                  <a:pt x="12807" y="136"/>
                  <a:pt x="12807" y="145"/>
                </a:cubicBezTo>
                <a:lnTo>
                  <a:pt x="12807" y="6179"/>
                </a:lnTo>
                <a:cubicBezTo>
                  <a:pt x="12807" y="6188"/>
                  <a:pt x="12806" y="6198"/>
                  <a:pt x="12804" y="6207"/>
                </a:cubicBezTo>
                <a:cubicBezTo>
                  <a:pt x="12803" y="6216"/>
                  <a:pt x="12800" y="6226"/>
                  <a:pt x="12796" y="6234"/>
                </a:cubicBezTo>
                <a:cubicBezTo>
                  <a:pt x="12793" y="6243"/>
                  <a:pt x="12788" y="6252"/>
                  <a:pt x="12783" y="6260"/>
                </a:cubicBezTo>
                <a:cubicBezTo>
                  <a:pt x="12777" y="6267"/>
                  <a:pt x="12771" y="6275"/>
                  <a:pt x="12765" y="6282"/>
                </a:cubicBezTo>
                <a:cubicBezTo>
                  <a:pt x="12758" y="6288"/>
                  <a:pt x="12751" y="6294"/>
                  <a:pt x="12743" y="6300"/>
                </a:cubicBezTo>
                <a:cubicBezTo>
                  <a:pt x="12735" y="6305"/>
                  <a:pt x="12726" y="6309"/>
                  <a:pt x="12717" y="6313"/>
                </a:cubicBezTo>
                <a:cubicBezTo>
                  <a:pt x="12709" y="6317"/>
                  <a:pt x="12700" y="6320"/>
                  <a:pt x="12690" y="6321"/>
                </a:cubicBezTo>
                <a:cubicBezTo>
                  <a:pt x="12681" y="6323"/>
                  <a:pt x="12671" y="6324"/>
                  <a:pt x="12662" y="6324"/>
                </a:cubicBezTo>
                <a:lnTo>
                  <a:pt x="146" y="6324"/>
                </a:lnTo>
                <a:cubicBezTo>
                  <a:pt x="136" y="6324"/>
                  <a:pt x="127" y="6323"/>
                  <a:pt x="118" y="6321"/>
                </a:cubicBezTo>
                <a:cubicBezTo>
                  <a:pt x="108" y="6320"/>
                  <a:pt x="99" y="6317"/>
                  <a:pt x="90" y="6313"/>
                </a:cubicBezTo>
                <a:cubicBezTo>
                  <a:pt x="81" y="6309"/>
                  <a:pt x="73" y="6305"/>
                  <a:pt x="65" y="6300"/>
                </a:cubicBezTo>
                <a:cubicBezTo>
                  <a:pt x="57" y="6294"/>
                  <a:pt x="50" y="6288"/>
                  <a:pt x="43" y="6282"/>
                </a:cubicBezTo>
                <a:cubicBezTo>
                  <a:pt x="36" y="6275"/>
                  <a:pt x="30" y="6267"/>
                  <a:pt x="25" y="6260"/>
                </a:cubicBezTo>
                <a:cubicBezTo>
                  <a:pt x="20" y="6252"/>
                  <a:pt x="15" y="6243"/>
                  <a:pt x="12" y="6234"/>
                </a:cubicBezTo>
                <a:cubicBezTo>
                  <a:pt x="8" y="6226"/>
                  <a:pt x="5" y="6216"/>
                  <a:pt x="3" y="6207"/>
                </a:cubicBezTo>
                <a:cubicBezTo>
                  <a:pt x="1" y="6198"/>
                  <a:pt x="0" y="6188"/>
                  <a:pt x="0" y="6179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814800" y="1500120"/>
            <a:ext cx="4610520" cy="2276640"/>
          </a:xfrm>
          <a:custGeom>
            <a:avLst/>
            <a:gdLst/>
            <a:ahLst/>
            <a:rect l="0" t="0" r="r" b="b"/>
            <a:pathLst>
              <a:path fill="none" w="12807" h="6324">
                <a:moveTo>
                  <a:pt x="0" y="61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2662" y="0"/>
                </a:lnTo>
                <a:cubicBezTo>
                  <a:pt x="12671" y="0"/>
                  <a:pt x="12681" y="1"/>
                  <a:pt x="12690" y="2"/>
                </a:cubicBezTo>
                <a:cubicBezTo>
                  <a:pt x="12700" y="4"/>
                  <a:pt x="12709" y="7"/>
                  <a:pt x="12717" y="11"/>
                </a:cubicBezTo>
                <a:cubicBezTo>
                  <a:pt x="12726" y="14"/>
                  <a:pt x="12735" y="19"/>
                  <a:pt x="12743" y="24"/>
                </a:cubicBezTo>
                <a:cubicBezTo>
                  <a:pt x="12751" y="30"/>
                  <a:pt x="12758" y="36"/>
                  <a:pt x="12765" y="42"/>
                </a:cubicBezTo>
                <a:cubicBezTo>
                  <a:pt x="12771" y="49"/>
                  <a:pt x="12777" y="56"/>
                  <a:pt x="12783" y="64"/>
                </a:cubicBezTo>
                <a:cubicBezTo>
                  <a:pt x="12788" y="72"/>
                  <a:pt x="12793" y="81"/>
                  <a:pt x="12796" y="90"/>
                </a:cubicBezTo>
                <a:cubicBezTo>
                  <a:pt x="12800" y="98"/>
                  <a:pt x="12803" y="107"/>
                  <a:pt x="12804" y="117"/>
                </a:cubicBezTo>
                <a:cubicBezTo>
                  <a:pt x="12806" y="126"/>
                  <a:pt x="12807" y="136"/>
                  <a:pt x="12807" y="145"/>
                </a:cubicBezTo>
                <a:lnTo>
                  <a:pt x="12807" y="6179"/>
                </a:lnTo>
                <a:cubicBezTo>
                  <a:pt x="12807" y="6188"/>
                  <a:pt x="12806" y="6198"/>
                  <a:pt x="12804" y="6207"/>
                </a:cubicBezTo>
                <a:cubicBezTo>
                  <a:pt x="12803" y="6216"/>
                  <a:pt x="12800" y="6226"/>
                  <a:pt x="12796" y="6234"/>
                </a:cubicBezTo>
                <a:cubicBezTo>
                  <a:pt x="12793" y="6243"/>
                  <a:pt x="12788" y="6252"/>
                  <a:pt x="12783" y="6260"/>
                </a:cubicBezTo>
                <a:cubicBezTo>
                  <a:pt x="12777" y="6267"/>
                  <a:pt x="12771" y="6275"/>
                  <a:pt x="12765" y="6282"/>
                </a:cubicBezTo>
                <a:cubicBezTo>
                  <a:pt x="12758" y="6288"/>
                  <a:pt x="12751" y="6294"/>
                  <a:pt x="12743" y="6300"/>
                </a:cubicBezTo>
                <a:cubicBezTo>
                  <a:pt x="12735" y="6305"/>
                  <a:pt x="12726" y="6309"/>
                  <a:pt x="12717" y="6313"/>
                </a:cubicBezTo>
                <a:cubicBezTo>
                  <a:pt x="12709" y="6317"/>
                  <a:pt x="12700" y="6320"/>
                  <a:pt x="12690" y="6321"/>
                </a:cubicBezTo>
                <a:cubicBezTo>
                  <a:pt x="12681" y="6323"/>
                  <a:pt x="12671" y="6324"/>
                  <a:pt x="12662" y="6324"/>
                </a:cubicBezTo>
                <a:lnTo>
                  <a:pt x="146" y="6324"/>
                </a:lnTo>
                <a:cubicBezTo>
                  <a:pt x="136" y="6324"/>
                  <a:pt x="127" y="6323"/>
                  <a:pt x="118" y="6321"/>
                </a:cubicBezTo>
                <a:cubicBezTo>
                  <a:pt x="108" y="6320"/>
                  <a:pt x="99" y="6317"/>
                  <a:pt x="90" y="6313"/>
                </a:cubicBezTo>
                <a:cubicBezTo>
                  <a:pt x="81" y="6309"/>
                  <a:pt x="73" y="6305"/>
                  <a:pt x="65" y="6300"/>
                </a:cubicBezTo>
                <a:cubicBezTo>
                  <a:pt x="57" y="6294"/>
                  <a:pt x="50" y="6288"/>
                  <a:pt x="43" y="6282"/>
                </a:cubicBezTo>
                <a:cubicBezTo>
                  <a:pt x="36" y="6275"/>
                  <a:pt x="30" y="6267"/>
                  <a:pt x="25" y="6260"/>
                </a:cubicBezTo>
                <a:cubicBezTo>
                  <a:pt x="20" y="6252"/>
                  <a:pt x="15" y="6243"/>
                  <a:pt x="12" y="6234"/>
                </a:cubicBezTo>
                <a:cubicBezTo>
                  <a:pt x="8" y="6226"/>
                  <a:pt x="5" y="6216"/>
                  <a:pt x="3" y="6207"/>
                </a:cubicBezTo>
                <a:cubicBezTo>
                  <a:pt x="1" y="6198"/>
                  <a:pt x="0" y="6188"/>
                  <a:pt x="0" y="6179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7153200" y="2199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203120" y="1703160"/>
            <a:ext cx="2210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Analysing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7153200" y="2514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1"/>
                  <a:pt x="49" y="7"/>
                </a:cubicBezTo>
                <a:cubicBezTo>
                  <a:pt x="58" y="3"/>
                  <a:pt x="69" y="0"/>
                  <a:pt x="79" y="0"/>
                </a:cubicBezTo>
                <a:cubicBezTo>
                  <a:pt x="90" y="0"/>
                  <a:pt x="100" y="3"/>
                  <a:pt x="109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338960" y="2109240"/>
            <a:ext cx="225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Decomposing into blocks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153200" y="2838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338960" y="2423520"/>
            <a:ext cx="1874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Identifying interfaces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7153200" y="31525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338960" y="2747160"/>
            <a:ext cx="2604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Designing APIs and protocols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7153200" y="34765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09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7338960" y="3061800"/>
            <a:ext cx="2352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Integrating libraries and IP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019640" y="1723680"/>
            <a:ext cx="133920" cy="181440"/>
          </a:xfrm>
          <a:custGeom>
            <a:avLst/>
            <a:gdLst/>
            <a:ahLst/>
            <a:rect l="0" t="0" r="r" b="b"/>
            <a:pathLst>
              <a:path fill="none" w="372" h="504">
                <a:moveTo>
                  <a:pt x="93" y="305"/>
                </a:moveTo>
                <a:cubicBezTo>
                  <a:pt x="102" y="305"/>
                  <a:pt x="110" y="303"/>
                  <a:pt x="118" y="300"/>
                </a:cubicBezTo>
                <a:cubicBezTo>
                  <a:pt x="126" y="296"/>
                  <a:pt x="133" y="292"/>
                  <a:pt x="140" y="285"/>
                </a:cubicBezTo>
                <a:cubicBezTo>
                  <a:pt x="146" y="279"/>
                  <a:pt x="151" y="272"/>
                  <a:pt x="154" y="264"/>
                </a:cubicBezTo>
                <a:cubicBezTo>
                  <a:pt x="157" y="256"/>
                  <a:pt x="159" y="247"/>
                  <a:pt x="159" y="239"/>
                </a:cubicBezTo>
                <a:cubicBezTo>
                  <a:pt x="159" y="202"/>
                  <a:pt x="146" y="186"/>
                  <a:pt x="133" y="159"/>
                </a:cubicBezTo>
                <a:cubicBezTo>
                  <a:pt x="104" y="103"/>
                  <a:pt x="127" y="52"/>
                  <a:pt x="185" y="0"/>
                </a:cubicBezTo>
                <a:cubicBezTo>
                  <a:pt x="199" y="67"/>
                  <a:pt x="238" y="130"/>
                  <a:pt x="291" y="172"/>
                </a:cubicBezTo>
                <a:cubicBezTo>
                  <a:pt x="345" y="215"/>
                  <a:pt x="372" y="265"/>
                  <a:pt x="372" y="318"/>
                </a:cubicBezTo>
                <a:cubicBezTo>
                  <a:pt x="372" y="330"/>
                  <a:pt x="371" y="342"/>
                  <a:pt x="368" y="354"/>
                </a:cubicBezTo>
                <a:cubicBezTo>
                  <a:pt x="366" y="366"/>
                  <a:pt x="362" y="378"/>
                  <a:pt x="358" y="389"/>
                </a:cubicBezTo>
                <a:cubicBezTo>
                  <a:pt x="353" y="400"/>
                  <a:pt x="347" y="411"/>
                  <a:pt x="340" y="421"/>
                </a:cubicBezTo>
                <a:cubicBezTo>
                  <a:pt x="334" y="431"/>
                  <a:pt x="326" y="440"/>
                  <a:pt x="317" y="449"/>
                </a:cubicBezTo>
                <a:cubicBezTo>
                  <a:pt x="309" y="458"/>
                  <a:pt x="300" y="465"/>
                  <a:pt x="288" y="472"/>
                </a:cubicBezTo>
                <a:cubicBezTo>
                  <a:pt x="278" y="479"/>
                  <a:pt x="268" y="485"/>
                  <a:pt x="256" y="490"/>
                </a:cubicBezTo>
                <a:cubicBezTo>
                  <a:pt x="245" y="495"/>
                  <a:pt x="234" y="498"/>
                  <a:pt x="222" y="501"/>
                </a:cubicBezTo>
                <a:cubicBezTo>
                  <a:pt x="210" y="503"/>
                  <a:pt x="198" y="504"/>
                  <a:pt x="185" y="504"/>
                </a:cubicBezTo>
                <a:cubicBezTo>
                  <a:pt x="173" y="504"/>
                  <a:pt x="161" y="503"/>
                  <a:pt x="149" y="501"/>
                </a:cubicBezTo>
                <a:cubicBezTo>
                  <a:pt x="137" y="498"/>
                  <a:pt x="126" y="495"/>
                  <a:pt x="115" y="490"/>
                </a:cubicBezTo>
                <a:cubicBezTo>
                  <a:pt x="103" y="485"/>
                  <a:pt x="93" y="479"/>
                  <a:pt x="83" y="472"/>
                </a:cubicBezTo>
                <a:cubicBezTo>
                  <a:pt x="72" y="465"/>
                  <a:pt x="63" y="458"/>
                  <a:pt x="55" y="449"/>
                </a:cubicBezTo>
                <a:cubicBezTo>
                  <a:pt x="46" y="440"/>
                  <a:pt x="38" y="431"/>
                  <a:pt x="32" y="421"/>
                </a:cubicBezTo>
                <a:cubicBezTo>
                  <a:pt x="25" y="411"/>
                  <a:pt x="19" y="400"/>
                  <a:pt x="14" y="389"/>
                </a:cubicBezTo>
                <a:cubicBezTo>
                  <a:pt x="10" y="378"/>
                  <a:pt x="6" y="366"/>
                  <a:pt x="4" y="354"/>
                </a:cubicBezTo>
                <a:cubicBezTo>
                  <a:pt x="1" y="342"/>
                  <a:pt x="0" y="330"/>
                  <a:pt x="0" y="318"/>
                </a:cubicBezTo>
                <a:cubicBezTo>
                  <a:pt x="0" y="287"/>
                  <a:pt x="12" y="257"/>
                  <a:pt x="27" y="239"/>
                </a:cubicBezTo>
                <a:cubicBezTo>
                  <a:pt x="27" y="247"/>
                  <a:pt x="28" y="256"/>
                  <a:pt x="32" y="264"/>
                </a:cubicBezTo>
                <a:cubicBezTo>
                  <a:pt x="35" y="272"/>
                  <a:pt x="40" y="279"/>
                  <a:pt x="46" y="285"/>
                </a:cubicBezTo>
                <a:cubicBezTo>
                  <a:pt x="52" y="292"/>
                  <a:pt x="59" y="296"/>
                  <a:pt x="68" y="300"/>
                </a:cubicBezTo>
                <a:cubicBezTo>
                  <a:pt x="76" y="303"/>
                  <a:pt x="84" y="305"/>
                  <a:pt x="93" y="305"/>
                </a:cubicBez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338960" y="3385440"/>
            <a:ext cx="1784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Formal speciﬁcation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66440" y="4014720"/>
            <a:ext cx="5982120" cy="2238480"/>
          </a:xfrm>
          <a:custGeom>
            <a:avLst/>
            <a:gdLst/>
            <a:ahLst/>
            <a:rect l="0" t="0" r="r" b="b"/>
            <a:pathLst>
              <a:path w="16617" h="6218">
                <a:moveTo>
                  <a:pt x="0" y="607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6472" y="0"/>
                </a:lnTo>
                <a:cubicBezTo>
                  <a:pt x="16481" y="0"/>
                  <a:pt x="16491" y="1"/>
                  <a:pt x="16500" y="2"/>
                </a:cubicBezTo>
                <a:cubicBezTo>
                  <a:pt x="16509" y="4"/>
                  <a:pt x="16519" y="7"/>
                  <a:pt x="16527" y="11"/>
                </a:cubicBezTo>
                <a:cubicBezTo>
                  <a:pt x="16536" y="14"/>
                  <a:pt x="16545" y="19"/>
                  <a:pt x="16553" y="24"/>
                </a:cubicBezTo>
                <a:cubicBezTo>
                  <a:pt x="16560" y="30"/>
                  <a:pt x="16568" y="36"/>
                  <a:pt x="16575" y="42"/>
                </a:cubicBezTo>
                <a:cubicBezTo>
                  <a:pt x="16581" y="49"/>
                  <a:pt x="16587" y="56"/>
                  <a:pt x="16593" y="64"/>
                </a:cubicBezTo>
                <a:cubicBezTo>
                  <a:pt x="16598" y="72"/>
                  <a:pt x="16602" y="81"/>
                  <a:pt x="16606" y="90"/>
                </a:cubicBezTo>
                <a:cubicBezTo>
                  <a:pt x="16610" y="98"/>
                  <a:pt x="16613" y="107"/>
                  <a:pt x="16614" y="117"/>
                </a:cubicBezTo>
                <a:cubicBezTo>
                  <a:pt x="16616" y="126"/>
                  <a:pt x="16617" y="136"/>
                  <a:pt x="16617" y="145"/>
                </a:cubicBezTo>
                <a:lnTo>
                  <a:pt x="16617" y="6073"/>
                </a:lnTo>
                <a:cubicBezTo>
                  <a:pt x="16617" y="6082"/>
                  <a:pt x="16616" y="6092"/>
                  <a:pt x="16614" y="6101"/>
                </a:cubicBezTo>
                <a:cubicBezTo>
                  <a:pt x="16613" y="6111"/>
                  <a:pt x="16610" y="6120"/>
                  <a:pt x="16606" y="6129"/>
                </a:cubicBezTo>
                <a:cubicBezTo>
                  <a:pt x="16602" y="6137"/>
                  <a:pt x="16598" y="6146"/>
                  <a:pt x="16593" y="6154"/>
                </a:cubicBezTo>
                <a:cubicBezTo>
                  <a:pt x="16587" y="6162"/>
                  <a:pt x="16581" y="6169"/>
                  <a:pt x="16575" y="6176"/>
                </a:cubicBezTo>
                <a:cubicBezTo>
                  <a:pt x="16568" y="6183"/>
                  <a:pt x="16560" y="6189"/>
                  <a:pt x="16553" y="6194"/>
                </a:cubicBezTo>
                <a:cubicBezTo>
                  <a:pt x="16545" y="6199"/>
                  <a:pt x="16536" y="6204"/>
                  <a:pt x="16527" y="6207"/>
                </a:cubicBezTo>
                <a:cubicBezTo>
                  <a:pt x="16519" y="6211"/>
                  <a:pt x="16509" y="6214"/>
                  <a:pt x="16500" y="6216"/>
                </a:cubicBezTo>
                <a:cubicBezTo>
                  <a:pt x="16491" y="6217"/>
                  <a:pt x="16481" y="6218"/>
                  <a:pt x="16472" y="6218"/>
                </a:cubicBezTo>
                <a:lnTo>
                  <a:pt x="146" y="6218"/>
                </a:lnTo>
                <a:cubicBezTo>
                  <a:pt x="136" y="6218"/>
                  <a:pt x="127" y="6217"/>
                  <a:pt x="118" y="6216"/>
                </a:cubicBezTo>
                <a:cubicBezTo>
                  <a:pt x="108" y="6214"/>
                  <a:pt x="99" y="6211"/>
                  <a:pt x="90" y="6207"/>
                </a:cubicBezTo>
                <a:cubicBezTo>
                  <a:pt x="81" y="6204"/>
                  <a:pt x="73" y="6199"/>
                  <a:pt x="65" y="6194"/>
                </a:cubicBezTo>
                <a:cubicBezTo>
                  <a:pt x="57" y="6189"/>
                  <a:pt x="50" y="6183"/>
                  <a:pt x="43" y="6176"/>
                </a:cubicBezTo>
                <a:cubicBezTo>
                  <a:pt x="36" y="6169"/>
                  <a:pt x="30" y="6162"/>
                  <a:pt x="25" y="6154"/>
                </a:cubicBezTo>
                <a:cubicBezTo>
                  <a:pt x="20" y="6146"/>
                  <a:pt x="15" y="6137"/>
                  <a:pt x="11" y="6129"/>
                </a:cubicBezTo>
                <a:cubicBezTo>
                  <a:pt x="8" y="6120"/>
                  <a:pt x="5" y="6111"/>
                  <a:pt x="3" y="6101"/>
                </a:cubicBezTo>
                <a:cubicBezTo>
                  <a:pt x="1" y="6092"/>
                  <a:pt x="0" y="6082"/>
                  <a:pt x="0" y="6073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66440" y="4014720"/>
            <a:ext cx="5982120" cy="2238480"/>
          </a:xfrm>
          <a:custGeom>
            <a:avLst/>
            <a:gdLst/>
            <a:ahLst/>
            <a:rect l="0" t="0" r="r" b="b"/>
            <a:pathLst>
              <a:path fill="none" w="16617" h="6218">
                <a:moveTo>
                  <a:pt x="0" y="607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6472" y="0"/>
                </a:lnTo>
                <a:cubicBezTo>
                  <a:pt x="16481" y="0"/>
                  <a:pt x="16491" y="1"/>
                  <a:pt x="16500" y="2"/>
                </a:cubicBezTo>
                <a:cubicBezTo>
                  <a:pt x="16509" y="4"/>
                  <a:pt x="16519" y="7"/>
                  <a:pt x="16527" y="11"/>
                </a:cubicBezTo>
                <a:cubicBezTo>
                  <a:pt x="16536" y="14"/>
                  <a:pt x="16545" y="19"/>
                  <a:pt x="16553" y="24"/>
                </a:cubicBezTo>
                <a:cubicBezTo>
                  <a:pt x="16560" y="30"/>
                  <a:pt x="16568" y="36"/>
                  <a:pt x="16575" y="42"/>
                </a:cubicBezTo>
                <a:cubicBezTo>
                  <a:pt x="16581" y="49"/>
                  <a:pt x="16587" y="56"/>
                  <a:pt x="16593" y="64"/>
                </a:cubicBezTo>
                <a:cubicBezTo>
                  <a:pt x="16598" y="72"/>
                  <a:pt x="16602" y="81"/>
                  <a:pt x="16606" y="90"/>
                </a:cubicBezTo>
                <a:cubicBezTo>
                  <a:pt x="16610" y="98"/>
                  <a:pt x="16613" y="107"/>
                  <a:pt x="16614" y="117"/>
                </a:cubicBezTo>
                <a:cubicBezTo>
                  <a:pt x="16616" y="126"/>
                  <a:pt x="16617" y="136"/>
                  <a:pt x="16617" y="145"/>
                </a:cubicBezTo>
                <a:lnTo>
                  <a:pt x="16617" y="6073"/>
                </a:lnTo>
                <a:cubicBezTo>
                  <a:pt x="16617" y="6082"/>
                  <a:pt x="16616" y="6092"/>
                  <a:pt x="16614" y="6101"/>
                </a:cubicBezTo>
                <a:cubicBezTo>
                  <a:pt x="16613" y="6111"/>
                  <a:pt x="16610" y="6120"/>
                  <a:pt x="16606" y="6129"/>
                </a:cubicBezTo>
                <a:cubicBezTo>
                  <a:pt x="16602" y="6137"/>
                  <a:pt x="16598" y="6146"/>
                  <a:pt x="16593" y="6154"/>
                </a:cubicBezTo>
                <a:cubicBezTo>
                  <a:pt x="16587" y="6162"/>
                  <a:pt x="16581" y="6169"/>
                  <a:pt x="16575" y="6176"/>
                </a:cubicBezTo>
                <a:cubicBezTo>
                  <a:pt x="16568" y="6183"/>
                  <a:pt x="16560" y="6189"/>
                  <a:pt x="16553" y="6194"/>
                </a:cubicBezTo>
                <a:cubicBezTo>
                  <a:pt x="16545" y="6199"/>
                  <a:pt x="16536" y="6204"/>
                  <a:pt x="16527" y="6207"/>
                </a:cubicBezTo>
                <a:cubicBezTo>
                  <a:pt x="16519" y="6211"/>
                  <a:pt x="16509" y="6214"/>
                  <a:pt x="16500" y="6216"/>
                </a:cubicBezTo>
                <a:cubicBezTo>
                  <a:pt x="16491" y="6217"/>
                  <a:pt x="16481" y="6218"/>
                  <a:pt x="16472" y="6218"/>
                </a:cubicBezTo>
                <a:lnTo>
                  <a:pt x="146" y="6218"/>
                </a:lnTo>
                <a:cubicBezTo>
                  <a:pt x="136" y="6218"/>
                  <a:pt x="127" y="6217"/>
                  <a:pt x="118" y="6216"/>
                </a:cubicBezTo>
                <a:cubicBezTo>
                  <a:pt x="108" y="6214"/>
                  <a:pt x="99" y="6211"/>
                  <a:pt x="90" y="6207"/>
                </a:cubicBezTo>
                <a:cubicBezTo>
                  <a:pt x="81" y="6204"/>
                  <a:pt x="73" y="6199"/>
                  <a:pt x="65" y="6194"/>
                </a:cubicBezTo>
                <a:cubicBezTo>
                  <a:pt x="57" y="6189"/>
                  <a:pt x="50" y="6183"/>
                  <a:pt x="43" y="6176"/>
                </a:cubicBezTo>
                <a:cubicBezTo>
                  <a:pt x="36" y="6169"/>
                  <a:pt x="30" y="6162"/>
                  <a:pt x="25" y="6154"/>
                </a:cubicBezTo>
                <a:cubicBezTo>
                  <a:pt x="20" y="6146"/>
                  <a:pt x="15" y="6137"/>
                  <a:pt x="11" y="6129"/>
                </a:cubicBezTo>
                <a:cubicBezTo>
                  <a:pt x="8" y="6120"/>
                  <a:pt x="5" y="6111"/>
                  <a:pt x="3" y="6101"/>
                </a:cubicBezTo>
                <a:cubicBezTo>
                  <a:pt x="1" y="6092"/>
                  <a:pt x="0" y="6082"/>
                  <a:pt x="0" y="6073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104840" y="47052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252560" y="1703160"/>
            <a:ext cx="2240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6c4c2"/>
                </a:solidFill>
                <a:effectLst/>
                <a:uFillTx/>
                <a:latin typeface="LucidaGrande"/>
                <a:ea typeface="LucidaGrande"/>
              </a:rPr>
              <a:t>Designing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104840" y="5028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289520" y="4614120"/>
            <a:ext cx="121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Build systems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104840" y="5352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289520" y="4938120"/>
            <a:ext cx="3629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Continuous integration (both hw and sw)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104840" y="5667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289520" y="5261760"/>
            <a:ext cx="4084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Testing hardware+software+network systems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000080" y="4267080"/>
            <a:ext cx="76320" cy="133560"/>
          </a:xfrm>
          <a:custGeom>
            <a:avLst/>
            <a:gdLst/>
            <a:ahLst/>
            <a:rect l="0" t="0" r="r" b="b"/>
            <a:pathLst>
              <a:path fill="none" w="212" h="371">
                <a:moveTo>
                  <a:pt x="106" y="0"/>
                </a:move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lnTo>
                  <a:pt x="212" y="265"/>
                </a:lnTo>
                <a:cubicBezTo>
                  <a:pt x="212" y="279"/>
                  <a:pt x="210" y="293"/>
                  <a:pt x="204" y="306"/>
                </a:cubicBezTo>
                <a:cubicBezTo>
                  <a:pt x="199" y="319"/>
                  <a:pt x="191" y="330"/>
                  <a:pt x="181" y="340"/>
                </a:cubicBezTo>
                <a:cubicBezTo>
                  <a:pt x="171" y="350"/>
                  <a:pt x="160" y="358"/>
                  <a:pt x="147" y="363"/>
                </a:cubicBezTo>
                <a:cubicBezTo>
                  <a:pt x="134" y="369"/>
                  <a:pt x="120" y="371"/>
                  <a:pt x="106" y="371"/>
                </a:cubicBezTo>
                <a:cubicBezTo>
                  <a:pt x="92" y="371"/>
                  <a:pt x="79" y="369"/>
                  <a:pt x="65" y="363"/>
                </a:cubicBezTo>
                <a:cubicBezTo>
                  <a:pt x="52" y="358"/>
                  <a:pt x="41" y="350"/>
                  <a:pt x="31" y="340"/>
                </a:cubicBezTo>
                <a:cubicBezTo>
                  <a:pt x="21" y="330"/>
                  <a:pt x="13" y="319"/>
                  <a:pt x="8" y="306"/>
                </a:cubicBezTo>
                <a:cubicBezTo>
                  <a:pt x="2" y="293"/>
                  <a:pt x="0" y="279"/>
                  <a:pt x="0" y="265"/>
                </a:cubicBez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961920" y="4248000"/>
            <a:ext cx="152640" cy="143280"/>
          </a:xfrm>
          <a:custGeom>
            <a:avLst/>
            <a:gdLst/>
            <a:ahLst/>
            <a:rect l="0" t="0" r="r" b="b"/>
            <a:pathLst>
              <a:path fill="none" w="424" h="398">
                <a:moveTo>
                  <a:pt x="398" y="79"/>
                </a:moveTo>
                <a:lnTo>
                  <a:pt x="318" y="132"/>
                </a:lnTo>
                <a:moveTo>
                  <a:pt x="26" y="79"/>
                </a:moveTo>
                <a:lnTo>
                  <a:pt x="107" y="132"/>
                </a:lnTo>
                <a:moveTo>
                  <a:pt x="398" y="398"/>
                </a:moveTo>
                <a:lnTo>
                  <a:pt x="318" y="345"/>
                </a:lnTo>
                <a:moveTo>
                  <a:pt x="26" y="398"/>
                </a:moveTo>
                <a:lnTo>
                  <a:pt x="107" y="345"/>
                </a:lnTo>
                <a:moveTo>
                  <a:pt x="424" y="238"/>
                </a:moveTo>
                <a:lnTo>
                  <a:pt x="318" y="238"/>
                </a:lnTo>
                <a:moveTo>
                  <a:pt x="0" y="238"/>
                </a:moveTo>
                <a:lnTo>
                  <a:pt x="107" y="238"/>
                </a:lnTo>
                <a:moveTo>
                  <a:pt x="160" y="0"/>
                </a:moveTo>
                <a:lnTo>
                  <a:pt x="186" y="53"/>
                </a:lnTo>
                <a:moveTo>
                  <a:pt x="265" y="0"/>
                </a:moveTo>
                <a:lnTo>
                  <a:pt x="239" y="53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289520" y="5576400"/>
            <a:ext cx="1652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Formal veriﬁcation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852960" y="4014720"/>
            <a:ext cx="4572360" cy="2238480"/>
          </a:xfrm>
          <a:custGeom>
            <a:avLst/>
            <a:gdLst/>
            <a:ahLst/>
            <a:rect l="0" t="0" r="r" b="b"/>
            <a:pathLst>
              <a:path w="12701" h="6218">
                <a:moveTo>
                  <a:pt x="0" y="607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6" y="81"/>
                  <a:pt x="20" y="72"/>
                  <a:pt x="26" y="64"/>
                </a:cubicBezTo>
                <a:cubicBezTo>
                  <a:pt x="31" y="56"/>
                  <a:pt x="37" y="49"/>
                  <a:pt x="44" y="42"/>
                </a:cubicBezTo>
                <a:cubicBezTo>
                  <a:pt x="51" y="36"/>
                  <a:pt x="58" y="30"/>
                  <a:pt x="66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lnTo>
                  <a:pt x="12556" y="0"/>
                </a:lnTo>
                <a:cubicBezTo>
                  <a:pt x="12565" y="0"/>
                  <a:pt x="12575" y="1"/>
                  <a:pt x="12584" y="2"/>
                </a:cubicBezTo>
                <a:cubicBezTo>
                  <a:pt x="12594" y="4"/>
                  <a:pt x="12603" y="7"/>
                  <a:pt x="12611" y="11"/>
                </a:cubicBezTo>
                <a:cubicBezTo>
                  <a:pt x="12620" y="14"/>
                  <a:pt x="12629" y="19"/>
                  <a:pt x="12637" y="24"/>
                </a:cubicBezTo>
                <a:cubicBezTo>
                  <a:pt x="12645" y="30"/>
                  <a:pt x="12652" y="36"/>
                  <a:pt x="12659" y="42"/>
                </a:cubicBezTo>
                <a:cubicBezTo>
                  <a:pt x="12665" y="49"/>
                  <a:pt x="12671" y="56"/>
                  <a:pt x="12677" y="64"/>
                </a:cubicBezTo>
                <a:cubicBezTo>
                  <a:pt x="12682" y="72"/>
                  <a:pt x="12687" y="81"/>
                  <a:pt x="12690" y="90"/>
                </a:cubicBezTo>
                <a:cubicBezTo>
                  <a:pt x="12694" y="98"/>
                  <a:pt x="12697" y="107"/>
                  <a:pt x="12698" y="117"/>
                </a:cubicBezTo>
                <a:cubicBezTo>
                  <a:pt x="12700" y="126"/>
                  <a:pt x="12701" y="136"/>
                  <a:pt x="12701" y="145"/>
                </a:cubicBezTo>
                <a:lnTo>
                  <a:pt x="12701" y="6073"/>
                </a:lnTo>
                <a:cubicBezTo>
                  <a:pt x="12701" y="6082"/>
                  <a:pt x="12700" y="6092"/>
                  <a:pt x="12698" y="6101"/>
                </a:cubicBezTo>
                <a:cubicBezTo>
                  <a:pt x="12697" y="6111"/>
                  <a:pt x="12694" y="6120"/>
                  <a:pt x="12690" y="6129"/>
                </a:cubicBezTo>
                <a:cubicBezTo>
                  <a:pt x="12687" y="6137"/>
                  <a:pt x="12682" y="6146"/>
                  <a:pt x="12677" y="6154"/>
                </a:cubicBezTo>
                <a:cubicBezTo>
                  <a:pt x="12671" y="6162"/>
                  <a:pt x="12665" y="6169"/>
                  <a:pt x="12659" y="6176"/>
                </a:cubicBezTo>
                <a:cubicBezTo>
                  <a:pt x="12652" y="6183"/>
                  <a:pt x="12645" y="6189"/>
                  <a:pt x="12637" y="6194"/>
                </a:cubicBezTo>
                <a:cubicBezTo>
                  <a:pt x="12629" y="6199"/>
                  <a:pt x="12620" y="6204"/>
                  <a:pt x="12611" y="6207"/>
                </a:cubicBezTo>
                <a:cubicBezTo>
                  <a:pt x="12603" y="6211"/>
                  <a:pt x="12594" y="6214"/>
                  <a:pt x="12584" y="6216"/>
                </a:cubicBezTo>
                <a:cubicBezTo>
                  <a:pt x="12575" y="6217"/>
                  <a:pt x="12565" y="6218"/>
                  <a:pt x="12556" y="6218"/>
                </a:cubicBezTo>
                <a:lnTo>
                  <a:pt x="147" y="6218"/>
                </a:lnTo>
                <a:cubicBezTo>
                  <a:pt x="137" y="6218"/>
                  <a:pt x="128" y="6217"/>
                  <a:pt x="118" y="6216"/>
                </a:cubicBezTo>
                <a:cubicBezTo>
                  <a:pt x="109" y="6214"/>
                  <a:pt x="100" y="6211"/>
                  <a:pt x="91" y="6207"/>
                </a:cubicBezTo>
                <a:cubicBezTo>
                  <a:pt x="82" y="6204"/>
                  <a:pt x="74" y="6199"/>
                  <a:pt x="66" y="6194"/>
                </a:cubicBezTo>
                <a:cubicBezTo>
                  <a:pt x="58" y="6189"/>
                  <a:pt x="51" y="6183"/>
                  <a:pt x="44" y="6176"/>
                </a:cubicBezTo>
                <a:cubicBezTo>
                  <a:pt x="37" y="6169"/>
                  <a:pt x="31" y="6162"/>
                  <a:pt x="26" y="6154"/>
                </a:cubicBezTo>
                <a:cubicBezTo>
                  <a:pt x="20" y="6146"/>
                  <a:pt x="16" y="6137"/>
                  <a:pt x="11" y="6129"/>
                </a:cubicBezTo>
                <a:cubicBezTo>
                  <a:pt x="8" y="6120"/>
                  <a:pt x="5" y="6111"/>
                  <a:pt x="3" y="6101"/>
                </a:cubicBezTo>
                <a:cubicBezTo>
                  <a:pt x="1" y="6092"/>
                  <a:pt x="0" y="6082"/>
                  <a:pt x="0" y="6073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852960" y="4014720"/>
            <a:ext cx="4572360" cy="2238480"/>
          </a:xfrm>
          <a:custGeom>
            <a:avLst/>
            <a:gdLst/>
            <a:ahLst/>
            <a:rect l="0" t="0" r="r" b="b"/>
            <a:pathLst>
              <a:path fill="none" w="12701" h="6218">
                <a:moveTo>
                  <a:pt x="0" y="607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6" y="81"/>
                  <a:pt x="20" y="72"/>
                  <a:pt x="26" y="64"/>
                </a:cubicBezTo>
                <a:cubicBezTo>
                  <a:pt x="31" y="56"/>
                  <a:pt x="37" y="49"/>
                  <a:pt x="44" y="42"/>
                </a:cubicBezTo>
                <a:cubicBezTo>
                  <a:pt x="51" y="36"/>
                  <a:pt x="58" y="30"/>
                  <a:pt x="66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lnTo>
                  <a:pt x="12556" y="0"/>
                </a:lnTo>
                <a:cubicBezTo>
                  <a:pt x="12565" y="0"/>
                  <a:pt x="12575" y="1"/>
                  <a:pt x="12584" y="2"/>
                </a:cubicBezTo>
                <a:cubicBezTo>
                  <a:pt x="12594" y="4"/>
                  <a:pt x="12603" y="7"/>
                  <a:pt x="12611" y="11"/>
                </a:cubicBezTo>
                <a:cubicBezTo>
                  <a:pt x="12620" y="14"/>
                  <a:pt x="12629" y="19"/>
                  <a:pt x="12637" y="24"/>
                </a:cubicBezTo>
                <a:cubicBezTo>
                  <a:pt x="12645" y="30"/>
                  <a:pt x="12652" y="36"/>
                  <a:pt x="12659" y="42"/>
                </a:cubicBezTo>
                <a:cubicBezTo>
                  <a:pt x="12665" y="49"/>
                  <a:pt x="12671" y="56"/>
                  <a:pt x="12677" y="64"/>
                </a:cubicBezTo>
                <a:cubicBezTo>
                  <a:pt x="12682" y="72"/>
                  <a:pt x="12687" y="81"/>
                  <a:pt x="12690" y="90"/>
                </a:cubicBezTo>
                <a:cubicBezTo>
                  <a:pt x="12694" y="98"/>
                  <a:pt x="12697" y="107"/>
                  <a:pt x="12698" y="117"/>
                </a:cubicBezTo>
                <a:cubicBezTo>
                  <a:pt x="12700" y="126"/>
                  <a:pt x="12701" y="136"/>
                  <a:pt x="12701" y="145"/>
                </a:cubicBezTo>
                <a:lnTo>
                  <a:pt x="12701" y="6073"/>
                </a:lnTo>
                <a:cubicBezTo>
                  <a:pt x="12701" y="6082"/>
                  <a:pt x="12700" y="6092"/>
                  <a:pt x="12698" y="6101"/>
                </a:cubicBezTo>
                <a:cubicBezTo>
                  <a:pt x="12697" y="6111"/>
                  <a:pt x="12694" y="6120"/>
                  <a:pt x="12690" y="6129"/>
                </a:cubicBezTo>
                <a:cubicBezTo>
                  <a:pt x="12687" y="6137"/>
                  <a:pt x="12682" y="6146"/>
                  <a:pt x="12677" y="6154"/>
                </a:cubicBezTo>
                <a:cubicBezTo>
                  <a:pt x="12671" y="6162"/>
                  <a:pt x="12665" y="6169"/>
                  <a:pt x="12659" y="6176"/>
                </a:cubicBezTo>
                <a:cubicBezTo>
                  <a:pt x="12652" y="6183"/>
                  <a:pt x="12645" y="6189"/>
                  <a:pt x="12637" y="6194"/>
                </a:cubicBezTo>
                <a:cubicBezTo>
                  <a:pt x="12629" y="6199"/>
                  <a:pt x="12620" y="6204"/>
                  <a:pt x="12611" y="6207"/>
                </a:cubicBezTo>
                <a:cubicBezTo>
                  <a:pt x="12603" y="6211"/>
                  <a:pt x="12594" y="6214"/>
                  <a:pt x="12584" y="6216"/>
                </a:cubicBezTo>
                <a:cubicBezTo>
                  <a:pt x="12575" y="6217"/>
                  <a:pt x="12565" y="6218"/>
                  <a:pt x="12556" y="6218"/>
                </a:cubicBezTo>
                <a:lnTo>
                  <a:pt x="147" y="6218"/>
                </a:lnTo>
                <a:cubicBezTo>
                  <a:pt x="137" y="6218"/>
                  <a:pt x="128" y="6217"/>
                  <a:pt x="118" y="6216"/>
                </a:cubicBezTo>
                <a:cubicBezTo>
                  <a:pt x="109" y="6214"/>
                  <a:pt x="100" y="6211"/>
                  <a:pt x="91" y="6207"/>
                </a:cubicBezTo>
                <a:cubicBezTo>
                  <a:pt x="82" y="6204"/>
                  <a:pt x="74" y="6199"/>
                  <a:pt x="66" y="6194"/>
                </a:cubicBezTo>
                <a:cubicBezTo>
                  <a:pt x="58" y="6189"/>
                  <a:pt x="51" y="6183"/>
                  <a:pt x="44" y="6176"/>
                </a:cubicBezTo>
                <a:cubicBezTo>
                  <a:pt x="37" y="6169"/>
                  <a:pt x="31" y="6162"/>
                  <a:pt x="26" y="6154"/>
                </a:cubicBezTo>
                <a:cubicBezTo>
                  <a:pt x="20" y="6146"/>
                  <a:pt x="16" y="6137"/>
                  <a:pt x="11" y="6129"/>
                </a:cubicBezTo>
                <a:cubicBezTo>
                  <a:pt x="8" y="6120"/>
                  <a:pt x="5" y="6111"/>
                  <a:pt x="3" y="6101"/>
                </a:cubicBezTo>
                <a:cubicBezTo>
                  <a:pt x="1" y="6092"/>
                  <a:pt x="0" y="6082"/>
                  <a:pt x="0" y="6073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200720" y="49910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203120" y="4217760"/>
            <a:ext cx="1934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Testing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200720" y="5314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1"/>
                  <a:pt x="128" y="17"/>
                  <a:pt x="136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379640" y="4899960"/>
            <a:ext cx="2550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Development methodologies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200720" y="5638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379640" y="5223960"/>
            <a:ext cx="1823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Project management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200720" y="5952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379640" y="5547600"/>
            <a:ext cx="2194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Advanced source control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038720" y="4410000"/>
            <a:ext cx="171720" cy="114480"/>
          </a:xfrm>
          <a:custGeom>
            <a:avLst/>
            <a:gdLst/>
            <a:ahLst/>
            <a:rect l="0" t="0" r="r" b="b"/>
            <a:pathLst>
              <a:path fill="none" w="477" h="318">
                <a:moveTo>
                  <a:pt x="132" y="0"/>
                </a:moveTo>
                <a:lnTo>
                  <a:pt x="477" y="0"/>
                </a:lnTo>
                <a:moveTo>
                  <a:pt x="132" y="158"/>
                </a:moveTo>
                <a:lnTo>
                  <a:pt x="477" y="158"/>
                </a:lnTo>
                <a:moveTo>
                  <a:pt x="132" y="318"/>
                </a:moveTo>
                <a:lnTo>
                  <a:pt x="477" y="318"/>
                </a:lnTo>
                <a:moveTo>
                  <a:pt x="0" y="0"/>
                </a:moveTo>
                <a:moveTo>
                  <a:pt x="0" y="158"/>
                </a:moveTo>
                <a:moveTo>
                  <a:pt x="0" y="318"/>
                </a:move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379640" y="5861880"/>
            <a:ext cx="1879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(e.g. review, bots, …)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293600" y="4217760"/>
            <a:ext cx="1153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Managing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293600" y="4503240"/>
            <a:ext cx="1526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development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971280" y="32382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8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62120" y="2630520"/>
            <a:ext cx="4345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Three 1-hour lectures per week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971280" y="3600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168200" y="3146760"/>
            <a:ext cx="252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Tuesday 09:00 (35/1005)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971280" y="3952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168200" y="3508920"/>
            <a:ext cx="252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Tuesday 17:00 (35/1005)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168200" y="3861360"/>
            <a:ext cx="262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Thursday 14:00 (02/1039)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971280" y="4895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7"/>
                  <a:pt x="140" y="174"/>
                  <a:pt x="128" y="178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8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62120" y="4287960"/>
            <a:ext cx="438084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One 3-hour Workshop per week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68200" y="4804200"/>
            <a:ext cx="3508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Wednesday 09:00-12:00 (02/1039)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62120" y="372600"/>
            <a:ext cx="52833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Course Structure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971280" y="2828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62120" y="2279880"/>
            <a:ext cx="117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Coursework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971280" y="3181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168200" y="2737080"/>
            <a:ext cx="242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(Tentative) Set in Week 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971280" y="3543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168200" y="3089520"/>
            <a:ext cx="676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You can start early, but some material up to Week 8 will be required.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971280" y="3895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3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3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168200" y="3451680"/>
            <a:ext cx="4082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Due in Week 11 (before the X-mas break)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168200" y="3804120"/>
            <a:ext cx="248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Feedback in the new year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971280" y="4809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62120" y="4261320"/>
            <a:ext cx="1066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Final exam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971280" y="5162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7"/>
                  <a:pt x="140" y="173"/>
                  <a:pt x="128" y="178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8"/>
                </a:cubicBezTo>
                <a:cubicBezTo>
                  <a:pt x="46" y="173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168200" y="4718520"/>
            <a:ext cx="413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Semester 1 Exam period (in the New Year)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168200" y="5070960"/>
            <a:ext cx="440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ß2-hour Computer-Aided Assessment (CAA)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62120" y="372600"/>
            <a:ext cx="7366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Coursework and Exams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"/>
          <p:cNvSpPr txBox="1"/>
          <p:nvPr/>
        </p:nvSpPr>
        <p:spPr>
          <a:xfrm>
            <a:off x="762120" y="3154680"/>
            <a:ext cx="991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Moodle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62120" y="3670560"/>
            <a:ext cx="3858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(Required login with your University ID)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780840" y="4295520"/>
            <a:ext cx="200520" cy="200880"/>
          </a:xfrm>
          <a:custGeom>
            <a:avLst/>
            <a:gdLst/>
            <a:ahLst/>
            <a:rect l="0" t="0" r="r" b="b"/>
            <a:pathLst>
              <a:path w="557" h="558">
                <a:moveTo>
                  <a:pt x="557" y="495"/>
                </a:moveTo>
                <a:cubicBezTo>
                  <a:pt x="557" y="529"/>
                  <a:pt x="529" y="558"/>
                  <a:pt x="495" y="558"/>
                </a:cubicBezTo>
                <a:lnTo>
                  <a:pt x="62" y="558"/>
                </a:lnTo>
                <a:cubicBezTo>
                  <a:pt x="28" y="558"/>
                  <a:pt x="0" y="529"/>
                  <a:pt x="0" y="495"/>
                </a:cubicBezTo>
                <a:lnTo>
                  <a:pt x="0" y="63"/>
                </a:lnTo>
                <a:cubicBezTo>
                  <a:pt x="0" y="29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9"/>
                  <a:pt x="557" y="63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825480" y="4334400"/>
            <a:ext cx="122400" cy="122760"/>
          </a:xfrm>
          <a:custGeom>
            <a:avLst/>
            <a:gdLst/>
            <a:ahLst/>
            <a:rect l="0" t="0" r="r" b="b"/>
            <a:pathLst>
              <a:path w="340" h="341">
                <a:moveTo>
                  <a:pt x="0" y="0"/>
                </a:moveTo>
                <a:lnTo>
                  <a:pt x="340" y="170"/>
                </a:lnTo>
                <a:lnTo>
                  <a:pt x="0" y="3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62120" y="3975480"/>
            <a:ext cx="580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969da"/>
                </a:solidFill>
                <a:effectLst/>
                <a:uFillTx/>
                <a:latin typeface="LucidaGrande"/>
                <a:ea typeface="LucidaGrande"/>
              </a:rPr>
              <a:t>https://moodle.ecs.soton.ac.uk/course/view.php?id=1022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995400" y="4280400"/>
            <a:ext cx="3903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Annoucements will be sent via Moodle.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62120" y="372600"/>
            <a:ext cx="6429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Course Management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66440" y="2280960"/>
            <a:ext cx="10658880" cy="952920"/>
          </a:xfrm>
          <a:custGeom>
            <a:avLst/>
            <a:gdLst/>
            <a:ahLst/>
            <a:rect l="0" t="0" r="r" b="b"/>
            <a:pathLst>
              <a:path w="29608" h="2647">
                <a:moveTo>
                  <a:pt x="0" y="2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502"/>
                </a:lnTo>
                <a:cubicBezTo>
                  <a:pt x="29608" y="2511"/>
                  <a:pt x="29607" y="2521"/>
                  <a:pt x="29605" y="2530"/>
                </a:cubicBezTo>
                <a:cubicBezTo>
                  <a:pt x="29604" y="2539"/>
                  <a:pt x="29601" y="2548"/>
                  <a:pt x="29597" y="2557"/>
                </a:cubicBezTo>
                <a:cubicBezTo>
                  <a:pt x="29594" y="2566"/>
                  <a:pt x="29589" y="2574"/>
                  <a:pt x="29584" y="2582"/>
                </a:cubicBezTo>
                <a:cubicBezTo>
                  <a:pt x="29578" y="2590"/>
                  <a:pt x="29572" y="2598"/>
                  <a:pt x="29566" y="2604"/>
                </a:cubicBezTo>
                <a:cubicBezTo>
                  <a:pt x="29559" y="2611"/>
                  <a:pt x="29552" y="2617"/>
                  <a:pt x="29544" y="2623"/>
                </a:cubicBezTo>
                <a:cubicBezTo>
                  <a:pt x="29536" y="2628"/>
                  <a:pt x="29527" y="2632"/>
                  <a:pt x="29518" y="2636"/>
                </a:cubicBezTo>
                <a:cubicBezTo>
                  <a:pt x="29510" y="2640"/>
                  <a:pt x="29501" y="2642"/>
                  <a:pt x="29491" y="2644"/>
                </a:cubicBezTo>
                <a:cubicBezTo>
                  <a:pt x="29482" y="2646"/>
                  <a:pt x="29472" y="2647"/>
                  <a:pt x="29463" y="2647"/>
                </a:cubicBezTo>
                <a:lnTo>
                  <a:pt x="146" y="2647"/>
                </a:lnTo>
                <a:cubicBezTo>
                  <a:pt x="136" y="2647"/>
                  <a:pt x="127" y="2646"/>
                  <a:pt x="118" y="2644"/>
                </a:cubicBezTo>
                <a:cubicBezTo>
                  <a:pt x="108" y="2642"/>
                  <a:pt x="99" y="2640"/>
                  <a:pt x="90" y="2636"/>
                </a:cubicBezTo>
                <a:cubicBezTo>
                  <a:pt x="81" y="2632"/>
                  <a:pt x="73" y="2628"/>
                  <a:pt x="65" y="2623"/>
                </a:cubicBezTo>
                <a:cubicBezTo>
                  <a:pt x="57" y="2617"/>
                  <a:pt x="50" y="2611"/>
                  <a:pt x="43" y="2604"/>
                </a:cubicBezTo>
                <a:cubicBezTo>
                  <a:pt x="36" y="2598"/>
                  <a:pt x="30" y="2590"/>
                  <a:pt x="25" y="2582"/>
                </a:cubicBezTo>
                <a:cubicBezTo>
                  <a:pt x="20" y="2574"/>
                  <a:pt x="15" y="2566"/>
                  <a:pt x="11" y="2557"/>
                </a:cubicBezTo>
                <a:cubicBezTo>
                  <a:pt x="8" y="2548"/>
                  <a:pt x="5" y="2539"/>
                  <a:pt x="3" y="2530"/>
                </a:cubicBezTo>
                <a:cubicBezTo>
                  <a:pt x="1" y="2521"/>
                  <a:pt x="0" y="2511"/>
                  <a:pt x="0" y="2502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66440" y="2280960"/>
            <a:ext cx="10658880" cy="952920"/>
          </a:xfrm>
          <a:custGeom>
            <a:avLst/>
            <a:gdLst/>
            <a:ahLst/>
            <a:rect l="0" t="0" r="r" b="b"/>
            <a:pathLst>
              <a:path fill="none" w="29608" h="2647">
                <a:moveTo>
                  <a:pt x="0" y="2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502"/>
                </a:lnTo>
                <a:cubicBezTo>
                  <a:pt x="29608" y="2511"/>
                  <a:pt x="29607" y="2521"/>
                  <a:pt x="29605" y="2530"/>
                </a:cubicBezTo>
                <a:cubicBezTo>
                  <a:pt x="29604" y="2539"/>
                  <a:pt x="29601" y="2548"/>
                  <a:pt x="29597" y="2557"/>
                </a:cubicBezTo>
                <a:cubicBezTo>
                  <a:pt x="29594" y="2566"/>
                  <a:pt x="29589" y="2574"/>
                  <a:pt x="29584" y="2582"/>
                </a:cubicBezTo>
                <a:cubicBezTo>
                  <a:pt x="29578" y="2590"/>
                  <a:pt x="29572" y="2598"/>
                  <a:pt x="29566" y="2604"/>
                </a:cubicBezTo>
                <a:cubicBezTo>
                  <a:pt x="29559" y="2611"/>
                  <a:pt x="29552" y="2617"/>
                  <a:pt x="29544" y="2623"/>
                </a:cubicBezTo>
                <a:cubicBezTo>
                  <a:pt x="29536" y="2628"/>
                  <a:pt x="29527" y="2632"/>
                  <a:pt x="29518" y="2636"/>
                </a:cubicBezTo>
                <a:cubicBezTo>
                  <a:pt x="29510" y="2640"/>
                  <a:pt x="29501" y="2642"/>
                  <a:pt x="29491" y="2644"/>
                </a:cubicBezTo>
                <a:cubicBezTo>
                  <a:pt x="29482" y="2646"/>
                  <a:pt x="29472" y="2647"/>
                  <a:pt x="29463" y="2647"/>
                </a:cubicBezTo>
                <a:lnTo>
                  <a:pt x="146" y="2647"/>
                </a:lnTo>
                <a:cubicBezTo>
                  <a:pt x="136" y="2647"/>
                  <a:pt x="127" y="2646"/>
                  <a:pt x="118" y="2644"/>
                </a:cubicBezTo>
                <a:cubicBezTo>
                  <a:pt x="108" y="2642"/>
                  <a:pt x="99" y="2640"/>
                  <a:pt x="90" y="2636"/>
                </a:cubicBezTo>
                <a:cubicBezTo>
                  <a:pt x="81" y="2632"/>
                  <a:pt x="73" y="2628"/>
                  <a:pt x="65" y="2623"/>
                </a:cubicBezTo>
                <a:cubicBezTo>
                  <a:pt x="57" y="2617"/>
                  <a:pt x="50" y="2611"/>
                  <a:pt x="43" y="2604"/>
                </a:cubicBezTo>
                <a:cubicBezTo>
                  <a:pt x="36" y="2598"/>
                  <a:pt x="30" y="2590"/>
                  <a:pt x="25" y="2582"/>
                </a:cubicBezTo>
                <a:cubicBezTo>
                  <a:pt x="20" y="2574"/>
                  <a:pt x="15" y="2566"/>
                  <a:pt x="11" y="2557"/>
                </a:cubicBezTo>
                <a:cubicBezTo>
                  <a:pt x="8" y="2548"/>
                  <a:pt x="5" y="2539"/>
                  <a:pt x="3" y="2530"/>
                </a:cubicBezTo>
                <a:cubicBezTo>
                  <a:pt x="1" y="2521"/>
                  <a:pt x="0" y="2511"/>
                  <a:pt x="0" y="2502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942840" y="263808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5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6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6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9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6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037880" y="269532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62120" y="372600"/>
            <a:ext cx="3477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Timetables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203120" y="2484000"/>
            <a:ext cx="8281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Your timetable shows all of the sessions/workshops allocated to your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66440" y="335736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766440" y="335736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4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4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104840" y="4047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203120" y="2769840"/>
            <a:ext cx="100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modules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942840" y="357156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5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9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9"/>
                  <a:pt x="27" y="382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037880" y="362880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289520" y="3957120"/>
            <a:ext cx="3382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 example, we have a Reading Week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66440" y="4471920"/>
            <a:ext cx="10658880" cy="952920"/>
          </a:xfrm>
          <a:custGeom>
            <a:avLst/>
            <a:gdLst/>
            <a:ahLst/>
            <a:rect l="0" t="0" r="r" b="b"/>
            <a:pathLst>
              <a:path w="29608" h="2647">
                <a:moveTo>
                  <a:pt x="0" y="25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501"/>
                </a:lnTo>
                <a:cubicBezTo>
                  <a:pt x="29608" y="2511"/>
                  <a:pt x="29607" y="2520"/>
                  <a:pt x="29605" y="2529"/>
                </a:cubicBezTo>
                <a:cubicBezTo>
                  <a:pt x="29604" y="2539"/>
                  <a:pt x="29601" y="2548"/>
                  <a:pt x="29597" y="2557"/>
                </a:cubicBezTo>
                <a:cubicBezTo>
                  <a:pt x="29594" y="2566"/>
                  <a:pt x="29589" y="2574"/>
                  <a:pt x="29584" y="2582"/>
                </a:cubicBezTo>
                <a:cubicBezTo>
                  <a:pt x="29578" y="2590"/>
                  <a:pt x="29572" y="2597"/>
                  <a:pt x="29566" y="2604"/>
                </a:cubicBezTo>
                <a:cubicBezTo>
                  <a:pt x="29559" y="2611"/>
                  <a:pt x="29552" y="2617"/>
                  <a:pt x="29544" y="2622"/>
                </a:cubicBezTo>
                <a:cubicBezTo>
                  <a:pt x="29536" y="2627"/>
                  <a:pt x="29527" y="2632"/>
                  <a:pt x="29518" y="2635"/>
                </a:cubicBezTo>
                <a:cubicBezTo>
                  <a:pt x="29510" y="2639"/>
                  <a:pt x="29501" y="2642"/>
                  <a:pt x="29491" y="2644"/>
                </a:cubicBezTo>
                <a:cubicBezTo>
                  <a:pt x="29482" y="2646"/>
                  <a:pt x="29472" y="2647"/>
                  <a:pt x="29463" y="2647"/>
                </a:cubicBezTo>
                <a:lnTo>
                  <a:pt x="146" y="2647"/>
                </a:lnTo>
                <a:cubicBezTo>
                  <a:pt x="136" y="2647"/>
                  <a:pt x="127" y="2646"/>
                  <a:pt x="118" y="2644"/>
                </a:cubicBezTo>
                <a:cubicBezTo>
                  <a:pt x="108" y="2642"/>
                  <a:pt x="99" y="2639"/>
                  <a:pt x="90" y="2635"/>
                </a:cubicBezTo>
                <a:cubicBezTo>
                  <a:pt x="81" y="2632"/>
                  <a:pt x="73" y="2627"/>
                  <a:pt x="65" y="2622"/>
                </a:cubicBezTo>
                <a:cubicBezTo>
                  <a:pt x="57" y="2617"/>
                  <a:pt x="50" y="2611"/>
                  <a:pt x="43" y="2604"/>
                </a:cubicBezTo>
                <a:cubicBezTo>
                  <a:pt x="36" y="2597"/>
                  <a:pt x="30" y="2590"/>
                  <a:pt x="25" y="2582"/>
                </a:cubicBezTo>
                <a:cubicBezTo>
                  <a:pt x="20" y="2574"/>
                  <a:pt x="15" y="2566"/>
                  <a:pt x="11" y="2557"/>
                </a:cubicBezTo>
                <a:cubicBezTo>
                  <a:pt x="8" y="2548"/>
                  <a:pt x="5" y="2539"/>
                  <a:pt x="3" y="2529"/>
                </a:cubicBezTo>
                <a:cubicBezTo>
                  <a:pt x="1" y="2520"/>
                  <a:pt x="0" y="2511"/>
                  <a:pt x="0" y="2501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66440" y="4471920"/>
            <a:ext cx="10658880" cy="952920"/>
          </a:xfrm>
          <a:custGeom>
            <a:avLst/>
            <a:gdLst/>
            <a:ahLst/>
            <a:rect l="0" t="0" r="r" b="b"/>
            <a:pathLst>
              <a:path fill="none" w="29608" h="2647">
                <a:moveTo>
                  <a:pt x="0" y="25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501"/>
                </a:lnTo>
                <a:cubicBezTo>
                  <a:pt x="29608" y="2511"/>
                  <a:pt x="29607" y="2520"/>
                  <a:pt x="29605" y="2529"/>
                </a:cubicBezTo>
                <a:cubicBezTo>
                  <a:pt x="29604" y="2539"/>
                  <a:pt x="29601" y="2548"/>
                  <a:pt x="29597" y="2557"/>
                </a:cubicBezTo>
                <a:cubicBezTo>
                  <a:pt x="29594" y="2566"/>
                  <a:pt x="29589" y="2574"/>
                  <a:pt x="29584" y="2582"/>
                </a:cubicBezTo>
                <a:cubicBezTo>
                  <a:pt x="29578" y="2590"/>
                  <a:pt x="29572" y="2597"/>
                  <a:pt x="29566" y="2604"/>
                </a:cubicBezTo>
                <a:cubicBezTo>
                  <a:pt x="29559" y="2611"/>
                  <a:pt x="29552" y="2617"/>
                  <a:pt x="29544" y="2622"/>
                </a:cubicBezTo>
                <a:cubicBezTo>
                  <a:pt x="29536" y="2627"/>
                  <a:pt x="29527" y="2632"/>
                  <a:pt x="29518" y="2635"/>
                </a:cubicBezTo>
                <a:cubicBezTo>
                  <a:pt x="29510" y="2639"/>
                  <a:pt x="29501" y="2642"/>
                  <a:pt x="29491" y="2644"/>
                </a:cubicBezTo>
                <a:cubicBezTo>
                  <a:pt x="29482" y="2646"/>
                  <a:pt x="29472" y="2647"/>
                  <a:pt x="29463" y="2647"/>
                </a:cubicBezTo>
                <a:lnTo>
                  <a:pt x="146" y="2647"/>
                </a:lnTo>
                <a:cubicBezTo>
                  <a:pt x="136" y="2647"/>
                  <a:pt x="127" y="2646"/>
                  <a:pt x="118" y="2644"/>
                </a:cubicBezTo>
                <a:cubicBezTo>
                  <a:pt x="108" y="2642"/>
                  <a:pt x="99" y="2639"/>
                  <a:pt x="90" y="2635"/>
                </a:cubicBezTo>
                <a:cubicBezTo>
                  <a:pt x="81" y="2632"/>
                  <a:pt x="73" y="2627"/>
                  <a:pt x="65" y="2622"/>
                </a:cubicBezTo>
                <a:cubicBezTo>
                  <a:pt x="57" y="2617"/>
                  <a:pt x="50" y="2611"/>
                  <a:pt x="43" y="2604"/>
                </a:cubicBezTo>
                <a:cubicBezTo>
                  <a:pt x="36" y="2597"/>
                  <a:pt x="30" y="2590"/>
                  <a:pt x="25" y="2582"/>
                </a:cubicBezTo>
                <a:cubicBezTo>
                  <a:pt x="20" y="2574"/>
                  <a:pt x="15" y="2566"/>
                  <a:pt x="11" y="2557"/>
                </a:cubicBezTo>
                <a:cubicBezTo>
                  <a:pt x="8" y="2548"/>
                  <a:pt x="5" y="2539"/>
                  <a:pt x="3" y="2529"/>
                </a:cubicBezTo>
                <a:cubicBezTo>
                  <a:pt x="1" y="2520"/>
                  <a:pt x="0" y="2511"/>
                  <a:pt x="0" y="2501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942480" y="483840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8"/>
                </a:moveTo>
                <a:lnTo>
                  <a:pt x="312" y="27"/>
                </a:lnTo>
                <a:cubicBezTo>
                  <a:pt x="308" y="19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5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5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60"/>
                </a:moveTo>
                <a:lnTo>
                  <a:pt x="265" y="266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203120" y="3560400"/>
            <a:ext cx="5767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Modules do not always use all of those sessions!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203120" y="4674960"/>
            <a:ext cx="8341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So check the notes pages of each course for more info and adjust your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203120" y="4960440"/>
            <a:ext cx="2619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timetable accordingly!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"/>
          <p:cNvSpPr txBox="1"/>
          <p:nvPr/>
        </p:nvSpPr>
        <p:spPr>
          <a:xfrm>
            <a:off x="762120" y="3592800"/>
            <a:ext cx="55141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Reminder AICE2005 Tentative Timetable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971280" y="2628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3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3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971280" y="3085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68200" y="2537280"/>
            <a:ext cx="473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Refrain from emailing (get lost in the avalanche)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971280" y="3543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168200" y="2994480"/>
            <a:ext cx="532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Donʼt drop by the oﬃce without schedule (often busy)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971280" y="4000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168200" y="3451680"/>
            <a:ext cx="559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 come down to ask questions at the end of the lecture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971280" y="4448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168200" y="3908880"/>
            <a:ext cx="33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 ask questions in the workshop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971280" y="4905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39"/>
                  <a:pt x="167" y="149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168200" y="4356360"/>
            <a:ext cx="184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 ask each other!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68200" y="4813560"/>
            <a:ext cx="494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 careful of academic responsibility and conduct.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62120" y="372600"/>
            <a:ext cx="5124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How to Get Help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"/>
          <p:cNvSpPr txBox="1"/>
          <p:nvPr/>
        </p:nvSpPr>
        <p:spPr>
          <a:xfrm>
            <a:off x="762120" y="1870560"/>
            <a:ext cx="687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you have a special circumstance that might aﬀect your assessments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971280" y="2724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62120" y="2175120"/>
            <a:ext cx="259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(e.g., coursework, exams):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971280" y="3085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168200" y="2632320"/>
            <a:ext cx="113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Donʼt panic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971280" y="3438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68200" y="2994480"/>
            <a:ext cx="506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Donʼt ask us (the module team) for extensions, etc.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971280" y="3790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168200" y="3346920"/>
            <a:ext cx="391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 talk to your personal academic tutor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971280" y="4143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168200" y="3699360"/>
            <a:ext cx="491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 apply to the Special Circumstance Board (SCB).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971280" y="4505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8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68200" y="4051800"/>
            <a:ext cx="5876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You need evidence to support your claim, e.g., doctor letter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971280" y="4857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168200" y="4413600"/>
            <a:ext cx="5254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Contact the Student Hub to ﬁll out the relevant forms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971280" y="52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168200" y="4766040"/>
            <a:ext cx="578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extend the deadline (if the deadline has not yet passed)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971280" y="5572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7" y="149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168200" y="5118480"/>
            <a:ext cx="605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waive the late penalty (if the deadline has already passed).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168200" y="5480280"/>
            <a:ext cx="1655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resit an exam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62120" y="372600"/>
            <a:ext cx="8678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Your Special Circumstances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"/>
          <p:cNvSpPr/>
          <p:nvPr/>
        </p:nvSpPr>
        <p:spPr>
          <a:xfrm>
            <a:off x="971280" y="3314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62120" y="2765880"/>
            <a:ext cx="688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we have a special circumstance that aﬀects the delivery of a lecture: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971280" y="3666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168200" y="3223080"/>
            <a:ext cx="113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Donʼt panic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971280" y="4019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68200" y="3575520"/>
            <a:ext cx="6032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feasible, we (the module team) will arrange to cover lecture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371240" y="4324320"/>
            <a:ext cx="67320" cy="66960"/>
          </a:xfrm>
          <a:custGeom>
            <a:avLst/>
            <a:gdLst/>
            <a:ahLst/>
            <a:rect l="0" t="0" r="r" b="b"/>
            <a:pathLst>
              <a:path fill="none" w="187" h="186">
                <a:moveTo>
                  <a:pt x="187" y="92"/>
                </a:moveTo>
                <a:cubicBezTo>
                  <a:pt x="187" y="104"/>
                  <a:pt x="184" y="117"/>
                  <a:pt x="180" y="129"/>
                </a:cubicBezTo>
                <a:cubicBezTo>
                  <a:pt x="175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8" y="129"/>
                </a:cubicBezTo>
                <a:cubicBezTo>
                  <a:pt x="3" y="117"/>
                  <a:pt x="0" y="104"/>
                  <a:pt x="0" y="92"/>
                </a:cubicBezTo>
                <a:cubicBezTo>
                  <a:pt x="0" y="80"/>
                  <a:pt x="3" y="68"/>
                  <a:pt x="8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168200" y="3927960"/>
            <a:ext cx="527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Else, we will rearrange the timetable if it makes sense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971280" y="4676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574640" y="4232520"/>
            <a:ext cx="396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(We have a couple of free back-up slots)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68200" y="4584960"/>
            <a:ext cx="686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Otherwise, we will provide a lecture recording for the missing lecture.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544403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62120" y="372600"/>
            <a:ext cx="8372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Our Special Circumstances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22.09.2026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69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9" name="" descr=""/>
          <p:cNvPicPr/>
          <p:nvPr/>
        </p:nvPicPr>
        <p:blipFill>
          <a:blip r:embed="rId1"/>
          <a:stretch/>
        </p:blipFill>
        <p:spPr>
          <a:xfrm>
            <a:off x="6324480" y="2695680"/>
            <a:ext cx="5714640" cy="32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"/>
          <p:cNvSpPr txBox="1"/>
          <p:nvPr/>
        </p:nvSpPr>
        <p:spPr>
          <a:xfrm>
            <a:off x="857160" y="2437920"/>
            <a:ext cx="2017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Dr Nawfal Al Hashimy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857160" y="2704680"/>
            <a:ext cx="2966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Lecturer in Cyber Physical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857160" y="3123720"/>
            <a:ext cx="5755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Universtity of Southampton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| Faculty of Engineering and Physical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857160" y="3390480"/>
            <a:ext cx="73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Sciences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57160" y="3657240"/>
            <a:ext cx="3427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Cyber Physical Systems Research Group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57160" y="4087440"/>
            <a:ext cx="17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HiraginoSans-W3"/>
                <a:ea typeface="HiraginoSans-W3"/>
              </a:rPr>
              <a:t>☎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35000" y="4076280"/>
            <a:ext cx="20062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+44 (0) 23 8059 6659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57160" y="4495320"/>
            <a:ext cx="1951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@ Nawfal@soton.ac.uk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857160" y="4914360"/>
            <a:ext cx="3756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Highﬁeld Campus, Building 53, Room 4049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857160" y="5181120"/>
            <a:ext cx="36356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Burgess Road, Southampton SO17 1BJ, 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57160" y="634680"/>
            <a:ext cx="41400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Thank you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